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% de filas con nulo (13.580)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faltante</c:v>
                </c:pt>
              </c:strCache>
            </c:strRef>
          </c:tx>
          <c:spPr>
            <a:solidFill>
              <a:srgbClr val="D62E4C"/>
            </a:solidFill>
          </c:spPr>
          <c:cat>
            <c:strRef>
              <c:f>Sheet1!$A$2:$A$5</c:f>
              <c:strCache>
                <c:ptCount val="4"/>
                <c:pt idx="0">
                  <c:v>BuildingArea</c:v>
                </c:pt>
                <c:pt idx="1">
                  <c:v>YearBuilt</c:v>
                </c:pt>
                <c:pt idx="2">
                  <c:v>CouncilArea</c:v>
                </c:pt>
                <c:pt idx="3">
                  <c:v>Car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47.5</c:v>
                </c:pt>
                <c:pt idx="1">
                  <c:v>39.6</c:v>
                </c:pt>
                <c:pt idx="2">
                  <c:v>10.1</c:v>
                </c:pt>
                <c:pt idx="3">
                  <c:v>0.5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Mediana de precio por habitaciones (1–5)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Mediana precio</c:v>
                </c:pt>
              </c:strCache>
            </c:strRef>
          </c:tx>
          <c:spPr>
            <a:solidFill>
              <a:srgbClr val="0F9D8A"/>
            </a:solidFill>
          </c:spPr>
          <c:cat>
            <c:strRef>
              <c:f>Sheet1!$A$2:$A$6</c:f>
              <c:strCache>
                <c:ptCount val="5"/>
                <c:pt idx="0">
                  <c:v>1 hab. (n=681)</c:v>
                </c:pt>
                <c:pt idx="1">
                  <c:v>2 hab. (n=3.648)</c:v>
                </c:pt>
                <c:pt idx="2">
                  <c:v>3 hab. (n=5.881)</c:v>
                </c:pt>
                <c:pt idx="3">
                  <c:v>4 hab. (n=2.688)</c:v>
                </c:pt>
                <c:pt idx="4">
                  <c:v>5 hab. (n=596)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385000</c:v>
                </c:pt>
                <c:pt idx="1">
                  <c:v>690000</c:v>
                </c:pt>
                <c:pt idx="2">
                  <c:v>950000</c:v>
                </c:pt>
                <c:pt idx="3">
                  <c:v>1285000</c:v>
                </c:pt>
                <c:pt idx="4">
                  <c:v>1660000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Mediana de precio por tipo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Mediana</c:v>
                </c:pt>
              </c:strCache>
            </c:strRef>
          </c:tx>
          <c:spPr>
            <a:solidFill>
              <a:srgbClr val="1E5EFF"/>
            </a:solidFill>
          </c:spPr>
          <c:cat>
            <c:strRef>
              <c:f>Sheet1!$A$2:$A$4</c:f>
              <c:strCache>
                <c:ptCount val="3"/>
                <c:pt idx="0">
                  <c:v>casa</c:v>
                </c:pt>
                <c:pt idx="1">
                  <c:v>casa pareada</c:v>
                </c:pt>
                <c:pt idx="2">
                  <c:v>dúplex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1080000</c:v>
                </c:pt>
                <c:pt idx="1">
                  <c:v>846750</c:v>
                </c:pt>
                <c:pt idx="2">
                  <c:v>560000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Pearson con Price (DashAI, dataset 22)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F08C00"/>
            </a:solidFill>
          </c:spPr>
          <c:cat>
            <c:strRef>
              <c:f>Sheet1!$A$2:$A$8</c:f>
              <c:strCache>
                <c:ptCount val="7"/>
                <c:pt idx="0">
                  <c:v>Landsize</c:v>
                </c:pt>
                <c:pt idx="1">
                  <c:v>BuildingArea</c:v>
                </c:pt>
                <c:pt idx="2">
                  <c:v>Distance</c:v>
                </c:pt>
                <c:pt idx="3">
                  <c:v>Longtitude</c:v>
                </c:pt>
                <c:pt idx="4">
                  <c:v>Lattitude</c:v>
                </c:pt>
                <c:pt idx="5">
                  <c:v>YearBuilt</c:v>
                </c:pt>
                <c:pt idx="6">
                  <c:v>Rooms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0.038</c:v>
                </c:pt>
                <c:pt idx="1">
                  <c:v>0.07</c:v>
                </c:pt>
                <c:pt idx="2">
                  <c:v>-0.163</c:v>
                </c:pt>
                <c:pt idx="3">
                  <c:v>0.204</c:v>
                </c:pt>
                <c:pt idx="4">
                  <c:v>-0.213</c:v>
                </c:pt>
                <c:pt idx="5">
                  <c:v>-0.262</c:v>
                </c:pt>
                <c:pt idx="6">
                  <c:v>0.497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MAE en 2017 (AUD)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 2017</c:v>
                </c:pt>
              </c:strCache>
            </c:strRef>
          </c:tx>
          <c:spPr>
            <a:solidFill>
              <a:srgbClr val="1E5EFF"/>
            </a:solidFill>
          </c:spP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Lineal</c:v>
                </c:pt>
                <c:pt idx="2">
                  <c:v>Árbol</c:v>
                </c:pt>
                <c:pt idx="3">
                  <c:v>Random Forest</c:v>
                </c:pt>
                <c:pt idx="4">
                  <c:v>Gradient B.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431649.0</c:v>
                </c:pt>
                <c:pt idx="1">
                  <c:v>297316.97755649773</c:v>
                </c:pt>
                <c:pt idx="2">
                  <c:v>286088.3152954169</c:v>
                </c:pt>
                <c:pt idx="3">
                  <c:v>218986.27635507873</c:v>
                </c:pt>
                <c:pt idx="4">
                  <c:v>212760.47986167826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1E3C"/>
                </a:solidFill>
                <a:latin typeface="Calibri"/>
              </a:rPr>
              <a:t>Predicción del valor de propiedades en Melbourne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Proyecto 3 · Hito 2 · Fundamentos de Ciencia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Entrenar con ventas 2016 (n = 6.336) → predecir y evaluar sobre 2017 (n = 7.244)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C. Abrigo · C. Herrera · K. Urbina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Toda cifra de este deck proviene de anclaje.json o de DashAI (dataset 22); ninguna se escribió a mano.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5EFF"/>
                </a:solidFill>
                <a:latin typeface="Calibri"/>
              </a:rP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Hito 2 · Proyecto 3 · Melbourne 2016→2017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3C"/>
                </a:solidFill>
                <a:latin typeface="Calibri"/>
              </a:rPr>
              <a:t>El problema: predecir 2017 con la data de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Pregunta, hipótesis y protocolo de evaluación temporal.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Fuentes: anclaje.json · explorador DashAI (dataset 22) · model-session DashAI (split manual 2016/2017)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EFF"/>
                </a:solidFill>
                <a:latin typeface="Calibri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¿Puede un modelo entrenado solo con transacciones de 2016 estimar precios de 2017 con error menor que una regla básica de mercado (mediana 2016)?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9D8A"/>
                </a:solidFill>
                <a:latin typeface="Calibri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Las relaciones entre características (habitaciones, tipo, ubicación) y precio observadas en 2016 se mantienen lo suficiente en 2017 para predecir mejor que la estimación básica.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2E4C"/>
                </a:solidFill>
                <a:latin typeface="Calibri"/>
              </a:rPr>
              <a:t>H0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Esas relaciones no se mantienen: el modelo no supera a la mediana de 2016.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265176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5EFF"/>
                </a:solidFill>
                <a:latin typeface="Calibri"/>
              </a:rPr>
              <a:t>6.336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591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Train 2016 (46,7 %)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737360"/>
            <a:ext cx="265176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9D8A"/>
                </a:solidFill>
                <a:latin typeface="Calibri"/>
              </a:rPr>
              <a:t>7.244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3591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Test 2017 (53,3 %)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926080"/>
            <a:ext cx="548640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017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8C00"/>
                </a:solidFill>
                <a:latin typeface="Calibri"/>
              </a:rPr>
              <a:t>MAE 431.649 AUD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47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Regla básica a superar: predecir la mediana 2016 en 2017 (anclaje.cota)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Test 2017 se usa una sola vez, al final.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Selección de variables y preprocesamiento aprendidos solo con 2016.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Mismo protocolo replicado en DashAI con split manual por índices (2016 → train, 2017 → test).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5EFF"/>
                </a:solidFill>
                <a:latin typeface="Calibri"/>
              </a:rPr>
              <a:t>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Hito 2 · Proyecto 3 · Melbourne 2016→2017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3C"/>
                </a:solidFill>
                <a:latin typeface="Calibri"/>
              </a:rPr>
              <a:t>Datos: 13.580 ventas, 21 atributos, 2016-01-28 → 2017-09-23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housing_data.csv (snapshot Kaggle melb_data). SHA-256 verificado en anclaje.py.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Fuentes: anclaje.json · explorador DashAI (dataset 22) · model-session DashAI (split manual 2016/2017)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74320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9D8A"/>
                </a:solidFill>
                <a:latin typeface="Calibri"/>
              </a:rPr>
              <a:t>13.580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ventas observadas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274320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5EFF"/>
                </a:solidFill>
                <a:latin typeface="Calibri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59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atributos originales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274320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8C00"/>
                </a:solidFill>
                <a:latin typeface="Calibri"/>
              </a:rPr>
              <a:t>903.000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59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precio mediano (AUD)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737360"/>
            <a:ext cx="256032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8C00"/>
                </a:solidFill>
                <a:latin typeface="Calibri"/>
              </a:rPr>
              <a:t>1.075.684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359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precio medio (cola derecha)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3108960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Mediana precio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casa (h)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9.449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1.080.000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casa pareada (t)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1.114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846.750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dúplex (u)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3.017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560.000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310896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Cobertura temporal: ene–dic 2016 (sin mar); feb–sep 2017 (hasta 2017-09-23). 2017 no es un año completo.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314 barrios, 8 regiones, 268 vendedores, 5 métodos de venta.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Duplicados de fila completa: 0. Reventas que cruzan el corte: 36 propiedades (0.51 % de 2017).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Target: Precio. Estructura: Habitaciones, Baños, Estacionamientos, Tamaño de terreno, Tipo. Espacial: Barrio, Distancia, Región, Latitud/Longitud. Comercial: Método, Vendedor, Fecha.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5EFF"/>
                </a:solidFill>
                <a:latin typeface="Calibri"/>
              </a:rPr>
              <a:t>CALIDAD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Hito 2 · Proyecto 3 · Melbourne 2016→2017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E3C"/>
                </a:solidFill>
                <a:latin typeface="Calibri"/>
              </a:rPr>
              <a:t>Nulos concentrados en tres columnas: fuera por nulos, no por falta de señal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Fuentes: anclaje.json · explorador DashAI (dataset 22) · model-session DashAI (split manual 2016/2017)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463040"/>
          <a:ext cx="56692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99,5 % de las 13.256 celdas nulas están en BuildingArea, YearBuilt y CouncilArea.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Los nulos crecen en 2017: CouncilArea 0.0 % → 18.9 %; BuildingArea 43.1 % → 51.3 %.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Ceros sospechosos: 1.939 Landsize = 0 (14.3 %), 17 BuildingArea = 0, 6 Distance = 0. Se documentan, no se borran.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Plausibilidad: YearBuilt mínimo 1196; 6 construcciones posteriores a la venta; Landsize máx. 433.014 m².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Decisión: BuildingArea y YearBuilt salen del modelo POR NULOS (imputar ≈ mitad del dataset). No por falta de señal: YearBuilt–Precio = -0.262 es la 2.ª |r| en DashAI.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5EFF"/>
                </a:solidFill>
                <a:latin typeface="Calibri"/>
              </a:rPr>
              <a:t>ANÁLISIS EXPLORATORIO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Hito 2 · Proyecto 3 · Melbourne 2016→2017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3C"/>
                </a:solidFill>
                <a:latin typeface="Calibri"/>
              </a:rPr>
              <a:t>Señal en estructura y ubicación; ninguna |r| supera 0,5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Correlaciones = explorador de DashAI (Pearson, 8 columnas numéricas). Tipo no entra en Pearson: se lee por medianas.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Fuentes: anclaje.json · explorador DashAI (dataset 22) · model-session DashAI (split manual 2016/2017)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73736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389120" y="1737360"/>
          <a:ext cx="329184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772400" y="1737360"/>
          <a:ext cx="4114800" cy="3931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6+ habitaciones: n = 86 (no se grafican). Fuera del heatmap DashAI: Bathroom, Bedroom2, Car, Type, Region. Habitaciones–Precio +0.497 es la más alta, no «fuerte».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5EFF"/>
                </a:solidFill>
                <a:latin typeface="Calibri"/>
              </a:rPr>
              <a:t>ANTES DE MODELAR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Hito 2 · Proyecto 3 · Melbourne 2016→2017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E3C"/>
                </a:solidFill>
                <a:latin typeface="Calibri"/>
              </a:rPr>
              <a:t>2017 no es una muestra de 2016: 172 barrios nuevos = 29 % del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Auditoría de cambio de composición (anclaje.no_vistos / composicion).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Fuentes: anclaje.json · explorador DashAI (dataset 22) · model-session DashAI (split manual 2016/2017)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74320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8C00"/>
                </a:solidFill>
                <a:latin typeface="Calibri"/>
              </a:rPr>
              <a:t>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barrios de 2017 ausentes en 2016 (142 → 313)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274320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62E4C"/>
                </a:solidFill>
                <a:latin typeface="Calibri"/>
              </a:rPr>
              <a:t>29,1 %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59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de las filas de 2017 (2.109)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274320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5EFF"/>
                </a:solidFill>
                <a:latin typeface="Calibri"/>
              </a:rPr>
              <a:t>17.9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59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distancia mediana en barrios nuevos (vs 8.0 km)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737360"/>
            <a:ext cx="256032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9D8A"/>
                </a:solidFill>
                <a:latin typeface="Calibri"/>
              </a:rPr>
              <a:t>755.000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359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mediana precio barrios nuevos (vs 999.000)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3108960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Indicador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Mediana precio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900.000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910.000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Distancia mediana (km)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% casas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65.8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72.9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% dúplex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310896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Deriva agregada de la mediana: 1.11 %; en barrios comparables: 11.0 %. Lo agregado esconde el cambio de composición.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Decisión: no usar Barrio one-hot (fallaría en 29 % del test). Ubicación = Distancia + Latitud + Longitud (continuas) + Región.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Preprocesamiento aprendido solo con 2016; categorías nuevas → ignoradas, no imputadas con 2017.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Método y Tipo no presentan categorías nuevas en 2017.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5EFF"/>
                </a:solidFill>
                <a:latin typeface="Calibri"/>
              </a:rPr>
              <a:t>MODELAMIENTO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Hito 2 · Proyecto 3 · Melbourne 2016→2017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3C"/>
                </a:solidFill>
                <a:latin typeface="Calibri"/>
              </a:rPr>
              <a:t>Benchmark en DashAI: baseline → lineal → árbol → ensambles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DashAI dataset 24, sesión 8: split manual 2016 (train 90 % / validation 10 %) → test 2017 (100 %). Hiperparámetros por defecto.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Fuentes: anclaje.json · explorador DashAI (dataset 22) · model-session DashAI (split manual 2016/2017)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28800"/>
          <a:ext cx="6675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097280"/>
                <a:gridCol w="1097280"/>
                <a:gridCol w="109728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 2017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2017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2017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train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Baseline mediana 2016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431.649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654.393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-0.080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Regresión lineal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297.317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457.460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Árbol de decisión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286.088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466.126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0.452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218.986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354.664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212.760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338.848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0.710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0.821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0" y="1737360"/>
          <a:ext cx="45720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38912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•  Variables (Hito 1): Habitaciones, Baños, Estacionamientos, Tamaño de terreno, Distancia, Latitud, Longitud, Cantidad de propiedades, Tipo, Método, Región.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•  Fuera: BuildingArea y YearBuilt (nulos), CouncilArea (nulos + niveles nuevos), Barrio/Postcode (alta cardinalidad, 172 barrios nuevos). Habitaciones2 redundante con Habitaciones (notebook Hito 1).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•  Criterio: menor MAE en 2017 con menor brecha train–test; el baseline fija la cota que H1 debe superar.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5EFF"/>
                </a:solidFill>
                <a:latin typeface="Calibri"/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Hito 2 · Proyecto 3 · Melbourne 2016→2017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E3C"/>
                </a:solidFill>
                <a:latin typeface="Calibri"/>
              </a:rPr>
              <a:t>H1 se sostiene: los ensambles reducen el error frente a la mediana de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Modelo del proyecto: Random Forest (decisión Hito 1). Gradient Boosting como alternativa.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Fuentes: anclaje.json · explorador DashAI (dataset 22) · model-session DashAI (split manual 2016/2017)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74320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9D8A"/>
                </a:solidFill>
                <a:latin typeface="Calibri"/>
              </a:rPr>
              <a:t>49,3 %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reducción de MAE vs baseline (RF): 431.649 → 218.986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274320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5EFF"/>
                </a:solidFill>
                <a:latin typeface="Calibri"/>
              </a:rPr>
              <a:t>0,683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59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R² de Random Forest en 2017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274320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8C00"/>
                </a:solidFill>
                <a:latin typeface="Calibri"/>
              </a:rPr>
              <a:t>1,36×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59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menor MAE que la regresión lineal (RF)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737360"/>
            <a:ext cx="2560320" cy="1051560"/>
          </a:xfrm>
          <a:prstGeom prst="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4748B"/>
                </a:solidFill>
                <a:latin typeface="Calibri"/>
              </a:rPr>
              <a:t>212.760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359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MAE de Gradient Boosting (R² 0,710)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Random Forest: MAE 218.986, RMSE 354.664, R² 0.683 en 2017; R² train 0.973 (brecha +0.290).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Gradient Boosting: MAE 212.760, R² 0.710; R² train 0.821 (brecha +0.110).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Regresión lineal: MAE 297.317, R² 0.472 — la relación es no lineal.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Cota trivial por tipo (mediana 2016 por Tipo): MAE 394.385 (−8.6 %); los ensambles la superan ampliamente.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089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Qué se transfiere de 2016 a 2017: estructura + ubicación continua. Qué no: los 172 barrios nuevos (29,1 % del test) con precios y distancias distintas.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Límite: 2017 cubre solo feb–sep 2017 (hasta 2017-09-23); el error típico (MAE ≈ 218.986 AUD, ~24 % de la mediana 2017) debe declararse junto a cada predicción.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Siguiente paso: error desagregado por barrio nuevo/conocido y por tipo; comparar con el pipeline local del notebook.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