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6" r:id="rId2"/>
  </p:sldMasterIdLst>
  <p:notesMasterIdLst>
    <p:notesMasterId r:id="rId21"/>
  </p:notesMasterIdLst>
  <p:sldIdLst>
    <p:sldId id="257" r:id="rId3"/>
    <p:sldId id="1859" r:id="rId4"/>
    <p:sldId id="261" r:id="rId5"/>
    <p:sldId id="286" r:id="rId6"/>
    <p:sldId id="284" r:id="rId7"/>
    <p:sldId id="285" r:id="rId8"/>
    <p:sldId id="1860" r:id="rId9"/>
    <p:sldId id="302" r:id="rId10"/>
    <p:sldId id="295" r:id="rId11"/>
    <p:sldId id="296" r:id="rId12"/>
    <p:sldId id="262" r:id="rId13"/>
    <p:sldId id="303" r:id="rId14"/>
    <p:sldId id="297" r:id="rId15"/>
    <p:sldId id="298" r:id="rId16"/>
    <p:sldId id="1861" r:id="rId17"/>
    <p:sldId id="1865" r:id="rId18"/>
    <p:sldId id="265" r:id="rId19"/>
    <p:sldId id="266" r:id="rId20"/>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lase 1.2 Modelo de negocios ajuste y escalabilidad" id="{0F5EE2DD-DA99-9D4F-B9BF-0C4B696FC3BD}">
          <p14:sldIdLst>
            <p14:sldId id="257"/>
            <p14:sldId id="1859"/>
          </p14:sldIdLst>
        </p14:section>
        <p14:section name="Caso 1" id="{49412171-810A-2644-B079-D369036C4AC9}">
          <p14:sldIdLst>
            <p14:sldId id="261"/>
            <p14:sldId id="286"/>
            <p14:sldId id="284"/>
            <p14:sldId id="285"/>
          </p14:sldIdLst>
        </p14:section>
        <p14:section name="Caso 2" id="{F10C6EFB-03BF-E546-85E2-BCB9ADC97C4A}">
          <p14:sldIdLst>
            <p14:sldId id="1860"/>
            <p14:sldId id="302"/>
            <p14:sldId id="295"/>
            <p14:sldId id="296"/>
          </p14:sldIdLst>
        </p14:section>
        <p14:section name="Caso 3" id="{2FD6CA10-9A93-C346-AE63-CDE6DC4D19BA}">
          <p14:sldIdLst>
            <p14:sldId id="262"/>
            <p14:sldId id="303"/>
            <p14:sldId id="297"/>
            <p14:sldId id="298"/>
          </p14:sldIdLst>
        </p14:section>
        <p14:section name="Caso 4" id="{7A6A431C-C9EC-9C4C-BAF4-F275247905F9}">
          <p14:sldIdLst>
            <p14:sldId id="1861"/>
            <p14:sldId id="1865"/>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4F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711A60-60FF-AE4A-9EDF-0A7CC12E0DDD}" v="13" dt="2026-04-13T19:54:04.7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43"/>
  </p:normalViewPr>
  <p:slideViewPr>
    <p:cSldViewPr snapToGrid="0">
      <p:cViewPr varScale="1">
        <p:scale>
          <a:sx n="96" d="100"/>
          <a:sy n="96" d="100"/>
        </p:scale>
        <p:origin x="968" y="480"/>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ti Nuñez" userId="fc293a4ee38bb93b" providerId="LiveId" clId="{8C091EB5-D9FC-51B9-B601-2F1273399689}"/>
    <pc:docChg chg="custSel addSld delSld modSld sldOrd addMainMaster delMainMaster modMainMaster addSection delSection modSection">
      <pc:chgData name="Inti Nuñez" userId="fc293a4ee38bb93b" providerId="LiveId" clId="{8C091EB5-D9FC-51B9-B601-2F1273399689}" dt="2026-04-13T19:54:12.630" v="1401" actId="113"/>
      <pc:docMkLst>
        <pc:docMk/>
      </pc:docMkLst>
      <pc:sldChg chg="modSp mod">
        <pc:chgData name="Inti Nuñez" userId="fc293a4ee38bb93b" providerId="LiveId" clId="{8C091EB5-D9FC-51B9-B601-2F1273399689}" dt="2026-04-13T19:31:39.558" v="1139" actId="113"/>
        <pc:sldMkLst>
          <pc:docMk/>
          <pc:sldMk cId="624010950" sldId="261"/>
        </pc:sldMkLst>
        <pc:spChg chg="mod">
          <ac:chgData name="Inti Nuñez" userId="fc293a4ee38bb93b" providerId="LiveId" clId="{8C091EB5-D9FC-51B9-B601-2F1273399689}" dt="2026-04-13T19:31:39.558" v="1139" actId="113"/>
          <ac:spMkLst>
            <pc:docMk/>
            <pc:sldMk cId="624010950" sldId="261"/>
            <ac:spMk id="4" creationId="{7F2249F7-3D6B-F6DE-99F4-62F9C6BCA080}"/>
          </ac:spMkLst>
        </pc:spChg>
      </pc:sldChg>
      <pc:sldChg chg="modSp mod">
        <pc:chgData name="Inti Nuñez" userId="fc293a4ee38bb93b" providerId="LiveId" clId="{8C091EB5-D9FC-51B9-B601-2F1273399689}" dt="2026-04-13T19:32:12.322" v="1145" actId="113"/>
        <pc:sldMkLst>
          <pc:docMk/>
          <pc:sldMk cId="3274325273" sldId="262"/>
        </pc:sldMkLst>
        <pc:spChg chg="mod">
          <ac:chgData name="Inti Nuñez" userId="fc293a4ee38bb93b" providerId="LiveId" clId="{8C091EB5-D9FC-51B9-B601-2F1273399689}" dt="2026-04-13T19:32:12.322" v="1145" actId="113"/>
          <ac:spMkLst>
            <pc:docMk/>
            <pc:sldMk cId="3274325273" sldId="262"/>
            <ac:spMk id="2" creationId="{9880B3CB-3D43-1D8D-9AF8-530F0E961D8F}"/>
          </ac:spMkLst>
        </pc:spChg>
      </pc:sldChg>
      <pc:sldChg chg="modSp add mod">
        <pc:chgData name="Inti Nuñez" userId="fc293a4ee38bb93b" providerId="LiveId" clId="{8C091EB5-D9FC-51B9-B601-2F1273399689}" dt="2026-04-13T19:50:19.147" v="1368" actId="14100"/>
        <pc:sldMkLst>
          <pc:docMk/>
          <pc:sldMk cId="333122249" sldId="265"/>
        </pc:sldMkLst>
        <pc:spChg chg="mod">
          <ac:chgData name="Inti Nuñez" userId="fc293a4ee38bb93b" providerId="LiveId" clId="{8C091EB5-D9FC-51B9-B601-2F1273399689}" dt="2026-04-13T19:49:11.111" v="1360" actId="1035"/>
          <ac:spMkLst>
            <pc:docMk/>
            <pc:sldMk cId="333122249" sldId="265"/>
            <ac:spMk id="2" creationId="{CF0D7B73-8657-AE6C-C04E-902BBD189B2F}"/>
          </ac:spMkLst>
        </pc:spChg>
        <pc:spChg chg="mod">
          <ac:chgData name="Inti Nuñez" userId="fc293a4ee38bb93b" providerId="LiveId" clId="{8C091EB5-D9FC-51B9-B601-2F1273399689}" dt="2026-04-13T19:50:19.147" v="1368" actId="14100"/>
          <ac:spMkLst>
            <pc:docMk/>
            <pc:sldMk cId="333122249" sldId="265"/>
            <ac:spMk id="4" creationId="{9C76F6CF-11E3-9834-ADD1-2590459B12A3}"/>
          </ac:spMkLst>
        </pc:spChg>
        <pc:spChg chg="mod">
          <ac:chgData name="Inti Nuñez" userId="fc293a4ee38bb93b" providerId="LiveId" clId="{8C091EB5-D9FC-51B9-B601-2F1273399689}" dt="2026-04-13T19:49:45.544" v="1366" actId="1076"/>
          <ac:spMkLst>
            <pc:docMk/>
            <pc:sldMk cId="333122249" sldId="265"/>
            <ac:spMk id="5" creationId="{50AB033D-BA0D-12F2-0F82-71877B1112B4}"/>
          </ac:spMkLst>
        </pc:spChg>
        <pc:spChg chg="mod">
          <ac:chgData name="Inti Nuñez" userId="fc293a4ee38bb93b" providerId="LiveId" clId="{8C091EB5-D9FC-51B9-B601-2F1273399689}" dt="2026-04-13T19:49:02.460" v="1350" actId="14100"/>
          <ac:spMkLst>
            <pc:docMk/>
            <pc:sldMk cId="333122249" sldId="265"/>
            <ac:spMk id="6" creationId="{DC74DE27-41EC-865B-4D78-C71DF2D0772F}"/>
          </ac:spMkLst>
        </pc:spChg>
        <pc:spChg chg="mod">
          <ac:chgData name="Inti Nuñez" userId="fc293a4ee38bb93b" providerId="LiveId" clId="{8C091EB5-D9FC-51B9-B601-2F1273399689}" dt="2026-04-13T19:47:23.646" v="1336" actId="1076"/>
          <ac:spMkLst>
            <pc:docMk/>
            <pc:sldMk cId="333122249" sldId="265"/>
            <ac:spMk id="7" creationId="{FCE2941A-91BB-E07D-82AF-2551A432E1F1}"/>
          </ac:spMkLst>
        </pc:spChg>
        <pc:spChg chg="mod">
          <ac:chgData name="Inti Nuñez" userId="fc293a4ee38bb93b" providerId="LiveId" clId="{8C091EB5-D9FC-51B9-B601-2F1273399689}" dt="2026-04-13T19:49:34.785" v="1365" actId="255"/>
          <ac:spMkLst>
            <pc:docMk/>
            <pc:sldMk cId="333122249" sldId="265"/>
            <ac:spMk id="8" creationId="{552F5437-0BC0-7BE8-AFEA-9C047A3DAB2E}"/>
          </ac:spMkLst>
        </pc:spChg>
        <pc:spChg chg="mod">
          <ac:chgData name="Inti Nuñez" userId="fc293a4ee38bb93b" providerId="LiveId" clId="{8C091EB5-D9FC-51B9-B601-2F1273399689}" dt="2026-04-13T19:47:33.929" v="1337" actId="1076"/>
          <ac:spMkLst>
            <pc:docMk/>
            <pc:sldMk cId="333122249" sldId="265"/>
            <ac:spMk id="9" creationId="{561BD25B-B8E0-0565-D651-83A40CC6A74A}"/>
          </ac:spMkLst>
        </pc:spChg>
        <pc:graphicFrameChg chg="mod modGraphic">
          <ac:chgData name="Inti Nuñez" userId="fc293a4ee38bb93b" providerId="LiveId" clId="{8C091EB5-D9FC-51B9-B601-2F1273399689}" dt="2026-04-13T19:48:25.295" v="1343" actId="1076"/>
          <ac:graphicFrameMkLst>
            <pc:docMk/>
            <pc:sldMk cId="333122249" sldId="265"/>
            <ac:graphicFrameMk id="3" creationId="{D063B976-589C-4187-0CFB-4A18ED2DD2C8}"/>
          </ac:graphicFrameMkLst>
        </pc:graphicFrameChg>
      </pc:sldChg>
      <pc:sldChg chg="modSp add mod">
        <pc:chgData name="Inti Nuñez" userId="fc293a4ee38bb93b" providerId="LiveId" clId="{8C091EB5-D9FC-51B9-B601-2F1273399689}" dt="2026-04-13T19:53:14.068" v="1394" actId="14100"/>
        <pc:sldMkLst>
          <pc:docMk/>
          <pc:sldMk cId="1246537885" sldId="266"/>
        </pc:sldMkLst>
        <pc:spChg chg="mod">
          <ac:chgData name="Inti Nuñez" userId="fc293a4ee38bb93b" providerId="LiveId" clId="{8C091EB5-D9FC-51B9-B601-2F1273399689}" dt="2026-04-13T19:51:22.553" v="1375" actId="255"/>
          <ac:spMkLst>
            <pc:docMk/>
            <pc:sldMk cId="1246537885" sldId="266"/>
            <ac:spMk id="2" creationId="{152FB321-991F-5AFB-C9EF-116011BDCED8}"/>
          </ac:spMkLst>
        </pc:spChg>
        <pc:spChg chg="mod">
          <ac:chgData name="Inti Nuñez" userId="fc293a4ee38bb93b" providerId="LiveId" clId="{8C091EB5-D9FC-51B9-B601-2F1273399689}" dt="2026-04-13T19:52:53.546" v="1390" actId="14100"/>
          <ac:spMkLst>
            <pc:docMk/>
            <pc:sldMk cId="1246537885" sldId="266"/>
            <ac:spMk id="3" creationId="{C04F1208-3E1E-2983-21D1-C4ECBDD90F70}"/>
          </ac:spMkLst>
        </pc:spChg>
        <pc:spChg chg="mod">
          <ac:chgData name="Inti Nuñez" userId="fc293a4ee38bb93b" providerId="LiveId" clId="{8C091EB5-D9FC-51B9-B601-2F1273399689}" dt="2026-04-13T19:50:48.648" v="1369" actId="1076"/>
          <ac:spMkLst>
            <pc:docMk/>
            <pc:sldMk cId="1246537885" sldId="266"/>
            <ac:spMk id="4" creationId="{3ABD358C-4425-25C2-1A87-C55AAACE2581}"/>
          </ac:spMkLst>
        </pc:spChg>
        <pc:spChg chg="mod">
          <ac:chgData name="Inti Nuñez" userId="fc293a4ee38bb93b" providerId="LiveId" clId="{8C091EB5-D9FC-51B9-B601-2F1273399689}" dt="2026-04-13T19:52:41.863" v="1388" actId="255"/>
          <ac:spMkLst>
            <pc:docMk/>
            <pc:sldMk cId="1246537885" sldId="266"/>
            <ac:spMk id="5" creationId="{C321B703-84D5-DBB3-9FA0-CBA9DE5AAA01}"/>
          </ac:spMkLst>
        </pc:spChg>
        <pc:spChg chg="mod">
          <ac:chgData name="Inti Nuñez" userId="fc293a4ee38bb93b" providerId="LiveId" clId="{8C091EB5-D9FC-51B9-B601-2F1273399689}" dt="2026-04-13T19:51:09.009" v="1372" actId="255"/>
          <ac:spMkLst>
            <pc:docMk/>
            <pc:sldMk cId="1246537885" sldId="266"/>
            <ac:spMk id="6" creationId="{36CA404D-76CD-8DBC-C2A4-D67C534D6CF6}"/>
          </ac:spMkLst>
        </pc:spChg>
        <pc:spChg chg="mod">
          <ac:chgData name="Inti Nuñez" userId="fc293a4ee38bb93b" providerId="LiveId" clId="{8C091EB5-D9FC-51B9-B601-2F1273399689}" dt="2026-04-13T19:50:48.648" v="1369" actId="1076"/>
          <ac:spMkLst>
            <pc:docMk/>
            <pc:sldMk cId="1246537885" sldId="266"/>
            <ac:spMk id="7" creationId="{FB8CE2D5-C7A1-07C5-5BBF-238FD902D205}"/>
          </ac:spMkLst>
        </pc:spChg>
        <pc:spChg chg="mod">
          <ac:chgData name="Inti Nuñez" userId="fc293a4ee38bb93b" providerId="LiveId" clId="{8C091EB5-D9FC-51B9-B601-2F1273399689}" dt="2026-04-13T19:51:34.346" v="1377" actId="255"/>
          <ac:spMkLst>
            <pc:docMk/>
            <pc:sldMk cId="1246537885" sldId="266"/>
            <ac:spMk id="8" creationId="{FC66130F-6424-085C-E5C8-58B70E73FE74}"/>
          </ac:spMkLst>
        </pc:spChg>
        <pc:spChg chg="mod">
          <ac:chgData name="Inti Nuñez" userId="fc293a4ee38bb93b" providerId="LiveId" clId="{8C091EB5-D9FC-51B9-B601-2F1273399689}" dt="2026-04-13T19:50:58.072" v="1370" actId="1076"/>
          <ac:spMkLst>
            <pc:docMk/>
            <pc:sldMk cId="1246537885" sldId="266"/>
            <ac:spMk id="9" creationId="{0F78EC9B-9D82-D0DF-F1AB-B26A947E5293}"/>
          </ac:spMkLst>
        </pc:spChg>
        <pc:spChg chg="mod">
          <ac:chgData name="Inti Nuñez" userId="fc293a4ee38bb93b" providerId="LiveId" clId="{8C091EB5-D9FC-51B9-B601-2F1273399689}" dt="2026-04-13T19:52:00.727" v="1381" actId="1076"/>
          <ac:spMkLst>
            <pc:docMk/>
            <pc:sldMk cId="1246537885" sldId="266"/>
            <ac:spMk id="10" creationId="{D22A3A30-E21A-0042-1F24-91AC6A792549}"/>
          </ac:spMkLst>
        </pc:spChg>
        <pc:spChg chg="mod">
          <ac:chgData name="Inti Nuñez" userId="fc293a4ee38bb93b" providerId="LiveId" clId="{8C091EB5-D9FC-51B9-B601-2F1273399689}" dt="2026-04-13T19:52:19.675" v="1385" actId="255"/>
          <ac:spMkLst>
            <pc:docMk/>
            <pc:sldMk cId="1246537885" sldId="266"/>
            <ac:spMk id="11" creationId="{DB5732CF-4353-9BC7-0950-2C5CF703E796}"/>
          </ac:spMkLst>
        </pc:spChg>
        <pc:spChg chg="mod">
          <ac:chgData name="Inti Nuñez" userId="fc293a4ee38bb93b" providerId="LiveId" clId="{8C091EB5-D9FC-51B9-B601-2F1273399689}" dt="2026-04-13T19:53:14.068" v="1394" actId="14100"/>
          <ac:spMkLst>
            <pc:docMk/>
            <pc:sldMk cId="1246537885" sldId="266"/>
            <ac:spMk id="12" creationId="{0133EACA-4F5D-D877-9816-629015EB8062}"/>
          </ac:spMkLst>
        </pc:spChg>
        <pc:spChg chg="mod">
          <ac:chgData name="Inti Nuñez" userId="fc293a4ee38bb93b" providerId="LiveId" clId="{8C091EB5-D9FC-51B9-B601-2F1273399689}" dt="2026-04-13T19:53:09.895" v="1393" actId="255"/>
          <ac:spMkLst>
            <pc:docMk/>
            <pc:sldMk cId="1246537885" sldId="266"/>
            <ac:spMk id="13" creationId="{8E900561-F7E7-B8F5-26BD-CAF46FD16EF2}"/>
          </ac:spMkLst>
        </pc:spChg>
        <pc:spChg chg="mod">
          <ac:chgData name="Inti Nuñez" userId="fc293a4ee38bb93b" providerId="LiveId" clId="{8C091EB5-D9FC-51B9-B601-2F1273399689}" dt="2026-04-13T19:51:52.637" v="1380" actId="255"/>
          <ac:spMkLst>
            <pc:docMk/>
            <pc:sldMk cId="1246537885" sldId="266"/>
            <ac:spMk id="14" creationId="{E42D08D8-94ED-DD3E-D8E2-EEA62E2D584A}"/>
          </ac:spMkLst>
        </pc:spChg>
      </pc:sldChg>
      <pc:sldChg chg="modSp add mod">
        <pc:chgData name="Inti Nuñez" userId="fc293a4ee38bb93b" providerId="LiveId" clId="{8C091EB5-D9FC-51B9-B601-2F1273399689}" dt="2026-04-13T19:03:00.083" v="903" actId="1076"/>
        <pc:sldMkLst>
          <pc:docMk/>
          <pc:sldMk cId="905836596" sldId="284"/>
        </pc:sldMkLst>
        <pc:spChg chg="mod">
          <ac:chgData name="Inti Nuñez" userId="fc293a4ee38bb93b" providerId="LiveId" clId="{8C091EB5-D9FC-51B9-B601-2F1273399689}" dt="2026-04-13T19:00:43.001" v="886" actId="1036"/>
          <ac:spMkLst>
            <pc:docMk/>
            <pc:sldMk cId="905836596" sldId="284"/>
            <ac:spMk id="4" creationId="{9895B14F-D9D7-8F6F-608A-09D66616DAEE}"/>
          </ac:spMkLst>
        </pc:spChg>
        <pc:spChg chg="mod">
          <ac:chgData name="Inti Nuñez" userId="fc293a4ee38bb93b" providerId="LiveId" clId="{8C091EB5-D9FC-51B9-B601-2F1273399689}" dt="2026-04-13T19:01:27.239" v="891" actId="14100"/>
          <ac:spMkLst>
            <pc:docMk/>
            <pc:sldMk cId="905836596" sldId="284"/>
            <ac:spMk id="6" creationId="{6C077454-C321-077B-33AB-1D8A43389ADF}"/>
          </ac:spMkLst>
        </pc:spChg>
        <pc:spChg chg="mod">
          <ac:chgData name="Inti Nuñez" userId="fc293a4ee38bb93b" providerId="LiveId" clId="{8C091EB5-D9FC-51B9-B601-2F1273399689}" dt="2026-04-13T19:00:14.771" v="878" actId="1076"/>
          <ac:spMkLst>
            <pc:docMk/>
            <pc:sldMk cId="905836596" sldId="284"/>
            <ac:spMk id="7" creationId="{167104E3-7D24-4846-C80F-F6A7C12A5F90}"/>
          </ac:spMkLst>
        </pc:spChg>
        <pc:spChg chg="mod">
          <ac:chgData name="Inti Nuñez" userId="fc293a4ee38bb93b" providerId="LiveId" clId="{8C091EB5-D9FC-51B9-B601-2F1273399689}" dt="2026-04-13T19:02:38.521" v="900" actId="255"/>
          <ac:spMkLst>
            <pc:docMk/>
            <pc:sldMk cId="905836596" sldId="284"/>
            <ac:spMk id="8" creationId="{A998345A-EDD7-BB39-7681-B6E052D76875}"/>
          </ac:spMkLst>
        </pc:spChg>
        <pc:spChg chg="mod">
          <ac:chgData name="Inti Nuñez" userId="fc293a4ee38bb93b" providerId="LiveId" clId="{8C091EB5-D9FC-51B9-B601-2F1273399689}" dt="2026-04-13T19:00:58.081" v="887" actId="1076"/>
          <ac:spMkLst>
            <pc:docMk/>
            <pc:sldMk cId="905836596" sldId="284"/>
            <ac:spMk id="9" creationId="{1BA16AD8-FE8B-A997-FEDC-9DA645C59580}"/>
          </ac:spMkLst>
        </pc:spChg>
        <pc:spChg chg="mod">
          <ac:chgData name="Inti Nuñez" userId="fc293a4ee38bb93b" providerId="LiveId" clId="{8C091EB5-D9FC-51B9-B601-2F1273399689}" dt="2026-04-13T19:02:00.907" v="897" actId="404"/>
          <ac:spMkLst>
            <pc:docMk/>
            <pc:sldMk cId="905836596" sldId="284"/>
            <ac:spMk id="15" creationId="{303C4A61-F819-19B0-6D23-BB43F955E2C3}"/>
          </ac:spMkLst>
        </pc:spChg>
        <pc:spChg chg="mod">
          <ac:chgData name="Inti Nuñez" userId="fc293a4ee38bb93b" providerId="LiveId" clId="{8C091EB5-D9FC-51B9-B601-2F1273399689}" dt="2026-04-13T19:02:52.592" v="902" actId="255"/>
          <ac:spMkLst>
            <pc:docMk/>
            <pc:sldMk cId="905836596" sldId="284"/>
            <ac:spMk id="16" creationId="{C7985BC9-22C5-0B08-34FD-0DE4D69E27D3}"/>
          </ac:spMkLst>
        </pc:spChg>
        <pc:graphicFrameChg chg="mod">
          <ac:chgData name="Inti Nuñez" userId="fc293a4ee38bb93b" providerId="LiveId" clId="{8C091EB5-D9FC-51B9-B601-2F1273399689}" dt="2026-04-13T19:03:00.083" v="903" actId="1076"/>
          <ac:graphicFrameMkLst>
            <pc:docMk/>
            <pc:sldMk cId="905836596" sldId="284"/>
            <ac:graphicFrameMk id="17" creationId="{9FD1455E-F310-95F2-553F-25CDEFF8ED43}"/>
          </ac:graphicFrameMkLst>
        </pc:graphicFrameChg>
        <pc:picChg chg="mod">
          <ac:chgData name="Inti Nuñez" userId="fc293a4ee38bb93b" providerId="LiveId" clId="{8C091EB5-D9FC-51B9-B601-2F1273399689}" dt="2026-04-13T19:01:53.305" v="896" actId="14100"/>
          <ac:picMkLst>
            <pc:docMk/>
            <pc:sldMk cId="905836596" sldId="284"/>
            <ac:picMk id="14" creationId="{57B62849-B531-F128-4CB1-82507935E7A2}"/>
          </ac:picMkLst>
        </pc:picChg>
      </pc:sldChg>
      <pc:sldChg chg="modSp add mod">
        <pc:chgData name="Inti Nuñez" userId="fc293a4ee38bb93b" providerId="LiveId" clId="{8C091EB5-D9FC-51B9-B601-2F1273399689}" dt="2026-04-13T19:05:43.082" v="930" actId="255"/>
        <pc:sldMkLst>
          <pc:docMk/>
          <pc:sldMk cId="3553319260" sldId="285"/>
        </pc:sldMkLst>
        <pc:spChg chg="mod">
          <ac:chgData name="Inti Nuñez" userId="fc293a4ee38bb93b" providerId="LiveId" clId="{8C091EB5-D9FC-51B9-B601-2F1273399689}" dt="2026-04-13T19:04:20.443" v="914" actId="255"/>
          <ac:spMkLst>
            <pc:docMk/>
            <pc:sldMk cId="3553319260" sldId="285"/>
            <ac:spMk id="2" creationId="{C30C4D7E-ACD1-3E04-99A7-1EDF6033B439}"/>
          </ac:spMkLst>
        </pc:spChg>
        <pc:spChg chg="mod">
          <ac:chgData name="Inti Nuñez" userId="fc293a4ee38bb93b" providerId="LiveId" clId="{8C091EB5-D9FC-51B9-B601-2F1273399689}" dt="2026-04-13T19:03:48.135" v="909" actId="403"/>
          <ac:spMkLst>
            <pc:docMk/>
            <pc:sldMk cId="3553319260" sldId="285"/>
            <ac:spMk id="4" creationId="{C44A0B90-D953-5001-11C6-F590560B00DE}"/>
          </ac:spMkLst>
        </pc:spChg>
        <pc:spChg chg="mod">
          <ac:chgData name="Inti Nuñez" userId="fc293a4ee38bb93b" providerId="LiveId" clId="{8C091EB5-D9FC-51B9-B601-2F1273399689}" dt="2026-04-13T19:04:49.440" v="924" actId="403"/>
          <ac:spMkLst>
            <pc:docMk/>
            <pc:sldMk cId="3553319260" sldId="285"/>
            <ac:spMk id="5" creationId="{1B633A29-E55E-D14C-1F53-7D720EF5251D}"/>
          </ac:spMkLst>
        </pc:spChg>
        <pc:spChg chg="mod">
          <ac:chgData name="Inti Nuñez" userId="fc293a4ee38bb93b" providerId="LiveId" clId="{8C091EB5-D9FC-51B9-B601-2F1273399689}" dt="2026-04-13T19:04:11.804" v="912" actId="14100"/>
          <ac:spMkLst>
            <pc:docMk/>
            <pc:sldMk cId="3553319260" sldId="285"/>
            <ac:spMk id="6" creationId="{B495422C-F6F4-CD94-D561-0EF484F985D8}"/>
          </ac:spMkLst>
        </pc:spChg>
        <pc:spChg chg="mod">
          <ac:chgData name="Inti Nuñez" userId="fc293a4ee38bb93b" providerId="LiveId" clId="{8C091EB5-D9FC-51B9-B601-2F1273399689}" dt="2026-04-13T19:03:35.892" v="906" actId="1076"/>
          <ac:spMkLst>
            <pc:docMk/>
            <pc:sldMk cId="3553319260" sldId="285"/>
            <ac:spMk id="7" creationId="{E016878A-93FE-D737-5852-DC7FA67ABCE2}"/>
          </ac:spMkLst>
        </pc:spChg>
        <pc:spChg chg="mod">
          <ac:chgData name="Inti Nuñez" userId="fc293a4ee38bb93b" providerId="LiveId" clId="{8C091EB5-D9FC-51B9-B601-2F1273399689}" dt="2026-04-13T19:05:32.293" v="928" actId="255"/>
          <ac:spMkLst>
            <pc:docMk/>
            <pc:sldMk cId="3553319260" sldId="285"/>
            <ac:spMk id="8" creationId="{471EF9F8-26B1-BE8D-DC65-27CA3338A3C0}"/>
          </ac:spMkLst>
        </pc:spChg>
        <pc:spChg chg="mod">
          <ac:chgData name="Inti Nuñez" userId="fc293a4ee38bb93b" providerId="LiveId" clId="{8C091EB5-D9FC-51B9-B601-2F1273399689}" dt="2026-04-13T19:05:11.281" v="925" actId="1076"/>
          <ac:spMkLst>
            <pc:docMk/>
            <pc:sldMk cId="3553319260" sldId="285"/>
            <ac:spMk id="9" creationId="{01F9E470-B8C0-8E75-93AF-C535B9D5C8FC}"/>
          </ac:spMkLst>
        </pc:spChg>
        <pc:spChg chg="mod">
          <ac:chgData name="Inti Nuñez" userId="fc293a4ee38bb93b" providerId="LiveId" clId="{8C091EB5-D9FC-51B9-B601-2F1273399689}" dt="2026-04-13T19:05:43.082" v="930" actId="255"/>
          <ac:spMkLst>
            <pc:docMk/>
            <pc:sldMk cId="3553319260" sldId="285"/>
            <ac:spMk id="10" creationId="{D298AC12-D89E-5665-C0FA-42D7502FC7D0}"/>
          </ac:spMkLst>
        </pc:spChg>
        <pc:graphicFrameChg chg="mod modGraphic">
          <ac:chgData name="Inti Nuñez" userId="fc293a4ee38bb93b" providerId="LiveId" clId="{8C091EB5-D9FC-51B9-B601-2F1273399689}" dt="2026-04-13T19:04:34.559" v="917" actId="14100"/>
          <ac:graphicFrameMkLst>
            <pc:docMk/>
            <pc:sldMk cId="3553319260" sldId="285"/>
            <ac:graphicFrameMk id="3" creationId="{80CB4679-FBB0-2CE7-892D-001FF6957F45}"/>
          </ac:graphicFrameMkLst>
        </pc:graphicFrameChg>
      </pc:sldChg>
      <pc:sldChg chg="modSp add mod">
        <pc:chgData name="Inti Nuñez" userId="fc293a4ee38bb93b" providerId="LiveId" clId="{8C091EB5-D9FC-51B9-B601-2F1273399689}" dt="2026-04-13T18:59:34.611" v="877" actId="1076"/>
        <pc:sldMkLst>
          <pc:docMk/>
          <pc:sldMk cId="4097005900" sldId="286"/>
        </pc:sldMkLst>
        <pc:spChg chg="mod">
          <ac:chgData name="Inti Nuñez" userId="fc293a4ee38bb93b" providerId="LiveId" clId="{8C091EB5-D9FC-51B9-B601-2F1273399689}" dt="2026-04-13T18:58:10.795" v="871" actId="14100"/>
          <ac:spMkLst>
            <pc:docMk/>
            <pc:sldMk cId="4097005900" sldId="286"/>
            <ac:spMk id="3" creationId="{47EEA36E-49D1-E574-7883-D32C392746DC}"/>
          </ac:spMkLst>
        </pc:spChg>
        <pc:spChg chg="mod">
          <ac:chgData name="Inti Nuñez" userId="fc293a4ee38bb93b" providerId="LiveId" clId="{8C091EB5-D9FC-51B9-B601-2F1273399689}" dt="2026-04-13T18:59:34.611" v="877" actId="1076"/>
          <ac:spMkLst>
            <pc:docMk/>
            <pc:sldMk cId="4097005900" sldId="286"/>
            <ac:spMk id="4" creationId="{21843E4F-C9D7-EC7D-A6FB-40975F81B7F2}"/>
          </ac:spMkLst>
        </pc:spChg>
        <pc:spChg chg="mod">
          <ac:chgData name="Inti Nuñez" userId="fc293a4ee38bb93b" providerId="LiveId" clId="{8C091EB5-D9FC-51B9-B601-2F1273399689}" dt="2026-04-13T18:58:30.361" v="872" actId="14100"/>
          <ac:spMkLst>
            <pc:docMk/>
            <pc:sldMk cId="4097005900" sldId="286"/>
            <ac:spMk id="7" creationId="{D6ACC26D-67F6-C9FA-8E65-FE783BC0BCA6}"/>
          </ac:spMkLst>
        </pc:spChg>
        <pc:spChg chg="mod">
          <ac:chgData name="Inti Nuñez" userId="fc293a4ee38bb93b" providerId="LiveId" clId="{8C091EB5-D9FC-51B9-B601-2F1273399689}" dt="2026-04-13T18:57:37.750" v="870" actId="255"/>
          <ac:spMkLst>
            <pc:docMk/>
            <pc:sldMk cId="4097005900" sldId="286"/>
            <ac:spMk id="9" creationId="{C857CEDC-02E3-9BAD-F09C-42DA30FDA14D}"/>
          </ac:spMkLst>
        </pc:spChg>
      </pc:sldChg>
      <pc:sldChg chg="modSp add mod">
        <pc:chgData name="Inti Nuñez" userId="fc293a4ee38bb93b" providerId="LiveId" clId="{8C091EB5-D9FC-51B9-B601-2F1273399689}" dt="2026-04-13T19:14:10.487" v="1005" actId="14100"/>
        <pc:sldMkLst>
          <pc:docMk/>
          <pc:sldMk cId="3003090451" sldId="295"/>
        </pc:sldMkLst>
        <pc:spChg chg="mod">
          <ac:chgData name="Inti Nuñez" userId="fc293a4ee38bb93b" providerId="LiveId" clId="{8C091EB5-D9FC-51B9-B601-2F1273399689}" dt="2026-04-13T19:11:32.484" v="982" actId="404"/>
          <ac:spMkLst>
            <pc:docMk/>
            <pc:sldMk cId="3003090451" sldId="295"/>
            <ac:spMk id="2" creationId="{9E1DD22E-6C4D-1BD2-EED1-E334D0D25B0A}"/>
          </ac:spMkLst>
        </pc:spChg>
        <pc:spChg chg="mod">
          <ac:chgData name="Inti Nuñez" userId="fc293a4ee38bb93b" providerId="LiveId" clId="{8C091EB5-D9FC-51B9-B601-2F1273399689}" dt="2026-04-13T19:10:32.848" v="965" actId="403"/>
          <ac:spMkLst>
            <pc:docMk/>
            <pc:sldMk cId="3003090451" sldId="295"/>
            <ac:spMk id="4" creationId="{31E15369-A543-429A-BE88-44075197ECE5}"/>
          </ac:spMkLst>
        </pc:spChg>
        <pc:spChg chg="mod">
          <ac:chgData name="Inti Nuñez" userId="fc293a4ee38bb93b" providerId="LiveId" clId="{8C091EB5-D9FC-51B9-B601-2F1273399689}" dt="2026-04-13T19:12:26.711" v="991" actId="1076"/>
          <ac:spMkLst>
            <pc:docMk/>
            <pc:sldMk cId="3003090451" sldId="295"/>
            <ac:spMk id="5" creationId="{43B960C9-1CEA-9F73-B629-98E2F5EA7177}"/>
          </ac:spMkLst>
        </pc:spChg>
        <pc:spChg chg="mod">
          <ac:chgData name="Inti Nuñez" userId="fc293a4ee38bb93b" providerId="LiveId" clId="{8C091EB5-D9FC-51B9-B601-2F1273399689}" dt="2026-04-13T19:11:04.151" v="972" actId="403"/>
          <ac:spMkLst>
            <pc:docMk/>
            <pc:sldMk cId="3003090451" sldId="295"/>
            <ac:spMk id="6" creationId="{4C1921A6-D152-857F-85A3-F02D9CD81E3B}"/>
          </ac:spMkLst>
        </pc:spChg>
        <pc:spChg chg="mod">
          <ac:chgData name="Inti Nuñez" userId="fc293a4ee38bb93b" providerId="LiveId" clId="{8C091EB5-D9FC-51B9-B601-2F1273399689}" dt="2026-04-13T19:10:45.971" v="966" actId="1076"/>
          <ac:spMkLst>
            <pc:docMk/>
            <pc:sldMk cId="3003090451" sldId="295"/>
            <ac:spMk id="7" creationId="{A95FE6A4-6DE2-DEBA-8523-BDCCED0F8487}"/>
          </ac:spMkLst>
        </pc:spChg>
        <pc:spChg chg="mod">
          <ac:chgData name="Inti Nuñez" userId="fc293a4ee38bb93b" providerId="LiveId" clId="{8C091EB5-D9FC-51B9-B601-2F1273399689}" dt="2026-04-13T19:12:54.694" v="994" actId="255"/>
          <ac:spMkLst>
            <pc:docMk/>
            <pc:sldMk cId="3003090451" sldId="295"/>
            <ac:spMk id="8" creationId="{F6CAC543-A565-828C-B5E7-D95458F20CF2}"/>
          </ac:spMkLst>
        </pc:spChg>
        <pc:spChg chg="mod">
          <ac:chgData name="Inti Nuñez" userId="fc293a4ee38bb93b" providerId="LiveId" clId="{8C091EB5-D9FC-51B9-B601-2F1273399689}" dt="2026-04-13T19:12:45.128" v="992" actId="1076"/>
          <ac:spMkLst>
            <pc:docMk/>
            <pc:sldMk cId="3003090451" sldId="295"/>
            <ac:spMk id="9" creationId="{7EA53106-998A-4F2F-FC23-20178026EEDF}"/>
          </ac:spMkLst>
        </pc:spChg>
        <pc:spChg chg="mod">
          <ac:chgData name="Inti Nuñez" userId="fc293a4ee38bb93b" providerId="LiveId" clId="{8C091EB5-D9FC-51B9-B601-2F1273399689}" dt="2026-04-13T19:13:45.484" v="1002" actId="14100"/>
          <ac:spMkLst>
            <pc:docMk/>
            <pc:sldMk cId="3003090451" sldId="295"/>
            <ac:spMk id="10" creationId="{60672DA8-7812-8CE6-E4AD-17FFA615C457}"/>
          </ac:spMkLst>
        </pc:spChg>
        <pc:spChg chg="mod">
          <ac:chgData name="Inti Nuñez" userId="fc293a4ee38bb93b" providerId="LiveId" clId="{8C091EB5-D9FC-51B9-B601-2F1273399689}" dt="2026-04-13T19:13:34.240" v="1000" actId="255"/>
          <ac:spMkLst>
            <pc:docMk/>
            <pc:sldMk cId="3003090451" sldId="295"/>
            <ac:spMk id="11" creationId="{2F3C11DE-A914-CF88-4A12-AA5494EE2B98}"/>
          </ac:spMkLst>
        </pc:spChg>
        <pc:spChg chg="mod">
          <ac:chgData name="Inti Nuñez" userId="fc293a4ee38bb93b" providerId="LiveId" clId="{8C091EB5-D9FC-51B9-B601-2F1273399689}" dt="2026-04-13T19:13:24.335" v="998" actId="14100"/>
          <ac:spMkLst>
            <pc:docMk/>
            <pc:sldMk cId="3003090451" sldId="295"/>
            <ac:spMk id="12" creationId="{93D88793-8194-1D9B-D588-3B7FF63FCA5C}"/>
          </ac:spMkLst>
        </pc:spChg>
        <pc:spChg chg="mod">
          <ac:chgData name="Inti Nuñez" userId="fc293a4ee38bb93b" providerId="LiveId" clId="{8C091EB5-D9FC-51B9-B601-2F1273399689}" dt="2026-04-13T19:13:07.825" v="996" actId="255"/>
          <ac:spMkLst>
            <pc:docMk/>
            <pc:sldMk cId="3003090451" sldId="295"/>
            <ac:spMk id="13" creationId="{D3844E01-1213-E8E2-7D4E-60168C498795}"/>
          </ac:spMkLst>
        </pc:spChg>
        <pc:spChg chg="mod">
          <ac:chgData name="Inti Nuñez" userId="fc293a4ee38bb93b" providerId="LiveId" clId="{8C091EB5-D9FC-51B9-B601-2F1273399689}" dt="2026-04-13T19:14:10.487" v="1005" actId="14100"/>
          <ac:spMkLst>
            <pc:docMk/>
            <pc:sldMk cId="3003090451" sldId="295"/>
            <ac:spMk id="14" creationId="{F25EAA84-BAAB-3666-406B-B7A041098CA2}"/>
          </ac:spMkLst>
        </pc:spChg>
        <pc:spChg chg="mod">
          <ac:chgData name="Inti Nuñez" userId="fc293a4ee38bb93b" providerId="LiveId" clId="{8C091EB5-D9FC-51B9-B601-2F1273399689}" dt="2026-04-13T19:14:04.745" v="1004" actId="255"/>
          <ac:spMkLst>
            <pc:docMk/>
            <pc:sldMk cId="3003090451" sldId="295"/>
            <ac:spMk id="15" creationId="{912A8ECD-5469-4CE0-15C4-785A3E008DD6}"/>
          </ac:spMkLst>
        </pc:spChg>
        <pc:graphicFrameChg chg="mod modGraphic">
          <ac:chgData name="Inti Nuñez" userId="fc293a4ee38bb93b" providerId="LiveId" clId="{8C091EB5-D9FC-51B9-B601-2F1273399689}" dt="2026-04-13T19:12:00.596" v="987" actId="404"/>
          <ac:graphicFrameMkLst>
            <pc:docMk/>
            <pc:sldMk cId="3003090451" sldId="295"/>
            <ac:graphicFrameMk id="3" creationId="{CDA3910E-B43B-1667-90DC-D5BED66051CE}"/>
          </ac:graphicFrameMkLst>
        </pc:graphicFrameChg>
      </pc:sldChg>
      <pc:sldChg chg="modSp add mod">
        <pc:chgData name="Inti Nuñez" userId="fc293a4ee38bb93b" providerId="LiveId" clId="{8C091EB5-D9FC-51B9-B601-2F1273399689}" dt="2026-04-13T19:17:46.211" v="1041" actId="1036"/>
        <pc:sldMkLst>
          <pc:docMk/>
          <pc:sldMk cId="3968966922" sldId="296"/>
        </pc:sldMkLst>
        <pc:spChg chg="mod">
          <ac:chgData name="Inti Nuñez" userId="fc293a4ee38bb93b" providerId="LiveId" clId="{8C091EB5-D9FC-51B9-B601-2F1273399689}" dt="2026-04-13T19:16:06.302" v="1016" actId="255"/>
          <ac:spMkLst>
            <pc:docMk/>
            <pc:sldMk cId="3968966922" sldId="296"/>
            <ac:spMk id="3" creationId="{EBA807B0-3C0B-830A-C040-E00B5A370939}"/>
          </ac:spMkLst>
        </pc:spChg>
        <pc:spChg chg="mod">
          <ac:chgData name="Inti Nuñez" userId="fc293a4ee38bb93b" providerId="LiveId" clId="{8C091EB5-D9FC-51B9-B601-2F1273399689}" dt="2026-04-13T19:14:52.307" v="1006" actId="1076"/>
          <ac:spMkLst>
            <pc:docMk/>
            <pc:sldMk cId="3968966922" sldId="296"/>
            <ac:spMk id="4" creationId="{4F78A111-17B8-C590-76B4-5FC1E1CB3582}"/>
          </ac:spMkLst>
        </pc:spChg>
        <pc:spChg chg="mod">
          <ac:chgData name="Inti Nuñez" userId="fc293a4ee38bb93b" providerId="LiveId" clId="{8C091EB5-D9FC-51B9-B601-2F1273399689}" dt="2026-04-13T19:17:31.913" v="1029" actId="1076"/>
          <ac:spMkLst>
            <pc:docMk/>
            <pc:sldMk cId="3968966922" sldId="296"/>
            <ac:spMk id="5" creationId="{7734A01E-54EB-1D7F-6D22-35FCDD54FD3D}"/>
          </ac:spMkLst>
        </pc:spChg>
        <pc:spChg chg="mod">
          <ac:chgData name="Inti Nuñez" userId="fc293a4ee38bb93b" providerId="LiveId" clId="{8C091EB5-D9FC-51B9-B601-2F1273399689}" dt="2026-04-13T19:15:26.962" v="1010" actId="255"/>
          <ac:spMkLst>
            <pc:docMk/>
            <pc:sldMk cId="3968966922" sldId="296"/>
            <ac:spMk id="6" creationId="{61F0980A-6BEB-8EB4-962B-CBD97140DB29}"/>
          </ac:spMkLst>
        </pc:spChg>
        <pc:spChg chg="mod">
          <ac:chgData name="Inti Nuñez" userId="fc293a4ee38bb93b" providerId="LiveId" clId="{8C091EB5-D9FC-51B9-B601-2F1273399689}" dt="2026-04-13T19:14:52.307" v="1006" actId="1076"/>
          <ac:spMkLst>
            <pc:docMk/>
            <pc:sldMk cId="3968966922" sldId="296"/>
            <ac:spMk id="7" creationId="{8AE6AD10-3DA4-71BA-4CDB-29B51B8C6BE0}"/>
          </ac:spMkLst>
        </pc:spChg>
        <pc:spChg chg="mod">
          <ac:chgData name="Inti Nuñez" userId="fc293a4ee38bb93b" providerId="LiveId" clId="{8C091EB5-D9FC-51B9-B601-2F1273399689}" dt="2026-04-13T19:15:45.333" v="1013" actId="255"/>
          <ac:spMkLst>
            <pc:docMk/>
            <pc:sldMk cId="3968966922" sldId="296"/>
            <ac:spMk id="8" creationId="{EB3C89BB-F573-58D1-3514-40B1916A8C52}"/>
          </ac:spMkLst>
        </pc:spChg>
        <pc:spChg chg="mod">
          <ac:chgData name="Inti Nuñez" userId="fc293a4ee38bb93b" providerId="LiveId" clId="{8C091EB5-D9FC-51B9-B601-2F1273399689}" dt="2026-04-13T19:15:08.539" v="1007" actId="1076"/>
          <ac:spMkLst>
            <pc:docMk/>
            <pc:sldMk cId="3968966922" sldId="296"/>
            <ac:spMk id="9" creationId="{5FF48B4C-DF89-EE9C-2D11-63E4C75FB2C6}"/>
          </ac:spMkLst>
        </pc:spChg>
        <pc:spChg chg="mod">
          <ac:chgData name="Inti Nuñez" userId="fc293a4ee38bb93b" providerId="LiveId" clId="{8C091EB5-D9FC-51B9-B601-2F1273399689}" dt="2026-04-13T19:17:31.913" v="1029" actId="1076"/>
          <ac:spMkLst>
            <pc:docMk/>
            <pc:sldMk cId="3968966922" sldId="296"/>
            <ac:spMk id="10" creationId="{9E190BF2-97C9-4D1C-9D4D-DFB607820EFD}"/>
          </ac:spMkLst>
        </pc:spChg>
        <pc:spChg chg="mod">
          <ac:chgData name="Inti Nuñez" userId="fc293a4ee38bb93b" providerId="LiveId" clId="{8C091EB5-D9FC-51B9-B601-2F1273399689}" dt="2026-04-13T19:17:31.913" v="1029" actId="1076"/>
          <ac:spMkLst>
            <pc:docMk/>
            <pc:sldMk cId="3968966922" sldId="296"/>
            <ac:spMk id="11" creationId="{F242B6C9-8967-A085-FC01-31472452F439}"/>
          </ac:spMkLst>
        </pc:spChg>
        <pc:spChg chg="mod">
          <ac:chgData name="Inti Nuñez" userId="fc293a4ee38bb93b" providerId="LiveId" clId="{8C091EB5-D9FC-51B9-B601-2F1273399689}" dt="2026-04-13T19:17:46.211" v="1041" actId="1036"/>
          <ac:spMkLst>
            <pc:docMk/>
            <pc:sldMk cId="3968966922" sldId="296"/>
            <ac:spMk id="12" creationId="{08414E44-7BE8-7A65-B86A-3F70992D4A91}"/>
          </ac:spMkLst>
        </pc:spChg>
        <pc:spChg chg="mod">
          <ac:chgData name="Inti Nuñez" userId="fc293a4ee38bb93b" providerId="LiveId" clId="{8C091EB5-D9FC-51B9-B601-2F1273399689}" dt="2026-04-13T19:17:20.713" v="1028" actId="255"/>
          <ac:spMkLst>
            <pc:docMk/>
            <pc:sldMk cId="3968966922" sldId="296"/>
            <ac:spMk id="13" creationId="{A30B49AE-0DA4-57C9-2F21-D2F196F0D148}"/>
          </ac:spMkLst>
        </pc:spChg>
        <pc:graphicFrameChg chg="mod modGraphic">
          <ac:chgData name="Inti Nuñez" userId="fc293a4ee38bb93b" providerId="LiveId" clId="{8C091EB5-D9FC-51B9-B601-2F1273399689}" dt="2026-04-13T19:17:03.491" v="1025" actId="14734"/>
          <ac:graphicFrameMkLst>
            <pc:docMk/>
            <pc:sldMk cId="3968966922" sldId="296"/>
            <ac:graphicFrameMk id="2" creationId="{CE4EDD8F-6AE4-C3E4-38B6-87CC87629729}"/>
          </ac:graphicFrameMkLst>
        </pc:graphicFrameChg>
      </pc:sldChg>
      <pc:sldChg chg="modSp add mod">
        <pc:chgData name="Inti Nuñez" userId="fc293a4ee38bb93b" providerId="LiveId" clId="{8C091EB5-D9FC-51B9-B601-2F1273399689}" dt="2026-04-13T19:25:32.851" v="1090" actId="1076"/>
        <pc:sldMkLst>
          <pc:docMk/>
          <pc:sldMk cId="4265410560" sldId="297"/>
        </pc:sldMkLst>
        <pc:spChg chg="mod">
          <ac:chgData name="Inti Nuñez" userId="fc293a4ee38bb93b" providerId="LiveId" clId="{8C091EB5-D9FC-51B9-B601-2F1273399689}" dt="2026-04-13T19:25:32.851" v="1090" actId="1076"/>
          <ac:spMkLst>
            <pc:docMk/>
            <pc:sldMk cId="4265410560" sldId="297"/>
            <ac:spMk id="2" creationId="{F5F86BEF-D367-CFE2-9847-D85B715B89E9}"/>
          </ac:spMkLst>
        </pc:spChg>
        <pc:spChg chg="mod">
          <ac:chgData name="Inti Nuñez" userId="fc293a4ee38bb93b" providerId="LiveId" clId="{8C091EB5-D9FC-51B9-B601-2F1273399689}" dt="2026-04-13T19:25:32.851" v="1090" actId="1076"/>
          <ac:spMkLst>
            <pc:docMk/>
            <pc:sldMk cId="4265410560" sldId="297"/>
            <ac:spMk id="3" creationId="{19D07838-25CA-37D4-D611-E5641F762739}"/>
          </ac:spMkLst>
        </pc:spChg>
        <pc:spChg chg="mod">
          <ac:chgData name="Inti Nuñez" userId="fc293a4ee38bb93b" providerId="LiveId" clId="{8C091EB5-D9FC-51B9-B601-2F1273399689}" dt="2026-04-13T19:22:01.903" v="1064" actId="1076"/>
          <ac:spMkLst>
            <pc:docMk/>
            <pc:sldMk cId="4265410560" sldId="297"/>
            <ac:spMk id="4" creationId="{00E7A656-00D1-C652-6BCF-FD6BE3F78B29}"/>
          </ac:spMkLst>
        </pc:spChg>
        <pc:spChg chg="mod">
          <ac:chgData name="Inti Nuñez" userId="fc293a4ee38bb93b" providerId="LiveId" clId="{8C091EB5-D9FC-51B9-B601-2F1273399689}" dt="2026-04-13T19:24:40.890" v="1084" actId="1076"/>
          <ac:spMkLst>
            <pc:docMk/>
            <pc:sldMk cId="4265410560" sldId="297"/>
            <ac:spMk id="5" creationId="{59AC8A09-3E1F-5623-DFA2-19E400B381D3}"/>
          </ac:spMkLst>
        </pc:spChg>
        <pc:spChg chg="mod">
          <ac:chgData name="Inti Nuñez" userId="fc293a4ee38bb93b" providerId="LiveId" clId="{8C091EB5-D9FC-51B9-B601-2F1273399689}" dt="2026-04-13T19:25:32.851" v="1090" actId="1076"/>
          <ac:spMkLst>
            <pc:docMk/>
            <pc:sldMk cId="4265410560" sldId="297"/>
            <ac:spMk id="6" creationId="{FF549768-2265-44AA-EB78-BAC0DEFA4C84}"/>
          </ac:spMkLst>
        </pc:spChg>
        <pc:spChg chg="mod">
          <ac:chgData name="Inti Nuñez" userId="fc293a4ee38bb93b" providerId="LiveId" clId="{8C091EB5-D9FC-51B9-B601-2F1273399689}" dt="2026-04-13T19:25:32.851" v="1090" actId="1076"/>
          <ac:spMkLst>
            <pc:docMk/>
            <pc:sldMk cId="4265410560" sldId="297"/>
            <ac:spMk id="7" creationId="{94A1F07D-E757-242D-0E47-972FBD44FBE3}"/>
          </ac:spMkLst>
        </pc:spChg>
        <pc:spChg chg="mod">
          <ac:chgData name="Inti Nuñez" userId="fc293a4ee38bb93b" providerId="LiveId" clId="{8C091EB5-D9FC-51B9-B601-2F1273399689}" dt="2026-04-13T19:25:32.851" v="1090" actId="1076"/>
          <ac:spMkLst>
            <pc:docMk/>
            <pc:sldMk cId="4265410560" sldId="297"/>
            <ac:spMk id="8" creationId="{B58D1E86-AD5B-7661-DCAF-72CD6AEE7643}"/>
          </ac:spMkLst>
        </pc:spChg>
        <pc:spChg chg="mod">
          <ac:chgData name="Inti Nuñez" userId="fc293a4ee38bb93b" providerId="LiveId" clId="{8C091EB5-D9FC-51B9-B601-2F1273399689}" dt="2026-04-13T19:25:32.851" v="1090" actId="1076"/>
          <ac:spMkLst>
            <pc:docMk/>
            <pc:sldMk cId="4265410560" sldId="297"/>
            <ac:spMk id="9" creationId="{3DEF8D46-341C-44AB-BC61-103188048E8A}"/>
          </ac:spMkLst>
        </pc:spChg>
        <pc:spChg chg="mod">
          <ac:chgData name="Inti Nuñez" userId="fc293a4ee38bb93b" providerId="LiveId" clId="{8C091EB5-D9FC-51B9-B601-2F1273399689}" dt="2026-04-13T19:24:40.890" v="1084" actId="1076"/>
          <ac:spMkLst>
            <pc:docMk/>
            <pc:sldMk cId="4265410560" sldId="297"/>
            <ac:spMk id="10" creationId="{9B854571-F8A9-A28D-CE3E-0631B1CCAFC4}"/>
          </ac:spMkLst>
        </pc:spChg>
        <pc:spChg chg="mod">
          <ac:chgData name="Inti Nuñez" userId="fc293a4ee38bb93b" providerId="LiveId" clId="{8C091EB5-D9FC-51B9-B601-2F1273399689}" dt="2026-04-13T19:25:32.851" v="1090" actId="1076"/>
          <ac:spMkLst>
            <pc:docMk/>
            <pc:sldMk cId="4265410560" sldId="297"/>
            <ac:spMk id="18" creationId="{D9A9F30E-3C20-1BD6-276F-2AC50A96CB9A}"/>
          </ac:spMkLst>
        </pc:spChg>
        <pc:spChg chg="mod">
          <ac:chgData name="Inti Nuñez" userId="fc293a4ee38bb93b" providerId="LiveId" clId="{8C091EB5-D9FC-51B9-B601-2F1273399689}" dt="2026-04-13T19:25:32.851" v="1090" actId="1076"/>
          <ac:spMkLst>
            <pc:docMk/>
            <pc:sldMk cId="4265410560" sldId="297"/>
            <ac:spMk id="21" creationId="{C9E8F595-D797-EE15-389E-C14FB07B38B3}"/>
          </ac:spMkLst>
        </pc:spChg>
        <pc:spChg chg="mod">
          <ac:chgData name="Inti Nuñez" userId="fc293a4ee38bb93b" providerId="LiveId" clId="{8C091EB5-D9FC-51B9-B601-2F1273399689}" dt="2026-04-13T19:25:32.851" v="1090" actId="1076"/>
          <ac:spMkLst>
            <pc:docMk/>
            <pc:sldMk cId="4265410560" sldId="297"/>
            <ac:spMk id="24" creationId="{C01B3AB6-B6A8-E165-7942-788036933A99}"/>
          </ac:spMkLst>
        </pc:spChg>
        <pc:spChg chg="mod">
          <ac:chgData name="Inti Nuñez" userId="fc293a4ee38bb93b" providerId="LiveId" clId="{8C091EB5-D9FC-51B9-B601-2F1273399689}" dt="2026-04-13T19:25:32.851" v="1090" actId="1076"/>
          <ac:spMkLst>
            <pc:docMk/>
            <pc:sldMk cId="4265410560" sldId="297"/>
            <ac:spMk id="30" creationId="{3F7F2695-2333-65FD-67E0-CE9E38FE8AAD}"/>
          </ac:spMkLst>
        </pc:spChg>
        <pc:cxnChg chg="mod">
          <ac:chgData name="Inti Nuñez" userId="fc293a4ee38bb93b" providerId="LiveId" clId="{8C091EB5-D9FC-51B9-B601-2F1273399689}" dt="2026-04-13T19:24:40.890" v="1084" actId="1076"/>
          <ac:cxnSpMkLst>
            <pc:docMk/>
            <pc:sldMk cId="4265410560" sldId="297"/>
            <ac:cxnSpMk id="12" creationId="{4D54AEF9-3B2A-186D-AC50-6A532545A3B4}"/>
          </ac:cxnSpMkLst>
        </pc:cxnChg>
        <pc:cxnChg chg="mod">
          <ac:chgData name="Inti Nuñez" userId="fc293a4ee38bb93b" providerId="LiveId" clId="{8C091EB5-D9FC-51B9-B601-2F1273399689}" dt="2026-04-13T19:24:40.890" v="1084" actId="1076"/>
          <ac:cxnSpMkLst>
            <pc:docMk/>
            <pc:sldMk cId="4265410560" sldId="297"/>
            <ac:cxnSpMk id="14" creationId="{D840DF32-04B6-84DA-0875-EBBAA6DAE4B5}"/>
          </ac:cxnSpMkLst>
        </pc:cxnChg>
        <pc:cxnChg chg="mod">
          <ac:chgData name="Inti Nuñez" userId="fc293a4ee38bb93b" providerId="LiveId" clId="{8C091EB5-D9FC-51B9-B601-2F1273399689}" dt="2026-04-13T19:24:40.890" v="1084" actId="1076"/>
          <ac:cxnSpMkLst>
            <pc:docMk/>
            <pc:sldMk cId="4265410560" sldId="297"/>
            <ac:cxnSpMk id="17" creationId="{792F3492-1E2B-91FD-0016-DBB2ECA21D72}"/>
          </ac:cxnSpMkLst>
        </pc:cxnChg>
        <pc:cxnChg chg="mod">
          <ac:chgData name="Inti Nuñez" userId="fc293a4ee38bb93b" providerId="LiveId" clId="{8C091EB5-D9FC-51B9-B601-2F1273399689}" dt="2026-04-13T19:24:40.890" v="1084" actId="1076"/>
          <ac:cxnSpMkLst>
            <pc:docMk/>
            <pc:sldMk cId="4265410560" sldId="297"/>
            <ac:cxnSpMk id="20" creationId="{4D0C5F16-705E-CF29-700C-877F6A73E6BF}"/>
          </ac:cxnSpMkLst>
        </pc:cxnChg>
      </pc:sldChg>
      <pc:sldChg chg="modSp add mod">
        <pc:chgData name="Inti Nuñez" userId="fc293a4ee38bb93b" providerId="LiveId" clId="{8C091EB5-D9FC-51B9-B601-2F1273399689}" dt="2026-04-13T19:29:47.026" v="1120" actId="1035"/>
        <pc:sldMkLst>
          <pc:docMk/>
          <pc:sldMk cId="4259482911" sldId="298"/>
        </pc:sldMkLst>
        <pc:spChg chg="mod">
          <ac:chgData name="Inti Nuñez" userId="fc293a4ee38bb93b" providerId="LiveId" clId="{8C091EB5-D9FC-51B9-B601-2F1273399689}" dt="2026-04-13T19:26:52.315" v="1095" actId="403"/>
          <ac:spMkLst>
            <pc:docMk/>
            <pc:sldMk cId="4259482911" sldId="298"/>
            <ac:spMk id="4" creationId="{7FD63F26-4FE8-D9F3-0351-3FBAFF3A48B9}"/>
          </ac:spMkLst>
        </pc:spChg>
        <pc:spChg chg="mod">
          <ac:chgData name="Inti Nuñez" userId="fc293a4ee38bb93b" providerId="LiveId" clId="{8C091EB5-D9FC-51B9-B601-2F1273399689}" dt="2026-04-13T19:27:09.375" v="1097" actId="255"/>
          <ac:spMkLst>
            <pc:docMk/>
            <pc:sldMk cId="4259482911" sldId="298"/>
            <ac:spMk id="6" creationId="{CE70AEF7-6238-BF3E-E4FA-8388B7257ACD}"/>
          </ac:spMkLst>
        </pc:spChg>
        <pc:spChg chg="mod">
          <ac:chgData name="Inti Nuñez" userId="fc293a4ee38bb93b" providerId="LiveId" clId="{8C091EB5-D9FC-51B9-B601-2F1273399689}" dt="2026-04-13T19:26:30.782" v="1091" actId="1076"/>
          <ac:spMkLst>
            <pc:docMk/>
            <pc:sldMk cId="4259482911" sldId="298"/>
            <ac:spMk id="7" creationId="{B32A7887-AE07-FDE8-B097-CC4FC8BCFFAC}"/>
          </ac:spMkLst>
        </pc:spChg>
        <pc:spChg chg="mod">
          <ac:chgData name="Inti Nuñez" userId="fc293a4ee38bb93b" providerId="LiveId" clId="{8C091EB5-D9FC-51B9-B601-2F1273399689}" dt="2026-04-13T19:27:35.891" v="1100" actId="255"/>
          <ac:spMkLst>
            <pc:docMk/>
            <pc:sldMk cId="4259482911" sldId="298"/>
            <ac:spMk id="8" creationId="{760E48B8-BB2B-590D-C9AA-829623F3845F}"/>
          </ac:spMkLst>
        </pc:spChg>
        <pc:spChg chg="mod">
          <ac:chgData name="Inti Nuñez" userId="fc293a4ee38bb93b" providerId="LiveId" clId="{8C091EB5-D9FC-51B9-B601-2F1273399689}" dt="2026-04-13T19:27:26.289" v="1098" actId="1076"/>
          <ac:spMkLst>
            <pc:docMk/>
            <pc:sldMk cId="4259482911" sldId="298"/>
            <ac:spMk id="9" creationId="{D130D298-1AE5-83D8-45F2-F0094F86B9F3}"/>
          </ac:spMkLst>
        </pc:spChg>
        <pc:graphicFrameChg chg="mod modGraphic">
          <ac:chgData name="Inti Nuñez" userId="fc293a4ee38bb93b" providerId="LiveId" clId="{8C091EB5-D9FC-51B9-B601-2F1273399689}" dt="2026-04-13T19:28:37.810" v="1114" actId="1076"/>
          <ac:graphicFrameMkLst>
            <pc:docMk/>
            <pc:sldMk cId="4259482911" sldId="298"/>
            <ac:graphicFrameMk id="3" creationId="{3A0833F6-A569-1500-9C0F-F1EF03C47E92}"/>
          </ac:graphicFrameMkLst>
        </pc:graphicFrameChg>
        <pc:picChg chg="mod">
          <ac:chgData name="Inti Nuñez" userId="fc293a4ee38bb93b" providerId="LiveId" clId="{8C091EB5-D9FC-51B9-B601-2F1273399689}" dt="2026-04-13T19:29:47.026" v="1120" actId="1035"/>
          <ac:picMkLst>
            <pc:docMk/>
            <pc:sldMk cId="4259482911" sldId="298"/>
            <ac:picMk id="2" creationId="{2C130528-C49B-8401-B821-EBB30A64C04F}"/>
          </ac:picMkLst>
        </pc:picChg>
      </pc:sldChg>
      <pc:sldChg chg="modSp add mod">
        <pc:chgData name="Inti Nuñez" userId="fc293a4ee38bb93b" providerId="LiveId" clId="{8C091EB5-D9FC-51B9-B601-2F1273399689}" dt="2026-04-13T19:09:30.427" v="959" actId="14100"/>
        <pc:sldMkLst>
          <pc:docMk/>
          <pc:sldMk cId="3037065174" sldId="302"/>
        </pc:sldMkLst>
        <pc:spChg chg="mod">
          <ac:chgData name="Inti Nuñez" userId="fc293a4ee38bb93b" providerId="LiveId" clId="{8C091EB5-D9FC-51B9-B601-2F1273399689}" dt="2026-04-13T19:09:10.055" v="956" actId="14100"/>
          <ac:spMkLst>
            <pc:docMk/>
            <pc:sldMk cId="3037065174" sldId="302"/>
            <ac:spMk id="2" creationId="{52EE9F00-22F2-A1E4-2522-BD98019E64AD}"/>
          </ac:spMkLst>
        </pc:spChg>
        <pc:spChg chg="mod">
          <ac:chgData name="Inti Nuñez" userId="fc293a4ee38bb93b" providerId="LiveId" clId="{8C091EB5-D9FC-51B9-B601-2F1273399689}" dt="2026-04-13T19:09:02.943" v="954" actId="1076"/>
          <ac:spMkLst>
            <pc:docMk/>
            <pc:sldMk cId="3037065174" sldId="302"/>
            <ac:spMk id="3" creationId="{7A37029E-8B8F-1819-04A6-88B5DCF3D3D5}"/>
          </ac:spMkLst>
        </pc:spChg>
        <pc:spChg chg="mod">
          <ac:chgData name="Inti Nuñez" userId="fc293a4ee38bb93b" providerId="LiveId" clId="{8C091EB5-D9FC-51B9-B601-2F1273399689}" dt="2026-04-13T19:08:55.005" v="952" actId="1076"/>
          <ac:spMkLst>
            <pc:docMk/>
            <pc:sldMk cId="3037065174" sldId="302"/>
            <ac:spMk id="4" creationId="{464DA3EB-2BCE-4A5C-3CE6-010FDD57E8A5}"/>
          </ac:spMkLst>
        </pc:spChg>
        <pc:spChg chg="mod">
          <ac:chgData name="Inti Nuñez" userId="fc293a4ee38bb93b" providerId="LiveId" clId="{8C091EB5-D9FC-51B9-B601-2F1273399689}" dt="2026-04-13T19:09:30.427" v="959" actId="14100"/>
          <ac:spMkLst>
            <pc:docMk/>
            <pc:sldMk cId="3037065174" sldId="302"/>
            <ac:spMk id="6" creationId="{E4734E97-C553-C164-8D5D-8F64EE612D8D}"/>
          </ac:spMkLst>
        </pc:spChg>
      </pc:sldChg>
      <pc:sldChg chg="modSp add mod">
        <pc:chgData name="Inti Nuñez" userId="fc293a4ee38bb93b" providerId="LiveId" clId="{8C091EB5-D9FC-51B9-B601-2F1273399689}" dt="2026-04-13T19:21:06.938" v="1063" actId="1076"/>
        <pc:sldMkLst>
          <pc:docMk/>
          <pc:sldMk cId="4157588408" sldId="303"/>
        </pc:sldMkLst>
        <pc:spChg chg="mod">
          <ac:chgData name="Inti Nuñez" userId="fc293a4ee38bb93b" providerId="LiveId" clId="{8C091EB5-D9FC-51B9-B601-2F1273399689}" dt="2026-04-13T19:21:01.689" v="1062" actId="1076"/>
          <ac:spMkLst>
            <pc:docMk/>
            <pc:sldMk cId="4157588408" sldId="303"/>
            <ac:spMk id="2" creationId="{B248672F-8ED5-7E7C-9E94-4BED709FB5F4}"/>
          </ac:spMkLst>
        </pc:spChg>
        <pc:spChg chg="mod">
          <ac:chgData name="Inti Nuñez" userId="fc293a4ee38bb93b" providerId="LiveId" clId="{8C091EB5-D9FC-51B9-B601-2F1273399689}" dt="2026-04-13T19:20:06.505" v="1053" actId="255"/>
          <ac:spMkLst>
            <pc:docMk/>
            <pc:sldMk cId="4157588408" sldId="303"/>
            <ac:spMk id="3" creationId="{CA3C5590-63E1-8DF7-2222-9607CCABCF8E}"/>
          </ac:spMkLst>
        </pc:spChg>
        <pc:spChg chg="mod">
          <ac:chgData name="Inti Nuñez" userId="fc293a4ee38bb93b" providerId="LiveId" clId="{8C091EB5-D9FC-51B9-B601-2F1273399689}" dt="2026-04-13T19:19:47.466" v="1051" actId="14100"/>
          <ac:spMkLst>
            <pc:docMk/>
            <pc:sldMk cId="4157588408" sldId="303"/>
            <ac:spMk id="4" creationId="{48380AB7-1B23-7085-F989-41BD3EEB7211}"/>
          </ac:spMkLst>
        </pc:spChg>
        <pc:spChg chg="mod">
          <ac:chgData name="Inti Nuñez" userId="fc293a4ee38bb93b" providerId="LiveId" clId="{8C091EB5-D9FC-51B9-B601-2F1273399689}" dt="2026-04-13T19:21:06.938" v="1063" actId="1076"/>
          <ac:spMkLst>
            <pc:docMk/>
            <pc:sldMk cId="4157588408" sldId="303"/>
            <ac:spMk id="6" creationId="{149E7BBF-B670-C53F-509A-2E94ADB74834}"/>
          </ac:spMkLst>
        </pc:spChg>
      </pc:sldChg>
      <pc:sldChg chg="addSp delSp modSp mod">
        <pc:chgData name="Inti Nuñez" userId="fc293a4ee38bb93b" providerId="LiveId" clId="{8C091EB5-D9FC-51B9-B601-2F1273399689}" dt="2026-04-13T19:38:48.112" v="1293" actId="1036"/>
        <pc:sldMkLst>
          <pc:docMk/>
          <pc:sldMk cId="3433768894" sldId="1859"/>
        </pc:sldMkLst>
        <pc:spChg chg="add mod">
          <ac:chgData name="Inti Nuñez" userId="fc293a4ee38bb93b" providerId="LiveId" clId="{8C091EB5-D9FC-51B9-B601-2F1273399689}" dt="2026-04-13T19:38:48.112" v="1293" actId="1036"/>
          <ac:spMkLst>
            <pc:docMk/>
            <pc:sldMk cId="3433768894" sldId="1859"/>
            <ac:spMk id="3" creationId="{A5B1D492-A6A3-381A-62E1-7490FFAE3391}"/>
          </ac:spMkLst>
        </pc:spChg>
        <pc:spChg chg="del">
          <ac:chgData name="Inti Nuñez" userId="fc293a4ee38bb93b" providerId="LiveId" clId="{8C091EB5-D9FC-51B9-B601-2F1273399689}" dt="2026-04-13T19:32:37.920" v="1147" actId="478"/>
          <ac:spMkLst>
            <pc:docMk/>
            <pc:sldMk cId="3433768894" sldId="1859"/>
            <ac:spMk id="4" creationId="{96BD2F5D-1425-52DA-76A6-9EA46F285E0A}"/>
          </ac:spMkLst>
        </pc:spChg>
        <pc:picChg chg="add">
          <ac:chgData name="Inti Nuñez" userId="fc293a4ee38bb93b" providerId="LiveId" clId="{8C091EB5-D9FC-51B9-B601-2F1273399689}" dt="2026-04-13T19:33:24.200" v="1148"/>
          <ac:picMkLst>
            <pc:docMk/>
            <pc:sldMk cId="3433768894" sldId="1859"/>
            <ac:picMk id="2" creationId="{739B82AA-DA77-F184-8E23-6648D4E303DE}"/>
          </ac:picMkLst>
        </pc:picChg>
        <pc:picChg chg="del">
          <ac:chgData name="Inti Nuñez" userId="fc293a4ee38bb93b" providerId="LiveId" clId="{8C091EB5-D9FC-51B9-B601-2F1273399689}" dt="2026-04-13T19:32:34.782" v="1146" actId="478"/>
          <ac:picMkLst>
            <pc:docMk/>
            <pc:sldMk cId="3433768894" sldId="1859"/>
            <ac:picMk id="1026" creationId="{675BAED8-4236-DCA7-2AF2-15030FA20335}"/>
          </ac:picMkLst>
        </pc:picChg>
      </pc:sldChg>
      <pc:sldChg chg="modSp add mod ord">
        <pc:chgData name="Inti Nuñez" userId="fc293a4ee38bb93b" providerId="LiveId" clId="{8C091EB5-D9FC-51B9-B601-2F1273399689}" dt="2026-04-13T19:31:25.135" v="1137" actId="113"/>
        <pc:sldMkLst>
          <pc:docMk/>
          <pc:sldMk cId="3479458290" sldId="1860"/>
        </pc:sldMkLst>
        <pc:spChg chg="mod">
          <ac:chgData name="Inti Nuñez" userId="fc293a4ee38bb93b" providerId="LiveId" clId="{8C091EB5-D9FC-51B9-B601-2F1273399689}" dt="2026-04-13T19:31:25.135" v="1137" actId="113"/>
          <ac:spMkLst>
            <pc:docMk/>
            <pc:sldMk cId="3479458290" sldId="1860"/>
            <ac:spMk id="4" creationId="{3A114A0E-E728-0C06-C5AA-76B7EAF552C5}"/>
          </ac:spMkLst>
        </pc:spChg>
      </pc:sldChg>
      <pc:sldChg chg="modSp add mod">
        <pc:chgData name="Inti Nuñez" userId="fc293a4ee38bb93b" providerId="LiveId" clId="{8C091EB5-D9FC-51B9-B601-2F1273399689}" dt="2026-04-13T19:54:12.630" v="1401" actId="113"/>
        <pc:sldMkLst>
          <pc:docMk/>
          <pc:sldMk cId="1692580072" sldId="1861"/>
        </pc:sldMkLst>
        <pc:spChg chg="mod">
          <ac:chgData name="Inti Nuñez" userId="fc293a4ee38bb93b" providerId="LiveId" clId="{8C091EB5-D9FC-51B9-B601-2F1273399689}" dt="2026-04-13T19:54:12.630" v="1401" actId="113"/>
          <ac:spMkLst>
            <pc:docMk/>
            <pc:sldMk cId="1692580072" sldId="1861"/>
            <ac:spMk id="2" creationId="{23A1B596-D6BA-B1C4-9520-814E10836595}"/>
          </ac:spMkLst>
        </pc:spChg>
      </pc:sldChg>
      <pc:sldChg chg="new del">
        <pc:chgData name="Inti Nuñez" userId="fc293a4ee38bb93b" providerId="LiveId" clId="{8C091EB5-D9FC-51B9-B601-2F1273399689}" dt="2026-04-13T19:44:25.788" v="1305" actId="2696"/>
        <pc:sldMkLst>
          <pc:docMk/>
          <pc:sldMk cId="2115653833" sldId="1862"/>
        </pc:sldMkLst>
      </pc:sldChg>
      <pc:sldChg chg="new del">
        <pc:chgData name="Inti Nuñez" userId="fc293a4ee38bb93b" providerId="LiveId" clId="{8C091EB5-D9FC-51B9-B601-2F1273399689}" dt="2026-04-13T19:44:25.789" v="1306" actId="2696"/>
        <pc:sldMkLst>
          <pc:docMk/>
          <pc:sldMk cId="3793777941" sldId="1863"/>
        </pc:sldMkLst>
      </pc:sldChg>
      <pc:sldChg chg="new del">
        <pc:chgData name="Inti Nuñez" userId="fc293a4ee38bb93b" providerId="LiveId" clId="{8C091EB5-D9FC-51B9-B601-2F1273399689}" dt="2026-04-13T19:44:25.790" v="1307" actId="2696"/>
        <pc:sldMkLst>
          <pc:docMk/>
          <pc:sldMk cId="3785738698" sldId="1864"/>
        </pc:sldMkLst>
      </pc:sldChg>
      <pc:sldChg chg="modSp add mod">
        <pc:chgData name="Inti Nuñez" userId="fc293a4ee38bb93b" providerId="LiveId" clId="{8C091EB5-D9FC-51B9-B601-2F1273399689}" dt="2026-04-13T19:46:43.951" v="1335" actId="1076"/>
        <pc:sldMkLst>
          <pc:docMk/>
          <pc:sldMk cId="1100950555" sldId="1865"/>
        </pc:sldMkLst>
        <pc:spChg chg="mod">
          <ac:chgData name="Inti Nuñez" userId="fc293a4ee38bb93b" providerId="LiveId" clId="{8C091EB5-D9FC-51B9-B601-2F1273399689}" dt="2026-04-13T19:46:39.205" v="1334" actId="14100"/>
          <ac:spMkLst>
            <pc:docMk/>
            <pc:sldMk cId="1100950555" sldId="1865"/>
            <ac:spMk id="3" creationId="{9952E500-2F0E-0B5C-FA54-71AFD9639EAC}"/>
          </ac:spMkLst>
        </pc:spChg>
        <pc:spChg chg="mod">
          <ac:chgData name="Inti Nuñez" userId="fc293a4ee38bb93b" providerId="LiveId" clId="{8C091EB5-D9FC-51B9-B601-2F1273399689}" dt="2026-04-13T19:45:53.330" v="1326" actId="403"/>
          <ac:spMkLst>
            <pc:docMk/>
            <pc:sldMk cId="1100950555" sldId="1865"/>
            <ac:spMk id="6" creationId="{59726F55-0D4F-1F3C-D7F7-71BAC4364971}"/>
          </ac:spMkLst>
        </pc:spChg>
        <pc:spChg chg="mod">
          <ac:chgData name="Inti Nuñez" userId="fc293a4ee38bb93b" providerId="LiveId" clId="{8C091EB5-D9FC-51B9-B601-2F1273399689}" dt="2026-04-13T19:46:43.951" v="1335" actId="1076"/>
          <ac:spMkLst>
            <pc:docMk/>
            <pc:sldMk cId="1100950555" sldId="1865"/>
            <ac:spMk id="7" creationId="{4D51F261-020B-7A72-2F96-30CF2190C858}"/>
          </ac:spMkLst>
        </pc:spChg>
        <pc:spChg chg="mod">
          <ac:chgData name="Inti Nuñez" userId="fc293a4ee38bb93b" providerId="LiveId" clId="{8C091EB5-D9FC-51B9-B601-2F1273399689}" dt="2026-04-13T19:46:10.442" v="1330" actId="255"/>
          <ac:spMkLst>
            <pc:docMk/>
            <pc:sldMk cId="1100950555" sldId="1865"/>
            <ac:spMk id="9" creationId="{01464627-8C91-0354-65CA-198AF51A2A7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8D170-5DD4-AC42-9B42-38681BF200A8}" type="datetimeFigureOut">
              <a:rPr lang="es-CL" smtClean="0"/>
              <a:t>13-04-26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CA445-6EB0-3945-9E03-B7D555990304}" type="slidenum">
              <a:rPr lang="es-CL" smtClean="0"/>
              <a:t>‹Nº›</a:t>
            </a:fld>
            <a:endParaRPr lang="es-CL"/>
          </a:p>
        </p:txBody>
      </p:sp>
    </p:spTree>
    <p:extLst>
      <p:ext uri="{BB962C8B-B14F-4D97-AF65-F5344CB8AC3E}">
        <p14:creationId xmlns:p14="http://schemas.microsoft.com/office/powerpoint/2010/main" val="4211517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911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B5AC80-D16F-276F-428A-D0501511E329}"/>
              </a:ext>
            </a:extLst>
          </p:cNvPr>
          <p:cNvSpPr>
            <a:spLocks noGrp="1"/>
          </p:cNvSpPr>
          <p:nvPr>
            <p:ph type="title"/>
          </p:nvPr>
        </p:nvSpPr>
        <p:spPr>
          <a:xfrm>
            <a:off x="838200" y="365125"/>
            <a:ext cx="10515600" cy="1325563"/>
          </a:xfrm>
          <a:prstGeom prst="rect">
            <a:avLst/>
          </a:prstGeom>
        </p:spPr>
        <p:txBody>
          <a:bodyPr anchor="ctr"/>
          <a:lstStyle>
            <a:lvl1pPr>
              <a:defRPr sz="2800">
                <a:latin typeface="Raleway" pitchFamily="2" charset="77"/>
              </a:defRPr>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97C48075-19FB-7EEF-9680-31290BE2A4E2}"/>
              </a:ext>
            </a:extLst>
          </p:cNvPr>
          <p:cNvSpPr>
            <a:spLocks noGrp="1"/>
          </p:cNvSpPr>
          <p:nvPr>
            <p:ph idx="1"/>
          </p:nvPr>
        </p:nvSpPr>
        <p:spPr>
          <a:xfrm>
            <a:off x="838200" y="1825625"/>
            <a:ext cx="10515600" cy="3462471"/>
          </a:xfrm>
          <a:prstGeom prst="rect">
            <a:avLst/>
          </a:prstGeom>
        </p:spPr>
        <p:txBody>
          <a:bodyPr/>
          <a:lstStyle>
            <a:lvl1pPr>
              <a:defRPr>
                <a:latin typeface="Raleway" pitchFamily="2" charset="77"/>
              </a:defRPr>
            </a:lvl1pPr>
            <a:lvl2pPr>
              <a:defRPr>
                <a:latin typeface="Raleway" pitchFamily="2" charset="77"/>
              </a:defRPr>
            </a:lvl2pPr>
            <a:lvl3pPr>
              <a:defRPr>
                <a:latin typeface="Raleway" pitchFamily="2" charset="77"/>
              </a:defRPr>
            </a:lvl3pPr>
            <a:lvl4pPr>
              <a:defRPr>
                <a:latin typeface="Raleway" pitchFamily="2" charset="77"/>
              </a:defRPr>
            </a:lvl4pPr>
            <a:lvl5pPr>
              <a:defRPr>
                <a:latin typeface="Raleway" pitchFamily="2" charset="77"/>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Tree>
    <p:extLst>
      <p:ext uri="{BB962C8B-B14F-4D97-AF65-F5344CB8AC3E}">
        <p14:creationId xmlns:p14="http://schemas.microsoft.com/office/powerpoint/2010/main" val="1822977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663E75-CAA5-010C-E70B-6295B48CBC62}"/>
              </a:ext>
            </a:extLst>
          </p:cNvPr>
          <p:cNvSpPr>
            <a:spLocks noGrp="1"/>
          </p:cNvSpPr>
          <p:nvPr>
            <p:ph type="title"/>
          </p:nvPr>
        </p:nvSpPr>
        <p:spPr>
          <a:xfrm>
            <a:off x="838200" y="365125"/>
            <a:ext cx="10515600" cy="1325563"/>
          </a:xfrm>
          <a:prstGeom prst="rect">
            <a:avLst/>
          </a:prstGeom>
        </p:spPr>
        <p:txBody>
          <a:bodyPr anchor="ctr"/>
          <a:lstStyle>
            <a:lvl1pPr>
              <a:defRPr sz="2800">
                <a:latin typeface="Raleway" pitchFamily="2" charset="77"/>
              </a:defRPr>
            </a:lvl1pPr>
          </a:lstStyle>
          <a:p>
            <a:r>
              <a:rPr lang="es-MX"/>
              <a:t>Haz clic para modificar el estilo de título del patrón</a:t>
            </a:r>
            <a:endParaRPr lang="es-CL"/>
          </a:p>
        </p:txBody>
      </p:sp>
    </p:spTree>
    <p:extLst>
      <p:ext uri="{BB962C8B-B14F-4D97-AF65-F5344CB8AC3E}">
        <p14:creationId xmlns:p14="http://schemas.microsoft.com/office/powerpoint/2010/main" val="676340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889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rgbClr val="504FB7"/>
        </a:solidFill>
        <a:effectLst/>
      </p:bgPr>
    </p:bg>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748A6285-A3A5-F8F8-F082-F32E16565A64}"/>
              </a:ext>
            </a:extLst>
          </p:cNvPr>
          <p:cNvSpPr>
            <a:spLocks noGrp="1"/>
          </p:cNvSpPr>
          <p:nvPr>
            <p:ph type="title"/>
          </p:nvPr>
        </p:nvSpPr>
        <p:spPr>
          <a:xfrm>
            <a:off x="838200" y="1477828"/>
            <a:ext cx="5257800" cy="1325563"/>
          </a:xfrm>
          <a:prstGeom prst="rect">
            <a:avLst/>
          </a:prstGeom>
        </p:spPr>
        <p:txBody>
          <a:bodyPr/>
          <a:lstStyle>
            <a:lvl1pPr>
              <a:defRPr sz="2800">
                <a:solidFill>
                  <a:schemeClr val="bg1"/>
                </a:solidFill>
              </a:defRPr>
            </a:lvl1pPr>
          </a:lstStyle>
          <a:p>
            <a:r>
              <a:rPr lang="es-MX"/>
              <a:t>Haz clic para modificar el estilo de título del patrón</a:t>
            </a:r>
            <a:endParaRPr lang="es-CL"/>
          </a:p>
        </p:txBody>
      </p:sp>
    </p:spTree>
    <p:extLst>
      <p:ext uri="{BB962C8B-B14F-4D97-AF65-F5344CB8AC3E}">
        <p14:creationId xmlns:p14="http://schemas.microsoft.com/office/powerpoint/2010/main" val="216596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977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ca">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2506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376A4AE5-C61A-5449-A451-942DBFD0A857}" type="datetimeFigureOut">
              <a:rPr lang="es-CL" smtClean="0"/>
              <a:t>13-04-26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2EC35EC-D9C1-424D-8BF9-8AF527449B47}" type="slidenum">
              <a:rPr lang="es-CL" smtClean="0"/>
              <a:t>‹Nº›</a:t>
            </a:fld>
            <a:endParaRPr lang="es-CL"/>
          </a:p>
        </p:txBody>
      </p:sp>
    </p:spTree>
    <p:extLst>
      <p:ext uri="{BB962C8B-B14F-4D97-AF65-F5344CB8AC3E}">
        <p14:creationId xmlns:p14="http://schemas.microsoft.com/office/powerpoint/2010/main" val="1847493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4.sv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4.sv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2560BCF9-4D1A-C318-2D53-51A1C8390AF5}"/>
              </a:ext>
            </a:extLst>
          </p:cNvPr>
          <p:cNvSpPr/>
          <p:nvPr userDrawn="1"/>
        </p:nvSpPr>
        <p:spPr>
          <a:xfrm>
            <a:off x="4763" y="5726116"/>
            <a:ext cx="12187237" cy="9525"/>
          </a:xfrm>
          <a:custGeom>
            <a:avLst/>
            <a:gdLst/>
            <a:ahLst/>
            <a:cxnLst/>
            <a:rect l="l" t="t" r="r" b="b"/>
            <a:pathLst>
              <a:path w="18280856" h="14288">
                <a:moveTo>
                  <a:pt x="0" y="0"/>
                </a:moveTo>
                <a:lnTo>
                  <a:pt x="18280856" y="0"/>
                </a:lnTo>
                <a:lnTo>
                  <a:pt x="18280856" y="14287"/>
                </a:lnTo>
                <a:lnTo>
                  <a:pt x="0" y="1428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CL" sz="1200"/>
          </a:p>
        </p:txBody>
      </p:sp>
      <p:sp>
        <p:nvSpPr>
          <p:cNvPr id="8" name="Freeform 3">
            <a:extLst>
              <a:ext uri="{FF2B5EF4-FFF2-40B4-BE49-F238E27FC236}">
                <a16:creationId xmlns:a16="http://schemas.microsoft.com/office/drawing/2014/main" id="{DFB5B67B-256E-897C-764A-AE68CF9CB530}"/>
              </a:ext>
            </a:extLst>
          </p:cNvPr>
          <p:cNvSpPr/>
          <p:nvPr userDrawn="1"/>
        </p:nvSpPr>
        <p:spPr>
          <a:xfrm>
            <a:off x="9077896" y="6124574"/>
            <a:ext cx="627962" cy="341737"/>
          </a:xfrm>
          <a:custGeom>
            <a:avLst/>
            <a:gdLst/>
            <a:ahLst/>
            <a:cxnLst/>
            <a:rect l="l" t="t" r="r" b="b"/>
            <a:pathLst>
              <a:path w="785812" h="428625">
                <a:moveTo>
                  <a:pt x="0" y="0"/>
                </a:moveTo>
                <a:lnTo>
                  <a:pt x="785812" y="0"/>
                </a:lnTo>
                <a:lnTo>
                  <a:pt x="785812" y="428626"/>
                </a:lnTo>
                <a:lnTo>
                  <a:pt x="0" y="428626"/>
                </a:lnTo>
                <a:lnTo>
                  <a:pt x="0" y="0"/>
                </a:lnTo>
                <a:close/>
              </a:path>
            </a:pathLst>
          </a:custGeom>
          <a:blipFill>
            <a:blip r:embed="rId7"/>
            <a:stretch>
              <a:fillRect/>
            </a:stretch>
          </a:blipFill>
        </p:spPr>
        <p:txBody>
          <a:bodyPr/>
          <a:lstStyle/>
          <a:p>
            <a:endParaRPr lang="es-CL" sz="1200"/>
          </a:p>
        </p:txBody>
      </p:sp>
      <p:pic>
        <p:nvPicPr>
          <p:cNvPr id="2" name="Graphic 7">
            <a:extLst>
              <a:ext uri="{FF2B5EF4-FFF2-40B4-BE49-F238E27FC236}">
                <a16:creationId xmlns:a16="http://schemas.microsoft.com/office/drawing/2014/main" id="{E96CF3C4-BC8F-BB10-9759-C0786E283787}"/>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203054" y="6124575"/>
            <a:ext cx="1617133" cy="398893"/>
          </a:xfrm>
          <a:prstGeom prst="rect">
            <a:avLst/>
          </a:prstGeom>
        </p:spPr>
      </p:pic>
      <p:pic>
        <p:nvPicPr>
          <p:cNvPr id="3" name="Graphic 17">
            <a:extLst>
              <a:ext uri="{FF2B5EF4-FFF2-40B4-BE49-F238E27FC236}">
                <a16:creationId xmlns:a16="http://schemas.microsoft.com/office/drawing/2014/main" id="{CD15504B-BF12-8358-B17C-64BCD014BA43}"/>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0582886" y="6124574"/>
            <a:ext cx="808554" cy="412220"/>
          </a:xfrm>
          <a:prstGeom prst="rect">
            <a:avLst/>
          </a:prstGeom>
        </p:spPr>
      </p:pic>
    </p:spTree>
    <p:extLst>
      <p:ext uri="{BB962C8B-B14F-4D97-AF65-F5344CB8AC3E}">
        <p14:creationId xmlns:p14="http://schemas.microsoft.com/office/powerpoint/2010/main" val="173844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phic 17">
            <a:extLst>
              <a:ext uri="{FF2B5EF4-FFF2-40B4-BE49-F238E27FC236}">
                <a16:creationId xmlns:a16="http://schemas.microsoft.com/office/drawing/2014/main" id="{CD15504B-BF12-8358-B17C-64BCD014BA4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582886" y="6124574"/>
            <a:ext cx="808554" cy="412220"/>
          </a:xfrm>
          <a:prstGeom prst="rect">
            <a:avLst/>
          </a:prstGeom>
        </p:spPr>
      </p:pic>
    </p:spTree>
    <p:extLst>
      <p:ext uri="{BB962C8B-B14F-4D97-AF65-F5344CB8AC3E}">
        <p14:creationId xmlns:p14="http://schemas.microsoft.com/office/powerpoint/2010/main" val="101096882"/>
      </p:ext>
    </p:extLst>
  </p:cSld>
  <p:clrMap bg1="lt1" tx1="dk1" bg2="lt2" tx2="dk2" accent1="accent1" accent2="accent2" accent3="accent3" accent4="accent4" accent5="accent5" accent6="accent6" hlink="hlink" folHlink="folHlink"/>
  <p:sldLayoutIdLst>
    <p:sldLayoutId id="2147483657" r:id="rId1"/>
    <p:sldLayoutId id="2147483670" r:id="rId2"/>
    <p:sldLayoutId id="2147483671" r:id="rId3"/>
    <p:sldLayoutId id="214748367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ntinunez@udec.cl" TargetMode="External"/><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8F8C90-C3AD-21A9-6CC0-218AF8F6D5A9}"/>
              </a:ext>
            </a:extLst>
          </p:cNvPr>
          <p:cNvSpPr>
            <a:spLocks noGrp="1"/>
          </p:cNvSpPr>
          <p:nvPr>
            <p:ph type="title"/>
          </p:nvPr>
        </p:nvSpPr>
        <p:spPr>
          <a:xfrm>
            <a:off x="838200" y="749438"/>
            <a:ext cx="10515600" cy="1325563"/>
          </a:xfrm>
        </p:spPr>
        <p:txBody>
          <a:bodyPr>
            <a:normAutofit/>
          </a:bodyPr>
          <a:lstStyle/>
          <a:p>
            <a:r>
              <a:rPr lang="es-CL" sz="1800" b="1" dirty="0">
                <a:solidFill>
                  <a:srgbClr val="504FB7"/>
                </a:solidFill>
                <a:latin typeface="Lao Sangam MN" pitchFamily="2" charset="0"/>
                <a:cs typeface="Lao Sangam MN" pitchFamily="2" charset="0"/>
              </a:rPr>
              <a:t>VIRALIZA</a:t>
            </a:r>
            <a:br>
              <a:rPr lang="es-CL" sz="2800" dirty="0">
                <a:latin typeface="Lao Sangam MN" pitchFamily="2" charset="0"/>
                <a:cs typeface="Lao Sangam MN" pitchFamily="2" charset="0"/>
              </a:rPr>
            </a:br>
            <a:r>
              <a:rPr lang="es-CL" sz="2400" dirty="0">
                <a:latin typeface="Raleway" pitchFamily="2" charset="77"/>
              </a:rPr>
              <a:t>VENTURE STUDIO UINN</a:t>
            </a:r>
            <a:br>
              <a:rPr lang="es-CL" sz="2700" dirty="0">
                <a:latin typeface="Raleway" pitchFamily="2" charset="77"/>
              </a:rPr>
            </a:br>
            <a:r>
              <a:rPr lang="es-CL" sz="2000" dirty="0">
                <a:latin typeface="Raleway" pitchFamily="2" charset="77"/>
              </a:rPr>
              <a:t>Programa de financiamiento especializado para startups.</a:t>
            </a:r>
            <a:r>
              <a:rPr lang="es-CL" sz="2000" dirty="0">
                <a:effectLst/>
                <a:latin typeface="Raleway" pitchFamily="2" charset="77"/>
              </a:rPr>
              <a:t> </a:t>
            </a:r>
            <a:endParaRPr lang="es-CL" sz="2700" dirty="0">
              <a:latin typeface="Raleway" pitchFamily="2" charset="77"/>
              <a:cs typeface="Lao Sangam MN" pitchFamily="2" charset="0"/>
            </a:endParaRPr>
          </a:p>
        </p:txBody>
      </p:sp>
      <p:sp>
        <p:nvSpPr>
          <p:cNvPr id="4" name="Freeform 6">
            <a:extLst>
              <a:ext uri="{FF2B5EF4-FFF2-40B4-BE49-F238E27FC236}">
                <a16:creationId xmlns:a16="http://schemas.microsoft.com/office/drawing/2014/main" id="{E6E937C4-0EE0-1AB1-69A6-F93E72D47C99}"/>
              </a:ext>
            </a:extLst>
          </p:cNvPr>
          <p:cNvSpPr/>
          <p:nvPr/>
        </p:nvSpPr>
        <p:spPr>
          <a:xfrm>
            <a:off x="9900027" y="749438"/>
            <a:ext cx="1453773" cy="1043295"/>
          </a:xfrm>
          <a:custGeom>
            <a:avLst/>
            <a:gdLst/>
            <a:ahLst/>
            <a:cxnLst/>
            <a:rect l="l" t="t" r="r" b="b"/>
            <a:pathLst>
              <a:path w="3643312" h="2614612">
                <a:moveTo>
                  <a:pt x="0" y="0"/>
                </a:moveTo>
                <a:lnTo>
                  <a:pt x="3643312" y="0"/>
                </a:lnTo>
                <a:lnTo>
                  <a:pt x="3643312" y="2614613"/>
                </a:lnTo>
                <a:lnTo>
                  <a:pt x="0" y="2614613"/>
                </a:lnTo>
                <a:lnTo>
                  <a:pt x="0" y="0"/>
                </a:lnTo>
                <a:close/>
              </a:path>
            </a:pathLst>
          </a:custGeom>
          <a:blipFill>
            <a:blip r:embed="rId2"/>
            <a:stretch>
              <a:fillRect/>
            </a:stretch>
          </a:blipFill>
        </p:spPr>
        <p:txBody>
          <a:bodyPr/>
          <a:lstStyle/>
          <a:p>
            <a:endParaRPr lang="es-CL" sz="1200"/>
          </a:p>
        </p:txBody>
      </p:sp>
      <p:sp>
        <p:nvSpPr>
          <p:cNvPr id="5" name="CuadroTexto 4">
            <a:extLst>
              <a:ext uri="{FF2B5EF4-FFF2-40B4-BE49-F238E27FC236}">
                <a16:creationId xmlns:a16="http://schemas.microsoft.com/office/drawing/2014/main" id="{B501B132-CCC4-F801-D8E4-239CCD23112D}"/>
              </a:ext>
            </a:extLst>
          </p:cNvPr>
          <p:cNvSpPr txBox="1"/>
          <p:nvPr/>
        </p:nvSpPr>
        <p:spPr>
          <a:xfrm>
            <a:off x="838200" y="2451652"/>
            <a:ext cx="5257800" cy="2462213"/>
          </a:xfrm>
          <a:prstGeom prst="rect">
            <a:avLst/>
          </a:prstGeom>
          <a:noFill/>
        </p:spPr>
        <p:txBody>
          <a:bodyPr wrap="square" rtlCol="0">
            <a:spAutoFit/>
          </a:bodyPr>
          <a:lstStyle/>
          <a:p>
            <a:r>
              <a:rPr lang="es-CL" dirty="0">
                <a:latin typeface="Raleway" pitchFamily="2" charset="77"/>
              </a:rPr>
              <a:t>CLASE N° 1.4</a:t>
            </a:r>
          </a:p>
          <a:p>
            <a:r>
              <a:rPr lang="es-419" dirty="0">
                <a:latin typeface="Raleway" pitchFamily="2" charset="77"/>
              </a:rPr>
              <a:t>Casos en crecimiento de Startups</a:t>
            </a:r>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r>
              <a:rPr lang="es-CL" sz="1400" dirty="0">
                <a:latin typeface="Raleway" pitchFamily="2" charset="77"/>
              </a:rPr>
              <a:t>Inti Núñez </a:t>
            </a:r>
            <a:r>
              <a:rPr lang="es-CL" sz="1400" dirty="0" err="1">
                <a:latin typeface="Raleway" pitchFamily="2" charset="77"/>
              </a:rPr>
              <a:t>Ursic</a:t>
            </a:r>
            <a:endParaRPr lang="es-CL" sz="1400" dirty="0">
              <a:latin typeface="Raleway" pitchFamily="2" charset="77"/>
            </a:endParaRPr>
          </a:p>
          <a:p>
            <a:r>
              <a:rPr lang="es-CL" sz="1200" dirty="0">
                <a:latin typeface="Raleway" pitchFamily="2" charset="77"/>
                <a:hlinkClick r:id="rId3"/>
              </a:rPr>
              <a:t>intinunez@udec.cl</a:t>
            </a:r>
            <a:r>
              <a:rPr lang="es-CL" sz="1200" dirty="0">
                <a:latin typeface="Raleway" pitchFamily="2" charset="77"/>
              </a:rPr>
              <a:t> </a:t>
            </a:r>
          </a:p>
        </p:txBody>
      </p:sp>
    </p:spTree>
    <p:extLst>
      <p:ext uri="{BB962C8B-B14F-4D97-AF65-F5344CB8AC3E}">
        <p14:creationId xmlns:p14="http://schemas.microsoft.com/office/powerpoint/2010/main" val="2982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as primeras fotos en alta definición de la misión Artemis II a la Luna -  Infobae">
            <a:extLst>
              <a:ext uri="{FF2B5EF4-FFF2-40B4-BE49-F238E27FC236}">
                <a16:creationId xmlns:a16="http://schemas.microsoft.com/office/drawing/2014/main" id="{739B82AA-DA77-F184-8E23-6648D4E303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A5B1D492-A6A3-381A-62E1-7490FFAE3391}"/>
              </a:ext>
            </a:extLst>
          </p:cNvPr>
          <p:cNvSpPr txBox="1"/>
          <p:nvPr/>
        </p:nvSpPr>
        <p:spPr>
          <a:xfrm>
            <a:off x="6665844" y="4863545"/>
            <a:ext cx="4863547" cy="1477328"/>
          </a:xfrm>
          <a:prstGeom prst="rect">
            <a:avLst/>
          </a:prstGeom>
          <a:noFill/>
        </p:spPr>
        <p:txBody>
          <a:bodyPr wrap="square" rtlCol="0">
            <a:spAutoFit/>
          </a:bodyPr>
          <a:lstStyle/>
          <a:p>
            <a:r>
              <a:rPr lang="es-CL" dirty="0">
                <a:highlight>
                  <a:srgbClr val="C0C0C0"/>
                </a:highlight>
              </a:rPr>
              <a:t>“El pesimista ve la dificultad en cada oportunidad; el optimista ve la oportunidad en cada dificultad”.</a:t>
            </a:r>
          </a:p>
          <a:p>
            <a:endParaRPr lang="es-CL" dirty="0">
              <a:highlight>
                <a:srgbClr val="C0C0C0"/>
              </a:highlight>
            </a:endParaRPr>
          </a:p>
          <a:p>
            <a:pPr algn="r"/>
            <a:r>
              <a:rPr lang="es-CL" dirty="0">
                <a:highlight>
                  <a:srgbClr val="C0C0C0"/>
                </a:highlight>
              </a:rPr>
              <a:t>Winston Churchill</a:t>
            </a:r>
          </a:p>
        </p:txBody>
      </p:sp>
    </p:spTree>
    <p:extLst>
      <p:ext uri="{BB962C8B-B14F-4D97-AF65-F5344CB8AC3E}">
        <p14:creationId xmlns:p14="http://schemas.microsoft.com/office/powerpoint/2010/main" val="3433768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F2249F7-3D6B-F6DE-99F4-62F9C6BCA080}"/>
              </a:ext>
            </a:extLst>
          </p:cNvPr>
          <p:cNvSpPr>
            <a:spLocks noGrp="1"/>
          </p:cNvSpPr>
          <p:nvPr>
            <p:ph type="title"/>
          </p:nvPr>
        </p:nvSpPr>
        <p:spPr/>
        <p:txBody>
          <a:bodyPr/>
          <a:lstStyle/>
          <a:p>
            <a:r>
              <a:rPr lang="es-CL" dirty="0"/>
              <a:t>Caso 4</a:t>
            </a:r>
            <a:br>
              <a:rPr lang="es-CL" dirty="0"/>
            </a:br>
            <a:r>
              <a:rPr lang="es-CL" dirty="0"/>
              <a:t>Armando un portafolio en Capital de riesgo</a:t>
            </a:r>
            <a:br>
              <a:rPr lang="es-CL" b="1" dirty="0"/>
            </a:br>
            <a:endParaRPr lang="es-CL" dirty="0"/>
          </a:p>
        </p:txBody>
      </p:sp>
    </p:spTree>
    <p:extLst>
      <p:ext uri="{BB962C8B-B14F-4D97-AF65-F5344CB8AC3E}">
        <p14:creationId xmlns:p14="http://schemas.microsoft.com/office/powerpoint/2010/main" val="624010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6FDF-FCD0-671B-48E2-51C0CE07D058}"/>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21843E4F-C9D7-EC7D-A6FB-40975F81B7F2}"/>
              </a:ext>
            </a:extLst>
          </p:cNvPr>
          <p:cNvSpPr>
            <a:spLocks noGrp="1"/>
          </p:cNvSpPr>
          <p:nvPr>
            <p:ph type="title"/>
          </p:nvPr>
        </p:nvSpPr>
        <p:spPr>
          <a:xfrm>
            <a:off x="512337" y="467251"/>
            <a:ext cx="11136323" cy="657830"/>
          </a:xfrm>
        </p:spPr>
        <p:txBody>
          <a:bodyPr>
            <a:noAutofit/>
          </a:bodyPr>
          <a:lstStyle/>
          <a:p>
            <a:r>
              <a:rPr lang="es-CL" sz="2400" dirty="0">
                <a:latin typeface="Avenir Next" panose="020B0503020202020204" pitchFamily="34" charset="0"/>
              </a:rPr>
              <a:t>Guía de ejercicios</a:t>
            </a:r>
            <a:br>
              <a:rPr lang="es-CL" sz="2400" dirty="0">
                <a:latin typeface="Avenir Next" panose="020B0503020202020204" pitchFamily="34" charset="0"/>
              </a:rPr>
            </a:br>
            <a:r>
              <a:rPr lang="es-CL" sz="1400" b="1" dirty="0">
                <a:latin typeface="Avenir Next" panose="020B0503020202020204" pitchFamily="34" charset="0"/>
              </a:rPr>
              <a:t>EJERCICIO 4</a:t>
            </a:r>
            <a:endParaRPr lang="es-CL" sz="1800" b="1" dirty="0">
              <a:latin typeface="Avenir Next" panose="020B0503020202020204" pitchFamily="34" charset="0"/>
            </a:endParaRPr>
          </a:p>
        </p:txBody>
      </p:sp>
      <p:sp>
        <p:nvSpPr>
          <p:cNvPr id="3" name="TextBox 2">
            <a:extLst>
              <a:ext uri="{FF2B5EF4-FFF2-40B4-BE49-F238E27FC236}">
                <a16:creationId xmlns:a16="http://schemas.microsoft.com/office/drawing/2014/main" id="{47EEA36E-49D1-E574-7883-D32C392746DC}"/>
              </a:ext>
            </a:extLst>
          </p:cNvPr>
          <p:cNvSpPr txBox="1"/>
          <p:nvPr/>
        </p:nvSpPr>
        <p:spPr>
          <a:xfrm>
            <a:off x="512338" y="1863254"/>
            <a:ext cx="7505228" cy="4401205"/>
          </a:xfrm>
          <a:prstGeom prst="rect">
            <a:avLst/>
          </a:prstGeom>
          <a:noFill/>
        </p:spPr>
        <p:txBody>
          <a:bodyPr wrap="square">
            <a:spAutoFit/>
          </a:bodyPr>
          <a:lstStyle/>
          <a:p>
            <a:r>
              <a:rPr lang="es-ES_tradnl" sz="1400" dirty="0">
                <a:latin typeface="Avenir Next" panose="020B0503020202020204" pitchFamily="34" charset="0"/>
              </a:rPr>
              <a:t>Un fondo de capital de riesgo en inversiones de fase temprana (</a:t>
            </a:r>
            <a:r>
              <a:rPr lang="es-ES_tradnl" sz="1400" dirty="0" err="1">
                <a:latin typeface="Avenir Next" panose="020B0503020202020204" pitchFamily="34" charset="0"/>
              </a:rPr>
              <a:t>Early</a:t>
            </a:r>
            <a:r>
              <a:rPr lang="es-ES_tradnl" sz="1400" dirty="0">
                <a:latin typeface="Avenir Next" panose="020B0503020202020204" pitchFamily="34" charset="0"/>
              </a:rPr>
              <a:t> </a:t>
            </a:r>
            <a:r>
              <a:rPr lang="es-ES_tradnl" sz="1400" dirty="0" err="1">
                <a:latin typeface="Avenir Next" panose="020B0503020202020204" pitchFamily="34" charset="0"/>
              </a:rPr>
              <a:t>stage</a:t>
            </a:r>
            <a:r>
              <a:rPr lang="es-ES_tradnl" sz="1400" dirty="0">
                <a:latin typeface="Avenir Next" panose="020B0503020202020204" pitchFamily="34" charset="0"/>
              </a:rPr>
              <a:t>) lo contacta pues está buscando inversiones en Biobío y le han dicho que hay buenas tecnologías y oportunidades en la Universidad de Concepción.</a:t>
            </a:r>
          </a:p>
          <a:p>
            <a:endParaRPr lang="es-CL" sz="1400" dirty="0">
              <a:latin typeface="Avenir Next" panose="020B0503020202020204" pitchFamily="34" charset="0"/>
            </a:endParaRPr>
          </a:p>
          <a:p>
            <a:r>
              <a:rPr lang="es-ES_tradnl" sz="1400" dirty="0">
                <a:latin typeface="Avenir Next" panose="020B0503020202020204" pitchFamily="34" charset="0"/>
              </a:rPr>
              <a:t>Le señala que su tesis de inversión son </a:t>
            </a:r>
            <a:r>
              <a:rPr lang="es-ES_tradnl" sz="1400" dirty="0" err="1">
                <a:latin typeface="Avenir Next" panose="020B0503020202020204" pitchFamily="34" charset="0"/>
              </a:rPr>
              <a:t>ScaleUp</a:t>
            </a:r>
            <a:r>
              <a:rPr lang="es-ES_tradnl" sz="1400" dirty="0">
                <a:latin typeface="Avenir Next" panose="020B0503020202020204" pitchFamily="34" charset="0"/>
              </a:rPr>
              <a:t>, es decir, necesitan modelo de negocios viable, y que sus inversiones son en de entre USD$ 400 mil a USD$ 700 mil, con participaciones entre el 15 a 25%, con los fundadores participando en no menos del 50%.</a:t>
            </a:r>
            <a:endParaRPr lang="es-CL" sz="1400" dirty="0">
              <a:latin typeface="Avenir Next" panose="020B0503020202020204" pitchFamily="34" charset="0"/>
            </a:endParaRPr>
          </a:p>
          <a:p>
            <a:r>
              <a:rPr lang="es-ES_tradnl" sz="1400" dirty="0">
                <a:latin typeface="Avenir Next" panose="020B0503020202020204" pitchFamily="34" charset="0"/>
              </a:rPr>
              <a:t> </a:t>
            </a:r>
            <a:endParaRPr lang="es-CL" sz="1400" dirty="0">
              <a:latin typeface="Avenir Next" panose="020B0503020202020204" pitchFamily="34" charset="0"/>
            </a:endParaRPr>
          </a:p>
          <a:p>
            <a:r>
              <a:rPr lang="es-ES_tradnl" sz="1400" dirty="0">
                <a:latin typeface="Avenir Next" panose="020B0503020202020204" pitchFamily="34" charset="0"/>
              </a:rPr>
              <a:t>A Ud. Le parece muy interesante porque hay un premio por cada inversión que es el equivalente a seis sueldos de lo que Ud. Gana, y piensa ir al Caribe con eso. Se pone a trabajar.</a:t>
            </a:r>
            <a:endParaRPr lang="es-CL" sz="1400" dirty="0">
              <a:latin typeface="Avenir Next" panose="020B0503020202020204" pitchFamily="34" charset="0"/>
            </a:endParaRPr>
          </a:p>
          <a:p>
            <a:r>
              <a:rPr lang="es-ES_tradnl" sz="1400" dirty="0">
                <a:latin typeface="Avenir Next" panose="020B0503020202020204" pitchFamily="34" charset="0"/>
              </a:rPr>
              <a:t> </a:t>
            </a:r>
            <a:endParaRPr lang="es-CL" sz="1400" dirty="0">
              <a:latin typeface="Avenir Next" panose="020B0503020202020204" pitchFamily="34" charset="0"/>
            </a:endParaRPr>
          </a:p>
          <a:p>
            <a:pPr lvl="0"/>
            <a:r>
              <a:rPr lang="es-ES_tradnl" sz="1400" dirty="0">
                <a:latin typeface="Avenir Next" panose="020B0503020202020204" pitchFamily="34" charset="0"/>
              </a:rPr>
              <a:t>Alguien que ya ha trabajado en esto le comenta “para lograr un </a:t>
            </a:r>
            <a:r>
              <a:rPr lang="es-ES_tradnl" sz="1400" i="1" dirty="0">
                <a:latin typeface="Avenir Next" panose="020B0503020202020204" pitchFamily="34" charset="0"/>
              </a:rPr>
              <a:t>deal</a:t>
            </a:r>
            <a:r>
              <a:rPr lang="es-ES_tradnl" sz="1400" dirty="0">
                <a:latin typeface="Avenir Next" panose="020B0503020202020204" pitchFamily="34" charset="0"/>
              </a:rPr>
              <a:t> (acuerdo de inversión) debes llevar 10 para que tomen uno, y la perspectiva de ellos es lograr 4 </a:t>
            </a:r>
            <a:r>
              <a:rPr lang="es-ES_tradnl" sz="1400" i="1" dirty="0" err="1">
                <a:latin typeface="Avenir Next" panose="020B0503020202020204" pitchFamily="34" charset="0"/>
              </a:rPr>
              <a:t>deals</a:t>
            </a:r>
            <a:r>
              <a:rPr lang="es-ES_tradnl" sz="1400" dirty="0">
                <a:latin typeface="Avenir Next" panose="020B0503020202020204" pitchFamily="34" charset="0"/>
              </a:rPr>
              <a:t> en 2 años.</a:t>
            </a:r>
          </a:p>
          <a:p>
            <a:pPr lvl="0"/>
            <a:endParaRPr lang="es-ES_tradnl" sz="1400" dirty="0">
              <a:latin typeface="Avenir Next" panose="020B0503020202020204" pitchFamily="34" charset="0"/>
            </a:endParaRPr>
          </a:p>
          <a:p>
            <a:pPr lvl="0"/>
            <a:r>
              <a:rPr lang="es-ES_tradnl" sz="1400" dirty="0">
                <a:latin typeface="Avenir Next" panose="020B0503020202020204" pitchFamily="34" charset="0"/>
              </a:rPr>
              <a:t>Un prospecto es muy interesante, sin embargo, la familia de un fundador posee en 40% de la empresa y no participa. Ud. ve que esto será un problema para cumplir el perfil.</a:t>
            </a:r>
          </a:p>
          <a:p>
            <a:pPr lvl="0"/>
            <a:endParaRPr lang="es-CL" sz="1400" dirty="0">
              <a:latin typeface="Avenir Next" panose="020B0503020202020204" pitchFamily="34" charset="0"/>
            </a:endParaRPr>
          </a:p>
          <a:p>
            <a:r>
              <a:rPr lang="es-CL" sz="1400" i="1" kern="100" dirty="0">
                <a:latin typeface="Avenir Next" panose="020B0503020202020204" pitchFamily="34" charset="0"/>
                <a:ea typeface="Aptos" panose="020B0004020202020204" pitchFamily="34" charset="0"/>
                <a:cs typeface="Times New Roman" panose="02020603050405020304" pitchFamily="18" charset="0"/>
              </a:rPr>
              <a:t>Caso supuesto.</a:t>
            </a:r>
          </a:p>
        </p:txBody>
      </p:sp>
      <p:sp>
        <p:nvSpPr>
          <p:cNvPr id="7" name="TextBox 6">
            <a:extLst>
              <a:ext uri="{FF2B5EF4-FFF2-40B4-BE49-F238E27FC236}">
                <a16:creationId xmlns:a16="http://schemas.microsoft.com/office/drawing/2014/main" id="{D6ACC26D-67F6-C9FA-8E65-FE783BC0BCA6}"/>
              </a:ext>
            </a:extLst>
          </p:cNvPr>
          <p:cNvSpPr txBox="1"/>
          <p:nvPr/>
        </p:nvSpPr>
        <p:spPr>
          <a:xfrm>
            <a:off x="8401879" y="1863254"/>
            <a:ext cx="2928730" cy="4122603"/>
          </a:xfrm>
          <a:prstGeom prst="rect">
            <a:avLst/>
          </a:prstGeom>
          <a:noFill/>
        </p:spPr>
        <p:txBody>
          <a:bodyPr wrap="square">
            <a:spAutoFit/>
          </a:bodyPr>
          <a:lstStyle/>
          <a:p>
            <a:pPr marL="158260" indent="-158260">
              <a:buFont typeface="+mj-lt"/>
              <a:buAutoNum type="arabicPeriod"/>
            </a:pPr>
            <a:r>
              <a:rPr lang="es-ES_tradnl" sz="1400" dirty="0">
                <a:latin typeface="Avenir Next" panose="020B0503020202020204" pitchFamily="34" charset="0"/>
              </a:rPr>
              <a:t>¿Cuál es el perfil de lo que comienza a buscar? Etapa, TRL.</a:t>
            </a:r>
            <a:endParaRPr lang="es-CL" sz="1400" dirty="0">
              <a:latin typeface="Avenir Next" panose="020B0503020202020204" pitchFamily="34" charset="0"/>
            </a:endParaRPr>
          </a:p>
          <a:p>
            <a:pPr marL="158260" indent="-158260">
              <a:lnSpc>
                <a:spcPct val="107000"/>
              </a:lnSpc>
              <a:buFont typeface="+mj-lt"/>
              <a:buAutoNum type="arabicPeriod"/>
            </a:pP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a:p>
            <a:pPr marL="158260" indent="-158260">
              <a:buFont typeface="+mj-lt"/>
              <a:buAutoNum type="arabicPeriod"/>
            </a:pPr>
            <a:r>
              <a:rPr lang="es-ES_tradnl" sz="1400" dirty="0">
                <a:latin typeface="Avenir Next" panose="020B0503020202020204" pitchFamily="34" charset="0"/>
              </a:rPr>
              <a:t>¿Cuáles son los rangos de valorización? ¿Cuál es el máximo de % de otros inversionistas que debería aceptar?</a:t>
            </a:r>
            <a:endParaRPr lang="es-CL" sz="1400" dirty="0">
              <a:latin typeface="Avenir Next" panose="020B0503020202020204" pitchFamily="34" charset="0"/>
            </a:endParaRPr>
          </a:p>
          <a:p>
            <a:pPr marL="158260" indent="-158260">
              <a:lnSpc>
                <a:spcPct val="107000"/>
              </a:lnSpc>
              <a:buFont typeface="+mj-lt"/>
              <a:buAutoNum type="arabicPeriod"/>
            </a:pP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a:p>
            <a:pPr marL="158260" indent="-158260">
              <a:buFont typeface="+mj-lt"/>
              <a:buAutoNum type="arabicPeriod"/>
            </a:pPr>
            <a:r>
              <a:rPr lang="es-ES_tradnl" sz="1400" dirty="0">
                <a:latin typeface="Avenir Next" panose="020B0503020202020204" pitchFamily="34" charset="0"/>
              </a:rPr>
              <a:t>¿Le conviene trabajar en esta función? ¿Cómo podrían mejorarle la oferta?</a:t>
            </a:r>
            <a:endParaRPr lang="es-CL" sz="1400" dirty="0">
              <a:latin typeface="Avenir Next" panose="020B0503020202020204" pitchFamily="34" charset="0"/>
            </a:endParaRPr>
          </a:p>
          <a:p>
            <a:pPr marL="158260" indent="-158260">
              <a:lnSpc>
                <a:spcPct val="107000"/>
              </a:lnSpc>
              <a:buFont typeface="+mj-lt"/>
              <a:buAutoNum type="arabicPeriod"/>
            </a:pP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a:p>
            <a:pPr marL="158260" indent="-158260">
              <a:buFont typeface="+mj-lt"/>
              <a:buAutoNum type="arabicPeriod"/>
            </a:pPr>
            <a:r>
              <a:rPr lang="es-ES_tradnl" sz="1400" dirty="0">
                <a:latin typeface="Avenir Next" panose="020B0503020202020204" pitchFamily="34" charset="0"/>
              </a:rPr>
              <a:t>¿Cómo puede solucionar el tema de la participación familiar?</a:t>
            </a:r>
          </a:p>
          <a:p>
            <a:pPr>
              <a:lnSpc>
                <a:spcPct val="107000"/>
              </a:lnSpc>
              <a:spcAft>
                <a:spcPts val="554"/>
              </a:spcAft>
            </a:pP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a:p>
            <a:pPr>
              <a:lnSpc>
                <a:spcPct val="107000"/>
              </a:lnSpc>
              <a:spcAft>
                <a:spcPts val="554"/>
              </a:spcAft>
            </a:pP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C857CEDC-02E3-9BAD-F09C-42DA30FDA14D}"/>
              </a:ext>
            </a:extLst>
          </p:cNvPr>
          <p:cNvSpPr txBox="1"/>
          <p:nvPr/>
        </p:nvSpPr>
        <p:spPr>
          <a:xfrm>
            <a:off x="512337" y="1340279"/>
            <a:ext cx="7631171" cy="307777"/>
          </a:xfrm>
          <a:prstGeom prst="rect">
            <a:avLst/>
          </a:prstGeom>
          <a:noFill/>
        </p:spPr>
        <p:txBody>
          <a:bodyPr wrap="square">
            <a:spAutoFit/>
          </a:bodyPr>
          <a:lstStyle/>
          <a:p>
            <a:r>
              <a:rPr lang="es-CL" sz="1400" b="1" dirty="0">
                <a:latin typeface="Avenir Next" panose="020B0503020202020204" pitchFamily="34" charset="0"/>
              </a:rPr>
              <a:t>Caso 4: Armando un portafolio en Capital de riesgo</a:t>
            </a:r>
          </a:p>
        </p:txBody>
      </p:sp>
    </p:spTree>
    <p:extLst>
      <p:ext uri="{BB962C8B-B14F-4D97-AF65-F5344CB8AC3E}">
        <p14:creationId xmlns:p14="http://schemas.microsoft.com/office/powerpoint/2010/main" val="4097005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59B7E-D420-4454-45FB-694DF681DCC3}"/>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9895B14F-D9D7-8F6F-608A-09D66616DAEE}"/>
              </a:ext>
            </a:extLst>
          </p:cNvPr>
          <p:cNvSpPr txBox="1">
            <a:spLocks/>
          </p:cNvSpPr>
          <p:nvPr/>
        </p:nvSpPr>
        <p:spPr>
          <a:xfrm>
            <a:off x="777380" y="422140"/>
            <a:ext cx="10818271" cy="65783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CL" sz="2400" dirty="0">
                <a:latin typeface="Avenir Next" panose="020B0503020202020204" pitchFamily="34" charset="0"/>
              </a:rPr>
              <a:t>Guía de ejercicios</a:t>
            </a:r>
            <a:br>
              <a:rPr lang="es-CL" sz="2285" dirty="0">
                <a:latin typeface="Avenir Next" panose="020B0503020202020204" pitchFamily="34" charset="0"/>
              </a:rPr>
            </a:br>
            <a:r>
              <a:rPr lang="es-CL" sz="1400" b="1" dirty="0">
                <a:latin typeface="Avenir Next" panose="020B0503020202020204" pitchFamily="34" charset="0"/>
              </a:rPr>
              <a:t>SOLUCIÓN EJERCICIO 4</a:t>
            </a:r>
          </a:p>
        </p:txBody>
      </p:sp>
      <p:sp>
        <p:nvSpPr>
          <p:cNvPr id="6" name="CuadroTexto 5">
            <a:extLst>
              <a:ext uri="{FF2B5EF4-FFF2-40B4-BE49-F238E27FC236}">
                <a16:creationId xmlns:a16="http://schemas.microsoft.com/office/drawing/2014/main" id="{6C077454-C321-077B-33AB-1D8A43389ADF}"/>
              </a:ext>
            </a:extLst>
          </p:cNvPr>
          <p:cNvSpPr txBox="1"/>
          <p:nvPr/>
        </p:nvSpPr>
        <p:spPr>
          <a:xfrm>
            <a:off x="1188108" y="1269433"/>
            <a:ext cx="4865617" cy="307777"/>
          </a:xfrm>
          <a:prstGeom prst="rect">
            <a:avLst/>
          </a:prstGeom>
          <a:noFill/>
        </p:spPr>
        <p:txBody>
          <a:bodyPr wrap="square">
            <a:spAutoFit/>
          </a:bodyPr>
          <a:lstStyle/>
          <a:p>
            <a:pPr lvl="0"/>
            <a:r>
              <a:rPr lang="es-ES_tradnl" sz="1400" dirty="0">
                <a:latin typeface="Avenir Next" panose="020B0503020202020204" pitchFamily="34" charset="0"/>
              </a:rPr>
              <a:t>¿Cuál es el perfil de lo que comienza a buscar?</a:t>
            </a:r>
            <a:endParaRPr lang="es-CL" sz="1400" dirty="0">
              <a:latin typeface="Avenir Next" panose="020B0503020202020204" pitchFamily="34" charset="0"/>
            </a:endParaRPr>
          </a:p>
        </p:txBody>
      </p:sp>
      <p:sp>
        <p:nvSpPr>
          <p:cNvPr id="7" name="Rectángulo 6">
            <a:extLst>
              <a:ext uri="{FF2B5EF4-FFF2-40B4-BE49-F238E27FC236}">
                <a16:creationId xmlns:a16="http://schemas.microsoft.com/office/drawing/2014/main" id="{167104E3-7D24-4846-C80F-F6A7C12A5F90}"/>
              </a:ext>
            </a:extLst>
          </p:cNvPr>
          <p:cNvSpPr/>
          <p:nvPr/>
        </p:nvSpPr>
        <p:spPr>
          <a:xfrm>
            <a:off x="784692" y="1269433"/>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1</a:t>
            </a:r>
          </a:p>
        </p:txBody>
      </p:sp>
      <p:sp>
        <p:nvSpPr>
          <p:cNvPr id="8" name="CuadroTexto 7">
            <a:extLst>
              <a:ext uri="{FF2B5EF4-FFF2-40B4-BE49-F238E27FC236}">
                <a16:creationId xmlns:a16="http://schemas.microsoft.com/office/drawing/2014/main" id="{A998345A-EDD7-BB39-7681-B6E052D76875}"/>
              </a:ext>
            </a:extLst>
          </p:cNvPr>
          <p:cNvSpPr txBox="1"/>
          <p:nvPr/>
        </p:nvSpPr>
        <p:spPr>
          <a:xfrm>
            <a:off x="6979308" y="1269433"/>
            <a:ext cx="3841139" cy="738664"/>
          </a:xfrm>
          <a:prstGeom prst="rect">
            <a:avLst/>
          </a:prstGeom>
          <a:noFill/>
        </p:spPr>
        <p:txBody>
          <a:bodyPr wrap="square">
            <a:spAutoFit/>
          </a:bodyPr>
          <a:lstStyle/>
          <a:p>
            <a:pPr lvl="0"/>
            <a:r>
              <a:rPr lang="es-ES_tradnl" sz="1400" dirty="0">
                <a:latin typeface="Avenir Next" panose="020B0503020202020204" pitchFamily="34" charset="0"/>
              </a:rPr>
              <a:t>¿Cuáles son los rangos de valorización? ¿Cuál es el máximo de % de otros inversionistas que debería aceptar?</a:t>
            </a:r>
            <a:endParaRPr lang="es-CL" sz="1400" dirty="0">
              <a:latin typeface="Avenir Next" panose="020B0503020202020204" pitchFamily="34" charset="0"/>
            </a:endParaRPr>
          </a:p>
        </p:txBody>
      </p:sp>
      <p:sp>
        <p:nvSpPr>
          <p:cNvPr id="9" name="Rectángulo 8">
            <a:extLst>
              <a:ext uri="{FF2B5EF4-FFF2-40B4-BE49-F238E27FC236}">
                <a16:creationId xmlns:a16="http://schemas.microsoft.com/office/drawing/2014/main" id="{1BA16AD8-FE8B-A997-FEDC-9DA645C59580}"/>
              </a:ext>
            </a:extLst>
          </p:cNvPr>
          <p:cNvSpPr/>
          <p:nvPr/>
        </p:nvSpPr>
        <p:spPr>
          <a:xfrm>
            <a:off x="6575892" y="1269433"/>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2</a:t>
            </a:r>
          </a:p>
        </p:txBody>
      </p:sp>
      <p:pic>
        <p:nvPicPr>
          <p:cNvPr id="14" name="Imagen 13">
            <a:extLst>
              <a:ext uri="{FF2B5EF4-FFF2-40B4-BE49-F238E27FC236}">
                <a16:creationId xmlns:a16="http://schemas.microsoft.com/office/drawing/2014/main" id="{57B62849-B531-F128-4CB1-82507935E7A2}"/>
              </a:ext>
            </a:extLst>
          </p:cNvPr>
          <p:cNvPicPr>
            <a:picLocks noChangeAspect="1"/>
          </p:cNvPicPr>
          <p:nvPr/>
        </p:nvPicPr>
        <p:blipFill>
          <a:blip r:embed="rId2"/>
          <a:stretch>
            <a:fillRect/>
          </a:stretch>
        </p:blipFill>
        <p:spPr>
          <a:xfrm>
            <a:off x="777380" y="1766673"/>
            <a:ext cx="2783334" cy="3123379"/>
          </a:xfrm>
          <a:prstGeom prst="rect">
            <a:avLst/>
          </a:prstGeom>
        </p:spPr>
      </p:pic>
      <p:sp>
        <p:nvSpPr>
          <p:cNvPr id="15" name="CuadroTexto 14">
            <a:extLst>
              <a:ext uri="{FF2B5EF4-FFF2-40B4-BE49-F238E27FC236}">
                <a16:creationId xmlns:a16="http://schemas.microsoft.com/office/drawing/2014/main" id="{303C4A61-F819-19B0-6D23-BB43F955E2C3}"/>
              </a:ext>
            </a:extLst>
          </p:cNvPr>
          <p:cNvSpPr txBox="1"/>
          <p:nvPr/>
        </p:nvSpPr>
        <p:spPr>
          <a:xfrm>
            <a:off x="3678788" y="1766673"/>
            <a:ext cx="2374937" cy="4154984"/>
          </a:xfrm>
          <a:prstGeom prst="rect">
            <a:avLst/>
          </a:prstGeom>
          <a:noFill/>
        </p:spPr>
        <p:txBody>
          <a:bodyPr wrap="square" rtlCol="0">
            <a:spAutoFit/>
          </a:bodyPr>
          <a:lstStyle/>
          <a:p>
            <a:r>
              <a:rPr lang="es-CL" sz="1200" dirty="0">
                <a:latin typeface="Avenir Next" panose="020B0503020202020204" pitchFamily="34" charset="0"/>
              </a:rPr>
              <a:t>El perfil de casos es:</a:t>
            </a:r>
          </a:p>
          <a:p>
            <a:endParaRPr lang="es-CL" sz="1200" dirty="0">
              <a:latin typeface="Avenir Next" panose="020B0503020202020204" pitchFamily="34" charset="0"/>
            </a:endParaRPr>
          </a:p>
          <a:p>
            <a:pPr marL="118695" indent="-118695">
              <a:buFont typeface="Arial" panose="020B0604020202020204" pitchFamily="34" charset="0"/>
              <a:buChar char="•"/>
            </a:pPr>
            <a:r>
              <a:rPr lang="es-CL" sz="1200" dirty="0">
                <a:latin typeface="Avenir Next" panose="020B0503020202020204" pitchFamily="34" charset="0"/>
              </a:rPr>
              <a:t>Final de startup, inicio </a:t>
            </a:r>
            <a:r>
              <a:rPr lang="es-CL" sz="1200" dirty="0" err="1">
                <a:latin typeface="Avenir Next" panose="020B0503020202020204" pitchFamily="34" charset="0"/>
              </a:rPr>
              <a:t>scaleup</a:t>
            </a:r>
            <a:r>
              <a:rPr lang="es-CL" sz="1200" dirty="0">
                <a:latin typeface="Avenir Next" panose="020B0503020202020204" pitchFamily="34" charset="0"/>
              </a:rPr>
              <a:t>, significa con ventas efectivas, </a:t>
            </a:r>
            <a:r>
              <a:rPr lang="es-CL" sz="1200" dirty="0" err="1">
                <a:latin typeface="Avenir Next" panose="020B0503020202020204" pitchFamily="34" charset="0"/>
              </a:rPr>
              <a:t>product</a:t>
            </a:r>
            <a:r>
              <a:rPr lang="es-CL" sz="1200" dirty="0">
                <a:latin typeface="Avenir Next" panose="020B0503020202020204" pitchFamily="34" charset="0"/>
              </a:rPr>
              <a:t> </a:t>
            </a:r>
            <a:r>
              <a:rPr lang="es-CL" sz="1200" dirty="0" err="1">
                <a:latin typeface="Avenir Next" panose="020B0503020202020204" pitchFamily="34" charset="0"/>
              </a:rPr>
              <a:t>market</a:t>
            </a:r>
            <a:r>
              <a:rPr lang="es-CL" sz="1200" dirty="0">
                <a:latin typeface="Avenir Next" panose="020B0503020202020204" pitchFamily="34" charset="0"/>
              </a:rPr>
              <a:t> </a:t>
            </a:r>
            <a:r>
              <a:rPr lang="es-CL" sz="1200" dirty="0" err="1">
                <a:latin typeface="Avenir Next" panose="020B0503020202020204" pitchFamily="34" charset="0"/>
              </a:rPr>
              <a:t>fit</a:t>
            </a:r>
            <a:r>
              <a:rPr lang="es-CL" sz="1200" dirty="0">
                <a:latin typeface="Avenir Next" panose="020B0503020202020204" pitchFamily="34" charset="0"/>
              </a:rPr>
              <a:t> logrado.</a:t>
            </a:r>
          </a:p>
          <a:p>
            <a:pPr marL="118695" indent="-118695">
              <a:buFont typeface="Arial" panose="020B0604020202020204" pitchFamily="34" charset="0"/>
              <a:buChar char="•"/>
            </a:pPr>
            <a:r>
              <a:rPr lang="es-CL" sz="1200" dirty="0">
                <a:latin typeface="Avenir Next" panose="020B0503020202020204" pitchFamily="34" charset="0"/>
              </a:rPr>
              <a:t>Inversiones </a:t>
            </a:r>
            <a:r>
              <a:rPr lang="es-CL" sz="1200" dirty="0" err="1">
                <a:latin typeface="Avenir Next" panose="020B0503020202020204" pitchFamily="34" charset="0"/>
              </a:rPr>
              <a:t>seed</a:t>
            </a:r>
            <a:r>
              <a:rPr lang="es-CL" sz="1200" dirty="0">
                <a:latin typeface="Avenir Next" panose="020B0503020202020204" pitchFamily="34" charset="0"/>
              </a:rPr>
              <a:t>, familia y ángeles.</a:t>
            </a:r>
          </a:p>
          <a:p>
            <a:pPr marL="118695" indent="-118695">
              <a:buFont typeface="Arial" panose="020B0604020202020204" pitchFamily="34" charset="0"/>
              <a:buChar char="•"/>
            </a:pPr>
            <a:r>
              <a:rPr lang="es-CL" sz="1200" dirty="0">
                <a:latin typeface="Avenir Next" panose="020B0503020202020204" pitchFamily="34" charset="0"/>
              </a:rPr>
              <a:t>TRL 7 y más, tecnología como componente del modelo de negocios.</a:t>
            </a:r>
          </a:p>
          <a:p>
            <a:pPr marL="118695" indent="-118695">
              <a:buFont typeface="Arial" panose="020B0604020202020204" pitchFamily="34" charset="0"/>
              <a:buChar char="•"/>
            </a:pPr>
            <a:r>
              <a:rPr lang="es-CL" sz="1200" dirty="0">
                <a:latin typeface="Avenir Next" panose="020B0503020202020204" pitchFamily="34" charset="0"/>
              </a:rPr>
              <a:t>En esta etapa existe el producto y el cliente, aunque el modelo de negocios se puede perfeccionar. El equipo esta iniciando la especialización en sus cargos, y requiere ir formalizando muchas de sus funciones.</a:t>
            </a:r>
          </a:p>
          <a:p>
            <a:pPr marL="118695" indent="-118695">
              <a:buFont typeface="Arial" panose="020B0604020202020204" pitchFamily="34" charset="0"/>
              <a:buChar char="•"/>
            </a:pPr>
            <a:r>
              <a:rPr lang="es-CL" sz="1200" dirty="0">
                <a:latin typeface="Avenir Next" panose="020B0503020202020204" pitchFamily="34" charset="0"/>
              </a:rPr>
              <a:t>La tasa de crecimiento es de 2 dígitos.</a:t>
            </a:r>
          </a:p>
        </p:txBody>
      </p:sp>
      <p:sp>
        <p:nvSpPr>
          <p:cNvPr id="16" name="CuadroTexto 15">
            <a:extLst>
              <a:ext uri="{FF2B5EF4-FFF2-40B4-BE49-F238E27FC236}">
                <a16:creationId xmlns:a16="http://schemas.microsoft.com/office/drawing/2014/main" id="{C7985BC9-22C5-0B08-34FD-0DE4D69E27D3}"/>
              </a:ext>
            </a:extLst>
          </p:cNvPr>
          <p:cNvSpPr txBox="1"/>
          <p:nvPr/>
        </p:nvSpPr>
        <p:spPr>
          <a:xfrm>
            <a:off x="6979309" y="2194278"/>
            <a:ext cx="3841138" cy="1384995"/>
          </a:xfrm>
          <a:prstGeom prst="rect">
            <a:avLst/>
          </a:prstGeom>
          <a:noFill/>
        </p:spPr>
        <p:txBody>
          <a:bodyPr wrap="square" rtlCol="0">
            <a:spAutoFit/>
          </a:bodyPr>
          <a:lstStyle/>
          <a:p>
            <a:r>
              <a:rPr lang="es-CL" sz="1200" dirty="0">
                <a:latin typeface="Avenir Next" panose="020B0503020202020204" pitchFamily="34" charset="0"/>
              </a:rPr>
              <a:t>Para sacar el rango de valorización estás están expresadas </a:t>
            </a:r>
            <a:r>
              <a:rPr lang="es-CL" sz="1200" dirty="0" err="1">
                <a:latin typeface="Avenir Next" panose="020B0503020202020204" pitchFamily="34" charset="0"/>
              </a:rPr>
              <a:t>postmoney</a:t>
            </a:r>
            <a:r>
              <a:rPr lang="es-CL" sz="1200" dirty="0">
                <a:latin typeface="Avenir Next" panose="020B0503020202020204" pitchFamily="34" charset="0"/>
              </a:rPr>
              <a:t>. Entonces se toman los rangos con el máximo de participación al menor ticket (inversión), y la menor participación al mayor ticket.</a:t>
            </a:r>
          </a:p>
          <a:p>
            <a:endParaRPr lang="es-CL" sz="1200" dirty="0">
              <a:latin typeface="Avenir Next" panose="020B0503020202020204" pitchFamily="34" charset="0"/>
            </a:endParaRPr>
          </a:p>
          <a:p>
            <a:r>
              <a:rPr lang="es-CL" sz="1200" dirty="0">
                <a:latin typeface="Avenir Next" panose="020B0503020202020204" pitchFamily="34" charset="0"/>
              </a:rPr>
              <a:t>En este caso:</a:t>
            </a:r>
          </a:p>
        </p:txBody>
      </p:sp>
      <p:graphicFrame>
        <p:nvGraphicFramePr>
          <p:cNvPr id="17" name="Tabla 16">
            <a:extLst>
              <a:ext uri="{FF2B5EF4-FFF2-40B4-BE49-F238E27FC236}">
                <a16:creationId xmlns:a16="http://schemas.microsoft.com/office/drawing/2014/main" id="{9FD1455E-F310-95F2-553F-25CDEFF8ED43}"/>
              </a:ext>
            </a:extLst>
          </p:cNvPr>
          <p:cNvGraphicFramePr>
            <a:graphicFrameLocks noGrp="1"/>
          </p:cNvGraphicFramePr>
          <p:nvPr>
            <p:extLst>
              <p:ext uri="{D42A27DB-BD31-4B8C-83A1-F6EECF244321}">
                <p14:modId xmlns:p14="http://schemas.microsoft.com/office/powerpoint/2010/main" val="151631109"/>
              </p:ext>
            </p:extLst>
          </p:nvPr>
        </p:nvGraphicFramePr>
        <p:xfrm>
          <a:off x="6979308" y="3765454"/>
          <a:ext cx="3841140" cy="820614"/>
        </p:xfrm>
        <a:graphic>
          <a:graphicData uri="http://schemas.openxmlformats.org/drawingml/2006/table">
            <a:tbl>
              <a:tblPr firstRow="1" bandRow="1">
                <a:tableStyleId>{5940675A-B579-460E-94D1-54222C63F5DA}</a:tableStyleId>
              </a:tblPr>
              <a:tblGrid>
                <a:gridCol w="960285">
                  <a:extLst>
                    <a:ext uri="{9D8B030D-6E8A-4147-A177-3AD203B41FA5}">
                      <a16:colId xmlns:a16="http://schemas.microsoft.com/office/drawing/2014/main" val="4196014244"/>
                    </a:ext>
                  </a:extLst>
                </a:gridCol>
                <a:gridCol w="960285">
                  <a:extLst>
                    <a:ext uri="{9D8B030D-6E8A-4147-A177-3AD203B41FA5}">
                      <a16:colId xmlns:a16="http://schemas.microsoft.com/office/drawing/2014/main" val="3295739828"/>
                    </a:ext>
                  </a:extLst>
                </a:gridCol>
                <a:gridCol w="960285">
                  <a:extLst>
                    <a:ext uri="{9D8B030D-6E8A-4147-A177-3AD203B41FA5}">
                      <a16:colId xmlns:a16="http://schemas.microsoft.com/office/drawing/2014/main" val="2423205047"/>
                    </a:ext>
                  </a:extLst>
                </a:gridCol>
                <a:gridCol w="960285">
                  <a:extLst>
                    <a:ext uri="{9D8B030D-6E8A-4147-A177-3AD203B41FA5}">
                      <a16:colId xmlns:a16="http://schemas.microsoft.com/office/drawing/2014/main" val="1944902603"/>
                    </a:ext>
                  </a:extLst>
                </a:gridCol>
              </a:tblGrid>
              <a:tr h="295422">
                <a:tc>
                  <a:txBody>
                    <a:bodyPr/>
                    <a:lstStyle/>
                    <a:p>
                      <a:pPr algn="ctr"/>
                      <a:r>
                        <a:rPr lang="es-CL" sz="800" b="1">
                          <a:latin typeface="Avenir Next" panose="020B0503020202020204" pitchFamily="34" charset="0"/>
                        </a:rPr>
                        <a:t>Participación buscada</a:t>
                      </a:r>
                    </a:p>
                  </a:txBody>
                  <a:tcPr marL="63305" marR="63305" marT="31652" marB="31652" anchor="ctr"/>
                </a:tc>
                <a:tc>
                  <a:txBody>
                    <a:bodyPr/>
                    <a:lstStyle/>
                    <a:p>
                      <a:pPr algn="ctr"/>
                      <a:r>
                        <a:rPr lang="es-CL" sz="800" b="1">
                          <a:latin typeface="Avenir Next" panose="020B0503020202020204" pitchFamily="34" charset="0"/>
                        </a:rPr>
                        <a:t>Inversión (ticket)</a:t>
                      </a:r>
                    </a:p>
                  </a:txBody>
                  <a:tcPr marL="63305" marR="63305" marT="31652" marB="31652" anchor="ctr"/>
                </a:tc>
                <a:tc>
                  <a:txBody>
                    <a:bodyPr/>
                    <a:lstStyle/>
                    <a:p>
                      <a:pPr algn="ctr"/>
                      <a:r>
                        <a:rPr lang="es-CL" sz="800" b="1">
                          <a:latin typeface="Avenir Next" panose="020B0503020202020204" pitchFamily="34" charset="0"/>
                        </a:rPr>
                        <a:t>Valorización </a:t>
                      </a:r>
                      <a:r>
                        <a:rPr lang="es-CL" sz="800" b="1" err="1">
                          <a:latin typeface="Avenir Next" panose="020B0503020202020204" pitchFamily="34" charset="0"/>
                        </a:rPr>
                        <a:t>postmoney</a:t>
                      </a:r>
                      <a:endParaRPr lang="es-CL" sz="800" b="1">
                        <a:latin typeface="Avenir Next" panose="020B0503020202020204" pitchFamily="34" charset="0"/>
                      </a:endParaRPr>
                    </a:p>
                  </a:txBody>
                  <a:tcPr marL="63305" marR="63305" marT="31652" marB="31652" anchor="ctr"/>
                </a:tc>
                <a:tc>
                  <a:txBody>
                    <a:bodyPr/>
                    <a:lstStyle/>
                    <a:p>
                      <a:pPr algn="ctr"/>
                      <a:r>
                        <a:rPr lang="es-CL" sz="800" b="1">
                          <a:latin typeface="Avenir Next" panose="020B0503020202020204" pitchFamily="34" charset="0"/>
                        </a:rPr>
                        <a:t>Máximo otros inversionistas</a:t>
                      </a:r>
                    </a:p>
                  </a:txBody>
                  <a:tcPr marL="63305" marR="63305" marT="31652" marB="31652" anchor="ctr"/>
                </a:tc>
                <a:extLst>
                  <a:ext uri="{0D108BD9-81ED-4DB2-BD59-A6C34878D82A}">
                    <a16:rowId xmlns:a16="http://schemas.microsoft.com/office/drawing/2014/main" val="252609072"/>
                  </a:ext>
                </a:extLst>
              </a:tr>
              <a:tr h="256735">
                <a:tc>
                  <a:txBody>
                    <a:bodyPr/>
                    <a:lstStyle/>
                    <a:p>
                      <a:pPr algn="ctr"/>
                      <a:r>
                        <a:rPr lang="es-CL" sz="800">
                          <a:latin typeface="Avenir Next" panose="020B0503020202020204" pitchFamily="34" charset="0"/>
                        </a:rPr>
                        <a:t>25%</a:t>
                      </a:r>
                    </a:p>
                  </a:txBody>
                  <a:tcPr marL="63305" marR="63305" marT="31652" marB="31652" anchor="ctr"/>
                </a:tc>
                <a:tc>
                  <a:txBody>
                    <a:bodyPr/>
                    <a:lstStyle/>
                    <a:p>
                      <a:pPr algn="ctr"/>
                      <a:r>
                        <a:rPr lang="es-CL" sz="800">
                          <a:latin typeface="Avenir Next" panose="020B0503020202020204" pitchFamily="34" charset="0"/>
                        </a:rPr>
                        <a:t>USD$ 400.000.-</a:t>
                      </a:r>
                    </a:p>
                  </a:txBody>
                  <a:tcPr marL="63305" marR="63305" marT="31652" marB="31652" anchor="ctr"/>
                </a:tc>
                <a:tc>
                  <a:txBody>
                    <a:bodyPr/>
                    <a:lstStyle/>
                    <a:p>
                      <a:pPr algn="ctr"/>
                      <a:r>
                        <a:rPr lang="es-CL" sz="800">
                          <a:latin typeface="Avenir Next" panose="020B0503020202020204" pitchFamily="34" charset="0"/>
                        </a:rPr>
                        <a:t>USD$ 1,60 mill</a:t>
                      </a:r>
                    </a:p>
                  </a:txBody>
                  <a:tcPr marL="63305" marR="63305" marT="31652" marB="31652" anchor="ctr"/>
                </a:tc>
                <a:tc>
                  <a:txBody>
                    <a:bodyPr/>
                    <a:lstStyle/>
                    <a:p>
                      <a:pPr algn="ctr"/>
                      <a:r>
                        <a:rPr lang="es-CL" sz="800">
                          <a:latin typeface="Avenir Next" panose="020B0503020202020204" pitchFamily="34" charset="0"/>
                        </a:rPr>
                        <a:t>25%</a:t>
                      </a:r>
                    </a:p>
                  </a:txBody>
                  <a:tcPr marL="63305" marR="63305" marT="31652" marB="31652" anchor="ctr"/>
                </a:tc>
                <a:extLst>
                  <a:ext uri="{0D108BD9-81ED-4DB2-BD59-A6C34878D82A}">
                    <a16:rowId xmlns:a16="http://schemas.microsoft.com/office/drawing/2014/main" val="2373392657"/>
                  </a:ext>
                </a:extLst>
              </a:tr>
              <a:tr h="256735">
                <a:tc>
                  <a:txBody>
                    <a:bodyPr/>
                    <a:lstStyle/>
                    <a:p>
                      <a:pPr algn="ctr"/>
                      <a:r>
                        <a:rPr lang="es-CL" sz="800">
                          <a:latin typeface="Avenir Next" panose="020B0503020202020204" pitchFamily="34" charset="0"/>
                        </a:rPr>
                        <a:t>15%</a:t>
                      </a:r>
                    </a:p>
                  </a:txBody>
                  <a:tcPr marL="63305" marR="63305" marT="31652" marB="31652" anchor="ctr"/>
                </a:tc>
                <a:tc>
                  <a:txBody>
                    <a:bodyPr/>
                    <a:lstStyle/>
                    <a:p>
                      <a:pPr algn="ctr"/>
                      <a:r>
                        <a:rPr lang="es-CL" sz="800">
                          <a:latin typeface="Avenir Next" panose="020B0503020202020204" pitchFamily="34" charset="0"/>
                        </a:rPr>
                        <a:t>USD$ 700.000.-</a:t>
                      </a:r>
                    </a:p>
                  </a:txBody>
                  <a:tcPr marL="63305" marR="63305" marT="31652" marB="31652" anchor="ctr"/>
                </a:tc>
                <a:tc>
                  <a:txBody>
                    <a:bodyPr/>
                    <a:lstStyle/>
                    <a:p>
                      <a:pPr algn="ctr"/>
                      <a:r>
                        <a:rPr lang="es-CL" sz="800" dirty="0">
                          <a:latin typeface="Avenir Next" panose="020B0503020202020204" pitchFamily="34" charset="0"/>
                        </a:rPr>
                        <a:t>USD$ 4,67 mill</a:t>
                      </a:r>
                    </a:p>
                  </a:txBody>
                  <a:tcPr marL="63305" marR="63305" marT="31652" marB="31652" anchor="ctr"/>
                </a:tc>
                <a:tc>
                  <a:txBody>
                    <a:bodyPr/>
                    <a:lstStyle/>
                    <a:p>
                      <a:pPr algn="ctr"/>
                      <a:r>
                        <a:rPr lang="es-CL" sz="800" dirty="0">
                          <a:latin typeface="Avenir Next" panose="020B0503020202020204" pitchFamily="34" charset="0"/>
                        </a:rPr>
                        <a:t>35%</a:t>
                      </a:r>
                    </a:p>
                  </a:txBody>
                  <a:tcPr marL="63305" marR="63305" marT="31652" marB="31652" anchor="ctr"/>
                </a:tc>
                <a:extLst>
                  <a:ext uri="{0D108BD9-81ED-4DB2-BD59-A6C34878D82A}">
                    <a16:rowId xmlns:a16="http://schemas.microsoft.com/office/drawing/2014/main" val="2093267985"/>
                  </a:ext>
                </a:extLst>
              </a:tr>
            </a:tbl>
          </a:graphicData>
        </a:graphic>
      </p:graphicFrame>
    </p:spTree>
    <p:extLst>
      <p:ext uri="{BB962C8B-B14F-4D97-AF65-F5344CB8AC3E}">
        <p14:creationId xmlns:p14="http://schemas.microsoft.com/office/powerpoint/2010/main" val="905836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2EDD2-8EBF-8B6B-9FBB-95E1944BC5FB}"/>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C44A0B90-D953-5001-11C6-F590560B00DE}"/>
              </a:ext>
            </a:extLst>
          </p:cNvPr>
          <p:cNvSpPr txBox="1">
            <a:spLocks/>
          </p:cNvSpPr>
          <p:nvPr/>
        </p:nvSpPr>
        <p:spPr>
          <a:xfrm>
            <a:off x="737626" y="501753"/>
            <a:ext cx="10871278" cy="65783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CL" sz="2400" dirty="0">
                <a:latin typeface="Avenir Next" panose="020B0503020202020204" pitchFamily="34" charset="0"/>
              </a:rPr>
              <a:t>Guía de ejercicios</a:t>
            </a:r>
            <a:br>
              <a:rPr lang="es-CL" sz="2285" dirty="0">
                <a:latin typeface="Avenir Next" panose="020B0503020202020204" pitchFamily="34" charset="0"/>
              </a:rPr>
            </a:br>
            <a:r>
              <a:rPr lang="es-CL" sz="1400" b="1" dirty="0">
                <a:latin typeface="Avenir Next" panose="020B0503020202020204" pitchFamily="34" charset="0"/>
              </a:rPr>
              <a:t>SOLUCIÓN EJERCICIO 4</a:t>
            </a:r>
            <a:endParaRPr lang="es-CL" sz="1246" b="1" dirty="0">
              <a:latin typeface="Avenir Next" panose="020B0503020202020204" pitchFamily="34" charset="0"/>
            </a:endParaRPr>
          </a:p>
        </p:txBody>
      </p:sp>
      <p:sp>
        <p:nvSpPr>
          <p:cNvPr id="6" name="CuadroTexto 5">
            <a:extLst>
              <a:ext uri="{FF2B5EF4-FFF2-40B4-BE49-F238E27FC236}">
                <a16:creationId xmlns:a16="http://schemas.microsoft.com/office/drawing/2014/main" id="{B495422C-F6F4-CD94-D561-0EF484F985D8}"/>
              </a:ext>
            </a:extLst>
          </p:cNvPr>
          <p:cNvSpPr txBox="1"/>
          <p:nvPr/>
        </p:nvSpPr>
        <p:spPr>
          <a:xfrm>
            <a:off x="1148352" y="1447458"/>
            <a:ext cx="4589839" cy="553357"/>
          </a:xfrm>
          <a:prstGeom prst="rect">
            <a:avLst/>
          </a:prstGeom>
          <a:noFill/>
        </p:spPr>
        <p:txBody>
          <a:bodyPr wrap="square">
            <a:spAutoFit/>
          </a:bodyPr>
          <a:lstStyle/>
          <a:p>
            <a:pPr>
              <a:lnSpc>
                <a:spcPct val="107000"/>
              </a:lnSpc>
            </a:pPr>
            <a:r>
              <a:rPr lang="es-ES_tradnl" sz="1400" dirty="0">
                <a:latin typeface="Avenir Next" panose="020B0503020202020204" pitchFamily="34" charset="0"/>
              </a:rPr>
              <a:t>¿Le conviene trabajar en esta función? ¿Cómo podrían mejorarle la oferta?</a:t>
            </a:r>
            <a:endParaRPr lang="es-CL" sz="1400" dirty="0">
              <a:latin typeface="Avenir Next" panose="020B0503020202020204" pitchFamily="34" charset="0"/>
            </a:endParaRPr>
          </a:p>
        </p:txBody>
      </p:sp>
      <p:sp>
        <p:nvSpPr>
          <p:cNvPr id="7" name="Rectángulo 6">
            <a:extLst>
              <a:ext uri="{FF2B5EF4-FFF2-40B4-BE49-F238E27FC236}">
                <a16:creationId xmlns:a16="http://schemas.microsoft.com/office/drawing/2014/main" id="{E016878A-93FE-D737-5852-DC7FA67ABCE2}"/>
              </a:ext>
            </a:extLst>
          </p:cNvPr>
          <p:cNvSpPr/>
          <p:nvPr/>
        </p:nvSpPr>
        <p:spPr>
          <a:xfrm>
            <a:off x="744936" y="1447458"/>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3</a:t>
            </a:r>
          </a:p>
        </p:txBody>
      </p:sp>
      <p:sp>
        <p:nvSpPr>
          <p:cNvPr id="8" name="CuadroTexto 7">
            <a:extLst>
              <a:ext uri="{FF2B5EF4-FFF2-40B4-BE49-F238E27FC236}">
                <a16:creationId xmlns:a16="http://schemas.microsoft.com/office/drawing/2014/main" id="{471EF9F8-26B1-BE8D-DC65-27CA3338A3C0}"/>
              </a:ext>
            </a:extLst>
          </p:cNvPr>
          <p:cNvSpPr txBox="1"/>
          <p:nvPr/>
        </p:nvSpPr>
        <p:spPr>
          <a:xfrm>
            <a:off x="6857226" y="1454443"/>
            <a:ext cx="4751678" cy="523220"/>
          </a:xfrm>
          <a:prstGeom prst="rect">
            <a:avLst/>
          </a:prstGeom>
          <a:noFill/>
        </p:spPr>
        <p:txBody>
          <a:bodyPr wrap="square">
            <a:spAutoFit/>
          </a:bodyPr>
          <a:lstStyle/>
          <a:p>
            <a:pPr lvl="0"/>
            <a:r>
              <a:rPr lang="es-ES_tradnl" sz="1400" dirty="0">
                <a:latin typeface="Avenir Next" panose="020B0503020202020204" pitchFamily="34" charset="0"/>
              </a:rPr>
              <a:t>¿Cómo puede solucionar el tema de la participación familiar?</a:t>
            </a:r>
          </a:p>
        </p:txBody>
      </p:sp>
      <p:sp>
        <p:nvSpPr>
          <p:cNvPr id="9" name="Rectángulo 8">
            <a:extLst>
              <a:ext uri="{FF2B5EF4-FFF2-40B4-BE49-F238E27FC236}">
                <a16:creationId xmlns:a16="http://schemas.microsoft.com/office/drawing/2014/main" id="{01F9E470-B8C0-8E75-93AF-C535B9D5C8FC}"/>
              </a:ext>
            </a:extLst>
          </p:cNvPr>
          <p:cNvSpPr/>
          <p:nvPr/>
        </p:nvSpPr>
        <p:spPr>
          <a:xfrm>
            <a:off x="6453810" y="1454443"/>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4</a:t>
            </a:r>
          </a:p>
        </p:txBody>
      </p:sp>
      <p:sp>
        <p:nvSpPr>
          <p:cNvPr id="2" name="CuadroTexto 1">
            <a:extLst>
              <a:ext uri="{FF2B5EF4-FFF2-40B4-BE49-F238E27FC236}">
                <a16:creationId xmlns:a16="http://schemas.microsoft.com/office/drawing/2014/main" id="{C30C4D7E-ACD1-3E04-99A7-1EDF6033B439}"/>
              </a:ext>
            </a:extLst>
          </p:cNvPr>
          <p:cNvSpPr txBox="1"/>
          <p:nvPr/>
        </p:nvSpPr>
        <p:spPr>
          <a:xfrm>
            <a:off x="1148353" y="2146856"/>
            <a:ext cx="4589838" cy="461665"/>
          </a:xfrm>
          <a:prstGeom prst="rect">
            <a:avLst/>
          </a:prstGeom>
          <a:noFill/>
        </p:spPr>
        <p:txBody>
          <a:bodyPr wrap="square" rtlCol="0">
            <a:spAutoFit/>
          </a:bodyPr>
          <a:lstStyle/>
          <a:p>
            <a:r>
              <a:rPr lang="es-CL" sz="1200" dirty="0">
                <a:latin typeface="Avenir Next" panose="020B0503020202020204" pitchFamily="34" charset="0"/>
              </a:rPr>
              <a:t>Para comparar las 2 opciones debe tener un valor esperado de flujo y una tasa de riesgo.</a:t>
            </a:r>
          </a:p>
        </p:txBody>
      </p:sp>
      <p:graphicFrame>
        <p:nvGraphicFramePr>
          <p:cNvPr id="3" name="Tabla 2">
            <a:extLst>
              <a:ext uri="{FF2B5EF4-FFF2-40B4-BE49-F238E27FC236}">
                <a16:creationId xmlns:a16="http://schemas.microsoft.com/office/drawing/2014/main" id="{80CB4679-FBB0-2CE7-892D-001FF6957F45}"/>
              </a:ext>
            </a:extLst>
          </p:cNvPr>
          <p:cNvGraphicFramePr>
            <a:graphicFrameLocks noGrp="1"/>
          </p:cNvGraphicFramePr>
          <p:nvPr>
            <p:extLst>
              <p:ext uri="{D42A27DB-BD31-4B8C-83A1-F6EECF244321}">
                <p14:modId xmlns:p14="http://schemas.microsoft.com/office/powerpoint/2010/main" val="3461302036"/>
              </p:ext>
            </p:extLst>
          </p:nvPr>
        </p:nvGraphicFramePr>
        <p:xfrm>
          <a:off x="1148352" y="2657474"/>
          <a:ext cx="4589840" cy="808892"/>
        </p:xfrm>
        <a:graphic>
          <a:graphicData uri="http://schemas.openxmlformats.org/drawingml/2006/table">
            <a:tbl>
              <a:tblPr firstRow="1" bandRow="1">
                <a:tableStyleId>{5940675A-B579-460E-94D1-54222C63F5DA}</a:tableStyleId>
              </a:tblPr>
              <a:tblGrid>
                <a:gridCol w="917968">
                  <a:extLst>
                    <a:ext uri="{9D8B030D-6E8A-4147-A177-3AD203B41FA5}">
                      <a16:colId xmlns:a16="http://schemas.microsoft.com/office/drawing/2014/main" val="1166816368"/>
                    </a:ext>
                  </a:extLst>
                </a:gridCol>
                <a:gridCol w="917968">
                  <a:extLst>
                    <a:ext uri="{9D8B030D-6E8A-4147-A177-3AD203B41FA5}">
                      <a16:colId xmlns:a16="http://schemas.microsoft.com/office/drawing/2014/main" val="1887578870"/>
                    </a:ext>
                  </a:extLst>
                </a:gridCol>
                <a:gridCol w="917968">
                  <a:extLst>
                    <a:ext uri="{9D8B030D-6E8A-4147-A177-3AD203B41FA5}">
                      <a16:colId xmlns:a16="http://schemas.microsoft.com/office/drawing/2014/main" val="915451663"/>
                    </a:ext>
                  </a:extLst>
                </a:gridCol>
                <a:gridCol w="917968">
                  <a:extLst>
                    <a:ext uri="{9D8B030D-6E8A-4147-A177-3AD203B41FA5}">
                      <a16:colId xmlns:a16="http://schemas.microsoft.com/office/drawing/2014/main" val="3003058557"/>
                    </a:ext>
                  </a:extLst>
                </a:gridCol>
                <a:gridCol w="917968">
                  <a:extLst>
                    <a:ext uri="{9D8B030D-6E8A-4147-A177-3AD203B41FA5}">
                      <a16:colId xmlns:a16="http://schemas.microsoft.com/office/drawing/2014/main" val="587617829"/>
                    </a:ext>
                  </a:extLst>
                </a:gridCol>
              </a:tblGrid>
              <a:tr h="295422">
                <a:tc>
                  <a:txBody>
                    <a:bodyPr/>
                    <a:lstStyle/>
                    <a:p>
                      <a:pPr algn="ctr"/>
                      <a:r>
                        <a:rPr lang="es-CL" sz="800" b="1">
                          <a:latin typeface="Avenir Next" panose="020B0503020202020204" pitchFamily="34" charset="0"/>
                        </a:rPr>
                        <a:t>Opción</a:t>
                      </a:r>
                    </a:p>
                  </a:txBody>
                  <a:tcPr marL="63305" marR="63305" marT="31652" marB="31652" anchor="ctr"/>
                </a:tc>
                <a:tc>
                  <a:txBody>
                    <a:bodyPr/>
                    <a:lstStyle/>
                    <a:p>
                      <a:pPr algn="ctr"/>
                      <a:r>
                        <a:rPr lang="es-CL" sz="800" b="1">
                          <a:latin typeface="Avenir Next" panose="020B0503020202020204" pitchFamily="34" charset="0"/>
                        </a:rPr>
                        <a:t>Sueldo</a:t>
                      </a:r>
                    </a:p>
                  </a:txBody>
                  <a:tcPr marL="63305" marR="63305" marT="31652" marB="31652" anchor="ctr"/>
                </a:tc>
                <a:tc>
                  <a:txBody>
                    <a:bodyPr/>
                    <a:lstStyle/>
                    <a:p>
                      <a:pPr algn="ctr"/>
                      <a:r>
                        <a:rPr lang="es-CL" sz="800" b="1">
                          <a:latin typeface="Avenir Next" panose="020B0503020202020204" pitchFamily="34" charset="0"/>
                        </a:rPr>
                        <a:t>N° esperado</a:t>
                      </a:r>
                    </a:p>
                  </a:txBody>
                  <a:tcPr marL="63305" marR="63305" marT="31652" marB="31652" anchor="ctr"/>
                </a:tc>
                <a:tc>
                  <a:txBody>
                    <a:bodyPr/>
                    <a:lstStyle/>
                    <a:p>
                      <a:pPr algn="ctr"/>
                      <a:r>
                        <a:rPr lang="es-CL" sz="800" b="1">
                          <a:latin typeface="Avenir Next" panose="020B0503020202020204" pitchFamily="34" charset="0"/>
                        </a:rPr>
                        <a:t>Tasa de riesgo</a:t>
                      </a:r>
                    </a:p>
                  </a:txBody>
                  <a:tcPr marL="63305" marR="63305" marT="31652" marB="31652" anchor="ctr"/>
                </a:tc>
                <a:tc>
                  <a:txBody>
                    <a:bodyPr/>
                    <a:lstStyle/>
                    <a:p>
                      <a:pPr algn="ctr"/>
                      <a:r>
                        <a:rPr lang="es-CL" sz="800" b="1">
                          <a:latin typeface="Avenir Next" panose="020B0503020202020204" pitchFamily="34" charset="0"/>
                        </a:rPr>
                        <a:t>VE anual</a:t>
                      </a:r>
                    </a:p>
                  </a:txBody>
                  <a:tcPr marL="63305" marR="63305" marT="31652" marB="31652" anchor="ctr"/>
                </a:tc>
                <a:extLst>
                  <a:ext uri="{0D108BD9-81ED-4DB2-BD59-A6C34878D82A}">
                    <a16:rowId xmlns:a16="http://schemas.microsoft.com/office/drawing/2014/main" val="350331662"/>
                  </a:ext>
                </a:extLst>
              </a:tr>
              <a:tr h="256735">
                <a:tc>
                  <a:txBody>
                    <a:bodyPr/>
                    <a:lstStyle/>
                    <a:p>
                      <a:r>
                        <a:rPr lang="es-CL" sz="800">
                          <a:latin typeface="Avenir Next" panose="020B0503020202020204" pitchFamily="34" charset="0"/>
                        </a:rPr>
                        <a:t>Trabajo actual</a:t>
                      </a:r>
                    </a:p>
                  </a:txBody>
                  <a:tcPr marL="63305" marR="63305" marT="31652" marB="31652"/>
                </a:tc>
                <a:tc>
                  <a:txBody>
                    <a:bodyPr/>
                    <a:lstStyle/>
                    <a:p>
                      <a:pPr algn="ctr"/>
                      <a:r>
                        <a:rPr lang="es-CL" sz="800">
                          <a:latin typeface="Avenir Next" panose="020B0503020202020204" pitchFamily="34" charset="0"/>
                        </a:rPr>
                        <a:t>X</a:t>
                      </a:r>
                    </a:p>
                  </a:txBody>
                  <a:tcPr marL="63305" marR="63305" marT="31652" marB="31652" anchor="ctr"/>
                </a:tc>
                <a:tc>
                  <a:txBody>
                    <a:bodyPr/>
                    <a:lstStyle/>
                    <a:p>
                      <a:pPr algn="ctr"/>
                      <a:r>
                        <a:rPr lang="es-CL" sz="800">
                          <a:latin typeface="Avenir Next" panose="020B0503020202020204" pitchFamily="34" charset="0"/>
                        </a:rPr>
                        <a:t>12</a:t>
                      </a:r>
                    </a:p>
                  </a:txBody>
                  <a:tcPr marL="63305" marR="63305" marT="31652" marB="31652" anchor="ctr"/>
                </a:tc>
                <a:tc>
                  <a:txBody>
                    <a:bodyPr/>
                    <a:lstStyle/>
                    <a:p>
                      <a:pPr algn="ctr"/>
                      <a:r>
                        <a:rPr lang="es-CL" sz="800">
                          <a:latin typeface="Avenir Next" panose="020B0503020202020204" pitchFamily="34" charset="0"/>
                        </a:rPr>
                        <a:t>5%</a:t>
                      </a:r>
                    </a:p>
                  </a:txBody>
                  <a:tcPr marL="63305" marR="63305" marT="31652" marB="31652" anchor="ctr"/>
                </a:tc>
                <a:tc>
                  <a:txBody>
                    <a:bodyPr/>
                    <a:lstStyle/>
                    <a:p>
                      <a:r>
                        <a:rPr lang="es-CL" sz="800">
                          <a:latin typeface="Avenir Next" panose="020B0503020202020204" pitchFamily="34" charset="0"/>
                        </a:rPr>
                        <a:t>12X * 95%</a:t>
                      </a:r>
                    </a:p>
                  </a:txBody>
                  <a:tcPr marL="63305" marR="63305" marT="31652" marB="31652" anchor="ctr"/>
                </a:tc>
                <a:extLst>
                  <a:ext uri="{0D108BD9-81ED-4DB2-BD59-A6C34878D82A}">
                    <a16:rowId xmlns:a16="http://schemas.microsoft.com/office/drawing/2014/main" val="2410622339"/>
                  </a:ext>
                </a:extLst>
              </a:tr>
              <a:tr h="256735">
                <a:tc>
                  <a:txBody>
                    <a:bodyPr/>
                    <a:lstStyle/>
                    <a:p>
                      <a:r>
                        <a:rPr lang="es-CL" sz="800">
                          <a:latin typeface="Avenir Next" panose="020B0503020202020204" pitchFamily="34" charset="0"/>
                        </a:rPr>
                        <a:t>Analista VC</a:t>
                      </a:r>
                    </a:p>
                  </a:txBody>
                  <a:tcPr marL="63305" marR="63305" marT="31652" marB="31652"/>
                </a:tc>
                <a:tc>
                  <a:txBody>
                    <a:bodyPr/>
                    <a:lstStyle/>
                    <a:p>
                      <a:pPr algn="ctr"/>
                      <a:r>
                        <a:rPr lang="es-CL" sz="800" dirty="0">
                          <a:latin typeface="Avenir Next" panose="020B0503020202020204" pitchFamily="34" charset="0"/>
                        </a:rPr>
                        <a:t>6X</a:t>
                      </a:r>
                    </a:p>
                  </a:txBody>
                  <a:tcPr marL="63305" marR="63305" marT="31652" marB="31652" anchor="ctr"/>
                </a:tc>
                <a:tc>
                  <a:txBody>
                    <a:bodyPr/>
                    <a:lstStyle/>
                    <a:p>
                      <a:pPr algn="ctr"/>
                      <a:r>
                        <a:rPr lang="es-CL" sz="800">
                          <a:latin typeface="Avenir Next" panose="020B0503020202020204" pitchFamily="34" charset="0"/>
                        </a:rPr>
                        <a:t>2</a:t>
                      </a:r>
                    </a:p>
                  </a:txBody>
                  <a:tcPr marL="63305" marR="63305" marT="31652" marB="31652" anchor="ctr"/>
                </a:tc>
                <a:tc>
                  <a:txBody>
                    <a:bodyPr/>
                    <a:lstStyle/>
                    <a:p>
                      <a:pPr algn="ctr"/>
                      <a:r>
                        <a:rPr lang="es-CL" sz="800">
                          <a:latin typeface="Avenir Next" panose="020B0503020202020204" pitchFamily="34" charset="0"/>
                        </a:rPr>
                        <a:t>20%</a:t>
                      </a:r>
                    </a:p>
                  </a:txBody>
                  <a:tcPr marL="63305" marR="63305" marT="31652" marB="31652" anchor="ctr"/>
                </a:tc>
                <a:tc>
                  <a:txBody>
                    <a:bodyPr/>
                    <a:lstStyle/>
                    <a:p>
                      <a:r>
                        <a:rPr lang="es-CL" sz="800" dirty="0">
                          <a:latin typeface="Avenir Next" panose="020B0503020202020204" pitchFamily="34" charset="0"/>
                        </a:rPr>
                        <a:t>12X * 80%</a:t>
                      </a:r>
                    </a:p>
                  </a:txBody>
                  <a:tcPr marL="63305" marR="63305" marT="31652" marB="31652" anchor="ctr"/>
                </a:tc>
                <a:extLst>
                  <a:ext uri="{0D108BD9-81ED-4DB2-BD59-A6C34878D82A}">
                    <a16:rowId xmlns:a16="http://schemas.microsoft.com/office/drawing/2014/main" val="3757297623"/>
                  </a:ext>
                </a:extLst>
              </a:tr>
            </a:tbl>
          </a:graphicData>
        </a:graphic>
      </p:graphicFrame>
      <p:sp>
        <p:nvSpPr>
          <p:cNvPr id="5" name="CuadroTexto 4">
            <a:extLst>
              <a:ext uri="{FF2B5EF4-FFF2-40B4-BE49-F238E27FC236}">
                <a16:creationId xmlns:a16="http://schemas.microsoft.com/office/drawing/2014/main" id="{1B633A29-E55E-D14C-1F53-7D720EF5251D}"/>
              </a:ext>
            </a:extLst>
          </p:cNvPr>
          <p:cNvSpPr txBox="1"/>
          <p:nvPr/>
        </p:nvSpPr>
        <p:spPr>
          <a:xfrm>
            <a:off x="1148351" y="3612751"/>
            <a:ext cx="4589837" cy="1754326"/>
          </a:xfrm>
          <a:prstGeom prst="rect">
            <a:avLst/>
          </a:prstGeom>
          <a:noFill/>
        </p:spPr>
        <p:txBody>
          <a:bodyPr wrap="square" rtlCol="0">
            <a:spAutoFit/>
          </a:bodyPr>
          <a:lstStyle/>
          <a:p>
            <a:r>
              <a:rPr lang="es-CL" sz="1200" dirty="0">
                <a:latin typeface="Avenir Next" panose="020B0503020202020204" pitchFamily="34" charset="0"/>
              </a:rPr>
              <a:t>Básicamente, una forma de comparación es por Valor Esperado. Como vemos, la promesa de ingreso es igual pero el riesgo es distinto (el sistema es perfectible conociendo mejor las probabilidades). Ud. puede buscar cambiar las formas de ingreso –sueldo con componente fijo y otro variable-, mejorar el premio, asegurar una cantidad de </a:t>
            </a:r>
            <a:r>
              <a:rPr lang="es-CL" sz="1200" i="1" dirty="0" err="1">
                <a:latin typeface="Avenir Next" panose="020B0503020202020204" pitchFamily="34" charset="0"/>
              </a:rPr>
              <a:t>deals</a:t>
            </a:r>
            <a:r>
              <a:rPr lang="es-CL" sz="1200" dirty="0">
                <a:latin typeface="Avenir Next" panose="020B0503020202020204" pitchFamily="34" charset="0"/>
              </a:rPr>
              <a:t> por año, participación en los acuerdos (</a:t>
            </a:r>
            <a:r>
              <a:rPr lang="es-CL" sz="1200" i="1" dirty="0">
                <a:latin typeface="Avenir Next" panose="020B0503020202020204" pitchFamily="34" charset="0"/>
              </a:rPr>
              <a:t>stock </a:t>
            </a:r>
            <a:r>
              <a:rPr lang="es-CL" sz="1200" i="1" dirty="0" err="1">
                <a:latin typeface="Avenir Next" panose="020B0503020202020204" pitchFamily="34" charset="0"/>
              </a:rPr>
              <a:t>options</a:t>
            </a:r>
            <a:r>
              <a:rPr lang="es-CL" sz="1200" dirty="0">
                <a:latin typeface="Avenir Next" panose="020B0503020202020204" pitchFamily="34" charset="0"/>
              </a:rPr>
              <a:t>). Todos los mecanismos que tiendan a mejorar la oferta sobre su sueldo actual.</a:t>
            </a:r>
          </a:p>
        </p:txBody>
      </p:sp>
      <p:sp>
        <p:nvSpPr>
          <p:cNvPr id="10" name="CuadroTexto 9">
            <a:extLst>
              <a:ext uri="{FF2B5EF4-FFF2-40B4-BE49-F238E27FC236}">
                <a16:creationId xmlns:a16="http://schemas.microsoft.com/office/drawing/2014/main" id="{D298AC12-D89E-5665-C0FA-42D7502FC7D0}"/>
              </a:ext>
            </a:extLst>
          </p:cNvPr>
          <p:cNvSpPr txBox="1"/>
          <p:nvPr/>
        </p:nvSpPr>
        <p:spPr>
          <a:xfrm>
            <a:off x="6857225" y="2146856"/>
            <a:ext cx="4751677" cy="2492990"/>
          </a:xfrm>
          <a:prstGeom prst="rect">
            <a:avLst/>
          </a:prstGeom>
          <a:noFill/>
        </p:spPr>
        <p:txBody>
          <a:bodyPr wrap="square" rtlCol="0">
            <a:spAutoFit/>
          </a:bodyPr>
          <a:lstStyle/>
          <a:p>
            <a:r>
              <a:rPr lang="es-CL" sz="1200" dirty="0">
                <a:latin typeface="Avenir Next" panose="020B0503020202020204" pitchFamily="34" charset="0"/>
              </a:rPr>
              <a:t>Como se vio en la respuesta 2, el máximo de otros inversionistas es de 25% o 35%. Por esto, a la familia que participa con un 40% se le puede solicitar:</a:t>
            </a:r>
          </a:p>
          <a:p>
            <a:endParaRPr lang="es-CL" sz="1200" dirty="0">
              <a:latin typeface="Avenir Next" panose="020B0503020202020204" pitchFamily="34" charset="0"/>
            </a:endParaRPr>
          </a:p>
          <a:p>
            <a:pPr marL="118695" indent="-118695">
              <a:buFontTx/>
              <a:buChar char="-"/>
            </a:pPr>
            <a:r>
              <a:rPr lang="es-CL" sz="1200" dirty="0">
                <a:latin typeface="Avenir Next" panose="020B0503020202020204" pitchFamily="34" charset="0"/>
              </a:rPr>
              <a:t>Comprar directamente (</a:t>
            </a:r>
            <a:r>
              <a:rPr lang="es-CL" sz="1200" i="1" dirty="0">
                <a:latin typeface="Avenir Next" panose="020B0503020202020204" pitchFamily="34" charset="0"/>
              </a:rPr>
              <a:t>cash </a:t>
            </a:r>
            <a:r>
              <a:rPr lang="es-CL" sz="1200" i="1" dirty="0" err="1">
                <a:latin typeface="Avenir Next" panose="020B0503020202020204" pitchFamily="34" charset="0"/>
              </a:rPr>
              <a:t>out</a:t>
            </a:r>
            <a:r>
              <a:rPr lang="es-CL" sz="1200" dirty="0">
                <a:latin typeface="Avenir Next" panose="020B0503020202020204" pitchFamily="34" charset="0"/>
              </a:rPr>
              <a:t>) su parte en la proporción que los habilite, es decir, un 15% o un 5%.</a:t>
            </a:r>
          </a:p>
          <a:p>
            <a:pPr marL="118695" indent="-118695">
              <a:buFontTx/>
              <a:buChar char="-"/>
            </a:pPr>
            <a:r>
              <a:rPr lang="es-CL" sz="1200" dirty="0">
                <a:latin typeface="Avenir Next" panose="020B0503020202020204" pitchFamily="34" charset="0"/>
              </a:rPr>
              <a:t>Que cedan su participación a los fundadores o les vendan directamente, en los porcentajes exigidos.</a:t>
            </a:r>
          </a:p>
          <a:p>
            <a:pPr marL="118695" indent="-118695">
              <a:buFontTx/>
              <a:buChar char="-"/>
            </a:pPr>
            <a:r>
              <a:rPr lang="es-CL" sz="1200" dirty="0">
                <a:latin typeface="Avenir Next" panose="020B0503020202020204" pitchFamily="34" charset="0"/>
              </a:rPr>
              <a:t>Que acepten una dilución mayor de sus acciones contra condiciones preferentes de salida futura, o venta a un precio mínimo acordado a futuro.</a:t>
            </a:r>
          </a:p>
          <a:p>
            <a:pPr marL="118695" indent="-118695">
              <a:buFontTx/>
              <a:buChar char="-"/>
            </a:pPr>
            <a:r>
              <a:rPr lang="es-CL" sz="1200" dirty="0">
                <a:latin typeface="Avenir Next" panose="020B0503020202020204" pitchFamily="34" charset="0"/>
              </a:rPr>
              <a:t>Pacto de venta en el porcentaje exigido a la empresa a un precio acordado al momento del ingreso de capital.</a:t>
            </a:r>
          </a:p>
        </p:txBody>
      </p:sp>
    </p:spTree>
    <p:extLst>
      <p:ext uri="{BB962C8B-B14F-4D97-AF65-F5344CB8AC3E}">
        <p14:creationId xmlns:p14="http://schemas.microsoft.com/office/powerpoint/2010/main" val="3553319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2C2B-0CC1-1D91-6A40-814D4A7BB9E1}"/>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3A114A0E-E728-0C06-C5AA-76B7EAF552C5}"/>
              </a:ext>
            </a:extLst>
          </p:cNvPr>
          <p:cNvSpPr>
            <a:spLocks noGrp="1"/>
          </p:cNvSpPr>
          <p:nvPr>
            <p:ph type="title"/>
          </p:nvPr>
        </p:nvSpPr>
        <p:spPr/>
        <p:txBody>
          <a:bodyPr/>
          <a:lstStyle/>
          <a:p>
            <a:r>
              <a:rPr lang="es-CL" dirty="0"/>
              <a:t>Caso 7</a:t>
            </a:r>
            <a:br>
              <a:rPr lang="es-CL" dirty="0"/>
            </a:br>
            <a:r>
              <a:rPr lang="es-ES" kern="100" dirty="0" err="1">
                <a:cs typeface="Times New Roman" panose="02020603050405020304" pitchFamily="18" charset="0"/>
              </a:rPr>
              <a:t>GreenCharge</a:t>
            </a:r>
            <a:r>
              <a:rPr lang="es-ES" kern="100" dirty="0">
                <a:cs typeface="Times New Roman" panose="02020603050405020304" pitchFamily="18" charset="0"/>
              </a:rPr>
              <a:t> (energía y movilidad eléctrica)</a:t>
            </a:r>
            <a:br>
              <a:rPr lang="es-ES" kern="100" dirty="0">
                <a:cs typeface="Times New Roman" panose="02020603050405020304" pitchFamily="18" charset="0"/>
              </a:rPr>
            </a:br>
            <a:endParaRPr lang="es-CL" dirty="0"/>
          </a:p>
        </p:txBody>
      </p:sp>
    </p:spTree>
    <p:extLst>
      <p:ext uri="{BB962C8B-B14F-4D97-AF65-F5344CB8AC3E}">
        <p14:creationId xmlns:p14="http://schemas.microsoft.com/office/powerpoint/2010/main" val="3479458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AF38D-9607-9474-8469-3281128CEB47}"/>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464DA3EB-2BCE-4A5C-3CE6-010FDD57E8A5}"/>
              </a:ext>
            </a:extLst>
          </p:cNvPr>
          <p:cNvSpPr>
            <a:spLocks noGrp="1"/>
          </p:cNvSpPr>
          <p:nvPr>
            <p:ph type="title"/>
          </p:nvPr>
        </p:nvSpPr>
        <p:spPr>
          <a:xfrm>
            <a:off x="655980" y="420051"/>
            <a:ext cx="10880035" cy="851071"/>
          </a:xfrm>
        </p:spPr>
        <p:txBody>
          <a:bodyPr>
            <a:normAutofit/>
          </a:bodyPr>
          <a:lstStyle/>
          <a:p>
            <a:r>
              <a:rPr lang="es-CL" sz="2400" dirty="0">
                <a:latin typeface="Avenir Next" panose="020B0503020202020204" pitchFamily="34" charset="0"/>
              </a:rPr>
              <a:t>Guía de ejercicios</a:t>
            </a:r>
            <a:br>
              <a:rPr lang="es-CL" dirty="0">
                <a:latin typeface="Avenir Next" panose="020B0503020202020204" pitchFamily="34" charset="0"/>
              </a:rPr>
            </a:br>
            <a:r>
              <a:rPr lang="es-CL" sz="1400" b="1" dirty="0">
                <a:latin typeface="Avenir Next" panose="020B0503020202020204" pitchFamily="34" charset="0"/>
              </a:rPr>
              <a:t>EJERCICIO 7</a:t>
            </a:r>
          </a:p>
        </p:txBody>
      </p:sp>
      <p:sp>
        <p:nvSpPr>
          <p:cNvPr id="3" name="TextBox 2">
            <a:extLst>
              <a:ext uri="{FF2B5EF4-FFF2-40B4-BE49-F238E27FC236}">
                <a16:creationId xmlns:a16="http://schemas.microsoft.com/office/drawing/2014/main" id="{7A37029E-8B8F-1819-04A6-88B5DCF3D3D5}"/>
              </a:ext>
            </a:extLst>
          </p:cNvPr>
          <p:cNvSpPr txBox="1"/>
          <p:nvPr/>
        </p:nvSpPr>
        <p:spPr>
          <a:xfrm>
            <a:off x="655980" y="1154596"/>
            <a:ext cx="5440018" cy="307777"/>
          </a:xfrm>
          <a:prstGeom prst="rect">
            <a:avLst/>
          </a:prstGeom>
          <a:noFill/>
        </p:spPr>
        <p:txBody>
          <a:bodyPr wrap="square">
            <a:spAutoFit/>
          </a:bodyPr>
          <a:lstStyle/>
          <a:p>
            <a:r>
              <a:rPr lang="es-ES" sz="1400" b="1" kern="100" dirty="0">
                <a:latin typeface="Avenir Next" panose="020B0503020202020204" pitchFamily="34" charset="0"/>
                <a:cs typeface="Times New Roman" panose="02020603050405020304" pitchFamily="18" charset="0"/>
              </a:rPr>
              <a:t>Caso 7: </a:t>
            </a:r>
            <a:r>
              <a:rPr lang="es-ES" sz="1400" b="1" kern="100" dirty="0" err="1">
                <a:latin typeface="Avenir Next" panose="020B0503020202020204" pitchFamily="34" charset="0"/>
                <a:cs typeface="Times New Roman" panose="02020603050405020304" pitchFamily="18" charset="0"/>
              </a:rPr>
              <a:t>GreenCharge</a:t>
            </a:r>
            <a:r>
              <a:rPr lang="es-ES" sz="1400" b="1" kern="100" dirty="0">
                <a:latin typeface="Avenir Next" panose="020B0503020202020204" pitchFamily="34" charset="0"/>
                <a:cs typeface="Times New Roman" panose="02020603050405020304" pitchFamily="18" charset="0"/>
              </a:rPr>
              <a:t> (energía y movilidad eléctrica)</a:t>
            </a:r>
          </a:p>
        </p:txBody>
      </p:sp>
      <p:sp>
        <p:nvSpPr>
          <p:cNvPr id="2" name="TextBox 2">
            <a:extLst>
              <a:ext uri="{FF2B5EF4-FFF2-40B4-BE49-F238E27FC236}">
                <a16:creationId xmlns:a16="http://schemas.microsoft.com/office/drawing/2014/main" id="{52EE9F00-22F2-A1E4-2522-BD98019E64AD}"/>
              </a:ext>
            </a:extLst>
          </p:cNvPr>
          <p:cNvSpPr txBox="1"/>
          <p:nvPr/>
        </p:nvSpPr>
        <p:spPr>
          <a:xfrm>
            <a:off x="655979" y="1631279"/>
            <a:ext cx="7467603" cy="4832092"/>
          </a:xfrm>
          <a:prstGeom prst="rect">
            <a:avLst/>
          </a:prstGeom>
          <a:noFill/>
        </p:spPr>
        <p:txBody>
          <a:bodyPr wrap="square">
            <a:spAutoFit/>
          </a:bodyPr>
          <a:lstStyle/>
          <a:p>
            <a:r>
              <a:rPr lang="es-ES" sz="1400" kern="100" dirty="0">
                <a:latin typeface="Avenir Next" panose="020B0503020202020204" pitchFamily="34" charset="0"/>
                <a:cs typeface="Times New Roman" panose="02020603050405020304" pitchFamily="18" charset="0"/>
              </a:rPr>
              <a:t>Hace un tiempo un emprendedor tecnológico los visitó, y comentaba:</a:t>
            </a:r>
          </a:p>
          <a:p>
            <a:endParaRPr lang="es-ES" sz="1400" kern="100" dirty="0">
              <a:latin typeface="Avenir Next" panose="020B0503020202020204" pitchFamily="34" charset="0"/>
              <a:cs typeface="Times New Roman" panose="02020603050405020304" pitchFamily="18" charset="0"/>
            </a:endParaRPr>
          </a:p>
          <a:p>
            <a:pPr lvl="1"/>
            <a:r>
              <a:rPr lang="es-ES" sz="1400" kern="100" dirty="0">
                <a:latin typeface="Avenir Next" panose="020B0503020202020204" pitchFamily="34" charset="0"/>
                <a:cs typeface="Times New Roman" panose="02020603050405020304" pitchFamily="18" charset="0"/>
              </a:rPr>
              <a:t>“Vengo de China, y es impresionante como están avanzando los autos eléctricos, ellos están seguros de de que la electromovilidad será estándar en unos 10 años.</a:t>
            </a:r>
          </a:p>
          <a:p>
            <a:pPr lvl="1"/>
            <a:r>
              <a:rPr lang="es-ES" sz="1400" kern="100" dirty="0">
                <a:latin typeface="Avenir Next" panose="020B0503020202020204" pitchFamily="34" charset="0"/>
                <a:cs typeface="Times New Roman" panose="02020603050405020304" pitchFamily="18" charset="0"/>
              </a:rPr>
              <a:t>Pero algo me dio muchas ideas… fui a ver las formas de carga y la prospectiva, la hoja de ruta de su desarrollo, y los puntos de carga no son invasivos, estarán en las casas, estacionamientos de supermercados, hoteles, oficinas, parqueaderos, distribuidos… es decir, desaparecerá el concepto de estaciones de servicio, donde se carga combustible. Quiero hacer negocios con esto”.</a:t>
            </a:r>
          </a:p>
          <a:p>
            <a:endParaRPr lang="es-ES" sz="1400" kern="100" dirty="0">
              <a:latin typeface="Avenir Next" panose="020B0503020202020204" pitchFamily="34" charset="0"/>
              <a:cs typeface="Times New Roman" panose="02020603050405020304" pitchFamily="18" charset="0"/>
            </a:endParaRPr>
          </a:p>
          <a:p>
            <a:r>
              <a:rPr lang="es-ES" sz="1400" kern="100" dirty="0">
                <a:latin typeface="Avenir Next" panose="020B0503020202020204" pitchFamily="34" charset="0"/>
                <a:cs typeface="Times New Roman" panose="02020603050405020304" pitchFamily="18" charset="0"/>
              </a:rPr>
              <a:t>Así, desarrollo una startup de instala de estaciones de carga rápida para vehículos eléctricos en autopistas, de mínimo espacio, mejor distribuidas que las de combustible. Se ha definido como una primera etapa, luego irá sobre las ciudades.</a:t>
            </a:r>
          </a:p>
          <a:p>
            <a:endParaRPr lang="es-ES" sz="1400" kern="100" dirty="0">
              <a:latin typeface="Avenir Next" panose="020B0503020202020204" pitchFamily="34" charset="0"/>
              <a:cs typeface="Times New Roman" panose="02020603050405020304" pitchFamily="18" charset="0"/>
            </a:endParaRPr>
          </a:p>
          <a:p>
            <a:r>
              <a:rPr lang="es-ES" sz="1400" kern="100" dirty="0">
                <a:latin typeface="Avenir Next" panose="020B0503020202020204" pitchFamily="34" charset="0"/>
                <a:cs typeface="Times New Roman" panose="02020603050405020304" pitchFamily="18" charset="0"/>
              </a:rPr>
              <a:t>Ha invertido US$300k (fondos propios + CORFO), ya cuenta con 5 estaciones piloto en operación, genera US$100.000.- anuales en ingresos, el primer año se calcula un EBIDTA del 10% y esta buscando levantar US$2.000.000.- para expandir en 20 estaciones –la instalación demora 6 meses-, luego van doblando os puntos cada año. Cada estación genera USD$ 50.000.- venta anual), al segundo año, se espera un EBIDTA del 20% y al tercer año un 30% de EBIDTA, donde se estabiliza.</a:t>
            </a:r>
          </a:p>
          <a:p>
            <a:pPr lvl="0"/>
            <a:endParaRPr lang="es-ES_tradnl" sz="1400" dirty="0">
              <a:latin typeface="Avenir Next" panose="020B0503020202020204" pitchFamily="34" charset="0"/>
            </a:endParaRPr>
          </a:p>
          <a:p>
            <a:pPr lvl="0"/>
            <a:r>
              <a:rPr lang="es-CL" sz="1400" i="1" kern="100" dirty="0">
                <a:latin typeface="Avenir Next" panose="020B0503020202020204" pitchFamily="34" charset="0"/>
                <a:ea typeface="Aptos" panose="020B0004020202020204" pitchFamily="34" charset="0"/>
                <a:cs typeface="Times New Roman" panose="02020603050405020304" pitchFamily="18" charset="0"/>
              </a:rPr>
              <a:t>Basado en un caso supuesto.</a:t>
            </a: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p:txBody>
      </p:sp>
      <p:sp>
        <p:nvSpPr>
          <p:cNvPr id="6" name="TextBox 6">
            <a:extLst>
              <a:ext uri="{FF2B5EF4-FFF2-40B4-BE49-F238E27FC236}">
                <a16:creationId xmlns:a16="http://schemas.microsoft.com/office/drawing/2014/main" id="{E4734E97-C553-C164-8D5D-8F64EE612D8D}"/>
              </a:ext>
            </a:extLst>
          </p:cNvPr>
          <p:cNvSpPr txBox="1"/>
          <p:nvPr/>
        </p:nvSpPr>
        <p:spPr>
          <a:xfrm>
            <a:off x="8335617" y="1631279"/>
            <a:ext cx="3200397" cy="4857099"/>
          </a:xfrm>
          <a:prstGeom prst="rect">
            <a:avLst/>
          </a:prstGeom>
          <a:noFill/>
        </p:spPr>
        <p:txBody>
          <a:bodyPr wrap="square">
            <a:spAutoFit/>
          </a:bodyPr>
          <a:lstStyle/>
          <a:p>
            <a:pPr marL="237390" indent="-237390">
              <a:lnSpc>
                <a:spcPct val="107000"/>
              </a:lnSpc>
              <a:spcAft>
                <a:spcPts val="554"/>
              </a:spcAft>
              <a:buFont typeface="+mj-lt"/>
              <a:buAutoNum type="arabicPeriod"/>
            </a:pPr>
            <a:r>
              <a:rPr lang="es-ES" sz="1400" kern="100" dirty="0">
                <a:latin typeface="Avenir Next" panose="020B0503020202020204" pitchFamily="34" charset="0"/>
                <a:ea typeface="Aptos" panose="020B0004020202020204" pitchFamily="34" charset="0"/>
                <a:cs typeface="Times New Roman" panose="02020603050405020304" pitchFamily="18" charset="0"/>
              </a:rPr>
              <a:t>¿Cómo se podría validar el modelo central del negocio frente a inversionistas?</a:t>
            </a:r>
          </a:p>
          <a:p>
            <a:pPr marL="237390" indent="-23739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a:p>
            <a:pPr marL="237390" indent="-237390">
              <a:lnSpc>
                <a:spcPct val="107000"/>
              </a:lnSpc>
              <a:spcAft>
                <a:spcPts val="554"/>
              </a:spcAft>
              <a:buFont typeface="+mj-lt"/>
              <a:buAutoNum type="arabicPeriod"/>
            </a:pPr>
            <a:r>
              <a:rPr lang="es-ES" sz="1400" kern="100" dirty="0">
                <a:latin typeface="Avenir Next" panose="020B0503020202020204" pitchFamily="34" charset="0"/>
                <a:ea typeface="Aptos" panose="020B0004020202020204" pitchFamily="34" charset="0"/>
                <a:cs typeface="Times New Roman" panose="02020603050405020304" pitchFamily="18" charset="0"/>
              </a:rPr>
              <a:t>Explica 2 métodos de valoración aplicables.</a:t>
            </a:r>
          </a:p>
          <a:p>
            <a:pPr marL="237390" indent="-23739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a:p>
            <a:pPr marL="237390" indent="-237390">
              <a:lnSpc>
                <a:spcPct val="107000"/>
              </a:lnSpc>
              <a:spcAft>
                <a:spcPts val="554"/>
              </a:spcAft>
              <a:buFont typeface="+mj-lt"/>
              <a:buAutoNum type="arabicPeriod"/>
            </a:pPr>
            <a:r>
              <a:rPr lang="es-ES" sz="1400" kern="100" dirty="0">
                <a:latin typeface="Avenir Next" panose="020B0503020202020204" pitchFamily="34" charset="0"/>
                <a:ea typeface="Aptos" panose="020B0004020202020204" pitchFamily="34" charset="0"/>
                <a:cs typeface="Times New Roman" panose="02020603050405020304" pitchFamily="18" charset="0"/>
              </a:rPr>
              <a:t>Construya el flujo esperado a 3 años. ¿Cómo avanza la valorización? Ocupe múltiplos de EBIDTA.</a:t>
            </a:r>
          </a:p>
          <a:p>
            <a:pPr marL="237390" indent="-23739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a:p>
            <a:pPr marL="237390" indent="-237390">
              <a:lnSpc>
                <a:spcPct val="107000"/>
              </a:lnSpc>
              <a:spcAft>
                <a:spcPts val="554"/>
              </a:spcAft>
              <a:buFont typeface="+mj-lt"/>
              <a:buAutoNum type="arabicPeriod"/>
            </a:pPr>
            <a:r>
              <a:rPr lang="es-ES" sz="1400" kern="100" dirty="0">
                <a:latin typeface="Avenir Next" panose="020B0503020202020204" pitchFamily="34" charset="0"/>
                <a:ea typeface="Aptos" panose="020B0004020202020204" pitchFamily="34" charset="0"/>
                <a:cs typeface="Times New Roman" panose="02020603050405020304" pitchFamily="18" charset="0"/>
              </a:rPr>
              <a:t>Si espera levantar capital con un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premoney</a:t>
            </a:r>
            <a:r>
              <a:rPr lang="es-ES" sz="1400" kern="100" dirty="0">
                <a:latin typeface="Avenir Next" panose="020B0503020202020204" pitchFamily="34" charset="0"/>
                <a:ea typeface="Aptos" panose="020B0004020202020204" pitchFamily="34" charset="0"/>
                <a:cs typeface="Times New Roman" panose="02020603050405020304" pitchFamily="18" charset="0"/>
              </a:rPr>
              <a:t> de US$8M y levantar US$2M ¿Cuál seria su mejor estrategia?</a:t>
            </a:r>
          </a:p>
          <a:p>
            <a:pPr marL="237390" indent="-23739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a:p>
            <a:pPr marL="237390" indent="-23739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37065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404C2-934D-1C86-6AA3-8822BE3A3FAE}"/>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31E15369-A543-429A-BE88-44075197ECE5}"/>
              </a:ext>
            </a:extLst>
          </p:cNvPr>
          <p:cNvSpPr txBox="1">
            <a:spLocks/>
          </p:cNvSpPr>
          <p:nvPr/>
        </p:nvSpPr>
        <p:spPr>
          <a:xfrm>
            <a:off x="850952" y="471351"/>
            <a:ext cx="10612177" cy="65783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CL" sz="2400" dirty="0">
                <a:latin typeface="Avenir Next" panose="020B0503020202020204" pitchFamily="34" charset="0"/>
              </a:rPr>
              <a:t>Guía de ejercicios</a:t>
            </a:r>
            <a:br>
              <a:rPr lang="es-CL" sz="2285" dirty="0">
                <a:latin typeface="Avenir Next" panose="020B0503020202020204" pitchFamily="34" charset="0"/>
              </a:rPr>
            </a:br>
            <a:r>
              <a:rPr lang="es-CL" sz="1400" b="1" dirty="0">
                <a:latin typeface="Avenir Next" panose="020B0503020202020204" pitchFamily="34" charset="0"/>
              </a:rPr>
              <a:t>SOLUCIÓN EJERCICIO 7</a:t>
            </a:r>
            <a:endParaRPr lang="es-CL" sz="1246" b="1" dirty="0">
              <a:latin typeface="Avenir Next" panose="020B0503020202020204" pitchFamily="34" charset="0"/>
            </a:endParaRPr>
          </a:p>
        </p:txBody>
      </p:sp>
      <p:sp>
        <p:nvSpPr>
          <p:cNvPr id="6" name="CuadroTexto 5">
            <a:extLst>
              <a:ext uri="{FF2B5EF4-FFF2-40B4-BE49-F238E27FC236}">
                <a16:creationId xmlns:a16="http://schemas.microsoft.com/office/drawing/2014/main" id="{4C1921A6-D152-857F-85A3-F02D9CD81E3B}"/>
              </a:ext>
            </a:extLst>
          </p:cNvPr>
          <p:cNvSpPr txBox="1"/>
          <p:nvPr/>
        </p:nvSpPr>
        <p:spPr>
          <a:xfrm>
            <a:off x="1254368" y="1512037"/>
            <a:ext cx="4656102" cy="553357"/>
          </a:xfrm>
          <a:prstGeom prst="rect">
            <a:avLst/>
          </a:prstGeom>
          <a:noFill/>
        </p:spPr>
        <p:txBody>
          <a:bodyPr wrap="square">
            <a:spAutoFit/>
          </a:bodyPr>
          <a:lstStyle/>
          <a:p>
            <a:pPr>
              <a:lnSpc>
                <a:spcPct val="107000"/>
              </a:lnSpc>
              <a:spcAft>
                <a:spcPts val="554"/>
              </a:spcAft>
            </a:pPr>
            <a:r>
              <a:rPr lang="es-ES" sz="1400" kern="100" dirty="0">
                <a:latin typeface="Avenir Next" panose="020B0503020202020204" pitchFamily="34" charset="0"/>
                <a:ea typeface="Aptos" panose="020B0004020202020204" pitchFamily="34" charset="0"/>
                <a:cs typeface="Times New Roman" panose="02020603050405020304" pitchFamily="18" charset="0"/>
              </a:rPr>
              <a:t>¿Cómo se podría validar el modelo central del negocio frente a inversionistas?</a:t>
            </a:r>
          </a:p>
        </p:txBody>
      </p:sp>
      <p:sp>
        <p:nvSpPr>
          <p:cNvPr id="7" name="Rectángulo 6">
            <a:extLst>
              <a:ext uri="{FF2B5EF4-FFF2-40B4-BE49-F238E27FC236}">
                <a16:creationId xmlns:a16="http://schemas.microsoft.com/office/drawing/2014/main" id="{A95FE6A4-6DE2-DEBA-8523-BDCCED0F8487}"/>
              </a:ext>
            </a:extLst>
          </p:cNvPr>
          <p:cNvSpPr/>
          <p:nvPr/>
        </p:nvSpPr>
        <p:spPr>
          <a:xfrm>
            <a:off x="850952" y="1512037"/>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1</a:t>
            </a:r>
          </a:p>
        </p:txBody>
      </p:sp>
      <p:sp>
        <p:nvSpPr>
          <p:cNvPr id="8" name="CuadroTexto 7">
            <a:extLst>
              <a:ext uri="{FF2B5EF4-FFF2-40B4-BE49-F238E27FC236}">
                <a16:creationId xmlns:a16="http://schemas.microsoft.com/office/drawing/2014/main" id="{F6CAC543-A565-828C-B5E7-D95458F20CF2}"/>
              </a:ext>
            </a:extLst>
          </p:cNvPr>
          <p:cNvSpPr txBox="1"/>
          <p:nvPr/>
        </p:nvSpPr>
        <p:spPr>
          <a:xfrm>
            <a:off x="6873291" y="1512037"/>
            <a:ext cx="4589838" cy="322845"/>
          </a:xfrm>
          <a:prstGeom prst="rect">
            <a:avLst/>
          </a:prstGeom>
          <a:noFill/>
        </p:spPr>
        <p:txBody>
          <a:bodyPr wrap="square">
            <a:spAutoFit/>
          </a:bodyPr>
          <a:lstStyle/>
          <a:p>
            <a:pPr>
              <a:lnSpc>
                <a:spcPct val="107000"/>
              </a:lnSpc>
              <a:spcAft>
                <a:spcPts val="554"/>
              </a:spcAft>
            </a:pPr>
            <a:r>
              <a:rPr lang="es-ES" sz="1400" kern="100" dirty="0">
                <a:latin typeface="Avenir Next" panose="020B0503020202020204" pitchFamily="34" charset="0"/>
                <a:ea typeface="Aptos" panose="020B0004020202020204" pitchFamily="34" charset="0"/>
                <a:cs typeface="Times New Roman" panose="02020603050405020304" pitchFamily="18" charset="0"/>
              </a:rPr>
              <a:t>Explica 2 métodos de valoración aplicables</a:t>
            </a:r>
          </a:p>
        </p:txBody>
      </p:sp>
      <p:sp>
        <p:nvSpPr>
          <p:cNvPr id="9" name="Rectángulo 8">
            <a:extLst>
              <a:ext uri="{FF2B5EF4-FFF2-40B4-BE49-F238E27FC236}">
                <a16:creationId xmlns:a16="http://schemas.microsoft.com/office/drawing/2014/main" id="{7EA53106-998A-4F2F-FC23-20178026EEDF}"/>
              </a:ext>
            </a:extLst>
          </p:cNvPr>
          <p:cNvSpPr/>
          <p:nvPr/>
        </p:nvSpPr>
        <p:spPr>
          <a:xfrm>
            <a:off x="6469875" y="1512037"/>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2</a:t>
            </a:r>
          </a:p>
        </p:txBody>
      </p:sp>
      <p:sp>
        <p:nvSpPr>
          <p:cNvPr id="2" name="CuadroTexto 1">
            <a:extLst>
              <a:ext uri="{FF2B5EF4-FFF2-40B4-BE49-F238E27FC236}">
                <a16:creationId xmlns:a16="http://schemas.microsoft.com/office/drawing/2014/main" id="{9E1DD22E-6C4D-1BD2-EED1-E334D0D25B0A}"/>
              </a:ext>
            </a:extLst>
          </p:cNvPr>
          <p:cNvSpPr txBox="1"/>
          <p:nvPr/>
        </p:nvSpPr>
        <p:spPr>
          <a:xfrm>
            <a:off x="1254368" y="2136834"/>
            <a:ext cx="4656102" cy="1200329"/>
          </a:xfrm>
          <a:prstGeom prst="rect">
            <a:avLst/>
          </a:prstGeom>
          <a:noFill/>
        </p:spPr>
        <p:txBody>
          <a:bodyPr wrap="square" rtlCol="0">
            <a:spAutoFit/>
          </a:bodyPr>
          <a:lstStyle/>
          <a:p>
            <a:r>
              <a:rPr lang="es-CL" sz="1200" dirty="0">
                <a:latin typeface="Avenir Next" panose="020B0503020202020204" pitchFamily="34" charset="0"/>
              </a:rPr>
              <a:t>La etapa de validación consiste en validar el problema (validado por las ventas de autos eléctricos y su necesidad de carga), y luego cliente - solución de un modelo de negocios (</a:t>
            </a:r>
            <a:r>
              <a:rPr lang="es-CL" sz="1200" i="1" dirty="0" err="1">
                <a:latin typeface="Avenir Next" panose="020B0503020202020204" pitchFamily="34" charset="0"/>
              </a:rPr>
              <a:t>product</a:t>
            </a:r>
            <a:r>
              <a:rPr lang="es-CL" sz="1200" i="1" dirty="0">
                <a:latin typeface="Avenir Next" panose="020B0503020202020204" pitchFamily="34" charset="0"/>
              </a:rPr>
              <a:t> </a:t>
            </a:r>
            <a:r>
              <a:rPr lang="es-CL" sz="1200" i="1" dirty="0" err="1">
                <a:latin typeface="Avenir Next" panose="020B0503020202020204" pitchFamily="34" charset="0"/>
              </a:rPr>
              <a:t>market</a:t>
            </a:r>
            <a:r>
              <a:rPr lang="es-CL" sz="1200" i="1" dirty="0">
                <a:latin typeface="Avenir Next" panose="020B0503020202020204" pitchFamily="34" charset="0"/>
              </a:rPr>
              <a:t> </a:t>
            </a:r>
            <a:r>
              <a:rPr lang="es-CL" sz="1200" i="1" dirty="0" err="1">
                <a:latin typeface="Avenir Next" panose="020B0503020202020204" pitchFamily="34" charset="0"/>
              </a:rPr>
              <a:t>fit</a:t>
            </a:r>
            <a:r>
              <a:rPr lang="es-CL" sz="1200" dirty="0">
                <a:latin typeface="Avenir Next" panose="020B0503020202020204" pitchFamily="34" charset="0"/>
              </a:rPr>
              <a:t>) en 3 temas: factibilidad, deseabilidad y viabilidad, y esto se debe hacer a través de experimentos. Entonces son ejemplos de hipótesis a validar:</a:t>
            </a:r>
          </a:p>
        </p:txBody>
      </p:sp>
      <p:graphicFrame>
        <p:nvGraphicFramePr>
          <p:cNvPr id="3" name="Tabla 2">
            <a:extLst>
              <a:ext uri="{FF2B5EF4-FFF2-40B4-BE49-F238E27FC236}">
                <a16:creationId xmlns:a16="http://schemas.microsoft.com/office/drawing/2014/main" id="{CDA3910E-B43B-1667-90DC-D5BED66051CE}"/>
              </a:ext>
            </a:extLst>
          </p:cNvPr>
          <p:cNvGraphicFramePr>
            <a:graphicFrameLocks noGrp="1"/>
          </p:cNvGraphicFramePr>
          <p:nvPr>
            <p:extLst>
              <p:ext uri="{D42A27DB-BD31-4B8C-83A1-F6EECF244321}">
                <p14:modId xmlns:p14="http://schemas.microsoft.com/office/powerpoint/2010/main" val="3531460256"/>
              </p:ext>
            </p:extLst>
          </p:nvPr>
        </p:nvGraphicFramePr>
        <p:xfrm>
          <a:off x="1254368" y="3408603"/>
          <a:ext cx="4656102" cy="1698672"/>
        </p:xfrm>
        <a:graphic>
          <a:graphicData uri="http://schemas.openxmlformats.org/drawingml/2006/table">
            <a:tbl>
              <a:tblPr firstRow="1" bandRow="1">
                <a:tableStyleId>{5940675A-B579-460E-94D1-54222C63F5DA}</a:tableStyleId>
              </a:tblPr>
              <a:tblGrid>
                <a:gridCol w="959197">
                  <a:extLst>
                    <a:ext uri="{9D8B030D-6E8A-4147-A177-3AD203B41FA5}">
                      <a16:colId xmlns:a16="http://schemas.microsoft.com/office/drawing/2014/main" val="1886545485"/>
                    </a:ext>
                  </a:extLst>
                </a:gridCol>
                <a:gridCol w="3696905">
                  <a:extLst>
                    <a:ext uri="{9D8B030D-6E8A-4147-A177-3AD203B41FA5}">
                      <a16:colId xmlns:a16="http://schemas.microsoft.com/office/drawing/2014/main" val="1182755181"/>
                    </a:ext>
                  </a:extLst>
                </a:gridCol>
              </a:tblGrid>
              <a:tr h="295422">
                <a:tc>
                  <a:txBody>
                    <a:bodyPr/>
                    <a:lstStyle/>
                    <a:p>
                      <a:r>
                        <a:rPr lang="es-CL" sz="1100">
                          <a:latin typeface="Avenir Next" panose="020B0503020202020204" pitchFamily="34" charset="0"/>
                        </a:rPr>
                        <a:t>Hipótesis de factibilidad</a:t>
                      </a:r>
                    </a:p>
                  </a:txBody>
                  <a:tcPr marL="63305" marR="63305" marT="31652" marB="31652"/>
                </a:tc>
                <a:tc>
                  <a:txBody>
                    <a:bodyPr/>
                    <a:lstStyle/>
                    <a:p>
                      <a:r>
                        <a:rPr lang="es-CL" sz="1100">
                          <a:latin typeface="Avenir Next" panose="020B0503020202020204" pitchFamily="34" charset="0"/>
                        </a:rPr>
                        <a:t>¿Es posible implementar puntos de carga rápida usando poco espacio en lugares dispersos y con cobro automático?</a:t>
                      </a:r>
                    </a:p>
                  </a:txBody>
                  <a:tcPr marL="63305" marR="63305" marT="31652" marB="31652"/>
                </a:tc>
                <a:extLst>
                  <a:ext uri="{0D108BD9-81ED-4DB2-BD59-A6C34878D82A}">
                    <a16:rowId xmlns:a16="http://schemas.microsoft.com/office/drawing/2014/main" val="3917943769"/>
                  </a:ext>
                </a:extLst>
              </a:tr>
              <a:tr h="295422">
                <a:tc>
                  <a:txBody>
                    <a:bodyPr/>
                    <a:lstStyle/>
                    <a:p>
                      <a:r>
                        <a:rPr lang="es-CL" sz="1100">
                          <a:latin typeface="Avenir Next" panose="020B0503020202020204" pitchFamily="34" charset="0"/>
                        </a:rPr>
                        <a:t>Hipótesis de deseabilidad</a:t>
                      </a:r>
                    </a:p>
                  </a:txBody>
                  <a:tcPr marL="63305" marR="63305" marT="31652" marB="31652"/>
                </a:tc>
                <a:tc>
                  <a:txBody>
                    <a:bodyPr/>
                    <a:lstStyle/>
                    <a:p>
                      <a:r>
                        <a:rPr lang="es-CL" sz="1100">
                          <a:latin typeface="Avenir Next" panose="020B0503020202020204" pitchFamily="34" charset="0"/>
                        </a:rPr>
                        <a:t>¿Los dueños de autos eléctricos buscan lugares externos a sus hogares para cargar los vehículos? o ¿basta con la carga casera?</a:t>
                      </a:r>
                    </a:p>
                  </a:txBody>
                  <a:tcPr marL="63305" marR="63305" marT="31652" marB="31652"/>
                </a:tc>
                <a:extLst>
                  <a:ext uri="{0D108BD9-81ED-4DB2-BD59-A6C34878D82A}">
                    <a16:rowId xmlns:a16="http://schemas.microsoft.com/office/drawing/2014/main" val="825675258"/>
                  </a:ext>
                </a:extLst>
              </a:tr>
              <a:tr h="295422">
                <a:tc>
                  <a:txBody>
                    <a:bodyPr/>
                    <a:lstStyle/>
                    <a:p>
                      <a:r>
                        <a:rPr lang="es-CL" sz="1100">
                          <a:latin typeface="Avenir Next" panose="020B0503020202020204" pitchFamily="34" charset="0"/>
                        </a:rPr>
                        <a:t>Hipótesis de viabilidad</a:t>
                      </a:r>
                    </a:p>
                  </a:txBody>
                  <a:tcPr marL="63305" marR="63305" marT="31652" marB="31652"/>
                </a:tc>
                <a:tc>
                  <a:txBody>
                    <a:bodyPr/>
                    <a:lstStyle/>
                    <a:p>
                      <a:r>
                        <a:rPr lang="es-CL" sz="1100" dirty="0">
                          <a:latin typeface="Avenir Next" panose="020B0503020202020204" pitchFamily="34" charset="0"/>
                        </a:rPr>
                        <a:t>¿Los puntos de carretera pagan su implementación? O ¿En que lugares hay puntos de carga rentables? ¿Bajo que modelo?</a:t>
                      </a:r>
                    </a:p>
                  </a:txBody>
                  <a:tcPr marL="63305" marR="63305" marT="31652" marB="31652"/>
                </a:tc>
                <a:extLst>
                  <a:ext uri="{0D108BD9-81ED-4DB2-BD59-A6C34878D82A}">
                    <a16:rowId xmlns:a16="http://schemas.microsoft.com/office/drawing/2014/main" val="3930696198"/>
                  </a:ext>
                </a:extLst>
              </a:tr>
            </a:tbl>
          </a:graphicData>
        </a:graphic>
      </p:graphicFrame>
      <p:sp>
        <p:nvSpPr>
          <p:cNvPr id="5" name="CuadroTexto 4">
            <a:extLst>
              <a:ext uri="{FF2B5EF4-FFF2-40B4-BE49-F238E27FC236}">
                <a16:creationId xmlns:a16="http://schemas.microsoft.com/office/drawing/2014/main" id="{43B960C9-1CEA-9F73-B629-98E2F5EA7177}"/>
              </a:ext>
            </a:extLst>
          </p:cNvPr>
          <p:cNvSpPr txBox="1"/>
          <p:nvPr/>
        </p:nvSpPr>
        <p:spPr>
          <a:xfrm>
            <a:off x="1254368" y="5178715"/>
            <a:ext cx="4656102" cy="646331"/>
          </a:xfrm>
          <a:prstGeom prst="rect">
            <a:avLst/>
          </a:prstGeom>
          <a:noFill/>
        </p:spPr>
        <p:txBody>
          <a:bodyPr wrap="square" rtlCol="0">
            <a:spAutoFit/>
          </a:bodyPr>
          <a:lstStyle/>
          <a:p>
            <a:r>
              <a:rPr lang="es-CL" sz="1200" dirty="0">
                <a:latin typeface="Avenir Next" panose="020B0503020202020204" pitchFamily="34" charset="0"/>
              </a:rPr>
              <a:t>Los inversionistas podrían exigir experimentos robustos que entreguen evidencia contundente respecto de las hipótesis planteadas.</a:t>
            </a:r>
          </a:p>
        </p:txBody>
      </p:sp>
      <p:sp>
        <p:nvSpPr>
          <p:cNvPr id="10" name="Rectángulo 9">
            <a:extLst>
              <a:ext uri="{FF2B5EF4-FFF2-40B4-BE49-F238E27FC236}">
                <a16:creationId xmlns:a16="http://schemas.microsoft.com/office/drawing/2014/main" id="{60672DA8-7812-8CE6-E4AD-17FFA615C457}"/>
              </a:ext>
            </a:extLst>
          </p:cNvPr>
          <p:cNvSpPr/>
          <p:nvPr/>
        </p:nvSpPr>
        <p:spPr>
          <a:xfrm>
            <a:off x="6873291" y="3047017"/>
            <a:ext cx="1186962" cy="7694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CL" sz="969">
                <a:latin typeface="Avenir Next" panose="020B0503020202020204" pitchFamily="34" charset="0"/>
              </a:rPr>
              <a:t>Comparables infraestructura </a:t>
            </a:r>
            <a:r>
              <a:rPr lang="es-CL" sz="969" err="1">
                <a:latin typeface="Avenir Next" panose="020B0503020202020204" pitchFamily="34" charset="0"/>
              </a:rPr>
              <a:t>tech</a:t>
            </a:r>
            <a:endParaRPr lang="es-CL" sz="969">
              <a:latin typeface="Avenir Next" panose="020B0503020202020204" pitchFamily="34" charset="0"/>
            </a:endParaRPr>
          </a:p>
        </p:txBody>
      </p:sp>
      <p:sp>
        <p:nvSpPr>
          <p:cNvPr id="11" name="CuadroTexto 10">
            <a:extLst>
              <a:ext uri="{FF2B5EF4-FFF2-40B4-BE49-F238E27FC236}">
                <a16:creationId xmlns:a16="http://schemas.microsoft.com/office/drawing/2014/main" id="{2F3C11DE-A914-CF88-4A12-AA5494EE2B98}"/>
              </a:ext>
            </a:extLst>
          </p:cNvPr>
          <p:cNvSpPr txBox="1"/>
          <p:nvPr/>
        </p:nvSpPr>
        <p:spPr>
          <a:xfrm>
            <a:off x="8140482" y="3047016"/>
            <a:ext cx="3322645" cy="769441"/>
          </a:xfrm>
          <a:prstGeom prst="rect">
            <a:avLst/>
          </a:prstGeom>
          <a:noFill/>
        </p:spPr>
        <p:txBody>
          <a:bodyPr wrap="square" rtlCol="0">
            <a:spAutoFit/>
          </a:bodyPr>
          <a:lstStyle>
            <a:defPPr>
              <a:defRPr lang="en-US"/>
            </a:defPPr>
            <a:lvl1pPr>
              <a:defRPr sz="1200">
                <a:latin typeface="Avenir Next" panose="020B0503020202020204" pitchFamily="34" charset="0"/>
              </a:defRPr>
            </a:lvl1pPr>
          </a:lstStyle>
          <a:p>
            <a:r>
              <a:rPr lang="es-CL" sz="1100" b="1" dirty="0"/>
              <a:t>Por comparación </a:t>
            </a:r>
            <a:r>
              <a:rPr lang="es-CL" sz="1100" dirty="0"/>
              <a:t>se puede tomar ejemplos de sistemas en países donde ha avanzado la electromovilidad, y su sistema de carga distribuido.</a:t>
            </a:r>
          </a:p>
        </p:txBody>
      </p:sp>
      <p:sp>
        <p:nvSpPr>
          <p:cNvPr id="12" name="Rectángulo 11">
            <a:extLst>
              <a:ext uri="{FF2B5EF4-FFF2-40B4-BE49-F238E27FC236}">
                <a16:creationId xmlns:a16="http://schemas.microsoft.com/office/drawing/2014/main" id="{93D88793-8194-1D9B-D588-3B7FF63FCA5C}"/>
              </a:ext>
            </a:extLst>
          </p:cNvPr>
          <p:cNvSpPr/>
          <p:nvPr/>
        </p:nvSpPr>
        <p:spPr>
          <a:xfrm>
            <a:off x="6873291" y="1972562"/>
            <a:ext cx="1186962" cy="938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CL" sz="1246">
                <a:latin typeface="Avenir Next" panose="020B0503020202020204" pitchFamily="34" charset="0"/>
              </a:rPr>
              <a:t>DFC</a:t>
            </a:r>
          </a:p>
          <a:p>
            <a:pPr algn="ctr"/>
            <a:r>
              <a:rPr lang="es-CL" sz="831">
                <a:latin typeface="Avenir Next" panose="020B0503020202020204" pitchFamily="34" charset="0"/>
              </a:rPr>
              <a:t>Descuento de flujo de caja</a:t>
            </a:r>
          </a:p>
        </p:txBody>
      </p:sp>
      <p:sp>
        <p:nvSpPr>
          <p:cNvPr id="13" name="CuadroTexto 12">
            <a:extLst>
              <a:ext uri="{FF2B5EF4-FFF2-40B4-BE49-F238E27FC236}">
                <a16:creationId xmlns:a16="http://schemas.microsoft.com/office/drawing/2014/main" id="{D3844E01-1213-E8E2-7D4E-60168C498795}"/>
              </a:ext>
            </a:extLst>
          </p:cNvPr>
          <p:cNvSpPr txBox="1"/>
          <p:nvPr/>
        </p:nvSpPr>
        <p:spPr>
          <a:xfrm>
            <a:off x="8140484" y="1972563"/>
            <a:ext cx="3322645" cy="938719"/>
          </a:xfrm>
          <a:prstGeom prst="rect">
            <a:avLst/>
          </a:prstGeom>
          <a:noFill/>
        </p:spPr>
        <p:txBody>
          <a:bodyPr wrap="square" rtlCol="0">
            <a:spAutoFit/>
          </a:bodyPr>
          <a:lstStyle/>
          <a:p>
            <a:r>
              <a:rPr lang="es-CL" sz="1100" dirty="0">
                <a:latin typeface="Avenir Next" panose="020B0503020202020204" pitchFamily="34" charset="0"/>
              </a:rPr>
              <a:t>Lo más correcto es por </a:t>
            </a:r>
            <a:r>
              <a:rPr lang="es-CL" sz="1100" b="1" dirty="0">
                <a:latin typeface="Avenir Next" panose="020B0503020202020204" pitchFamily="34" charset="0"/>
              </a:rPr>
              <a:t>flujo de caja descontado</a:t>
            </a:r>
            <a:r>
              <a:rPr lang="es-CL" sz="1100" dirty="0">
                <a:latin typeface="Avenir Next" panose="020B0503020202020204" pitchFamily="34" charset="0"/>
              </a:rPr>
              <a:t>. Al ser un emprendimiento basado en inversiones en puntos de carga, se puede pensar la expansión por ciudades o avance de autos eléctricos, y mercados.</a:t>
            </a:r>
          </a:p>
        </p:txBody>
      </p:sp>
      <p:sp>
        <p:nvSpPr>
          <p:cNvPr id="14" name="Rectángulo 13">
            <a:extLst>
              <a:ext uri="{FF2B5EF4-FFF2-40B4-BE49-F238E27FC236}">
                <a16:creationId xmlns:a16="http://schemas.microsoft.com/office/drawing/2014/main" id="{F25EAA84-BAAB-3666-406B-B7A041098CA2}"/>
              </a:ext>
            </a:extLst>
          </p:cNvPr>
          <p:cNvSpPr/>
          <p:nvPr/>
        </p:nvSpPr>
        <p:spPr>
          <a:xfrm>
            <a:off x="6873291" y="3946719"/>
            <a:ext cx="1186962" cy="1107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CL" sz="969">
                <a:latin typeface="Avenir Next" panose="020B0503020202020204" pitchFamily="34" charset="0"/>
              </a:rPr>
              <a:t>Multiplicadores</a:t>
            </a:r>
          </a:p>
          <a:p>
            <a:pPr algn="ctr"/>
            <a:r>
              <a:rPr lang="es-CL" sz="969">
                <a:latin typeface="Avenir Next" panose="020B0503020202020204" pitchFamily="34" charset="0"/>
              </a:rPr>
              <a:t>EBIDTA</a:t>
            </a:r>
          </a:p>
        </p:txBody>
      </p:sp>
      <p:sp>
        <p:nvSpPr>
          <p:cNvPr id="15" name="CuadroTexto 14">
            <a:extLst>
              <a:ext uri="{FF2B5EF4-FFF2-40B4-BE49-F238E27FC236}">
                <a16:creationId xmlns:a16="http://schemas.microsoft.com/office/drawing/2014/main" id="{912A8ECD-5469-4CE0-15C4-785A3E008DD6}"/>
              </a:ext>
            </a:extLst>
          </p:cNvPr>
          <p:cNvSpPr txBox="1"/>
          <p:nvPr/>
        </p:nvSpPr>
        <p:spPr>
          <a:xfrm>
            <a:off x="8140483" y="3946719"/>
            <a:ext cx="3322644" cy="1107996"/>
          </a:xfrm>
          <a:prstGeom prst="rect">
            <a:avLst/>
          </a:prstGeom>
          <a:noFill/>
        </p:spPr>
        <p:txBody>
          <a:bodyPr wrap="square" rtlCol="0">
            <a:spAutoFit/>
          </a:bodyPr>
          <a:lstStyle>
            <a:defPPr>
              <a:defRPr lang="en-US"/>
            </a:defPPr>
            <a:lvl1pPr>
              <a:defRPr sz="1200">
                <a:latin typeface="Avenir Next" panose="020B0503020202020204" pitchFamily="34" charset="0"/>
              </a:defRPr>
            </a:lvl1pPr>
          </a:lstStyle>
          <a:p>
            <a:r>
              <a:rPr lang="es-CL" sz="1100" dirty="0"/>
              <a:t>Se puede asumir un avance del flujo de caja, y metas de </a:t>
            </a:r>
            <a:r>
              <a:rPr lang="es-CL" sz="1100" b="1" dirty="0"/>
              <a:t>EBIDTA</a:t>
            </a:r>
            <a:r>
              <a:rPr lang="es-CL" sz="1100" dirty="0"/>
              <a:t>. Es una integración de los métodos anteriores, se genera un flujo y se obtienen EBIDTA, comparando con países donde existe electromovilidad distribuida (Estados Unidos, California, China).</a:t>
            </a:r>
          </a:p>
        </p:txBody>
      </p:sp>
    </p:spTree>
    <p:extLst>
      <p:ext uri="{BB962C8B-B14F-4D97-AF65-F5344CB8AC3E}">
        <p14:creationId xmlns:p14="http://schemas.microsoft.com/office/powerpoint/2010/main" val="3003090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88E6D-5787-D1E1-8A1A-F5DA8F71F83D}"/>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4F78A111-17B8-C590-76B4-5FC1E1CB3582}"/>
              </a:ext>
            </a:extLst>
          </p:cNvPr>
          <p:cNvSpPr txBox="1">
            <a:spLocks/>
          </p:cNvSpPr>
          <p:nvPr/>
        </p:nvSpPr>
        <p:spPr>
          <a:xfrm>
            <a:off x="764130" y="575222"/>
            <a:ext cx="4251866" cy="65783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CL" sz="2285" dirty="0">
                <a:latin typeface="Avenir Next" panose="020B0503020202020204" pitchFamily="34" charset="0"/>
              </a:rPr>
              <a:t>Guía de ejercicios</a:t>
            </a:r>
            <a:br>
              <a:rPr lang="es-CL" sz="2285" dirty="0">
                <a:latin typeface="Avenir Next" panose="020B0503020202020204" pitchFamily="34" charset="0"/>
              </a:rPr>
            </a:br>
            <a:r>
              <a:rPr lang="es-CL" sz="1246" b="1" dirty="0">
                <a:latin typeface="Avenir Next" panose="020B0503020202020204" pitchFamily="34" charset="0"/>
              </a:rPr>
              <a:t>SOLUCIÓN EJERCICIO 7</a:t>
            </a:r>
          </a:p>
        </p:txBody>
      </p:sp>
      <p:sp>
        <p:nvSpPr>
          <p:cNvPr id="6" name="CuadroTexto 5">
            <a:extLst>
              <a:ext uri="{FF2B5EF4-FFF2-40B4-BE49-F238E27FC236}">
                <a16:creationId xmlns:a16="http://schemas.microsoft.com/office/drawing/2014/main" id="{61F0980A-6BEB-8EB4-962B-CBD97140DB29}"/>
              </a:ext>
            </a:extLst>
          </p:cNvPr>
          <p:cNvSpPr txBox="1"/>
          <p:nvPr/>
        </p:nvSpPr>
        <p:spPr>
          <a:xfrm>
            <a:off x="1174856" y="1233052"/>
            <a:ext cx="4653287" cy="783869"/>
          </a:xfrm>
          <a:prstGeom prst="rect">
            <a:avLst/>
          </a:prstGeom>
          <a:noFill/>
        </p:spPr>
        <p:txBody>
          <a:bodyPr wrap="square">
            <a:spAutoFit/>
          </a:bodyPr>
          <a:lstStyle/>
          <a:p>
            <a:pPr>
              <a:lnSpc>
                <a:spcPct val="107000"/>
              </a:lnSpc>
              <a:spcAft>
                <a:spcPts val="554"/>
              </a:spcAft>
            </a:pPr>
            <a:r>
              <a:rPr lang="es-ES" sz="1400" kern="100" dirty="0">
                <a:latin typeface="Avenir Next" panose="020B0503020202020204" pitchFamily="34" charset="0"/>
                <a:ea typeface="Aptos" panose="020B0004020202020204" pitchFamily="34" charset="0"/>
                <a:cs typeface="Times New Roman" panose="02020603050405020304" pitchFamily="18" charset="0"/>
              </a:rPr>
              <a:t>Construya el flujo esperado a 3 años. ¿Cómo avanza la valorización? Ocupe múltiplos de EBIDTA 7 y 10 ¿Por qué podría variar el multiplicador de EBIDTA?</a:t>
            </a:r>
          </a:p>
        </p:txBody>
      </p:sp>
      <p:sp>
        <p:nvSpPr>
          <p:cNvPr id="7" name="Rectángulo 6">
            <a:extLst>
              <a:ext uri="{FF2B5EF4-FFF2-40B4-BE49-F238E27FC236}">
                <a16:creationId xmlns:a16="http://schemas.microsoft.com/office/drawing/2014/main" id="{8AE6AD10-3DA4-71BA-4CDB-29B51B8C6BE0}"/>
              </a:ext>
            </a:extLst>
          </p:cNvPr>
          <p:cNvSpPr/>
          <p:nvPr/>
        </p:nvSpPr>
        <p:spPr>
          <a:xfrm>
            <a:off x="771440" y="1233051"/>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3</a:t>
            </a:r>
          </a:p>
        </p:txBody>
      </p:sp>
      <p:sp>
        <p:nvSpPr>
          <p:cNvPr id="8" name="CuadroTexto 7">
            <a:extLst>
              <a:ext uri="{FF2B5EF4-FFF2-40B4-BE49-F238E27FC236}">
                <a16:creationId xmlns:a16="http://schemas.microsoft.com/office/drawing/2014/main" id="{EB3C89BB-F573-58D1-3514-40B1916A8C52}"/>
              </a:ext>
            </a:extLst>
          </p:cNvPr>
          <p:cNvSpPr txBox="1"/>
          <p:nvPr/>
        </p:nvSpPr>
        <p:spPr>
          <a:xfrm>
            <a:off x="6767274" y="1233051"/>
            <a:ext cx="4660596" cy="1244893"/>
          </a:xfrm>
          <a:prstGeom prst="rect">
            <a:avLst/>
          </a:prstGeom>
          <a:noFill/>
        </p:spPr>
        <p:txBody>
          <a:bodyPr wrap="square">
            <a:spAutoFit/>
          </a:bodyPr>
          <a:lstStyle/>
          <a:p>
            <a:pPr>
              <a:lnSpc>
                <a:spcPct val="107000"/>
              </a:lnSpc>
              <a:spcAft>
                <a:spcPts val="554"/>
              </a:spcAft>
            </a:pPr>
            <a:r>
              <a:rPr lang="es-ES" sz="1400" kern="100" dirty="0">
                <a:latin typeface="Avenir Next" panose="020B0503020202020204" pitchFamily="34" charset="0"/>
                <a:ea typeface="Aptos" panose="020B0004020202020204" pitchFamily="34" charset="0"/>
                <a:cs typeface="Times New Roman" panose="02020603050405020304" pitchFamily="18" charset="0"/>
              </a:rPr>
              <a:t>Si se ocupa para el levantamiento de capital el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premoney</a:t>
            </a:r>
            <a:r>
              <a:rPr lang="es-ES" sz="1400" kern="100" dirty="0">
                <a:latin typeface="Avenir Next" panose="020B0503020202020204" pitchFamily="34" charset="0"/>
                <a:ea typeface="Aptos" panose="020B0004020202020204" pitchFamily="34" charset="0"/>
                <a:cs typeface="Times New Roman" panose="02020603050405020304" pitchFamily="18" charset="0"/>
              </a:rPr>
              <a:t> optimista del año 3 y se espera levantar USD$ 2.000.000.-, calcula el % para el inversionista. ¿Cómo se puede levantar ese capital contra una valorización en el año 3?</a:t>
            </a:r>
          </a:p>
        </p:txBody>
      </p:sp>
      <p:sp>
        <p:nvSpPr>
          <p:cNvPr id="9" name="Rectángulo 8">
            <a:extLst>
              <a:ext uri="{FF2B5EF4-FFF2-40B4-BE49-F238E27FC236}">
                <a16:creationId xmlns:a16="http://schemas.microsoft.com/office/drawing/2014/main" id="{5FF48B4C-DF89-EE9C-2D11-63E4C75FB2C6}"/>
              </a:ext>
            </a:extLst>
          </p:cNvPr>
          <p:cNvSpPr/>
          <p:nvPr/>
        </p:nvSpPr>
        <p:spPr>
          <a:xfrm>
            <a:off x="6363858" y="1233051"/>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4</a:t>
            </a:r>
          </a:p>
        </p:txBody>
      </p:sp>
      <p:graphicFrame>
        <p:nvGraphicFramePr>
          <p:cNvPr id="2" name="Tabla 1">
            <a:extLst>
              <a:ext uri="{FF2B5EF4-FFF2-40B4-BE49-F238E27FC236}">
                <a16:creationId xmlns:a16="http://schemas.microsoft.com/office/drawing/2014/main" id="{CE4EDD8F-6AE4-C3E4-38B6-87CC87629729}"/>
              </a:ext>
            </a:extLst>
          </p:cNvPr>
          <p:cNvGraphicFramePr>
            <a:graphicFrameLocks noGrp="1"/>
          </p:cNvGraphicFramePr>
          <p:nvPr>
            <p:extLst>
              <p:ext uri="{D42A27DB-BD31-4B8C-83A1-F6EECF244321}">
                <p14:modId xmlns:p14="http://schemas.microsoft.com/office/powerpoint/2010/main" val="3502747980"/>
              </p:ext>
            </p:extLst>
          </p:nvPr>
        </p:nvGraphicFramePr>
        <p:xfrm>
          <a:off x="1174856" y="3223018"/>
          <a:ext cx="4653288" cy="1616608"/>
        </p:xfrm>
        <a:graphic>
          <a:graphicData uri="http://schemas.openxmlformats.org/drawingml/2006/table">
            <a:tbl>
              <a:tblPr firstRow="1" bandRow="1">
                <a:tableStyleId>{5940675A-B579-460E-94D1-54222C63F5DA}</a:tableStyleId>
              </a:tblPr>
              <a:tblGrid>
                <a:gridCol w="1568344">
                  <a:extLst>
                    <a:ext uri="{9D8B030D-6E8A-4147-A177-3AD203B41FA5}">
                      <a16:colId xmlns:a16="http://schemas.microsoft.com/office/drawing/2014/main" val="1259915920"/>
                    </a:ext>
                  </a:extLst>
                </a:gridCol>
                <a:gridCol w="980661">
                  <a:extLst>
                    <a:ext uri="{9D8B030D-6E8A-4147-A177-3AD203B41FA5}">
                      <a16:colId xmlns:a16="http://schemas.microsoft.com/office/drawing/2014/main" val="3322569709"/>
                    </a:ext>
                  </a:extLst>
                </a:gridCol>
                <a:gridCol w="1099930">
                  <a:extLst>
                    <a:ext uri="{9D8B030D-6E8A-4147-A177-3AD203B41FA5}">
                      <a16:colId xmlns:a16="http://schemas.microsoft.com/office/drawing/2014/main" val="3693269281"/>
                    </a:ext>
                  </a:extLst>
                </a:gridCol>
                <a:gridCol w="1004353">
                  <a:extLst>
                    <a:ext uri="{9D8B030D-6E8A-4147-A177-3AD203B41FA5}">
                      <a16:colId xmlns:a16="http://schemas.microsoft.com/office/drawing/2014/main" val="3112868258"/>
                    </a:ext>
                  </a:extLst>
                </a:gridCol>
              </a:tblGrid>
              <a:tr h="220890">
                <a:tc>
                  <a:txBody>
                    <a:bodyPr/>
                    <a:lstStyle/>
                    <a:p>
                      <a:pPr algn="ctr"/>
                      <a:r>
                        <a:rPr lang="es-CL" sz="1100" b="1">
                          <a:latin typeface="Avenir Next" panose="020B0503020202020204" pitchFamily="34" charset="0"/>
                        </a:rPr>
                        <a:t>ITEM/ AÑO</a:t>
                      </a:r>
                    </a:p>
                  </a:txBody>
                  <a:tcPr marL="63305" marR="63305" marT="31652" marB="31652" anchor="ctr"/>
                </a:tc>
                <a:tc>
                  <a:txBody>
                    <a:bodyPr/>
                    <a:lstStyle/>
                    <a:p>
                      <a:pPr algn="ctr"/>
                      <a:r>
                        <a:rPr lang="es-CL" sz="1100" b="1">
                          <a:latin typeface="Avenir Next" panose="020B0503020202020204" pitchFamily="34" charset="0"/>
                        </a:rPr>
                        <a:t>AÑO 1</a:t>
                      </a:r>
                    </a:p>
                  </a:txBody>
                  <a:tcPr marL="63305" marR="63305" marT="31652" marB="31652" anchor="ctr"/>
                </a:tc>
                <a:tc>
                  <a:txBody>
                    <a:bodyPr/>
                    <a:lstStyle/>
                    <a:p>
                      <a:pPr algn="ctr"/>
                      <a:r>
                        <a:rPr lang="es-CL" sz="1100" b="1">
                          <a:latin typeface="Avenir Next" panose="020B0503020202020204" pitchFamily="34" charset="0"/>
                        </a:rPr>
                        <a:t>AÑO 2</a:t>
                      </a:r>
                    </a:p>
                  </a:txBody>
                  <a:tcPr marL="63305" marR="63305" marT="31652" marB="31652" anchor="ctr"/>
                </a:tc>
                <a:tc>
                  <a:txBody>
                    <a:bodyPr/>
                    <a:lstStyle/>
                    <a:p>
                      <a:pPr algn="ctr"/>
                      <a:r>
                        <a:rPr lang="es-CL" sz="1100" b="1">
                          <a:latin typeface="Avenir Next" panose="020B0503020202020204" pitchFamily="34" charset="0"/>
                        </a:rPr>
                        <a:t>AÑO 3</a:t>
                      </a:r>
                    </a:p>
                  </a:txBody>
                  <a:tcPr marL="63305" marR="63305" marT="31652" marB="31652" anchor="ctr"/>
                </a:tc>
                <a:extLst>
                  <a:ext uri="{0D108BD9-81ED-4DB2-BD59-A6C34878D82A}">
                    <a16:rowId xmlns:a16="http://schemas.microsoft.com/office/drawing/2014/main" val="3546111711"/>
                  </a:ext>
                </a:extLst>
              </a:tr>
              <a:tr h="220890">
                <a:tc>
                  <a:txBody>
                    <a:bodyPr/>
                    <a:lstStyle/>
                    <a:p>
                      <a:r>
                        <a:rPr lang="es-CL" sz="1100">
                          <a:latin typeface="Avenir Next" panose="020B0503020202020204" pitchFamily="34" charset="0"/>
                        </a:rPr>
                        <a:t>Puntos en operación</a:t>
                      </a:r>
                    </a:p>
                  </a:txBody>
                  <a:tcPr marL="63305" marR="63305" marT="31652" marB="31652" anchor="ctr"/>
                </a:tc>
                <a:tc>
                  <a:txBody>
                    <a:bodyPr/>
                    <a:lstStyle/>
                    <a:p>
                      <a:pPr algn="r"/>
                      <a:r>
                        <a:rPr lang="es-CL" sz="1100">
                          <a:latin typeface="Avenir Next" panose="020B0503020202020204" pitchFamily="34" charset="0"/>
                        </a:rPr>
                        <a:t>5</a:t>
                      </a:r>
                    </a:p>
                  </a:txBody>
                  <a:tcPr marL="63305" marR="63305" marT="31652" marB="31652" anchor="ctr"/>
                </a:tc>
                <a:tc>
                  <a:txBody>
                    <a:bodyPr/>
                    <a:lstStyle/>
                    <a:p>
                      <a:pPr algn="r"/>
                      <a:r>
                        <a:rPr lang="es-CL" sz="1100">
                          <a:latin typeface="Avenir Next" panose="020B0503020202020204" pitchFamily="34" charset="0"/>
                        </a:rPr>
                        <a:t>25</a:t>
                      </a:r>
                    </a:p>
                  </a:txBody>
                  <a:tcPr marL="63305" marR="63305" marT="31652" marB="31652" anchor="ctr"/>
                </a:tc>
                <a:tc>
                  <a:txBody>
                    <a:bodyPr/>
                    <a:lstStyle/>
                    <a:p>
                      <a:pPr algn="r"/>
                      <a:r>
                        <a:rPr lang="es-CL" sz="1100">
                          <a:latin typeface="Avenir Next" panose="020B0503020202020204" pitchFamily="34" charset="0"/>
                        </a:rPr>
                        <a:t>50</a:t>
                      </a:r>
                    </a:p>
                  </a:txBody>
                  <a:tcPr marL="63305" marR="63305" marT="31652" marB="31652" anchor="ctr"/>
                </a:tc>
                <a:extLst>
                  <a:ext uri="{0D108BD9-81ED-4DB2-BD59-A6C34878D82A}">
                    <a16:rowId xmlns:a16="http://schemas.microsoft.com/office/drawing/2014/main" val="160585144"/>
                  </a:ext>
                </a:extLst>
              </a:tr>
              <a:tr h="220890">
                <a:tc>
                  <a:txBody>
                    <a:bodyPr/>
                    <a:lstStyle/>
                    <a:p>
                      <a:r>
                        <a:rPr lang="es-CL" sz="1100">
                          <a:latin typeface="Avenir Next" panose="020B0503020202020204" pitchFamily="34" charset="0"/>
                        </a:rPr>
                        <a:t>Ingresos</a:t>
                      </a:r>
                    </a:p>
                  </a:txBody>
                  <a:tcPr marL="63305" marR="63305" marT="31652" marB="31652" anchor="ctr"/>
                </a:tc>
                <a:tc>
                  <a:txBody>
                    <a:bodyPr/>
                    <a:lstStyle/>
                    <a:p>
                      <a:pPr algn="r"/>
                      <a:r>
                        <a:rPr lang="es-CL" sz="1100">
                          <a:latin typeface="Avenir Next" panose="020B0503020202020204" pitchFamily="34" charset="0"/>
                        </a:rPr>
                        <a:t>100.000</a:t>
                      </a:r>
                    </a:p>
                  </a:txBody>
                  <a:tcPr marL="63305" marR="63305" marT="31652" marB="31652" anchor="ctr"/>
                </a:tc>
                <a:tc>
                  <a:txBody>
                    <a:bodyPr/>
                    <a:lstStyle/>
                    <a:p>
                      <a:pPr algn="r"/>
                      <a:r>
                        <a:rPr lang="es-CL" sz="1100">
                          <a:latin typeface="Avenir Next" panose="020B0503020202020204" pitchFamily="34" charset="0"/>
                        </a:rPr>
                        <a:t>1.250.000</a:t>
                      </a:r>
                    </a:p>
                  </a:txBody>
                  <a:tcPr marL="63305" marR="63305" marT="31652" marB="31652" anchor="ctr"/>
                </a:tc>
                <a:tc>
                  <a:txBody>
                    <a:bodyPr/>
                    <a:lstStyle/>
                    <a:p>
                      <a:pPr algn="r"/>
                      <a:r>
                        <a:rPr lang="es-CL" sz="1100">
                          <a:latin typeface="Avenir Next" panose="020B0503020202020204" pitchFamily="34" charset="0"/>
                        </a:rPr>
                        <a:t>2.500.000</a:t>
                      </a:r>
                    </a:p>
                  </a:txBody>
                  <a:tcPr marL="63305" marR="63305" marT="31652" marB="31652" anchor="ctr"/>
                </a:tc>
                <a:extLst>
                  <a:ext uri="{0D108BD9-81ED-4DB2-BD59-A6C34878D82A}">
                    <a16:rowId xmlns:a16="http://schemas.microsoft.com/office/drawing/2014/main" val="2798282800"/>
                  </a:ext>
                </a:extLst>
              </a:tr>
              <a:tr h="220890">
                <a:tc>
                  <a:txBody>
                    <a:bodyPr/>
                    <a:lstStyle/>
                    <a:p>
                      <a:r>
                        <a:rPr lang="es-CL" sz="1100">
                          <a:latin typeface="Avenir Next" panose="020B0503020202020204" pitchFamily="34" charset="0"/>
                        </a:rPr>
                        <a:t>Costos</a:t>
                      </a:r>
                    </a:p>
                  </a:txBody>
                  <a:tcPr marL="63305" marR="63305" marT="31652" marB="31652" anchor="ctr"/>
                </a:tc>
                <a:tc>
                  <a:txBody>
                    <a:bodyPr/>
                    <a:lstStyle/>
                    <a:p>
                      <a:pPr algn="r"/>
                      <a:r>
                        <a:rPr lang="es-CL" sz="1100">
                          <a:latin typeface="Avenir Next" panose="020B0503020202020204" pitchFamily="34" charset="0"/>
                        </a:rPr>
                        <a:t>90.000</a:t>
                      </a:r>
                    </a:p>
                  </a:txBody>
                  <a:tcPr marL="63305" marR="63305" marT="31652" marB="31652" anchor="ctr"/>
                </a:tc>
                <a:tc>
                  <a:txBody>
                    <a:bodyPr/>
                    <a:lstStyle/>
                    <a:p>
                      <a:pPr algn="r"/>
                      <a:r>
                        <a:rPr lang="es-CL" sz="1100">
                          <a:latin typeface="Avenir Next" panose="020B0503020202020204" pitchFamily="34" charset="0"/>
                        </a:rPr>
                        <a:t>1.000.000</a:t>
                      </a:r>
                    </a:p>
                  </a:txBody>
                  <a:tcPr marL="63305" marR="63305" marT="31652" marB="31652" anchor="ctr"/>
                </a:tc>
                <a:tc>
                  <a:txBody>
                    <a:bodyPr/>
                    <a:lstStyle/>
                    <a:p>
                      <a:pPr algn="r"/>
                      <a:r>
                        <a:rPr lang="es-CL" sz="1100">
                          <a:latin typeface="Avenir Next" panose="020B0503020202020204" pitchFamily="34" charset="0"/>
                        </a:rPr>
                        <a:t>1.750.000</a:t>
                      </a:r>
                    </a:p>
                  </a:txBody>
                  <a:tcPr marL="63305" marR="63305" marT="31652" marB="31652" anchor="ctr"/>
                </a:tc>
                <a:extLst>
                  <a:ext uri="{0D108BD9-81ED-4DB2-BD59-A6C34878D82A}">
                    <a16:rowId xmlns:a16="http://schemas.microsoft.com/office/drawing/2014/main" val="967213268"/>
                  </a:ext>
                </a:extLst>
              </a:tr>
              <a:tr h="220890">
                <a:tc>
                  <a:txBody>
                    <a:bodyPr/>
                    <a:lstStyle/>
                    <a:p>
                      <a:r>
                        <a:rPr lang="es-CL" sz="1100">
                          <a:latin typeface="Avenir Next" panose="020B0503020202020204" pitchFamily="34" charset="0"/>
                        </a:rPr>
                        <a:t>EBIDTA</a:t>
                      </a:r>
                    </a:p>
                  </a:txBody>
                  <a:tcPr marL="63305" marR="63305" marT="31652" marB="31652" anchor="ctr"/>
                </a:tc>
                <a:tc>
                  <a:txBody>
                    <a:bodyPr/>
                    <a:lstStyle/>
                    <a:p>
                      <a:pPr algn="r"/>
                      <a:r>
                        <a:rPr lang="es-CL" sz="1100">
                          <a:latin typeface="Avenir Next" panose="020B0503020202020204" pitchFamily="34" charset="0"/>
                        </a:rPr>
                        <a:t>10.000</a:t>
                      </a:r>
                    </a:p>
                  </a:txBody>
                  <a:tcPr marL="63305" marR="63305" marT="31652" marB="31652" anchor="ctr"/>
                </a:tc>
                <a:tc>
                  <a:txBody>
                    <a:bodyPr/>
                    <a:lstStyle/>
                    <a:p>
                      <a:pPr algn="r"/>
                      <a:r>
                        <a:rPr lang="es-CL" sz="1100">
                          <a:latin typeface="Avenir Next" panose="020B0503020202020204" pitchFamily="34" charset="0"/>
                        </a:rPr>
                        <a:t>250.000</a:t>
                      </a:r>
                    </a:p>
                  </a:txBody>
                  <a:tcPr marL="63305" marR="63305" marT="31652" marB="31652" anchor="ctr"/>
                </a:tc>
                <a:tc>
                  <a:txBody>
                    <a:bodyPr/>
                    <a:lstStyle/>
                    <a:p>
                      <a:pPr algn="r"/>
                      <a:r>
                        <a:rPr lang="es-CL" sz="1100">
                          <a:latin typeface="Avenir Next" panose="020B0503020202020204" pitchFamily="34" charset="0"/>
                        </a:rPr>
                        <a:t>750.000</a:t>
                      </a:r>
                    </a:p>
                  </a:txBody>
                  <a:tcPr marL="63305" marR="63305" marT="31652" marB="31652" anchor="ctr"/>
                </a:tc>
                <a:extLst>
                  <a:ext uri="{0D108BD9-81ED-4DB2-BD59-A6C34878D82A}">
                    <a16:rowId xmlns:a16="http://schemas.microsoft.com/office/drawing/2014/main" val="3716691385"/>
                  </a:ext>
                </a:extLst>
              </a:tr>
              <a:tr h="220890">
                <a:tc>
                  <a:txBody>
                    <a:bodyPr/>
                    <a:lstStyle/>
                    <a:p>
                      <a:r>
                        <a:rPr lang="es-CL" sz="1100">
                          <a:latin typeface="Avenir Next" panose="020B0503020202020204" pitchFamily="34" charset="0"/>
                        </a:rPr>
                        <a:t>Valorización 1 (x 7)</a:t>
                      </a:r>
                    </a:p>
                  </a:txBody>
                  <a:tcPr marL="63305" marR="63305" marT="31652" marB="31652" anchor="ctr"/>
                </a:tc>
                <a:tc>
                  <a:txBody>
                    <a:bodyPr/>
                    <a:lstStyle/>
                    <a:p>
                      <a:pPr algn="r"/>
                      <a:r>
                        <a:rPr lang="es-CL" sz="1100">
                          <a:latin typeface="Avenir Next" panose="020B0503020202020204" pitchFamily="34" charset="0"/>
                        </a:rPr>
                        <a:t>70.000</a:t>
                      </a:r>
                    </a:p>
                  </a:txBody>
                  <a:tcPr marL="63305" marR="63305" marT="31652" marB="31652" anchor="ctr"/>
                </a:tc>
                <a:tc>
                  <a:txBody>
                    <a:bodyPr/>
                    <a:lstStyle/>
                    <a:p>
                      <a:pPr algn="r"/>
                      <a:r>
                        <a:rPr lang="es-CL" sz="1100">
                          <a:latin typeface="Avenir Next" panose="020B0503020202020204" pitchFamily="34" charset="0"/>
                        </a:rPr>
                        <a:t>1.750.000</a:t>
                      </a:r>
                    </a:p>
                  </a:txBody>
                  <a:tcPr marL="63305" marR="63305" marT="31652" marB="31652" anchor="ctr"/>
                </a:tc>
                <a:tc>
                  <a:txBody>
                    <a:bodyPr/>
                    <a:lstStyle/>
                    <a:p>
                      <a:pPr algn="r"/>
                      <a:r>
                        <a:rPr lang="es-CL" sz="1100">
                          <a:latin typeface="Avenir Next" panose="020B0503020202020204" pitchFamily="34" charset="0"/>
                        </a:rPr>
                        <a:t>5.250.000</a:t>
                      </a:r>
                    </a:p>
                  </a:txBody>
                  <a:tcPr marL="63305" marR="63305" marT="31652" marB="31652" anchor="ctr"/>
                </a:tc>
                <a:extLst>
                  <a:ext uri="{0D108BD9-81ED-4DB2-BD59-A6C34878D82A}">
                    <a16:rowId xmlns:a16="http://schemas.microsoft.com/office/drawing/2014/main" val="1647060034"/>
                  </a:ext>
                </a:extLst>
              </a:tr>
              <a:tr h="220890">
                <a:tc>
                  <a:txBody>
                    <a:bodyPr/>
                    <a:lstStyle/>
                    <a:p>
                      <a:r>
                        <a:rPr lang="es-CL" sz="1100">
                          <a:latin typeface="Avenir Next" panose="020B0503020202020204" pitchFamily="34" charset="0"/>
                        </a:rPr>
                        <a:t>Valorización 2 (x10)</a:t>
                      </a:r>
                    </a:p>
                  </a:txBody>
                  <a:tcPr marL="63305" marR="63305" marT="31652" marB="31652" anchor="ctr"/>
                </a:tc>
                <a:tc>
                  <a:txBody>
                    <a:bodyPr/>
                    <a:lstStyle/>
                    <a:p>
                      <a:pPr algn="r"/>
                      <a:r>
                        <a:rPr lang="es-CL" sz="1100">
                          <a:latin typeface="Avenir Next" panose="020B0503020202020204" pitchFamily="34" charset="0"/>
                        </a:rPr>
                        <a:t>100.000</a:t>
                      </a:r>
                    </a:p>
                  </a:txBody>
                  <a:tcPr marL="63305" marR="63305" marT="31652" marB="31652" anchor="ctr"/>
                </a:tc>
                <a:tc>
                  <a:txBody>
                    <a:bodyPr/>
                    <a:lstStyle/>
                    <a:p>
                      <a:pPr algn="r"/>
                      <a:r>
                        <a:rPr lang="es-CL" sz="1100">
                          <a:latin typeface="Avenir Next" panose="020B0503020202020204" pitchFamily="34" charset="0"/>
                        </a:rPr>
                        <a:t>2.500.000</a:t>
                      </a:r>
                    </a:p>
                  </a:txBody>
                  <a:tcPr marL="63305" marR="63305" marT="31652" marB="31652" anchor="ctr"/>
                </a:tc>
                <a:tc>
                  <a:txBody>
                    <a:bodyPr/>
                    <a:lstStyle/>
                    <a:p>
                      <a:pPr algn="r"/>
                      <a:r>
                        <a:rPr lang="es-CL" sz="1100" dirty="0">
                          <a:latin typeface="Avenir Next" panose="020B0503020202020204" pitchFamily="34" charset="0"/>
                        </a:rPr>
                        <a:t>7.500.000</a:t>
                      </a:r>
                    </a:p>
                  </a:txBody>
                  <a:tcPr marL="63305" marR="63305" marT="31652" marB="31652" anchor="ctr"/>
                </a:tc>
                <a:extLst>
                  <a:ext uri="{0D108BD9-81ED-4DB2-BD59-A6C34878D82A}">
                    <a16:rowId xmlns:a16="http://schemas.microsoft.com/office/drawing/2014/main" val="1080745627"/>
                  </a:ext>
                </a:extLst>
              </a:tr>
            </a:tbl>
          </a:graphicData>
        </a:graphic>
      </p:graphicFrame>
      <p:sp>
        <p:nvSpPr>
          <p:cNvPr id="3" name="CuadroTexto 2">
            <a:extLst>
              <a:ext uri="{FF2B5EF4-FFF2-40B4-BE49-F238E27FC236}">
                <a16:creationId xmlns:a16="http://schemas.microsoft.com/office/drawing/2014/main" id="{EBA807B0-3C0B-830A-C040-E00B5A370939}"/>
              </a:ext>
            </a:extLst>
          </p:cNvPr>
          <p:cNvSpPr txBox="1"/>
          <p:nvPr/>
        </p:nvSpPr>
        <p:spPr>
          <a:xfrm>
            <a:off x="1174856" y="2112138"/>
            <a:ext cx="4653287" cy="1015663"/>
          </a:xfrm>
          <a:prstGeom prst="rect">
            <a:avLst/>
          </a:prstGeom>
          <a:noFill/>
        </p:spPr>
        <p:txBody>
          <a:bodyPr wrap="square" rtlCol="0">
            <a:spAutoFit/>
          </a:bodyPr>
          <a:lstStyle/>
          <a:p>
            <a:r>
              <a:rPr lang="es-CL" sz="1200" dirty="0">
                <a:latin typeface="Avenir Next" panose="020B0503020202020204" pitchFamily="34" charset="0"/>
              </a:rPr>
              <a:t>Se construyen los flujos con los datos entregados en el enunciado. Al inicio tomando datos del piloto (año1), luego sumando los 20 puntos, y finalmente, doblando la cantidad.</a:t>
            </a:r>
          </a:p>
          <a:p>
            <a:r>
              <a:rPr lang="es-CL" sz="1200" dirty="0">
                <a:latin typeface="Avenir Next" panose="020B0503020202020204" pitchFamily="34" charset="0"/>
              </a:rPr>
              <a:t>El multiplicador de EBIDTA varia por el sector, la innovación y la credibilidad (percepción de riesgo) del startup. </a:t>
            </a:r>
          </a:p>
        </p:txBody>
      </p:sp>
      <p:sp>
        <p:nvSpPr>
          <p:cNvPr id="5" name="CuadroTexto 4">
            <a:extLst>
              <a:ext uri="{FF2B5EF4-FFF2-40B4-BE49-F238E27FC236}">
                <a16:creationId xmlns:a16="http://schemas.microsoft.com/office/drawing/2014/main" id="{7734A01E-54EB-1D7F-6D22-35FCDD54FD3D}"/>
              </a:ext>
            </a:extLst>
          </p:cNvPr>
          <p:cNvSpPr txBox="1"/>
          <p:nvPr/>
        </p:nvSpPr>
        <p:spPr>
          <a:xfrm>
            <a:off x="7176006" y="3457662"/>
            <a:ext cx="3841138" cy="241476"/>
          </a:xfrm>
          <a:prstGeom prst="rect">
            <a:avLst/>
          </a:prstGeom>
          <a:noFill/>
        </p:spPr>
        <p:txBody>
          <a:bodyPr wrap="square" rtlCol="0">
            <a:spAutoFit/>
          </a:bodyPr>
          <a:lstStyle/>
          <a:p>
            <a:pPr algn="ctr"/>
            <a:r>
              <a:rPr lang="es-CL" sz="969">
                <a:latin typeface="Gibson" panose="02000000000000000000" pitchFamily="2" charset="77"/>
              </a:rPr>
              <a:t>Valor </a:t>
            </a:r>
            <a:r>
              <a:rPr lang="es-CL" sz="969" err="1">
                <a:latin typeface="Gibson" panose="02000000000000000000" pitchFamily="2" charset="77"/>
              </a:rPr>
              <a:t>postmoney</a:t>
            </a:r>
            <a:r>
              <a:rPr lang="es-CL" sz="969">
                <a:latin typeface="Gibson" panose="02000000000000000000" pitchFamily="2" charset="77"/>
              </a:rPr>
              <a:t> = USD$ 7.500.000.- + USD$ 2.000.000.- </a:t>
            </a:r>
          </a:p>
        </p:txBody>
      </p:sp>
      <p:sp>
        <p:nvSpPr>
          <p:cNvPr id="10" name="CuadroTexto 9">
            <a:extLst>
              <a:ext uri="{FF2B5EF4-FFF2-40B4-BE49-F238E27FC236}">
                <a16:creationId xmlns:a16="http://schemas.microsoft.com/office/drawing/2014/main" id="{9E190BF2-97C9-4D1C-9D4D-DFB607820EFD}"/>
              </a:ext>
            </a:extLst>
          </p:cNvPr>
          <p:cNvSpPr txBox="1"/>
          <p:nvPr/>
        </p:nvSpPr>
        <p:spPr>
          <a:xfrm>
            <a:off x="8545484" y="3670738"/>
            <a:ext cx="848309" cy="209609"/>
          </a:xfrm>
          <a:prstGeom prst="rect">
            <a:avLst/>
          </a:prstGeom>
          <a:noFill/>
        </p:spPr>
        <p:txBody>
          <a:bodyPr wrap="none" rtlCol="0">
            <a:spAutoFit/>
          </a:bodyPr>
          <a:lstStyle/>
          <a:p>
            <a:pPr algn="ctr"/>
            <a:r>
              <a:rPr lang="es-CL" sz="762">
                <a:latin typeface="Gibson" panose="02000000000000000000" pitchFamily="2" charset="77"/>
              </a:rPr>
              <a:t>Valor </a:t>
            </a:r>
            <a:r>
              <a:rPr lang="es-CL" sz="762" err="1">
                <a:latin typeface="Gibson" panose="02000000000000000000" pitchFamily="2" charset="77"/>
              </a:rPr>
              <a:t>premoney</a:t>
            </a:r>
            <a:endParaRPr lang="es-CL" sz="762">
              <a:latin typeface="Gibson" panose="02000000000000000000" pitchFamily="2" charset="77"/>
            </a:endParaRPr>
          </a:p>
        </p:txBody>
      </p:sp>
      <p:sp>
        <p:nvSpPr>
          <p:cNvPr id="11" name="CuadroTexto 10">
            <a:extLst>
              <a:ext uri="{FF2B5EF4-FFF2-40B4-BE49-F238E27FC236}">
                <a16:creationId xmlns:a16="http://schemas.microsoft.com/office/drawing/2014/main" id="{F242B6C9-8967-A085-FC01-31472452F439}"/>
              </a:ext>
            </a:extLst>
          </p:cNvPr>
          <p:cNvSpPr txBox="1"/>
          <p:nvPr/>
        </p:nvSpPr>
        <p:spPr>
          <a:xfrm>
            <a:off x="9831151" y="3670738"/>
            <a:ext cx="562976" cy="209609"/>
          </a:xfrm>
          <a:prstGeom prst="rect">
            <a:avLst/>
          </a:prstGeom>
          <a:noFill/>
        </p:spPr>
        <p:txBody>
          <a:bodyPr wrap="none" rtlCol="0">
            <a:spAutoFit/>
          </a:bodyPr>
          <a:lstStyle/>
          <a:p>
            <a:pPr algn="ctr"/>
            <a:r>
              <a:rPr lang="es-CL" sz="762">
                <a:latin typeface="Gibson" panose="02000000000000000000" pitchFamily="2" charset="77"/>
              </a:rPr>
              <a:t>Inversión</a:t>
            </a:r>
          </a:p>
        </p:txBody>
      </p:sp>
      <p:sp>
        <p:nvSpPr>
          <p:cNvPr id="12" name="CuadroTexto 11">
            <a:extLst>
              <a:ext uri="{FF2B5EF4-FFF2-40B4-BE49-F238E27FC236}">
                <a16:creationId xmlns:a16="http://schemas.microsoft.com/office/drawing/2014/main" id="{08414E44-7BE8-7A65-B86A-3F70992D4A91}"/>
              </a:ext>
            </a:extLst>
          </p:cNvPr>
          <p:cNvSpPr txBox="1"/>
          <p:nvPr/>
        </p:nvSpPr>
        <p:spPr>
          <a:xfrm>
            <a:off x="7176006" y="4136557"/>
            <a:ext cx="3841138" cy="539763"/>
          </a:xfrm>
          <a:prstGeom prst="rect">
            <a:avLst/>
          </a:prstGeom>
          <a:noFill/>
        </p:spPr>
        <p:txBody>
          <a:bodyPr wrap="square" rtlCol="0">
            <a:spAutoFit/>
          </a:bodyPr>
          <a:lstStyle/>
          <a:p>
            <a:pPr algn="ctr"/>
            <a:r>
              <a:rPr lang="es-CL" sz="969">
                <a:latin typeface="Gibson" panose="02000000000000000000" pitchFamily="2" charset="77"/>
              </a:rPr>
              <a:t>% inversionista = USD$ 2.000.000.- / USD$ 9.500.000.-</a:t>
            </a:r>
          </a:p>
          <a:p>
            <a:pPr algn="ctr"/>
            <a:endParaRPr lang="es-CL" sz="969">
              <a:latin typeface="Gibson" panose="02000000000000000000" pitchFamily="2" charset="77"/>
            </a:endParaRPr>
          </a:p>
          <a:p>
            <a:pPr algn="ctr"/>
            <a:r>
              <a:rPr lang="es-CL" sz="969">
                <a:latin typeface="Gibson" panose="02000000000000000000" pitchFamily="2" charset="77"/>
              </a:rPr>
              <a:t> % inversionista = 21,05 %</a:t>
            </a:r>
          </a:p>
        </p:txBody>
      </p:sp>
      <p:sp>
        <p:nvSpPr>
          <p:cNvPr id="13" name="CuadroTexto 12">
            <a:extLst>
              <a:ext uri="{FF2B5EF4-FFF2-40B4-BE49-F238E27FC236}">
                <a16:creationId xmlns:a16="http://schemas.microsoft.com/office/drawing/2014/main" id="{A30B49AE-0DA4-57C9-2F21-D2F196F0D148}"/>
              </a:ext>
            </a:extLst>
          </p:cNvPr>
          <p:cNvSpPr txBox="1"/>
          <p:nvPr/>
        </p:nvSpPr>
        <p:spPr>
          <a:xfrm>
            <a:off x="6767274" y="2549601"/>
            <a:ext cx="4660596" cy="646331"/>
          </a:xfrm>
          <a:prstGeom prst="rect">
            <a:avLst/>
          </a:prstGeom>
          <a:noFill/>
        </p:spPr>
        <p:txBody>
          <a:bodyPr wrap="square" rtlCol="0">
            <a:spAutoFit/>
          </a:bodyPr>
          <a:lstStyle/>
          <a:p>
            <a:r>
              <a:rPr lang="es-CL" sz="1200" dirty="0">
                <a:latin typeface="Avenir Next" panose="020B0503020202020204" pitchFamily="34" charset="0"/>
              </a:rPr>
              <a:t>Se puede hacer como nota convertible al año 3. Es decir, funciona como un crédito, que se convierte en propiedad sólo el año 3.</a:t>
            </a:r>
          </a:p>
        </p:txBody>
      </p:sp>
    </p:spTree>
    <p:extLst>
      <p:ext uri="{BB962C8B-B14F-4D97-AF65-F5344CB8AC3E}">
        <p14:creationId xmlns:p14="http://schemas.microsoft.com/office/powerpoint/2010/main" val="3968966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80B3CB-3D43-1D8D-9AF8-530F0E961D8F}"/>
              </a:ext>
            </a:extLst>
          </p:cNvPr>
          <p:cNvSpPr>
            <a:spLocks noGrp="1"/>
          </p:cNvSpPr>
          <p:nvPr>
            <p:ph type="title"/>
          </p:nvPr>
        </p:nvSpPr>
        <p:spPr>
          <a:xfrm>
            <a:off x="838200" y="1477828"/>
            <a:ext cx="5257800" cy="1951172"/>
          </a:xfrm>
        </p:spPr>
        <p:txBody>
          <a:bodyPr/>
          <a:lstStyle/>
          <a:p>
            <a:r>
              <a:rPr lang="es-CL" dirty="0"/>
              <a:t>Caso 8</a:t>
            </a:r>
            <a:br>
              <a:rPr lang="es-CL" dirty="0"/>
            </a:br>
            <a:r>
              <a:rPr lang="es-ES" kern="100" dirty="0" err="1">
                <a:cs typeface="Times New Roman" panose="02020603050405020304" pitchFamily="18" charset="0"/>
              </a:rPr>
              <a:t>FoodPrint</a:t>
            </a:r>
            <a:r>
              <a:rPr lang="es-ES" kern="100" dirty="0">
                <a:cs typeface="Times New Roman" panose="02020603050405020304" pitchFamily="18" charset="0"/>
              </a:rPr>
              <a:t> (</a:t>
            </a:r>
            <a:r>
              <a:rPr lang="es-ES" kern="100" dirty="0" err="1">
                <a:cs typeface="Times New Roman" panose="02020603050405020304" pitchFamily="18" charset="0"/>
              </a:rPr>
              <a:t>foodtech</a:t>
            </a:r>
            <a:r>
              <a:rPr lang="es-ES" kern="100" dirty="0">
                <a:cs typeface="Times New Roman" panose="02020603050405020304" pitchFamily="18" charset="0"/>
              </a:rPr>
              <a:t> sostenible)</a:t>
            </a:r>
            <a:br>
              <a:rPr lang="es-ES" kern="100" dirty="0">
                <a:cs typeface="Times New Roman" panose="02020603050405020304" pitchFamily="18" charset="0"/>
              </a:rPr>
            </a:br>
            <a:endParaRPr lang="es-CL" dirty="0"/>
          </a:p>
        </p:txBody>
      </p:sp>
    </p:spTree>
    <p:extLst>
      <p:ext uri="{BB962C8B-B14F-4D97-AF65-F5344CB8AC3E}">
        <p14:creationId xmlns:p14="http://schemas.microsoft.com/office/powerpoint/2010/main" val="3274325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ED565-128D-2394-41A7-8B78AC518ED5}"/>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48380AB7-1B23-7085-F989-41BD3EEB7211}"/>
              </a:ext>
            </a:extLst>
          </p:cNvPr>
          <p:cNvSpPr>
            <a:spLocks noGrp="1"/>
          </p:cNvSpPr>
          <p:nvPr>
            <p:ph type="title"/>
          </p:nvPr>
        </p:nvSpPr>
        <p:spPr>
          <a:xfrm>
            <a:off x="543338" y="410816"/>
            <a:ext cx="10906539" cy="683825"/>
          </a:xfrm>
        </p:spPr>
        <p:txBody>
          <a:bodyPr>
            <a:normAutofit/>
          </a:bodyPr>
          <a:lstStyle/>
          <a:p>
            <a:r>
              <a:rPr lang="es-CL" sz="2400" dirty="0">
                <a:latin typeface="Avenir Next" panose="020B0503020202020204" pitchFamily="34" charset="0"/>
              </a:rPr>
              <a:t>Guía de ejercicios</a:t>
            </a:r>
            <a:br>
              <a:rPr lang="es-CL" dirty="0">
                <a:latin typeface="Avenir Next" panose="020B0503020202020204" pitchFamily="34" charset="0"/>
              </a:rPr>
            </a:br>
            <a:r>
              <a:rPr lang="es-CL" sz="1400" b="1" dirty="0">
                <a:latin typeface="Avenir Next" panose="020B0503020202020204" pitchFamily="34" charset="0"/>
              </a:rPr>
              <a:t>EJERCICIO 8</a:t>
            </a:r>
          </a:p>
        </p:txBody>
      </p:sp>
      <p:sp>
        <p:nvSpPr>
          <p:cNvPr id="3" name="TextBox 2">
            <a:extLst>
              <a:ext uri="{FF2B5EF4-FFF2-40B4-BE49-F238E27FC236}">
                <a16:creationId xmlns:a16="http://schemas.microsoft.com/office/drawing/2014/main" id="{CA3C5590-63E1-8DF7-2222-9607CCABCF8E}"/>
              </a:ext>
            </a:extLst>
          </p:cNvPr>
          <p:cNvSpPr txBox="1"/>
          <p:nvPr/>
        </p:nvSpPr>
        <p:spPr>
          <a:xfrm>
            <a:off x="543338" y="1165989"/>
            <a:ext cx="4038966" cy="307777"/>
          </a:xfrm>
          <a:prstGeom prst="rect">
            <a:avLst/>
          </a:prstGeom>
          <a:noFill/>
        </p:spPr>
        <p:txBody>
          <a:bodyPr wrap="square">
            <a:spAutoFit/>
          </a:bodyPr>
          <a:lstStyle/>
          <a:p>
            <a:r>
              <a:rPr lang="es-ES" sz="1400" b="1" kern="100" dirty="0">
                <a:latin typeface="Avenir Next" panose="020B0503020202020204" pitchFamily="34" charset="0"/>
                <a:cs typeface="Times New Roman" panose="02020603050405020304" pitchFamily="18" charset="0"/>
              </a:rPr>
              <a:t>Caso 8: </a:t>
            </a:r>
            <a:r>
              <a:rPr lang="es-ES" sz="1400" b="1" kern="100" dirty="0" err="1">
                <a:latin typeface="Avenir Next" panose="020B0503020202020204" pitchFamily="34" charset="0"/>
                <a:cs typeface="Times New Roman" panose="02020603050405020304" pitchFamily="18" charset="0"/>
              </a:rPr>
              <a:t>FoodPrint</a:t>
            </a:r>
            <a:r>
              <a:rPr lang="es-ES" sz="1400" b="1" kern="100" dirty="0">
                <a:latin typeface="Avenir Next" panose="020B0503020202020204" pitchFamily="34" charset="0"/>
                <a:cs typeface="Times New Roman" panose="02020603050405020304" pitchFamily="18" charset="0"/>
              </a:rPr>
              <a:t> (</a:t>
            </a:r>
            <a:r>
              <a:rPr lang="es-ES" sz="1400" b="1" kern="100" dirty="0" err="1">
                <a:latin typeface="Avenir Next" panose="020B0503020202020204" pitchFamily="34" charset="0"/>
                <a:cs typeface="Times New Roman" panose="02020603050405020304" pitchFamily="18" charset="0"/>
              </a:rPr>
              <a:t>foodtech</a:t>
            </a:r>
            <a:r>
              <a:rPr lang="es-ES" sz="1400" b="1" kern="100" dirty="0">
                <a:latin typeface="Avenir Next" panose="020B0503020202020204" pitchFamily="34" charset="0"/>
                <a:cs typeface="Times New Roman" panose="02020603050405020304" pitchFamily="18" charset="0"/>
              </a:rPr>
              <a:t> sostenible)</a:t>
            </a:r>
          </a:p>
        </p:txBody>
      </p:sp>
      <p:sp>
        <p:nvSpPr>
          <p:cNvPr id="2" name="TextBox 2">
            <a:extLst>
              <a:ext uri="{FF2B5EF4-FFF2-40B4-BE49-F238E27FC236}">
                <a16:creationId xmlns:a16="http://schemas.microsoft.com/office/drawing/2014/main" id="{B248672F-8ED5-7E7C-9E94-4BED709FB5F4}"/>
              </a:ext>
            </a:extLst>
          </p:cNvPr>
          <p:cNvSpPr txBox="1"/>
          <p:nvPr/>
        </p:nvSpPr>
        <p:spPr>
          <a:xfrm>
            <a:off x="543338" y="1657605"/>
            <a:ext cx="7593497" cy="4616648"/>
          </a:xfrm>
          <a:prstGeom prst="rect">
            <a:avLst/>
          </a:prstGeom>
          <a:noFill/>
        </p:spPr>
        <p:txBody>
          <a:bodyPr wrap="square">
            <a:spAutoFit/>
          </a:bodyPr>
          <a:lstStyle/>
          <a:p>
            <a:r>
              <a:rPr lang="es-ES" sz="1400" kern="100" dirty="0">
                <a:latin typeface="Avenir Next" panose="020B0503020202020204" pitchFamily="34" charset="0"/>
                <a:cs typeface="Times New Roman" panose="02020603050405020304" pitchFamily="18" charset="0"/>
              </a:rPr>
              <a:t>Unos emprendedores la vienen a ver y le comentan:</a:t>
            </a:r>
          </a:p>
          <a:p>
            <a:endParaRPr lang="es-ES" sz="1400" kern="100" dirty="0">
              <a:latin typeface="Avenir Next" panose="020B0503020202020204" pitchFamily="34" charset="0"/>
              <a:cs typeface="Times New Roman" panose="02020603050405020304" pitchFamily="18" charset="0"/>
            </a:endParaRPr>
          </a:p>
          <a:p>
            <a:pPr lvl="1"/>
            <a:r>
              <a:rPr lang="es-ES" sz="1400" kern="100" dirty="0">
                <a:latin typeface="Avenir Next" panose="020B0503020202020204" pitchFamily="34" charset="0"/>
                <a:cs typeface="Times New Roman" panose="02020603050405020304" pitchFamily="18" charset="0"/>
              </a:rPr>
              <a:t>“En los alimentos se esta dando una revolución silenciosa, los nuevos consumidores son cada vez más informados, están dispuestos a pagar mejor por buenos productos, son saludables –se cuidan-, y van directamente a los marcos sostenibles. Esto nos parece que nos abre una oportunidad”.</a:t>
            </a:r>
          </a:p>
          <a:p>
            <a:pPr lvl="1"/>
            <a:endParaRPr lang="es-ES" sz="1400" kern="100" dirty="0">
              <a:latin typeface="Avenir Next" panose="020B0503020202020204" pitchFamily="34" charset="0"/>
              <a:cs typeface="Times New Roman" panose="02020603050405020304" pitchFamily="18" charset="0"/>
            </a:endParaRPr>
          </a:p>
          <a:p>
            <a:pPr lvl="1"/>
            <a:r>
              <a:rPr lang="es-ES" sz="1400" kern="100" dirty="0">
                <a:latin typeface="Avenir Next" panose="020B0503020202020204" pitchFamily="34" charset="0"/>
                <a:cs typeface="Times New Roman" panose="02020603050405020304" pitchFamily="18" charset="0"/>
              </a:rPr>
              <a:t>“Queremos ser los que den trazabilidad verde a los alimentos. La producción esta atomizada, y es ilógico que cada productor genere su plataforma de trazabilidad, los cálculos en la huella de carbono, agua u otras más complejas… entonces nosotros podemos ser esa plataforma tecnológica confiable”.</a:t>
            </a:r>
          </a:p>
          <a:p>
            <a:endParaRPr lang="es-ES" sz="1400" kern="100" dirty="0">
              <a:latin typeface="Avenir Next" panose="020B0503020202020204" pitchFamily="34" charset="0"/>
              <a:cs typeface="Times New Roman" panose="02020603050405020304" pitchFamily="18" charset="0"/>
            </a:endParaRPr>
          </a:p>
          <a:p>
            <a:r>
              <a:rPr lang="es-ES" sz="1400" kern="100" dirty="0">
                <a:latin typeface="Avenir Next" panose="020B0503020202020204" pitchFamily="34" charset="0"/>
                <a:cs typeface="Times New Roman" panose="02020603050405020304" pitchFamily="18" charset="0"/>
              </a:rPr>
              <a:t>Así, le presentan una startup que ofrece una plataforma de trazabilidad </a:t>
            </a:r>
            <a:r>
              <a:rPr lang="en-US" sz="1400" i="1" kern="100" dirty="0">
                <a:latin typeface="Avenir Next" panose="020B0503020202020204" pitchFamily="34" charset="0"/>
                <a:cs typeface="Times New Roman" panose="02020603050405020304" pitchFamily="18" charset="0"/>
              </a:rPr>
              <a:t>blockchain</a:t>
            </a:r>
            <a:r>
              <a:rPr lang="es-ES" sz="1400" kern="100" dirty="0">
                <a:latin typeface="Avenir Next" panose="020B0503020202020204" pitchFamily="34" charset="0"/>
                <a:cs typeface="Times New Roman" panose="02020603050405020304" pitchFamily="18" charset="0"/>
              </a:rPr>
              <a:t> de alimentos que se comercializarán en supermercados: mide huella de carbono y consumo de agua de cada producto –desde su inicio de producción hasta el consumidor- y permite a consumidores elegir con información ambiental. </a:t>
            </a:r>
          </a:p>
          <a:p>
            <a:endParaRPr lang="es-ES" sz="1400" kern="100" dirty="0">
              <a:latin typeface="Avenir Next" panose="020B0503020202020204" pitchFamily="34" charset="0"/>
              <a:cs typeface="Times New Roman" panose="02020603050405020304" pitchFamily="18" charset="0"/>
            </a:endParaRPr>
          </a:p>
          <a:p>
            <a:r>
              <a:rPr lang="es-ES" sz="1400" kern="100" dirty="0">
                <a:latin typeface="Avenir Next" panose="020B0503020202020204" pitchFamily="34" charset="0"/>
                <a:cs typeface="Times New Roman" panose="02020603050405020304" pitchFamily="18" charset="0"/>
              </a:rPr>
              <a:t>Actualmente, la empresa tiene un piloto con una cadena de </a:t>
            </a:r>
            <a:r>
              <a:rPr lang="es-ES" sz="1400" kern="100" dirty="0" err="1">
                <a:latin typeface="Avenir Next" panose="020B0503020202020204" pitchFamily="34" charset="0"/>
                <a:cs typeface="Times New Roman" panose="02020603050405020304" pitchFamily="18" charset="0"/>
              </a:rPr>
              <a:t>retail</a:t>
            </a:r>
            <a:r>
              <a:rPr lang="es-ES" sz="1400" kern="100" dirty="0">
                <a:latin typeface="Avenir Next" panose="020B0503020202020204" pitchFamily="34" charset="0"/>
                <a:cs typeface="Times New Roman" panose="02020603050405020304" pitchFamily="18" charset="0"/>
              </a:rPr>
              <a:t>. En sus planes esta levantar US$1M para desarrollo tecnológico y expansión comercial.</a:t>
            </a:r>
          </a:p>
          <a:p>
            <a:pPr lvl="0"/>
            <a:endParaRPr lang="es-ES_tradnl" sz="1400" dirty="0">
              <a:latin typeface="Avenir Next" panose="020B0503020202020204" pitchFamily="34" charset="0"/>
            </a:endParaRPr>
          </a:p>
          <a:p>
            <a:pPr lvl="0"/>
            <a:r>
              <a:rPr lang="es-CL" sz="1400" i="1" kern="100" dirty="0">
                <a:latin typeface="Avenir Next" panose="020B0503020202020204" pitchFamily="34" charset="0"/>
                <a:ea typeface="Aptos" panose="020B0004020202020204" pitchFamily="34" charset="0"/>
                <a:cs typeface="Times New Roman" panose="02020603050405020304" pitchFamily="18" charset="0"/>
              </a:rPr>
              <a:t>Basado en un caso supuesto.</a:t>
            </a: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p:txBody>
      </p:sp>
      <p:sp>
        <p:nvSpPr>
          <p:cNvPr id="6" name="TextBox 6">
            <a:extLst>
              <a:ext uri="{FF2B5EF4-FFF2-40B4-BE49-F238E27FC236}">
                <a16:creationId xmlns:a16="http://schemas.microsoft.com/office/drawing/2014/main" id="{149E7BBF-B670-C53F-509A-2E94ADB74834}"/>
              </a:ext>
            </a:extLst>
          </p:cNvPr>
          <p:cNvSpPr txBox="1"/>
          <p:nvPr/>
        </p:nvSpPr>
        <p:spPr>
          <a:xfrm>
            <a:off x="8481391" y="1657605"/>
            <a:ext cx="2968486" cy="4472699"/>
          </a:xfrm>
          <a:prstGeom prst="rect">
            <a:avLst/>
          </a:prstGeom>
          <a:noFill/>
        </p:spPr>
        <p:txBody>
          <a:bodyPr wrap="square">
            <a:spAutoFit/>
          </a:bodyPr>
          <a:lstStyle/>
          <a:p>
            <a:pPr marL="237390" indent="-237390">
              <a:lnSpc>
                <a:spcPct val="107000"/>
              </a:lnSpc>
              <a:spcAft>
                <a:spcPts val="554"/>
              </a:spcAft>
              <a:buFont typeface="+mj-lt"/>
              <a:buAutoNum type="arabicPeriod"/>
            </a:pPr>
            <a:r>
              <a:rPr lang="es-ES" sz="1400" kern="100" dirty="0">
                <a:latin typeface="Avenir Next" panose="020B0503020202020204" pitchFamily="34" charset="0"/>
                <a:ea typeface="Aptos" panose="020B0004020202020204" pitchFamily="34" charset="0"/>
                <a:cs typeface="Times New Roman" panose="02020603050405020304" pitchFamily="18" charset="0"/>
              </a:rPr>
              <a:t>Explica cómo se crea valor estratégico en este modelo para clientes B2B.</a:t>
            </a:r>
          </a:p>
          <a:p>
            <a:pPr marL="237390" indent="-23739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a:p>
            <a:pPr marL="237390" indent="-237390">
              <a:lnSpc>
                <a:spcPct val="107000"/>
              </a:lnSpc>
              <a:spcAft>
                <a:spcPts val="554"/>
              </a:spcAft>
              <a:buFont typeface="+mj-lt"/>
              <a:buAutoNum type="arabicPeriod"/>
            </a:pPr>
            <a:r>
              <a:rPr lang="es-ES" sz="1400" kern="100" dirty="0">
                <a:latin typeface="Avenir Next" panose="020B0503020202020204" pitchFamily="34" charset="0"/>
                <a:ea typeface="Aptos" panose="020B0004020202020204" pitchFamily="34" charset="0"/>
                <a:cs typeface="Times New Roman" panose="02020603050405020304" pitchFamily="18" charset="0"/>
              </a:rPr>
              <a:t>Identifica la etapa de madurez y cómo incide en la valoración.</a:t>
            </a:r>
          </a:p>
          <a:p>
            <a:pPr marL="237390" indent="-23739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a:p>
            <a:pPr marL="237390" indent="-237390">
              <a:lnSpc>
                <a:spcPct val="107000"/>
              </a:lnSpc>
              <a:spcAft>
                <a:spcPts val="554"/>
              </a:spcAft>
              <a:buFont typeface="+mj-lt"/>
              <a:buAutoNum type="arabicPeriod"/>
            </a:pPr>
            <a:r>
              <a:rPr lang="es-ES" sz="1400" kern="100" dirty="0">
                <a:latin typeface="Avenir Next" panose="020B0503020202020204" pitchFamily="34" charset="0"/>
                <a:ea typeface="Aptos" panose="020B0004020202020204" pitchFamily="34" charset="0"/>
                <a:cs typeface="Times New Roman" panose="02020603050405020304" pitchFamily="18" charset="0"/>
              </a:rPr>
              <a:t>Diseña una curva de financiamiento en 3 rondas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Seed</a:t>
            </a:r>
            <a:r>
              <a:rPr lang="es-ES" sz="1400" kern="100" dirty="0">
                <a:latin typeface="Avenir Next" panose="020B0503020202020204" pitchFamily="34" charset="0"/>
                <a:ea typeface="Aptos" panose="020B0004020202020204" pitchFamily="34" charset="0"/>
                <a:cs typeface="Times New Roman" panose="02020603050405020304" pitchFamily="18" charset="0"/>
              </a:rPr>
              <a:t>, Serie A, Serie B).</a:t>
            </a:r>
          </a:p>
          <a:p>
            <a:pPr marL="237390" indent="-23739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a:p>
            <a:pPr marL="237390" indent="-237390">
              <a:lnSpc>
                <a:spcPct val="107000"/>
              </a:lnSpc>
              <a:spcAft>
                <a:spcPts val="554"/>
              </a:spcAft>
              <a:buFont typeface="+mj-lt"/>
              <a:buAutoNum type="arabicPeriod"/>
            </a:pPr>
            <a:r>
              <a:rPr lang="es-ES" sz="1400" kern="100" dirty="0">
                <a:latin typeface="Avenir Next" panose="020B0503020202020204" pitchFamily="34" charset="0"/>
                <a:ea typeface="Aptos" panose="020B0004020202020204" pitchFamily="34" charset="0"/>
                <a:cs typeface="Times New Roman" panose="02020603050405020304" pitchFamily="18" charset="0"/>
              </a:rPr>
              <a:t>Si un VC ofrece US$1M con un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cap</a:t>
            </a:r>
            <a:r>
              <a:rPr lang="es-ES" sz="1400" kern="100" dirty="0">
                <a:latin typeface="Avenir Next" panose="020B0503020202020204" pitchFamily="34" charset="0"/>
                <a:ea typeface="Aptos" panose="020B0004020202020204" pitchFamily="34" charset="0"/>
                <a:cs typeface="Times New Roman" panose="02020603050405020304" pitchFamily="18" charset="0"/>
              </a:rPr>
              <a:t> table inicial de 1M acciones, construye el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cap</a:t>
            </a:r>
            <a:r>
              <a:rPr lang="es-ES" sz="1400" kern="100" dirty="0">
                <a:latin typeface="Avenir Next" panose="020B0503020202020204" pitchFamily="34" charset="0"/>
                <a:ea typeface="Aptos" panose="020B0004020202020204" pitchFamily="34" charset="0"/>
                <a:cs typeface="Times New Roman" panose="02020603050405020304" pitchFamily="18" charset="0"/>
              </a:rPr>
              <a:t> table post-inversión suponiendo 20% de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equity</a:t>
            </a:r>
            <a:r>
              <a:rPr lang="es-ES" sz="1400" kern="100" dirty="0">
                <a:latin typeface="Avenir Next" panose="020B0503020202020204" pitchFamily="34" charset="0"/>
                <a:ea typeface="Aptos" panose="020B0004020202020204" pitchFamily="34" charset="0"/>
                <a:cs typeface="Times New Roman" panose="02020603050405020304" pitchFamily="18" charset="0"/>
              </a:rPr>
              <a:t> entregado.</a:t>
            </a:r>
          </a:p>
        </p:txBody>
      </p:sp>
    </p:spTree>
    <p:extLst>
      <p:ext uri="{BB962C8B-B14F-4D97-AF65-F5344CB8AC3E}">
        <p14:creationId xmlns:p14="http://schemas.microsoft.com/office/powerpoint/2010/main" val="4157588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0572C-5DAF-0714-63DB-85E23333BCC6}"/>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00E7A656-00D1-C652-6BCF-FD6BE3F78B29}"/>
              </a:ext>
            </a:extLst>
          </p:cNvPr>
          <p:cNvSpPr txBox="1">
            <a:spLocks/>
          </p:cNvSpPr>
          <p:nvPr/>
        </p:nvSpPr>
        <p:spPr>
          <a:xfrm>
            <a:off x="803887" y="543786"/>
            <a:ext cx="4251866" cy="65783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CL" sz="2285">
                <a:latin typeface="Avenir Next" panose="020B0503020202020204" pitchFamily="34" charset="0"/>
              </a:rPr>
              <a:t>Guía de ejercicios</a:t>
            </a:r>
            <a:br>
              <a:rPr lang="es-CL" sz="2285">
                <a:latin typeface="Avenir Next" panose="020B0503020202020204" pitchFamily="34" charset="0"/>
              </a:rPr>
            </a:br>
            <a:r>
              <a:rPr lang="es-CL" sz="1246" b="1">
                <a:latin typeface="Avenir Next" panose="020B0503020202020204" pitchFamily="34" charset="0"/>
              </a:rPr>
              <a:t>SOLUCIÓN EJERCICIO 8</a:t>
            </a:r>
          </a:p>
        </p:txBody>
      </p:sp>
      <p:sp>
        <p:nvSpPr>
          <p:cNvPr id="6" name="CuadroTexto 5">
            <a:extLst>
              <a:ext uri="{FF2B5EF4-FFF2-40B4-BE49-F238E27FC236}">
                <a16:creationId xmlns:a16="http://schemas.microsoft.com/office/drawing/2014/main" id="{FF549768-2265-44AA-EB78-BAC0DEFA4C84}"/>
              </a:ext>
            </a:extLst>
          </p:cNvPr>
          <p:cNvSpPr txBox="1"/>
          <p:nvPr/>
        </p:nvSpPr>
        <p:spPr>
          <a:xfrm>
            <a:off x="1207303" y="1426902"/>
            <a:ext cx="4530286" cy="553357"/>
          </a:xfrm>
          <a:prstGeom prst="rect">
            <a:avLst/>
          </a:prstGeom>
          <a:noFill/>
        </p:spPr>
        <p:txBody>
          <a:bodyPr wrap="square">
            <a:spAutoFit/>
          </a:bodyPr>
          <a:lstStyle/>
          <a:p>
            <a:pPr>
              <a:lnSpc>
                <a:spcPct val="107000"/>
              </a:lnSpc>
              <a:spcAft>
                <a:spcPts val="554"/>
              </a:spcAft>
            </a:pPr>
            <a:r>
              <a:rPr lang="es-ES" sz="1400" kern="100" dirty="0">
                <a:latin typeface="Avenir Next" panose="020B0503020202020204" pitchFamily="34" charset="0"/>
                <a:ea typeface="Aptos" panose="020B0004020202020204" pitchFamily="34" charset="0"/>
                <a:cs typeface="Times New Roman" panose="02020603050405020304" pitchFamily="18" charset="0"/>
              </a:rPr>
              <a:t>Explica cómo se crea valor estratégico en este modelo para clientes B2B.</a:t>
            </a:r>
          </a:p>
        </p:txBody>
      </p:sp>
      <p:sp>
        <p:nvSpPr>
          <p:cNvPr id="7" name="Rectángulo 6">
            <a:extLst>
              <a:ext uri="{FF2B5EF4-FFF2-40B4-BE49-F238E27FC236}">
                <a16:creationId xmlns:a16="http://schemas.microsoft.com/office/drawing/2014/main" id="{94A1F07D-E757-242D-0E47-972FBD44FBE3}"/>
              </a:ext>
            </a:extLst>
          </p:cNvPr>
          <p:cNvSpPr/>
          <p:nvPr/>
        </p:nvSpPr>
        <p:spPr>
          <a:xfrm>
            <a:off x="803887" y="1426902"/>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1</a:t>
            </a:r>
          </a:p>
        </p:txBody>
      </p:sp>
      <p:sp>
        <p:nvSpPr>
          <p:cNvPr id="8" name="CuadroTexto 7">
            <a:extLst>
              <a:ext uri="{FF2B5EF4-FFF2-40B4-BE49-F238E27FC236}">
                <a16:creationId xmlns:a16="http://schemas.microsoft.com/office/drawing/2014/main" id="{B58D1E86-AD5B-7661-DCAF-72CD6AEE7643}"/>
              </a:ext>
            </a:extLst>
          </p:cNvPr>
          <p:cNvSpPr txBox="1"/>
          <p:nvPr/>
        </p:nvSpPr>
        <p:spPr>
          <a:xfrm>
            <a:off x="6843208" y="1426901"/>
            <a:ext cx="4537595" cy="553357"/>
          </a:xfrm>
          <a:prstGeom prst="rect">
            <a:avLst/>
          </a:prstGeom>
          <a:noFill/>
        </p:spPr>
        <p:txBody>
          <a:bodyPr wrap="square">
            <a:spAutoFit/>
          </a:bodyPr>
          <a:lstStyle/>
          <a:p>
            <a:pPr>
              <a:lnSpc>
                <a:spcPct val="107000"/>
              </a:lnSpc>
              <a:spcAft>
                <a:spcPts val="554"/>
              </a:spcAft>
            </a:pPr>
            <a:r>
              <a:rPr lang="es-ES" sz="1400" kern="100" dirty="0">
                <a:latin typeface="Avenir Next" panose="020B0503020202020204" pitchFamily="34" charset="0"/>
                <a:ea typeface="Aptos" panose="020B0004020202020204" pitchFamily="34" charset="0"/>
                <a:cs typeface="Times New Roman" panose="02020603050405020304" pitchFamily="18" charset="0"/>
              </a:rPr>
              <a:t>Identifica la etapa de madurez y cómo incide en la valoración.</a:t>
            </a:r>
          </a:p>
        </p:txBody>
      </p:sp>
      <p:sp>
        <p:nvSpPr>
          <p:cNvPr id="9" name="Rectángulo 8">
            <a:extLst>
              <a:ext uri="{FF2B5EF4-FFF2-40B4-BE49-F238E27FC236}">
                <a16:creationId xmlns:a16="http://schemas.microsoft.com/office/drawing/2014/main" id="{3DEF8D46-341C-44AB-BC61-103188048E8A}"/>
              </a:ext>
            </a:extLst>
          </p:cNvPr>
          <p:cNvSpPr/>
          <p:nvPr/>
        </p:nvSpPr>
        <p:spPr>
          <a:xfrm>
            <a:off x="6439792" y="1426902"/>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2</a:t>
            </a:r>
          </a:p>
        </p:txBody>
      </p:sp>
      <p:sp>
        <p:nvSpPr>
          <p:cNvPr id="2" name="CuadroTexto 1">
            <a:extLst>
              <a:ext uri="{FF2B5EF4-FFF2-40B4-BE49-F238E27FC236}">
                <a16:creationId xmlns:a16="http://schemas.microsoft.com/office/drawing/2014/main" id="{F5F86BEF-D367-CFE2-9847-D85B715B89E9}"/>
              </a:ext>
            </a:extLst>
          </p:cNvPr>
          <p:cNvSpPr txBox="1"/>
          <p:nvPr/>
        </p:nvSpPr>
        <p:spPr>
          <a:xfrm>
            <a:off x="1207303" y="2053643"/>
            <a:ext cx="4530286" cy="1569660"/>
          </a:xfrm>
          <a:prstGeom prst="rect">
            <a:avLst/>
          </a:prstGeom>
          <a:noFill/>
        </p:spPr>
        <p:txBody>
          <a:bodyPr wrap="square" rtlCol="0">
            <a:spAutoFit/>
          </a:bodyPr>
          <a:lstStyle/>
          <a:p>
            <a:r>
              <a:rPr lang="es-CL" sz="1200" dirty="0">
                <a:latin typeface="Avenir Next" panose="020B0503020202020204" pitchFamily="34" charset="0"/>
              </a:rPr>
              <a:t>Todos las empresas de alimentos que ofrezcan responsabilidad social y ambiental en su diferenciación, ejemplo: restaurantes, proveedores exclusivos, productores certificados, agroindustria ambientalmente responsable, </a:t>
            </a:r>
            <a:r>
              <a:rPr lang="es-CL" sz="1200" dirty="0" err="1">
                <a:latin typeface="Avenir Next" panose="020B0503020202020204" pitchFamily="34" charset="0"/>
              </a:rPr>
              <a:t>reatil</a:t>
            </a:r>
            <a:r>
              <a:rPr lang="es-CL" sz="1200" dirty="0">
                <a:latin typeface="Avenir Next" panose="020B0503020202020204" pitchFamily="34" charset="0"/>
              </a:rPr>
              <a:t> con líneas de productos exclusivos… la empresa les ofrece trazabilidad con </a:t>
            </a:r>
            <a:r>
              <a:rPr lang="es-CL" sz="1200" dirty="0" err="1">
                <a:latin typeface="Avenir Next" panose="020B0503020202020204" pitchFamily="34" charset="0"/>
              </a:rPr>
              <a:t>blockchain</a:t>
            </a:r>
            <a:r>
              <a:rPr lang="es-CL" sz="1200" dirty="0">
                <a:latin typeface="Avenir Next" panose="020B0503020202020204" pitchFamily="34" charset="0"/>
              </a:rPr>
              <a:t>, especializándose en sensores, medición de variables ambientales </a:t>
            </a:r>
            <a:r>
              <a:rPr lang="es-CL" sz="1200" i="1" dirty="0">
                <a:latin typeface="Avenir Next" panose="020B0503020202020204" pitchFamily="34" charset="0"/>
              </a:rPr>
              <a:t>in situ </a:t>
            </a:r>
            <a:r>
              <a:rPr lang="es-CL" sz="1200" dirty="0">
                <a:latin typeface="Avenir Next" panose="020B0503020202020204" pitchFamily="34" charset="0"/>
              </a:rPr>
              <a:t>y seguridad para la información.</a:t>
            </a:r>
          </a:p>
        </p:txBody>
      </p:sp>
      <p:sp>
        <p:nvSpPr>
          <p:cNvPr id="3" name="Elipse 2">
            <a:extLst>
              <a:ext uri="{FF2B5EF4-FFF2-40B4-BE49-F238E27FC236}">
                <a16:creationId xmlns:a16="http://schemas.microsoft.com/office/drawing/2014/main" id="{19D07838-25CA-37D4-D611-E5641F762739}"/>
              </a:ext>
            </a:extLst>
          </p:cNvPr>
          <p:cNvSpPr/>
          <p:nvPr/>
        </p:nvSpPr>
        <p:spPr>
          <a:xfrm>
            <a:off x="1207303" y="3935188"/>
            <a:ext cx="249231" cy="24923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sz="1246"/>
          </a:p>
        </p:txBody>
      </p:sp>
      <p:sp>
        <p:nvSpPr>
          <p:cNvPr id="5" name="Elipse 4">
            <a:extLst>
              <a:ext uri="{FF2B5EF4-FFF2-40B4-BE49-F238E27FC236}">
                <a16:creationId xmlns:a16="http://schemas.microsoft.com/office/drawing/2014/main" id="{59AC8A09-3E1F-5623-DFA2-19E400B381D3}"/>
              </a:ext>
            </a:extLst>
          </p:cNvPr>
          <p:cNvSpPr/>
          <p:nvPr/>
        </p:nvSpPr>
        <p:spPr>
          <a:xfrm>
            <a:off x="803887" y="4401586"/>
            <a:ext cx="249231" cy="24923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sz="1246"/>
          </a:p>
        </p:txBody>
      </p:sp>
      <p:sp>
        <p:nvSpPr>
          <p:cNvPr id="10" name="Elipse 9">
            <a:extLst>
              <a:ext uri="{FF2B5EF4-FFF2-40B4-BE49-F238E27FC236}">
                <a16:creationId xmlns:a16="http://schemas.microsoft.com/office/drawing/2014/main" id="{9B854571-F8A9-A28D-CE3E-0631B1CCAFC4}"/>
              </a:ext>
            </a:extLst>
          </p:cNvPr>
          <p:cNvSpPr/>
          <p:nvPr/>
        </p:nvSpPr>
        <p:spPr>
          <a:xfrm>
            <a:off x="1396705" y="4257803"/>
            <a:ext cx="869108" cy="8887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CL" sz="700" b="1">
                <a:latin typeface="Avenir Next" panose="020B0503020202020204" pitchFamily="34" charset="0"/>
              </a:rPr>
              <a:t>Ambientalmente</a:t>
            </a:r>
          </a:p>
          <a:p>
            <a:pPr algn="ctr"/>
            <a:r>
              <a:rPr lang="es-CL" sz="700" b="1">
                <a:latin typeface="Avenir Next" panose="020B0503020202020204" pitchFamily="34" charset="0"/>
              </a:rPr>
              <a:t>Responsable</a:t>
            </a:r>
          </a:p>
          <a:p>
            <a:pPr algn="ctr"/>
            <a:r>
              <a:rPr lang="es-CL" sz="700" b="1">
                <a:latin typeface="Avenir Next" panose="020B0503020202020204" pitchFamily="34" charset="0"/>
              </a:rPr>
              <a:t>Sostenible</a:t>
            </a:r>
          </a:p>
        </p:txBody>
      </p:sp>
      <p:cxnSp>
        <p:nvCxnSpPr>
          <p:cNvPr id="12" name="Conector recto 11">
            <a:extLst>
              <a:ext uri="{FF2B5EF4-FFF2-40B4-BE49-F238E27FC236}">
                <a16:creationId xmlns:a16="http://schemas.microsoft.com/office/drawing/2014/main" id="{4D54AEF9-3B2A-186D-AC50-6A532545A3B4}"/>
              </a:ext>
            </a:extLst>
          </p:cNvPr>
          <p:cNvCxnSpPr>
            <a:cxnSpLocks/>
            <a:stCxn id="3" idx="5"/>
            <a:endCxn id="10" idx="1"/>
          </p:cNvCxnSpPr>
          <p:nvPr/>
        </p:nvCxnSpPr>
        <p:spPr>
          <a:xfrm>
            <a:off x="1420035" y="4147920"/>
            <a:ext cx="103948" cy="240039"/>
          </a:xfrm>
          <a:prstGeom prst="line">
            <a:avLst/>
          </a:prstGeom>
        </p:spPr>
        <p:style>
          <a:lnRef idx="2">
            <a:schemeClr val="dk1"/>
          </a:lnRef>
          <a:fillRef idx="0">
            <a:schemeClr val="dk1"/>
          </a:fillRef>
          <a:effectRef idx="1">
            <a:schemeClr val="dk1"/>
          </a:effectRef>
          <a:fontRef idx="minor">
            <a:schemeClr val="tx1"/>
          </a:fontRef>
        </p:style>
      </p:cxnSp>
      <p:cxnSp>
        <p:nvCxnSpPr>
          <p:cNvPr id="14" name="Conector recto 13">
            <a:extLst>
              <a:ext uri="{FF2B5EF4-FFF2-40B4-BE49-F238E27FC236}">
                <a16:creationId xmlns:a16="http://schemas.microsoft.com/office/drawing/2014/main" id="{D840DF32-04B6-84DA-0875-EBBAA6DAE4B5}"/>
              </a:ext>
            </a:extLst>
          </p:cNvPr>
          <p:cNvCxnSpPr>
            <a:cxnSpLocks/>
            <a:stCxn id="5" idx="6"/>
            <a:endCxn id="10" idx="2"/>
          </p:cNvCxnSpPr>
          <p:nvPr/>
        </p:nvCxnSpPr>
        <p:spPr>
          <a:xfrm>
            <a:off x="1053118" y="4526202"/>
            <a:ext cx="343587" cy="175981"/>
          </a:xfrm>
          <a:prstGeom prst="line">
            <a:avLst/>
          </a:prstGeom>
        </p:spPr>
        <p:style>
          <a:lnRef idx="2">
            <a:schemeClr val="dk1"/>
          </a:lnRef>
          <a:fillRef idx="0">
            <a:schemeClr val="dk1"/>
          </a:fillRef>
          <a:effectRef idx="1">
            <a:schemeClr val="dk1"/>
          </a:effectRef>
          <a:fontRef idx="minor">
            <a:schemeClr val="tx1"/>
          </a:fontRef>
        </p:style>
      </p:cxnSp>
      <p:cxnSp>
        <p:nvCxnSpPr>
          <p:cNvPr id="17" name="Conector recto 16">
            <a:extLst>
              <a:ext uri="{FF2B5EF4-FFF2-40B4-BE49-F238E27FC236}">
                <a16:creationId xmlns:a16="http://schemas.microsoft.com/office/drawing/2014/main" id="{792F3492-1E2B-91FD-0016-DBB2ECA21D72}"/>
              </a:ext>
            </a:extLst>
          </p:cNvPr>
          <p:cNvCxnSpPr>
            <a:stCxn id="3" idx="3"/>
            <a:endCxn id="5" idx="7"/>
          </p:cNvCxnSpPr>
          <p:nvPr/>
        </p:nvCxnSpPr>
        <p:spPr>
          <a:xfrm flipH="1">
            <a:off x="1016619" y="4147920"/>
            <a:ext cx="227183" cy="290165"/>
          </a:xfrm>
          <a:prstGeom prst="line">
            <a:avLst/>
          </a:prstGeom>
        </p:spPr>
        <p:style>
          <a:lnRef idx="2">
            <a:schemeClr val="dk1"/>
          </a:lnRef>
          <a:fillRef idx="0">
            <a:schemeClr val="dk1"/>
          </a:fillRef>
          <a:effectRef idx="1">
            <a:schemeClr val="dk1"/>
          </a:effectRef>
          <a:fontRef idx="minor">
            <a:schemeClr val="tx1"/>
          </a:fontRef>
        </p:style>
      </p:cxnSp>
      <p:sp>
        <p:nvSpPr>
          <p:cNvPr id="18" name="Rectángulo 17">
            <a:extLst>
              <a:ext uri="{FF2B5EF4-FFF2-40B4-BE49-F238E27FC236}">
                <a16:creationId xmlns:a16="http://schemas.microsoft.com/office/drawing/2014/main" id="{D9A9F30E-3C20-1BD6-276F-2AC50A96CB9A}"/>
              </a:ext>
            </a:extLst>
          </p:cNvPr>
          <p:cNvSpPr/>
          <p:nvPr/>
        </p:nvSpPr>
        <p:spPr>
          <a:xfrm>
            <a:off x="2285787" y="4059803"/>
            <a:ext cx="905608" cy="19748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sz="969" err="1">
                <a:latin typeface="Avenir Next" panose="020B0503020202020204" pitchFamily="34" charset="0"/>
              </a:rPr>
              <a:t>FoodPrint</a:t>
            </a:r>
            <a:endParaRPr lang="es-CL" sz="969">
              <a:latin typeface="Avenir Next" panose="020B0503020202020204" pitchFamily="34" charset="0"/>
            </a:endParaRPr>
          </a:p>
        </p:txBody>
      </p:sp>
      <p:cxnSp>
        <p:nvCxnSpPr>
          <p:cNvPr id="20" name="Conector recto 19">
            <a:extLst>
              <a:ext uri="{FF2B5EF4-FFF2-40B4-BE49-F238E27FC236}">
                <a16:creationId xmlns:a16="http://schemas.microsoft.com/office/drawing/2014/main" id="{4D0C5F16-705E-CF29-700C-877F6A73E6BF}"/>
              </a:ext>
            </a:extLst>
          </p:cNvPr>
          <p:cNvCxnSpPr>
            <a:cxnSpLocks/>
            <a:stCxn id="18" idx="1"/>
            <a:endCxn id="10" idx="7"/>
          </p:cNvCxnSpPr>
          <p:nvPr/>
        </p:nvCxnSpPr>
        <p:spPr>
          <a:xfrm flipH="1">
            <a:off x="2138535" y="4158544"/>
            <a:ext cx="147252" cy="229415"/>
          </a:xfrm>
          <a:prstGeom prst="line">
            <a:avLst/>
          </a:prstGeom>
        </p:spPr>
        <p:style>
          <a:lnRef idx="2">
            <a:schemeClr val="dk1"/>
          </a:lnRef>
          <a:fillRef idx="0">
            <a:schemeClr val="dk1"/>
          </a:fillRef>
          <a:effectRef idx="1">
            <a:schemeClr val="dk1"/>
          </a:effectRef>
          <a:fontRef idx="minor">
            <a:schemeClr val="tx1"/>
          </a:fontRef>
        </p:style>
      </p:cxnSp>
      <p:sp>
        <p:nvSpPr>
          <p:cNvPr id="21" name="CuadroTexto 20">
            <a:extLst>
              <a:ext uri="{FF2B5EF4-FFF2-40B4-BE49-F238E27FC236}">
                <a16:creationId xmlns:a16="http://schemas.microsoft.com/office/drawing/2014/main" id="{C9E8F595-D797-EE15-389E-C14FB07B38B3}"/>
              </a:ext>
            </a:extLst>
          </p:cNvPr>
          <p:cNvSpPr txBox="1"/>
          <p:nvPr/>
        </p:nvSpPr>
        <p:spPr>
          <a:xfrm>
            <a:off x="3211371" y="4033299"/>
            <a:ext cx="1918795" cy="430887"/>
          </a:xfrm>
          <a:prstGeom prst="rect">
            <a:avLst/>
          </a:prstGeom>
          <a:noFill/>
        </p:spPr>
        <p:txBody>
          <a:bodyPr wrap="none" rtlCol="0">
            <a:spAutoFit/>
          </a:bodyPr>
          <a:lstStyle/>
          <a:p>
            <a:pPr marL="118695" indent="-118695">
              <a:buFont typeface="Arial" panose="020B0604020202020204" pitchFamily="34" charset="0"/>
              <a:buChar char="•"/>
            </a:pPr>
            <a:r>
              <a:rPr lang="es-CL" sz="1100" dirty="0">
                <a:latin typeface="Avenir Next" panose="020B0503020202020204" pitchFamily="34" charset="0"/>
              </a:rPr>
              <a:t>Componente estratégico</a:t>
            </a:r>
          </a:p>
          <a:p>
            <a:pPr marL="118695" indent="-118695">
              <a:buFont typeface="Arial" panose="020B0604020202020204" pitchFamily="34" charset="0"/>
              <a:buChar char="•"/>
            </a:pPr>
            <a:r>
              <a:rPr lang="es-CL" sz="1100" dirty="0">
                <a:latin typeface="Avenir Next" panose="020B0503020202020204" pitchFamily="34" charset="0"/>
              </a:rPr>
              <a:t>Aliado estratégico</a:t>
            </a:r>
          </a:p>
        </p:txBody>
      </p:sp>
      <p:sp>
        <p:nvSpPr>
          <p:cNvPr id="24" name="CuadroTexto 23">
            <a:extLst>
              <a:ext uri="{FF2B5EF4-FFF2-40B4-BE49-F238E27FC236}">
                <a16:creationId xmlns:a16="http://schemas.microsoft.com/office/drawing/2014/main" id="{C01B3AB6-B6A8-E165-7942-788036933A99}"/>
              </a:ext>
            </a:extLst>
          </p:cNvPr>
          <p:cNvSpPr txBox="1"/>
          <p:nvPr/>
        </p:nvSpPr>
        <p:spPr>
          <a:xfrm>
            <a:off x="2348227" y="4569757"/>
            <a:ext cx="3389362" cy="430887"/>
          </a:xfrm>
          <a:prstGeom prst="rect">
            <a:avLst/>
          </a:prstGeom>
          <a:noFill/>
        </p:spPr>
        <p:txBody>
          <a:bodyPr wrap="square" rtlCol="0">
            <a:spAutoFit/>
          </a:bodyPr>
          <a:lstStyle/>
          <a:p>
            <a:r>
              <a:rPr lang="es-CL" sz="1100">
                <a:latin typeface="Avenir Next" panose="020B0503020202020204" pitchFamily="34" charset="0"/>
              </a:rPr>
              <a:t>Es un método de valorización por 5 temas, USD$ 500.- cada uno. En este caso podría ser:</a:t>
            </a:r>
          </a:p>
        </p:txBody>
      </p:sp>
      <p:sp>
        <p:nvSpPr>
          <p:cNvPr id="30" name="CuadroTexto 29">
            <a:extLst>
              <a:ext uri="{FF2B5EF4-FFF2-40B4-BE49-F238E27FC236}">
                <a16:creationId xmlns:a16="http://schemas.microsoft.com/office/drawing/2014/main" id="{3F7F2695-2333-65FD-67E0-CE9E38FE8AAD}"/>
              </a:ext>
            </a:extLst>
          </p:cNvPr>
          <p:cNvSpPr txBox="1"/>
          <p:nvPr/>
        </p:nvSpPr>
        <p:spPr>
          <a:xfrm>
            <a:off x="6885003" y="2047574"/>
            <a:ext cx="4275758" cy="3231654"/>
          </a:xfrm>
          <a:prstGeom prst="rect">
            <a:avLst/>
          </a:prstGeom>
          <a:noFill/>
        </p:spPr>
        <p:txBody>
          <a:bodyPr wrap="square" rtlCol="0">
            <a:spAutoFit/>
          </a:bodyPr>
          <a:lstStyle/>
          <a:p>
            <a:r>
              <a:rPr lang="es-CL" sz="1200" dirty="0">
                <a:latin typeface="Avenir Next" panose="020B0503020202020204" pitchFamily="34" charset="0"/>
              </a:rPr>
              <a:t>Esta en fase </a:t>
            </a:r>
            <a:r>
              <a:rPr lang="es-CL" sz="1200" dirty="0" err="1">
                <a:latin typeface="Avenir Next" panose="020B0503020202020204" pitchFamily="34" charset="0"/>
              </a:rPr>
              <a:t>seed</a:t>
            </a:r>
            <a:r>
              <a:rPr lang="es-CL" sz="1200" dirty="0">
                <a:latin typeface="Avenir Next" panose="020B0503020202020204" pitchFamily="34" charset="0"/>
              </a:rPr>
              <a:t> (tiene prototipo e hipótesis de clientes), buscando el </a:t>
            </a:r>
            <a:r>
              <a:rPr lang="es-CL" sz="1200" dirty="0" err="1">
                <a:latin typeface="Avenir Next" panose="020B0503020202020204" pitchFamily="34" charset="0"/>
              </a:rPr>
              <a:t>product</a:t>
            </a:r>
            <a:r>
              <a:rPr lang="es-CL" sz="1200" dirty="0">
                <a:latin typeface="Avenir Next" panose="020B0503020202020204" pitchFamily="34" charset="0"/>
              </a:rPr>
              <a:t> </a:t>
            </a:r>
            <a:r>
              <a:rPr lang="es-CL" sz="1200" dirty="0" err="1">
                <a:latin typeface="Avenir Next" panose="020B0503020202020204" pitchFamily="34" charset="0"/>
              </a:rPr>
              <a:t>market</a:t>
            </a:r>
            <a:r>
              <a:rPr lang="es-CL" sz="1200" dirty="0">
                <a:latin typeface="Avenir Next" panose="020B0503020202020204" pitchFamily="34" charset="0"/>
              </a:rPr>
              <a:t> </a:t>
            </a:r>
            <a:r>
              <a:rPr lang="es-CL" sz="1200" dirty="0" err="1">
                <a:latin typeface="Avenir Next" panose="020B0503020202020204" pitchFamily="34" charset="0"/>
              </a:rPr>
              <a:t>fit</a:t>
            </a:r>
            <a:r>
              <a:rPr lang="es-CL" sz="1200" dirty="0">
                <a:latin typeface="Avenir Next" panose="020B0503020202020204" pitchFamily="34" charset="0"/>
              </a:rPr>
              <a:t>, esta es la etapa donde debe realizar experimentos para encajar el producto y desarrollar los clientes.</a:t>
            </a:r>
          </a:p>
          <a:p>
            <a:endParaRPr lang="es-CL" sz="1200" dirty="0">
              <a:latin typeface="Avenir Next" panose="020B0503020202020204" pitchFamily="34" charset="0"/>
            </a:endParaRPr>
          </a:p>
          <a:p>
            <a:r>
              <a:rPr lang="es-CL" sz="1200" dirty="0">
                <a:latin typeface="Avenir Next" panose="020B0503020202020204" pitchFamily="34" charset="0"/>
              </a:rPr>
              <a:t>En esta etapa se priorizan los experimentos:</a:t>
            </a:r>
          </a:p>
          <a:p>
            <a:endParaRPr lang="es-CL" sz="1200" dirty="0">
              <a:latin typeface="Avenir Next" panose="020B0503020202020204" pitchFamily="34" charset="0"/>
            </a:endParaRPr>
          </a:p>
          <a:p>
            <a:pPr marL="237390" indent="-237390">
              <a:buAutoNum type="arabicPeriod"/>
            </a:pPr>
            <a:r>
              <a:rPr lang="es-CL" sz="1200" b="1" dirty="0">
                <a:latin typeface="Avenir Next" panose="020B0503020202020204" pitchFamily="34" charset="0"/>
              </a:rPr>
              <a:t>Encontrar una prueba valida </a:t>
            </a:r>
            <a:r>
              <a:rPr lang="es-CL" sz="1200" dirty="0">
                <a:latin typeface="Avenir Next" panose="020B0503020202020204" pitchFamily="34" charset="0"/>
              </a:rPr>
              <a:t>que permita generar evidencia fuerte.</a:t>
            </a:r>
          </a:p>
          <a:p>
            <a:pPr marL="237390" indent="-237390">
              <a:buAutoNum type="arabicPeriod"/>
            </a:pPr>
            <a:r>
              <a:rPr lang="es-CL" sz="1200" b="1" dirty="0">
                <a:latin typeface="Avenir Next" panose="020B0503020202020204" pitchFamily="34" charset="0"/>
              </a:rPr>
              <a:t>Conseguir los recursos </a:t>
            </a:r>
            <a:r>
              <a:rPr lang="es-CL" sz="1200" dirty="0">
                <a:latin typeface="Avenir Next" panose="020B0503020202020204" pitchFamily="34" charset="0"/>
              </a:rPr>
              <a:t>para hacer un experimento valido, en calidad del prototipo y alcance y prueba con clientes.</a:t>
            </a:r>
          </a:p>
          <a:p>
            <a:pPr marL="237390" indent="-237390">
              <a:buAutoNum type="arabicPeriod"/>
            </a:pPr>
            <a:r>
              <a:rPr lang="es-CL" sz="1200" b="1" dirty="0">
                <a:latin typeface="Avenir Next" panose="020B0503020202020204" pitchFamily="34" charset="0"/>
              </a:rPr>
              <a:t>Afinar el equipo de fundadores </a:t>
            </a:r>
            <a:r>
              <a:rPr lang="es-CL" sz="1200" dirty="0">
                <a:latin typeface="Avenir Next" panose="020B0503020202020204" pitchFamily="34" charset="0"/>
              </a:rPr>
              <a:t>que realice el experimento aprendiendo de primera fuente.</a:t>
            </a:r>
          </a:p>
          <a:p>
            <a:pPr marL="237390" indent="-237390">
              <a:buAutoNum type="arabicPeriod"/>
            </a:pPr>
            <a:endParaRPr lang="es-CL" sz="1200" dirty="0">
              <a:latin typeface="Avenir Next" panose="020B0503020202020204" pitchFamily="34" charset="0"/>
            </a:endParaRPr>
          </a:p>
          <a:p>
            <a:r>
              <a:rPr lang="es-CL" sz="1200" dirty="0"/>
              <a:t>Métodos aceptados, por comparación, </a:t>
            </a:r>
            <a:r>
              <a:rPr lang="es-CL" sz="1200" dirty="0" err="1"/>
              <a:t>Berkus</a:t>
            </a:r>
            <a:r>
              <a:rPr lang="es-CL" sz="1200" dirty="0"/>
              <a:t>, </a:t>
            </a:r>
            <a:r>
              <a:rPr lang="es-CL" sz="1200" dirty="0" err="1"/>
              <a:t>Scorecard</a:t>
            </a:r>
            <a:r>
              <a:rPr lang="es-CL" sz="1200" dirty="0"/>
              <a:t> y/o método venture capital.</a:t>
            </a:r>
          </a:p>
        </p:txBody>
      </p:sp>
    </p:spTree>
    <p:extLst>
      <p:ext uri="{BB962C8B-B14F-4D97-AF65-F5344CB8AC3E}">
        <p14:creationId xmlns:p14="http://schemas.microsoft.com/office/powerpoint/2010/main" val="4265410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BB190-6EA0-2156-32D8-A40CC6D03507}"/>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7FD63F26-4FE8-D9F3-0351-3FBAFF3A48B9}"/>
              </a:ext>
            </a:extLst>
          </p:cNvPr>
          <p:cNvSpPr txBox="1">
            <a:spLocks/>
          </p:cNvSpPr>
          <p:nvPr/>
        </p:nvSpPr>
        <p:spPr>
          <a:xfrm>
            <a:off x="771440" y="531490"/>
            <a:ext cx="10492908" cy="65783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CL" sz="2400" dirty="0">
                <a:latin typeface="Avenir Next" panose="020B0503020202020204" pitchFamily="34" charset="0"/>
              </a:rPr>
              <a:t>Guía de ejercicios</a:t>
            </a:r>
            <a:br>
              <a:rPr lang="es-CL" sz="2285" dirty="0">
                <a:latin typeface="Avenir Next" panose="020B0503020202020204" pitchFamily="34" charset="0"/>
              </a:rPr>
            </a:br>
            <a:r>
              <a:rPr lang="es-CL" sz="1400" b="1" dirty="0">
                <a:latin typeface="Avenir Next" panose="020B0503020202020204" pitchFamily="34" charset="0"/>
              </a:rPr>
              <a:t>SOLUCIÓN EJERCICIO 8</a:t>
            </a:r>
            <a:endParaRPr lang="es-CL" sz="1246" b="1" dirty="0">
              <a:latin typeface="Avenir Next" panose="020B0503020202020204" pitchFamily="34" charset="0"/>
            </a:endParaRPr>
          </a:p>
        </p:txBody>
      </p:sp>
      <p:sp>
        <p:nvSpPr>
          <p:cNvPr id="6" name="CuadroTexto 5">
            <a:extLst>
              <a:ext uri="{FF2B5EF4-FFF2-40B4-BE49-F238E27FC236}">
                <a16:creationId xmlns:a16="http://schemas.microsoft.com/office/drawing/2014/main" id="{CE70AEF7-6238-BF3E-E4FA-8388B7257ACD}"/>
              </a:ext>
            </a:extLst>
          </p:cNvPr>
          <p:cNvSpPr txBox="1"/>
          <p:nvPr/>
        </p:nvSpPr>
        <p:spPr>
          <a:xfrm>
            <a:off x="1174856" y="1382483"/>
            <a:ext cx="4550083" cy="553357"/>
          </a:xfrm>
          <a:prstGeom prst="rect">
            <a:avLst/>
          </a:prstGeom>
          <a:noFill/>
        </p:spPr>
        <p:txBody>
          <a:bodyPr wrap="square">
            <a:spAutoFit/>
          </a:bodyPr>
          <a:lstStyle/>
          <a:p>
            <a:pPr>
              <a:lnSpc>
                <a:spcPct val="107000"/>
              </a:lnSpc>
              <a:spcAft>
                <a:spcPts val="554"/>
              </a:spcAft>
            </a:pPr>
            <a:r>
              <a:rPr lang="es-ES" sz="1400" kern="100" dirty="0">
                <a:latin typeface="Avenir Next" panose="020B0503020202020204" pitchFamily="34" charset="0"/>
                <a:ea typeface="Aptos" panose="020B0004020202020204" pitchFamily="34" charset="0"/>
                <a:cs typeface="Times New Roman" panose="02020603050405020304" pitchFamily="18" charset="0"/>
              </a:rPr>
              <a:t>Diseña una curva de financiamiento en 3 rondas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Seed</a:t>
            </a:r>
            <a:r>
              <a:rPr lang="es-ES" sz="1400" kern="100" dirty="0">
                <a:latin typeface="Avenir Next" panose="020B0503020202020204" pitchFamily="34" charset="0"/>
                <a:ea typeface="Aptos" panose="020B0004020202020204" pitchFamily="34" charset="0"/>
                <a:cs typeface="Times New Roman" panose="02020603050405020304" pitchFamily="18" charset="0"/>
              </a:rPr>
              <a:t>, Serie A, Serie B).</a:t>
            </a:r>
          </a:p>
        </p:txBody>
      </p:sp>
      <p:sp>
        <p:nvSpPr>
          <p:cNvPr id="7" name="Rectángulo 6">
            <a:extLst>
              <a:ext uri="{FF2B5EF4-FFF2-40B4-BE49-F238E27FC236}">
                <a16:creationId xmlns:a16="http://schemas.microsoft.com/office/drawing/2014/main" id="{B32A7887-AE07-FDE8-B097-CC4FC8BCFFAC}"/>
              </a:ext>
            </a:extLst>
          </p:cNvPr>
          <p:cNvSpPr/>
          <p:nvPr/>
        </p:nvSpPr>
        <p:spPr>
          <a:xfrm>
            <a:off x="771440" y="1382483"/>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3</a:t>
            </a:r>
          </a:p>
        </p:txBody>
      </p:sp>
      <p:sp>
        <p:nvSpPr>
          <p:cNvPr id="8" name="CuadroTexto 7">
            <a:extLst>
              <a:ext uri="{FF2B5EF4-FFF2-40B4-BE49-F238E27FC236}">
                <a16:creationId xmlns:a16="http://schemas.microsoft.com/office/drawing/2014/main" id="{760E48B8-BB2B-590D-C9AA-829623F3845F}"/>
              </a:ext>
            </a:extLst>
          </p:cNvPr>
          <p:cNvSpPr txBox="1"/>
          <p:nvPr/>
        </p:nvSpPr>
        <p:spPr>
          <a:xfrm>
            <a:off x="6870479" y="1396001"/>
            <a:ext cx="4393869" cy="783869"/>
          </a:xfrm>
          <a:prstGeom prst="rect">
            <a:avLst/>
          </a:prstGeom>
          <a:noFill/>
        </p:spPr>
        <p:txBody>
          <a:bodyPr wrap="square">
            <a:spAutoFit/>
          </a:bodyPr>
          <a:lstStyle/>
          <a:p>
            <a:pPr>
              <a:lnSpc>
                <a:spcPct val="107000"/>
              </a:lnSpc>
              <a:spcAft>
                <a:spcPts val="554"/>
              </a:spcAft>
            </a:pPr>
            <a:r>
              <a:rPr lang="es-ES" sz="1400" kern="100" dirty="0">
                <a:latin typeface="Avenir Next" panose="020B0503020202020204" pitchFamily="34" charset="0"/>
                <a:ea typeface="Aptos" panose="020B0004020202020204" pitchFamily="34" charset="0"/>
                <a:cs typeface="Times New Roman" panose="02020603050405020304" pitchFamily="18" charset="0"/>
              </a:rPr>
              <a:t>Si un VC ofrece MMUS$1 con un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cap</a:t>
            </a:r>
            <a:r>
              <a:rPr lang="es-ES" sz="1400" kern="100" dirty="0">
                <a:latin typeface="Avenir Next" panose="020B0503020202020204" pitchFamily="34" charset="0"/>
                <a:ea typeface="Aptos" panose="020B0004020202020204" pitchFamily="34" charset="0"/>
                <a:cs typeface="Times New Roman" panose="02020603050405020304" pitchFamily="18" charset="0"/>
              </a:rPr>
              <a:t> table inicial de 1.000 acciones, construye el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cap</a:t>
            </a:r>
            <a:r>
              <a:rPr lang="es-ES" sz="1400" kern="100" dirty="0">
                <a:latin typeface="Avenir Next" panose="020B0503020202020204" pitchFamily="34" charset="0"/>
                <a:ea typeface="Aptos" panose="020B0004020202020204" pitchFamily="34" charset="0"/>
                <a:cs typeface="Times New Roman" panose="02020603050405020304" pitchFamily="18" charset="0"/>
              </a:rPr>
              <a:t> table post-inversión suponiendo 20% de </a:t>
            </a:r>
            <a:r>
              <a:rPr lang="es-ES" sz="1400" kern="100" dirty="0" err="1">
                <a:latin typeface="Avenir Next" panose="020B0503020202020204" pitchFamily="34" charset="0"/>
                <a:ea typeface="Aptos" panose="020B0004020202020204" pitchFamily="34" charset="0"/>
                <a:cs typeface="Times New Roman" panose="02020603050405020304" pitchFamily="18" charset="0"/>
              </a:rPr>
              <a:t>equity</a:t>
            </a:r>
            <a:r>
              <a:rPr lang="es-ES" sz="1400" kern="100" dirty="0">
                <a:latin typeface="Avenir Next" panose="020B0503020202020204" pitchFamily="34" charset="0"/>
                <a:ea typeface="Aptos" panose="020B0004020202020204" pitchFamily="34" charset="0"/>
                <a:cs typeface="Times New Roman" panose="02020603050405020304" pitchFamily="18" charset="0"/>
              </a:rPr>
              <a:t> entregado.</a:t>
            </a:r>
          </a:p>
        </p:txBody>
      </p:sp>
      <p:sp>
        <p:nvSpPr>
          <p:cNvPr id="9" name="Rectángulo 8">
            <a:extLst>
              <a:ext uri="{FF2B5EF4-FFF2-40B4-BE49-F238E27FC236}">
                <a16:creationId xmlns:a16="http://schemas.microsoft.com/office/drawing/2014/main" id="{D130D298-1AE5-83D8-45F2-F0094F86B9F3}"/>
              </a:ext>
            </a:extLst>
          </p:cNvPr>
          <p:cNvSpPr/>
          <p:nvPr/>
        </p:nvSpPr>
        <p:spPr>
          <a:xfrm>
            <a:off x="6467063" y="1396001"/>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4</a:t>
            </a:r>
          </a:p>
        </p:txBody>
      </p:sp>
      <p:pic>
        <p:nvPicPr>
          <p:cNvPr id="2" name="Imagen 1">
            <a:extLst>
              <a:ext uri="{FF2B5EF4-FFF2-40B4-BE49-F238E27FC236}">
                <a16:creationId xmlns:a16="http://schemas.microsoft.com/office/drawing/2014/main" id="{2C130528-C49B-8401-B821-EBB30A64C04F}"/>
              </a:ext>
            </a:extLst>
          </p:cNvPr>
          <p:cNvPicPr>
            <a:picLocks noChangeAspect="1"/>
          </p:cNvPicPr>
          <p:nvPr/>
        </p:nvPicPr>
        <p:blipFill>
          <a:blip r:embed="rId2"/>
          <a:stretch>
            <a:fillRect/>
          </a:stretch>
        </p:blipFill>
        <p:spPr>
          <a:xfrm>
            <a:off x="1174856" y="2328808"/>
            <a:ext cx="4515628" cy="2120869"/>
          </a:xfrm>
          <a:prstGeom prst="rect">
            <a:avLst/>
          </a:prstGeom>
        </p:spPr>
      </p:pic>
      <p:graphicFrame>
        <p:nvGraphicFramePr>
          <p:cNvPr id="3" name="Tabla 2">
            <a:extLst>
              <a:ext uri="{FF2B5EF4-FFF2-40B4-BE49-F238E27FC236}">
                <a16:creationId xmlns:a16="http://schemas.microsoft.com/office/drawing/2014/main" id="{3A0833F6-A569-1500-9C0F-F1EF03C47E92}"/>
              </a:ext>
            </a:extLst>
          </p:cNvPr>
          <p:cNvGraphicFramePr>
            <a:graphicFrameLocks noGrp="1"/>
          </p:cNvGraphicFramePr>
          <p:nvPr>
            <p:extLst>
              <p:ext uri="{D42A27DB-BD31-4B8C-83A1-F6EECF244321}">
                <p14:modId xmlns:p14="http://schemas.microsoft.com/office/powerpoint/2010/main" val="790745717"/>
              </p:ext>
            </p:extLst>
          </p:nvPr>
        </p:nvGraphicFramePr>
        <p:xfrm>
          <a:off x="6467063" y="2570285"/>
          <a:ext cx="4797285" cy="1717429"/>
        </p:xfrm>
        <a:graphic>
          <a:graphicData uri="http://schemas.openxmlformats.org/drawingml/2006/table">
            <a:tbl>
              <a:tblPr firstRow="1" bandRow="1">
                <a:tableStyleId>{5940675A-B579-460E-94D1-54222C63F5DA}</a:tableStyleId>
              </a:tblPr>
              <a:tblGrid>
                <a:gridCol w="1523998">
                  <a:extLst>
                    <a:ext uri="{9D8B030D-6E8A-4147-A177-3AD203B41FA5}">
                      <a16:colId xmlns:a16="http://schemas.microsoft.com/office/drawing/2014/main" val="3516870898"/>
                    </a:ext>
                  </a:extLst>
                </a:gridCol>
                <a:gridCol w="848139">
                  <a:extLst>
                    <a:ext uri="{9D8B030D-6E8A-4147-A177-3AD203B41FA5}">
                      <a16:colId xmlns:a16="http://schemas.microsoft.com/office/drawing/2014/main" val="1929096429"/>
                    </a:ext>
                  </a:extLst>
                </a:gridCol>
                <a:gridCol w="821635">
                  <a:extLst>
                    <a:ext uri="{9D8B030D-6E8A-4147-A177-3AD203B41FA5}">
                      <a16:colId xmlns:a16="http://schemas.microsoft.com/office/drawing/2014/main" val="4212268407"/>
                    </a:ext>
                  </a:extLst>
                </a:gridCol>
                <a:gridCol w="874643">
                  <a:extLst>
                    <a:ext uri="{9D8B030D-6E8A-4147-A177-3AD203B41FA5}">
                      <a16:colId xmlns:a16="http://schemas.microsoft.com/office/drawing/2014/main" val="1255874805"/>
                    </a:ext>
                  </a:extLst>
                </a:gridCol>
                <a:gridCol w="728870">
                  <a:extLst>
                    <a:ext uri="{9D8B030D-6E8A-4147-A177-3AD203B41FA5}">
                      <a16:colId xmlns:a16="http://schemas.microsoft.com/office/drawing/2014/main" val="690170297"/>
                    </a:ext>
                  </a:extLst>
                </a:gridCol>
              </a:tblGrid>
              <a:tr h="274320">
                <a:tc>
                  <a:txBody>
                    <a:bodyPr/>
                    <a:lstStyle/>
                    <a:p>
                      <a:pPr algn="ctr"/>
                      <a:r>
                        <a:rPr lang="es-CL" sz="1100" b="1"/>
                        <a:t>Accionista</a:t>
                      </a:r>
                    </a:p>
                  </a:txBody>
                  <a:tcPr marL="63305" marR="63305" marT="31652" marB="31652" anchor="ctr"/>
                </a:tc>
                <a:tc>
                  <a:txBody>
                    <a:bodyPr/>
                    <a:lstStyle/>
                    <a:p>
                      <a:pPr algn="ctr"/>
                      <a:r>
                        <a:rPr lang="es-CL" sz="1100" b="1"/>
                        <a:t>Emisión inicial</a:t>
                      </a:r>
                    </a:p>
                  </a:txBody>
                  <a:tcPr marL="63305" marR="63305" marT="31652" marB="31652" anchor="ctr"/>
                </a:tc>
                <a:tc>
                  <a:txBody>
                    <a:bodyPr/>
                    <a:lstStyle/>
                    <a:p>
                      <a:pPr algn="ctr"/>
                      <a:r>
                        <a:rPr lang="es-CL" sz="1100" b="1"/>
                        <a:t>%</a:t>
                      </a:r>
                    </a:p>
                  </a:txBody>
                  <a:tcPr marL="63305" marR="63305" marT="31652" marB="31652" anchor="ctr"/>
                </a:tc>
                <a:tc>
                  <a:txBody>
                    <a:bodyPr/>
                    <a:lstStyle/>
                    <a:p>
                      <a:pPr algn="ctr"/>
                      <a:r>
                        <a:rPr lang="es-CL" sz="1100" b="1"/>
                        <a:t>Serie A</a:t>
                      </a:r>
                    </a:p>
                  </a:txBody>
                  <a:tcPr marL="63305" marR="63305" marT="31652" marB="31652" anchor="ctr"/>
                </a:tc>
                <a:tc>
                  <a:txBody>
                    <a:bodyPr/>
                    <a:lstStyle/>
                    <a:p>
                      <a:pPr algn="ctr"/>
                      <a:r>
                        <a:rPr lang="es-CL" sz="1100" b="1"/>
                        <a:t>%</a:t>
                      </a:r>
                    </a:p>
                  </a:txBody>
                  <a:tcPr marL="63305" marR="63305" marT="31652" marB="31652" anchor="ctr"/>
                </a:tc>
                <a:extLst>
                  <a:ext uri="{0D108BD9-81ED-4DB2-BD59-A6C34878D82A}">
                    <a16:rowId xmlns:a16="http://schemas.microsoft.com/office/drawing/2014/main" val="1421472808"/>
                  </a:ext>
                </a:extLst>
              </a:tr>
              <a:tr h="256735">
                <a:tc>
                  <a:txBody>
                    <a:bodyPr/>
                    <a:lstStyle/>
                    <a:p>
                      <a:r>
                        <a:rPr lang="es-CL" sz="1100"/>
                        <a:t>Fundador</a:t>
                      </a:r>
                    </a:p>
                  </a:txBody>
                  <a:tcPr marL="63305" marR="63305" marT="31652" marB="31652" anchor="ctr"/>
                </a:tc>
                <a:tc>
                  <a:txBody>
                    <a:bodyPr/>
                    <a:lstStyle/>
                    <a:p>
                      <a:pPr algn="r"/>
                      <a:r>
                        <a:rPr lang="es-CL" sz="1100"/>
                        <a:t>600</a:t>
                      </a:r>
                    </a:p>
                  </a:txBody>
                  <a:tcPr marL="63305" marR="63305" marT="31652" marB="31652" anchor="ctr"/>
                </a:tc>
                <a:tc>
                  <a:txBody>
                    <a:bodyPr/>
                    <a:lstStyle/>
                    <a:p>
                      <a:pPr algn="r"/>
                      <a:r>
                        <a:rPr lang="es-CL" sz="1100"/>
                        <a:t>60%</a:t>
                      </a:r>
                    </a:p>
                  </a:txBody>
                  <a:tcPr marL="63305" marR="63305" marT="31652" marB="31652" anchor="ctr"/>
                </a:tc>
                <a:tc>
                  <a:txBody>
                    <a:bodyPr/>
                    <a:lstStyle/>
                    <a:p>
                      <a:pPr algn="r"/>
                      <a:r>
                        <a:rPr lang="es-CL" sz="1100"/>
                        <a:t>600</a:t>
                      </a:r>
                    </a:p>
                  </a:txBody>
                  <a:tcPr marL="63305" marR="63305" marT="31652" marB="31652" anchor="ctr"/>
                </a:tc>
                <a:tc>
                  <a:txBody>
                    <a:bodyPr/>
                    <a:lstStyle/>
                    <a:p>
                      <a:pPr algn="r"/>
                      <a:r>
                        <a:rPr lang="es-CL" sz="1100"/>
                        <a:t>48%</a:t>
                      </a:r>
                    </a:p>
                  </a:txBody>
                  <a:tcPr marL="63305" marR="63305" marT="31652" marB="31652" anchor="ctr"/>
                </a:tc>
                <a:extLst>
                  <a:ext uri="{0D108BD9-81ED-4DB2-BD59-A6C34878D82A}">
                    <a16:rowId xmlns:a16="http://schemas.microsoft.com/office/drawing/2014/main" val="2172676767"/>
                  </a:ext>
                </a:extLst>
              </a:tr>
              <a:tr h="274320">
                <a:tc>
                  <a:txBody>
                    <a:bodyPr/>
                    <a:lstStyle/>
                    <a:p>
                      <a:r>
                        <a:rPr lang="es-CL" sz="1100"/>
                        <a:t>Cofundador 1</a:t>
                      </a:r>
                    </a:p>
                  </a:txBody>
                  <a:tcPr marL="63305" marR="63305" marT="31652" marB="31652" anchor="ctr"/>
                </a:tc>
                <a:tc>
                  <a:txBody>
                    <a:bodyPr/>
                    <a:lstStyle/>
                    <a:p>
                      <a:pPr algn="r"/>
                      <a:r>
                        <a:rPr lang="es-CL" sz="1100"/>
                        <a:t>200</a:t>
                      </a:r>
                    </a:p>
                  </a:txBody>
                  <a:tcPr marL="63305" marR="63305" marT="31652" marB="31652" anchor="ctr"/>
                </a:tc>
                <a:tc>
                  <a:txBody>
                    <a:bodyPr/>
                    <a:lstStyle/>
                    <a:p>
                      <a:pPr algn="r"/>
                      <a:r>
                        <a:rPr lang="es-CL" sz="1100"/>
                        <a:t>20%</a:t>
                      </a:r>
                    </a:p>
                  </a:txBody>
                  <a:tcPr marL="63305" marR="63305" marT="31652" marB="31652" anchor="ctr"/>
                </a:tc>
                <a:tc>
                  <a:txBody>
                    <a:bodyPr/>
                    <a:lstStyle/>
                    <a:p>
                      <a:pPr algn="r"/>
                      <a:r>
                        <a:rPr lang="es-CL" sz="1100"/>
                        <a:t>200</a:t>
                      </a:r>
                    </a:p>
                  </a:txBody>
                  <a:tcPr marL="63305" marR="63305" marT="31652" marB="31652" anchor="ctr"/>
                </a:tc>
                <a:tc>
                  <a:txBody>
                    <a:bodyPr/>
                    <a:lstStyle/>
                    <a:p>
                      <a:pPr algn="r"/>
                      <a:r>
                        <a:rPr lang="es-CL" sz="1100"/>
                        <a:t>16%</a:t>
                      </a:r>
                    </a:p>
                  </a:txBody>
                  <a:tcPr marL="63305" marR="63305" marT="31652" marB="31652" anchor="ctr"/>
                </a:tc>
                <a:extLst>
                  <a:ext uri="{0D108BD9-81ED-4DB2-BD59-A6C34878D82A}">
                    <a16:rowId xmlns:a16="http://schemas.microsoft.com/office/drawing/2014/main" val="2368331733"/>
                  </a:ext>
                </a:extLst>
              </a:tr>
              <a:tr h="274320">
                <a:tc>
                  <a:txBody>
                    <a:bodyPr/>
                    <a:lstStyle/>
                    <a:p>
                      <a:r>
                        <a:rPr lang="es-CL" sz="1100"/>
                        <a:t>Cofundador 2</a:t>
                      </a:r>
                    </a:p>
                  </a:txBody>
                  <a:tcPr marL="63305" marR="63305" marT="31652" marB="31652" anchor="ctr"/>
                </a:tc>
                <a:tc>
                  <a:txBody>
                    <a:bodyPr/>
                    <a:lstStyle/>
                    <a:p>
                      <a:pPr algn="r"/>
                      <a:r>
                        <a:rPr lang="es-CL" sz="1100"/>
                        <a:t>200</a:t>
                      </a:r>
                    </a:p>
                  </a:txBody>
                  <a:tcPr marL="63305" marR="63305" marT="31652" marB="31652" anchor="ctr"/>
                </a:tc>
                <a:tc>
                  <a:txBody>
                    <a:bodyPr/>
                    <a:lstStyle/>
                    <a:p>
                      <a:pPr algn="r"/>
                      <a:r>
                        <a:rPr lang="es-CL" sz="1100"/>
                        <a:t>20%</a:t>
                      </a:r>
                    </a:p>
                  </a:txBody>
                  <a:tcPr marL="63305" marR="63305" marT="31652" marB="31652" anchor="ctr"/>
                </a:tc>
                <a:tc>
                  <a:txBody>
                    <a:bodyPr/>
                    <a:lstStyle/>
                    <a:p>
                      <a:pPr algn="r"/>
                      <a:r>
                        <a:rPr lang="es-CL" sz="1100"/>
                        <a:t>200</a:t>
                      </a:r>
                    </a:p>
                  </a:txBody>
                  <a:tcPr marL="63305" marR="63305" marT="31652" marB="31652" anchor="ctr"/>
                </a:tc>
                <a:tc>
                  <a:txBody>
                    <a:bodyPr/>
                    <a:lstStyle/>
                    <a:p>
                      <a:pPr algn="r"/>
                      <a:r>
                        <a:rPr lang="es-CL" sz="1100"/>
                        <a:t>16%</a:t>
                      </a:r>
                    </a:p>
                  </a:txBody>
                  <a:tcPr marL="63305" marR="63305" marT="31652" marB="31652" anchor="ctr"/>
                </a:tc>
                <a:extLst>
                  <a:ext uri="{0D108BD9-81ED-4DB2-BD59-A6C34878D82A}">
                    <a16:rowId xmlns:a16="http://schemas.microsoft.com/office/drawing/2014/main" val="3826268152"/>
                  </a:ext>
                </a:extLst>
              </a:tr>
              <a:tr h="256735">
                <a:tc>
                  <a:txBody>
                    <a:bodyPr/>
                    <a:lstStyle/>
                    <a:p>
                      <a:r>
                        <a:rPr lang="es-CL" sz="1100"/>
                        <a:t>Inversor 1 SA</a:t>
                      </a:r>
                    </a:p>
                  </a:txBody>
                  <a:tcPr marL="63305" marR="63305" marT="31652" marB="31652" anchor="ctr"/>
                </a:tc>
                <a:tc>
                  <a:txBody>
                    <a:bodyPr/>
                    <a:lstStyle/>
                    <a:p>
                      <a:pPr algn="r"/>
                      <a:endParaRPr lang="es-CL" sz="1100"/>
                    </a:p>
                  </a:txBody>
                  <a:tcPr marL="63305" marR="63305" marT="31652" marB="31652" anchor="ctr"/>
                </a:tc>
                <a:tc>
                  <a:txBody>
                    <a:bodyPr/>
                    <a:lstStyle/>
                    <a:p>
                      <a:pPr algn="r"/>
                      <a:endParaRPr lang="es-CL" sz="1100"/>
                    </a:p>
                  </a:txBody>
                  <a:tcPr marL="63305" marR="63305" marT="31652" marB="31652" anchor="ctr"/>
                </a:tc>
                <a:tc>
                  <a:txBody>
                    <a:bodyPr/>
                    <a:lstStyle/>
                    <a:p>
                      <a:pPr algn="r"/>
                      <a:r>
                        <a:rPr lang="es-CL" sz="1100"/>
                        <a:t>250</a:t>
                      </a:r>
                    </a:p>
                  </a:txBody>
                  <a:tcPr marL="63305" marR="63305" marT="31652" marB="31652" anchor="ctr"/>
                </a:tc>
                <a:tc>
                  <a:txBody>
                    <a:bodyPr/>
                    <a:lstStyle/>
                    <a:p>
                      <a:pPr algn="r"/>
                      <a:r>
                        <a:rPr lang="es-CL" sz="1100"/>
                        <a:t>20%</a:t>
                      </a:r>
                    </a:p>
                  </a:txBody>
                  <a:tcPr marL="63305" marR="63305" marT="31652" marB="31652" anchor="ctr"/>
                </a:tc>
                <a:extLst>
                  <a:ext uri="{0D108BD9-81ED-4DB2-BD59-A6C34878D82A}">
                    <a16:rowId xmlns:a16="http://schemas.microsoft.com/office/drawing/2014/main" val="202981297"/>
                  </a:ext>
                </a:extLst>
              </a:tr>
              <a:tr h="256735">
                <a:tc>
                  <a:txBody>
                    <a:bodyPr/>
                    <a:lstStyle/>
                    <a:p>
                      <a:r>
                        <a:rPr lang="es-CL" sz="1100" b="1"/>
                        <a:t>TOTAL</a:t>
                      </a:r>
                    </a:p>
                  </a:txBody>
                  <a:tcPr marL="63305" marR="63305" marT="31652" marB="31652" anchor="ctr"/>
                </a:tc>
                <a:tc>
                  <a:txBody>
                    <a:bodyPr/>
                    <a:lstStyle/>
                    <a:p>
                      <a:pPr algn="r"/>
                      <a:r>
                        <a:rPr lang="es-CL" sz="1100"/>
                        <a:t>1.000</a:t>
                      </a:r>
                    </a:p>
                  </a:txBody>
                  <a:tcPr marL="63305" marR="63305" marT="31652" marB="31652" anchor="ctr"/>
                </a:tc>
                <a:tc>
                  <a:txBody>
                    <a:bodyPr/>
                    <a:lstStyle/>
                    <a:p>
                      <a:pPr algn="r"/>
                      <a:r>
                        <a:rPr lang="es-CL" sz="1100"/>
                        <a:t>100%</a:t>
                      </a:r>
                    </a:p>
                  </a:txBody>
                  <a:tcPr marL="63305" marR="63305" marT="31652" marB="31652" anchor="ctr"/>
                </a:tc>
                <a:tc>
                  <a:txBody>
                    <a:bodyPr/>
                    <a:lstStyle/>
                    <a:p>
                      <a:pPr algn="r"/>
                      <a:r>
                        <a:rPr lang="es-CL" sz="1100"/>
                        <a:t>1.250</a:t>
                      </a:r>
                    </a:p>
                  </a:txBody>
                  <a:tcPr marL="63305" marR="63305" marT="31652" marB="31652" anchor="ctr"/>
                </a:tc>
                <a:tc>
                  <a:txBody>
                    <a:bodyPr/>
                    <a:lstStyle/>
                    <a:p>
                      <a:pPr algn="r"/>
                      <a:r>
                        <a:rPr lang="es-CL" sz="1100" dirty="0"/>
                        <a:t>100%</a:t>
                      </a:r>
                    </a:p>
                  </a:txBody>
                  <a:tcPr marL="63305" marR="63305" marT="31652" marB="31652" anchor="ctr"/>
                </a:tc>
                <a:extLst>
                  <a:ext uri="{0D108BD9-81ED-4DB2-BD59-A6C34878D82A}">
                    <a16:rowId xmlns:a16="http://schemas.microsoft.com/office/drawing/2014/main" val="454209467"/>
                  </a:ext>
                </a:extLst>
              </a:tr>
            </a:tbl>
          </a:graphicData>
        </a:graphic>
      </p:graphicFrame>
    </p:spTree>
    <p:extLst>
      <p:ext uri="{BB962C8B-B14F-4D97-AF65-F5344CB8AC3E}">
        <p14:creationId xmlns:p14="http://schemas.microsoft.com/office/powerpoint/2010/main" val="4259482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32DD3-0BCE-4870-4C39-854AFAB846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A1B596-D6BA-B1C4-9520-814E10836595}"/>
              </a:ext>
            </a:extLst>
          </p:cNvPr>
          <p:cNvSpPr>
            <a:spLocks noGrp="1"/>
          </p:cNvSpPr>
          <p:nvPr>
            <p:ph type="title"/>
          </p:nvPr>
        </p:nvSpPr>
        <p:spPr>
          <a:xfrm>
            <a:off x="838200" y="1477828"/>
            <a:ext cx="5257800" cy="1951172"/>
          </a:xfrm>
        </p:spPr>
        <p:txBody>
          <a:bodyPr/>
          <a:lstStyle/>
          <a:p>
            <a:r>
              <a:rPr lang="es-CL" dirty="0"/>
              <a:t>Caso 12</a:t>
            </a:r>
            <a:br>
              <a:rPr lang="es-CL" dirty="0"/>
            </a:br>
            <a:r>
              <a:rPr lang="es-ES" kern="100" dirty="0">
                <a:ea typeface="Aptos" panose="020B0004020202020204" pitchFamily="34" charset="0"/>
                <a:cs typeface="Times New Roman" panose="02020603050405020304" pitchFamily="18" charset="0"/>
              </a:rPr>
              <a:t>Ronda de inversión y valorización.</a:t>
            </a:r>
            <a:endParaRPr lang="es-CL" dirty="0"/>
          </a:p>
        </p:txBody>
      </p:sp>
    </p:spTree>
    <p:extLst>
      <p:ext uri="{BB962C8B-B14F-4D97-AF65-F5344CB8AC3E}">
        <p14:creationId xmlns:p14="http://schemas.microsoft.com/office/powerpoint/2010/main" val="1692580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030BC-C148-F22C-62CF-58194F3FB6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52E500-2F0E-0B5C-FA54-71AFD9639EAC}"/>
              </a:ext>
            </a:extLst>
          </p:cNvPr>
          <p:cNvSpPr txBox="1"/>
          <p:nvPr/>
        </p:nvSpPr>
        <p:spPr>
          <a:xfrm>
            <a:off x="874644" y="1545202"/>
            <a:ext cx="7288696" cy="4537268"/>
          </a:xfrm>
          <a:prstGeom prst="rect">
            <a:avLst/>
          </a:prstGeom>
          <a:noFill/>
        </p:spPr>
        <p:txBody>
          <a:bodyPr wrap="square">
            <a:spAutoFit/>
          </a:bodyPr>
          <a:lstStyle/>
          <a:p>
            <a:r>
              <a:rPr lang="es-ES_tradnl" sz="1200" dirty="0">
                <a:latin typeface="Avenir Next" panose="020B0503020202020204" pitchFamily="34" charset="0"/>
              </a:rPr>
              <a:t>Ud. Ha llevado adelante un emprendimiento tecnológico sofisticado, ha logrado vender maquinas mini – desaladoras para pueblos cercanos al mar, pero con déficit hídrico, cada planta en USD$ 500.000.- más un contrato de mantención –USD$ 100.000.- por año-, a 3 años. </a:t>
            </a:r>
          </a:p>
          <a:p>
            <a:endParaRPr lang="es-ES_tradnl" sz="1200" dirty="0">
              <a:latin typeface="Avenir Next" panose="020B0503020202020204" pitchFamily="34" charset="0"/>
            </a:endParaRPr>
          </a:p>
          <a:p>
            <a:r>
              <a:rPr lang="es-ES_tradnl" sz="1200" dirty="0">
                <a:latin typeface="Avenir Next" panose="020B0503020202020204" pitchFamily="34" charset="0"/>
              </a:rPr>
              <a:t>En 4 años, sus ventas anuales se han elevado a los USD$ 3.600.000.- año, y estando ya en </a:t>
            </a:r>
            <a:r>
              <a:rPr lang="es-ES_tradnl" sz="1200" i="1" dirty="0">
                <a:latin typeface="Avenir Next" panose="020B0503020202020204" pitchFamily="34" charset="0"/>
              </a:rPr>
              <a:t>break </a:t>
            </a:r>
            <a:r>
              <a:rPr lang="es-ES_tradnl" sz="1200" i="1" dirty="0" err="1">
                <a:latin typeface="Avenir Next" panose="020B0503020202020204" pitchFamily="34" charset="0"/>
              </a:rPr>
              <a:t>even</a:t>
            </a:r>
            <a:r>
              <a:rPr lang="es-ES_tradnl" sz="1200" i="1" dirty="0">
                <a:latin typeface="Avenir Next" panose="020B0503020202020204" pitchFamily="34" charset="0"/>
              </a:rPr>
              <a:t> (</a:t>
            </a:r>
            <a:r>
              <a:rPr lang="es-ES_tradnl" sz="1200" dirty="0">
                <a:latin typeface="Avenir Next" panose="020B0503020202020204" pitchFamily="34" charset="0"/>
              </a:rPr>
              <a:t>y con la empresa estabilizada), ha ahorrado USD$ 400.000.- y su EBITDA es de un 30% es decir, alrededor de USD$ 1 millón, donde también ha cuidado seguir siendo considerada una empresa tecnológica y de innovación, por lo cual espera el mercado multiplique por 10 al valorar.</a:t>
            </a:r>
          </a:p>
          <a:p>
            <a:endParaRPr lang="es-CL" sz="1200" dirty="0">
              <a:latin typeface="Avenir Next" panose="020B0503020202020204" pitchFamily="34" charset="0"/>
            </a:endParaRPr>
          </a:p>
          <a:p>
            <a:r>
              <a:rPr lang="es-ES_tradnl" sz="1200" dirty="0">
                <a:latin typeface="Avenir Next" panose="020B0503020202020204" pitchFamily="34" charset="0"/>
              </a:rPr>
              <a:t>Sus asesores le dicen que la empresa debe ir más rápido, elevar las ventas al triple en 2 años; y que para aumentar esa velocidad debe hacer una ronda serie A, pues el nivel de ahorro esperado para los siguientes 2 años es de USD$ 1.500.000.- con lo cual faltaría capital para los proyectos estratégicos. </a:t>
            </a:r>
          </a:p>
          <a:p>
            <a:endParaRPr lang="es-ES_tradnl" sz="1200" dirty="0">
              <a:latin typeface="Avenir Next" panose="020B0503020202020204" pitchFamily="34" charset="0"/>
            </a:endParaRPr>
          </a:p>
          <a:p>
            <a:r>
              <a:rPr lang="es-ES_tradnl" sz="1200" dirty="0">
                <a:latin typeface="Avenir Next" panose="020B0503020202020204" pitchFamily="34" charset="0"/>
              </a:rPr>
              <a:t>Los principales proyectos son: crecer en mercados internacionales USD$ 1.000.000.-; profundizar el I+D y sacar nuevas máquinas para nuevos segmentos, USD$ 2.000.000.-; crecimiento, digitalización y modernización de la estructura USD$ 500.000.- </a:t>
            </a:r>
          </a:p>
          <a:p>
            <a:endParaRPr lang="es-ES_tradnl" sz="1200" dirty="0">
              <a:latin typeface="Avenir Next" panose="020B0503020202020204" pitchFamily="34" charset="0"/>
            </a:endParaRPr>
          </a:p>
          <a:p>
            <a:r>
              <a:rPr lang="es-ES_tradnl" sz="1200" dirty="0">
                <a:latin typeface="Avenir Next" panose="020B0503020202020204" pitchFamily="34" charset="0"/>
              </a:rPr>
              <a:t>El capital de trabajo de esta empresa –y como venden equipos-, lo calculan en 3 meses de ventas. Como se señalaba la empresa esta estabilizada y eso implica que tienen el capital de trabajo (que no es ahorro).</a:t>
            </a:r>
          </a:p>
          <a:p>
            <a:endParaRPr lang="es-ES_tradnl" sz="1200" dirty="0">
              <a:latin typeface="Avenir Next" panose="020B0503020202020204" pitchFamily="34" charset="0"/>
            </a:endParaRPr>
          </a:p>
          <a:p>
            <a:r>
              <a:rPr lang="es-ES_tradnl" sz="1200" dirty="0">
                <a:latin typeface="Avenir Next" panose="020B0503020202020204" pitchFamily="34" charset="0"/>
              </a:rPr>
              <a:t>No quieren tomar deuda.</a:t>
            </a:r>
            <a:endParaRPr lang="es-CL" sz="1200" dirty="0">
              <a:latin typeface="Avenir Next" panose="020B0503020202020204" pitchFamily="34" charset="0"/>
            </a:endParaRPr>
          </a:p>
          <a:p>
            <a:r>
              <a:rPr lang="es-ES_tradnl" sz="1200" dirty="0">
                <a:latin typeface="Avenir Next" panose="020B0503020202020204" pitchFamily="34" charset="0"/>
              </a:rPr>
              <a:t> </a:t>
            </a:r>
            <a:endParaRPr lang="es-CL" sz="1200" dirty="0">
              <a:latin typeface="Avenir Next" panose="020B0503020202020204" pitchFamily="34" charset="0"/>
            </a:endParaRPr>
          </a:p>
          <a:p>
            <a:pPr algn="just">
              <a:lnSpc>
                <a:spcPct val="107000"/>
              </a:lnSpc>
              <a:spcAft>
                <a:spcPts val="554"/>
              </a:spcAft>
            </a:pPr>
            <a:r>
              <a:rPr lang="es-CL" sz="1200" i="1" kern="100" dirty="0">
                <a:latin typeface="Avenir Next" panose="020B0503020202020204" pitchFamily="34" charset="0"/>
                <a:ea typeface="Aptos" panose="020B0004020202020204" pitchFamily="34" charset="0"/>
                <a:cs typeface="Times New Roman" panose="02020603050405020304" pitchFamily="18" charset="0"/>
              </a:rPr>
              <a:t>Basado en un caso real.</a:t>
            </a:r>
          </a:p>
        </p:txBody>
      </p:sp>
      <p:sp>
        <p:nvSpPr>
          <p:cNvPr id="7" name="TextBox 6">
            <a:extLst>
              <a:ext uri="{FF2B5EF4-FFF2-40B4-BE49-F238E27FC236}">
                <a16:creationId xmlns:a16="http://schemas.microsoft.com/office/drawing/2014/main" id="{4D51F261-020B-7A72-2F96-30CF2190C858}"/>
              </a:ext>
            </a:extLst>
          </p:cNvPr>
          <p:cNvSpPr txBox="1"/>
          <p:nvPr/>
        </p:nvSpPr>
        <p:spPr>
          <a:xfrm>
            <a:off x="8653670" y="1545202"/>
            <a:ext cx="2663686" cy="3429785"/>
          </a:xfrm>
          <a:prstGeom prst="rect">
            <a:avLst/>
          </a:prstGeom>
          <a:noFill/>
        </p:spPr>
        <p:txBody>
          <a:bodyPr wrap="square">
            <a:spAutoFit/>
          </a:bodyPr>
          <a:lstStyle/>
          <a:p>
            <a:pPr marL="158260" indent="-158260">
              <a:buFont typeface="+mj-lt"/>
              <a:buAutoNum type="arabicPeriod"/>
            </a:pPr>
            <a:r>
              <a:rPr lang="es-ES_tradnl" sz="1400" dirty="0">
                <a:latin typeface="Avenir Next" panose="020B0503020202020204" pitchFamily="34" charset="0"/>
              </a:rPr>
              <a:t>¿Cuál es el requerimiento de capital para la serie A?</a:t>
            </a:r>
            <a:endParaRPr lang="es-CL" sz="1400" dirty="0">
              <a:latin typeface="Avenir Next" panose="020B0503020202020204" pitchFamily="34" charset="0"/>
            </a:endParaRPr>
          </a:p>
          <a:p>
            <a:pPr marL="158260" indent="-15826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a:p>
            <a:pPr marL="158260" indent="-158260">
              <a:buFont typeface="+mj-lt"/>
              <a:buAutoNum type="arabicPeriod"/>
            </a:pPr>
            <a:r>
              <a:rPr lang="es-ES_tradnl" sz="1400" dirty="0">
                <a:latin typeface="Avenir Next" panose="020B0503020202020204" pitchFamily="34" charset="0"/>
              </a:rPr>
              <a:t>¿Cuál es la valorización pre </a:t>
            </a:r>
            <a:r>
              <a:rPr lang="es-ES_tradnl" sz="1400" dirty="0" err="1">
                <a:latin typeface="Avenir Next" panose="020B0503020202020204" pitchFamily="34" charset="0"/>
              </a:rPr>
              <a:t>money</a:t>
            </a:r>
            <a:r>
              <a:rPr lang="es-ES_tradnl" sz="1400" dirty="0">
                <a:latin typeface="Avenir Next" panose="020B0503020202020204" pitchFamily="34" charset="0"/>
              </a:rPr>
              <a:t>?</a:t>
            </a:r>
            <a:r>
              <a:rPr lang="es-CL" sz="1400" dirty="0">
                <a:latin typeface="Avenir Next" panose="020B0503020202020204" pitchFamily="34" charset="0"/>
              </a:rPr>
              <a:t> </a:t>
            </a:r>
            <a:r>
              <a:rPr lang="es-ES_tradnl" sz="1400" dirty="0">
                <a:latin typeface="Avenir Next" panose="020B0503020202020204" pitchFamily="34" charset="0"/>
              </a:rPr>
              <a:t>¿Cuánto porcentaje de la empresa es el aumento de capital?</a:t>
            </a:r>
            <a:endParaRPr lang="es-CL" sz="1400" dirty="0">
              <a:latin typeface="Avenir Next" panose="020B0503020202020204" pitchFamily="34" charset="0"/>
            </a:endParaRPr>
          </a:p>
          <a:p>
            <a:pPr marL="158260" indent="-158260">
              <a:lnSpc>
                <a:spcPct val="107000"/>
              </a:lnSpc>
              <a:spcAft>
                <a:spcPts val="554"/>
              </a:spcAft>
              <a:buFont typeface="+mj-lt"/>
              <a:buAutoNum type="arabicPeriod"/>
            </a:pPr>
            <a:endParaRPr lang="es-ES" sz="1400" kern="100" dirty="0">
              <a:latin typeface="Avenir Next" panose="020B0503020202020204" pitchFamily="34" charset="0"/>
              <a:ea typeface="Aptos" panose="020B0004020202020204" pitchFamily="34" charset="0"/>
              <a:cs typeface="Times New Roman" panose="02020603050405020304" pitchFamily="18" charset="0"/>
            </a:endParaRPr>
          </a:p>
          <a:p>
            <a:pPr marL="158260" indent="-158260">
              <a:buFont typeface="+mj-lt"/>
              <a:buAutoNum type="arabicPeriod"/>
            </a:pPr>
            <a:r>
              <a:rPr lang="es-ES_tradnl" sz="1400" dirty="0">
                <a:latin typeface="Avenir Next" panose="020B0503020202020204" pitchFamily="34" charset="0"/>
              </a:rPr>
              <a:t>¿Qué valorización se espera lograr al año 2?</a:t>
            </a:r>
            <a:endParaRPr lang="es-CL" sz="1400" dirty="0">
              <a:latin typeface="Avenir Next" panose="020B0503020202020204" pitchFamily="34" charset="0"/>
            </a:endParaRPr>
          </a:p>
          <a:p>
            <a:pPr marL="158260" indent="-158260">
              <a:lnSpc>
                <a:spcPct val="107000"/>
              </a:lnSpc>
              <a:spcAft>
                <a:spcPts val="554"/>
              </a:spcAft>
              <a:buFont typeface="+mj-lt"/>
              <a:buAutoNum type="arabicPeriod"/>
            </a:pP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a:p>
            <a:pPr marL="158260" indent="-158260">
              <a:lnSpc>
                <a:spcPct val="107000"/>
              </a:lnSpc>
              <a:spcAft>
                <a:spcPts val="554"/>
              </a:spcAft>
              <a:buFont typeface="+mj-lt"/>
              <a:buAutoNum type="arabicPeriod"/>
            </a:pPr>
            <a:r>
              <a:rPr lang="es-ES_tradnl" sz="1400" dirty="0">
                <a:latin typeface="Avenir Next" panose="020B0503020202020204" pitchFamily="34" charset="0"/>
              </a:rPr>
              <a:t>¿Qué perfil de inversionista - piensa Ud.- que es más adecuado para la empresa?</a:t>
            </a: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01464627-8C91-0354-65CA-198AF51A2A7C}"/>
              </a:ext>
            </a:extLst>
          </p:cNvPr>
          <p:cNvSpPr txBox="1"/>
          <p:nvPr/>
        </p:nvSpPr>
        <p:spPr>
          <a:xfrm>
            <a:off x="874643" y="1081454"/>
            <a:ext cx="7580243" cy="322845"/>
          </a:xfrm>
          <a:prstGeom prst="rect">
            <a:avLst/>
          </a:prstGeom>
          <a:noFill/>
        </p:spPr>
        <p:txBody>
          <a:bodyPr wrap="square">
            <a:spAutoFit/>
          </a:bodyPr>
          <a:lstStyle/>
          <a:p>
            <a:pPr>
              <a:lnSpc>
                <a:spcPct val="107000"/>
              </a:lnSpc>
              <a:spcAft>
                <a:spcPts val="554"/>
              </a:spcAft>
            </a:pPr>
            <a:r>
              <a:rPr lang="es-ES" sz="1400" b="1" kern="100" dirty="0">
                <a:latin typeface="Avenir Next" panose="020B0503020202020204" pitchFamily="34" charset="0"/>
                <a:ea typeface="Aptos" panose="020B0004020202020204" pitchFamily="34" charset="0"/>
                <a:cs typeface="Times New Roman" panose="02020603050405020304" pitchFamily="18" charset="0"/>
              </a:rPr>
              <a:t>Caso 12: Ronda de inversión y valorización.</a:t>
            </a: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p:txBody>
      </p:sp>
      <p:sp>
        <p:nvSpPr>
          <p:cNvPr id="6" name="Título 3">
            <a:extLst>
              <a:ext uri="{FF2B5EF4-FFF2-40B4-BE49-F238E27FC236}">
                <a16:creationId xmlns:a16="http://schemas.microsoft.com/office/drawing/2014/main" id="{59726F55-0D4F-1F3C-D7F7-71BAC4364971}"/>
              </a:ext>
            </a:extLst>
          </p:cNvPr>
          <p:cNvSpPr>
            <a:spLocks noGrp="1"/>
          </p:cNvSpPr>
          <p:nvPr>
            <p:ph type="title"/>
          </p:nvPr>
        </p:nvSpPr>
        <p:spPr>
          <a:xfrm>
            <a:off x="874644" y="423624"/>
            <a:ext cx="7176100" cy="657830"/>
          </a:xfrm>
        </p:spPr>
        <p:txBody>
          <a:bodyPr>
            <a:normAutofit fontScale="90000"/>
          </a:bodyPr>
          <a:lstStyle/>
          <a:p>
            <a:r>
              <a:rPr lang="es-CL" sz="2700" dirty="0">
                <a:latin typeface="Avenir Next" panose="020B0503020202020204" pitchFamily="34" charset="0"/>
              </a:rPr>
              <a:t>Guía de ejercicios</a:t>
            </a:r>
            <a:br>
              <a:rPr lang="es-CL" dirty="0">
                <a:latin typeface="Avenir Next" panose="020B0503020202020204" pitchFamily="34" charset="0"/>
              </a:rPr>
            </a:br>
            <a:r>
              <a:rPr lang="es-CL" sz="1600" b="1" dirty="0">
                <a:latin typeface="Avenir Next" panose="020B0503020202020204" pitchFamily="34" charset="0"/>
              </a:rPr>
              <a:t>EJERCICIO 12</a:t>
            </a:r>
            <a:endParaRPr lang="es-CL" b="1" dirty="0">
              <a:latin typeface="Avenir Next" panose="020B0503020202020204" pitchFamily="34" charset="0"/>
            </a:endParaRPr>
          </a:p>
        </p:txBody>
      </p:sp>
    </p:spTree>
    <p:extLst>
      <p:ext uri="{BB962C8B-B14F-4D97-AF65-F5344CB8AC3E}">
        <p14:creationId xmlns:p14="http://schemas.microsoft.com/office/powerpoint/2010/main" val="1100950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E8E7-529A-BD44-94E1-795CF71C1511}"/>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9C76F6CF-11E3-9834-ADD1-2590459B12A3}"/>
              </a:ext>
            </a:extLst>
          </p:cNvPr>
          <p:cNvSpPr txBox="1">
            <a:spLocks/>
          </p:cNvSpPr>
          <p:nvPr/>
        </p:nvSpPr>
        <p:spPr>
          <a:xfrm>
            <a:off x="678675" y="386113"/>
            <a:ext cx="10834650" cy="65783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CL" sz="2285" dirty="0">
                <a:latin typeface="Avenir Next" panose="020B0503020202020204" pitchFamily="34" charset="0"/>
              </a:rPr>
              <a:t>Guía de ejercicios</a:t>
            </a:r>
            <a:br>
              <a:rPr lang="es-CL" sz="2285" dirty="0">
                <a:latin typeface="Avenir Next" panose="020B0503020202020204" pitchFamily="34" charset="0"/>
              </a:rPr>
            </a:br>
            <a:r>
              <a:rPr lang="es-CL" sz="1246" b="1" dirty="0">
                <a:latin typeface="Avenir Next" panose="020B0503020202020204" pitchFamily="34" charset="0"/>
              </a:rPr>
              <a:t>SOLUCIÓN EJERCICIO 12</a:t>
            </a:r>
          </a:p>
        </p:txBody>
      </p:sp>
      <p:sp>
        <p:nvSpPr>
          <p:cNvPr id="6" name="CuadroTexto 5">
            <a:extLst>
              <a:ext uri="{FF2B5EF4-FFF2-40B4-BE49-F238E27FC236}">
                <a16:creationId xmlns:a16="http://schemas.microsoft.com/office/drawing/2014/main" id="{DC74DE27-41EC-865B-4D78-C71DF2D0772F}"/>
              </a:ext>
            </a:extLst>
          </p:cNvPr>
          <p:cNvSpPr txBox="1"/>
          <p:nvPr/>
        </p:nvSpPr>
        <p:spPr>
          <a:xfrm>
            <a:off x="1082091" y="1188363"/>
            <a:ext cx="4841631" cy="307777"/>
          </a:xfrm>
          <a:prstGeom prst="rect">
            <a:avLst/>
          </a:prstGeom>
          <a:noFill/>
        </p:spPr>
        <p:txBody>
          <a:bodyPr wrap="square">
            <a:spAutoFit/>
          </a:bodyPr>
          <a:lstStyle/>
          <a:p>
            <a:pPr lvl="0"/>
            <a:r>
              <a:rPr lang="es-ES_tradnl" sz="1400" dirty="0">
                <a:latin typeface="Avenir Next" panose="020B0503020202020204" pitchFamily="34" charset="0"/>
              </a:rPr>
              <a:t>¿Cuál es el requerimiento de capital para la serie A?</a:t>
            </a:r>
            <a:endParaRPr lang="es-CL" sz="1400" dirty="0">
              <a:latin typeface="Avenir Next" panose="020B0503020202020204" pitchFamily="34" charset="0"/>
            </a:endParaRPr>
          </a:p>
        </p:txBody>
      </p:sp>
      <p:sp>
        <p:nvSpPr>
          <p:cNvPr id="7" name="Rectángulo 6">
            <a:extLst>
              <a:ext uri="{FF2B5EF4-FFF2-40B4-BE49-F238E27FC236}">
                <a16:creationId xmlns:a16="http://schemas.microsoft.com/office/drawing/2014/main" id="{FCE2941A-91BB-E07D-82AF-2551A432E1F1}"/>
              </a:ext>
            </a:extLst>
          </p:cNvPr>
          <p:cNvSpPr/>
          <p:nvPr/>
        </p:nvSpPr>
        <p:spPr>
          <a:xfrm>
            <a:off x="678675" y="1188363"/>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1</a:t>
            </a:r>
          </a:p>
        </p:txBody>
      </p:sp>
      <p:sp>
        <p:nvSpPr>
          <p:cNvPr id="8" name="CuadroTexto 7">
            <a:extLst>
              <a:ext uri="{FF2B5EF4-FFF2-40B4-BE49-F238E27FC236}">
                <a16:creationId xmlns:a16="http://schemas.microsoft.com/office/drawing/2014/main" id="{552F5437-0BC0-7BE8-AFEA-9C047A3DAB2E}"/>
              </a:ext>
            </a:extLst>
          </p:cNvPr>
          <p:cNvSpPr txBox="1"/>
          <p:nvPr/>
        </p:nvSpPr>
        <p:spPr>
          <a:xfrm>
            <a:off x="6886543" y="1188364"/>
            <a:ext cx="4626782" cy="523220"/>
          </a:xfrm>
          <a:prstGeom prst="rect">
            <a:avLst/>
          </a:prstGeom>
          <a:noFill/>
        </p:spPr>
        <p:txBody>
          <a:bodyPr wrap="square">
            <a:spAutoFit/>
          </a:bodyPr>
          <a:lstStyle/>
          <a:p>
            <a:r>
              <a:rPr lang="es-ES_tradnl" sz="1400" dirty="0">
                <a:latin typeface="Avenir Next" panose="020B0503020202020204" pitchFamily="34" charset="0"/>
              </a:rPr>
              <a:t>¿Cuál es la valorización pre </a:t>
            </a:r>
            <a:r>
              <a:rPr lang="es-ES_tradnl" sz="1400" dirty="0" err="1">
                <a:latin typeface="Avenir Next" panose="020B0503020202020204" pitchFamily="34" charset="0"/>
              </a:rPr>
              <a:t>money</a:t>
            </a:r>
            <a:r>
              <a:rPr lang="es-ES_tradnl" sz="1400" dirty="0">
                <a:latin typeface="Avenir Next" panose="020B0503020202020204" pitchFamily="34" charset="0"/>
              </a:rPr>
              <a:t>? ¿Cuánto porcentaje de la empresa es el aumento de capital?</a:t>
            </a:r>
            <a:endParaRPr lang="es-CL" sz="1400" dirty="0">
              <a:latin typeface="Avenir Next" panose="020B0503020202020204" pitchFamily="34" charset="0"/>
            </a:endParaRPr>
          </a:p>
        </p:txBody>
      </p:sp>
      <p:sp>
        <p:nvSpPr>
          <p:cNvPr id="9" name="Rectángulo 8">
            <a:extLst>
              <a:ext uri="{FF2B5EF4-FFF2-40B4-BE49-F238E27FC236}">
                <a16:creationId xmlns:a16="http://schemas.microsoft.com/office/drawing/2014/main" id="{561BD25B-B8E0-0565-D651-83A40CC6A74A}"/>
              </a:ext>
            </a:extLst>
          </p:cNvPr>
          <p:cNvSpPr/>
          <p:nvPr/>
        </p:nvSpPr>
        <p:spPr>
          <a:xfrm>
            <a:off x="6483127" y="1188363"/>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2</a:t>
            </a:r>
          </a:p>
        </p:txBody>
      </p:sp>
      <p:sp>
        <p:nvSpPr>
          <p:cNvPr id="2" name="CuadroTexto 1">
            <a:extLst>
              <a:ext uri="{FF2B5EF4-FFF2-40B4-BE49-F238E27FC236}">
                <a16:creationId xmlns:a16="http://schemas.microsoft.com/office/drawing/2014/main" id="{CF0D7B73-8657-AE6C-C04E-902BBD189B2F}"/>
              </a:ext>
            </a:extLst>
          </p:cNvPr>
          <p:cNvSpPr txBox="1"/>
          <p:nvPr/>
        </p:nvSpPr>
        <p:spPr>
          <a:xfrm>
            <a:off x="678675" y="1631860"/>
            <a:ext cx="3841139" cy="276999"/>
          </a:xfrm>
          <a:prstGeom prst="rect">
            <a:avLst/>
          </a:prstGeom>
          <a:noFill/>
        </p:spPr>
        <p:txBody>
          <a:bodyPr wrap="square" rtlCol="0">
            <a:spAutoFit/>
          </a:bodyPr>
          <a:lstStyle/>
          <a:p>
            <a:r>
              <a:rPr lang="es-CL" sz="1200" dirty="0">
                <a:latin typeface="Avenir Next" panose="020B0503020202020204" pitchFamily="34" charset="0"/>
              </a:rPr>
              <a:t>Calculamos el requerimiento de capital como:</a:t>
            </a:r>
          </a:p>
        </p:txBody>
      </p:sp>
      <p:graphicFrame>
        <p:nvGraphicFramePr>
          <p:cNvPr id="3" name="Tabla 2">
            <a:extLst>
              <a:ext uri="{FF2B5EF4-FFF2-40B4-BE49-F238E27FC236}">
                <a16:creationId xmlns:a16="http://schemas.microsoft.com/office/drawing/2014/main" id="{D063B976-589C-4187-0CFB-4A18ED2DD2C8}"/>
              </a:ext>
            </a:extLst>
          </p:cNvPr>
          <p:cNvGraphicFramePr>
            <a:graphicFrameLocks noGrp="1"/>
          </p:cNvGraphicFramePr>
          <p:nvPr>
            <p:extLst>
              <p:ext uri="{D42A27DB-BD31-4B8C-83A1-F6EECF244321}">
                <p14:modId xmlns:p14="http://schemas.microsoft.com/office/powerpoint/2010/main" val="1827619890"/>
              </p:ext>
            </p:extLst>
          </p:nvPr>
        </p:nvGraphicFramePr>
        <p:xfrm>
          <a:off x="678675" y="2004864"/>
          <a:ext cx="5245047" cy="4705640"/>
        </p:xfrm>
        <a:graphic>
          <a:graphicData uri="http://schemas.openxmlformats.org/drawingml/2006/table">
            <a:tbl>
              <a:tblPr firstRow="1" bandRow="1">
                <a:tableStyleId>{5940675A-B579-460E-94D1-54222C63F5DA}</a:tableStyleId>
              </a:tblPr>
              <a:tblGrid>
                <a:gridCol w="2082313">
                  <a:extLst>
                    <a:ext uri="{9D8B030D-6E8A-4147-A177-3AD203B41FA5}">
                      <a16:colId xmlns:a16="http://schemas.microsoft.com/office/drawing/2014/main" val="3133976942"/>
                    </a:ext>
                  </a:extLst>
                </a:gridCol>
                <a:gridCol w="3162734">
                  <a:extLst>
                    <a:ext uri="{9D8B030D-6E8A-4147-A177-3AD203B41FA5}">
                      <a16:colId xmlns:a16="http://schemas.microsoft.com/office/drawing/2014/main" val="3953224027"/>
                    </a:ext>
                  </a:extLst>
                </a:gridCol>
              </a:tblGrid>
              <a:tr h="192122">
                <a:tc>
                  <a:txBody>
                    <a:bodyPr/>
                    <a:lstStyle/>
                    <a:p>
                      <a:pPr algn="ctr"/>
                      <a:r>
                        <a:rPr lang="es-CL" sz="1200" b="1">
                          <a:latin typeface="Avenir Next" panose="020B0503020202020204" pitchFamily="34" charset="0"/>
                        </a:rPr>
                        <a:t>Concepto</a:t>
                      </a:r>
                    </a:p>
                  </a:txBody>
                  <a:tcPr marL="63305" marR="63305" marT="31652" marB="31652"/>
                </a:tc>
                <a:tc>
                  <a:txBody>
                    <a:bodyPr/>
                    <a:lstStyle/>
                    <a:p>
                      <a:pPr algn="ctr"/>
                      <a:r>
                        <a:rPr lang="es-CL" sz="1200" b="1">
                          <a:latin typeface="Avenir Next" panose="020B0503020202020204" pitchFamily="34" charset="0"/>
                        </a:rPr>
                        <a:t>Cálculo</a:t>
                      </a:r>
                    </a:p>
                  </a:txBody>
                  <a:tcPr marL="63305" marR="63305" marT="31652" marB="31652"/>
                </a:tc>
                <a:extLst>
                  <a:ext uri="{0D108BD9-81ED-4DB2-BD59-A6C34878D82A}">
                    <a16:rowId xmlns:a16="http://schemas.microsoft.com/office/drawing/2014/main" val="260998848"/>
                  </a:ext>
                </a:extLst>
              </a:tr>
              <a:tr h="2743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CL" sz="1200">
                          <a:latin typeface="Avenir Next" panose="020B0503020202020204" pitchFamily="34" charset="0"/>
                        </a:rPr>
                        <a:t>+ Déficit o Ahorro de la operación anual</a:t>
                      </a:r>
                    </a:p>
                  </a:txBody>
                  <a:tcPr marL="63305" marR="63305" marT="31652" marB="31652"/>
                </a:tc>
                <a:tc>
                  <a:txBody>
                    <a:bodyPr/>
                    <a:lstStyle/>
                    <a:p>
                      <a:r>
                        <a:rPr lang="es-CL" sz="1200">
                          <a:latin typeface="Avenir Next" panose="020B0503020202020204" pitchFamily="34" charset="0"/>
                        </a:rPr>
                        <a:t>USD$ 400.000.- + USD$ 1.500.000.-</a:t>
                      </a:r>
                    </a:p>
                    <a:p>
                      <a:r>
                        <a:rPr lang="es-CL" sz="1200" b="1">
                          <a:latin typeface="Avenir Next" panose="020B0503020202020204" pitchFamily="34" charset="0"/>
                        </a:rPr>
                        <a:t>USD$ 1.900.000.-</a:t>
                      </a:r>
                    </a:p>
                  </a:txBody>
                  <a:tcPr marL="63305" marR="63305" marT="31652" marB="31652"/>
                </a:tc>
                <a:extLst>
                  <a:ext uri="{0D108BD9-81ED-4DB2-BD59-A6C34878D82A}">
                    <a16:rowId xmlns:a16="http://schemas.microsoft.com/office/drawing/2014/main" val="2138834051"/>
                  </a:ext>
                </a:extLst>
              </a:tr>
              <a:tr h="37982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CL" sz="1200">
                          <a:latin typeface="Avenir Next" panose="020B0503020202020204" pitchFamily="34" charset="0"/>
                        </a:rPr>
                        <a:t>+ Proyectos estratégicos</a:t>
                      </a:r>
                    </a:p>
                  </a:txBody>
                  <a:tcPr marL="63305" marR="63305" marT="31652" marB="31652"/>
                </a:tc>
                <a:tc>
                  <a:txBody>
                    <a:bodyPr/>
                    <a:lstStyle/>
                    <a:p>
                      <a:r>
                        <a:rPr lang="es-CL" sz="1200">
                          <a:latin typeface="Avenir Next" panose="020B0503020202020204" pitchFamily="34" charset="0"/>
                        </a:rPr>
                        <a:t>USD$ 1.000.000.- + USD$ 2.000.000.- + USD$ 500.000.-</a:t>
                      </a:r>
                    </a:p>
                    <a:p>
                      <a:r>
                        <a:rPr lang="es-CL" sz="1200" b="1">
                          <a:latin typeface="Avenir Next" panose="020B0503020202020204" pitchFamily="34" charset="0"/>
                        </a:rPr>
                        <a:t>USD$ 3.500.000.-</a:t>
                      </a:r>
                    </a:p>
                  </a:txBody>
                  <a:tcPr marL="63305" marR="63305" marT="31652" marB="31652"/>
                </a:tc>
                <a:extLst>
                  <a:ext uri="{0D108BD9-81ED-4DB2-BD59-A6C34878D82A}">
                    <a16:rowId xmlns:a16="http://schemas.microsoft.com/office/drawing/2014/main" val="2170715634"/>
                  </a:ext>
                </a:extLst>
              </a:tr>
              <a:tr h="122388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CL" sz="1200">
                          <a:latin typeface="Avenir Next" panose="020B0503020202020204" pitchFamily="34" charset="0"/>
                        </a:rPr>
                        <a:t>+ Capital de trabajo final – inicial</a:t>
                      </a:r>
                    </a:p>
                  </a:txBody>
                  <a:tcPr marL="63305" marR="63305" marT="31652" marB="31652"/>
                </a:tc>
                <a:tc>
                  <a:txBody>
                    <a:bodyPr/>
                    <a:lstStyle/>
                    <a:p>
                      <a:r>
                        <a:rPr lang="es-CL" sz="1200">
                          <a:latin typeface="Avenir Next" panose="020B0503020202020204" pitchFamily="34" charset="0"/>
                        </a:rPr>
                        <a:t>USD$ 3.600.000.- / 4</a:t>
                      </a:r>
                    </a:p>
                    <a:p>
                      <a:r>
                        <a:rPr lang="es-CL" sz="1200" b="1">
                          <a:latin typeface="Avenir Next" panose="020B0503020202020204" pitchFamily="34" charset="0"/>
                        </a:rPr>
                        <a:t>Capital de trabajo inicial USD$ 900.000.-</a:t>
                      </a:r>
                    </a:p>
                    <a:p>
                      <a:endParaRPr lang="es-CL" sz="1200" b="1">
                        <a:latin typeface="Avenir Next" panose="020B0503020202020204" pitchFamily="34" charset="0"/>
                      </a:endParaRPr>
                    </a:p>
                    <a:p>
                      <a:r>
                        <a:rPr lang="es-CL" sz="1200">
                          <a:latin typeface="Avenir Next" panose="020B0503020202020204" pitchFamily="34" charset="0"/>
                        </a:rPr>
                        <a:t>Ventas a 2 años = USD$ 3.600.000.- * 3 </a:t>
                      </a:r>
                    </a:p>
                    <a:p>
                      <a:r>
                        <a:rPr lang="es-CL" sz="1200" b="1">
                          <a:latin typeface="Avenir Next" panose="020B0503020202020204" pitchFamily="34" charset="0"/>
                        </a:rPr>
                        <a:t>USD$ 10.800.000.-</a:t>
                      </a:r>
                    </a:p>
                    <a:p>
                      <a:r>
                        <a:rPr lang="es-CL" sz="1200" b="0">
                          <a:latin typeface="Avenir Next" panose="020B0503020202020204" pitchFamily="34" charset="0"/>
                        </a:rPr>
                        <a:t>Multiplicador (3 meses) o dividir por 4</a:t>
                      </a:r>
                    </a:p>
                    <a:p>
                      <a:r>
                        <a:rPr lang="es-CL" sz="1200" b="1">
                          <a:latin typeface="Avenir Next" panose="020B0503020202020204" pitchFamily="34" charset="0"/>
                        </a:rPr>
                        <a:t>Capital de trabajo final USD$ 2.700.000.-</a:t>
                      </a:r>
                    </a:p>
                    <a:p>
                      <a:endParaRPr lang="es-CL" sz="1200">
                        <a:latin typeface="Avenir Next" panose="020B0503020202020204" pitchFamily="34" charset="0"/>
                      </a:endParaRPr>
                    </a:p>
                    <a:p>
                      <a:r>
                        <a:rPr lang="es-CL" sz="1200">
                          <a:latin typeface="Avenir Next" panose="020B0503020202020204" pitchFamily="34" charset="0"/>
                        </a:rPr>
                        <a:t>Inversión en capital de trabajo</a:t>
                      </a:r>
                    </a:p>
                    <a:p>
                      <a:r>
                        <a:rPr lang="es-CL" sz="1200">
                          <a:latin typeface="Avenir Next" panose="020B0503020202020204" pitchFamily="34" charset="0"/>
                        </a:rPr>
                        <a:t>USD$ 2.700.000.- - USD$ 900.000.-</a:t>
                      </a:r>
                    </a:p>
                    <a:p>
                      <a:r>
                        <a:rPr lang="es-CL" sz="1200" b="1">
                          <a:latin typeface="Avenir Next" panose="020B0503020202020204" pitchFamily="34" charset="0"/>
                        </a:rPr>
                        <a:t>USD$ 1.800.000</a:t>
                      </a:r>
                      <a:r>
                        <a:rPr lang="es-CL" sz="1200">
                          <a:latin typeface="Avenir Next" panose="020B0503020202020204" pitchFamily="34" charset="0"/>
                        </a:rPr>
                        <a:t>.-</a:t>
                      </a:r>
                    </a:p>
                  </a:txBody>
                  <a:tcPr marL="63305" marR="63305" marT="31652" marB="31652"/>
                </a:tc>
                <a:extLst>
                  <a:ext uri="{0D108BD9-81ED-4DB2-BD59-A6C34878D82A}">
                    <a16:rowId xmlns:a16="http://schemas.microsoft.com/office/drawing/2014/main" val="2163196223"/>
                  </a:ext>
                </a:extLst>
              </a:tr>
              <a:tr h="590843">
                <a:tc>
                  <a:txBody>
                    <a:bodyPr/>
                    <a:lstStyle/>
                    <a:p>
                      <a:r>
                        <a:rPr lang="es-CL" sz="1200">
                          <a:latin typeface="Avenir Next" panose="020B0503020202020204" pitchFamily="34" charset="0"/>
                        </a:rPr>
                        <a:t>Total a la Serie A</a:t>
                      </a:r>
                    </a:p>
                  </a:txBody>
                  <a:tcPr marL="63305" marR="63305" marT="31652" marB="31652"/>
                </a:tc>
                <a:tc>
                  <a:txBody>
                    <a:bodyPr/>
                    <a:lstStyle/>
                    <a:p>
                      <a:r>
                        <a:rPr lang="es-CL" sz="1200" dirty="0">
                          <a:latin typeface="Avenir Next" panose="020B0503020202020204" pitchFamily="34" charset="0"/>
                        </a:rPr>
                        <a:t>+ USD$ 3.500.000.-</a:t>
                      </a:r>
                    </a:p>
                    <a:p>
                      <a:r>
                        <a:rPr lang="es-CL" sz="1200" dirty="0">
                          <a:latin typeface="Avenir Next" panose="020B0503020202020204" pitchFamily="34" charset="0"/>
                        </a:rPr>
                        <a:t>+ USD$ 1.800.000.-</a:t>
                      </a:r>
                    </a:p>
                    <a:p>
                      <a:r>
                        <a:rPr lang="es-CL" sz="1200" dirty="0">
                          <a:latin typeface="Avenir Next" panose="020B0503020202020204" pitchFamily="34" charset="0"/>
                        </a:rPr>
                        <a:t>- USD$ 1.900.000.- (USD$ 400.000 inversión socios)</a:t>
                      </a:r>
                    </a:p>
                    <a:p>
                      <a:pPr marL="171450" indent="-171450">
                        <a:buFontTx/>
                        <a:buChar char="-"/>
                      </a:pPr>
                      <a:endParaRPr lang="es-CL" sz="1200" dirty="0">
                        <a:latin typeface="Avenir Next" panose="020B0503020202020204" pitchFamily="34" charset="0"/>
                      </a:endParaRPr>
                    </a:p>
                    <a:p>
                      <a:pPr marL="0" indent="0">
                        <a:buFontTx/>
                        <a:buNone/>
                      </a:pPr>
                      <a:r>
                        <a:rPr lang="es-CL" sz="1200" dirty="0">
                          <a:latin typeface="Avenir Next" panose="020B0503020202020204" pitchFamily="34" charset="0"/>
                        </a:rPr>
                        <a:t> </a:t>
                      </a:r>
                      <a:r>
                        <a:rPr lang="es-CL" sz="1200" b="1" dirty="0">
                          <a:latin typeface="Avenir Next" panose="020B0503020202020204" pitchFamily="34" charset="0"/>
                        </a:rPr>
                        <a:t>USD$ 3.400.000.-</a:t>
                      </a:r>
                    </a:p>
                  </a:txBody>
                  <a:tcPr marL="63305" marR="63305" marT="31652" marB="31652"/>
                </a:tc>
                <a:extLst>
                  <a:ext uri="{0D108BD9-81ED-4DB2-BD59-A6C34878D82A}">
                    <a16:rowId xmlns:a16="http://schemas.microsoft.com/office/drawing/2014/main" val="2980334157"/>
                  </a:ext>
                </a:extLst>
              </a:tr>
            </a:tbl>
          </a:graphicData>
        </a:graphic>
      </p:graphicFrame>
      <p:sp>
        <p:nvSpPr>
          <p:cNvPr id="5" name="CuadroTexto 4">
            <a:extLst>
              <a:ext uri="{FF2B5EF4-FFF2-40B4-BE49-F238E27FC236}">
                <a16:creationId xmlns:a16="http://schemas.microsoft.com/office/drawing/2014/main" id="{50AB033D-BA0D-12F2-0F82-71877B1112B4}"/>
              </a:ext>
            </a:extLst>
          </p:cNvPr>
          <p:cNvSpPr txBox="1"/>
          <p:nvPr/>
        </p:nvSpPr>
        <p:spPr>
          <a:xfrm>
            <a:off x="6886543" y="1908859"/>
            <a:ext cx="4626782" cy="2862322"/>
          </a:xfrm>
          <a:prstGeom prst="rect">
            <a:avLst/>
          </a:prstGeom>
          <a:noFill/>
        </p:spPr>
        <p:txBody>
          <a:bodyPr wrap="square" rtlCol="0">
            <a:spAutoFit/>
          </a:bodyPr>
          <a:lstStyle/>
          <a:p>
            <a:r>
              <a:rPr lang="es-CL" sz="1200" dirty="0">
                <a:latin typeface="Avenir Next" panose="020B0503020202020204" pitchFamily="34" charset="0"/>
              </a:rPr>
              <a:t>La valorización de la empresa por múltiplo de EBIDTA es de:</a:t>
            </a:r>
          </a:p>
          <a:p>
            <a:endParaRPr lang="es-CL" sz="1200" dirty="0">
              <a:latin typeface="Avenir Next" panose="020B0503020202020204" pitchFamily="34" charset="0"/>
            </a:endParaRPr>
          </a:p>
          <a:p>
            <a:r>
              <a:rPr lang="es-CL" sz="1200" dirty="0">
                <a:latin typeface="Avenir Next" panose="020B0503020202020204" pitchFamily="34" charset="0"/>
              </a:rPr>
              <a:t>USD$ 1.000.000.- * 10 = USD$ 10.000.000.-</a:t>
            </a:r>
          </a:p>
          <a:p>
            <a:endParaRPr lang="es-CL" sz="1200" dirty="0">
              <a:latin typeface="Avenir Next" panose="020B0503020202020204" pitchFamily="34" charset="0"/>
            </a:endParaRPr>
          </a:p>
          <a:p>
            <a:r>
              <a:rPr lang="es-CL" sz="1200" dirty="0">
                <a:latin typeface="Avenir Next" panose="020B0503020202020204" pitchFamily="34" charset="0"/>
              </a:rPr>
              <a:t>Si el aumento de capital es por USD$ 3.400.000.- + USD$ 400.000.- (socios)</a:t>
            </a:r>
          </a:p>
          <a:p>
            <a:r>
              <a:rPr lang="es-CL" sz="1200" b="1" dirty="0">
                <a:latin typeface="Avenir Next" panose="020B0503020202020204" pitchFamily="34" charset="0"/>
              </a:rPr>
              <a:t>USD$ 3.800.000.-</a:t>
            </a:r>
          </a:p>
          <a:p>
            <a:endParaRPr lang="es-CL" sz="1200" dirty="0">
              <a:latin typeface="Avenir Next" panose="020B0503020202020204" pitchFamily="34" charset="0"/>
            </a:endParaRPr>
          </a:p>
          <a:p>
            <a:r>
              <a:rPr lang="es-CL" sz="1200" dirty="0">
                <a:latin typeface="Avenir Next" panose="020B0503020202020204" pitchFamily="34" charset="0"/>
              </a:rPr>
              <a:t>Post </a:t>
            </a:r>
            <a:r>
              <a:rPr lang="es-CL" sz="1200" dirty="0" err="1">
                <a:latin typeface="Avenir Next" panose="020B0503020202020204" pitchFamily="34" charset="0"/>
              </a:rPr>
              <a:t>money</a:t>
            </a:r>
            <a:r>
              <a:rPr lang="es-CL" sz="1200" dirty="0">
                <a:latin typeface="Avenir Next" panose="020B0503020202020204" pitchFamily="34" charset="0"/>
              </a:rPr>
              <a:t> es </a:t>
            </a:r>
            <a:r>
              <a:rPr lang="es-CL" sz="1200" b="1" dirty="0">
                <a:latin typeface="Avenir Next" panose="020B0503020202020204" pitchFamily="34" charset="0"/>
              </a:rPr>
              <a:t>USD$ 13.800.000.- </a:t>
            </a:r>
            <a:r>
              <a:rPr lang="es-CL" sz="1200" dirty="0">
                <a:latin typeface="Avenir Next" panose="020B0503020202020204" pitchFamily="34" charset="0"/>
              </a:rPr>
              <a:t>donde el </a:t>
            </a:r>
            <a:r>
              <a:rPr lang="es-CL" sz="1200" b="1" dirty="0">
                <a:latin typeface="Avenir Next" panose="020B0503020202020204" pitchFamily="34" charset="0"/>
              </a:rPr>
              <a:t>aumento es por el 27,54% </a:t>
            </a:r>
          </a:p>
          <a:p>
            <a:endParaRPr lang="es-CL" sz="1200" b="1" dirty="0">
              <a:latin typeface="Avenir Next" panose="020B0503020202020204" pitchFamily="34" charset="0"/>
            </a:endParaRPr>
          </a:p>
          <a:p>
            <a:r>
              <a:rPr lang="es-CL" sz="1200" b="1" dirty="0">
                <a:latin typeface="Avenir Next" panose="020B0503020202020204" pitchFamily="34" charset="0"/>
              </a:rPr>
              <a:t>Concurren al aumento Serie A:</a:t>
            </a:r>
          </a:p>
          <a:p>
            <a:endParaRPr lang="es-CL" sz="1200" b="1" dirty="0">
              <a:latin typeface="Avenir Next" panose="020B0503020202020204" pitchFamily="34" charset="0"/>
            </a:endParaRPr>
          </a:p>
          <a:p>
            <a:pPr marL="118695" indent="-118695">
              <a:buFont typeface="Arial" panose="020B0604020202020204" pitchFamily="34" charset="0"/>
              <a:buChar char="•"/>
            </a:pPr>
            <a:r>
              <a:rPr lang="es-CL" sz="1200" dirty="0">
                <a:latin typeface="Avenir Next" panose="020B0503020202020204" pitchFamily="34" charset="0"/>
              </a:rPr>
              <a:t>Externos por USD$ 3.400.000.- 24,64%</a:t>
            </a:r>
          </a:p>
          <a:p>
            <a:pPr marL="118695" indent="-118695">
              <a:buFont typeface="Arial" panose="020B0604020202020204" pitchFamily="34" charset="0"/>
              <a:buChar char="•"/>
            </a:pPr>
            <a:r>
              <a:rPr lang="es-CL" sz="1200" dirty="0">
                <a:latin typeface="Avenir Next" panose="020B0503020202020204" pitchFamily="34" charset="0"/>
              </a:rPr>
              <a:t>Socios por USD$ 400.000.- 2,9%</a:t>
            </a:r>
          </a:p>
        </p:txBody>
      </p:sp>
    </p:spTree>
    <p:extLst>
      <p:ext uri="{BB962C8B-B14F-4D97-AF65-F5344CB8AC3E}">
        <p14:creationId xmlns:p14="http://schemas.microsoft.com/office/powerpoint/2010/main" val="333122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A442E-0B57-A147-13EF-377F74571CD4}"/>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3ABD358C-4425-25C2-1A87-C55AAACE2581}"/>
              </a:ext>
            </a:extLst>
          </p:cNvPr>
          <p:cNvSpPr txBox="1">
            <a:spLocks/>
          </p:cNvSpPr>
          <p:nvPr/>
        </p:nvSpPr>
        <p:spPr>
          <a:xfrm>
            <a:off x="803887" y="658185"/>
            <a:ext cx="4251866" cy="65783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CL" sz="2285">
                <a:latin typeface="Avenir Next" panose="020B0503020202020204" pitchFamily="34" charset="0"/>
              </a:rPr>
              <a:t>Guía de ejercicios</a:t>
            </a:r>
            <a:br>
              <a:rPr lang="es-CL" sz="2285">
                <a:latin typeface="Avenir Next" panose="020B0503020202020204" pitchFamily="34" charset="0"/>
              </a:rPr>
            </a:br>
            <a:r>
              <a:rPr lang="es-CL" sz="1246" b="1">
                <a:latin typeface="Avenir Next" panose="020B0503020202020204" pitchFamily="34" charset="0"/>
              </a:rPr>
              <a:t>SOLUCIÓN EJERCICIO 12</a:t>
            </a:r>
          </a:p>
        </p:txBody>
      </p:sp>
      <p:sp>
        <p:nvSpPr>
          <p:cNvPr id="6" name="CuadroTexto 5">
            <a:extLst>
              <a:ext uri="{FF2B5EF4-FFF2-40B4-BE49-F238E27FC236}">
                <a16:creationId xmlns:a16="http://schemas.microsoft.com/office/drawing/2014/main" id="{36CA404D-76CD-8DBC-C2A4-D67C534D6CF6}"/>
              </a:ext>
            </a:extLst>
          </p:cNvPr>
          <p:cNvSpPr txBox="1"/>
          <p:nvPr/>
        </p:nvSpPr>
        <p:spPr>
          <a:xfrm>
            <a:off x="1214613" y="1316015"/>
            <a:ext cx="4534018" cy="523220"/>
          </a:xfrm>
          <a:prstGeom prst="rect">
            <a:avLst/>
          </a:prstGeom>
          <a:noFill/>
        </p:spPr>
        <p:txBody>
          <a:bodyPr wrap="square">
            <a:spAutoFit/>
          </a:bodyPr>
          <a:lstStyle/>
          <a:p>
            <a:pPr lvl="0"/>
            <a:r>
              <a:rPr lang="es-ES_tradnl" sz="1400" dirty="0">
                <a:latin typeface="Avenir Next" panose="020B0503020202020204" pitchFamily="34" charset="0"/>
              </a:rPr>
              <a:t>¿Qué valorización se espera lograr al año 2? ¿Cuánto vale la participación de los socios iniciales?</a:t>
            </a:r>
            <a:endParaRPr lang="es-CL" sz="1400" dirty="0">
              <a:latin typeface="Avenir Next" panose="020B0503020202020204" pitchFamily="34" charset="0"/>
            </a:endParaRPr>
          </a:p>
        </p:txBody>
      </p:sp>
      <p:sp>
        <p:nvSpPr>
          <p:cNvPr id="7" name="Rectángulo 6">
            <a:extLst>
              <a:ext uri="{FF2B5EF4-FFF2-40B4-BE49-F238E27FC236}">
                <a16:creationId xmlns:a16="http://schemas.microsoft.com/office/drawing/2014/main" id="{FB8CE2D5-C7A1-07C5-5BBF-238FD902D205}"/>
              </a:ext>
            </a:extLst>
          </p:cNvPr>
          <p:cNvSpPr/>
          <p:nvPr/>
        </p:nvSpPr>
        <p:spPr>
          <a:xfrm>
            <a:off x="811197" y="1316014"/>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3</a:t>
            </a:r>
          </a:p>
        </p:txBody>
      </p:sp>
      <p:sp>
        <p:nvSpPr>
          <p:cNvPr id="8" name="CuadroTexto 7">
            <a:extLst>
              <a:ext uri="{FF2B5EF4-FFF2-40B4-BE49-F238E27FC236}">
                <a16:creationId xmlns:a16="http://schemas.microsoft.com/office/drawing/2014/main" id="{FC66130F-6424-085C-E5C8-58B70E73FE74}"/>
              </a:ext>
            </a:extLst>
          </p:cNvPr>
          <p:cNvSpPr txBox="1"/>
          <p:nvPr/>
        </p:nvSpPr>
        <p:spPr>
          <a:xfrm>
            <a:off x="6846786" y="1316014"/>
            <a:ext cx="4541327" cy="553357"/>
          </a:xfrm>
          <a:prstGeom prst="rect">
            <a:avLst/>
          </a:prstGeom>
          <a:noFill/>
        </p:spPr>
        <p:txBody>
          <a:bodyPr wrap="square">
            <a:spAutoFit/>
          </a:bodyPr>
          <a:lstStyle/>
          <a:p>
            <a:pPr>
              <a:lnSpc>
                <a:spcPct val="107000"/>
              </a:lnSpc>
              <a:spcAft>
                <a:spcPts val="554"/>
              </a:spcAft>
            </a:pPr>
            <a:r>
              <a:rPr lang="es-ES_tradnl" sz="1400" dirty="0">
                <a:latin typeface="Avenir Next" panose="020B0503020202020204" pitchFamily="34" charset="0"/>
              </a:rPr>
              <a:t>¿Qué perfil de inversionista - piensa Ud.- que es más adecuado para la empresa?</a:t>
            </a:r>
            <a:endParaRPr lang="es-CL" sz="1400" kern="100" dirty="0">
              <a:latin typeface="Avenir Next" panose="020B0503020202020204" pitchFamily="34" charset="0"/>
              <a:ea typeface="Aptos" panose="020B000402020202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0F78EC9B-9D82-D0DF-F1AB-B26A947E5293}"/>
              </a:ext>
            </a:extLst>
          </p:cNvPr>
          <p:cNvSpPr/>
          <p:nvPr/>
        </p:nvSpPr>
        <p:spPr>
          <a:xfrm>
            <a:off x="6443370" y="1316014"/>
            <a:ext cx="299077" cy="29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46" b="1">
                <a:latin typeface="Avenir Next" panose="020B0503020202020204" pitchFamily="34" charset="0"/>
              </a:rPr>
              <a:t>4</a:t>
            </a:r>
          </a:p>
        </p:txBody>
      </p:sp>
      <p:sp>
        <p:nvSpPr>
          <p:cNvPr id="2" name="CuadroTexto 1">
            <a:extLst>
              <a:ext uri="{FF2B5EF4-FFF2-40B4-BE49-F238E27FC236}">
                <a16:creationId xmlns:a16="http://schemas.microsoft.com/office/drawing/2014/main" id="{152FB321-991F-5AFB-C9EF-116011BDCED8}"/>
              </a:ext>
            </a:extLst>
          </p:cNvPr>
          <p:cNvSpPr txBox="1"/>
          <p:nvPr/>
        </p:nvSpPr>
        <p:spPr>
          <a:xfrm>
            <a:off x="1214613" y="2053775"/>
            <a:ext cx="4534018" cy="2123658"/>
          </a:xfrm>
          <a:prstGeom prst="rect">
            <a:avLst/>
          </a:prstGeom>
          <a:noFill/>
        </p:spPr>
        <p:txBody>
          <a:bodyPr wrap="square" rtlCol="0">
            <a:spAutoFit/>
          </a:bodyPr>
          <a:lstStyle/>
          <a:p>
            <a:r>
              <a:rPr lang="es-CL" sz="1200" dirty="0">
                <a:latin typeface="Avenir Next" panose="020B0503020202020204" pitchFamily="34" charset="0"/>
              </a:rPr>
              <a:t>La valorización de la empresa por múltiplo de EBIDTA es de:</a:t>
            </a:r>
          </a:p>
          <a:p>
            <a:endParaRPr lang="es-CL" sz="1200" dirty="0">
              <a:latin typeface="Avenir Next" panose="020B0503020202020204" pitchFamily="34" charset="0"/>
            </a:endParaRPr>
          </a:p>
          <a:p>
            <a:r>
              <a:rPr lang="es-CL" sz="1200" dirty="0">
                <a:latin typeface="Avenir Next" panose="020B0503020202020204" pitchFamily="34" charset="0"/>
              </a:rPr>
              <a:t>Ventas esperadas USD$ 10.800.000.-</a:t>
            </a:r>
          </a:p>
          <a:p>
            <a:r>
              <a:rPr lang="es-CL" sz="1200" dirty="0">
                <a:latin typeface="Avenir Next" panose="020B0503020202020204" pitchFamily="34" charset="0"/>
              </a:rPr>
              <a:t>EBIDTA empresa 30%</a:t>
            </a:r>
          </a:p>
          <a:p>
            <a:r>
              <a:rPr lang="es-CL" sz="1200" b="1" dirty="0">
                <a:latin typeface="Avenir Next" panose="020B0503020202020204" pitchFamily="34" charset="0"/>
              </a:rPr>
              <a:t>EBIDTA esperado USD$ 3.240.-</a:t>
            </a:r>
          </a:p>
          <a:p>
            <a:endParaRPr lang="es-CL" sz="1200" dirty="0">
              <a:latin typeface="Avenir Next" panose="020B0503020202020204" pitchFamily="34" charset="0"/>
            </a:endParaRPr>
          </a:p>
          <a:p>
            <a:r>
              <a:rPr lang="es-CL" sz="1200" dirty="0">
                <a:latin typeface="Avenir Next" panose="020B0503020202020204" pitchFamily="34" charset="0"/>
              </a:rPr>
              <a:t>Valorización por múltiplo USD$ 3.240.000.- * 10 = </a:t>
            </a:r>
            <a:r>
              <a:rPr lang="es-CL" sz="1200" b="1" dirty="0">
                <a:latin typeface="Avenir Next" panose="020B0503020202020204" pitchFamily="34" charset="0"/>
              </a:rPr>
              <a:t>USD$ 32.400.000.-</a:t>
            </a:r>
          </a:p>
          <a:p>
            <a:endParaRPr lang="es-CL" sz="1200" dirty="0">
              <a:latin typeface="Avenir Next" panose="020B0503020202020204" pitchFamily="34" charset="0"/>
            </a:endParaRPr>
          </a:p>
          <a:p>
            <a:r>
              <a:rPr lang="es-CL" sz="1200" dirty="0">
                <a:latin typeface="Avenir Next" panose="020B0503020202020204" pitchFamily="34" charset="0"/>
              </a:rPr>
              <a:t>Socios iniciales con acciones por el </a:t>
            </a:r>
            <a:r>
              <a:rPr lang="es-CL" sz="1200" b="1" dirty="0">
                <a:latin typeface="Avenir Next" panose="020B0503020202020204" pitchFamily="34" charset="0"/>
              </a:rPr>
              <a:t>75,36%</a:t>
            </a:r>
          </a:p>
          <a:p>
            <a:r>
              <a:rPr lang="es-CL" sz="1200" dirty="0">
                <a:latin typeface="Avenir Next" panose="020B0503020202020204" pitchFamily="34" charset="0"/>
              </a:rPr>
              <a:t>Valor acciones socios iniciales </a:t>
            </a:r>
            <a:r>
              <a:rPr lang="es-CL" sz="1200" b="1" dirty="0">
                <a:latin typeface="Avenir Next" panose="020B0503020202020204" pitchFamily="34" charset="0"/>
              </a:rPr>
              <a:t>USD$ 24.416.640.-</a:t>
            </a:r>
          </a:p>
        </p:txBody>
      </p:sp>
      <p:sp>
        <p:nvSpPr>
          <p:cNvPr id="3" name="Rectángulo 2">
            <a:extLst>
              <a:ext uri="{FF2B5EF4-FFF2-40B4-BE49-F238E27FC236}">
                <a16:creationId xmlns:a16="http://schemas.microsoft.com/office/drawing/2014/main" id="{C04F1208-3E1E-2983-21D1-C4ECBDD90F70}"/>
              </a:ext>
            </a:extLst>
          </p:cNvPr>
          <p:cNvSpPr/>
          <p:nvPr/>
        </p:nvSpPr>
        <p:spPr>
          <a:xfrm>
            <a:off x="6846786" y="3928958"/>
            <a:ext cx="1186962" cy="7694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CL" sz="831" b="1" err="1">
                <a:latin typeface="Avenir Next" panose="020B0503020202020204" pitchFamily="34" charset="0"/>
              </a:rPr>
              <a:t>Corporate</a:t>
            </a:r>
            <a:r>
              <a:rPr lang="es-CL" sz="831" b="1">
                <a:latin typeface="Avenir Next" panose="020B0503020202020204" pitchFamily="34" charset="0"/>
              </a:rPr>
              <a:t> venture </a:t>
            </a:r>
            <a:r>
              <a:rPr lang="es-CL" sz="831">
                <a:latin typeface="Avenir Next" panose="020B0503020202020204" pitchFamily="34" charset="0"/>
              </a:rPr>
              <a:t>con expansión regional</a:t>
            </a:r>
            <a:endParaRPr lang="es-CL" sz="969">
              <a:latin typeface="Avenir Next" panose="020B0503020202020204" pitchFamily="34" charset="0"/>
            </a:endParaRPr>
          </a:p>
        </p:txBody>
      </p:sp>
      <p:sp>
        <p:nvSpPr>
          <p:cNvPr id="5" name="CuadroTexto 4">
            <a:extLst>
              <a:ext uri="{FF2B5EF4-FFF2-40B4-BE49-F238E27FC236}">
                <a16:creationId xmlns:a16="http://schemas.microsoft.com/office/drawing/2014/main" id="{C321B703-84D5-DBB3-9FA0-CBA9DE5AAA01}"/>
              </a:ext>
            </a:extLst>
          </p:cNvPr>
          <p:cNvSpPr txBox="1"/>
          <p:nvPr/>
        </p:nvSpPr>
        <p:spPr>
          <a:xfrm>
            <a:off x="8113978" y="3928959"/>
            <a:ext cx="3274134" cy="769441"/>
          </a:xfrm>
          <a:prstGeom prst="rect">
            <a:avLst/>
          </a:prstGeom>
          <a:noFill/>
        </p:spPr>
        <p:txBody>
          <a:bodyPr wrap="square" rtlCol="0">
            <a:spAutoFit/>
          </a:bodyPr>
          <a:lstStyle>
            <a:defPPr>
              <a:defRPr lang="en-US"/>
            </a:defPPr>
            <a:lvl1pPr>
              <a:defRPr sz="1200">
                <a:latin typeface="Avenir Next" panose="020B0503020202020204" pitchFamily="34" charset="0"/>
              </a:defRPr>
            </a:lvl1pPr>
          </a:lstStyle>
          <a:p>
            <a:r>
              <a:rPr lang="es-CL" sz="1100" dirty="0"/>
              <a:t>Una </a:t>
            </a:r>
            <a:r>
              <a:rPr lang="es-CL" sz="1100" b="1" dirty="0"/>
              <a:t>empresa grande, global</a:t>
            </a:r>
            <a:r>
              <a:rPr lang="es-CL" sz="1100" dirty="0"/>
              <a:t>, con excelentes canales de distribución, y activa con sus inversiones. Cuidado de caer en un CV aislado y no conectado a las capacidades centrales.</a:t>
            </a:r>
          </a:p>
        </p:txBody>
      </p:sp>
      <p:sp>
        <p:nvSpPr>
          <p:cNvPr id="10" name="Rectángulo 9">
            <a:extLst>
              <a:ext uri="{FF2B5EF4-FFF2-40B4-BE49-F238E27FC236}">
                <a16:creationId xmlns:a16="http://schemas.microsoft.com/office/drawing/2014/main" id="{D22A3A30-E21A-0042-1F24-91AC6A792549}"/>
              </a:ext>
            </a:extLst>
          </p:cNvPr>
          <p:cNvSpPr/>
          <p:nvPr/>
        </p:nvSpPr>
        <p:spPr>
          <a:xfrm>
            <a:off x="6846786" y="3069176"/>
            <a:ext cx="1186962" cy="6712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CL" sz="1246">
                <a:latin typeface="Avenir Next" panose="020B0503020202020204" pitchFamily="34" charset="0"/>
              </a:rPr>
              <a:t>VC</a:t>
            </a:r>
          </a:p>
          <a:p>
            <a:pPr algn="ctr"/>
            <a:r>
              <a:rPr lang="es-CL" sz="831">
                <a:latin typeface="Avenir Next" panose="020B0503020202020204" pitchFamily="34" charset="0"/>
              </a:rPr>
              <a:t>De crecimiento internacional</a:t>
            </a:r>
          </a:p>
        </p:txBody>
      </p:sp>
      <p:sp>
        <p:nvSpPr>
          <p:cNvPr id="11" name="CuadroTexto 10">
            <a:extLst>
              <a:ext uri="{FF2B5EF4-FFF2-40B4-BE49-F238E27FC236}">
                <a16:creationId xmlns:a16="http://schemas.microsoft.com/office/drawing/2014/main" id="{DB5732CF-4353-9BC7-0950-2C5CF703E796}"/>
              </a:ext>
            </a:extLst>
          </p:cNvPr>
          <p:cNvSpPr txBox="1"/>
          <p:nvPr/>
        </p:nvSpPr>
        <p:spPr>
          <a:xfrm>
            <a:off x="8113979" y="3069176"/>
            <a:ext cx="3274134" cy="769441"/>
          </a:xfrm>
          <a:prstGeom prst="rect">
            <a:avLst/>
          </a:prstGeom>
          <a:noFill/>
        </p:spPr>
        <p:txBody>
          <a:bodyPr wrap="square" rtlCol="0">
            <a:spAutoFit/>
          </a:bodyPr>
          <a:lstStyle/>
          <a:p>
            <a:r>
              <a:rPr lang="es-CL" sz="1100" dirty="0">
                <a:latin typeface="Avenir Next" panose="020B0503020202020204" pitchFamily="34" charset="0"/>
              </a:rPr>
              <a:t>Si existe un VC de crecimiento con buen récord de empresas similares, contacto internacional, buenos directores con experiencia en el rubro y contactos o red en I+D.</a:t>
            </a:r>
          </a:p>
        </p:txBody>
      </p:sp>
      <p:sp>
        <p:nvSpPr>
          <p:cNvPr id="12" name="Rectángulo 11">
            <a:extLst>
              <a:ext uri="{FF2B5EF4-FFF2-40B4-BE49-F238E27FC236}">
                <a16:creationId xmlns:a16="http://schemas.microsoft.com/office/drawing/2014/main" id="{0133EACA-4F5D-D877-9816-629015EB8062}"/>
              </a:ext>
            </a:extLst>
          </p:cNvPr>
          <p:cNvSpPr/>
          <p:nvPr/>
        </p:nvSpPr>
        <p:spPr>
          <a:xfrm>
            <a:off x="6846786" y="4886959"/>
            <a:ext cx="1186962" cy="934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CL" sz="831" dirty="0">
                <a:latin typeface="Avenir Next" panose="020B0503020202020204" pitchFamily="34" charset="0"/>
              </a:rPr>
              <a:t>Empresa de ingeniería y equipos con presencia regional</a:t>
            </a:r>
          </a:p>
        </p:txBody>
      </p:sp>
      <p:sp>
        <p:nvSpPr>
          <p:cNvPr id="13" name="CuadroTexto 12">
            <a:extLst>
              <a:ext uri="{FF2B5EF4-FFF2-40B4-BE49-F238E27FC236}">
                <a16:creationId xmlns:a16="http://schemas.microsoft.com/office/drawing/2014/main" id="{8E900561-F7E7-B8F5-26BD-CAF46FD16EF2}"/>
              </a:ext>
            </a:extLst>
          </p:cNvPr>
          <p:cNvSpPr txBox="1"/>
          <p:nvPr/>
        </p:nvSpPr>
        <p:spPr>
          <a:xfrm>
            <a:off x="8113978" y="4882804"/>
            <a:ext cx="3274134" cy="938719"/>
          </a:xfrm>
          <a:prstGeom prst="rect">
            <a:avLst/>
          </a:prstGeom>
          <a:noFill/>
        </p:spPr>
        <p:txBody>
          <a:bodyPr wrap="square" rtlCol="0">
            <a:spAutoFit/>
          </a:bodyPr>
          <a:lstStyle>
            <a:defPPr>
              <a:defRPr lang="en-US"/>
            </a:defPPr>
            <a:lvl1pPr>
              <a:defRPr sz="1200">
                <a:latin typeface="Avenir Next" panose="020B0503020202020204" pitchFamily="34" charset="0"/>
              </a:defRPr>
            </a:lvl1pPr>
          </a:lstStyle>
          <a:p>
            <a:r>
              <a:rPr lang="es-CL" sz="1100" dirty="0"/>
              <a:t>Una empresa grande local, que se ha ido expandiendo, tiene buenos fundamentos y es complementaria. Que esta sea una inversión importante, y tenga incentivos para crecer juntos y cruzados (intercambiar acciones).</a:t>
            </a:r>
          </a:p>
        </p:txBody>
      </p:sp>
      <p:sp>
        <p:nvSpPr>
          <p:cNvPr id="14" name="CuadroTexto 13">
            <a:extLst>
              <a:ext uri="{FF2B5EF4-FFF2-40B4-BE49-F238E27FC236}">
                <a16:creationId xmlns:a16="http://schemas.microsoft.com/office/drawing/2014/main" id="{E42D08D8-94ED-DD3E-D8E2-EEA62E2D584A}"/>
              </a:ext>
            </a:extLst>
          </p:cNvPr>
          <p:cNvSpPr txBox="1"/>
          <p:nvPr/>
        </p:nvSpPr>
        <p:spPr>
          <a:xfrm>
            <a:off x="6846786" y="2053775"/>
            <a:ext cx="4541327" cy="830997"/>
          </a:xfrm>
          <a:prstGeom prst="rect">
            <a:avLst/>
          </a:prstGeom>
          <a:noFill/>
        </p:spPr>
        <p:txBody>
          <a:bodyPr wrap="square" rtlCol="0">
            <a:spAutoFit/>
          </a:bodyPr>
          <a:lstStyle/>
          <a:p>
            <a:r>
              <a:rPr lang="es-CL" sz="1200" dirty="0">
                <a:latin typeface="Avenir Next" panose="020B0503020202020204" pitchFamily="34" charset="0"/>
              </a:rPr>
              <a:t>El posible socio inversor es relevante de acuerdo a los desafíos, los principales son: multiplicar las ventas por 3, salir a mercados internacionales, lograr un I+D exitoso. De acuerdo con esto, los perfiles más adecuados serian:</a:t>
            </a:r>
          </a:p>
        </p:txBody>
      </p:sp>
    </p:spTree>
    <p:extLst>
      <p:ext uri="{BB962C8B-B14F-4D97-AF65-F5344CB8AC3E}">
        <p14:creationId xmlns:p14="http://schemas.microsoft.com/office/powerpoint/2010/main" val="12465378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3307</Words>
  <Application>Microsoft Macintosh PowerPoint</Application>
  <PresentationFormat>Panorámica</PresentationFormat>
  <Paragraphs>339</Paragraphs>
  <Slides>18</Slides>
  <Notes>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18</vt:i4>
      </vt:variant>
    </vt:vector>
  </HeadingPairs>
  <TitlesOfParts>
    <vt:vector size="27" baseType="lpstr">
      <vt:lpstr>Aptos</vt:lpstr>
      <vt:lpstr>Arial</vt:lpstr>
      <vt:lpstr>Avenir Next</vt:lpstr>
      <vt:lpstr>Gibson</vt:lpstr>
      <vt:lpstr>Lao Sangam MN</vt:lpstr>
      <vt:lpstr>Raleway</vt:lpstr>
      <vt:lpstr>Times New Roman</vt:lpstr>
      <vt:lpstr>Tema de Office</vt:lpstr>
      <vt:lpstr>1_Tema de Office</vt:lpstr>
      <vt:lpstr>VIRALIZA VENTURE STUDIO UINN Programa de financiamiento especializado para startups. </vt:lpstr>
      <vt:lpstr>Presentación de PowerPoint</vt:lpstr>
      <vt:lpstr>Caso 4 Armando un portafolio en Capital de riesgo </vt:lpstr>
      <vt:lpstr>Guía de ejercicios EJERCICIO 4</vt:lpstr>
      <vt:lpstr>Presentación de PowerPoint</vt:lpstr>
      <vt:lpstr>Presentación de PowerPoint</vt:lpstr>
      <vt:lpstr>Caso 7 GreenCharge (energía y movilidad eléctrica) </vt:lpstr>
      <vt:lpstr>Guía de ejercicios EJERCICIO 7</vt:lpstr>
      <vt:lpstr>Presentación de PowerPoint</vt:lpstr>
      <vt:lpstr>Presentación de PowerPoint</vt:lpstr>
      <vt:lpstr>Caso 8 FoodPrint (foodtech sostenible) </vt:lpstr>
      <vt:lpstr>Guía de ejercicios EJERCICIO 8</vt:lpstr>
      <vt:lpstr>Presentación de PowerPoint</vt:lpstr>
      <vt:lpstr>Presentación de PowerPoint</vt:lpstr>
      <vt:lpstr>Caso 12 Ronda de inversión y valorización.</vt:lpstr>
      <vt:lpstr>Guía de ejercicios EJERCICIO 12</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Inti Nuñez</dc:creator>
  <cp:lastModifiedBy>Inti Nuñez</cp:lastModifiedBy>
  <cp:revision>1</cp:revision>
  <dcterms:created xsi:type="dcterms:W3CDTF">2026-01-06T18:18:06Z</dcterms:created>
  <dcterms:modified xsi:type="dcterms:W3CDTF">2026-04-13T19:54:15Z</dcterms:modified>
</cp:coreProperties>
</file>