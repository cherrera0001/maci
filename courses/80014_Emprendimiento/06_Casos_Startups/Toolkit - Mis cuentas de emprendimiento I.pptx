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64" r:id="rId1"/>
  </p:sldMasterIdLst>
  <p:notesMasterIdLst>
    <p:notesMasterId r:id="rId46"/>
  </p:notesMasterIdLst>
  <p:handoutMasterIdLst>
    <p:handoutMasterId r:id="rId47"/>
  </p:handoutMasterIdLst>
  <p:sldIdLst>
    <p:sldId id="1137" r:id="rId2"/>
    <p:sldId id="1148" r:id="rId3"/>
    <p:sldId id="1149" r:id="rId4"/>
    <p:sldId id="1150" r:id="rId5"/>
    <p:sldId id="1151" r:id="rId6"/>
    <p:sldId id="1178" r:id="rId7"/>
    <p:sldId id="276" r:id="rId8"/>
    <p:sldId id="258" r:id="rId9"/>
    <p:sldId id="266" r:id="rId10"/>
    <p:sldId id="264" r:id="rId11"/>
    <p:sldId id="1475" r:id="rId12"/>
    <p:sldId id="2006" r:id="rId13"/>
    <p:sldId id="2008" r:id="rId14"/>
    <p:sldId id="256" r:id="rId15"/>
    <p:sldId id="1173" r:id="rId16"/>
    <p:sldId id="1154" r:id="rId17"/>
    <p:sldId id="1986" r:id="rId18"/>
    <p:sldId id="1386" r:id="rId19"/>
    <p:sldId id="1393" r:id="rId20"/>
    <p:sldId id="1408" r:id="rId21"/>
    <p:sldId id="1405" r:id="rId22"/>
    <p:sldId id="1987" r:id="rId23"/>
    <p:sldId id="1988" r:id="rId24"/>
    <p:sldId id="1406" r:id="rId25"/>
    <p:sldId id="1407" r:id="rId26"/>
    <p:sldId id="1409" r:id="rId27"/>
    <p:sldId id="1176" r:id="rId28"/>
    <p:sldId id="1474" r:id="rId29"/>
    <p:sldId id="1469" r:id="rId30"/>
    <p:sldId id="1985" r:id="rId31"/>
    <p:sldId id="1411" r:id="rId32"/>
    <p:sldId id="1412" r:id="rId33"/>
    <p:sldId id="1997" r:id="rId34"/>
    <p:sldId id="1413" r:id="rId35"/>
    <p:sldId id="257" r:id="rId36"/>
    <p:sldId id="1989" r:id="rId37"/>
    <p:sldId id="2000" r:id="rId38"/>
    <p:sldId id="2002" r:id="rId39"/>
    <p:sldId id="2001" r:id="rId40"/>
    <p:sldId id="1998" r:id="rId41"/>
    <p:sldId id="1999" r:id="rId42"/>
    <p:sldId id="2003" r:id="rId43"/>
    <p:sldId id="2005" r:id="rId44"/>
    <p:sldId id="1410" r:id="rId45"/>
  </p:sldIdLst>
  <p:sldSz cx="12192000" cy="6858000"/>
  <p:notesSz cx="6858000" cy="9144000"/>
  <p:embeddedFontLst>
    <p:embeddedFont>
      <p:font typeface="Aptos Narrow" panose="020B0004020202020204" pitchFamily="34" charset="0"/>
      <p:regular r:id="rId48"/>
      <p:bold r:id="rId49"/>
      <p:italic r:id="rId50"/>
      <p:boldItalic r:id="rId51"/>
    </p:embeddedFont>
    <p:embeddedFont>
      <p:font typeface="Avenir Next" panose="020B0503020202020204" pitchFamily="34" charset="0"/>
      <p:regular r:id="rId52"/>
      <p:bold r:id="rId53"/>
      <p:italic r:id="rId54"/>
      <p:boldItalic r:id="rId55"/>
    </p:embeddedFont>
    <p:embeddedFont>
      <p:font typeface="Gotham" panose="020B0604020202020204" pitchFamily="34" charset="0"/>
      <p:regular r:id="rId56"/>
      <p:bold r:id="rId57"/>
      <p:italic r:id="rId58"/>
      <p:boldItalic r:id="rId59"/>
    </p:embeddedFont>
    <p:embeddedFont>
      <p:font typeface="Ink Free" panose="03080402000500000000" pitchFamily="66" charset="0"/>
      <p:regular r:id="rId60"/>
    </p:embeddedFont>
    <p:embeddedFont>
      <p:font typeface="Montserrat" pitchFamily="2" charset="77"/>
      <p:regular r:id="rId61"/>
      <p:bold r:id="rId62"/>
      <p:italic r:id="rId63"/>
      <p:boldItalic r:id="rId64"/>
    </p:embeddedFont>
    <p:embeddedFont>
      <p:font typeface="Montserrat ExtraBold" pitchFamily="2" charset="77"/>
      <p:bold r:id="rId65"/>
      <p:italic r:id="rId66"/>
      <p:boldItalic r:id="rId67"/>
    </p:embeddedFont>
    <p:embeddedFont>
      <p:font typeface="Montserrat Medium" pitchFamily="2" charset="77"/>
      <p:regular r:id="rId68"/>
      <p:italic r:id="rId69"/>
    </p:embeddedFont>
    <p:embeddedFont>
      <p:font typeface="Montserrat SemiBold" pitchFamily="2" charset="77"/>
      <p:regular r:id="rId70"/>
      <p:bold r:id="rId71"/>
      <p:italic r:id="rId72"/>
      <p:boldItalic r:id="rId73"/>
    </p:embeddedFont>
    <p:embeddedFont>
      <p:font typeface="Raleway" pitchFamily="2" charset="77"/>
      <p:regular r:id="rId74"/>
      <p:bold r:id="rId75"/>
      <p:italic r:id="rId76"/>
      <p:boldItalic r:id="rId77"/>
    </p:embeddedFont>
  </p:embeddedFontLst>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EF2926BD-C179-1D49-AA1C-4D13A2D37A60}">
          <p14:sldIdLst>
            <p14:sldId id="1137"/>
            <p14:sldId id="1148"/>
            <p14:sldId id="1149"/>
          </p14:sldIdLst>
        </p14:section>
        <p14:section name="Construcción de Flujo financiero" id="{A64ACD14-A07F-F74B-9A1E-74554C8ABC3F}">
          <p14:sldIdLst>
            <p14:sldId id="1150"/>
            <p14:sldId id="1151"/>
            <p14:sldId id="1178"/>
            <p14:sldId id="276"/>
            <p14:sldId id="258"/>
            <p14:sldId id="266"/>
            <p14:sldId id="264"/>
            <p14:sldId id="1475"/>
            <p14:sldId id="2006"/>
            <p14:sldId id="2008"/>
            <p14:sldId id="256"/>
          </p14:sldIdLst>
        </p14:section>
        <p14:section name="Primera etapa Product market fit" id="{20E3A36A-DF91-1544-ADE2-5F8801A0BFE3}">
          <p14:sldIdLst>
            <p14:sldId id="1173"/>
            <p14:sldId id="1154"/>
            <p14:sldId id="1986"/>
            <p14:sldId id="1386"/>
            <p14:sldId id="1393"/>
          </p14:sldIdLst>
        </p14:section>
        <p14:section name="Segunda etapa Ajuste del modelo de negocios" id="{0FB1E674-275C-E842-BA41-AE667CC7CB39}">
          <p14:sldIdLst>
            <p14:sldId id="1408"/>
            <p14:sldId id="1405"/>
            <p14:sldId id="1987"/>
            <p14:sldId id="1988"/>
            <p14:sldId id="1406"/>
            <p14:sldId id="1407"/>
            <p14:sldId id="1409"/>
          </p14:sldIdLst>
        </p14:section>
        <p14:section name="Calzando con los indicadores" id="{FCFA1FA7-C7DA-3E4B-AB25-064DDDB434DC}">
          <p14:sldIdLst>
            <p14:sldId id="1176"/>
            <p14:sldId id="1474"/>
            <p14:sldId id="1469"/>
            <p14:sldId id="1985"/>
          </p14:sldIdLst>
        </p14:section>
        <p14:section name="Planificando rondas de inversión y Cap table" id="{F617447A-5AC7-8743-B2F8-BAF2FBE1F213}">
          <p14:sldIdLst>
            <p14:sldId id="1411"/>
            <p14:sldId id="1412"/>
            <p14:sldId id="1997"/>
            <p14:sldId id="1413"/>
            <p14:sldId id="257"/>
            <p14:sldId id="1989"/>
          </p14:sldIdLst>
        </p14:section>
        <p14:section name="Ejercicio Startup one" id="{7ACF591B-39E2-D44B-8198-F889C12D8069}">
          <p14:sldIdLst>
            <p14:sldId id="2000"/>
            <p14:sldId id="2002"/>
            <p14:sldId id="2001"/>
            <p14:sldId id="1998"/>
            <p14:sldId id="1999"/>
            <p14:sldId id="2003"/>
            <p14:sldId id="2005"/>
            <p14:sldId id="1410"/>
          </p14:sldIdLst>
        </p14:section>
      </p14:sectionLst>
    </p:ext>
    <p:ext uri="{EFAFB233-063F-42B5-8137-9DF3F51BA10A}">
      <p15:sldGuideLst xmlns:p15="http://schemas.microsoft.com/office/powerpoint/2012/main">
        <p15:guide id="1" orient="horz" pos="2160" userDrawn="1">
          <p15:clr>
            <a:srgbClr val="A4A3A4"/>
          </p15:clr>
        </p15:guide>
        <p15:guide id="2" orient="horz" pos="504" userDrawn="1">
          <p15:clr>
            <a:srgbClr val="A4A3A4"/>
          </p15:clr>
        </p15:guide>
        <p15:guide id="4" pos="5201" userDrawn="1">
          <p15:clr>
            <a:srgbClr val="A4A3A4"/>
          </p15:clr>
        </p15:guide>
        <p15:guide id="5" pos="397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onzalo Castillo Salgado" initials="GCS" lastIdx="1" clrIdx="0">
    <p:extLst>
      <p:ext uri="{19B8F6BF-5375-455C-9EA6-DF929625EA0E}">
        <p15:presenceInfo xmlns:p15="http://schemas.microsoft.com/office/powerpoint/2012/main" userId="27c331f9d22b767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3BB9"/>
    <a:srgbClr val="FEC2E4"/>
    <a:srgbClr val="344548"/>
    <a:srgbClr val="FAFC84"/>
    <a:srgbClr val="A3EBFC"/>
    <a:srgbClr val="4FE14F"/>
    <a:srgbClr val="FFFFFF"/>
    <a:srgbClr val="2D3D3F"/>
    <a:srgbClr val="000000"/>
    <a:srgbClr val="4E69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707433-B0E2-9A4D-9D1A-6032EE89D3A8}" v="56" dt="2025-10-07T11:39:58.60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6" autoAdjust="0"/>
    <p:restoredTop sz="89078" autoAdjust="0"/>
  </p:normalViewPr>
  <p:slideViewPr>
    <p:cSldViewPr snapToGrid="0" showGuides="1">
      <p:cViewPr varScale="1">
        <p:scale>
          <a:sx n="90" d="100"/>
          <a:sy n="90" d="100"/>
        </p:scale>
        <p:origin x="1552" y="496"/>
      </p:cViewPr>
      <p:guideLst>
        <p:guide orient="horz" pos="2160"/>
        <p:guide orient="horz" pos="504"/>
        <p:guide pos="5201"/>
        <p:guide pos="3976"/>
      </p:guideLst>
    </p:cSldViewPr>
  </p:slideViewPr>
  <p:notesTextViewPr>
    <p:cViewPr>
      <p:scale>
        <a:sx n="66" d="100"/>
        <a:sy n="66" d="100"/>
      </p:scale>
      <p:origin x="0" y="0"/>
    </p:cViewPr>
  </p:notesTextViewPr>
  <p:sorterViewPr>
    <p:cViewPr>
      <p:scale>
        <a:sx n="1" d="1"/>
        <a:sy n="1" d="1"/>
      </p:scale>
      <p:origin x="0" y="0"/>
    </p:cViewPr>
  </p:sorterViewPr>
  <p:notesViewPr>
    <p:cSldViewPr snapToGrid="0" showGuides="1">
      <p:cViewPr varScale="1">
        <p:scale>
          <a:sx n="62" d="100"/>
          <a:sy n="62" d="100"/>
        </p:scale>
        <p:origin x="3154"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handoutMaster" Target="handoutMasters/handoutMaster1.xml"/><Relationship Id="rId63" Type="http://schemas.openxmlformats.org/officeDocument/2006/relationships/font" Target="fonts/font16.fntdata"/><Relationship Id="rId68" Type="http://schemas.openxmlformats.org/officeDocument/2006/relationships/font" Target="fonts/font21.fntdata"/><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font" Target="fonts/font6.fntdata"/><Relationship Id="rId58" Type="http://schemas.openxmlformats.org/officeDocument/2006/relationships/font" Target="fonts/font11.fntdata"/><Relationship Id="rId74" Type="http://schemas.openxmlformats.org/officeDocument/2006/relationships/font" Target="fonts/font27.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14.fntdata"/><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font" Target="fonts/font17.fntdata"/><Relationship Id="rId69" Type="http://schemas.openxmlformats.org/officeDocument/2006/relationships/font" Target="fonts/font22.fntdata"/><Relationship Id="rId77" Type="http://schemas.openxmlformats.org/officeDocument/2006/relationships/font" Target="fonts/font30.fntdata"/><Relationship Id="rId8" Type="http://schemas.openxmlformats.org/officeDocument/2006/relationships/slide" Target="slides/slide7.xml"/><Relationship Id="rId51" Type="http://schemas.openxmlformats.org/officeDocument/2006/relationships/font" Target="fonts/font4.fntdata"/><Relationship Id="rId72" Type="http://schemas.openxmlformats.org/officeDocument/2006/relationships/font" Target="fonts/font25.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2.fntdata"/><Relationship Id="rId67"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font" Target="fonts/font15.fntdata"/><Relationship Id="rId70" Type="http://schemas.openxmlformats.org/officeDocument/2006/relationships/font" Target="fonts/font23.fntdata"/><Relationship Id="rId75" Type="http://schemas.openxmlformats.org/officeDocument/2006/relationships/font" Target="fonts/font28.fntdata"/><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font" Target="fonts/font18.fntdata"/><Relationship Id="rId73" Type="http://schemas.openxmlformats.org/officeDocument/2006/relationships/font" Target="fonts/font26.fntdata"/><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3.fntdata"/><Relationship Id="rId55" Type="http://schemas.openxmlformats.org/officeDocument/2006/relationships/font" Target="fonts/font8.fntdata"/><Relationship Id="rId76" Type="http://schemas.openxmlformats.org/officeDocument/2006/relationships/font" Target="fonts/font29.fntdata"/><Relationship Id="rId7" Type="http://schemas.openxmlformats.org/officeDocument/2006/relationships/slide" Target="slides/slide6.xml"/><Relationship Id="rId71" Type="http://schemas.openxmlformats.org/officeDocument/2006/relationships/font" Target="fonts/font2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ti Nuñez" userId="fc293a4ee38bb93b" providerId="LiveId" clId="{8C091EB5-D9FC-51B9-B601-2F1273399689}"/>
    <pc:docChg chg="custSel addSld delSld modSld sldOrd addSection modSection">
      <pc:chgData name="Inti Nuñez" userId="fc293a4ee38bb93b" providerId="LiveId" clId="{8C091EB5-D9FC-51B9-B601-2F1273399689}" dt="2025-10-07T11:40:05.095" v="8816" actId="20577"/>
      <pc:docMkLst>
        <pc:docMk/>
      </pc:docMkLst>
      <pc:sldChg chg="del">
        <pc:chgData name="Inti Nuñez" userId="fc293a4ee38bb93b" providerId="LiveId" clId="{8C091EB5-D9FC-51B9-B601-2F1273399689}" dt="2025-10-02T11:54:20.369" v="61" actId="2696"/>
        <pc:sldMkLst>
          <pc:docMk/>
          <pc:sldMk cId="2492636365" sldId="256"/>
        </pc:sldMkLst>
      </pc:sldChg>
      <pc:sldChg chg="add">
        <pc:chgData name="Inti Nuñez" userId="fc293a4ee38bb93b" providerId="LiveId" clId="{8C091EB5-D9FC-51B9-B601-2F1273399689}" dt="2025-10-02T11:54:27.623" v="62"/>
        <pc:sldMkLst>
          <pc:docMk/>
          <pc:sldMk cId="3420826624" sldId="256"/>
        </pc:sldMkLst>
      </pc:sldChg>
      <pc:sldChg chg="del">
        <pc:chgData name="Inti Nuñez" userId="fc293a4ee38bb93b" providerId="LiveId" clId="{8C091EB5-D9FC-51B9-B601-2F1273399689}" dt="2025-10-02T11:54:20.369" v="61" actId="2696"/>
        <pc:sldMkLst>
          <pc:docMk/>
          <pc:sldMk cId="2371748485" sldId="257"/>
        </pc:sldMkLst>
      </pc:sldChg>
      <pc:sldChg chg="modSp add mod ord">
        <pc:chgData name="Inti Nuñez" userId="fc293a4ee38bb93b" providerId="LiveId" clId="{8C091EB5-D9FC-51B9-B601-2F1273399689}" dt="2025-10-02T15:41:55.751" v="5599" actId="20578"/>
        <pc:sldMkLst>
          <pc:docMk/>
          <pc:sldMk cId="3314750473" sldId="257"/>
        </pc:sldMkLst>
        <pc:spChg chg="mod">
          <ac:chgData name="Inti Nuñez" userId="fc293a4ee38bb93b" providerId="LiveId" clId="{8C091EB5-D9FC-51B9-B601-2F1273399689}" dt="2025-10-02T15:41:41.526" v="5598" actId="20577"/>
          <ac:spMkLst>
            <pc:docMk/>
            <pc:sldMk cId="3314750473" sldId="257"/>
            <ac:spMk id="2" creationId="{DB046203-6FE1-3D39-DB0C-38F09FA88ACE}"/>
          </ac:spMkLst>
        </pc:spChg>
      </pc:sldChg>
      <pc:sldChg chg="add del">
        <pc:chgData name="Inti Nuñez" userId="fc293a4ee38bb93b" providerId="LiveId" clId="{8C091EB5-D9FC-51B9-B601-2F1273399689}" dt="2025-10-02T11:54:51.964" v="63" actId="2696"/>
        <pc:sldMkLst>
          <pc:docMk/>
          <pc:sldMk cId="4159782277" sldId="257"/>
        </pc:sldMkLst>
      </pc:sldChg>
      <pc:sldChg chg="addSp delSp modSp add mod">
        <pc:chgData name="Inti Nuñez" userId="fc293a4ee38bb93b" providerId="LiveId" clId="{8C091EB5-D9FC-51B9-B601-2F1273399689}" dt="2025-10-02T12:10:28.185" v="1276" actId="20577"/>
        <pc:sldMkLst>
          <pc:docMk/>
          <pc:sldMk cId="3913647643" sldId="258"/>
        </pc:sldMkLst>
        <pc:spChg chg="mod topLvl">
          <ac:chgData name="Inti Nuñez" userId="fc293a4ee38bb93b" providerId="LiveId" clId="{8C091EB5-D9FC-51B9-B601-2F1273399689}" dt="2025-10-02T12:02:46.400" v="180" actId="1036"/>
          <ac:spMkLst>
            <pc:docMk/>
            <pc:sldMk cId="3913647643" sldId="258"/>
            <ac:spMk id="4" creationId="{47201748-B111-BC8D-6E33-60D458D29B42}"/>
          </ac:spMkLst>
        </pc:spChg>
        <pc:spChg chg="mod topLvl">
          <ac:chgData name="Inti Nuñez" userId="fc293a4ee38bb93b" providerId="LiveId" clId="{8C091EB5-D9FC-51B9-B601-2F1273399689}" dt="2025-10-02T12:02:54.666" v="202" actId="1037"/>
          <ac:spMkLst>
            <pc:docMk/>
            <pc:sldMk cId="3913647643" sldId="258"/>
            <ac:spMk id="5" creationId="{CC0AE5EA-DD70-9FDB-45DF-FE021D1D175F}"/>
          </ac:spMkLst>
        </pc:spChg>
        <pc:spChg chg="mod topLvl">
          <ac:chgData name="Inti Nuñez" userId="fc293a4ee38bb93b" providerId="LiveId" clId="{8C091EB5-D9FC-51B9-B601-2F1273399689}" dt="2025-10-02T12:03:07.242" v="234" actId="1037"/>
          <ac:spMkLst>
            <pc:docMk/>
            <pc:sldMk cId="3913647643" sldId="258"/>
            <ac:spMk id="6" creationId="{2D9518F3-7E85-79B3-F0CD-B615E8CD601D}"/>
          </ac:spMkLst>
        </pc:spChg>
        <pc:spChg chg="add mod">
          <ac:chgData name="Inti Nuñez" userId="fc293a4ee38bb93b" providerId="LiveId" clId="{8C091EB5-D9FC-51B9-B601-2F1273399689}" dt="2025-10-02T12:10:28.185" v="1276" actId="20577"/>
          <ac:spMkLst>
            <pc:docMk/>
            <pc:sldMk cId="3913647643" sldId="258"/>
            <ac:spMk id="8" creationId="{4F15EE56-B9FB-C469-0042-B3591F011F3C}"/>
          </ac:spMkLst>
        </pc:spChg>
        <pc:spChg chg="add mod">
          <ac:chgData name="Inti Nuñez" userId="fc293a4ee38bb93b" providerId="LiveId" clId="{8C091EB5-D9FC-51B9-B601-2F1273399689}" dt="2025-10-02T12:02:22.876" v="170" actId="1076"/>
          <ac:spMkLst>
            <pc:docMk/>
            <pc:sldMk cId="3913647643" sldId="258"/>
            <ac:spMk id="9" creationId="{AE6800F4-175C-78E9-D1CE-26FCCE4FE76E}"/>
          </ac:spMkLst>
        </pc:spChg>
        <pc:picChg chg="mod topLvl modCrop">
          <ac:chgData name="Inti Nuñez" userId="fc293a4ee38bb93b" providerId="LiveId" clId="{8C091EB5-D9FC-51B9-B601-2F1273399689}" dt="2025-10-02T12:02:34.202" v="171" actId="14100"/>
          <ac:picMkLst>
            <pc:docMk/>
            <pc:sldMk cId="3913647643" sldId="258"/>
            <ac:picMk id="2" creationId="{C5F216B5-0908-D317-34B3-5A86990973E5}"/>
          </ac:picMkLst>
        </pc:picChg>
      </pc:sldChg>
      <pc:sldChg chg="add">
        <pc:chgData name="Inti Nuñez" userId="fc293a4ee38bb93b" providerId="LiveId" clId="{8C091EB5-D9FC-51B9-B601-2F1273399689}" dt="2025-10-02T12:00:40.028" v="158"/>
        <pc:sldMkLst>
          <pc:docMk/>
          <pc:sldMk cId="2098100052" sldId="264"/>
        </pc:sldMkLst>
      </pc:sldChg>
      <pc:sldChg chg="modSp add mod">
        <pc:chgData name="Inti Nuñez" userId="fc293a4ee38bb93b" providerId="LiveId" clId="{8C091EB5-D9FC-51B9-B601-2F1273399689}" dt="2025-10-02T12:03:35.584" v="239" actId="403"/>
        <pc:sldMkLst>
          <pc:docMk/>
          <pc:sldMk cId="1800393488" sldId="266"/>
        </pc:sldMkLst>
        <pc:spChg chg="mod">
          <ac:chgData name="Inti Nuñez" userId="fc293a4ee38bb93b" providerId="LiveId" clId="{8C091EB5-D9FC-51B9-B601-2F1273399689}" dt="2025-10-02T12:03:35.584" v="239" actId="403"/>
          <ac:spMkLst>
            <pc:docMk/>
            <pc:sldMk cId="1800393488" sldId="266"/>
            <ac:spMk id="3" creationId="{2D369E4B-A13E-5E35-96F1-236AA12F6437}"/>
          </ac:spMkLst>
        </pc:spChg>
      </pc:sldChg>
      <pc:sldChg chg="add ord">
        <pc:chgData name="Inti Nuñez" userId="fc293a4ee38bb93b" providerId="LiveId" clId="{8C091EB5-D9FC-51B9-B601-2F1273399689}" dt="2025-10-02T11:51:39.788" v="21" actId="20578"/>
        <pc:sldMkLst>
          <pc:docMk/>
          <pc:sldMk cId="0" sldId="276"/>
        </pc:sldMkLst>
      </pc:sldChg>
      <pc:sldChg chg="addSp modSp mod">
        <pc:chgData name="Inti Nuñez" userId="fc293a4ee38bb93b" providerId="LiveId" clId="{8C091EB5-D9FC-51B9-B601-2F1273399689}" dt="2025-10-02T11:23:59.575" v="7" actId="1076"/>
        <pc:sldMkLst>
          <pc:docMk/>
          <pc:sldMk cId="3898731772" sldId="1150"/>
        </pc:sldMkLst>
        <pc:spChg chg="add mod">
          <ac:chgData name="Inti Nuñez" userId="fc293a4ee38bb93b" providerId="LiveId" clId="{8C091EB5-D9FC-51B9-B601-2F1273399689}" dt="2025-10-02T11:23:59.575" v="7" actId="1076"/>
          <ac:spMkLst>
            <pc:docMk/>
            <pc:sldMk cId="3898731772" sldId="1150"/>
            <ac:spMk id="5" creationId="{8F9C948C-4935-4FAA-3D00-8A59C0148B2E}"/>
          </ac:spMkLst>
        </pc:spChg>
      </pc:sldChg>
      <pc:sldChg chg="ord">
        <pc:chgData name="Inti Nuñez" userId="fc293a4ee38bb93b" providerId="LiveId" clId="{8C091EB5-D9FC-51B9-B601-2F1273399689}" dt="2025-10-02T12:31:41.214" v="1830" actId="20578"/>
        <pc:sldMkLst>
          <pc:docMk/>
          <pc:sldMk cId="62906634" sldId="1154"/>
        </pc:sldMkLst>
      </pc:sldChg>
      <pc:sldChg chg="ord">
        <pc:chgData name="Inti Nuñez" userId="fc293a4ee38bb93b" providerId="LiveId" clId="{8C091EB5-D9FC-51B9-B601-2F1273399689}" dt="2025-10-02T11:30:09.404" v="20" actId="20578"/>
        <pc:sldMkLst>
          <pc:docMk/>
          <pc:sldMk cId="2124981858" sldId="1173"/>
        </pc:sldMkLst>
      </pc:sldChg>
      <pc:sldChg chg="modSp mod">
        <pc:chgData name="Inti Nuñez" userId="fc293a4ee38bb93b" providerId="LiveId" clId="{8C091EB5-D9FC-51B9-B601-2F1273399689}" dt="2025-10-02T11:53:08.663" v="57" actId="20577"/>
        <pc:sldMkLst>
          <pc:docMk/>
          <pc:sldMk cId="2892520302" sldId="1178"/>
        </pc:sldMkLst>
        <pc:graphicFrameChg chg="modGraphic">
          <ac:chgData name="Inti Nuñez" userId="fc293a4ee38bb93b" providerId="LiveId" clId="{8C091EB5-D9FC-51B9-B601-2F1273399689}" dt="2025-10-02T11:53:08.663" v="57" actId="20577"/>
          <ac:graphicFrameMkLst>
            <pc:docMk/>
            <pc:sldMk cId="2892520302" sldId="1178"/>
            <ac:graphicFrameMk id="6" creationId="{3F0A12F3-012E-455E-A5DA-71E3D97949A0}"/>
          </ac:graphicFrameMkLst>
        </pc:graphicFrameChg>
      </pc:sldChg>
      <pc:sldChg chg="modSp mod">
        <pc:chgData name="Inti Nuñez" userId="fc293a4ee38bb93b" providerId="LiveId" clId="{8C091EB5-D9FC-51B9-B601-2F1273399689}" dt="2025-10-02T14:53:33.185" v="2991" actId="14100"/>
        <pc:sldMkLst>
          <pc:docMk/>
          <pc:sldMk cId="2579471734" sldId="1386"/>
        </pc:sldMkLst>
        <pc:spChg chg="mod">
          <ac:chgData name="Inti Nuñez" userId="fc293a4ee38bb93b" providerId="LiveId" clId="{8C091EB5-D9FC-51B9-B601-2F1273399689}" dt="2025-10-02T14:53:33.185" v="2991" actId="14100"/>
          <ac:spMkLst>
            <pc:docMk/>
            <pc:sldMk cId="2579471734" sldId="1386"/>
            <ac:spMk id="20" creationId="{2FB121B7-4875-4E7F-903F-EAB92325FA0C}"/>
          </ac:spMkLst>
        </pc:spChg>
      </pc:sldChg>
      <pc:sldChg chg="ord">
        <pc:chgData name="Inti Nuñez" userId="fc293a4ee38bb93b" providerId="LiveId" clId="{8C091EB5-D9FC-51B9-B601-2F1273399689}" dt="2025-10-02T12:32:09.015" v="1831" actId="20578"/>
        <pc:sldMkLst>
          <pc:docMk/>
          <pc:sldMk cId="415748826" sldId="1405"/>
        </pc:sldMkLst>
      </pc:sldChg>
      <pc:sldChg chg="modSp mod">
        <pc:chgData name="Inti Nuñez" userId="fc293a4ee38bb93b" providerId="LiveId" clId="{8C091EB5-D9FC-51B9-B601-2F1273399689}" dt="2025-10-02T15:06:57.106" v="4058" actId="20577"/>
        <pc:sldMkLst>
          <pc:docMk/>
          <pc:sldMk cId="784612509" sldId="1406"/>
        </pc:sldMkLst>
        <pc:spChg chg="mod">
          <ac:chgData name="Inti Nuñez" userId="fc293a4ee38bb93b" providerId="LiveId" clId="{8C091EB5-D9FC-51B9-B601-2F1273399689}" dt="2025-10-02T15:06:57.106" v="4058" actId="20577"/>
          <ac:spMkLst>
            <pc:docMk/>
            <pc:sldMk cId="784612509" sldId="1406"/>
            <ac:spMk id="14" creationId="{709AEA84-C28A-D3B0-EBFB-F72DF4A3F248}"/>
          </ac:spMkLst>
        </pc:spChg>
      </pc:sldChg>
      <pc:sldChg chg="addSp delSp modSp mod ord">
        <pc:chgData name="Inti Nuñez" userId="fc293a4ee38bb93b" providerId="LiveId" clId="{8C091EB5-D9FC-51B9-B601-2F1273399689}" dt="2025-10-02T15:27:41.993" v="4451" actId="14100"/>
        <pc:sldMkLst>
          <pc:docMk/>
          <pc:sldMk cId="1149028069" sldId="1412"/>
        </pc:sldMkLst>
        <pc:spChg chg="mod">
          <ac:chgData name="Inti Nuñez" userId="fc293a4ee38bb93b" providerId="LiveId" clId="{8C091EB5-D9FC-51B9-B601-2F1273399689}" dt="2025-10-02T15:26:45.940" v="4443" actId="14100"/>
          <ac:spMkLst>
            <pc:docMk/>
            <pc:sldMk cId="1149028069" sldId="1412"/>
            <ac:spMk id="2" creationId="{92C9CDAC-1684-9FC0-D780-B79EB9829594}"/>
          </ac:spMkLst>
        </pc:spChg>
        <pc:spChg chg="mod">
          <ac:chgData name="Inti Nuñez" userId="fc293a4ee38bb93b" providerId="LiveId" clId="{8C091EB5-D9FC-51B9-B601-2F1273399689}" dt="2025-10-02T15:26:50.545" v="4444" actId="14100"/>
          <ac:spMkLst>
            <pc:docMk/>
            <pc:sldMk cId="1149028069" sldId="1412"/>
            <ac:spMk id="7" creationId="{E954E1EF-DC6D-5000-BEA3-A4D41DEE25F8}"/>
          </ac:spMkLst>
        </pc:spChg>
        <pc:spChg chg="mod">
          <ac:chgData name="Inti Nuñez" userId="fc293a4ee38bb93b" providerId="LiveId" clId="{8C091EB5-D9FC-51B9-B601-2F1273399689}" dt="2025-10-02T15:26:54.041" v="4445" actId="14100"/>
          <ac:spMkLst>
            <pc:docMk/>
            <pc:sldMk cId="1149028069" sldId="1412"/>
            <ac:spMk id="9" creationId="{A37AC854-2D2E-6AD3-240C-8ECBDC1B9965}"/>
          </ac:spMkLst>
        </pc:spChg>
        <pc:spChg chg="mod">
          <ac:chgData name="Inti Nuñez" userId="fc293a4ee38bb93b" providerId="LiveId" clId="{8C091EB5-D9FC-51B9-B601-2F1273399689}" dt="2025-10-02T15:26:58.884" v="4446" actId="14100"/>
          <ac:spMkLst>
            <pc:docMk/>
            <pc:sldMk cId="1149028069" sldId="1412"/>
            <ac:spMk id="11" creationId="{4536CB32-ED9A-5526-B605-A1ACF6D5D288}"/>
          </ac:spMkLst>
        </pc:spChg>
        <pc:graphicFrameChg chg="add mod modGraphic">
          <ac:chgData name="Inti Nuñez" userId="fc293a4ee38bb93b" providerId="LiveId" clId="{8C091EB5-D9FC-51B9-B601-2F1273399689}" dt="2025-10-02T15:27:41.993" v="4451" actId="14100"/>
          <ac:graphicFrameMkLst>
            <pc:docMk/>
            <pc:sldMk cId="1149028069" sldId="1412"/>
            <ac:graphicFrameMk id="5" creationId="{3C2E6E2B-A2FE-6276-FCC9-4FE2E3B4FE2D}"/>
          </ac:graphicFrameMkLst>
        </pc:graphicFrameChg>
      </pc:sldChg>
      <pc:sldChg chg="ord">
        <pc:chgData name="Inti Nuñez" userId="fc293a4ee38bb93b" providerId="LiveId" clId="{8C091EB5-D9FC-51B9-B601-2F1273399689}" dt="2025-10-02T15:41:15.858" v="5597" actId="20578"/>
        <pc:sldMkLst>
          <pc:docMk/>
          <pc:sldMk cId="2031646484" sldId="1413"/>
        </pc:sldMkLst>
      </pc:sldChg>
      <pc:sldChg chg="ord">
        <pc:chgData name="Inti Nuñez" userId="fc293a4ee38bb93b" providerId="LiveId" clId="{8C091EB5-D9FC-51B9-B601-2F1273399689}" dt="2025-10-02T15:11:57.351" v="4109" actId="20578"/>
        <pc:sldMkLst>
          <pc:docMk/>
          <pc:sldMk cId="374172174" sldId="1469"/>
        </pc:sldMkLst>
      </pc:sldChg>
      <pc:sldChg chg="addSp modSp mod ord">
        <pc:chgData name="Inti Nuñez" userId="fc293a4ee38bb93b" providerId="LiveId" clId="{8C091EB5-D9FC-51B9-B601-2F1273399689}" dt="2025-10-02T15:16:33.697" v="4436" actId="1582"/>
        <pc:sldMkLst>
          <pc:docMk/>
          <pc:sldMk cId="2807134906" sldId="1474"/>
        </pc:sldMkLst>
        <pc:spChg chg="mod">
          <ac:chgData name="Inti Nuñez" userId="fc293a4ee38bb93b" providerId="LiveId" clId="{8C091EB5-D9FC-51B9-B601-2F1273399689}" dt="2025-10-02T15:11:34.507" v="4107" actId="20577"/>
          <ac:spMkLst>
            <pc:docMk/>
            <pc:sldMk cId="2807134906" sldId="1474"/>
            <ac:spMk id="3" creationId="{61DCDBBA-4046-7C47-875B-5A6180FCA680}"/>
          </ac:spMkLst>
        </pc:spChg>
        <pc:spChg chg="add mod">
          <ac:chgData name="Inti Nuñez" userId="fc293a4ee38bb93b" providerId="LiveId" clId="{8C091EB5-D9FC-51B9-B601-2F1273399689}" dt="2025-10-02T15:14:42.333" v="4421" actId="20577"/>
          <ac:spMkLst>
            <pc:docMk/>
            <pc:sldMk cId="2807134906" sldId="1474"/>
            <ac:spMk id="4" creationId="{EC7D4A48-D037-42D5-CE82-5BC284E96C7A}"/>
          </ac:spMkLst>
        </pc:spChg>
        <pc:spChg chg="mod">
          <ac:chgData name="Inti Nuñez" userId="fc293a4ee38bb93b" providerId="LiveId" clId="{8C091EB5-D9FC-51B9-B601-2F1273399689}" dt="2025-10-02T15:11:06.240" v="4086" actId="1036"/>
          <ac:spMkLst>
            <pc:docMk/>
            <pc:sldMk cId="2807134906" sldId="1474"/>
            <ac:spMk id="6" creationId="{DA3043D0-A0E4-12DA-16AB-4D2391E261A9}"/>
          </ac:spMkLst>
        </pc:spChg>
        <pc:spChg chg="mod">
          <ac:chgData name="Inti Nuñez" userId="fc293a4ee38bb93b" providerId="LiveId" clId="{8C091EB5-D9FC-51B9-B601-2F1273399689}" dt="2025-10-02T15:11:06.240" v="4086" actId="1036"/>
          <ac:spMkLst>
            <pc:docMk/>
            <pc:sldMk cId="2807134906" sldId="1474"/>
            <ac:spMk id="7" creationId="{8B679781-28CF-ABB6-30AA-F494791716F2}"/>
          </ac:spMkLst>
        </pc:spChg>
        <pc:spChg chg="mod">
          <ac:chgData name="Inti Nuñez" userId="fc293a4ee38bb93b" providerId="LiveId" clId="{8C091EB5-D9FC-51B9-B601-2F1273399689}" dt="2025-10-02T15:11:06.240" v="4086" actId="1036"/>
          <ac:spMkLst>
            <pc:docMk/>
            <pc:sldMk cId="2807134906" sldId="1474"/>
            <ac:spMk id="8" creationId="{7B65D9EB-E19E-D4DD-C4C0-826C81428A23}"/>
          </ac:spMkLst>
        </pc:spChg>
        <pc:spChg chg="mod">
          <ac:chgData name="Inti Nuñez" userId="fc293a4ee38bb93b" providerId="LiveId" clId="{8C091EB5-D9FC-51B9-B601-2F1273399689}" dt="2025-10-02T15:11:06.240" v="4086" actId="1036"/>
          <ac:spMkLst>
            <pc:docMk/>
            <pc:sldMk cId="2807134906" sldId="1474"/>
            <ac:spMk id="9" creationId="{1A51441A-8CA1-4057-89FD-05677E9FFFE5}"/>
          </ac:spMkLst>
        </pc:spChg>
        <pc:spChg chg="mod">
          <ac:chgData name="Inti Nuñez" userId="fc293a4ee38bb93b" providerId="LiveId" clId="{8C091EB5-D9FC-51B9-B601-2F1273399689}" dt="2025-10-02T15:11:06.240" v="4086" actId="1036"/>
          <ac:spMkLst>
            <pc:docMk/>
            <pc:sldMk cId="2807134906" sldId="1474"/>
            <ac:spMk id="11" creationId="{1728DD82-5D90-D0DC-8C86-B0F58BD0EF44}"/>
          </ac:spMkLst>
        </pc:spChg>
        <pc:spChg chg="mod">
          <ac:chgData name="Inti Nuñez" userId="fc293a4ee38bb93b" providerId="LiveId" clId="{8C091EB5-D9FC-51B9-B601-2F1273399689}" dt="2025-10-02T15:11:06.240" v="4086" actId="1036"/>
          <ac:spMkLst>
            <pc:docMk/>
            <pc:sldMk cId="2807134906" sldId="1474"/>
            <ac:spMk id="12" creationId="{21EF2E35-4118-AA61-B0DB-30C24A2469C5}"/>
          </ac:spMkLst>
        </pc:spChg>
        <pc:spChg chg="mod">
          <ac:chgData name="Inti Nuñez" userId="fc293a4ee38bb93b" providerId="LiveId" clId="{8C091EB5-D9FC-51B9-B601-2F1273399689}" dt="2025-10-02T15:11:06.240" v="4086" actId="1036"/>
          <ac:spMkLst>
            <pc:docMk/>
            <pc:sldMk cId="2807134906" sldId="1474"/>
            <ac:spMk id="13" creationId="{AF8D0C5B-5A2F-A4E4-EC02-8FF0DBBB4565}"/>
          </ac:spMkLst>
        </pc:spChg>
        <pc:spChg chg="mod">
          <ac:chgData name="Inti Nuñez" userId="fc293a4ee38bb93b" providerId="LiveId" clId="{8C091EB5-D9FC-51B9-B601-2F1273399689}" dt="2025-10-02T15:11:06.240" v="4086" actId="1036"/>
          <ac:spMkLst>
            <pc:docMk/>
            <pc:sldMk cId="2807134906" sldId="1474"/>
            <ac:spMk id="14" creationId="{0F6B910C-5409-8406-9B21-CE960FF3176D}"/>
          </ac:spMkLst>
        </pc:spChg>
        <pc:spChg chg="mod">
          <ac:chgData name="Inti Nuñez" userId="fc293a4ee38bb93b" providerId="LiveId" clId="{8C091EB5-D9FC-51B9-B601-2F1273399689}" dt="2025-10-02T15:11:06.240" v="4086" actId="1036"/>
          <ac:spMkLst>
            <pc:docMk/>
            <pc:sldMk cId="2807134906" sldId="1474"/>
            <ac:spMk id="15" creationId="{38741145-ACD6-D0EE-231E-01399F88A049}"/>
          </ac:spMkLst>
        </pc:spChg>
        <pc:spChg chg="mod">
          <ac:chgData name="Inti Nuñez" userId="fc293a4ee38bb93b" providerId="LiveId" clId="{8C091EB5-D9FC-51B9-B601-2F1273399689}" dt="2025-10-02T15:11:06.240" v="4086" actId="1036"/>
          <ac:spMkLst>
            <pc:docMk/>
            <pc:sldMk cId="2807134906" sldId="1474"/>
            <ac:spMk id="17" creationId="{30FED07D-BA46-2AC7-1356-D9CBCBBA98B8}"/>
          </ac:spMkLst>
        </pc:spChg>
        <pc:cxnChg chg="add mod">
          <ac:chgData name="Inti Nuñez" userId="fc293a4ee38bb93b" providerId="LiveId" clId="{8C091EB5-D9FC-51B9-B601-2F1273399689}" dt="2025-10-02T15:16:18.069" v="4433" actId="1582"/>
          <ac:cxnSpMkLst>
            <pc:docMk/>
            <pc:sldMk cId="2807134906" sldId="1474"/>
            <ac:cxnSpMk id="20" creationId="{CF7787EF-F238-DC82-996D-EC3E41616457}"/>
          </ac:cxnSpMkLst>
        </pc:cxnChg>
        <pc:cxnChg chg="add mod">
          <ac:chgData name="Inti Nuñez" userId="fc293a4ee38bb93b" providerId="LiveId" clId="{8C091EB5-D9FC-51B9-B601-2F1273399689}" dt="2025-10-02T15:15:44.183" v="4428" actId="1582"/>
          <ac:cxnSpMkLst>
            <pc:docMk/>
            <pc:sldMk cId="2807134906" sldId="1474"/>
            <ac:cxnSpMk id="23" creationId="{F245D6DE-92E4-0A23-7605-F0F87BB0BF61}"/>
          </ac:cxnSpMkLst>
        </pc:cxnChg>
        <pc:cxnChg chg="add mod">
          <ac:chgData name="Inti Nuñez" userId="fc293a4ee38bb93b" providerId="LiveId" clId="{8C091EB5-D9FC-51B9-B601-2F1273399689}" dt="2025-10-02T15:16:11.453" v="4432" actId="1582"/>
          <ac:cxnSpMkLst>
            <pc:docMk/>
            <pc:sldMk cId="2807134906" sldId="1474"/>
            <ac:cxnSpMk id="25" creationId="{5D75BC23-2DCB-B19D-5169-E7339B2BBD29}"/>
          </ac:cxnSpMkLst>
        </pc:cxnChg>
        <pc:cxnChg chg="add mod">
          <ac:chgData name="Inti Nuñez" userId="fc293a4ee38bb93b" providerId="LiveId" clId="{8C091EB5-D9FC-51B9-B601-2F1273399689}" dt="2025-10-02T15:16:33.697" v="4436" actId="1582"/>
          <ac:cxnSpMkLst>
            <pc:docMk/>
            <pc:sldMk cId="2807134906" sldId="1474"/>
            <ac:cxnSpMk id="28" creationId="{9FE71AC4-AFD5-8F65-C55A-DA5080501B6A}"/>
          </ac:cxnSpMkLst>
        </pc:cxnChg>
      </pc:sldChg>
      <pc:sldChg chg="addSp delSp modSp add mod">
        <pc:chgData name="Inti Nuñez" userId="fc293a4ee38bb93b" providerId="LiveId" clId="{8C091EB5-D9FC-51B9-B601-2F1273399689}" dt="2025-10-02T12:26:56.349" v="1816" actId="20577"/>
        <pc:sldMkLst>
          <pc:docMk/>
          <pc:sldMk cId="568648308" sldId="1475"/>
        </pc:sldMkLst>
        <pc:spChg chg="add mod">
          <ac:chgData name="Inti Nuñez" userId="fc293a4ee38bb93b" providerId="LiveId" clId="{8C091EB5-D9FC-51B9-B601-2F1273399689}" dt="2025-10-02T12:21:27.932" v="1427" actId="13822"/>
          <ac:spMkLst>
            <pc:docMk/>
            <pc:sldMk cId="568648308" sldId="1475"/>
            <ac:spMk id="2" creationId="{F7277F3F-EE29-D875-D91B-8F57791337BB}"/>
          </ac:spMkLst>
        </pc:spChg>
        <pc:spChg chg="add mod">
          <ac:chgData name="Inti Nuñez" userId="fc293a4ee38bb93b" providerId="LiveId" clId="{8C091EB5-D9FC-51B9-B601-2F1273399689}" dt="2025-10-02T12:22:41.581" v="1445" actId="1038"/>
          <ac:spMkLst>
            <pc:docMk/>
            <pc:sldMk cId="568648308" sldId="1475"/>
            <ac:spMk id="3" creationId="{6FBB26C7-6785-0E8E-1707-42A1EB364B3F}"/>
          </ac:spMkLst>
        </pc:spChg>
        <pc:spChg chg="add mod">
          <ac:chgData name="Inti Nuñez" userId="fc293a4ee38bb93b" providerId="LiveId" clId="{8C091EB5-D9FC-51B9-B601-2F1273399689}" dt="2025-10-02T12:23:15.992" v="1463" actId="1076"/>
          <ac:spMkLst>
            <pc:docMk/>
            <pc:sldMk cId="568648308" sldId="1475"/>
            <ac:spMk id="6" creationId="{2DB8F89A-D741-120A-46B4-298400BD470B}"/>
          </ac:spMkLst>
        </pc:spChg>
        <pc:spChg chg="add mod">
          <ac:chgData name="Inti Nuñez" userId="fc293a4ee38bb93b" providerId="LiveId" clId="{8C091EB5-D9FC-51B9-B601-2F1273399689}" dt="2025-10-02T12:26:56.349" v="1816" actId="20577"/>
          <ac:spMkLst>
            <pc:docMk/>
            <pc:sldMk cId="568648308" sldId="1475"/>
            <ac:spMk id="10" creationId="{F95141DB-1B89-C0E2-75F8-16C5330A828D}"/>
          </ac:spMkLst>
        </pc:spChg>
        <pc:cxnChg chg="add mod">
          <ac:chgData name="Inti Nuñez" userId="fc293a4ee38bb93b" providerId="LiveId" clId="{8C091EB5-D9FC-51B9-B601-2F1273399689}" dt="2025-10-02T12:23:28.835" v="1466" actId="1582"/>
          <ac:cxnSpMkLst>
            <pc:docMk/>
            <pc:sldMk cId="568648308" sldId="1475"/>
            <ac:cxnSpMk id="9" creationId="{74A4FDC5-557D-F557-6C2A-D796E344969B}"/>
          </ac:cxnSpMkLst>
        </pc:cxnChg>
      </pc:sldChg>
      <pc:sldChg chg="add ord">
        <pc:chgData name="Inti Nuñez" userId="fc293a4ee38bb93b" providerId="LiveId" clId="{8C091EB5-D9FC-51B9-B601-2F1273399689}" dt="2025-10-02T11:53:56.869" v="60" actId="20578"/>
        <pc:sldMkLst>
          <pc:docMk/>
          <pc:sldMk cId="1998221304" sldId="1985"/>
        </pc:sldMkLst>
      </pc:sldChg>
      <pc:sldChg chg="addSp delSp modSp new mod modClrScheme chgLayout">
        <pc:chgData name="Inti Nuñez" userId="fc293a4ee38bb93b" providerId="LiveId" clId="{8C091EB5-D9FC-51B9-B601-2F1273399689}" dt="2025-10-02T14:49:01.072" v="2726" actId="113"/>
        <pc:sldMkLst>
          <pc:docMk/>
          <pc:sldMk cId="3473886613" sldId="1986"/>
        </pc:sldMkLst>
        <pc:spChg chg="add mod">
          <ac:chgData name="Inti Nuñez" userId="fc293a4ee38bb93b" providerId="LiveId" clId="{8C091EB5-D9FC-51B9-B601-2F1273399689}" dt="2025-10-02T11:58:30.224" v="76" actId="2085"/>
          <ac:spMkLst>
            <pc:docMk/>
            <pc:sldMk cId="3473886613" sldId="1986"/>
            <ac:spMk id="4" creationId="{2E66CE8B-F29D-F3D9-622E-A20FACC8DB09}"/>
          </ac:spMkLst>
        </pc:spChg>
        <pc:spChg chg="add mod">
          <ac:chgData name="Inti Nuñez" userId="fc293a4ee38bb93b" providerId="LiveId" clId="{8C091EB5-D9FC-51B9-B601-2F1273399689}" dt="2025-10-02T11:59:35.403" v="155" actId="113"/>
          <ac:spMkLst>
            <pc:docMk/>
            <pc:sldMk cId="3473886613" sldId="1986"/>
            <ac:spMk id="5" creationId="{2CF29723-CCAD-A4F0-07CB-2F9B450C9D42}"/>
          </ac:spMkLst>
        </pc:spChg>
        <pc:spChg chg="add mod">
          <ac:chgData name="Inti Nuñez" userId="fc293a4ee38bb93b" providerId="LiveId" clId="{8C091EB5-D9FC-51B9-B601-2F1273399689}" dt="2025-10-02T14:46:48.205" v="2349" actId="20577"/>
          <ac:spMkLst>
            <pc:docMk/>
            <pc:sldMk cId="3473886613" sldId="1986"/>
            <ac:spMk id="7" creationId="{03C9A94C-7374-EDCA-7C8E-8B7537B0192E}"/>
          </ac:spMkLst>
        </pc:spChg>
        <pc:spChg chg="add mod">
          <ac:chgData name="Inti Nuñez" userId="fc293a4ee38bb93b" providerId="LiveId" clId="{8C091EB5-D9FC-51B9-B601-2F1273399689}" dt="2025-10-02T14:49:01.072" v="2726" actId="113"/>
          <ac:spMkLst>
            <pc:docMk/>
            <pc:sldMk cId="3473886613" sldId="1986"/>
            <ac:spMk id="8" creationId="{A7286ECF-CB57-0005-FB7C-FFD3A5CA2A79}"/>
          </ac:spMkLst>
        </pc:spChg>
        <pc:grpChg chg="add mod">
          <ac:chgData name="Inti Nuñez" userId="fc293a4ee38bb93b" providerId="LiveId" clId="{8C091EB5-D9FC-51B9-B601-2F1273399689}" dt="2025-10-02T11:59:46.361" v="157" actId="1076"/>
          <ac:grpSpMkLst>
            <pc:docMk/>
            <pc:sldMk cId="3473886613" sldId="1986"/>
            <ac:grpSpMk id="6" creationId="{D1C2F94B-C656-9702-F8FB-1D77273C2070}"/>
          </ac:grpSpMkLst>
        </pc:grpChg>
        <pc:picChg chg="add mod">
          <ac:chgData name="Inti Nuñez" userId="fc293a4ee38bb93b" providerId="LiveId" clId="{8C091EB5-D9FC-51B9-B601-2F1273399689}" dt="2025-10-02T11:57:50.071" v="71" actId="1076"/>
          <ac:picMkLst>
            <pc:docMk/>
            <pc:sldMk cId="3473886613" sldId="1986"/>
            <ac:picMk id="3" creationId="{C428AC40-5F6B-A803-A8E0-AF59E971D045}"/>
          </ac:picMkLst>
        </pc:picChg>
      </pc:sldChg>
      <pc:sldChg chg="addSp delSp modSp add mod">
        <pc:chgData name="Inti Nuñez" userId="fc293a4ee38bb93b" providerId="LiveId" clId="{8C091EB5-D9FC-51B9-B601-2F1273399689}" dt="2025-10-02T15:04:44.880" v="3902" actId="20577"/>
        <pc:sldMkLst>
          <pc:docMk/>
          <pc:sldMk cId="3237275621" sldId="1987"/>
        </pc:sldMkLst>
        <pc:spChg chg="mod topLvl">
          <ac:chgData name="Inti Nuñez" userId="fc293a4ee38bb93b" providerId="LiveId" clId="{8C091EB5-D9FC-51B9-B601-2F1273399689}" dt="2025-10-02T12:15:02.777" v="1424" actId="14100"/>
          <ac:spMkLst>
            <pc:docMk/>
            <pc:sldMk cId="3237275621" sldId="1987"/>
            <ac:spMk id="4" creationId="{3A1FB794-FD8A-0961-E74C-BBE6E7010C4F}"/>
          </ac:spMkLst>
        </pc:spChg>
        <pc:spChg chg="mod">
          <ac:chgData name="Inti Nuñez" userId="fc293a4ee38bb93b" providerId="LiveId" clId="{8C091EB5-D9FC-51B9-B601-2F1273399689}" dt="2025-10-02T12:14:26.154" v="1358" actId="20577"/>
          <ac:spMkLst>
            <pc:docMk/>
            <pc:sldMk cId="3237275621" sldId="1987"/>
            <ac:spMk id="5" creationId="{2FB61F94-8E74-B14E-919F-E7086668FC5A}"/>
          </ac:spMkLst>
        </pc:spChg>
        <pc:spChg chg="add mod">
          <ac:chgData name="Inti Nuñez" userId="fc293a4ee38bb93b" providerId="LiveId" clId="{8C091EB5-D9FC-51B9-B601-2F1273399689}" dt="2025-10-02T15:02:17.734" v="3503" actId="20577"/>
          <ac:spMkLst>
            <pc:docMk/>
            <pc:sldMk cId="3237275621" sldId="1987"/>
            <ac:spMk id="7" creationId="{22B442F1-395A-9095-B295-D2B1267F25E1}"/>
          </ac:spMkLst>
        </pc:spChg>
        <pc:spChg chg="add mod">
          <ac:chgData name="Inti Nuñez" userId="fc293a4ee38bb93b" providerId="LiveId" clId="{8C091EB5-D9FC-51B9-B601-2F1273399689}" dt="2025-10-02T15:04:44.880" v="3902" actId="20577"/>
          <ac:spMkLst>
            <pc:docMk/>
            <pc:sldMk cId="3237275621" sldId="1987"/>
            <ac:spMk id="8" creationId="{68979CBA-2512-FE72-0C3F-E9A56F7DFB7F}"/>
          </ac:spMkLst>
        </pc:spChg>
        <pc:grpChg chg="add">
          <ac:chgData name="Inti Nuñez" userId="fc293a4ee38bb93b" providerId="LiveId" clId="{8C091EB5-D9FC-51B9-B601-2F1273399689}" dt="2025-10-02T12:15:26.462" v="1425" actId="164"/>
          <ac:grpSpMkLst>
            <pc:docMk/>
            <pc:sldMk cId="3237275621" sldId="1987"/>
            <ac:grpSpMk id="2" creationId="{96801AFF-0379-028C-46FF-3D92DF32AC0C}"/>
          </ac:grpSpMkLst>
        </pc:grpChg>
        <pc:picChg chg="topLvl">
          <ac:chgData name="Inti Nuñez" userId="fc293a4ee38bb93b" providerId="LiveId" clId="{8C091EB5-D9FC-51B9-B601-2F1273399689}" dt="2025-10-02T12:14:42.077" v="1359" actId="165"/>
          <ac:picMkLst>
            <pc:docMk/>
            <pc:sldMk cId="3237275621" sldId="1987"/>
            <ac:picMk id="3" creationId="{CB42136C-F7DA-9F0F-F3F8-A7ADD0D887CF}"/>
          </ac:picMkLst>
        </pc:picChg>
      </pc:sldChg>
      <pc:sldChg chg="modSp add mod">
        <pc:chgData name="Inti Nuñez" userId="fc293a4ee38bb93b" providerId="LiveId" clId="{8C091EB5-D9FC-51B9-B601-2F1273399689}" dt="2025-10-02T15:06:20.399" v="4057" actId="20577"/>
        <pc:sldMkLst>
          <pc:docMk/>
          <pc:sldMk cId="2434613098" sldId="1988"/>
        </pc:sldMkLst>
        <pc:spChg chg="mod">
          <ac:chgData name="Inti Nuñez" userId="fc293a4ee38bb93b" providerId="LiveId" clId="{8C091EB5-D9FC-51B9-B601-2F1273399689}" dt="2025-10-02T15:06:20.399" v="4057" actId="20577"/>
          <ac:spMkLst>
            <pc:docMk/>
            <pc:sldMk cId="2434613098" sldId="1988"/>
            <ac:spMk id="20" creationId="{70A7373E-218C-C2CB-DD95-00D7B8DEF4AB}"/>
          </ac:spMkLst>
        </pc:spChg>
      </pc:sldChg>
      <pc:sldChg chg="addSp delSp modSp new mod modClrScheme chgLayout">
        <pc:chgData name="Inti Nuñez" userId="fc293a4ee38bb93b" providerId="LiveId" clId="{8C091EB5-D9FC-51B9-B601-2F1273399689}" dt="2025-10-02T15:52:03.640" v="6272" actId="20577"/>
        <pc:sldMkLst>
          <pc:docMk/>
          <pc:sldMk cId="3349419646" sldId="1989"/>
        </pc:sldMkLst>
        <pc:spChg chg="add mod">
          <ac:chgData name="Inti Nuñez" userId="fc293a4ee38bb93b" providerId="LiveId" clId="{8C091EB5-D9FC-51B9-B601-2F1273399689}" dt="2025-10-02T15:42:16.896" v="5633" actId="20577"/>
          <ac:spMkLst>
            <pc:docMk/>
            <pc:sldMk cId="3349419646" sldId="1989"/>
            <ac:spMk id="4" creationId="{2F7452FC-8B32-6AE6-CADA-620229E4AB9D}"/>
          </ac:spMkLst>
        </pc:spChg>
        <pc:spChg chg="add mod">
          <ac:chgData name="Inti Nuñez" userId="fc293a4ee38bb93b" providerId="LiveId" clId="{8C091EB5-D9FC-51B9-B601-2F1273399689}" dt="2025-10-02T15:52:03.640" v="6272" actId="20577"/>
          <ac:spMkLst>
            <pc:docMk/>
            <pc:sldMk cId="3349419646" sldId="1989"/>
            <ac:spMk id="17" creationId="{3EEB1DE6-F149-E689-D836-AB5971D76435}"/>
          </ac:spMkLst>
        </pc:spChg>
        <pc:picChg chg="add mod">
          <ac:chgData name="Inti Nuñez" userId="fc293a4ee38bb93b" providerId="LiveId" clId="{8C091EB5-D9FC-51B9-B601-2F1273399689}" dt="2025-10-02T15:49:05.323" v="5866" actId="1076"/>
          <ac:picMkLst>
            <pc:docMk/>
            <pc:sldMk cId="3349419646" sldId="1989"/>
            <ac:picMk id="16" creationId="{37B32C13-E49D-809F-8A4F-4A824028830C}"/>
          </ac:picMkLst>
        </pc:picChg>
      </pc:sldChg>
      <pc:sldChg chg="addSp modSp add mod">
        <pc:chgData name="Inti Nuñez" userId="fc293a4ee38bb93b" providerId="LiveId" clId="{8C091EB5-D9FC-51B9-B601-2F1273399689}" dt="2025-10-02T15:39:59.027" v="5596" actId="20577"/>
        <pc:sldMkLst>
          <pc:docMk/>
          <pc:sldMk cId="2662394314" sldId="1997"/>
        </pc:sldMkLst>
        <pc:spChg chg="mod">
          <ac:chgData name="Inti Nuñez" userId="fc293a4ee38bb93b" providerId="LiveId" clId="{8C091EB5-D9FC-51B9-B601-2F1273399689}" dt="2025-10-02T15:34:03.298" v="5150" actId="14100"/>
          <ac:spMkLst>
            <pc:docMk/>
            <pc:sldMk cId="2662394314" sldId="1997"/>
            <ac:spMk id="2" creationId="{4A06C97A-0C8E-08E2-DAE9-226AAB152A7C}"/>
          </ac:spMkLst>
        </pc:spChg>
        <pc:spChg chg="add mod">
          <ac:chgData name="Inti Nuñez" userId="fc293a4ee38bb93b" providerId="LiveId" clId="{8C091EB5-D9FC-51B9-B601-2F1273399689}" dt="2025-10-02T15:34:09.325" v="5151" actId="1076"/>
          <ac:spMkLst>
            <pc:docMk/>
            <pc:sldMk cId="2662394314" sldId="1997"/>
            <ac:spMk id="4" creationId="{E89D2641-5463-9853-7D5C-54892EB439ED}"/>
          </ac:spMkLst>
        </pc:spChg>
        <pc:spChg chg="mod">
          <ac:chgData name="Inti Nuñez" userId="fc293a4ee38bb93b" providerId="LiveId" clId="{8C091EB5-D9FC-51B9-B601-2F1273399689}" dt="2025-10-02T15:35:49.287" v="5157" actId="20577"/>
          <ac:spMkLst>
            <pc:docMk/>
            <pc:sldMk cId="2662394314" sldId="1997"/>
            <ac:spMk id="5" creationId="{B2B06B34-1E5A-2B42-67FB-E1A9D089C668}"/>
          </ac:spMkLst>
        </pc:spChg>
        <pc:spChg chg="add mod">
          <ac:chgData name="Inti Nuñez" userId="fc293a4ee38bb93b" providerId="LiveId" clId="{8C091EB5-D9FC-51B9-B601-2F1273399689}" dt="2025-10-02T15:39:59.027" v="5596" actId="20577"/>
          <ac:spMkLst>
            <pc:docMk/>
            <pc:sldMk cId="2662394314" sldId="1997"/>
            <ac:spMk id="6" creationId="{4BAED3FB-E441-6C0E-DD8C-E23BF3DD4213}"/>
          </ac:spMkLst>
        </pc:spChg>
        <pc:spChg chg="mod">
          <ac:chgData name="Inti Nuñez" userId="fc293a4ee38bb93b" providerId="LiveId" clId="{8C091EB5-D9FC-51B9-B601-2F1273399689}" dt="2025-10-02T15:35:45.167" v="5155" actId="20577"/>
          <ac:spMkLst>
            <pc:docMk/>
            <pc:sldMk cId="2662394314" sldId="1997"/>
            <ac:spMk id="7" creationId="{C97C2C59-5F23-C6E6-09AE-B48782BF54DA}"/>
          </ac:spMkLst>
        </pc:spChg>
        <pc:picChg chg="mod">
          <ac:chgData name="Inti Nuñez" userId="fc293a4ee38bb93b" providerId="LiveId" clId="{8C091EB5-D9FC-51B9-B601-2F1273399689}" dt="2025-10-02T15:34:13.419" v="5152" actId="1076"/>
          <ac:picMkLst>
            <pc:docMk/>
            <pc:sldMk cId="2662394314" sldId="1997"/>
            <ac:picMk id="3" creationId="{E2B7F561-F898-82FF-A30B-0F2F5FE6B0F1}"/>
          </ac:picMkLst>
        </pc:picChg>
      </pc:sldChg>
      <pc:sldChg chg="addSp delSp modSp add del mod">
        <pc:chgData name="Inti Nuñez" userId="fc293a4ee38bb93b" providerId="LiveId" clId="{8C091EB5-D9FC-51B9-B601-2F1273399689}" dt="2025-10-02T15:49:11.438" v="5867" actId="2696"/>
        <pc:sldMkLst>
          <pc:docMk/>
          <pc:sldMk cId="153030302" sldId="1998"/>
        </pc:sldMkLst>
      </pc:sldChg>
      <pc:sldChg chg="addSp modSp new mod">
        <pc:chgData name="Inti Nuñez" userId="fc293a4ee38bb93b" providerId="LiveId" clId="{8C091EB5-D9FC-51B9-B601-2F1273399689}" dt="2025-10-06T12:17:00.885" v="8058" actId="20577"/>
        <pc:sldMkLst>
          <pc:docMk/>
          <pc:sldMk cId="3702349573" sldId="1998"/>
        </pc:sldMkLst>
        <pc:spChg chg="add mod">
          <ac:chgData name="Inti Nuñez" userId="fc293a4ee38bb93b" providerId="LiveId" clId="{8C091EB5-D9FC-51B9-B601-2F1273399689}" dt="2025-10-06T12:17:00.885" v="8058" actId="20577"/>
          <ac:spMkLst>
            <pc:docMk/>
            <pc:sldMk cId="3702349573" sldId="1998"/>
            <ac:spMk id="4" creationId="{5D0970D9-A84A-6626-F878-0F7A3938819C}"/>
          </ac:spMkLst>
        </pc:spChg>
        <pc:picChg chg="add mod">
          <ac:chgData name="Inti Nuñez" userId="fc293a4ee38bb93b" providerId="LiveId" clId="{8C091EB5-D9FC-51B9-B601-2F1273399689}" dt="2025-10-03T11:01:47.859" v="6303" actId="1076"/>
          <ac:picMkLst>
            <pc:docMk/>
            <pc:sldMk cId="3702349573" sldId="1998"/>
            <ac:picMk id="2" creationId="{A5AED27B-F44E-4E84-CCC6-E01705CBD0F2}"/>
          </ac:picMkLst>
        </pc:picChg>
        <pc:picChg chg="add mod">
          <ac:chgData name="Inti Nuñez" userId="fc293a4ee38bb93b" providerId="LiveId" clId="{8C091EB5-D9FC-51B9-B601-2F1273399689}" dt="2025-10-03T11:02:48.831" v="6307" actId="14100"/>
          <ac:picMkLst>
            <pc:docMk/>
            <pc:sldMk cId="3702349573" sldId="1998"/>
            <ac:picMk id="3" creationId="{83D62592-CC79-2F77-6440-4B763FC38976}"/>
          </ac:picMkLst>
        </pc:picChg>
      </pc:sldChg>
      <pc:sldChg chg="addSp modSp new mod">
        <pc:chgData name="Inti Nuñez" userId="fc293a4ee38bb93b" providerId="LiveId" clId="{8C091EB5-D9FC-51B9-B601-2F1273399689}" dt="2025-10-06T12:26:02.071" v="8166" actId="1036"/>
        <pc:sldMkLst>
          <pc:docMk/>
          <pc:sldMk cId="1753577726" sldId="1999"/>
        </pc:sldMkLst>
        <pc:spChg chg="add mod">
          <ac:chgData name="Inti Nuñez" userId="fc293a4ee38bb93b" providerId="LiveId" clId="{8C091EB5-D9FC-51B9-B601-2F1273399689}" dt="2025-10-06T12:26:02.071" v="8166" actId="1036"/>
          <ac:spMkLst>
            <pc:docMk/>
            <pc:sldMk cId="1753577726" sldId="1999"/>
            <ac:spMk id="3" creationId="{32963821-EFF6-55D7-B0A3-4F1F76FA3986}"/>
          </ac:spMkLst>
        </pc:spChg>
        <pc:spChg chg="mod">
          <ac:chgData name="Inti Nuñez" userId="fc293a4ee38bb93b" providerId="LiveId" clId="{8C091EB5-D9FC-51B9-B601-2F1273399689}" dt="2025-10-06T12:26:02.071" v="8166" actId="1036"/>
          <ac:spMkLst>
            <pc:docMk/>
            <pc:sldMk cId="1753577726" sldId="1999"/>
            <ac:spMk id="4" creationId="{52E6764F-E0C4-B32B-E659-9608CD46A32F}"/>
          </ac:spMkLst>
        </pc:spChg>
        <pc:spChg chg="add mod">
          <ac:chgData name="Inti Nuñez" userId="fc293a4ee38bb93b" providerId="LiveId" clId="{8C091EB5-D9FC-51B9-B601-2F1273399689}" dt="2025-10-06T12:26:02.071" v="8166" actId="1036"/>
          <ac:spMkLst>
            <pc:docMk/>
            <pc:sldMk cId="1753577726" sldId="1999"/>
            <ac:spMk id="5" creationId="{12E62DA2-E517-E8B7-CBE6-59A5E396E26F}"/>
          </ac:spMkLst>
        </pc:spChg>
        <pc:spChg chg="add mod">
          <ac:chgData name="Inti Nuñez" userId="fc293a4ee38bb93b" providerId="LiveId" clId="{8C091EB5-D9FC-51B9-B601-2F1273399689}" dt="2025-10-06T12:26:02.071" v="8166" actId="1036"/>
          <ac:spMkLst>
            <pc:docMk/>
            <pc:sldMk cId="1753577726" sldId="1999"/>
            <ac:spMk id="6" creationId="{5EBB757D-187E-9F1C-8E81-51C548141684}"/>
          </ac:spMkLst>
        </pc:spChg>
        <pc:spChg chg="add mod">
          <ac:chgData name="Inti Nuñez" userId="fc293a4ee38bb93b" providerId="LiveId" clId="{8C091EB5-D9FC-51B9-B601-2F1273399689}" dt="2025-10-06T12:26:02.071" v="8166" actId="1036"/>
          <ac:spMkLst>
            <pc:docMk/>
            <pc:sldMk cId="1753577726" sldId="1999"/>
            <ac:spMk id="7" creationId="{7F6C55C6-C2A6-49ED-2A7B-C94455EC9D4F}"/>
          </ac:spMkLst>
        </pc:spChg>
        <pc:spChg chg="mod">
          <ac:chgData name="Inti Nuñez" userId="fc293a4ee38bb93b" providerId="LiveId" clId="{8C091EB5-D9FC-51B9-B601-2F1273399689}" dt="2025-10-06T12:26:02.071" v="8166" actId="1036"/>
          <ac:spMkLst>
            <pc:docMk/>
            <pc:sldMk cId="1753577726" sldId="1999"/>
            <ac:spMk id="8" creationId="{FDC2968D-3A40-8774-7382-C396EDF7CB87}"/>
          </ac:spMkLst>
        </pc:spChg>
        <pc:spChg chg="add mod">
          <ac:chgData name="Inti Nuñez" userId="fc293a4ee38bb93b" providerId="LiveId" clId="{8C091EB5-D9FC-51B9-B601-2F1273399689}" dt="2025-10-06T12:17:52.871" v="8081" actId="1035"/>
          <ac:spMkLst>
            <pc:docMk/>
            <pc:sldMk cId="1753577726" sldId="1999"/>
            <ac:spMk id="9" creationId="{93DC2AB4-719D-F508-1DDC-E0E14B855552}"/>
          </ac:spMkLst>
        </pc:spChg>
        <pc:spChg chg="add mod">
          <ac:chgData name="Inti Nuñez" userId="fc293a4ee38bb93b" providerId="LiveId" clId="{8C091EB5-D9FC-51B9-B601-2F1273399689}" dt="2025-10-06T12:17:52.871" v="8081" actId="1035"/>
          <ac:spMkLst>
            <pc:docMk/>
            <pc:sldMk cId="1753577726" sldId="1999"/>
            <ac:spMk id="11" creationId="{E550F232-F3A2-2C5F-8A9E-EF19EA02FC26}"/>
          </ac:spMkLst>
        </pc:spChg>
        <pc:spChg chg="add mod">
          <ac:chgData name="Inti Nuñez" userId="fc293a4ee38bb93b" providerId="LiveId" clId="{8C091EB5-D9FC-51B9-B601-2F1273399689}" dt="2025-10-06T12:17:52.871" v="8081" actId="1035"/>
          <ac:spMkLst>
            <pc:docMk/>
            <pc:sldMk cId="1753577726" sldId="1999"/>
            <ac:spMk id="12" creationId="{F344E657-02CA-1067-EDF9-BB7458CF1FD9}"/>
          </ac:spMkLst>
        </pc:spChg>
        <pc:spChg chg="add mod">
          <ac:chgData name="Inti Nuñez" userId="fc293a4ee38bb93b" providerId="LiveId" clId="{8C091EB5-D9FC-51B9-B601-2F1273399689}" dt="2025-10-06T12:17:52.871" v="8081" actId="1035"/>
          <ac:spMkLst>
            <pc:docMk/>
            <pc:sldMk cId="1753577726" sldId="1999"/>
            <ac:spMk id="13" creationId="{B07A4A99-39BA-FA4D-2080-23404EE0C48C}"/>
          </ac:spMkLst>
        </pc:spChg>
        <pc:spChg chg="add mod">
          <ac:chgData name="Inti Nuñez" userId="fc293a4ee38bb93b" providerId="LiveId" clId="{8C091EB5-D9FC-51B9-B601-2F1273399689}" dt="2025-10-06T12:17:52.871" v="8081" actId="1035"/>
          <ac:spMkLst>
            <pc:docMk/>
            <pc:sldMk cId="1753577726" sldId="1999"/>
            <ac:spMk id="14" creationId="{43E6E09D-478D-D5E1-F5C1-86E327E0E3E0}"/>
          </ac:spMkLst>
        </pc:spChg>
        <pc:spChg chg="add mod">
          <ac:chgData name="Inti Nuñez" userId="fc293a4ee38bb93b" providerId="LiveId" clId="{8C091EB5-D9FC-51B9-B601-2F1273399689}" dt="2025-10-06T12:23:58.700" v="8107" actId="1076"/>
          <ac:spMkLst>
            <pc:docMk/>
            <pc:sldMk cId="1753577726" sldId="1999"/>
            <ac:spMk id="15" creationId="{7B482F5B-9C6A-4128-66B0-6B8CBB5C20EE}"/>
          </ac:spMkLst>
        </pc:spChg>
        <pc:graphicFrameChg chg="modGraphic">
          <ac:chgData name="Inti Nuñez" userId="fc293a4ee38bb93b" providerId="LiveId" clId="{8C091EB5-D9FC-51B9-B601-2F1273399689}" dt="2025-10-06T12:25:41.943" v="8150" actId="20577"/>
          <ac:graphicFrameMkLst>
            <pc:docMk/>
            <pc:sldMk cId="1753577726" sldId="1999"/>
            <ac:graphicFrameMk id="2" creationId="{2E9A5796-4C8E-D787-E5EE-BF0ED033690F}"/>
          </ac:graphicFrameMkLst>
        </pc:graphicFrameChg>
        <pc:graphicFrameChg chg="modGraphic">
          <ac:chgData name="Inti Nuñez" userId="fc293a4ee38bb93b" providerId="LiveId" clId="{8C091EB5-D9FC-51B9-B601-2F1273399689}" dt="2025-10-06T12:25:49.700" v="8151" actId="2161"/>
          <ac:graphicFrameMkLst>
            <pc:docMk/>
            <pc:sldMk cId="1753577726" sldId="1999"/>
            <ac:graphicFrameMk id="16" creationId="{D6153658-23DA-FC73-EB7F-C3C7BC819F9E}"/>
          </ac:graphicFrameMkLst>
        </pc:graphicFrameChg>
      </pc:sldChg>
      <pc:sldChg chg="modSp add mod">
        <pc:chgData name="Inti Nuñez" userId="fc293a4ee38bb93b" providerId="LiveId" clId="{8C091EB5-D9FC-51B9-B601-2F1273399689}" dt="2025-10-02T15:54:34.845" v="6296" actId="20577"/>
        <pc:sldMkLst>
          <pc:docMk/>
          <pc:sldMk cId="1159888922" sldId="2000"/>
        </pc:sldMkLst>
        <pc:spChg chg="mod">
          <ac:chgData name="Inti Nuñez" userId="fc293a4ee38bb93b" providerId="LiveId" clId="{8C091EB5-D9FC-51B9-B601-2F1273399689}" dt="2025-10-02T15:54:34.845" v="6296" actId="20577"/>
          <ac:spMkLst>
            <pc:docMk/>
            <pc:sldMk cId="1159888922" sldId="2000"/>
            <ac:spMk id="5" creationId="{77266DB0-B026-3BED-6C57-1AA7D0AEC600}"/>
          </ac:spMkLst>
        </pc:spChg>
      </pc:sldChg>
      <pc:sldChg chg="addSp modSp new mod ord">
        <pc:chgData name="Inti Nuñez" userId="fc293a4ee38bb93b" providerId="LiveId" clId="{8C091EB5-D9FC-51B9-B601-2F1273399689}" dt="2025-10-06T12:16:44.214" v="8012" actId="20577"/>
        <pc:sldMkLst>
          <pc:docMk/>
          <pc:sldMk cId="3786412259" sldId="2001"/>
        </pc:sldMkLst>
        <pc:spChg chg="add mod">
          <ac:chgData name="Inti Nuñez" userId="fc293a4ee38bb93b" providerId="LiveId" clId="{8C091EB5-D9FC-51B9-B601-2F1273399689}" dt="2025-10-06T12:16:44.214" v="8012" actId="20577"/>
          <ac:spMkLst>
            <pc:docMk/>
            <pc:sldMk cId="3786412259" sldId="2001"/>
            <ac:spMk id="3" creationId="{7D051DBD-023C-B732-E967-006DA4A12941}"/>
          </ac:spMkLst>
        </pc:spChg>
        <pc:picChg chg="add mod">
          <ac:chgData name="Inti Nuñez" userId="fc293a4ee38bb93b" providerId="LiveId" clId="{8C091EB5-D9FC-51B9-B601-2F1273399689}" dt="2025-10-03T11:08:09.625" v="6313" actId="1076"/>
          <ac:picMkLst>
            <pc:docMk/>
            <pc:sldMk cId="3786412259" sldId="2001"/>
            <ac:picMk id="2" creationId="{16E45391-D60D-ED94-A2A0-1101D470E11D}"/>
          </ac:picMkLst>
        </pc:picChg>
      </pc:sldChg>
      <pc:sldChg chg="addSp modSp new mod ord">
        <pc:chgData name="Inti Nuñez" userId="fc293a4ee38bb93b" providerId="LiveId" clId="{8C091EB5-D9FC-51B9-B601-2F1273399689}" dt="2025-10-03T13:22:01.938" v="7531" actId="20577"/>
        <pc:sldMkLst>
          <pc:docMk/>
          <pc:sldMk cId="3409051636" sldId="2002"/>
        </pc:sldMkLst>
        <pc:spChg chg="add mod">
          <ac:chgData name="Inti Nuñez" userId="fc293a4ee38bb93b" providerId="LiveId" clId="{8C091EB5-D9FC-51B9-B601-2F1273399689}" dt="2025-10-03T13:04:42.873" v="6332" actId="20577"/>
          <ac:spMkLst>
            <pc:docMk/>
            <pc:sldMk cId="3409051636" sldId="2002"/>
            <ac:spMk id="2" creationId="{D54A2630-5AE0-9794-CECF-87236B843AAD}"/>
          </ac:spMkLst>
        </pc:spChg>
        <pc:spChg chg="add mod">
          <ac:chgData name="Inti Nuñez" userId="fc293a4ee38bb93b" providerId="LiveId" clId="{8C091EB5-D9FC-51B9-B601-2F1273399689}" dt="2025-10-03T13:22:01.938" v="7531" actId="20577"/>
          <ac:spMkLst>
            <pc:docMk/>
            <pc:sldMk cId="3409051636" sldId="2002"/>
            <ac:spMk id="3" creationId="{C762DEAF-7A26-5EA7-952B-B2FAEFABDEE7}"/>
          </ac:spMkLst>
        </pc:spChg>
      </pc:sldChg>
      <pc:sldChg chg="addSp delSp modSp new mod">
        <pc:chgData name="Inti Nuñez" userId="fc293a4ee38bb93b" providerId="LiveId" clId="{8C091EB5-D9FC-51B9-B601-2F1273399689}" dt="2025-10-06T12:37:26.373" v="8396" actId="20577"/>
        <pc:sldMkLst>
          <pc:docMk/>
          <pc:sldMk cId="3508127580" sldId="2003"/>
        </pc:sldMkLst>
        <pc:spChg chg="add mod">
          <ac:chgData name="Inti Nuñez" userId="fc293a4ee38bb93b" providerId="LiveId" clId="{8C091EB5-D9FC-51B9-B601-2F1273399689}" dt="2025-10-06T12:28:18.841" v="8260" actId="207"/>
          <ac:spMkLst>
            <pc:docMk/>
            <pc:sldMk cId="3508127580" sldId="2003"/>
            <ac:spMk id="2" creationId="{A49797F3-8732-C669-B83A-292AA0B6E7E3}"/>
          </ac:spMkLst>
        </pc:spChg>
        <pc:spChg chg="add mod">
          <ac:chgData name="Inti Nuñez" userId="fc293a4ee38bb93b" providerId="LiveId" clId="{8C091EB5-D9FC-51B9-B601-2F1273399689}" dt="2025-10-06T12:32:07.583" v="8286" actId="790"/>
          <ac:spMkLst>
            <pc:docMk/>
            <pc:sldMk cId="3508127580" sldId="2003"/>
            <ac:spMk id="3" creationId="{0D1EE80F-D151-73EE-5F02-0B3AEC3823C3}"/>
          </ac:spMkLst>
        </pc:spChg>
        <pc:spChg chg="add mod">
          <ac:chgData name="Inti Nuñez" userId="fc293a4ee38bb93b" providerId="LiveId" clId="{8C091EB5-D9FC-51B9-B601-2F1273399689}" dt="2025-10-06T12:31:42.510" v="8278" actId="20577"/>
          <ac:spMkLst>
            <pc:docMk/>
            <pc:sldMk cId="3508127580" sldId="2003"/>
            <ac:spMk id="4" creationId="{278424EB-15E3-15B4-43B0-C3CC722AEA5D}"/>
          </ac:spMkLst>
        </pc:spChg>
        <pc:spChg chg="add mod">
          <ac:chgData name="Inti Nuñez" userId="fc293a4ee38bb93b" providerId="LiveId" clId="{8C091EB5-D9FC-51B9-B601-2F1273399689}" dt="2025-10-06T12:31:47.985" v="8285" actId="20577"/>
          <ac:spMkLst>
            <pc:docMk/>
            <pc:sldMk cId="3508127580" sldId="2003"/>
            <ac:spMk id="5" creationId="{E5559710-4173-4815-256D-313ADE4EF8B8}"/>
          </ac:spMkLst>
        </pc:spChg>
        <pc:spChg chg="add mod">
          <ac:chgData name="Inti Nuñez" userId="fc293a4ee38bb93b" providerId="LiveId" clId="{8C091EB5-D9FC-51B9-B601-2F1273399689}" dt="2025-10-06T12:37:15.579" v="8380" actId="20577"/>
          <ac:spMkLst>
            <pc:docMk/>
            <pc:sldMk cId="3508127580" sldId="2003"/>
            <ac:spMk id="6" creationId="{E826C9C9-78F3-1DD4-DA45-C8EFC15434C4}"/>
          </ac:spMkLst>
        </pc:spChg>
        <pc:spChg chg="add del mod">
          <ac:chgData name="Inti Nuñez" userId="fc293a4ee38bb93b" providerId="LiveId" clId="{8C091EB5-D9FC-51B9-B601-2F1273399689}" dt="2025-10-06T12:35:48.306" v="8317" actId="478"/>
          <ac:spMkLst>
            <pc:docMk/>
            <pc:sldMk cId="3508127580" sldId="2003"/>
            <ac:spMk id="7" creationId="{C8A43227-939E-D401-201C-392C7BEEAF0D}"/>
          </ac:spMkLst>
        </pc:spChg>
        <pc:spChg chg="add del mod">
          <ac:chgData name="Inti Nuñez" userId="fc293a4ee38bb93b" providerId="LiveId" clId="{8C091EB5-D9FC-51B9-B601-2F1273399689}" dt="2025-10-06T12:35:48.306" v="8317" actId="478"/>
          <ac:spMkLst>
            <pc:docMk/>
            <pc:sldMk cId="3508127580" sldId="2003"/>
            <ac:spMk id="8" creationId="{A7076EBE-A1C3-02B2-BA96-6422E481C0DF}"/>
          </ac:spMkLst>
        </pc:spChg>
        <pc:spChg chg="add mod">
          <ac:chgData name="Inti Nuñez" userId="fc293a4ee38bb93b" providerId="LiveId" clId="{8C091EB5-D9FC-51B9-B601-2F1273399689}" dt="2025-10-06T12:36:09.726" v="8341" actId="20577"/>
          <ac:spMkLst>
            <pc:docMk/>
            <pc:sldMk cId="3508127580" sldId="2003"/>
            <ac:spMk id="9" creationId="{208AB652-1EC1-94D9-4348-E9127808001B}"/>
          </ac:spMkLst>
        </pc:spChg>
        <pc:spChg chg="add mod">
          <ac:chgData name="Inti Nuñez" userId="fc293a4ee38bb93b" providerId="LiveId" clId="{8C091EB5-D9FC-51B9-B601-2F1273399689}" dt="2025-10-06T12:36:24.776" v="8366" actId="20577"/>
          <ac:spMkLst>
            <pc:docMk/>
            <pc:sldMk cId="3508127580" sldId="2003"/>
            <ac:spMk id="10" creationId="{D9E10B37-3E2D-6A56-5DA1-19D1DD00C9A1}"/>
          </ac:spMkLst>
        </pc:spChg>
        <pc:spChg chg="add mod">
          <ac:chgData name="Inti Nuñez" userId="fc293a4ee38bb93b" providerId="LiveId" clId="{8C091EB5-D9FC-51B9-B601-2F1273399689}" dt="2025-10-06T12:37:21.839" v="8388" actId="20577"/>
          <ac:spMkLst>
            <pc:docMk/>
            <pc:sldMk cId="3508127580" sldId="2003"/>
            <ac:spMk id="11" creationId="{80E12DAD-5BBE-0CC8-31FB-B3E2F128AEB9}"/>
          </ac:spMkLst>
        </pc:spChg>
        <pc:spChg chg="add mod">
          <ac:chgData name="Inti Nuñez" userId="fc293a4ee38bb93b" providerId="LiveId" clId="{8C091EB5-D9FC-51B9-B601-2F1273399689}" dt="2025-10-06T12:36:39.881" v="8368" actId="1076"/>
          <ac:spMkLst>
            <pc:docMk/>
            <pc:sldMk cId="3508127580" sldId="2003"/>
            <ac:spMk id="12" creationId="{C93D3256-22CE-0FAA-E07A-242AA6D9E5BD}"/>
          </ac:spMkLst>
        </pc:spChg>
        <pc:spChg chg="add mod">
          <ac:chgData name="Inti Nuñez" userId="fc293a4ee38bb93b" providerId="LiveId" clId="{8C091EB5-D9FC-51B9-B601-2F1273399689}" dt="2025-10-06T12:36:39.881" v="8368" actId="1076"/>
          <ac:spMkLst>
            <pc:docMk/>
            <pc:sldMk cId="3508127580" sldId="2003"/>
            <ac:spMk id="13" creationId="{E4686E9E-215A-FF11-D83F-4BD17A419563}"/>
          </ac:spMkLst>
        </pc:spChg>
        <pc:spChg chg="add mod">
          <ac:chgData name="Inti Nuñez" userId="fc293a4ee38bb93b" providerId="LiveId" clId="{8C091EB5-D9FC-51B9-B601-2F1273399689}" dt="2025-10-06T12:37:26.373" v="8396" actId="20577"/>
          <ac:spMkLst>
            <pc:docMk/>
            <pc:sldMk cId="3508127580" sldId="2003"/>
            <ac:spMk id="14" creationId="{A7DDB7A4-217A-9B40-EC3D-E48EEE7D81ED}"/>
          </ac:spMkLst>
        </pc:spChg>
        <pc:spChg chg="add mod">
          <ac:chgData name="Inti Nuñez" userId="fc293a4ee38bb93b" providerId="LiveId" clId="{8C091EB5-D9FC-51B9-B601-2F1273399689}" dt="2025-10-06T12:36:46.395" v="8370" actId="1076"/>
          <ac:spMkLst>
            <pc:docMk/>
            <pc:sldMk cId="3508127580" sldId="2003"/>
            <ac:spMk id="15" creationId="{C68EAF13-1318-F51B-BF65-D4D57FF7EC4D}"/>
          </ac:spMkLst>
        </pc:spChg>
        <pc:spChg chg="add mod">
          <ac:chgData name="Inti Nuñez" userId="fc293a4ee38bb93b" providerId="LiveId" clId="{8C091EB5-D9FC-51B9-B601-2F1273399689}" dt="2025-10-06T12:36:46.395" v="8370" actId="1076"/>
          <ac:spMkLst>
            <pc:docMk/>
            <pc:sldMk cId="3508127580" sldId="2003"/>
            <ac:spMk id="16" creationId="{4AC3015E-2FDD-EF72-9251-0FFD7D0320D8}"/>
          </ac:spMkLst>
        </pc:spChg>
      </pc:sldChg>
      <pc:sldChg chg="new del">
        <pc:chgData name="Inti Nuñez" userId="fc293a4ee38bb93b" providerId="LiveId" clId="{8C091EB5-D9FC-51B9-B601-2F1273399689}" dt="2025-10-06T12:37:00.321" v="8372" actId="2696"/>
        <pc:sldMkLst>
          <pc:docMk/>
          <pc:sldMk cId="3891307039" sldId="2004"/>
        </pc:sldMkLst>
      </pc:sldChg>
      <pc:sldChg chg="addSp delSp modSp add mod">
        <pc:chgData name="Inti Nuñez" userId="fc293a4ee38bb93b" providerId="LiveId" clId="{8C091EB5-D9FC-51B9-B601-2F1273399689}" dt="2025-10-06T12:45:23.843" v="8780" actId="20577"/>
        <pc:sldMkLst>
          <pc:docMk/>
          <pc:sldMk cId="3847008715" sldId="2005"/>
        </pc:sldMkLst>
        <pc:spChg chg="mod">
          <ac:chgData name="Inti Nuñez" userId="fc293a4ee38bb93b" providerId="LiveId" clId="{8C091EB5-D9FC-51B9-B601-2F1273399689}" dt="2025-10-06T12:37:37.001" v="8416" actId="20577"/>
          <ac:spMkLst>
            <pc:docMk/>
            <pc:sldMk cId="3847008715" sldId="2005"/>
            <ac:spMk id="2" creationId="{4ABA4B41-52B2-0C5A-60B4-0954EBE5E277}"/>
          </ac:spMkLst>
        </pc:spChg>
        <pc:spChg chg="del">
          <ac:chgData name="Inti Nuñez" userId="fc293a4ee38bb93b" providerId="LiveId" clId="{8C091EB5-D9FC-51B9-B601-2F1273399689}" dt="2025-10-06T12:37:56.162" v="8417" actId="478"/>
          <ac:spMkLst>
            <pc:docMk/>
            <pc:sldMk cId="3847008715" sldId="2005"/>
            <ac:spMk id="3" creationId="{6A130E19-0273-8BBA-9BAE-D88CD177ADE3}"/>
          </ac:spMkLst>
        </pc:spChg>
        <pc:spChg chg="del">
          <ac:chgData name="Inti Nuñez" userId="fc293a4ee38bb93b" providerId="LiveId" clId="{8C091EB5-D9FC-51B9-B601-2F1273399689}" dt="2025-10-06T12:37:56.162" v="8417" actId="478"/>
          <ac:spMkLst>
            <pc:docMk/>
            <pc:sldMk cId="3847008715" sldId="2005"/>
            <ac:spMk id="4" creationId="{34C95432-B557-CE32-B0D6-AF961BA6540A}"/>
          </ac:spMkLst>
        </pc:spChg>
        <pc:spChg chg="del">
          <ac:chgData name="Inti Nuñez" userId="fc293a4ee38bb93b" providerId="LiveId" clId="{8C091EB5-D9FC-51B9-B601-2F1273399689}" dt="2025-10-06T12:37:56.162" v="8417" actId="478"/>
          <ac:spMkLst>
            <pc:docMk/>
            <pc:sldMk cId="3847008715" sldId="2005"/>
            <ac:spMk id="5" creationId="{CD00BF25-2248-B4D6-5412-ACDA5AD80E4F}"/>
          </ac:spMkLst>
        </pc:spChg>
        <pc:spChg chg="del">
          <ac:chgData name="Inti Nuñez" userId="fc293a4ee38bb93b" providerId="LiveId" clId="{8C091EB5-D9FC-51B9-B601-2F1273399689}" dt="2025-10-06T12:37:56.162" v="8417" actId="478"/>
          <ac:spMkLst>
            <pc:docMk/>
            <pc:sldMk cId="3847008715" sldId="2005"/>
            <ac:spMk id="6" creationId="{DADE4CB3-5EB2-A6B6-2D08-DB1DD7795A2F}"/>
          </ac:spMkLst>
        </pc:spChg>
        <pc:spChg chg="add mod">
          <ac:chgData name="Inti Nuñez" userId="fc293a4ee38bb93b" providerId="LiveId" clId="{8C091EB5-D9FC-51B9-B601-2F1273399689}" dt="2025-10-06T12:45:23.843" v="8780" actId="20577"/>
          <ac:spMkLst>
            <pc:docMk/>
            <pc:sldMk cId="3847008715" sldId="2005"/>
            <ac:spMk id="8" creationId="{F380D343-8E07-82CD-02CD-E51B4E0285FC}"/>
          </ac:spMkLst>
        </pc:spChg>
        <pc:spChg chg="del">
          <ac:chgData name="Inti Nuñez" userId="fc293a4ee38bb93b" providerId="LiveId" clId="{8C091EB5-D9FC-51B9-B601-2F1273399689}" dt="2025-10-06T12:37:56.162" v="8417" actId="478"/>
          <ac:spMkLst>
            <pc:docMk/>
            <pc:sldMk cId="3847008715" sldId="2005"/>
            <ac:spMk id="10" creationId="{AC5307D0-80BE-AA13-F1F6-D51E2E1D368D}"/>
          </ac:spMkLst>
        </pc:spChg>
        <pc:spChg chg="del">
          <ac:chgData name="Inti Nuñez" userId="fc293a4ee38bb93b" providerId="LiveId" clId="{8C091EB5-D9FC-51B9-B601-2F1273399689}" dt="2025-10-06T12:37:56.162" v="8417" actId="478"/>
          <ac:spMkLst>
            <pc:docMk/>
            <pc:sldMk cId="3847008715" sldId="2005"/>
            <ac:spMk id="11" creationId="{1C154E51-E135-C1C6-3927-812E49236516}"/>
          </ac:spMkLst>
        </pc:spChg>
        <pc:spChg chg="del">
          <ac:chgData name="Inti Nuñez" userId="fc293a4ee38bb93b" providerId="LiveId" clId="{8C091EB5-D9FC-51B9-B601-2F1273399689}" dt="2025-10-06T12:37:56.162" v="8417" actId="478"/>
          <ac:spMkLst>
            <pc:docMk/>
            <pc:sldMk cId="3847008715" sldId="2005"/>
            <ac:spMk id="12" creationId="{E52B55ED-E4B6-850C-E17C-47EB5B5AD2A6}"/>
          </ac:spMkLst>
        </pc:spChg>
        <pc:spChg chg="del">
          <ac:chgData name="Inti Nuñez" userId="fc293a4ee38bb93b" providerId="LiveId" clId="{8C091EB5-D9FC-51B9-B601-2F1273399689}" dt="2025-10-06T12:37:56.162" v="8417" actId="478"/>
          <ac:spMkLst>
            <pc:docMk/>
            <pc:sldMk cId="3847008715" sldId="2005"/>
            <ac:spMk id="13" creationId="{D4722445-9184-8D31-99B6-A4470945994F}"/>
          </ac:spMkLst>
        </pc:spChg>
        <pc:spChg chg="del">
          <ac:chgData name="Inti Nuñez" userId="fc293a4ee38bb93b" providerId="LiveId" clId="{8C091EB5-D9FC-51B9-B601-2F1273399689}" dt="2025-10-06T12:37:56.162" v="8417" actId="478"/>
          <ac:spMkLst>
            <pc:docMk/>
            <pc:sldMk cId="3847008715" sldId="2005"/>
            <ac:spMk id="14" creationId="{9934FCED-FB5C-5CF2-26B7-2F5C525131B9}"/>
          </ac:spMkLst>
        </pc:spChg>
        <pc:spChg chg="del">
          <ac:chgData name="Inti Nuñez" userId="fc293a4ee38bb93b" providerId="LiveId" clId="{8C091EB5-D9FC-51B9-B601-2F1273399689}" dt="2025-10-06T12:37:56.162" v="8417" actId="478"/>
          <ac:spMkLst>
            <pc:docMk/>
            <pc:sldMk cId="3847008715" sldId="2005"/>
            <ac:spMk id="16" creationId="{BB852710-A36A-638E-33BF-756FC590D6A1}"/>
          </ac:spMkLst>
        </pc:spChg>
        <pc:graphicFrameChg chg="add mod modGraphic">
          <ac:chgData name="Inti Nuñez" userId="fc293a4ee38bb93b" providerId="LiveId" clId="{8C091EB5-D9FC-51B9-B601-2F1273399689}" dt="2025-10-06T12:44:02.693" v="8647" actId="1076"/>
          <ac:graphicFrameMkLst>
            <pc:docMk/>
            <pc:sldMk cId="3847008715" sldId="2005"/>
            <ac:graphicFrameMk id="7" creationId="{AF67897D-0C07-5A36-7BDF-723BD82530B6}"/>
          </ac:graphicFrameMkLst>
        </pc:graphicFrameChg>
      </pc:sldChg>
      <pc:sldChg chg="addSp modSp new mod modClrScheme chgLayout">
        <pc:chgData name="Inti Nuñez" userId="fc293a4ee38bb93b" providerId="LiveId" clId="{8C091EB5-D9FC-51B9-B601-2F1273399689}" dt="2025-10-07T11:39:48.937" v="8808" actId="20577"/>
        <pc:sldMkLst>
          <pc:docMk/>
          <pc:sldMk cId="1968293188" sldId="2006"/>
        </pc:sldMkLst>
        <pc:spChg chg="mod ord">
          <ac:chgData name="Inti Nuñez" userId="fc293a4ee38bb93b" providerId="LiveId" clId="{8C091EB5-D9FC-51B9-B601-2F1273399689}" dt="2025-10-07T11:39:48.937" v="8808" actId="20577"/>
          <ac:spMkLst>
            <pc:docMk/>
            <pc:sldMk cId="1968293188" sldId="2006"/>
            <ac:spMk id="2" creationId="{A2F2FD45-B89A-EA6E-A04C-AF16473816D4}"/>
          </ac:spMkLst>
        </pc:spChg>
        <pc:spChg chg="add mod">
          <ac:chgData name="Inti Nuñez" userId="fc293a4ee38bb93b" providerId="LiveId" clId="{8C091EB5-D9FC-51B9-B601-2F1273399689}" dt="2025-10-07T11:39:29.528" v="8806" actId="113"/>
          <ac:spMkLst>
            <pc:docMk/>
            <pc:sldMk cId="1968293188" sldId="2006"/>
            <ac:spMk id="3" creationId="{3A602106-26AA-9740-B273-A04753A029C3}"/>
          </ac:spMkLst>
        </pc:spChg>
      </pc:sldChg>
      <pc:sldChg chg="new del">
        <pc:chgData name="Inti Nuñez" userId="fc293a4ee38bb93b" providerId="LiveId" clId="{8C091EB5-D9FC-51B9-B601-2F1273399689}" dt="2025-10-07T11:40:00.456" v="8810" actId="2696"/>
        <pc:sldMkLst>
          <pc:docMk/>
          <pc:sldMk cId="2044841970" sldId="2007"/>
        </pc:sldMkLst>
      </pc:sldChg>
      <pc:sldChg chg="modSp add mod">
        <pc:chgData name="Inti Nuñez" userId="fc293a4ee38bb93b" providerId="LiveId" clId="{8C091EB5-D9FC-51B9-B601-2F1273399689}" dt="2025-10-07T11:40:05.095" v="8816" actId="20577"/>
        <pc:sldMkLst>
          <pc:docMk/>
          <pc:sldMk cId="9367320" sldId="2008"/>
        </pc:sldMkLst>
        <pc:spChg chg="mod">
          <ac:chgData name="Inti Nuñez" userId="fc293a4ee38bb93b" providerId="LiveId" clId="{8C091EB5-D9FC-51B9-B601-2F1273399689}" dt="2025-10-07T11:40:05.095" v="8816" actId="20577"/>
          <ac:spMkLst>
            <pc:docMk/>
            <pc:sldMk cId="9367320" sldId="2008"/>
            <ac:spMk id="3" creationId="{3AC9BD85-D7A7-DD9B-A18E-A8780FD5B5D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22437A-4EEB-4C23-A297-6242C781EDE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Date Placeholder 2">
            <a:extLst>
              <a:ext uri="{FF2B5EF4-FFF2-40B4-BE49-F238E27FC236}">
                <a16:creationId xmlns:a16="http://schemas.microsoft.com/office/drawing/2014/main" id="{A84C2447-A797-43C6-A37A-D144E35377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77D7A4-C1FD-483F-A818-BEB3123FFE40}" type="datetimeFigureOut">
              <a:rPr lang="es-CL" smtClean="0"/>
              <a:t>07-10-25</a:t>
            </a:fld>
            <a:endParaRPr lang="es-CL"/>
          </a:p>
        </p:txBody>
      </p:sp>
      <p:sp>
        <p:nvSpPr>
          <p:cNvPr id="4" name="Footer Placeholder 3">
            <a:extLst>
              <a:ext uri="{FF2B5EF4-FFF2-40B4-BE49-F238E27FC236}">
                <a16:creationId xmlns:a16="http://schemas.microsoft.com/office/drawing/2014/main" id="{AE4D792C-9D73-483D-A29F-40E8FA2610D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Slide Number Placeholder 4">
            <a:extLst>
              <a:ext uri="{FF2B5EF4-FFF2-40B4-BE49-F238E27FC236}">
                <a16:creationId xmlns:a16="http://schemas.microsoft.com/office/drawing/2014/main" id="{30D4AB79-691B-412A-9B69-72A6983F4D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6A0DB2-EAC9-4B4E-8212-830E586BC76F}" type="slidenum">
              <a:rPr lang="es-CL" smtClean="0"/>
              <a:t>‹Nº›</a:t>
            </a:fld>
            <a:endParaRPr lang="es-CL"/>
          </a:p>
        </p:txBody>
      </p:sp>
    </p:spTree>
    <p:extLst>
      <p:ext uri="{BB962C8B-B14F-4D97-AF65-F5344CB8AC3E}">
        <p14:creationId xmlns:p14="http://schemas.microsoft.com/office/powerpoint/2010/main" val="17404364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50E156-8DA0-6246-B914-4525BCE8A0E4}" type="datetimeFigureOut">
              <a:rPr lang="es-CL" smtClean="0"/>
              <a:t>07-10-25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FD6A4C-D160-CA4B-8B98-1C0C5846C152}" type="slidenum">
              <a:rPr lang="es-CL" smtClean="0"/>
              <a:t>‹Nº›</a:t>
            </a:fld>
            <a:endParaRPr lang="es-CL"/>
          </a:p>
        </p:txBody>
      </p:sp>
    </p:spTree>
    <p:extLst>
      <p:ext uri="{BB962C8B-B14F-4D97-AF65-F5344CB8AC3E}">
        <p14:creationId xmlns:p14="http://schemas.microsoft.com/office/powerpoint/2010/main" val="3846969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p:txBody>
      </p:sp>
      <p:sp>
        <p:nvSpPr>
          <p:cNvPr id="4" name="Marcador de número de diapositiva 3"/>
          <p:cNvSpPr>
            <a:spLocks noGrp="1"/>
          </p:cNvSpPr>
          <p:nvPr>
            <p:ph type="sldNum" sz="quarter" idx="5"/>
          </p:nvPr>
        </p:nvSpPr>
        <p:spPr/>
        <p:txBody>
          <a:bodyPr/>
          <a:lstStyle/>
          <a:p>
            <a:fld id="{F1FD6A4C-D160-CA4B-8B98-1C0C5846C152}" type="slidenum">
              <a:rPr lang="es-CL" smtClean="0"/>
              <a:t>1</a:t>
            </a:fld>
            <a:endParaRPr lang="es-CL"/>
          </a:p>
        </p:txBody>
      </p:sp>
    </p:spTree>
    <p:extLst>
      <p:ext uri="{BB962C8B-B14F-4D97-AF65-F5344CB8AC3E}">
        <p14:creationId xmlns:p14="http://schemas.microsoft.com/office/powerpoint/2010/main" val="381272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F1FD6A4C-D160-CA4B-8B98-1C0C5846C152}" type="slidenum">
              <a:rPr lang="es-CL" smtClean="0"/>
              <a:t>2</a:t>
            </a:fld>
            <a:endParaRPr lang="es-CL"/>
          </a:p>
        </p:txBody>
      </p:sp>
    </p:spTree>
    <p:extLst>
      <p:ext uri="{BB962C8B-B14F-4D97-AF65-F5344CB8AC3E}">
        <p14:creationId xmlns:p14="http://schemas.microsoft.com/office/powerpoint/2010/main" val="409336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F1FD6A4C-D160-CA4B-8B98-1C0C5846C152}" type="slidenum">
              <a:rPr lang="es-CL" smtClean="0"/>
              <a:t>3</a:t>
            </a:fld>
            <a:endParaRPr lang="es-CL"/>
          </a:p>
        </p:txBody>
      </p:sp>
    </p:spTree>
    <p:extLst>
      <p:ext uri="{BB962C8B-B14F-4D97-AF65-F5344CB8AC3E}">
        <p14:creationId xmlns:p14="http://schemas.microsoft.com/office/powerpoint/2010/main" val="2057964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Doerr, John. Measure What Matters: How Google, Bono, and the Gates Foundation Rock the World with OKRs. Portfolio, 2018.</a:t>
            </a:r>
          </a:p>
          <a:p>
            <a:r>
              <a:rPr lang="en-US" dirty="0"/>
              <a:t>Blank, Steve, y Bob Dorf. The Startup Owner’s Manual: The Step-by-Step Guide for Building a Great Company. K&amp;S Ranch, 2012.</a:t>
            </a:r>
          </a:p>
          <a:p>
            <a:r>
              <a:rPr lang="en-US" dirty="0"/>
              <a:t>Collins, Jim. Good to Great: Why Some Companies Make the Leap... and Others Don't. </a:t>
            </a:r>
            <a:r>
              <a:rPr lang="en-US" dirty="0" err="1"/>
              <a:t>HarperBusiness</a:t>
            </a:r>
            <a:r>
              <a:rPr lang="en-US" dirty="0"/>
              <a:t>, 2001.</a:t>
            </a:r>
          </a:p>
          <a:p>
            <a:r>
              <a:rPr lang="en-US" dirty="0"/>
              <a:t>Gompers, Paul, y Josh Lerner. The Venture Capital Cycle. MIT Press, 1999.</a:t>
            </a:r>
            <a:endParaRPr lang="es-CL" dirty="0"/>
          </a:p>
        </p:txBody>
      </p:sp>
      <p:sp>
        <p:nvSpPr>
          <p:cNvPr id="4" name="Slide Number Placeholder 3"/>
          <p:cNvSpPr>
            <a:spLocks noGrp="1"/>
          </p:cNvSpPr>
          <p:nvPr>
            <p:ph type="sldNum" sz="quarter" idx="5"/>
          </p:nvPr>
        </p:nvSpPr>
        <p:spPr/>
        <p:txBody>
          <a:bodyPr/>
          <a:lstStyle/>
          <a:p>
            <a:fld id="{F1FD6A4C-D160-CA4B-8B98-1C0C5846C152}" type="slidenum">
              <a:rPr lang="es-CL" smtClean="0"/>
              <a:t>4</a:t>
            </a:fld>
            <a:endParaRPr lang="es-CL"/>
          </a:p>
        </p:txBody>
      </p:sp>
    </p:spTree>
    <p:extLst>
      <p:ext uri="{BB962C8B-B14F-4D97-AF65-F5344CB8AC3E}">
        <p14:creationId xmlns:p14="http://schemas.microsoft.com/office/powerpoint/2010/main" val="1561886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dirty="0"/>
          </a:p>
        </p:txBody>
      </p:sp>
      <p:sp>
        <p:nvSpPr>
          <p:cNvPr id="4" name="Slide Number Placeholder 3"/>
          <p:cNvSpPr>
            <a:spLocks noGrp="1"/>
          </p:cNvSpPr>
          <p:nvPr>
            <p:ph type="sldNum" sz="quarter" idx="5"/>
          </p:nvPr>
        </p:nvSpPr>
        <p:spPr/>
        <p:txBody>
          <a:bodyPr/>
          <a:lstStyle/>
          <a:p>
            <a:fld id="{F1FD6A4C-D160-CA4B-8B98-1C0C5846C152}" type="slidenum">
              <a:rPr lang="es-CL" smtClean="0"/>
              <a:t>6</a:t>
            </a:fld>
            <a:endParaRPr lang="es-CL"/>
          </a:p>
        </p:txBody>
      </p:sp>
    </p:spTree>
    <p:extLst>
      <p:ext uri="{BB962C8B-B14F-4D97-AF65-F5344CB8AC3E}">
        <p14:creationId xmlns:p14="http://schemas.microsoft.com/office/powerpoint/2010/main" val="3114775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F1FD6A4C-D160-CA4B-8B98-1C0C5846C152}" type="slidenum">
              <a:rPr lang="es-CL" smtClean="0"/>
              <a:t>19</a:t>
            </a:fld>
            <a:endParaRPr lang="es-CL"/>
          </a:p>
        </p:txBody>
      </p:sp>
    </p:spTree>
    <p:extLst>
      <p:ext uri="{BB962C8B-B14F-4D97-AF65-F5344CB8AC3E}">
        <p14:creationId xmlns:p14="http://schemas.microsoft.com/office/powerpoint/2010/main" val="3306716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06DC1-28D0-9386-2C04-3BF0C3B67E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BE5E80-05F4-3292-52B0-4821CA6EE0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DAFA652-6F5E-3DE5-D520-B812B1CE2F35}"/>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53F685F2-1A87-CD8F-08B6-593E8F5E51AE}"/>
              </a:ext>
            </a:extLst>
          </p:cNvPr>
          <p:cNvSpPr>
            <a:spLocks noGrp="1"/>
          </p:cNvSpPr>
          <p:nvPr>
            <p:ph type="sldNum" sz="quarter" idx="5"/>
          </p:nvPr>
        </p:nvSpPr>
        <p:spPr/>
        <p:txBody>
          <a:bodyPr/>
          <a:lstStyle/>
          <a:p>
            <a:fld id="{F1FD6A4C-D160-CA4B-8B98-1C0C5846C152}" type="slidenum">
              <a:rPr lang="es-CL" smtClean="0"/>
              <a:t>24</a:t>
            </a:fld>
            <a:endParaRPr lang="es-CL"/>
          </a:p>
        </p:txBody>
      </p:sp>
    </p:spTree>
    <p:extLst>
      <p:ext uri="{BB962C8B-B14F-4D97-AF65-F5344CB8AC3E}">
        <p14:creationId xmlns:p14="http://schemas.microsoft.com/office/powerpoint/2010/main" val="2225833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B4558-DE57-2A82-A117-278508001F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63073C2-DA33-0F2B-73D0-43DDFE5A7C3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46BBD1E-E9A7-719D-9A39-A5508FA45939}"/>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619D67EC-A1DF-C8EE-FD03-7894D4BF7517}"/>
              </a:ext>
            </a:extLst>
          </p:cNvPr>
          <p:cNvSpPr>
            <a:spLocks noGrp="1"/>
          </p:cNvSpPr>
          <p:nvPr>
            <p:ph type="sldNum" sz="quarter" idx="5"/>
          </p:nvPr>
        </p:nvSpPr>
        <p:spPr/>
        <p:txBody>
          <a:bodyPr/>
          <a:lstStyle/>
          <a:p>
            <a:fld id="{F1FD6A4C-D160-CA4B-8B98-1C0C5846C152}" type="slidenum">
              <a:rPr lang="es-CL" smtClean="0"/>
              <a:t>25</a:t>
            </a:fld>
            <a:endParaRPr lang="es-CL"/>
          </a:p>
        </p:txBody>
      </p:sp>
    </p:spTree>
    <p:extLst>
      <p:ext uri="{BB962C8B-B14F-4D97-AF65-F5344CB8AC3E}">
        <p14:creationId xmlns:p14="http://schemas.microsoft.com/office/powerpoint/2010/main" val="2984463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11A89-C069-B7AA-6FDD-2CC10D70DC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31745F-6FFC-0F82-2CAF-2138CBECC09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37F4C6A-8054-4E23-B673-E07A6B4A3D4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B07ED85C-1648-E8CF-B8F1-1321672E814C}"/>
              </a:ext>
            </a:extLst>
          </p:cNvPr>
          <p:cNvSpPr>
            <a:spLocks noGrp="1"/>
          </p:cNvSpPr>
          <p:nvPr>
            <p:ph type="sldNum" sz="quarter" idx="5"/>
          </p:nvPr>
        </p:nvSpPr>
        <p:spPr/>
        <p:txBody>
          <a:bodyPr/>
          <a:lstStyle/>
          <a:p>
            <a:fld id="{F1FD6A4C-D160-CA4B-8B98-1C0C5846C152}" type="slidenum">
              <a:rPr lang="es-CL" smtClean="0"/>
              <a:t>26</a:t>
            </a:fld>
            <a:endParaRPr lang="es-CL"/>
          </a:p>
        </p:txBody>
      </p:sp>
    </p:spTree>
    <p:extLst>
      <p:ext uri="{BB962C8B-B14F-4D97-AF65-F5344CB8AC3E}">
        <p14:creationId xmlns:p14="http://schemas.microsoft.com/office/powerpoint/2010/main" val="627588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000F9-0D8E-87CF-E80D-9790ADD3900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BF0846A-7083-20FE-5D0D-A932F1AB1A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B6731F-9DC8-BDCB-485C-6D17CFC9BE86}"/>
              </a:ext>
            </a:extLst>
          </p:cNvPr>
          <p:cNvSpPr>
            <a:spLocks noGrp="1"/>
          </p:cNvSpPr>
          <p:nvPr>
            <p:ph type="body" idx="1"/>
          </p:nvPr>
        </p:nvSpPr>
        <p:spPr/>
        <p:txBody>
          <a:bodyPr/>
          <a:lstStyle/>
          <a:p>
            <a:endParaRPr lang="es-CL"/>
          </a:p>
        </p:txBody>
      </p:sp>
      <p:sp>
        <p:nvSpPr>
          <p:cNvPr id="4" name="Marcador de número de diapositiva 3">
            <a:extLst>
              <a:ext uri="{FF2B5EF4-FFF2-40B4-BE49-F238E27FC236}">
                <a16:creationId xmlns:a16="http://schemas.microsoft.com/office/drawing/2014/main" id="{FBB6FAF0-4BAC-5FBB-F306-6B852A278FAE}"/>
              </a:ext>
            </a:extLst>
          </p:cNvPr>
          <p:cNvSpPr>
            <a:spLocks noGrp="1"/>
          </p:cNvSpPr>
          <p:nvPr>
            <p:ph type="sldNum" sz="quarter" idx="5"/>
          </p:nvPr>
        </p:nvSpPr>
        <p:spPr/>
        <p:txBody>
          <a:bodyPr/>
          <a:lstStyle/>
          <a:p>
            <a:fld id="{F1FD6A4C-D160-CA4B-8B98-1C0C5846C152}" type="slidenum">
              <a:rPr lang="es-CL" smtClean="0"/>
              <a:t>44</a:t>
            </a:fld>
            <a:endParaRPr lang="es-CL"/>
          </a:p>
        </p:txBody>
      </p:sp>
    </p:spTree>
    <p:extLst>
      <p:ext uri="{BB962C8B-B14F-4D97-AF65-F5344CB8AC3E}">
        <p14:creationId xmlns:p14="http://schemas.microsoft.com/office/powerpoint/2010/main" val="13944480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Gris-Titulo&amp;Texto">
    <p:bg>
      <p:bgPr>
        <a:solidFill>
          <a:schemeClr val="bg1"/>
        </a:solidFill>
        <a:effectLst/>
      </p:bgPr>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182C3BC2-F196-4014-BA9B-32C9C845F8D1}"/>
              </a:ext>
            </a:extLst>
          </p:cNvPr>
          <p:cNvSpPr>
            <a:spLocks noGrp="1"/>
          </p:cNvSpPr>
          <p:nvPr>
            <p:ph type="title" hasCustomPrompt="1"/>
          </p:nvPr>
        </p:nvSpPr>
        <p:spPr>
          <a:xfrm>
            <a:off x="658812" y="549275"/>
            <a:ext cx="10874375" cy="1037154"/>
          </a:xfrm>
          <a:prstGeom prst="rect">
            <a:avLst/>
          </a:prstGeom>
        </p:spPr>
        <p:txBody>
          <a:bodyPr vert="horz" lIns="0" tIns="45720" rIns="91440" bIns="45720" rtlCol="0" anchor="t" anchorCtr="0">
            <a:noAutofit/>
          </a:bodyPr>
          <a:lstStyle>
            <a:lvl1pPr>
              <a:defRPr sz="3600">
                <a:solidFill>
                  <a:schemeClr val="tx2"/>
                </a:solidFill>
              </a:defRPr>
            </a:lvl1pPr>
          </a:lstStyle>
          <a:p>
            <a:r>
              <a:rPr lang="en-US" dirty="0"/>
              <a:t>Click to edit Master title style</a:t>
            </a:r>
            <a:endParaRPr lang="es-419" dirty="0"/>
          </a:p>
        </p:txBody>
      </p:sp>
      <p:sp>
        <p:nvSpPr>
          <p:cNvPr id="13" name="Text Placeholder 12">
            <a:extLst>
              <a:ext uri="{FF2B5EF4-FFF2-40B4-BE49-F238E27FC236}">
                <a16:creationId xmlns:a16="http://schemas.microsoft.com/office/drawing/2014/main" id="{92B7D09E-6BAB-4F93-B728-A3202C5E201E}"/>
              </a:ext>
            </a:extLst>
          </p:cNvPr>
          <p:cNvSpPr>
            <a:spLocks noGrp="1"/>
          </p:cNvSpPr>
          <p:nvPr>
            <p:ph type="body" sz="quarter" idx="10" hasCustomPrompt="1"/>
          </p:nvPr>
        </p:nvSpPr>
        <p:spPr>
          <a:xfrm>
            <a:off x="658813" y="1586429"/>
            <a:ext cx="10874374" cy="3723701"/>
          </a:xfrm>
        </p:spPr>
        <p:txBody>
          <a:bodyPr/>
          <a:lstStyle>
            <a:lvl1pPr marL="228600" indent="-228600">
              <a:buClr>
                <a:schemeClr val="accent4"/>
              </a:buClr>
              <a:buFont typeface="Wingdings" panose="05000000000000000000" pitchFamily="2" charset="2"/>
              <a:buChar char="§"/>
              <a:defRPr sz="2000">
                <a:solidFill>
                  <a:schemeClr val="tx2"/>
                </a:solidFill>
              </a:defRPr>
            </a:lvl1pPr>
            <a:lvl2pPr marL="685800" indent="-228600">
              <a:buClr>
                <a:schemeClr val="accent4"/>
              </a:buClr>
              <a:buFont typeface="Wingdings" panose="05000000000000000000" pitchFamily="2" charset="2"/>
              <a:buChar char="§"/>
              <a:defRPr sz="1800">
                <a:solidFill>
                  <a:schemeClr val="tx2"/>
                </a:solidFill>
              </a:defRPr>
            </a:lvl2pPr>
            <a:lvl3pPr marL="1143000" indent="-228600">
              <a:buClr>
                <a:schemeClr val="accent4"/>
              </a:buClr>
              <a:buFont typeface="Wingdings" panose="05000000000000000000" pitchFamily="2" charset="2"/>
              <a:buChar char="§"/>
              <a:defRPr sz="1600">
                <a:solidFill>
                  <a:schemeClr val="tx2"/>
                </a:solidFill>
              </a:defRPr>
            </a:lvl3pPr>
            <a:lvl4pPr marL="1600200" indent="-228600">
              <a:buClr>
                <a:schemeClr val="accent4"/>
              </a:buClr>
              <a:buFont typeface="Wingdings" panose="05000000000000000000" pitchFamily="2" charset="2"/>
              <a:buChar char="§"/>
              <a:defRPr sz="1400">
                <a:solidFill>
                  <a:schemeClr val="tx2"/>
                </a:solidFill>
              </a:defRPr>
            </a:lvl4pPr>
            <a:lvl5pPr marL="2057400" indent="-228600">
              <a:buClr>
                <a:schemeClr val="accent4"/>
              </a:buClr>
              <a:buFont typeface="Wingdings" panose="05000000000000000000" pitchFamily="2" charset="2"/>
              <a:buChar char="§"/>
              <a:defRPr sz="14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CL" dirty="0"/>
          </a:p>
        </p:txBody>
      </p:sp>
      <p:sp>
        <p:nvSpPr>
          <p:cNvPr id="14" name="Rectángulo 13">
            <a:extLst>
              <a:ext uri="{FF2B5EF4-FFF2-40B4-BE49-F238E27FC236}">
                <a16:creationId xmlns:a16="http://schemas.microsoft.com/office/drawing/2014/main" id="{50AC6814-265C-4CEE-96D8-7B48C09DBCD4}"/>
              </a:ext>
            </a:extLst>
          </p:cNvPr>
          <p:cNvSpPr/>
          <p:nvPr userDrawn="1"/>
        </p:nvSpPr>
        <p:spPr>
          <a:xfrm>
            <a:off x="0" y="5871947"/>
            <a:ext cx="12192000" cy="9860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6" name="Slide Number Placeholder 8">
            <a:extLst>
              <a:ext uri="{FF2B5EF4-FFF2-40B4-BE49-F238E27FC236}">
                <a16:creationId xmlns:a16="http://schemas.microsoft.com/office/drawing/2014/main" id="{AB4DC921-B693-466F-B634-2802ABBB2459}"/>
              </a:ext>
            </a:extLst>
          </p:cNvPr>
          <p:cNvSpPr txBox="1">
            <a:spLocks/>
          </p:cNvSpPr>
          <p:nvPr userDrawn="1"/>
        </p:nvSpPr>
        <p:spPr>
          <a:xfrm>
            <a:off x="584489" y="6126160"/>
            <a:ext cx="2743200" cy="365125"/>
          </a:xfrm>
          <a:prstGeom prst="rect">
            <a:avLst/>
          </a:prstGeom>
        </p:spPr>
        <p:txBody>
          <a:bodyPr vert="horz" lIns="91440" tIns="45720" rIns="91440" bIns="45720" rtlCol="0" anchor="ctr"/>
          <a:lstStyle>
            <a:defPPr>
              <a:defRPr lang="es-CL"/>
            </a:defPPr>
            <a:lvl1pPr marL="0" algn="l" defTabSz="914400" rtl="0" eaLnBrk="1" latinLnBrk="0" hangingPunct="1">
              <a:defRPr sz="1200" b="1" kern="1200">
                <a:solidFill>
                  <a:schemeClr val="accent5">
                    <a:lumMod val="60000"/>
                    <a:lumOff val="4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L" sz="1400" b="1" i="0" dirty="0">
                <a:solidFill>
                  <a:schemeClr val="bg1">
                    <a:alpha val="30000"/>
                  </a:schemeClr>
                </a:solidFill>
                <a:latin typeface="Montserrat Medium" pitchFamily="2" charset="77"/>
              </a:rPr>
              <a:t>| </a:t>
            </a:r>
            <a:fld id="{C7BA4653-2D91-41CC-ADBC-D15E6666AE27}" type="slidenum">
              <a:rPr lang="es-CL" sz="1400" b="1" i="1" smtClean="0">
                <a:solidFill>
                  <a:schemeClr val="bg1">
                    <a:alpha val="30000"/>
                  </a:schemeClr>
                </a:solidFill>
                <a:latin typeface="Montserrat Medium" pitchFamily="2" charset="77"/>
              </a:rPr>
              <a:pPr/>
              <a:t>‹Nº›</a:t>
            </a:fld>
            <a:r>
              <a:rPr lang="es-CL" sz="1400" b="1" i="1" dirty="0">
                <a:solidFill>
                  <a:schemeClr val="bg1">
                    <a:alpha val="30000"/>
                  </a:schemeClr>
                </a:solidFill>
                <a:latin typeface="Montserrat Medium" pitchFamily="2" charset="77"/>
              </a:rPr>
              <a:t>.</a:t>
            </a:r>
          </a:p>
        </p:txBody>
      </p:sp>
      <p:pic>
        <p:nvPicPr>
          <p:cNvPr id="18" name="Graphic 29">
            <a:extLst>
              <a:ext uri="{FF2B5EF4-FFF2-40B4-BE49-F238E27FC236}">
                <a16:creationId xmlns:a16="http://schemas.microsoft.com/office/drawing/2014/main" id="{A820AD21-8FC7-4244-B7B0-5D86623D322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07633" y="6111753"/>
            <a:ext cx="1030534" cy="450000"/>
          </a:xfrm>
          <a:prstGeom prst="rect">
            <a:avLst/>
          </a:prstGeom>
        </p:spPr>
      </p:pic>
      <p:pic>
        <p:nvPicPr>
          <p:cNvPr id="19" name="Graphic 31">
            <a:extLst>
              <a:ext uri="{FF2B5EF4-FFF2-40B4-BE49-F238E27FC236}">
                <a16:creationId xmlns:a16="http://schemas.microsoft.com/office/drawing/2014/main" id="{ABB71CFF-A7BB-4309-A7CE-03D9BCDF5A17}"/>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1996" t="7405" r="20746" b="141"/>
          <a:stretch/>
        </p:blipFill>
        <p:spPr>
          <a:xfrm>
            <a:off x="10838526" y="6063832"/>
            <a:ext cx="694661" cy="489786"/>
          </a:xfrm>
          <a:prstGeom prst="rect">
            <a:avLst/>
          </a:prstGeom>
        </p:spPr>
      </p:pic>
      <p:pic>
        <p:nvPicPr>
          <p:cNvPr id="22" name="Graphic 33">
            <a:extLst>
              <a:ext uri="{FF2B5EF4-FFF2-40B4-BE49-F238E27FC236}">
                <a16:creationId xmlns:a16="http://schemas.microsoft.com/office/drawing/2014/main" id="{A7E34306-B54F-4AB3-8EDA-1F6D2D06704D}"/>
              </a:ext>
            </a:extLst>
          </p:cNvPr>
          <p:cNvPicPr>
            <a:picLocks noChangeAspect="1"/>
          </p:cNvPicPr>
          <p:nvPr userDrawn="1"/>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2181" t="4860" r="24217" b="33436"/>
          <a:stretch/>
        </p:blipFill>
        <p:spPr>
          <a:xfrm>
            <a:off x="9888229" y="6121740"/>
            <a:ext cx="700235" cy="351990"/>
          </a:xfrm>
          <a:prstGeom prst="rect">
            <a:avLst/>
          </a:prstGeom>
        </p:spPr>
      </p:pic>
    </p:spTree>
    <p:extLst>
      <p:ext uri="{BB962C8B-B14F-4D97-AF65-F5344CB8AC3E}">
        <p14:creationId xmlns:p14="http://schemas.microsoft.com/office/powerpoint/2010/main" val="44917624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ris-Titulo&amp;Texto">
    <p:bg>
      <p:bgPr>
        <a:solidFill>
          <a:schemeClr val="accent2"/>
        </a:solidFill>
        <a:effectLst/>
      </p:bgPr>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182C3BC2-F196-4014-BA9B-32C9C845F8D1}"/>
              </a:ext>
            </a:extLst>
          </p:cNvPr>
          <p:cNvSpPr>
            <a:spLocks noGrp="1"/>
          </p:cNvSpPr>
          <p:nvPr>
            <p:ph type="title" hasCustomPrompt="1"/>
          </p:nvPr>
        </p:nvSpPr>
        <p:spPr>
          <a:xfrm>
            <a:off x="658812" y="549275"/>
            <a:ext cx="10874375" cy="1037154"/>
          </a:xfrm>
          <a:prstGeom prst="rect">
            <a:avLst/>
          </a:prstGeom>
        </p:spPr>
        <p:txBody>
          <a:bodyPr vert="horz" lIns="0" tIns="45720" rIns="91440" bIns="45720" rtlCol="0" anchor="t" anchorCtr="0">
            <a:noAutofit/>
          </a:bodyPr>
          <a:lstStyle>
            <a:lvl1pPr>
              <a:defRPr sz="3600">
                <a:solidFill>
                  <a:schemeClr val="bg1"/>
                </a:solidFill>
              </a:defRPr>
            </a:lvl1pPr>
          </a:lstStyle>
          <a:p>
            <a:r>
              <a:rPr lang="en-US" dirty="0"/>
              <a:t>Click to edit Master title style</a:t>
            </a:r>
            <a:endParaRPr lang="es-419" dirty="0"/>
          </a:p>
        </p:txBody>
      </p:sp>
      <p:sp>
        <p:nvSpPr>
          <p:cNvPr id="13" name="Text Placeholder 12">
            <a:extLst>
              <a:ext uri="{FF2B5EF4-FFF2-40B4-BE49-F238E27FC236}">
                <a16:creationId xmlns:a16="http://schemas.microsoft.com/office/drawing/2014/main" id="{92B7D09E-6BAB-4F93-B728-A3202C5E201E}"/>
              </a:ext>
            </a:extLst>
          </p:cNvPr>
          <p:cNvSpPr>
            <a:spLocks noGrp="1"/>
          </p:cNvSpPr>
          <p:nvPr>
            <p:ph type="body" sz="quarter" idx="10" hasCustomPrompt="1"/>
          </p:nvPr>
        </p:nvSpPr>
        <p:spPr>
          <a:xfrm>
            <a:off x="658813" y="1586429"/>
            <a:ext cx="10874374" cy="3723701"/>
          </a:xfrm>
        </p:spPr>
        <p:txBody>
          <a:bodyPr/>
          <a:lstStyle>
            <a:lvl1pPr>
              <a:buClr>
                <a:srgbClr val="4FE14F"/>
              </a:buClr>
              <a:defRPr sz="2000">
                <a:solidFill>
                  <a:schemeClr val="bg2"/>
                </a:solidFill>
              </a:defRPr>
            </a:lvl1pPr>
            <a:lvl2pPr>
              <a:buClr>
                <a:srgbClr val="4FE14F"/>
              </a:buClr>
              <a:defRPr sz="1800">
                <a:solidFill>
                  <a:schemeClr val="bg2"/>
                </a:solidFill>
              </a:defRPr>
            </a:lvl2pPr>
            <a:lvl3pPr>
              <a:buClr>
                <a:srgbClr val="4FE14F"/>
              </a:buClr>
              <a:defRPr sz="1600">
                <a:solidFill>
                  <a:schemeClr val="bg2"/>
                </a:solidFill>
              </a:defRPr>
            </a:lvl3pPr>
            <a:lvl4pPr>
              <a:buClr>
                <a:srgbClr val="4FE14F"/>
              </a:buClr>
              <a:defRPr sz="1400">
                <a:solidFill>
                  <a:schemeClr val="bg2"/>
                </a:solidFill>
              </a:defRPr>
            </a:lvl4pPr>
            <a:lvl5pPr>
              <a:buClr>
                <a:srgbClr val="4FE14F"/>
              </a:buClr>
              <a:defRPr sz="1400">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CL" dirty="0"/>
          </a:p>
        </p:txBody>
      </p:sp>
      <p:sp>
        <p:nvSpPr>
          <p:cNvPr id="14" name="Rectángulo 13">
            <a:extLst>
              <a:ext uri="{FF2B5EF4-FFF2-40B4-BE49-F238E27FC236}">
                <a16:creationId xmlns:a16="http://schemas.microsoft.com/office/drawing/2014/main" id="{62DAD14E-E9FA-47AF-B2E9-C158ABFB5C15}"/>
              </a:ext>
            </a:extLst>
          </p:cNvPr>
          <p:cNvSpPr/>
          <p:nvPr userDrawn="1"/>
        </p:nvSpPr>
        <p:spPr>
          <a:xfrm>
            <a:off x="0" y="5871947"/>
            <a:ext cx="12192000" cy="9860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5" name="Slide Number Placeholder 8">
            <a:extLst>
              <a:ext uri="{FF2B5EF4-FFF2-40B4-BE49-F238E27FC236}">
                <a16:creationId xmlns:a16="http://schemas.microsoft.com/office/drawing/2014/main" id="{0CA099D8-D6B6-4915-8CDB-E9A862E7E23A}"/>
              </a:ext>
            </a:extLst>
          </p:cNvPr>
          <p:cNvSpPr txBox="1">
            <a:spLocks/>
          </p:cNvSpPr>
          <p:nvPr userDrawn="1"/>
        </p:nvSpPr>
        <p:spPr>
          <a:xfrm>
            <a:off x="584489" y="6126160"/>
            <a:ext cx="2743200" cy="365125"/>
          </a:xfrm>
          <a:prstGeom prst="rect">
            <a:avLst/>
          </a:prstGeom>
        </p:spPr>
        <p:txBody>
          <a:bodyPr vert="horz" lIns="91440" tIns="45720" rIns="91440" bIns="45720" rtlCol="0" anchor="ctr"/>
          <a:lstStyle>
            <a:defPPr>
              <a:defRPr lang="es-CL"/>
            </a:defPPr>
            <a:lvl1pPr marL="0" algn="l" defTabSz="914400" rtl="0" eaLnBrk="1" latinLnBrk="0" hangingPunct="1">
              <a:defRPr sz="1200" b="1" kern="1200">
                <a:solidFill>
                  <a:schemeClr val="accent5">
                    <a:lumMod val="60000"/>
                    <a:lumOff val="4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L" sz="1400" b="1" i="0" dirty="0">
                <a:solidFill>
                  <a:schemeClr val="bg1">
                    <a:alpha val="30000"/>
                  </a:schemeClr>
                </a:solidFill>
                <a:latin typeface="Montserrat Medium" pitchFamily="2" charset="77"/>
              </a:rPr>
              <a:t>| </a:t>
            </a:r>
            <a:fld id="{C7BA4653-2D91-41CC-ADBC-D15E6666AE27}" type="slidenum">
              <a:rPr lang="es-CL" sz="1400" b="1" i="1" smtClean="0">
                <a:solidFill>
                  <a:schemeClr val="bg1">
                    <a:alpha val="30000"/>
                  </a:schemeClr>
                </a:solidFill>
                <a:latin typeface="Montserrat Medium" pitchFamily="2" charset="77"/>
              </a:rPr>
              <a:pPr/>
              <a:t>‹Nº›</a:t>
            </a:fld>
            <a:r>
              <a:rPr lang="es-CL" sz="1400" b="1" i="1" dirty="0">
                <a:solidFill>
                  <a:schemeClr val="bg1">
                    <a:alpha val="30000"/>
                  </a:schemeClr>
                </a:solidFill>
                <a:latin typeface="Montserrat Medium" pitchFamily="2" charset="77"/>
              </a:rPr>
              <a:t>.</a:t>
            </a:r>
          </a:p>
        </p:txBody>
      </p:sp>
      <p:pic>
        <p:nvPicPr>
          <p:cNvPr id="16" name="Graphic 29">
            <a:extLst>
              <a:ext uri="{FF2B5EF4-FFF2-40B4-BE49-F238E27FC236}">
                <a16:creationId xmlns:a16="http://schemas.microsoft.com/office/drawing/2014/main" id="{91A50FAF-074F-4A02-AC1A-FB72C089E57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07633" y="6111753"/>
            <a:ext cx="1030534" cy="450000"/>
          </a:xfrm>
          <a:prstGeom prst="rect">
            <a:avLst/>
          </a:prstGeom>
        </p:spPr>
      </p:pic>
      <p:pic>
        <p:nvPicPr>
          <p:cNvPr id="17" name="Graphic 31">
            <a:extLst>
              <a:ext uri="{FF2B5EF4-FFF2-40B4-BE49-F238E27FC236}">
                <a16:creationId xmlns:a16="http://schemas.microsoft.com/office/drawing/2014/main" id="{8EBB2846-20A9-47A2-A582-E80D30D814A7}"/>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1996" t="7405" r="20746" b="141"/>
          <a:stretch/>
        </p:blipFill>
        <p:spPr>
          <a:xfrm>
            <a:off x="10838526" y="6063832"/>
            <a:ext cx="694661" cy="489786"/>
          </a:xfrm>
          <a:prstGeom prst="rect">
            <a:avLst/>
          </a:prstGeom>
        </p:spPr>
      </p:pic>
      <p:pic>
        <p:nvPicPr>
          <p:cNvPr id="21" name="Graphic 33">
            <a:extLst>
              <a:ext uri="{FF2B5EF4-FFF2-40B4-BE49-F238E27FC236}">
                <a16:creationId xmlns:a16="http://schemas.microsoft.com/office/drawing/2014/main" id="{38B929A5-1999-4CBE-BAAB-CE100E05B36C}"/>
              </a:ext>
            </a:extLst>
          </p:cNvPr>
          <p:cNvPicPr>
            <a:picLocks noChangeAspect="1"/>
          </p:cNvPicPr>
          <p:nvPr userDrawn="1"/>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2181" t="4860" r="24217" b="33436"/>
          <a:stretch/>
        </p:blipFill>
        <p:spPr>
          <a:xfrm>
            <a:off x="9888229" y="6121740"/>
            <a:ext cx="700235" cy="351990"/>
          </a:xfrm>
          <a:prstGeom prst="rect">
            <a:avLst/>
          </a:prstGeom>
        </p:spPr>
      </p:pic>
    </p:spTree>
    <p:extLst>
      <p:ext uri="{BB962C8B-B14F-4D97-AF65-F5344CB8AC3E}">
        <p14:creationId xmlns:p14="http://schemas.microsoft.com/office/powerpoint/2010/main" val="280107397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lantilla">
    <p:bg>
      <p:bgPr>
        <a:solidFill>
          <a:schemeClr val="accent2"/>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E2C3653-6A18-49D3-9EB0-79518F426313}"/>
              </a:ext>
            </a:extLst>
          </p:cNvPr>
          <p:cNvSpPr/>
          <p:nvPr userDrawn="1"/>
        </p:nvSpPr>
        <p:spPr>
          <a:xfrm>
            <a:off x="0" y="5871947"/>
            <a:ext cx="12192000" cy="9860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21" name="TextBox 20">
            <a:extLst>
              <a:ext uri="{FF2B5EF4-FFF2-40B4-BE49-F238E27FC236}">
                <a16:creationId xmlns:a16="http://schemas.microsoft.com/office/drawing/2014/main" id="{670ECF23-4585-41D6-B7FD-341C704C84E8}"/>
              </a:ext>
            </a:extLst>
          </p:cNvPr>
          <p:cNvSpPr txBox="1"/>
          <p:nvPr userDrawn="1"/>
        </p:nvSpPr>
        <p:spPr>
          <a:xfrm>
            <a:off x="564016" y="6197933"/>
            <a:ext cx="3317593" cy="276999"/>
          </a:xfrm>
          <a:prstGeom prst="rect">
            <a:avLst/>
          </a:prstGeom>
          <a:noFill/>
        </p:spPr>
        <p:txBody>
          <a:bodyPr wrap="square">
            <a:spAutoFit/>
          </a:bodyPr>
          <a:lstStyle/>
          <a:p>
            <a:pPr algn="l" rtl="0"/>
            <a:r>
              <a:rPr lang="es-MX" sz="1200" b="1" i="0" spc="0" dirty="0">
                <a:solidFill>
                  <a:schemeClr val="accent3">
                    <a:lumMod val="40000"/>
                    <a:lumOff val="60000"/>
                  </a:schemeClr>
                </a:solidFill>
                <a:effectLst/>
              </a:rPr>
              <a:t>TOOLKITS DE TRABAJO</a:t>
            </a:r>
            <a:endParaRPr lang="es-MX" sz="1200" b="0" i="0" spc="0" dirty="0">
              <a:solidFill>
                <a:schemeClr val="accent3">
                  <a:lumMod val="40000"/>
                  <a:lumOff val="60000"/>
                </a:schemeClr>
              </a:solidFill>
              <a:effectLst/>
            </a:endParaRPr>
          </a:p>
        </p:txBody>
      </p:sp>
      <p:sp>
        <p:nvSpPr>
          <p:cNvPr id="22" name="TextBox 21">
            <a:extLst>
              <a:ext uri="{FF2B5EF4-FFF2-40B4-BE49-F238E27FC236}">
                <a16:creationId xmlns:a16="http://schemas.microsoft.com/office/drawing/2014/main" id="{348FC5C2-E586-44A7-8953-8137E1972CCD}"/>
              </a:ext>
            </a:extLst>
          </p:cNvPr>
          <p:cNvSpPr txBox="1"/>
          <p:nvPr userDrawn="1"/>
        </p:nvSpPr>
        <p:spPr>
          <a:xfrm>
            <a:off x="2778407" y="6197933"/>
            <a:ext cx="8754781" cy="276999"/>
          </a:xfrm>
          <a:prstGeom prst="rect">
            <a:avLst/>
          </a:prstGeom>
          <a:noFill/>
        </p:spPr>
        <p:txBody>
          <a:bodyPr wrap="square">
            <a:spAutoFit/>
          </a:bodyPr>
          <a:lstStyle/>
          <a:p>
            <a:pPr algn="l" rtl="0"/>
            <a:r>
              <a:rPr lang="es-MX" sz="1200" b="1" i="0" spc="0" dirty="0">
                <a:solidFill>
                  <a:schemeClr val="accent3">
                    <a:lumMod val="40000"/>
                    <a:lumOff val="60000"/>
                  </a:schemeClr>
                </a:solidFill>
                <a:effectLst/>
              </a:rPr>
              <a:t>Fuente: </a:t>
            </a:r>
            <a:r>
              <a:rPr lang="en-US" sz="1200" b="1" i="0" spc="0" dirty="0">
                <a:solidFill>
                  <a:schemeClr val="accent3">
                    <a:lumMod val="40000"/>
                    <a:lumOff val="60000"/>
                  </a:schemeClr>
                </a:solidFill>
                <a:effectLst/>
              </a:rPr>
              <a:t>Measure What Matters: How Google, Bono, and the Gates Foundation Rock the World With </a:t>
            </a:r>
            <a:r>
              <a:rPr lang="en-US" sz="1200" b="1" i="0" spc="0" dirty="0" err="1">
                <a:solidFill>
                  <a:schemeClr val="accent3">
                    <a:lumMod val="40000"/>
                    <a:lumOff val="60000"/>
                  </a:schemeClr>
                </a:solidFill>
                <a:effectLst/>
              </a:rPr>
              <a:t>Okrs</a:t>
            </a:r>
            <a:r>
              <a:rPr lang="en-US" sz="1200" b="1" i="0" spc="0" dirty="0">
                <a:solidFill>
                  <a:schemeClr val="accent3">
                    <a:lumMod val="40000"/>
                    <a:lumOff val="60000"/>
                  </a:schemeClr>
                </a:solidFill>
                <a:effectLst/>
              </a:rPr>
              <a:t> / John </a:t>
            </a:r>
            <a:r>
              <a:rPr lang="en-US" sz="1200" b="1" i="0" spc="0" dirty="0" err="1">
                <a:solidFill>
                  <a:schemeClr val="accent3">
                    <a:lumMod val="40000"/>
                    <a:lumOff val="60000"/>
                  </a:schemeClr>
                </a:solidFill>
                <a:effectLst/>
              </a:rPr>
              <a:t>Doerr</a:t>
            </a:r>
            <a:endParaRPr lang="es-MX" sz="1200" b="0" i="0" spc="0" dirty="0">
              <a:solidFill>
                <a:schemeClr val="accent3">
                  <a:lumMod val="40000"/>
                  <a:lumOff val="60000"/>
                </a:schemeClr>
              </a:solidFill>
              <a:effectLst/>
            </a:endParaRPr>
          </a:p>
        </p:txBody>
      </p:sp>
      <p:graphicFrame>
        <p:nvGraphicFramePr>
          <p:cNvPr id="23" name="Table 21">
            <a:extLst>
              <a:ext uri="{FF2B5EF4-FFF2-40B4-BE49-F238E27FC236}">
                <a16:creationId xmlns:a16="http://schemas.microsoft.com/office/drawing/2014/main" id="{7CEC3CCF-AB20-4B0D-938D-3664E0C89897}"/>
              </a:ext>
            </a:extLst>
          </p:cNvPr>
          <p:cNvGraphicFramePr>
            <a:graphicFrameLocks noGrp="1"/>
          </p:cNvGraphicFramePr>
          <p:nvPr userDrawn="1">
            <p:extLst>
              <p:ext uri="{D42A27DB-BD31-4B8C-83A1-F6EECF244321}">
                <p14:modId xmlns:p14="http://schemas.microsoft.com/office/powerpoint/2010/main" val="3875324988"/>
              </p:ext>
            </p:extLst>
          </p:nvPr>
        </p:nvGraphicFramePr>
        <p:xfrm>
          <a:off x="658812" y="1068107"/>
          <a:ext cx="10874375" cy="4500000"/>
        </p:xfrm>
        <a:graphic>
          <a:graphicData uri="http://schemas.openxmlformats.org/drawingml/2006/table">
            <a:tbl>
              <a:tblPr firstRow="1" bandRow="1">
                <a:tableStyleId>{5C22544A-7EE6-4342-B048-85BDC9FD1C3A}</a:tableStyleId>
              </a:tblPr>
              <a:tblGrid>
                <a:gridCol w="10874375">
                  <a:extLst>
                    <a:ext uri="{9D8B030D-6E8A-4147-A177-3AD203B41FA5}">
                      <a16:colId xmlns:a16="http://schemas.microsoft.com/office/drawing/2014/main" val="1137489172"/>
                    </a:ext>
                  </a:extLst>
                </a:gridCol>
              </a:tblGrid>
              <a:tr h="1500000">
                <a:tc>
                  <a:txBody>
                    <a:bodyPr/>
                    <a:lstStyle/>
                    <a:p>
                      <a:endParaRPr lang="es-CL" dirty="0"/>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283068438"/>
                  </a:ext>
                </a:extLst>
              </a:tr>
              <a:tr h="1500000">
                <a:tc>
                  <a:txBody>
                    <a:bodyPr/>
                    <a:lstStyle/>
                    <a:p>
                      <a:endParaRPr lang="es-CL" b="1" dirty="0"/>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768774723"/>
                  </a:ext>
                </a:extLst>
              </a:tr>
              <a:tr h="1500000">
                <a:tc>
                  <a:txBody>
                    <a:bodyPr/>
                    <a:lstStyle/>
                    <a:p>
                      <a:endParaRPr lang="es-CL" dirty="0"/>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400632564"/>
                  </a:ext>
                </a:extLst>
              </a:tr>
            </a:tbl>
          </a:graphicData>
        </a:graphic>
      </p:graphicFrame>
      <p:graphicFrame>
        <p:nvGraphicFramePr>
          <p:cNvPr id="24" name="Table 21">
            <a:extLst>
              <a:ext uri="{FF2B5EF4-FFF2-40B4-BE49-F238E27FC236}">
                <a16:creationId xmlns:a16="http://schemas.microsoft.com/office/drawing/2014/main" id="{0BED2BAC-8FF9-43F4-95D7-65B558773BD7}"/>
              </a:ext>
            </a:extLst>
          </p:cNvPr>
          <p:cNvGraphicFramePr>
            <a:graphicFrameLocks noGrp="1"/>
          </p:cNvGraphicFramePr>
          <p:nvPr userDrawn="1">
            <p:extLst>
              <p:ext uri="{D42A27DB-BD31-4B8C-83A1-F6EECF244321}">
                <p14:modId xmlns:p14="http://schemas.microsoft.com/office/powerpoint/2010/main" val="4128165980"/>
              </p:ext>
            </p:extLst>
          </p:nvPr>
        </p:nvGraphicFramePr>
        <p:xfrm>
          <a:off x="5711339" y="1277655"/>
          <a:ext cx="2700000" cy="1105470"/>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1060096848"/>
                    </a:ext>
                  </a:extLst>
                </a:gridCol>
              </a:tblGrid>
              <a:tr h="288000">
                <a:tc>
                  <a:txBody>
                    <a:bodyPr/>
                    <a:lstStyle/>
                    <a:p>
                      <a:pPr algn="ctr"/>
                      <a:r>
                        <a:rPr lang="es-CL" sz="1050" b="1" kern="1200" dirty="0">
                          <a:solidFill>
                            <a:schemeClr val="tx2"/>
                          </a:solidFill>
                          <a:latin typeface="+mj-lt"/>
                          <a:ea typeface="+mn-ea"/>
                          <a:cs typeface="+mn-cs"/>
                        </a:rPr>
                        <a:t>OBJETIVO</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44814713"/>
                  </a:ext>
                </a:extLst>
              </a:tr>
              <a:tr h="817470">
                <a:tc>
                  <a:txBody>
                    <a:bodyPr/>
                    <a:lstStyle/>
                    <a:p>
                      <a:endParaRPr lang="es-CL" dirty="0"/>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0767193"/>
                  </a:ext>
                </a:extLst>
              </a:tr>
            </a:tbl>
          </a:graphicData>
        </a:graphic>
      </p:graphicFrame>
      <p:graphicFrame>
        <p:nvGraphicFramePr>
          <p:cNvPr id="25" name="Table 24">
            <a:extLst>
              <a:ext uri="{FF2B5EF4-FFF2-40B4-BE49-F238E27FC236}">
                <a16:creationId xmlns:a16="http://schemas.microsoft.com/office/drawing/2014/main" id="{9FD42DEB-21D2-442B-9F8C-7507B3A9B19C}"/>
              </a:ext>
            </a:extLst>
          </p:cNvPr>
          <p:cNvGraphicFramePr>
            <a:graphicFrameLocks noGrp="1"/>
          </p:cNvGraphicFramePr>
          <p:nvPr userDrawn="1">
            <p:extLst>
              <p:ext uri="{D42A27DB-BD31-4B8C-83A1-F6EECF244321}">
                <p14:modId xmlns:p14="http://schemas.microsoft.com/office/powerpoint/2010/main" val="3008791481"/>
              </p:ext>
            </p:extLst>
          </p:nvPr>
        </p:nvGraphicFramePr>
        <p:xfrm>
          <a:off x="5711339" y="2776771"/>
          <a:ext cx="2699999" cy="1080000"/>
        </p:xfrm>
        <a:graphic>
          <a:graphicData uri="http://schemas.openxmlformats.org/drawingml/2006/table">
            <a:tbl>
              <a:tblPr firstRow="1" bandRow="1">
                <a:tableStyleId>{5C22544A-7EE6-4342-B048-85BDC9FD1C3A}</a:tableStyleId>
              </a:tblPr>
              <a:tblGrid>
                <a:gridCol w="2699999">
                  <a:extLst>
                    <a:ext uri="{9D8B030D-6E8A-4147-A177-3AD203B41FA5}">
                      <a16:colId xmlns:a16="http://schemas.microsoft.com/office/drawing/2014/main" val="1060096848"/>
                    </a:ext>
                  </a:extLst>
                </a:gridCol>
              </a:tblGrid>
              <a:tr h="262382">
                <a:tc>
                  <a:txBody>
                    <a:bodyPr/>
                    <a:lstStyle/>
                    <a:p>
                      <a:pPr algn="ctr"/>
                      <a:r>
                        <a:rPr lang="es-CL" sz="1050" b="1" kern="1200" dirty="0">
                          <a:solidFill>
                            <a:schemeClr val="tx2"/>
                          </a:solidFill>
                          <a:latin typeface="+mj-lt"/>
                          <a:ea typeface="+mn-ea"/>
                          <a:cs typeface="+mn-cs"/>
                        </a:rPr>
                        <a:t>RESULTADO CLAVE #2</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44814713"/>
                  </a:ext>
                </a:extLst>
              </a:tr>
              <a:tr h="817618">
                <a:tc>
                  <a:txBody>
                    <a:bodyPr/>
                    <a:lstStyle/>
                    <a:p>
                      <a:endParaRPr lang="es-CL" dirty="0"/>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0767193"/>
                  </a:ext>
                </a:extLst>
              </a:tr>
            </a:tbl>
          </a:graphicData>
        </a:graphic>
      </p:graphicFrame>
      <p:graphicFrame>
        <p:nvGraphicFramePr>
          <p:cNvPr id="26" name="Table 25">
            <a:extLst>
              <a:ext uri="{FF2B5EF4-FFF2-40B4-BE49-F238E27FC236}">
                <a16:creationId xmlns:a16="http://schemas.microsoft.com/office/drawing/2014/main" id="{50F58F4C-6130-4460-A4F1-9401F1F94254}"/>
              </a:ext>
            </a:extLst>
          </p:cNvPr>
          <p:cNvGraphicFramePr>
            <a:graphicFrameLocks noGrp="1"/>
          </p:cNvGraphicFramePr>
          <p:nvPr userDrawn="1">
            <p:extLst>
              <p:ext uri="{D42A27DB-BD31-4B8C-83A1-F6EECF244321}">
                <p14:modId xmlns:p14="http://schemas.microsoft.com/office/powerpoint/2010/main" val="1423309764"/>
              </p:ext>
            </p:extLst>
          </p:nvPr>
        </p:nvGraphicFramePr>
        <p:xfrm>
          <a:off x="2843882" y="2776771"/>
          <a:ext cx="2699999" cy="1080000"/>
        </p:xfrm>
        <a:graphic>
          <a:graphicData uri="http://schemas.openxmlformats.org/drawingml/2006/table">
            <a:tbl>
              <a:tblPr firstRow="1" bandRow="1">
                <a:tableStyleId>{5C22544A-7EE6-4342-B048-85BDC9FD1C3A}</a:tableStyleId>
              </a:tblPr>
              <a:tblGrid>
                <a:gridCol w="2699999">
                  <a:extLst>
                    <a:ext uri="{9D8B030D-6E8A-4147-A177-3AD203B41FA5}">
                      <a16:colId xmlns:a16="http://schemas.microsoft.com/office/drawing/2014/main" val="1060096848"/>
                    </a:ext>
                  </a:extLst>
                </a:gridCol>
              </a:tblGrid>
              <a:tr h="260929">
                <a:tc>
                  <a:txBody>
                    <a:bodyPr/>
                    <a:lstStyle/>
                    <a:p>
                      <a:pPr algn="ctr"/>
                      <a:r>
                        <a:rPr lang="es-CL" sz="1050" dirty="0">
                          <a:solidFill>
                            <a:schemeClr val="tx2"/>
                          </a:solidFill>
                          <a:latin typeface="+mj-lt"/>
                        </a:rPr>
                        <a:t>RESULTADO CLAVE #1</a:t>
                      </a:r>
                      <a:endParaRPr lang="es-CL" sz="1400" dirty="0">
                        <a:solidFill>
                          <a:schemeClr val="tx2"/>
                        </a:solidFill>
                        <a:latin typeface="+mj-lt"/>
                      </a:endParaRP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44814713"/>
                  </a:ext>
                </a:extLst>
              </a:tr>
              <a:tr h="819071">
                <a:tc>
                  <a:txBody>
                    <a:bodyPr/>
                    <a:lstStyle/>
                    <a:p>
                      <a:endParaRPr lang="es-CL" dirty="0"/>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0767193"/>
                  </a:ext>
                </a:extLst>
              </a:tr>
            </a:tbl>
          </a:graphicData>
        </a:graphic>
      </p:graphicFrame>
      <p:graphicFrame>
        <p:nvGraphicFramePr>
          <p:cNvPr id="27" name="Table 26">
            <a:extLst>
              <a:ext uri="{FF2B5EF4-FFF2-40B4-BE49-F238E27FC236}">
                <a16:creationId xmlns:a16="http://schemas.microsoft.com/office/drawing/2014/main" id="{064F0808-AF59-41BE-845A-DFE328B4301A}"/>
              </a:ext>
            </a:extLst>
          </p:cNvPr>
          <p:cNvGraphicFramePr>
            <a:graphicFrameLocks noGrp="1"/>
          </p:cNvGraphicFramePr>
          <p:nvPr userDrawn="1">
            <p:extLst>
              <p:ext uri="{D42A27DB-BD31-4B8C-83A1-F6EECF244321}">
                <p14:modId xmlns:p14="http://schemas.microsoft.com/office/powerpoint/2010/main" val="1015448895"/>
              </p:ext>
            </p:extLst>
          </p:nvPr>
        </p:nvGraphicFramePr>
        <p:xfrm>
          <a:off x="8580775" y="2776772"/>
          <a:ext cx="2698065" cy="1080000"/>
        </p:xfrm>
        <a:graphic>
          <a:graphicData uri="http://schemas.openxmlformats.org/drawingml/2006/table">
            <a:tbl>
              <a:tblPr firstRow="1" bandRow="1">
                <a:tableStyleId>{5C22544A-7EE6-4342-B048-85BDC9FD1C3A}</a:tableStyleId>
              </a:tblPr>
              <a:tblGrid>
                <a:gridCol w="2698065">
                  <a:extLst>
                    <a:ext uri="{9D8B030D-6E8A-4147-A177-3AD203B41FA5}">
                      <a16:colId xmlns:a16="http://schemas.microsoft.com/office/drawing/2014/main" val="1060096848"/>
                    </a:ext>
                  </a:extLst>
                </a:gridCol>
              </a:tblGrid>
              <a:tr h="260929">
                <a:tc>
                  <a:txBody>
                    <a:bodyPr/>
                    <a:lstStyle/>
                    <a:p>
                      <a:pPr algn="ctr"/>
                      <a:r>
                        <a:rPr lang="es-CL" sz="1050" b="1" kern="1200" dirty="0">
                          <a:solidFill>
                            <a:schemeClr val="tx2"/>
                          </a:solidFill>
                          <a:latin typeface="+mj-lt"/>
                          <a:ea typeface="+mn-ea"/>
                          <a:cs typeface="+mn-cs"/>
                        </a:rPr>
                        <a:t>RESULTADO CLAVE #3</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44814713"/>
                  </a:ext>
                </a:extLst>
              </a:tr>
              <a:tr h="819071">
                <a:tc>
                  <a:txBody>
                    <a:bodyPr/>
                    <a:lstStyle/>
                    <a:p>
                      <a:endParaRPr lang="es-CL" dirty="0"/>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0767193"/>
                  </a:ext>
                </a:extLst>
              </a:tr>
            </a:tbl>
          </a:graphicData>
        </a:graphic>
      </p:graphicFrame>
      <p:graphicFrame>
        <p:nvGraphicFramePr>
          <p:cNvPr id="28" name="Table 27">
            <a:extLst>
              <a:ext uri="{FF2B5EF4-FFF2-40B4-BE49-F238E27FC236}">
                <a16:creationId xmlns:a16="http://schemas.microsoft.com/office/drawing/2014/main" id="{11FD1F3B-7C67-43F6-842E-DB43D6C12766}"/>
              </a:ext>
            </a:extLst>
          </p:cNvPr>
          <p:cNvGraphicFramePr>
            <a:graphicFrameLocks noGrp="1"/>
          </p:cNvGraphicFramePr>
          <p:nvPr userDrawn="1">
            <p:extLst>
              <p:ext uri="{D42A27DB-BD31-4B8C-83A1-F6EECF244321}">
                <p14:modId xmlns:p14="http://schemas.microsoft.com/office/powerpoint/2010/main" val="2079954964"/>
              </p:ext>
            </p:extLst>
          </p:nvPr>
        </p:nvGraphicFramePr>
        <p:xfrm>
          <a:off x="2843883" y="4291305"/>
          <a:ext cx="2700000" cy="1073997"/>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1060096848"/>
                    </a:ext>
                  </a:extLst>
                </a:gridCol>
              </a:tblGrid>
              <a:tr h="252000">
                <a:tc>
                  <a:txBody>
                    <a:bodyPr/>
                    <a:lstStyle/>
                    <a:p>
                      <a:pPr algn="ctr"/>
                      <a:r>
                        <a:rPr lang="es-CL" sz="1050" b="1" kern="1200" dirty="0">
                          <a:solidFill>
                            <a:schemeClr val="tx2"/>
                          </a:solidFill>
                          <a:latin typeface="+mj-lt"/>
                          <a:ea typeface="+mn-ea"/>
                          <a:cs typeface="+mn-cs"/>
                        </a:rPr>
                        <a:t>INICIATIVAS</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44814713"/>
                  </a:ext>
                </a:extLst>
              </a:tr>
              <a:tr h="821997">
                <a:tc>
                  <a:txBody>
                    <a:bodyPr/>
                    <a:lstStyle/>
                    <a:p>
                      <a:endParaRPr lang="es-CL" dirty="0"/>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0767193"/>
                  </a:ext>
                </a:extLst>
              </a:tr>
            </a:tbl>
          </a:graphicData>
        </a:graphic>
      </p:graphicFrame>
      <p:grpSp>
        <p:nvGrpSpPr>
          <p:cNvPr id="29" name="Group 28">
            <a:extLst>
              <a:ext uri="{FF2B5EF4-FFF2-40B4-BE49-F238E27FC236}">
                <a16:creationId xmlns:a16="http://schemas.microsoft.com/office/drawing/2014/main" id="{EF4C0B8B-D2D2-44CC-A5ED-45D72F171163}"/>
              </a:ext>
            </a:extLst>
          </p:cNvPr>
          <p:cNvGrpSpPr/>
          <p:nvPr userDrawn="1"/>
        </p:nvGrpSpPr>
        <p:grpSpPr>
          <a:xfrm>
            <a:off x="901657" y="1613356"/>
            <a:ext cx="1518429" cy="463925"/>
            <a:chOff x="901657" y="1381862"/>
            <a:chExt cx="1518429" cy="463925"/>
          </a:xfrm>
        </p:grpSpPr>
        <p:pic>
          <p:nvPicPr>
            <p:cNvPr id="30" name="Graphic 29">
              <a:extLst>
                <a:ext uri="{FF2B5EF4-FFF2-40B4-BE49-F238E27FC236}">
                  <a16:creationId xmlns:a16="http://schemas.microsoft.com/office/drawing/2014/main" id="{9D976D56-2258-497F-9D65-7A3524EABD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1657" y="1381862"/>
              <a:ext cx="463925" cy="463925"/>
            </a:xfrm>
            <a:prstGeom prst="rect">
              <a:avLst/>
            </a:prstGeom>
          </p:spPr>
        </p:pic>
        <p:sp>
          <p:nvSpPr>
            <p:cNvPr id="31" name="TextBox 30">
              <a:extLst>
                <a:ext uri="{FF2B5EF4-FFF2-40B4-BE49-F238E27FC236}">
                  <a16:creationId xmlns:a16="http://schemas.microsoft.com/office/drawing/2014/main" id="{D666524C-F25C-42A1-9079-4C65B7F6C7C4}"/>
                </a:ext>
              </a:extLst>
            </p:cNvPr>
            <p:cNvSpPr txBox="1"/>
            <p:nvPr/>
          </p:nvSpPr>
          <p:spPr>
            <a:xfrm>
              <a:off x="1375975" y="1475324"/>
              <a:ext cx="1044111" cy="276999"/>
            </a:xfrm>
            <a:prstGeom prst="rect">
              <a:avLst/>
            </a:prstGeom>
            <a:noFill/>
          </p:spPr>
          <p:txBody>
            <a:bodyPr wrap="square" rtlCol="0">
              <a:spAutoFit/>
            </a:bodyPr>
            <a:lstStyle/>
            <a:p>
              <a:r>
                <a:rPr lang="es-CL" sz="1200" dirty="0">
                  <a:solidFill>
                    <a:schemeClr val="bg1"/>
                  </a:solidFill>
                  <a:latin typeface="+mj-lt"/>
                </a:rPr>
                <a:t>OBJETIVO</a:t>
              </a:r>
            </a:p>
          </p:txBody>
        </p:sp>
      </p:grpSp>
      <p:grpSp>
        <p:nvGrpSpPr>
          <p:cNvPr id="32" name="Group 31">
            <a:extLst>
              <a:ext uri="{FF2B5EF4-FFF2-40B4-BE49-F238E27FC236}">
                <a16:creationId xmlns:a16="http://schemas.microsoft.com/office/drawing/2014/main" id="{F093A918-CB37-46CC-8A30-F5AC46DA8BC5}"/>
              </a:ext>
            </a:extLst>
          </p:cNvPr>
          <p:cNvGrpSpPr/>
          <p:nvPr userDrawn="1"/>
        </p:nvGrpSpPr>
        <p:grpSpPr>
          <a:xfrm>
            <a:off x="838024" y="3106953"/>
            <a:ext cx="2082209" cy="512953"/>
            <a:chOff x="838024" y="2875459"/>
            <a:chExt cx="2082209" cy="512953"/>
          </a:xfrm>
        </p:grpSpPr>
        <p:pic>
          <p:nvPicPr>
            <p:cNvPr id="33" name="Graphic 32">
              <a:extLst>
                <a:ext uri="{FF2B5EF4-FFF2-40B4-BE49-F238E27FC236}">
                  <a16:creationId xmlns:a16="http://schemas.microsoft.com/office/drawing/2014/main" id="{B9D828DF-76DB-4336-876D-96AA90C3FE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024" y="2875459"/>
              <a:ext cx="512953" cy="512953"/>
            </a:xfrm>
            <a:prstGeom prst="rect">
              <a:avLst/>
            </a:prstGeom>
          </p:spPr>
        </p:pic>
        <p:sp>
          <p:nvSpPr>
            <p:cNvPr id="34" name="TextBox 33">
              <a:extLst>
                <a:ext uri="{FF2B5EF4-FFF2-40B4-BE49-F238E27FC236}">
                  <a16:creationId xmlns:a16="http://schemas.microsoft.com/office/drawing/2014/main" id="{FE3F49C5-EDDE-40C6-84CC-4BC6F29AC9BC}"/>
                </a:ext>
              </a:extLst>
            </p:cNvPr>
            <p:cNvSpPr txBox="1"/>
            <p:nvPr/>
          </p:nvSpPr>
          <p:spPr>
            <a:xfrm>
              <a:off x="1373202" y="2897292"/>
              <a:ext cx="1547031" cy="461665"/>
            </a:xfrm>
            <a:prstGeom prst="rect">
              <a:avLst/>
            </a:prstGeom>
            <a:noFill/>
          </p:spPr>
          <p:txBody>
            <a:bodyPr wrap="square" rtlCol="0">
              <a:spAutoFit/>
            </a:bodyPr>
            <a:lstStyle/>
            <a:p>
              <a:r>
                <a:rPr lang="es-CL" sz="1200" dirty="0">
                  <a:solidFill>
                    <a:schemeClr val="bg1"/>
                  </a:solidFill>
                  <a:latin typeface="+mj-lt"/>
                </a:rPr>
                <a:t>RESULTADOS CLAVE</a:t>
              </a:r>
            </a:p>
          </p:txBody>
        </p:sp>
      </p:grpSp>
      <p:grpSp>
        <p:nvGrpSpPr>
          <p:cNvPr id="35" name="Group 34">
            <a:extLst>
              <a:ext uri="{FF2B5EF4-FFF2-40B4-BE49-F238E27FC236}">
                <a16:creationId xmlns:a16="http://schemas.microsoft.com/office/drawing/2014/main" id="{D35C427F-EA5A-40BE-8545-22265481691D}"/>
              </a:ext>
            </a:extLst>
          </p:cNvPr>
          <p:cNvGrpSpPr/>
          <p:nvPr userDrawn="1"/>
        </p:nvGrpSpPr>
        <p:grpSpPr>
          <a:xfrm>
            <a:off x="824030" y="4577491"/>
            <a:ext cx="2247175" cy="512027"/>
            <a:chOff x="824030" y="4345997"/>
            <a:chExt cx="2247175" cy="512027"/>
          </a:xfrm>
        </p:grpSpPr>
        <p:pic>
          <p:nvPicPr>
            <p:cNvPr id="36" name="Graphic 35">
              <a:extLst>
                <a:ext uri="{FF2B5EF4-FFF2-40B4-BE49-F238E27FC236}">
                  <a16:creationId xmlns:a16="http://schemas.microsoft.com/office/drawing/2014/main" id="{EDA7935B-7270-47A3-9D80-08D9097405C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4030" y="4345997"/>
              <a:ext cx="512027" cy="512027"/>
            </a:xfrm>
            <a:prstGeom prst="rect">
              <a:avLst/>
            </a:prstGeom>
          </p:spPr>
        </p:pic>
        <p:sp>
          <p:nvSpPr>
            <p:cNvPr id="37" name="TextBox 36">
              <a:extLst>
                <a:ext uri="{FF2B5EF4-FFF2-40B4-BE49-F238E27FC236}">
                  <a16:creationId xmlns:a16="http://schemas.microsoft.com/office/drawing/2014/main" id="{02896744-C84F-4BB3-A1C0-D60842F60A1A}"/>
                </a:ext>
              </a:extLst>
            </p:cNvPr>
            <p:cNvSpPr txBox="1"/>
            <p:nvPr/>
          </p:nvSpPr>
          <p:spPr>
            <a:xfrm>
              <a:off x="1371774" y="4494377"/>
              <a:ext cx="1699431" cy="276999"/>
            </a:xfrm>
            <a:prstGeom prst="rect">
              <a:avLst/>
            </a:prstGeom>
            <a:noFill/>
          </p:spPr>
          <p:txBody>
            <a:bodyPr wrap="square" rtlCol="0">
              <a:spAutoFit/>
            </a:bodyPr>
            <a:lstStyle/>
            <a:p>
              <a:r>
                <a:rPr lang="es-CL" sz="1200" dirty="0">
                  <a:solidFill>
                    <a:schemeClr val="bg1"/>
                  </a:solidFill>
                  <a:latin typeface="+mj-lt"/>
                </a:rPr>
                <a:t>INICIATIVAS</a:t>
              </a:r>
            </a:p>
          </p:txBody>
        </p:sp>
      </p:grpSp>
      <p:graphicFrame>
        <p:nvGraphicFramePr>
          <p:cNvPr id="38" name="Table 37">
            <a:extLst>
              <a:ext uri="{FF2B5EF4-FFF2-40B4-BE49-F238E27FC236}">
                <a16:creationId xmlns:a16="http://schemas.microsoft.com/office/drawing/2014/main" id="{C593924A-7B10-4F99-8E74-407F36B6C8D2}"/>
              </a:ext>
            </a:extLst>
          </p:cNvPr>
          <p:cNvGraphicFramePr>
            <a:graphicFrameLocks noGrp="1"/>
          </p:cNvGraphicFramePr>
          <p:nvPr userDrawn="1">
            <p:extLst>
              <p:ext uri="{D42A27DB-BD31-4B8C-83A1-F6EECF244321}">
                <p14:modId xmlns:p14="http://schemas.microsoft.com/office/powerpoint/2010/main" val="3317406625"/>
              </p:ext>
            </p:extLst>
          </p:nvPr>
        </p:nvGraphicFramePr>
        <p:xfrm>
          <a:off x="5711362" y="4291305"/>
          <a:ext cx="2700000" cy="1073457"/>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1060096848"/>
                    </a:ext>
                  </a:extLst>
                </a:gridCol>
              </a:tblGrid>
              <a:tr h="216000">
                <a:tc>
                  <a:txBody>
                    <a:bodyPr/>
                    <a:lstStyle/>
                    <a:p>
                      <a:pPr algn="ctr"/>
                      <a:r>
                        <a:rPr lang="es-CL" sz="1050" b="1" kern="1200" dirty="0">
                          <a:solidFill>
                            <a:schemeClr val="tx2"/>
                          </a:solidFill>
                          <a:latin typeface="+mj-lt"/>
                          <a:ea typeface="+mn-ea"/>
                          <a:cs typeface="+mn-cs"/>
                        </a:rPr>
                        <a:t>INICIATIVAS</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44814713"/>
                  </a:ext>
                </a:extLst>
              </a:tr>
              <a:tr h="821997">
                <a:tc>
                  <a:txBody>
                    <a:bodyPr/>
                    <a:lstStyle/>
                    <a:p>
                      <a:endParaRPr lang="es-CL" dirty="0"/>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0767193"/>
                  </a:ext>
                </a:extLst>
              </a:tr>
            </a:tbl>
          </a:graphicData>
        </a:graphic>
      </p:graphicFrame>
      <p:graphicFrame>
        <p:nvGraphicFramePr>
          <p:cNvPr id="39" name="Table 38">
            <a:extLst>
              <a:ext uri="{FF2B5EF4-FFF2-40B4-BE49-F238E27FC236}">
                <a16:creationId xmlns:a16="http://schemas.microsoft.com/office/drawing/2014/main" id="{28BC036D-DC96-4514-97A7-E63C2ED61993}"/>
              </a:ext>
            </a:extLst>
          </p:cNvPr>
          <p:cNvGraphicFramePr>
            <a:graphicFrameLocks noGrp="1"/>
          </p:cNvGraphicFramePr>
          <p:nvPr userDrawn="1">
            <p:extLst>
              <p:ext uri="{D42A27DB-BD31-4B8C-83A1-F6EECF244321}">
                <p14:modId xmlns:p14="http://schemas.microsoft.com/office/powerpoint/2010/main" val="1877036757"/>
              </p:ext>
            </p:extLst>
          </p:nvPr>
        </p:nvGraphicFramePr>
        <p:xfrm>
          <a:off x="8578841" y="4287116"/>
          <a:ext cx="2700000" cy="1073457"/>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1060096848"/>
                    </a:ext>
                  </a:extLst>
                </a:gridCol>
              </a:tblGrid>
              <a:tr h="216000">
                <a:tc>
                  <a:txBody>
                    <a:bodyPr/>
                    <a:lstStyle/>
                    <a:p>
                      <a:pPr algn="ctr"/>
                      <a:r>
                        <a:rPr lang="es-CL" sz="1050" b="1" kern="1200" dirty="0">
                          <a:solidFill>
                            <a:schemeClr val="tx2"/>
                          </a:solidFill>
                          <a:latin typeface="+mj-lt"/>
                          <a:ea typeface="+mn-ea"/>
                          <a:cs typeface="+mn-cs"/>
                        </a:rPr>
                        <a:t>INICIATIVAS</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44814713"/>
                  </a:ext>
                </a:extLst>
              </a:tr>
              <a:tr h="821997">
                <a:tc>
                  <a:txBody>
                    <a:bodyPr/>
                    <a:lstStyle/>
                    <a:p>
                      <a:endParaRPr lang="es-CL" dirty="0"/>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0767193"/>
                  </a:ext>
                </a:extLst>
              </a:tr>
            </a:tbl>
          </a:graphicData>
        </a:graphic>
      </p:graphicFrame>
      <p:sp>
        <p:nvSpPr>
          <p:cNvPr id="53" name="TextBox 52">
            <a:extLst>
              <a:ext uri="{FF2B5EF4-FFF2-40B4-BE49-F238E27FC236}">
                <a16:creationId xmlns:a16="http://schemas.microsoft.com/office/drawing/2014/main" id="{89ACDDB4-3EFF-476E-BAD2-9EDDDD8895CF}"/>
              </a:ext>
            </a:extLst>
          </p:cNvPr>
          <p:cNvSpPr txBox="1"/>
          <p:nvPr userDrawn="1"/>
        </p:nvSpPr>
        <p:spPr>
          <a:xfrm>
            <a:off x="631291" y="346344"/>
            <a:ext cx="706226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1" i="0" u="none" strike="noStrike" kern="0" cap="none" spc="0" normalizeH="0" baseline="0" noProof="0" dirty="0">
                <a:ln>
                  <a:noFill/>
                </a:ln>
                <a:solidFill>
                  <a:srgbClr val="FFFFFF"/>
                </a:solidFill>
                <a:effectLst/>
                <a:uLnTx/>
                <a:uFillTx/>
                <a:latin typeface="Montserrat" pitchFamily="2" charset="77"/>
                <a:ea typeface="Roboto" panose="02000000000000000000" pitchFamily="2" charset="0"/>
                <a:cs typeface="Arial"/>
                <a:sym typeface="Arial"/>
              </a:rPr>
              <a:t>MÉTODO </a:t>
            </a:r>
            <a:r>
              <a:rPr kumimoji="0" lang="es-CL" sz="1800" b="1" i="0" u="none" strike="noStrike" kern="0" cap="none" spc="0" normalizeH="0" baseline="0" noProof="0" dirty="0">
                <a:ln>
                  <a:noFill/>
                </a:ln>
                <a:solidFill>
                  <a:schemeClr val="accent4"/>
                </a:solidFill>
                <a:effectLst/>
                <a:uLnTx/>
                <a:uFillTx/>
                <a:latin typeface="Montserrat" pitchFamily="2" charset="77"/>
                <a:ea typeface="Roboto" panose="02000000000000000000" pitchFamily="2" charset="0"/>
                <a:cs typeface="Arial"/>
                <a:sym typeface="Arial"/>
              </a:rPr>
              <a:t>OKR</a:t>
            </a:r>
            <a:r>
              <a:rPr kumimoji="0" lang="es-CL" sz="1800" b="1" i="0" u="none" strike="noStrike" kern="0" cap="none" spc="0" normalizeH="0" baseline="0" noProof="0" dirty="0">
                <a:ln>
                  <a:noFill/>
                </a:ln>
                <a:solidFill>
                  <a:schemeClr val="accent1"/>
                </a:solidFill>
                <a:effectLst/>
                <a:uLnTx/>
                <a:uFillTx/>
                <a:latin typeface="Montserrat" pitchFamily="2" charset="77"/>
                <a:ea typeface="Roboto" panose="02000000000000000000" pitchFamily="2" charset="0"/>
                <a:cs typeface="Arial"/>
                <a:sym typeface="Arial"/>
              </a:rPr>
              <a:t> </a:t>
            </a:r>
            <a:r>
              <a:rPr kumimoji="0" lang="es-CL" sz="1800" b="1" i="0" u="none" strike="noStrike" kern="0" cap="none" spc="0" normalizeH="0" baseline="0" noProof="0" dirty="0">
                <a:ln>
                  <a:noFill/>
                </a:ln>
                <a:solidFill>
                  <a:schemeClr val="bg1"/>
                </a:solidFill>
                <a:effectLst/>
                <a:uLnTx/>
                <a:uFillTx/>
                <a:latin typeface="Montserrat" pitchFamily="2" charset="77"/>
                <a:ea typeface="Roboto" panose="02000000000000000000" pitchFamily="2" charset="0"/>
                <a:cs typeface="Arial"/>
                <a:sym typeface="Arial"/>
              </a:rPr>
              <a:t>/</a:t>
            </a:r>
            <a:r>
              <a:rPr lang="es-CL" b="1" kern="0" dirty="0">
                <a:solidFill>
                  <a:schemeClr val="bg1"/>
                </a:solidFill>
                <a:latin typeface="Montserrat" pitchFamily="2" charset="77"/>
                <a:ea typeface="Roboto" panose="02000000000000000000" pitchFamily="2" charset="0"/>
                <a:cs typeface="Arial"/>
                <a:sym typeface="Arial"/>
              </a:rPr>
              <a:t> </a:t>
            </a:r>
            <a:r>
              <a:rPr kumimoji="0" lang="es-CL" sz="1800" b="1" i="0" u="none" strike="noStrike" kern="0" cap="none" spc="0" normalizeH="0" baseline="0" noProof="0" dirty="0">
                <a:ln>
                  <a:noFill/>
                </a:ln>
                <a:solidFill>
                  <a:schemeClr val="bg1"/>
                </a:solidFill>
                <a:effectLst/>
                <a:uLnTx/>
                <a:uFillTx/>
                <a:latin typeface="Montserrat" pitchFamily="2" charset="77"/>
                <a:ea typeface="Roboto" panose="02000000000000000000" pitchFamily="2" charset="0"/>
                <a:cs typeface="Arial"/>
                <a:sym typeface="Arial"/>
              </a:rPr>
              <a:t>Objetivos y Resultados Clave</a:t>
            </a:r>
          </a:p>
        </p:txBody>
      </p:sp>
      <p:cxnSp>
        <p:nvCxnSpPr>
          <p:cNvPr id="55" name="Straight Arrow Connector 54">
            <a:extLst>
              <a:ext uri="{FF2B5EF4-FFF2-40B4-BE49-F238E27FC236}">
                <a16:creationId xmlns:a16="http://schemas.microsoft.com/office/drawing/2014/main" id="{6B488A2F-D5D6-4B7F-8B84-79935F8886A2}"/>
              </a:ext>
            </a:extLst>
          </p:cNvPr>
          <p:cNvCxnSpPr>
            <a:cxnSpLocks/>
          </p:cNvCxnSpPr>
          <p:nvPr userDrawn="1"/>
        </p:nvCxnSpPr>
        <p:spPr>
          <a:xfrm flipV="1">
            <a:off x="4162425" y="3863341"/>
            <a:ext cx="0" cy="373379"/>
          </a:xfrm>
          <a:prstGeom prst="straightConnector1">
            <a:avLst/>
          </a:prstGeom>
          <a:ln w="349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988923B3-A0D4-4723-A3A5-DBC7F386E218}"/>
              </a:ext>
            </a:extLst>
          </p:cNvPr>
          <p:cNvCxnSpPr>
            <a:cxnSpLocks/>
          </p:cNvCxnSpPr>
          <p:nvPr userDrawn="1"/>
        </p:nvCxnSpPr>
        <p:spPr>
          <a:xfrm flipV="1">
            <a:off x="7073265" y="3863341"/>
            <a:ext cx="0" cy="373379"/>
          </a:xfrm>
          <a:prstGeom prst="straightConnector1">
            <a:avLst/>
          </a:prstGeom>
          <a:ln w="349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E22ABE55-1AB3-417F-A9B3-9F66CEBD233D}"/>
              </a:ext>
            </a:extLst>
          </p:cNvPr>
          <p:cNvCxnSpPr>
            <a:cxnSpLocks/>
          </p:cNvCxnSpPr>
          <p:nvPr userDrawn="1"/>
        </p:nvCxnSpPr>
        <p:spPr>
          <a:xfrm flipV="1">
            <a:off x="9930765" y="3863341"/>
            <a:ext cx="0" cy="373379"/>
          </a:xfrm>
          <a:prstGeom prst="straightConnector1">
            <a:avLst/>
          </a:prstGeom>
          <a:ln w="349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37F614C-7FE2-4508-ABAF-41C6BEC43CA2}"/>
              </a:ext>
            </a:extLst>
          </p:cNvPr>
          <p:cNvCxnSpPr>
            <a:cxnSpLocks/>
          </p:cNvCxnSpPr>
          <p:nvPr userDrawn="1"/>
        </p:nvCxnSpPr>
        <p:spPr>
          <a:xfrm flipV="1">
            <a:off x="7073265" y="2407922"/>
            <a:ext cx="0" cy="312418"/>
          </a:xfrm>
          <a:prstGeom prst="straightConnector1">
            <a:avLst/>
          </a:prstGeom>
          <a:ln w="349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FD1C7931-A871-4670-92E8-02C500051168}"/>
              </a:ext>
            </a:extLst>
          </p:cNvPr>
          <p:cNvCxnSpPr>
            <a:cxnSpLocks/>
          </p:cNvCxnSpPr>
          <p:nvPr userDrawn="1"/>
        </p:nvCxnSpPr>
        <p:spPr>
          <a:xfrm flipV="1">
            <a:off x="4130421" y="1906076"/>
            <a:ext cx="1534669" cy="791716"/>
          </a:xfrm>
          <a:prstGeom prst="bentConnector3">
            <a:avLst>
              <a:gd name="adj1" fmla="val 1217"/>
            </a:avLst>
          </a:prstGeom>
          <a:ln w="349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92836EBF-B995-4D91-B880-52F53136EB69}"/>
              </a:ext>
            </a:extLst>
          </p:cNvPr>
          <p:cNvCxnSpPr>
            <a:cxnSpLocks/>
          </p:cNvCxnSpPr>
          <p:nvPr userDrawn="1"/>
        </p:nvCxnSpPr>
        <p:spPr>
          <a:xfrm rot="10800000">
            <a:off x="8450580" y="1906076"/>
            <a:ext cx="1479226" cy="795404"/>
          </a:xfrm>
          <a:prstGeom prst="bentConnector3">
            <a:avLst>
              <a:gd name="adj1" fmla="val -1273"/>
            </a:avLst>
          </a:prstGeom>
          <a:ln w="349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795399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Gris-Titulo&amp;Texto">
    <p:bg>
      <p:bgPr>
        <a:solidFill>
          <a:schemeClr val="accent2"/>
        </a:solidFill>
        <a:effectLst/>
      </p:bgPr>
    </p:bg>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92B7D09E-6BAB-4F93-B728-A3202C5E201E}"/>
              </a:ext>
            </a:extLst>
          </p:cNvPr>
          <p:cNvSpPr>
            <a:spLocks noGrp="1"/>
          </p:cNvSpPr>
          <p:nvPr>
            <p:ph type="body" sz="quarter" idx="10" hasCustomPrompt="1"/>
          </p:nvPr>
        </p:nvSpPr>
        <p:spPr>
          <a:xfrm>
            <a:off x="658813" y="1200665"/>
            <a:ext cx="10874374" cy="3723701"/>
          </a:xfrm>
          <a:solidFill>
            <a:schemeClr val="accent4"/>
          </a:solidFill>
          <a:ln w="28575">
            <a:solidFill>
              <a:schemeClr val="bg1"/>
            </a:solidFill>
          </a:ln>
        </p:spPr>
        <p:txBody>
          <a:bodyPr lIns="720000" tIns="0" rIns="720000" bIns="360000" anchor="ctr">
            <a:noAutofit/>
          </a:bodyPr>
          <a:lstStyle>
            <a:lvl1pPr algn="ctr">
              <a:buFont typeface="Arial" panose="020B0604020202020204" pitchFamily="34" charset="0"/>
              <a:buNone/>
              <a:defRPr sz="4000">
                <a:solidFill>
                  <a:schemeClr val="tx2"/>
                </a:solidFill>
              </a:defRPr>
            </a:lvl1pPr>
            <a:lvl2pPr>
              <a:buFont typeface="Arial" panose="020B0604020202020204" pitchFamily="34" charset="0"/>
              <a:buNone/>
              <a:defRPr sz="1800">
                <a:solidFill>
                  <a:schemeClr val="accent6"/>
                </a:solidFill>
              </a:defRPr>
            </a:lvl2pPr>
            <a:lvl3pPr>
              <a:buFont typeface="Arial" panose="020B0604020202020204" pitchFamily="34" charset="0"/>
              <a:buNone/>
              <a:defRPr sz="1600">
                <a:solidFill>
                  <a:schemeClr val="accent6"/>
                </a:solidFill>
              </a:defRPr>
            </a:lvl3pPr>
            <a:lvl4pPr>
              <a:buFont typeface="Arial" panose="020B0604020202020204" pitchFamily="34" charset="0"/>
              <a:buNone/>
              <a:defRPr sz="1400">
                <a:solidFill>
                  <a:schemeClr val="accent6"/>
                </a:solidFill>
              </a:defRPr>
            </a:lvl4pPr>
            <a:lvl5pPr>
              <a:buFont typeface="Arial" panose="020B0604020202020204" pitchFamily="34" charset="0"/>
              <a:buNone/>
              <a:defRPr sz="1400">
                <a:solidFill>
                  <a:schemeClr val="accent6"/>
                </a:solidFill>
              </a:defRPr>
            </a:lvl5pPr>
          </a:lstStyle>
          <a:p>
            <a:pPr lvl="0"/>
            <a:r>
              <a:rPr lang="en-US" dirty="0"/>
              <a:t>Click to edit Master text styles</a:t>
            </a:r>
          </a:p>
        </p:txBody>
      </p:sp>
      <p:sp>
        <p:nvSpPr>
          <p:cNvPr id="11" name="Text Placeholder 12">
            <a:extLst>
              <a:ext uri="{FF2B5EF4-FFF2-40B4-BE49-F238E27FC236}">
                <a16:creationId xmlns:a16="http://schemas.microsoft.com/office/drawing/2014/main" id="{099368E4-5474-BA42-892B-A4FD3D249072}"/>
              </a:ext>
            </a:extLst>
          </p:cNvPr>
          <p:cNvSpPr>
            <a:spLocks noGrp="1"/>
          </p:cNvSpPr>
          <p:nvPr>
            <p:ph type="body" sz="quarter" idx="11" hasCustomPrompt="1"/>
          </p:nvPr>
        </p:nvSpPr>
        <p:spPr>
          <a:xfrm>
            <a:off x="8158390" y="4650554"/>
            <a:ext cx="1814234" cy="495108"/>
          </a:xfrm>
          <a:solidFill>
            <a:schemeClr val="accent3"/>
          </a:solidFill>
        </p:spPr>
        <p:txBody>
          <a:bodyPr wrap="none" lIns="180000" tIns="108000" rIns="180000" bIns="108000" anchor="ctr">
            <a:spAutoFit/>
          </a:bodyPr>
          <a:lstStyle>
            <a:lvl1pPr algn="r">
              <a:buFont typeface="Arial" panose="020B0604020202020204" pitchFamily="34" charset="0"/>
              <a:buNone/>
              <a:defRPr sz="2000" b="1">
                <a:solidFill>
                  <a:schemeClr val="accent4"/>
                </a:solidFill>
              </a:defRPr>
            </a:lvl1pPr>
            <a:lvl2pPr>
              <a:buFont typeface="Arial" panose="020B0604020202020204" pitchFamily="34" charset="0"/>
              <a:buNone/>
              <a:defRPr sz="1800">
                <a:solidFill>
                  <a:schemeClr val="accent6"/>
                </a:solidFill>
              </a:defRPr>
            </a:lvl2pPr>
            <a:lvl3pPr>
              <a:buFont typeface="Arial" panose="020B0604020202020204" pitchFamily="34" charset="0"/>
              <a:buNone/>
              <a:defRPr sz="1600">
                <a:solidFill>
                  <a:schemeClr val="accent6"/>
                </a:solidFill>
              </a:defRPr>
            </a:lvl3pPr>
            <a:lvl4pPr>
              <a:buFont typeface="Arial" panose="020B0604020202020204" pitchFamily="34" charset="0"/>
              <a:buNone/>
              <a:defRPr sz="1400">
                <a:solidFill>
                  <a:schemeClr val="accent6"/>
                </a:solidFill>
              </a:defRPr>
            </a:lvl4pPr>
            <a:lvl5pPr>
              <a:buFont typeface="Arial" panose="020B0604020202020204" pitchFamily="34" charset="0"/>
              <a:buNone/>
              <a:defRPr sz="1400">
                <a:solidFill>
                  <a:schemeClr val="accent6"/>
                </a:solidFill>
              </a:defRPr>
            </a:lvl5pPr>
          </a:lstStyle>
          <a:p>
            <a:pPr lvl="0"/>
            <a:r>
              <a:rPr lang="en-US" dirty="0"/>
              <a:t>Click to edit</a:t>
            </a:r>
          </a:p>
        </p:txBody>
      </p:sp>
      <p:sp>
        <p:nvSpPr>
          <p:cNvPr id="18" name="Rectángulo 17">
            <a:extLst>
              <a:ext uri="{FF2B5EF4-FFF2-40B4-BE49-F238E27FC236}">
                <a16:creationId xmlns:a16="http://schemas.microsoft.com/office/drawing/2014/main" id="{8AFA7FA1-EB90-4DD9-A092-20E06E601529}"/>
              </a:ext>
            </a:extLst>
          </p:cNvPr>
          <p:cNvSpPr/>
          <p:nvPr userDrawn="1"/>
        </p:nvSpPr>
        <p:spPr>
          <a:xfrm>
            <a:off x="0" y="5871947"/>
            <a:ext cx="12192000" cy="9860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9" name="Slide Number Placeholder 8">
            <a:extLst>
              <a:ext uri="{FF2B5EF4-FFF2-40B4-BE49-F238E27FC236}">
                <a16:creationId xmlns:a16="http://schemas.microsoft.com/office/drawing/2014/main" id="{067F8240-CE99-488C-98A3-C0E6CA13E33C}"/>
              </a:ext>
            </a:extLst>
          </p:cNvPr>
          <p:cNvSpPr txBox="1">
            <a:spLocks/>
          </p:cNvSpPr>
          <p:nvPr userDrawn="1"/>
        </p:nvSpPr>
        <p:spPr>
          <a:xfrm>
            <a:off x="584489" y="6126160"/>
            <a:ext cx="2743200" cy="365125"/>
          </a:xfrm>
          <a:prstGeom prst="rect">
            <a:avLst/>
          </a:prstGeom>
        </p:spPr>
        <p:txBody>
          <a:bodyPr vert="horz" lIns="91440" tIns="45720" rIns="91440" bIns="45720" rtlCol="0" anchor="ctr"/>
          <a:lstStyle>
            <a:defPPr>
              <a:defRPr lang="es-CL"/>
            </a:defPPr>
            <a:lvl1pPr marL="0" algn="l" defTabSz="914400" rtl="0" eaLnBrk="1" latinLnBrk="0" hangingPunct="1">
              <a:defRPr sz="1200" b="1" kern="1200">
                <a:solidFill>
                  <a:schemeClr val="accent5">
                    <a:lumMod val="60000"/>
                    <a:lumOff val="4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L" sz="1400" b="1" i="0" dirty="0">
                <a:solidFill>
                  <a:schemeClr val="bg1">
                    <a:alpha val="30000"/>
                  </a:schemeClr>
                </a:solidFill>
                <a:latin typeface="Montserrat Medium" pitchFamily="2" charset="77"/>
              </a:rPr>
              <a:t>| </a:t>
            </a:r>
            <a:fld id="{C7BA4653-2D91-41CC-ADBC-D15E6666AE27}" type="slidenum">
              <a:rPr lang="es-CL" sz="1400" b="1" i="1" smtClean="0">
                <a:solidFill>
                  <a:schemeClr val="bg1">
                    <a:alpha val="30000"/>
                  </a:schemeClr>
                </a:solidFill>
                <a:latin typeface="Montserrat Medium" pitchFamily="2" charset="77"/>
              </a:rPr>
              <a:pPr/>
              <a:t>‹Nº›</a:t>
            </a:fld>
            <a:r>
              <a:rPr lang="es-CL" sz="1400" b="1" i="1" dirty="0">
                <a:solidFill>
                  <a:schemeClr val="bg1">
                    <a:alpha val="30000"/>
                  </a:schemeClr>
                </a:solidFill>
                <a:latin typeface="Montserrat Medium" pitchFamily="2" charset="77"/>
              </a:rPr>
              <a:t>.</a:t>
            </a:r>
          </a:p>
        </p:txBody>
      </p:sp>
      <p:pic>
        <p:nvPicPr>
          <p:cNvPr id="21" name="Graphic 29">
            <a:extLst>
              <a:ext uri="{FF2B5EF4-FFF2-40B4-BE49-F238E27FC236}">
                <a16:creationId xmlns:a16="http://schemas.microsoft.com/office/drawing/2014/main" id="{5BAE2DFD-171D-424D-A098-B79D714415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07633" y="6111753"/>
            <a:ext cx="1030534" cy="450000"/>
          </a:xfrm>
          <a:prstGeom prst="rect">
            <a:avLst/>
          </a:prstGeom>
        </p:spPr>
      </p:pic>
      <p:pic>
        <p:nvPicPr>
          <p:cNvPr id="22" name="Graphic 31">
            <a:extLst>
              <a:ext uri="{FF2B5EF4-FFF2-40B4-BE49-F238E27FC236}">
                <a16:creationId xmlns:a16="http://schemas.microsoft.com/office/drawing/2014/main" id="{D2F82F16-6F50-4631-A228-ABEBC18B0430}"/>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1996" t="7405" r="20746" b="141"/>
          <a:stretch/>
        </p:blipFill>
        <p:spPr>
          <a:xfrm>
            <a:off x="10838526" y="6063832"/>
            <a:ext cx="694661" cy="489786"/>
          </a:xfrm>
          <a:prstGeom prst="rect">
            <a:avLst/>
          </a:prstGeom>
        </p:spPr>
      </p:pic>
      <p:pic>
        <p:nvPicPr>
          <p:cNvPr id="23" name="Graphic 33">
            <a:extLst>
              <a:ext uri="{FF2B5EF4-FFF2-40B4-BE49-F238E27FC236}">
                <a16:creationId xmlns:a16="http://schemas.microsoft.com/office/drawing/2014/main" id="{A4C65EE3-2A49-48F8-82C3-B8182A459F1A}"/>
              </a:ext>
            </a:extLst>
          </p:cNvPr>
          <p:cNvPicPr>
            <a:picLocks noChangeAspect="1"/>
          </p:cNvPicPr>
          <p:nvPr userDrawn="1"/>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2181" t="4860" r="24217" b="33436"/>
          <a:stretch/>
        </p:blipFill>
        <p:spPr>
          <a:xfrm>
            <a:off x="9888229" y="6121740"/>
            <a:ext cx="700235" cy="351990"/>
          </a:xfrm>
          <a:prstGeom prst="rect">
            <a:avLst/>
          </a:prstGeom>
        </p:spPr>
      </p:pic>
    </p:spTree>
    <p:extLst>
      <p:ext uri="{BB962C8B-B14F-4D97-AF65-F5344CB8AC3E}">
        <p14:creationId xmlns:p14="http://schemas.microsoft.com/office/powerpoint/2010/main" val="251857100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parador-Celeste">
    <p:bg>
      <p:bgPr>
        <a:solidFill>
          <a:schemeClr val="accent2"/>
        </a:solidFill>
        <a:effectLst/>
      </p:bgPr>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182C3BC2-F196-4014-BA9B-32C9C845F8D1}"/>
              </a:ext>
            </a:extLst>
          </p:cNvPr>
          <p:cNvSpPr>
            <a:spLocks noGrp="1"/>
          </p:cNvSpPr>
          <p:nvPr>
            <p:ph type="title" hasCustomPrompt="1"/>
          </p:nvPr>
        </p:nvSpPr>
        <p:spPr>
          <a:xfrm>
            <a:off x="842963" y="2219960"/>
            <a:ext cx="5253037" cy="2418080"/>
          </a:xfrm>
          <a:prstGeom prst="rect">
            <a:avLst/>
          </a:prstGeom>
        </p:spPr>
        <p:txBody>
          <a:bodyPr vert="horz" lIns="0" tIns="45720" rIns="91440" bIns="45720" rtlCol="0" anchor="ctr">
            <a:noAutofit/>
          </a:bodyPr>
          <a:lstStyle>
            <a:lvl1pPr>
              <a:defRPr sz="3200">
                <a:solidFill>
                  <a:schemeClr val="bg1"/>
                </a:solidFill>
              </a:defRPr>
            </a:lvl1pPr>
          </a:lstStyle>
          <a:p>
            <a:r>
              <a:rPr lang="en-US" dirty="0"/>
              <a:t>Click to edit Master title style</a:t>
            </a:r>
            <a:endParaRPr lang="es-419" dirty="0"/>
          </a:p>
        </p:txBody>
      </p:sp>
      <p:sp>
        <p:nvSpPr>
          <p:cNvPr id="20" name="Rectángulo 19">
            <a:extLst>
              <a:ext uri="{FF2B5EF4-FFF2-40B4-BE49-F238E27FC236}">
                <a16:creationId xmlns:a16="http://schemas.microsoft.com/office/drawing/2014/main" id="{724821F1-0F29-0649-89BF-2FD50EEEA5DE}"/>
              </a:ext>
            </a:extLst>
          </p:cNvPr>
          <p:cNvSpPr/>
          <p:nvPr userDrawn="1"/>
        </p:nvSpPr>
        <p:spPr>
          <a:xfrm>
            <a:off x="658813" y="2804160"/>
            <a:ext cx="65087" cy="12420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12" name="Slide Number Placeholder 8">
            <a:extLst>
              <a:ext uri="{FF2B5EF4-FFF2-40B4-BE49-F238E27FC236}">
                <a16:creationId xmlns:a16="http://schemas.microsoft.com/office/drawing/2014/main" id="{A4E85540-94FC-45BE-A24C-9ADCAD3BD813}"/>
              </a:ext>
            </a:extLst>
          </p:cNvPr>
          <p:cNvSpPr txBox="1">
            <a:spLocks/>
          </p:cNvSpPr>
          <p:nvPr userDrawn="1"/>
        </p:nvSpPr>
        <p:spPr>
          <a:xfrm>
            <a:off x="584489" y="6126160"/>
            <a:ext cx="2743200" cy="365125"/>
          </a:xfrm>
          <a:prstGeom prst="rect">
            <a:avLst/>
          </a:prstGeom>
        </p:spPr>
        <p:txBody>
          <a:bodyPr vert="horz" lIns="91440" tIns="45720" rIns="91440" bIns="45720" rtlCol="0" anchor="ctr"/>
          <a:lstStyle>
            <a:defPPr>
              <a:defRPr lang="es-CL"/>
            </a:defPPr>
            <a:lvl1pPr marL="0" algn="l" defTabSz="914400" rtl="0" eaLnBrk="1" latinLnBrk="0" hangingPunct="1">
              <a:defRPr sz="1200" b="1" kern="1200">
                <a:solidFill>
                  <a:schemeClr val="accent5">
                    <a:lumMod val="60000"/>
                    <a:lumOff val="4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L" sz="1400" b="1" i="0" dirty="0">
                <a:solidFill>
                  <a:schemeClr val="bg1">
                    <a:alpha val="60000"/>
                  </a:schemeClr>
                </a:solidFill>
                <a:latin typeface="Montserrat Medium" pitchFamily="2" charset="77"/>
              </a:rPr>
              <a:t>| </a:t>
            </a:r>
            <a:fld id="{C7BA4653-2D91-41CC-ADBC-D15E6666AE27}" type="slidenum">
              <a:rPr lang="es-CL" sz="1400" b="1" i="1" smtClean="0">
                <a:solidFill>
                  <a:schemeClr val="bg1">
                    <a:alpha val="60000"/>
                  </a:schemeClr>
                </a:solidFill>
                <a:latin typeface="Montserrat Medium" pitchFamily="2" charset="77"/>
              </a:rPr>
              <a:pPr/>
              <a:t>‹Nº›</a:t>
            </a:fld>
            <a:r>
              <a:rPr lang="es-CL" sz="1400" b="1" i="1" dirty="0">
                <a:solidFill>
                  <a:schemeClr val="bg1">
                    <a:alpha val="60000"/>
                  </a:schemeClr>
                </a:solidFill>
                <a:latin typeface="Montserrat Medium" pitchFamily="2" charset="77"/>
              </a:rPr>
              <a:t>.</a:t>
            </a:r>
          </a:p>
        </p:txBody>
      </p:sp>
      <p:pic>
        <p:nvPicPr>
          <p:cNvPr id="13" name="Graphic 29">
            <a:extLst>
              <a:ext uri="{FF2B5EF4-FFF2-40B4-BE49-F238E27FC236}">
                <a16:creationId xmlns:a16="http://schemas.microsoft.com/office/drawing/2014/main" id="{5A74384A-2282-4F94-A985-930044DD30E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50863" y="6047978"/>
            <a:ext cx="1030534" cy="450000"/>
          </a:xfrm>
          <a:prstGeom prst="rect">
            <a:avLst/>
          </a:prstGeom>
        </p:spPr>
      </p:pic>
      <p:pic>
        <p:nvPicPr>
          <p:cNvPr id="14" name="Graphic 31">
            <a:extLst>
              <a:ext uri="{FF2B5EF4-FFF2-40B4-BE49-F238E27FC236}">
                <a16:creationId xmlns:a16="http://schemas.microsoft.com/office/drawing/2014/main" id="{1F7762BE-9EC9-4722-9C5C-D308748F5D9C}"/>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1996" t="7405" r="20746" b="141"/>
          <a:stretch/>
        </p:blipFill>
        <p:spPr>
          <a:xfrm>
            <a:off x="3881756" y="6058138"/>
            <a:ext cx="694661" cy="489786"/>
          </a:xfrm>
          <a:prstGeom prst="rect">
            <a:avLst/>
          </a:prstGeom>
        </p:spPr>
      </p:pic>
      <p:pic>
        <p:nvPicPr>
          <p:cNvPr id="15" name="Graphic 33">
            <a:extLst>
              <a:ext uri="{FF2B5EF4-FFF2-40B4-BE49-F238E27FC236}">
                <a16:creationId xmlns:a16="http://schemas.microsoft.com/office/drawing/2014/main" id="{AF50422B-F53A-45C6-8693-EE52B739336E}"/>
              </a:ext>
            </a:extLst>
          </p:cNvPr>
          <p:cNvPicPr>
            <a:picLocks noChangeAspect="1"/>
          </p:cNvPicPr>
          <p:nvPr userDrawn="1"/>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2181" t="4860" r="24217" b="33436"/>
          <a:stretch/>
        </p:blipFill>
        <p:spPr>
          <a:xfrm>
            <a:off x="2931459" y="6074014"/>
            <a:ext cx="700235" cy="351990"/>
          </a:xfrm>
          <a:prstGeom prst="rect">
            <a:avLst/>
          </a:prstGeom>
        </p:spPr>
      </p:pic>
    </p:spTree>
    <p:extLst>
      <p:ext uri="{BB962C8B-B14F-4D97-AF65-F5344CB8AC3E}">
        <p14:creationId xmlns:p14="http://schemas.microsoft.com/office/powerpoint/2010/main" val="46210184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a">
    <p:spTree>
      <p:nvGrpSpPr>
        <p:cNvPr id="1" name=""/>
        <p:cNvGrpSpPr/>
        <p:nvPr/>
      </p:nvGrpSpPr>
      <p:grpSpPr>
        <a:xfrm>
          <a:off x="0" y="0"/>
          <a:ext cx="0" cy="0"/>
          <a:chOff x="0" y="0"/>
          <a:chExt cx="0" cy="0"/>
        </a:xfrm>
      </p:grpSpPr>
      <p:pic>
        <p:nvPicPr>
          <p:cNvPr id="8" name="Graphic 29">
            <a:extLst>
              <a:ext uri="{FF2B5EF4-FFF2-40B4-BE49-F238E27FC236}">
                <a16:creationId xmlns:a16="http://schemas.microsoft.com/office/drawing/2014/main" id="{F6BEBED4-56AE-49DD-BB42-D845BECA48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812" y="6041286"/>
            <a:ext cx="1030534" cy="450000"/>
          </a:xfrm>
          <a:prstGeom prst="rect">
            <a:avLst/>
          </a:prstGeom>
        </p:spPr>
      </p:pic>
      <p:pic>
        <p:nvPicPr>
          <p:cNvPr id="10" name="Graphic 31">
            <a:extLst>
              <a:ext uri="{FF2B5EF4-FFF2-40B4-BE49-F238E27FC236}">
                <a16:creationId xmlns:a16="http://schemas.microsoft.com/office/drawing/2014/main" id="{8A2CF8D9-2682-446E-88BC-B33F0F3B8D52}"/>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1996" t="7405" r="20746" b="141"/>
          <a:stretch/>
        </p:blipFill>
        <p:spPr>
          <a:xfrm>
            <a:off x="2889705" y="5993365"/>
            <a:ext cx="694661" cy="489786"/>
          </a:xfrm>
          <a:prstGeom prst="rect">
            <a:avLst/>
          </a:prstGeom>
        </p:spPr>
      </p:pic>
      <p:pic>
        <p:nvPicPr>
          <p:cNvPr id="12" name="Graphic 33">
            <a:extLst>
              <a:ext uri="{FF2B5EF4-FFF2-40B4-BE49-F238E27FC236}">
                <a16:creationId xmlns:a16="http://schemas.microsoft.com/office/drawing/2014/main" id="{A1722F87-15E4-4410-B9E1-8C5F16123DB8}"/>
              </a:ext>
            </a:extLst>
          </p:cNvPr>
          <p:cNvPicPr>
            <a:picLocks noChangeAspect="1"/>
          </p:cNvPicPr>
          <p:nvPr userDrawn="1"/>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2181" t="4860" r="24217" b="33436"/>
          <a:stretch/>
        </p:blipFill>
        <p:spPr>
          <a:xfrm>
            <a:off x="1939408" y="6051273"/>
            <a:ext cx="700235" cy="351990"/>
          </a:xfrm>
          <a:prstGeom prst="rect">
            <a:avLst/>
          </a:prstGeom>
        </p:spPr>
      </p:pic>
    </p:spTree>
    <p:extLst>
      <p:ext uri="{BB962C8B-B14F-4D97-AF65-F5344CB8AC3E}">
        <p14:creationId xmlns:p14="http://schemas.microsoft.com/office/powerpoint/2010/main" val="1956179996"/>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lanca">
    <p:bg>
      <p:bgPr>
        <a:solidFill>
          <a:schemeClr val="accent2"/>
        </a:solidFill>
        <a:effectLst/>
      </p:bgPr>
    </p:bg>
    <p:spTree>
      <p:nvGrpSpPr>
        <p:cNvPr id="1" name=""/>
        <p:cNvGrpSpPr/>
        <p:nvPr/>
      </p:nvGrpSpPr>
      <p:grpSpPr>
        <a:xfrm>
          <a:off x="0" y="0"/>
          <a:ext cx="0" cy="0"/>
          <a:chOff x="0" y="0"/>
          <a:chExt cx="0" cy="0"/>
        </a:xfrm>
      </p:grpSpPr>
      <p:pic>
        <p:nvPicPr>
          <p:cNvPr id="8" name="Graphic 29">
            <a:extLst>
              <a:ext uri="{FF2B5EF4-FFF2-40B4-BE49-F238E27FC236}">
                <a16:creationId xmlns:a16="http://schemas.microsoft.com/office/drawing/2014/main" id="{F0AF570A-C55F-4B3C-BF33-BFBB108866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812" y="6041286"/>
            <a:ext cx="1030534" cy="450000"/>
          </a:xfrm>
          <a:prstGeom prst="rect">
            <a:avLst/>
          </a:prstGeom>
        </p:spPr>
      </p:pic>
      <p:pic>
        <p:nvPicPr>
          <p:cNvPr id="9" name="Graphic 31">
            <a:extLst>
              <a:ext uri="{FF2B5EF4-FFF2-40B4-BE49-F238E27FC236}">
                <a16:creationId xmlns:a16="http://schemas.microsoft.com/office/drawing/2014/main" id="{A300A82B-0EAF-4DDD-91F6-5949023B471D}"/>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1996" t="7405" r="20746" b="141"/>
          <a:stretch/>
        </p:blipFill>
        <p:spPr>
          <a:xfrm>
            <a:off x="2889705" y="5993365"/>
            <a:ext cx="694661" cy="489786"/>
          </a:xfrm>
          <a:prstGeom prst="rect">
            <a:avLst/>
          </a:prstGeom>
        </p:spPr>
      </p:pic>
      <p:pic>
        <p:nvPicPr>
          <p:cNvPr id="11" name="Graphic 33">
            <a:extLst>
              <a:ext uri="{FF2B5EF4-FFF2-40B4-BE49-F238E27FC236}">
                <a16:creationId xmlns:a16="http://schemas.microsoft.com/office/drawing/2014/main" id="{62CC7596-BC21-443B-9ED5-ABCD850AD009}"/>
              </a:ext>
            </a:extLst>
          </p:cNvPr>
          <p:cNvPicPr>
            <a:picLocks noChangeAspect="1"/>
          </p:cNvPicPr>
          <p:nvPr userDrawn="1"/>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2181" t="4860" r="24217" b="33436"/>
          <a:stretch/>
        </p:blipFill>
        <p:spPr>
          <a:xfrm>
            <a:off x="1939408" y="6051273"/>
            <a:ext cx="700235" cy="351990"/>
          </a:xfrm>
          <a:prstGeom prst="rect">
            <a:avLst/>
          </a:prstGeom>
        </p:spPr>
      </p:pic>
    </p:spTree>
    <p:extLst>
      <p:ext uri="{BB962C8B-B14F-4D97-AF65-F5344CB8AC3E}">
        <p14:creationId xmlns:p14="http://schemas.microsoft.com/office/powerpoint/2010/main" val="239496008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B7D979E-E2DC-5401-C8B2-F2EBBD4BC3C9}"/>
              </a:ext>
            </a:extLst>
          </p:cNvPr>
          <p:cNvSpPr>
            <a:spLocks noGrp="1"/>
          </p:cNvSpPr>
          <p:nvPr>
            <p:ph type="dt" sz="half" idx="10"/>
          </p:nvPr>
        </p:nvSpPr>
        <p:spPr/>
        <p:txBody>
          <a:bodyPr/>
          <a:lstStyle/>
          <a:p>
            <a:fld id="{CAE1BE1C-0B1D-0E47-95AA-EBB3BD107CC0}" type="datetimeFigureOut">
              <a:rPr lang="es-CL" smtClean="0"/>
              <a:t>07-10-25</a:t>
            </a:fld>
            <a:endParaRPr lang="es-CL"/>
          </a:p>
        </p:txBody>
      </p:sp>
      <p:sp>
        <p:nvSpPr>
          <p:cNvPr id="3" name="Marcador de pie de página 2">
            <a:extLst>
              <a:ext uri="{FF2B5EF4-FFF2-40B4-BE49-F238E27FC236}">
                <a16:creationId xmlns:a16="http://schemas.microsoft.com/office/drawing/2014/main" id="{5B55940B-1AFE-66F5-2B9B-8DDF5392A66A}"/>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11EC3C22-2BBD-4BBC-4873-DC801CBF880D}"/>
              </a:ext>
            </a:extLst>
          </p:cNvPr>
          <p:cNvSpPr>
            <a:spLocks noGrp="1"/>
          </p:cNvSpPr>
          <p:nvPr>
            <p:ph type="sldNum" sz="quarter" idx="12"/>
          </p:nvPr>
        </p:nvSpPr>
        <p:spPr/>
        <p:txBody>
          <a:bodyPr/>
          <a:lstStyle/>
          <a:p>
            <a:fld id="{73386EB7-2BA3-3E46-8A5F-E1B5CF8315C4}" type="slidenum">
              <a:rPr lang="es-CL" smtClean="0"/>
              <a:t>‹Nº›</a:t>
            </a:fld>
            <a:endParaRPr lang="es-CL"/>
          </a:p>
        </p:txBody>
      </p:sp>
    </p:spTree>
    <p:extLst>
      <p:ext uri="{BB962C8B-B14F-4D97-AF65-F5344CB8AC3E}">
        <p14:creationId xmlns:p14="http://schemas.microsoft.com/office/powerpoint/2010/main" val="3532124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DE7763-DB3C-4376-85DB-77293E6F8E70}"/>
              </a:ext>
            </a:extLst>
          </p:cNvPr>
          <p:cNvSpPr>
            <a:spLocks noGrp="1"/>
          </p:cNvSpPr>
          <p:nvPr>
            <p:ph type="title"/>
          </p:nvPr>
        </p:nvSpPr>
        <p:spPr>
          <a:xfrm>
            <a:off x="658813" y="549276"/>
            <a:ext cx="10874374" cy="551938"/>
          </a:xfrm>
          <a:prstGeom prst="rect">
            <a:avLst/>
          </a:prstGeom>
        </p:spPr>
        <p:txBody>
          <a:bodyPr vert="horz" lIns="0" tIns="45720" rIns="91440" bIns="45720" rtlCol="0" anchor="ctr">
            <a:noAutofit/>
          </a:bodyPr>
          <a:lstStyle/>
          <a:p>
            <a:r>
              <a:rPr lang="en-US" dirty="0"/>
              <a:t>Click to edit Master title style</a:t>
            </a:r>
            <a:endParaRPr lang="es-419" dirty="0"/>
          </a:p>
        </p:txBody>
      </p:sp>
      <p:sp>
        <p:nvSpPr>
          <p:cNvPr id="3" name="Text Placeholder 2">
            <a:extLst>
              <a:ext uri="{FF2B5EF4-FFF2-40B4-BE49-F238E27FC236}">
                <a16:creationId xmlns:a16="http://schemas.microsoft.com/office/drawing/2014/main" id="{D75B1E56-127F-429D-AEC0-790C15AE4F2A}"/>
              </a:ext>
            </a:extLst>
          </p:cNvPr>
          <p:cNvSpPr>
            <a:spLocks noGrp="1"/>
          </p:cNvSpPr>
          <p:nvPr>
            <p:ph type="body" idx="1"/>
          </p:nvPr>
        </p:nvSpPr>
        <p:spPr>
          <a:xfrm>
            <a:off x="658812" y="1567007"/>
            <a:ext cx="10874375"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419" dirty="0"/>
          </a:p>
        </p:txBody>
      </p:sp>
    </p:spTree>
    <p:extLst>
      <p:ext uri="{BB962C8B-B14F-4D97-AF65-F5344CB8AC3E}">
        <p14:creationId xmlns:p14="http://schemas.microsoft.com/office/powerpoint/2010/main" val="1419034433"/>
      </p:ext>
    </p:extLst>
  </p:cSld>
  <p:clrMap bg1="lt1" tx1="dk1" bg2="lt2" tx2="dk2" accent1="accent1" accent2="accent2" accent3="accent3" accent4="accent4" accent5="accent5" accent6="accent6" hlink="hlink" folHlink="folHlink"/>
  <p:sldLayoutIdLst>
    <p:sldLayoutId id="2147483780" r:id="rId1"/>
    <p:sldLayoutId id="2147483777" r:id="rId2"/>
    <p:sldLayoutId id="2147483782" r:id="rId3"/>
    <p:sldLayoutId id="2147483779" r:id="rId4"/>
    <p:sldLayoutId id="2147483778" r:id="rId5"/>
    <p:sldLayoutId id="2147483776" r:id="rId6"/>
    <p:sldLayoutId id="2147483781" r:id="rId7"/>
    <p:sldLayoutId id="2147483783" r:id="rId8"/>
  </p:sldLayoutIdLst>
  <p:hf hdr="0" ftr="0" dt="0"/>
  <p:txStyles>
    <p:titleStyle>
      <a:lvl1pPr algn="l" defTabSz="914400" rtl="0" eaLnBrk="1" latinLnBrk="0" hangingPunct="1">
        <a:lnSpc>
          <a:spcPct val="90000"/>
        </a:lnSpc>
        <a:spcBef>
          <a:spcPct val="0"/>
        </a:spcBef>
        <a:buNone/>
        <a:defRPr sz="32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4"/>
        </a:buClr>
        <a:buFont typeface="Wingdings" pitchFamily="2" charset="2"/>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chemeClr val="accent4"/>
        </a:buClr>
        <a:buFont typeface="Wingdings"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4"/>
        </a:buClr>
        <a:buFont typeface="Wingdings"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4"/>
        </a:buClr>
        <a:buFont typeface="Wingdings"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415" userDrawn="1">
          <p15:clr>
            <a:srgbClr val="F26B43"/>
          </p15:clr>
        </p15:guide>
        <p15:guide id="3" pos="3840">
          <p15:clr>
            <a:srgbClr val="F26B43"/>
          </p15:clr>
        </p15:guide>
        <p15:guide id="4" orient="horz" pos="346">
          <p15:clr>
            <a:srgbClr val="F26B43"/>
          </p15:clr>
        </p15:guide>
        <p15:guide id="5" orient="horz" pos="3974">
          <p15:clr>
            <a:srgbClr val="F26B43"/>
          </p15:clr>
        </p15:guide>
        <p15:guide id="6" pos="726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hyperlink" Target="https://es.wikipedia.org/wiki/Ford_T" TargetMode="Externa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8.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8.xml"/><Relationship Id="rId5" Type="http://schemas.openxmlformats.org/officeDocument/2006/relationships/image" Target="../media/image44.png"/><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E30487-DF0D-4A5A-BC26-6EE8D3A6FC5F}"/>
              </a:ext>
            </a:extLst>
          </p:cNvPr>
          <p:cNvSpPr txBox="1"/>
          <p:nvPr/>
        </p:nvSpPr>
        <p:spPr>
          <a:xfrm>
            <a:off x="577336" y="2255508"/>
            <a:ext cx="5911953" cy="2062103"/>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buFontTx/>
              <a:buNone/>
              <a:tabLst/>
              <a:defRPr/>
            </a:pPr>
            <a:r>
              <a:rPr lang="es-CL" sz="3200" b="1" dirty="0">
                <a:solidFill>
                  <a:schemeClr val="accent3"/>
                </a:solidFill>
                <a:latin typeface="+mj-lt"/>
              </a:rPr>
              <a:t>Plan de crecimiento: </a:t>
            </a:r>
            <a:r>
              <a:rPr kumimoji="0" lang="es-CL" sz="3200" b="1" i="0" u="none" strike="noStrike" kern="1200" cap="none" spc="0" normalizeH="0" baseline="0" noProof="0" dirty="0">
                <a:ln>
                  <a:noFill/>
                </a:ln>
                <a:solidFill>
                  <a:schemeClr val="accent2"/>
                </a:solidFill>
                <a:effectLst/>
                <a:uLnTx/>
                <a:uFillTx/>
                <a:latin typeface="+mj-lt"/>
                <a:ea typeface="+mn-ea"/>
                <a:cs typeface="+mn-cs"/>
              </a:rPr>
              <a:t>Proyección de flujos de caja para estrategia del emprendimiento</a:t>
            </a:r>
            <a:endParaRPr kumimoji="0" lang="es-CL" sz="3200" b="1" i="0" u="none" strike="noStrike" kern="1200" cap="none" spc="0" normalizeH="0" baseline="0" noProof="0" dirty="0">
              <a:ln>
                <a:noFill/>
              </a:ln>
              <a:solidFill>
                <a:schemeClr val="accent5"/>
              </a:solidFill>
              <a:effectLst/>
              <a:uLnTx/>
              <a:uFillTx/>
              <a:latin typeface="+mj-lt"/>
              <a:ea typeface="+mn-ea"/>
              <a:cs typeface="+mn-cs"/>
            </a:endParaRPr>
          </a:p>
        </p:txBody>
      </p:sp>
      <p:sp>
        <p:nvSpPr>
          <p:cNvPr id="5" name="Rectangle 9">
            <a:extLst>
              <a:ext uri="{FF2B5EF4-FFF2-40B4-BE49-F238E27FC236}">
                <a16:creationId xmlns:a16="http://schemas.microsoft.com/office/drawing/2014/main" id="{07A765A8-E40B-4659-9B1B-C9A633A691CB}"/>
              </a:ext>
            </a:extLst>
          </p:cNvPr>
          <p:cNvSpPr/>
          <p:nvPr/>
        </p:nvSpPr>
        <p:spPr>
          <a:xfrm>
            <a:off x="658813" y="1682303"/>
            <a:ext cx="1821733" cy="3565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b="1" spc="300" dirty="0">
                <a:solidFill>
                  <a:schemeClr val="tx2"/>
                </a:solidFill>
                <a:latin typeface="+mj-lt"/>
              </a:rPr>
              <a:t>TOOLKIT </a:t>
            </a:r>
          </a:p>
        </p:txBody>
      </p:sp>
      <p:pic>
        <p:nvPicPr>
          <p:cNvPr id="6" name="Imagen 5">
            <a:extLst>
              <a:ext uri="{FF2B5EF4-FFF2-40B4-BE49-F238E27FC236}">
                <a16:creationId xmlns:a16="http://schemas.microsoft.com/office/drawing/2014/main" id="{8CD1BD63-F291-4B1F-913E-015DBD2F27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765176"/>
            <a:ext cx="5437186" cy="5437186"/>
          </a:xfrm>
          <a:prstGeom prst="rect">
            <a:avLst/>
          </a:prstGeom>
        </p:spPr>
      </p:pic>
    </p:spTree>
    <p:extLst>
      <p:ext uri="{BB962C8B-B14F-4D97-AF65-F5344CB8AC3E}">
        <p14:creationId xmlns:p14="http://schemas.microsoft.com/office/powerpoint/2010/main" val="4018451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D011E059-281F-4734-B470-B3FE779CF7A5}"/>
              </a:ext>
            </a:extLst>
          </p:cNvPr>
          <p:cNvSpPr>
            <a:spLocks noGrp="1"/>
          </p:cNvSpPr>
          <p:nvPr>
            <p:ph type="title"/>
          </p:nvPr>
        </p:nvSpPr>
        <p:spPr/>
        <p:txBody>
          <a:bodyPr/>
          <a:lstStyle/>
          <a:p>
            <a:r>
              <a:rPr lang="es-CL" sz="3600" b="1" dirty="0"/>
              <a:t>¿Por qué usamos </a:t>
            </a:r>
            <a:r>
              <a:rPr lang="es-CL" b="1" dirty="0">
                <a:solidFill>
                  <a:schemeClr val="accent2"/>
                </a:solidFill>
              </a:rPr>
              <a:t>un</a:t>
            </a:r>
            <a:r>
              <a:rPr lang="es-CL" sz="3600" b="1" dirty="0">
                <a:solidFill>
                  <a:schemeClr val="accent2"/>
                </a:solidFill>
              </a:rPr>
              <a:t> plan de crecimiento?</a:t>
            </a:r>
          </a:p>
        </p:txBody>
      </p:sp>
      <p:sp>
        <p:nvSpPr>
          <p:cNvPr id="5" name="Text Placeholder 9">
            <a:extLst>
              <a:ext uri="{FF2B5EF4-FFF2-40B4-BE49-F238E27FC236}">
                <a16:creationId xmlns:a16="http://schemas.microsoft.com/office/drawing/2014/main" id="{67337219-D772-4004-B332-A34724F61D3D}"/>
              </a:ext>
            </a:extLst>
          </p:cNvPr>
          <p:cNvSpPr>
            <a:spLocks noGrp="1"/>
          </p:cNvSpPr>
          <p:nvPr>
            <p:ph type="body" sz="quarter" idx="10"/>
          </p:nvPr>
        </p:nvSpPr>
        <p:spPr>
          <a:xfrm>
            <a:off x="658813" y="1375672"/>
            <a:ext cx="10874375" cy="1304909"/>
          </a:xfrm>
          <a:ln>
            <a:noFill/>
          </a:ln>
        </p:spPr>
        <p:txBody>
          <a:bodyPr/>
          <a:lstStyle/>
          <a:p>
            <a:pPr marL="0" indent="0">
              <a:lnSpc>
                <a:spcPct val="100000"/>
              </a:lnSpc>
              <a:buNone/>
            </a:pPr>
            <a:r>
              <a:rPr lang="es-ES" sz="1400" dirty="0"/>
              <a:t>Un plan de crecimiento es fundamental para guiar el desarrollo de un emprendimiento de manera ordenada y estratégica. Sirve como una hoja de ruta que permite al equipo enfocar sus esfuerzos en objetivos claros, identificar oportunidades de expansión, y prever los recursos necesarios para alcanzar las metas establecidas. Este plan no solo ayuda a mantener el negocio en curso, sino que también es esencial para atraer inversores y asegurar la viabilidad a largo plazo.</a:t>
            </a:r>
            <a:endParaRPr lang="es-CL" sz="1400" dirty="0"/>
          </a:p>
          <a:p>
            <a:pPr marL="0" indent="0">
              <a:lnSpc>
                <a:spcPct val="100000"/>
              </a:lnSpc>
              <a:buNone/>
            </a:pPr>
            <a:r>
              <a:rPr lang="es-CL" sz="1400" b="1" dirty="0">
                <a:solidFill>
                  <a:schemeClr val="accent2"/>
                </a:solidFill>
              </a:rPr>
              <a:t>Cuando desarrollamos un plan de crecimiento podemos:</a:t>
            </a:r>
          </a:p>
        </p:txBody>
      </p:sp>
      <p:sp>
        <p:nvSpPr>
          <p:cNvPr id="7" name="Rectángulo 6">
            <a:extLst>
              <a:ext uri="{FF2B5EF4-FFF2-40B4-BE49-F238E27FC236}">
                <a16:creationId xmlns:a16="http://schemas.microsoft.com/office/drawing/2014/main" id="{F18C001A-9053-432D-865D-E8D8A44583A1}"/>
              </a:ext>
            </a:extLst>
          </p:cNvPr>
          <p:cNvSpPr/>
          <p:nvPr/>
        </p:nvSpPr>
        <p:spPr>
          <a:xfrm>
            <a:off x="8075857" y="3592073"/>
            <a:ext cx="3457331" cy="19640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503998" rIns="251999" rtlCol="0" anchor="ctr"/>
          <a:lstStyle/>
          <a:p>
            <a:pPr algn="ctr"/>
            <a:r>
              <a:rPr lang="es-ES" sz="1200" b="1">
                <a:solidFill>
                  <a:schemeClr val="bg1"/>
                </a:solidFill>
              </a:rPr>
              <a:t>Facilitar </a:t>
            </a:r>
            <a:r>
              <a:rPr lang="es-ES" sz="1200" b="1" dirty="0">
                <a:solidFill>
                  <a:schemeClr val="bg1"/>
                </a:solidFill>
              </a:rPr>
              <a:t>la atracción de inversores</a:t>
            </a:r>
          </a:p>
          <a:p>
            <a:pPr algn="ctr"/>
            <a:r>
              <a:rPr lang="es-ES" sz="1200" dirty="0">
                <a:solidFill>
                  <a:schemeClr val="bg1"/>
                </a:solidFill>
              </a:rPr>
              <a:t>Un plan sólido demuestra la viabilidad del negocio y el potencial de crecimiento, lo que resulta atractivo para posibles inversores que buscan seguridad y rentabilidad.</a:t>
            </a:r>
            <a:endParaRPr lang="es-CL" sz="1200" dirty="0">
              <a:solidFill>
                <a:schemeClr val="bg1"/>
              </a:solidFill>
            </a:endParaRPr>
          </a:p>
        </p:txBody>
      </p:sp>
      <p:sp>
        <p:nvSpPr>
          <p:cNvPr id="8" name="Rectángulo 7">
            <a:extLst>
              <a:ext uri="{FF2B5EF4-FFF2-40B4-BE49-F238E27FC236}">
                <a16:creationId xmlns:a16="http://schemas.microsoft.com/office/drawing/2014/main" id="{03625A19-EC0A-41CA-9498-6E5BDAC3D7F7}"/>
              </a:ext>
            </a:extLst>
          </p:cNvPr>
          <p:cNvSpPr/>
          <p:nvPr/>
        </p:nvSpPr>
        <p:spPr>
          <a:xfrm>
            <a:off x="4367334" y="3592074"/>
            <a:ext cx="3457331" cy="19640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503998" rIns="251999" rtlCol="0" anchor="ctr"/>
          <a:lstStyle/>
          <a:p>
            <a:pPr algn="ctr"/>
            <a:r>
              <a:rPr lang="es-ES" sz="1200" b="1" dirty="0">
                <a:solidFill>
                  <a:schemeClr val="bg1"/>
                </a:solidFill>
              </a:rPr>
              <a:t>Prever necesidades de capital y recursos</a:t>
            </a:r>
          </a:p>
          <a:p>
            <a:pPr algn="ctr"/>
            <a:r>
              <a:rPr lang="es-ES" sz="1200" dirty="0">
                <a:solidFill>
                  <a:schemeClr val="bg1"/>
                </a:solidFill>
              </a:rPr>
              <a:t>Ayuda a identificar las inversiones necesarias y los recursos clave que se requieren para lograr el crecimiento deseado, facilitando la toma de decisiones informadas.</a:t>
            </a:r>
            <a:endParaRPr lang="es-CL" sz="1200" dirty="0">
              <a:solidFill>
                <a:schemeClr val="bg1"/>
              </a:solidFill>
            </a:endParaRPr>
          </a:p>
        </p:txBody>
      </p:sp>
      <p:sp>
        <p:nvSpPr>
          <p:cNvPr id="9" name="Rectángulo 8">
            <a:extLst>
              <a:ext uri="{FF2B5EF4-FFF2-40B4-BE49-F238E27FC236}">
                <a16:creationId xmlns:a16="http://schemas.microsoft.com/office/drawing/2014/main" id="{1F0A3094-FD8D-41FA-8051-FE7E48F018F2}"/>
              </a:ext>
            </a:extLst>
          </p:cNvPr>
          <p:cNvSpPr/>
          <p:nvPr/>
        </p:nvSpPr>
        <p:spPr>
          <a:xfrm>
            <a:off x="658381" y="3592073"/>
            <a:ext cx="3457331" cy="19640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503999" rIns="251999" rtlCol="0" anchor="ctr"/>
          <a:lstStyle/>
          <a:p>
            <a:pPr algn="ctr"/>
            <a:r>
              <a:rPr lang="es-ES" sz="1200" b="1" dirty="0">
                <a:solidFill>
                  <a:schemeClr val="bg1"/>
                </a:solidFill>
              </a:rPr>
              <a:t>Establecer metas claras y medibles</a:t>
            </a:r>
          </a:p>
          <a:p>
            <a:pPr algn="ctr"/>
            <a:r>
              <a:rPr lang="es-ES" sz="1200" dirty="0">
                <a:solidFill>
                  <a:schemeClr val="bg1"/>
                </a:solidFill>
              </a:rPr>
              <a:t>Un plan de crecimiento permite definir objetivos a corto, mediano y largo plazo, ayudando al equipo a mantenerse alineado y enfocado en el progreso del emprendimiento.</a:t>
            </a:r>
            <a:endParaRPr lang="es-CL" sz="1200" dirty="0">
              <a:solidFill>
                <a:schemeClr val="bg1"/>
              </a:solidFill>
            </a:endParaRPr>
          </a:p>
        </p:txBody>
      </p:sp>
      <p:sp>
        <p:nvSpPr>
          <p:cNvPr id="11" name="Oval 7">
            <a:extLst>
              <a:ext uri="{FF2B5EF4-FFF2-40B4-BE49-F238E27FC236}">
                <a16:creationId xmlns:a16="http://schemas.microsoft.com/office/drawing/2014/main" id="{F00CFA96-F778-4AC4-BF54-61E91566439E}"/>
              </a:ext>
            </a:extLst>
          </p:cNvPr>
          <p:cNvSpPr/>
          <p:nvPr/>
        </p:nvSpPr>
        <p:spPr>
          <a:xfrm>
            <a:off x="5497408" y="2946036"/>
            <a:ext cx="1196754" cy="1158670"/>
          </a:xfrm>
          <a:prstGeom prst="ellipse">
            <a:avLst/>
          </a:prstGeom>
          <a:solidFill>
            <a:schemeClr val="accent2"/>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12" name="Oval 7">
            <a:extLst>
              <a:ext uri="{FF2B5EF4-FFF2-40B4-BE49-F238E27FC236}">
                <a16:creationId xmlns:a16="http://schemas.microsoft.com/office/drawing/2014/main" id="{03A14E51-D2C6-401D-B955-87B671820B1F}"/>
              </a:ext>
            </a:extLst>
          </p:cNvPr>
          <p:cNvSpPr/>
          <p:nvPr/>
        </p:nvSpPr>
        <p:spPr>
          <a:xfrm>
            <a:off x="9206146" y="2946036"/>
            <a:ext cx="1196754" cy="1158670"/>
          </a:xfrm>
          <a:prstGeom prst="ellipse">
            <a:avLst/>
          </a:prstGeom>
          <a:solidFill>
            <a:schemeClr val="accent2"/>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6" name="Oval 7">
            <a:extLst>
              <a:ext uri="{FF2B5EF4-FFF2-40B4-BE49-F238E27FC236}">
                <a16:creationId xmlns:a16="http://schemas.microsoft.com/office/drawing/2014/main" id="{547DFE22-3040-415B-9B58-A38894076308}"/>
              </a:ext>
            </a:extLst>
          </p:cNvPr>
          <p:cNvSpPr/>
          <p:nvPr/>
        </p:nvSpPr>
        <p:spPr>
          <a:xfrm>
            <a:off x="1788670" y="2958016"/>
            <a:ext cx="1196754" cy="1158670"/>
          </a:xfrm>
          <a:prstGeom prst="ellipse">
            <a:avLst/>
          </a:prstGeom>
          <a:solidFill>
            <a:schemeClr val="accent2"/>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pic>
        <p:nvPicPr>
          <p:cNvPr id="3" name="Gráfico 2">
            <a:extLst>
              <a:ext uri="{FF2B5EF4-FFF2-40B4-BE49-F238E27FC236}">
                <a16:creationId xmlns:a16="http://schemas.microsoft.com/office/drawing/2014/main" id="{D1CBAAC6-543C-4B2A-A99D-9C3B0B054C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61820" y="3186198"/>
            <a:ext cx="640800" cy="640800"/>
          </a:xfrm>
          <a:prstGeom prst="rect">
            <a:avLst/>
          </a:prstGeom>
        </p:spPr>
      </p:pic>
      <p:pic>
        <p:nvPicPr>
          <p:cNvPr id="13" name="Gráfico 12">
            <a:extLst>
              <a:ext uri="{FF2B5EF4-FFF2-40B4-BE49-F238E27FC236}">
                <a16:creationId xmlns:a16="http://schemas.microsoft.com/office/drawing/2014/main" id="{59B4B47E-98C7-49AF-B133-C3E7AE98B1E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75385" y="3186471"/>
            <a:ext cx="640800" cy="640800"/>
          </a:xfrm>
          <a:prstGeom prst="rect">
            <a:avLst/>
          </a:prstGeom>
        </p:spPr>
      </p:pic>
      <p:pic>
        <p:nvPicPr>
          <p:cNvPr id="15" name="Gráfico 14">
            <a:extLst>
              <a:ext uri="{FF2B5EF4-FFF2-40B4-BE49-F238E27FC236}">
                <a16:creationId xmlns:a16="http://schemas.microsoft.com/office/drawing/2014/main" id="{A0E77DDB-E865-4E1F-A76C-F0C9EE10E1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484122" y="3170614"/>
            <a:ext cx="640800" cy="640800"/>
          </a:xfrm>
          <a:prstGeom prst="rect">
            <a:avLst/>
          </a:prstGeom>
        </p:spPr>
      </p:pic>
    </p:spTree>
    <p:extLst>
      <p:ext uri="{BB962C8B-B14F-4D97-AF65-F5344CB8AC3E}">
        <p14:creationId xmlns:p14="http://schemas.microsoft.com/office/powerpoint/2010/main" val="118665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DC6627FE-0180-4B4B-9E26-F139EE27CCE3}"/>
              </a:ext>
            </a:extLst>
          </p:cNvPr>
          <p:cNvSpPr>
            <a:spLocks noGrp="1"/>
          </p:cNvSpPr>
          <p:nvPr>
            <p:ph type="body" sz="quarter" idx="10"/>
          </p:nvPr>
        </p:nvSpPr>
        <p:spPr>
          <a:xfrm>
            <a:off x="658813" y="1871937"/>
            <a:ext cx="10874374" cy="2897446"/>
          </a:xfrm>
          <a:solidFill>
            <a:schemeClr val="accent3"/>
          </a:solidFill>
          <a:ln w="28575">
            <a:solidFill>
              <a:schemeClr val="bg1"/>
            </a:solidFill>
          </a:ln>
        </p:spPr>
        <p:txBody>
          <a:bodyPr lIns="1080000" tIns="0" rIns="1080000" anchor="ctr"/>
          <a:lstStyle/>
          <a:p>
            <a:pPr marL="0" indent="0" algn="l">
              <a:lnSpc>
                <a:spcPct val="100000"/>
              </a:lnSpc>
            </a:pPr>
            <a:r>
              <a:rPr lang="es-CL" sz="3200" b="1" dirty="0">
                <a:solidFill>
                  <a:schemeClr val="bg1"/>
                </a:solidFill>
                <a:latin typeface="Montserrat SemiBold" panose="00000700000000000000" pitchFamily="2" charset="0"/>
              </a:rPr>
              <a:t>No eres un boleto de lotería.</a:t>
            </a:r>
          </a:p>
        </p:txBody>
      </p:sp>
      <p:sp>
        <p:nvSpPr>
          <p:cNvPr id="8" name="Marcador de texto 7">
            <a:extLst>
              <a:ext uri="{FF2B5EF4-FFF2-40B4-BE49-F238E27FC236}">
                <a16:creationId xmlns:a16="http://schemas.microsoft.com/office/drawing/2014/main" id="{A813C126-C8D2-E446-A104-34CF82505A85}"/>
              </a:ext>
            </a:extLst>
          </p:cNvPr>
          <p:cNvSpPr>
            <a:spLocks noGrp="1"/>
          </p:cNvSpPr>
          <p:nvPr>
            <p:ph type="body" sz="quarter" idx="11"/>
          </p:nvPr>
        </p:nvSpPr>
        <p:spPr>
          <a:xfrm>
            <a:off x="7806249" y="4494129"/>
            <a:ext cx="2166376" cy="550508"/>
          </a:xfrm>
          <a:solidFill>
            <a:schemeClr val="accent4"/>
          </a:solidFill>
        </p:spPr>
        <p:txBody>
          <a:bodyPr rIns="216000"/>
          <a:lstStyle/>
          <a:p>
            <a:r>
              <a:rPr lang="es-CL" sz="2400" b="1" dirty="0">
                <a:solidFill>
                  <a:schemeClr val="tx2"/>
                </a:solidFill>
              </a:rPr>
              <a:t>| </a:t>
            </a:r>
            <a:r>
              <a:rPr lang="es-CL" sz="2400" dirty="0">
                <a:solidFill>
                  <a:schemeClr val="tx2"/>
                </a:solidFill>
              </a:rPr>
              <a:t>Peter Thiel</a:t>
            </a:r>
            <a:endParaRPr lang="es-CL" sz="2400" b="1" dirty="0">
              <a:solidFill>
                <a:schemeClr val="tx2"/>
              </a:solidFill>
            </a:endParaRPr>
          </a:p>
        </p:txBody>
      </p:sp>
      <p:sp>
        <p:nvSpPr>
          <p:cNvPr id="10" name="CuadroTexto 9">
            <a:extLst>
              <a:ext uri="{FF2B5EF4-FFF2-40B4-BE49-F238E27FC236}">
                <a16:creationId xmlns:a16="http://schemas.microsoft.com/office/drawing/2014/main" id="{9E6B20F1-7C43-324E-BEC4-96984924951D}"/>
              </a:ext>
            </a:extLst>
          </p:cNvPr>
          <p:cNvSpPr txBox="1"/>
          <p:nvPr/>
        </p:nvSpPr>
        <p:spPr>
          <a:xfrm>
            <a:off x="708397" y="257724"/>
            <a:ext cx="1371598" cy="2253001"/>
          </a:xfrm>
          <a:prstGeom prst="rect">
            <a:avLst/>
          </a:prstGeom>
          <a:noFill/>
        </p:spPr>
        <p:txBody>
          <a:bodyPr wrap="square" rtlCol="0">
            <a:noAutofit/>
          </a:bodyPr>
          <a:lstStyle/>
          <a:p>
            <a:r>
              <a:rPr lang="es-CL" sz="28700" dirty="0">
                <a:solidFill>
                  <a:schemeClr val="accent4"/>
                </a:solidFill>
              </a:rPr>
              <a:t>“</a:t>
            </a:r>
          </a:p>
        </p:txBody>
      </p:sp>
      <p:sp>
        <p:nvSpPr>
          <p:cNvPr id="11" name="CuadroTexto 10">
            <a:extLst>
              <a:ext uri="{FF2B5EF4-FFF2-40B4-BE49-F238E27FC236}">
                <a16:creationId xmlns:a16="http://schemas.microsoft.com/office/drawing/2014/main" id="{07FC3D3A-CF00-C340-AA29-AF7316D5773F}"/>
              </a:ext>
            </a:extLst>
          </p:cNvPr>
          <p:cNvSpPr txBox="1"/>
          <p:nvPr/>
        </p:nvSpPr>
        <p:spPr>
          <a:xfrm>
            <a:off x="10150853" y="3274017"/>
            <a:ext cx="1371598" cy="2336369"/>
          </a:xfrm>
          <a:prstGeom prst="rect">
            <a:avLst/>
          </a:prstGeom>
          <a:noFill/>
        </p:spPr>
        <p:txBody>
          <a:bodyPr wrap="square" rtlCol="0">
            <a:noAutofit/>
          </a:bodyPr>
          <a:lstStyle/>
          <a:p>
            <a:r>
              <a:rPr lang="es-CL" sz="28700" dirty="0">
                <a:solidFill>
                  <a:schemeClr val="accent4"/>
                </a:solidFill>
              </a:rPr>
              <a:t>”</a:t>
            </a:r>
          </a:p>
        </p:txBody>
      </p:sp>
    </p:spTree>
    <p:extLst>
      <p:ext uri="{BB962C8B-B14F-4D97-AF65-F5344CB8AC3E}">
        <p14:creationId xmlns:p14="http://schemas.microsoft.com/office/powerpoint/2010/main" val="1909127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42F6F-C2F7-4FD7-9691-D6ED4C781EFA}"/>
              </a:ext>
            </a:extLst>
          </p:cNvPr>
          <p:cNvSpPr>
            <a:spLocks noGrp="1"/>
          </p:cNvSpPr>
          <p:nvPr>
            <p:ph type="title"/>
          </p:nvPr>
        </p:nvSpPr>
        <p:spPr>
          <a:xfrm>
            <a:off x="658812" y="305776"/>
            <a:ext cx="10874375" cy="654123"/>
          </a:xfrm>
        </p:spPr>
        <p:txBody>
          <a:bodyPr/>
          <a:lstStyle/>
          <a:p>
            <a:pPr marR="0" lvl="0" algn="l" defTabSz="914400" rtl="0" eaLnBrk="1" fontAlgn="auto" latinLnBrk="0" hangingPunct="1">
              <a:lnSpc>
                <a:spcPct val="100000"/>
              </a:lnSpc>
              <a:spcBef>
                <a:spcPts val="0"/>
              </a:spcBef>
              <a:spcAft>
                <a:spcPts val="0"/>
              </a:spcAft>
              <a:buClrTx/>
              <a:buSzTx/>
              <a:buFontTx/>
              <a:buNone/>
              <a:tabLst/>
              <a:defRPr/>
            </a:pPr>
            <a:r>
              <a:rPr kumimoji="0" lang="es-CL" sz="2800" b="1" i="0" u="none" strike="noStrike" kern="1200" cap="none" spc="0" normalizeH="0" baseline="0" noProof="0" dirty="0">
                <a:ln>
                  <a:noFill/>
                </a:ln>
                <a:effectLst/>
                <a:uLnTx/>
                <a:uFillTx/>
                <a:latin typeface="+mj-lt"/>
                <a:ea typeface="+mn-ea"/>
                <a:cs typeface="+mn-cs"/>
              </a:rPr>
              <a:t>Plan de crecimiento: </a:t>
            </a:r>
            <a:r>
              <a:rPr lang="es-CL" sz="2800" b="1" dirty="0">
                <a:solidFill>
                  <a:schemeClr val="accent4"/>
                </a:solidFill>
                <a:ea typeface="+mn-ea"/>
                <a:cs typeface="+mn-cs"/>
              </a:rPr>
              <a:t>Flujos financieros y estrategia</a:t>
            </a:r>
            <a:endParaRPr kumimoji="0" lang="es-CL" sz="2800" b="1" i="0" u="none" strike="noStrike" kern="1200" cap="none" spc="0" normalizeH="0" baseline="0" noProof="0" dirty="0">
              <a:ln>
                <a:noFill/>
              </a:ln>
              <a:solidFill>
                <a:schemeClr val="accent4"/>
              </a:solidFill>
              <a:effectLst/>
              <a:uLnTx/>
              <a:uFillTx/>
              <a:latin typeface="+mj-lt"/>
              <a:ea typeface="+mn-ea"/>
              <a:cs typeface="+mn-cs"/>
            </a:endParaRPr>
          </a:p>
        </p:txBody>
      </p:sp>
      <p:sp>
        <p:nvSpPr>
          <p:cNvPr id="4" name="Marcador de texto 3">
            <a:extLst>
              <a:ext uri="{FF2B5EF4-FFF2-40B4-BE49-F238E27FC236}">
                <a16:creationId xmlns:a16="http://schemas.microsoft.com/office/drawing/2014/main" id="{09A32301-DD6C-5F40-AC05-4BE8406D92F3}"/>
              </a:ext>
            </a:extLst>
          </p:cNvPr>
          <p:cNvSpPr>
            <a:spLocks noGrp="1"/>
          </p:cNvSpPr>
          <p:nvPr>
            <p:ph type="body" sz="quarter" idx="10"/>
          </p:nvPr>
        </p:nvSpPr>
        <p:spPr>
          <a:xfrm>
            <a:off x="558395" y="800101"/>
            <a:ext cx="6283839" cy="5063670"/>
          </a:xfrm>
        </p:spPr>
        <p:txBody>
          <a:bodyPr anchor="ctr"/>
          <a:lstStyle/>
          <a:p>
            <a:pPr algn="just">
              <a:lnSpc>
                <a:spcPct val="100000"/>
              </a:lnSpc>
              <a:buClr>
                <a:schemeClr val="accent4"/>
              </a:buClr>
            </a:pPr>
            <a:r>
              <a:rPr lang="es-ES" sz="1400" dirty="0">
                <a:solidFill>
                  <a:schemeClr val="bg1"/>
                </a:solidFill>
              </a:rPr>
              <a:t>Un plan de crecimiento es una hoja de ruta estratégica que describe los pasos financieros y operacionales que una organización debe seguir para escalar de manera sostenible. Este tipo de planificación incluye la proyección de ingresos, la estructura de costos y las inversiones necesarias para sostener el crecimiento en un plazo determinado. Para que un plan de crecimiento sea efectivo, es esencial que contemple tanto los flujos financieros como los aspectos estratégicos que guiarán la toma de decisiones.</a:t>
            </a:r>
          </a:p>
          <a:p>
            <a:pPr algn="just">
              <a:lnSpc>
                <a:spcPct val="100000"/>
              </a:lnSpc>
              <a:buClr>
                <a:schemeClr val="accent4"/>
              </a:buClr>
            </a:pPr>
            <a:r>
              <a:rPr lang="es-ES" sz="1400" dirty="0">
                <a:solidFill>
                  <a:schemeClr val="bg1"/>
                </a:solidFill>
              </a:rPr>
              <a:t>El enfoque en flujos financieros es clave, porque permite a la organización proyectar su salud financiera, planear la necesidad de financiamiento externo, inversión en infraestructura, entre otros. Un mal manejo de estos flujos puede derivar en una falta de liquidez o en una expansión no sostenible.</a:t>
            </a:r>
            <a:endParaRPr lang="es-CL" sz="1400" dirty="0">
              <a:solidFill>
                <a:schemeClr val="bg1"/>
              </a:solidFill>
            </a:endParaRPr>
          </a:p>
          <a:p>
            <a:pPr algn="just">
              <a:lnSpc>
                <a:spcPct val="100000"/>
              </a:lnSpc>
              <a:buClr>
                <a:schemeClr val="accent4"/>
              </a:buClr>
            </a:pPr>
            <a:r>
              <a:rPr lang="es-ES" sz="1400" dirty="0">
                <a:solidFill>
                  <a:schemeClr val="bg1"/>
                </a:solidFill>
              </a:rPr>
              <a:t>Por otro lado, la estrategia busca alinear las decisiones financieras con los objetivos a largo plazo, asegurando que cada inversión y cada gasto aporte al crecimiento general. La estrategia actúa como el marco de referencia que permite a los equipos saber no solo cuánto gastar, sino también en qué y cuándo invertir. </a:t>
            </a:r>
            <a:endParaRPr lang="es-CL" sz="1400" dirty="0">
              <a:solidFill>
                <a:schemeClr val="bg1"/>
              </a:solidFill>
            </a:endParaRPr>
          </a:p>
        </p:txBody>
      </p:sp>
      <p:sp>
        <p:nvSpPr>
          <p:cNvPr id="6" name="Rectangle 12">
            <a:extLst>
              <a:ext uri="{FF2B5EF4-FFF2-40B4-BE49-F238E27FC236}">
                <a16:creationId xmlns:a16="http://schemas.microsoft.com/office/drawing/2014/main" id="{817D4483-4D83-64D1-11BE-2C3033CA118C}"/>
              </a:ext>
            </a:extLst>
          </p:cNvPr>
          <p:cNvSpPr/>
          <p:nvPr/>
        </p:nvSpPr>
        <p:spPr>
          <a:xfrm>
            <a:off x="7518400" y="2567201"/>
            <a:ext cx="4235610" cy="1403792"/>
          </a:xfrm>
          <a:prstGeom prst="rect">
            <a:avLst/>
          </a:prstGeom>
          <a:solidFill>
            <a:schemeClr val="accent3"/>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24000" rIns="720000" rtlCol="0" anchor="ctr"/>
          <a:lstStyle/>
          <a:p>
            <a:pPr>
              <a:tabLst>
                <a:tab pos="88900" algn="l"/>
              </a:tabLst>
            </a:pPr>
            <a:r>
              <a:rPr lang="es-ES" sz="1400" b="1" dirty="0">
                <a:solidFill>
                  <a:schemeClr val="bg1"/>
                </a:solidFill>
              </a:rPr>
              <a:t>Alinear las decisiones financieras con los objetivos estratégicos de la empresa, garantizando un crecimiento sostenible y estructurado.</a:t>
            </a:r>
            <a:endParaRPr lang="es-CL" sz="1400" b="1" dirty="0">
              <a:solidFill>
                <a:schemeClr val="bg1"/>
              </a:solidFill>
            </a:endParaRPr>
          </a:p>
        </p:txBody>
      </p:sp>
      <p:sp>
        <p:nvSpPr>
          <p:cNvPr id="8" name="Rectangle 6">
            <a:extLst>
              <a:ext uri="{FF2B5EF4-FFF2-40B4-BE49-F238E27FC236}">
                <a16:creationId xmlns:a16="http://schemas.microsoft.com/office/drawing/2014/main" id="{DEA1CA87-A8FD-AC82-CD78-13BFDA6E51F4}"/>
              </a:ext>
            </a:extLst>
          </p:cNvPr>
          <p:cNvSpPr/>
          <p:nvPr/>
        </p:nvSpPr>
        <p:spPr>
          <a:xfrm>
            <a:off x="7777615" y="2281726"/>
            <a:ext cx="1758913" cy="36774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a:r>
              <a:rPr lang="es-CL" sz="1400" b="1" spc="300" dirty="0">
                <a:solidFill>
                  <a:schemeClr val="tx2"/>
                </a:solidFill>
                <a:latin typeface="+mj-lt"/>
              </a:rPr>
              <a:t>OBJETIVO</a:t>
            </a:r>
          </a:p>
        </p:txBody>
      </p:sp>
      <p:pic>
        <p:nvPicPr>
          <p:cNvPr id="9" name="Gráfico 8">
            <a:extLst>
              <a:ext uri="{FF2B5EF4-FFF2-40B4-BE49-F238E27FC236}">
                <a16:creationId xmlns:a16="http://schemas.microsoft.com/office/drawing/2014/main" id="{04B5B77F-3A9E-F7AE-0D68-AE369C40E9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27538" y="3253193"/>
            <a:ext cx="540000" cy="540000"/>
          </a:xfrm>
          <a:prstGeom prst="rect">
            <a:avLst/>
          </a:prstGeom>
        </p:spPr>
      </p:pic>
      <p:sp>
        <p:nvSpPr>
          <p:cNvPr id="5" name="CuadroTexto 4">
            <a:extLst>
              <a:ext uri="{FF2B5EF4-FFF2-40B4-BE49-F238E27FC236}">
                <a16:creationId xmlns:a16="http://schemas.microsoft.com/office/drawing/2014/main" id="{8F9C948C-4935-4FAA-3D00-8A59C0148B2E}"/>
              </a:ext>
            </a:extLst>
          </p:cNvPr>
          <p:cNvSpPr txBox="1"/>
          <p:nvPr/>
        </p:nvSpPr>
        <p:spPr>
          <a:xfrm>
            <a:off x="1389062" y="6149246"/>
            <a:ext cx="7026275" cy="584775"/>
          </a:xfrm>
          <a:prstGeom prst="rect">
            <a:avLst/>
          </a:prstGeom>
          <a:noFill/>
        </p:spPr>
        <p:txBody>
          <a:bodyPr wrap="square">
            <a:spAutoFit/>
          </a:bodyPr>
          <a:lstStyle/>
          <a:p>
            <a:r>
              <a:rPr lang="en-US" sz="800" dirty="0">
                <a:solidFill>
                  <a:schemeClr val="bg1"/>
                </a:solidFill>
              </a:rPr>
              <a:t>Doerr, John. Measure What Matters: How Google, Bono, and the Gates Foundation Rock the World with OKRs. Portfolio, 2018.</a:t>
            </a:r>
          </a:p>
          <a:p>
            <a:r>
              <a:rPr lang="en-US" sz="800" dirty="0">
                <a:solidFill>
                  <a:schemeClr val="bg1"/>
                </a:solidFill>
              </a:rPr>
              <a:t>Blank, Steve, y Bob Dorf. The Startup Owner’s Manual: The Step-by-Step Guide for Building a Great Company. K&amp;S Ranch, 2012.</a:t>
            </a:r>
          </a:p>
          <a:p>
            <a:r>
              <a:rPr lang="en-US" sz="800" dirty="0">
                <a:solidFill>
                  <a:schemeClr val="bg1"/>
                </a:solidFill>
              </a:rPr>
              <a:t>Collins, Jim. Good to Great: Why Some Companies Make the Leap... and Others Don't. Harper Business, 2001.</a:t>
            </a:r>
          </a:p>
          <a:p>
            <a:r>
              <a:rPr lang="en-US" sz="800" dirty="0">
                <a:solidFill>
                  <a:schemeClr val="bg1"/>
                </a:solidFill>
              </a:rPr>
              <a:t>Gompers, Paul, y Josh Lerner. The Venture Capital Cycle. MIT Press, 1999.</a:t>
            </a:r>
            <a:endParaRPr lang="es-CL" sz="800" dirty="0">
              <a:solidFill>
                <a:schemeClr val="bg1"/>
              </a:solidFill>
            </a:endParaRPr>
          </a:p>
        </p:txBody>
      </p:sp>
    </p:spTree>
    <p:extLst>
      <p:ext uri="{BB962C8B-B14F-4D97-AF65-F5344CB8AC3E}">
        <p14:creationId xmlns:p14="http://schemas.microsoft.com/office/powerpoint/2010/main" val="3898731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093C6F-D54F-440A-9367-AA4BFA1B653C}"/>
              </a:ext>
            </a:extLst>
          </p:cNvPr>
          <p:cNvSpPr>
            <a:spLocks noGrp="1"/>
          </p:cNvSpPr>
          <p:nvPr>
            <p:ph type="title"/>
          </p:nvPr>
        </p:nvSpPr>
        <p:spPr>
          <a:xfrm>
            <a:off x="1051308" y="2219960"/>
            <a:ext cx="4333491" cy="2418080"/>
          </a:xfrm>
        </p:spPr>
        <p:txBody>
          <a:bodyPr/>
          <a:lstStyle/>
          <a:p>
            <a:r>
              <a:rPr lang="es-CL" b="1" dirty="0">
                <a:sym typeface="Helvetica Neue" charset="0"/>
              </a:rPr>
              <a:t>¿Cómo se divide la planilla de trabajo?</a:t>
            </a:r>
            <a:endParaRPr lang="es-CL" sz="3200" dirty="0"/>
          </a:p>
        </p:txBody>
      </p:sp>
      <p:pic>
        <p:nvPicPr>
          <p:cNvPr id="4" name="Imagen 3">
            <a:extLst>
              <a:ext uri="{FF2B5EF4-FFF2-40B4-BE49-F238E27FC236}">
                <a16:creationId xmlns:a16="http://schemas.microsoft.com/office/drawing/2014/main" id="{3F771F60-59A3-43CC-AC0E-43ECEEFF04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765175"/>
            <a:ext cx="5437188" cy="5437188"/>
          </a:xfrm>
          <a:prstGeom prst="rect">
            <a:avLst/>
          </a:prstGeom>
        </p:spPr>
      </p:pic>
    </p:spTree>
    <p:extLst>
      <p:ext uri="{BB962C8B-B14F-4D97-AF65-F5344CB8AC3E}">
        <p14:creationId xmlns:p14="http://schemas.microsoft.com/office/powerpoint/2010/main" val="2171660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42F6F-C2F7-4FD7-9691-D6ED4C781EFA}"/>
              </a:ext>
            </a:extLst>
          </p:cNvPr>
          <p:cNvSpPr>
            <a:spLocks noGrp="1"/>
          </p:cNvSpPr>
          <p:nvPr>
            <p:ph type="title"/>
          </p:nvPr>
        </p:nvSpPr>
        <p:spPr>
          <a:xfrm>
            <a:off x="658812" y="323271"/>
            <a:ext cx="10874375" cy="640603"/>
          </a:xfrm>
        </p:spPr>
        <p:txBody>
          <a:bodyPr/>
          <a:lstStyle/>
          <a:p>
            <a:pPr marR="0" lvl="0" algn="l" defTabSz="914400" rtl="0" eaLnBrk="1" fontAlgn="auto" latinLnBrk="0" hangingPunct="1">
              <a:lnSpc>
                <a:spcPct val="100000"/>
              </a:lnSpc>
              <a:spcBef>
                <a:spcPts val="0"/>
              </a:spcBef>
              <a:spcAft>
                <a:spcPts val="0"/>
              </a:spcAft>
              <a:buClrTx/>
              <a:buSzTx/>
              <a:buFontTx/>
              <a:buNone/>
              <a:tabLst/>
              <a:defRPr/>
            </a:pPr>
            <a:r>
              <a:rPr kumimoji="0" lang="es-CL" sz="2800" b="1" i="0" u="none" strike="noStrike" kern="1200" cap="none" spc="0" normalizeH="0" baseline="0" noProof="0" dirty="0">
                <a:ln>
                  <a:noFill/>
                </a:ln>
                <a:effectLst/>
                <a:uLnTx/>
                <a:uFillTx/>
                <a:latin typeface="+mj-lt"/>
                <a:ea typeface="+mn-ea"/>
                <a:cs typeface="+mn-cs"/>
              </a:rPr>
              <a:t>Herramientas</a:t>
            </a:r>
            <a:r>
              <a:rPr kumimoji="0" lang="es-CL" sz="2800" b="1" i="0" u="none" strike="noStrike" kern="1200" cap="none" spc="0" normalizeH="0" baseline="0" noProof="0" dirty="0">
                <a:ln>
                  <a:noFill/>
                </a:ln>
                <a:solidFill>
                  <a:schemeClr val="accent1"/>
                </a:solidFill>
                <a:effectLst/>
                <a:uLnTx/>
                <a:uFillTx/>
                <a:latin typeface="+mj-lt"/>
                <a:ea typeface="+mn-ea"/>
                <a:cs typeface="+mn-cs"/>
              </a:rPr>
              <a:t> </a:t>
            </a:r>
            <a:r>
              <a:rPr kumimoji="0" lang="es-CL" sz="2800" b="1" i="0" u="none" strike="noStrike" kern="1200" cap="none" spc="0" normalizeH="0" baseline="0" noProof="0" dirty="0">
                <a:ln>
                  <a:noFill/>
                </a:ln>
                <a:solidFill>
                  <a:schemeClr val="accent4"/>
                </a:solidFill>
                <a:effectLst/>
                <a:uLnTx/>
                <a:uFillTx/>
                <a:latin typeface="+mj-lt"/>
                <a:ea typeface="+mn-ea"/>
                <a:cs typeface="+mn-cs"/>
              </a:rPr>
              <a:t>Centrales</a:t>
            </a:r>
          </a:p>
        </p:txBody>
      </p:sp>
      <p:sp>
        <p:nvSpPr>
          <p:cNvPr id="4" name="Marcador de texto 3">
            <a:extLst>
              <a:ext uri="{FF2B5EF4-FFF2-40B4-BE49-F238E27FC236}">
                <a16:creationId xmlns:a16="http://schemas.microsoft.com/office/drawing/2014/main" id="{09A32301-DD6C-5F40-AC05-4BE8406D92F3}"/>
              </a:ext>
            </a:extLst>
          </p:cNvPr>
          <p:cNvSpPr>
            <a:spLocks noGrp="1"/>
          </p:cNvSpPr>
          <p:nvPr>
            <p:ph type="body" sz="quarter" idx="10"/>
          </p:nvPr>
        </p:nvSpPr>
        <p:spPr>
          <a:xfrm>
            <a:off x="658811" y="1094503"/>
            <a:ext cx="10874376" cy="1056748"/>
          </a:xfrm>
        </p:spPr>
        <p:txBody>
          <a:bodyPr anchor="ctr"/>
          <a:lstStyle/>
          <a:p>
            <a:pPr algn="just">
              <a:buClr>
                <a:schemeClr val="accent4"/>
              </a:buClr>
            </a:pPr>
            <a:r>
              <a:rPr lang="es-ES" sz="1200" dirty="0">
                <a:solidFill>
                  <a:schemeClr val="bg1"/>
                </a:solidFill>
              </a:rPr>
              <a:t>Para desarrollar estas proyecciones, utilizaremos dos herramientas clave. Para estimar los flujos financieros futuros, aplicaremos el flujo de caja, que nos permite visualizar y gestionar la liquidez del negocio a lo largo del tiempo.</a:t>
            </a:r>
          </a:p>
          <a:p>
            <a:pPr algn="just">
              <a:buClr>
                <a:schemeClr val="accent4"/>
              </a:buClr>
            </a:pPr>
            <a:r>
              <a:rPr lang="es-ES" sz="1200" dirty="0">
                <a:solidFill>
                  <a:schemeClr val="bg1"/>
                </a:solidFill>
              </a:rPr>
              <a:t>Por otro lado, para alinear esos flujos con los objetivos estratégicos de crecimiento, implementaremos la metodología de </a:t>
            </a:r>
            <a:r>
              <a:rPr lang="es-ES" sz="1200" dirty="0" err="1">
                <a:solidFill>
                  <a:schemeClr val="bg1"/>
                </a:solidFill>
              </a:rPr>
              <a:t>OKRs</a:t>
            </a:r>
            <a:r>
              <a:rPr lang="es-ES" sz="1200" dirty="0">
                <a:solidFill>
                  <a:schemeClr val="bg1"/>
                </a:solidFill>
              </a:rPr>
              <a:t>, que asegura que la proyección financiera esté vinculada a metas claras y medibles.</a:t>
            </a:r>
          </a:p>
          <a:p>
            <a:pPr algn="just">
              <a:buClr>
                <a:schemeClr val="accent4"/>
              </a:buClr>
            </a:pPr>
            <a:r>
              <a:rPr lang="es-ES" sz="1200" dirty="0">
                <a:solidFill>
                  <a:schemeClr val="bg1"/>
                </a:solidFill>
              </a:rPr>
              <a:t>En el curso, trabajaremos con una hoja de cálculo diseñada específicamente para este propósito, la cual tiene la siguiente estructura:</a:t>
            </a:r>
          </a:p>
        </p:txBody>
      </p:sp>
      <p:graphicFrame>
        <p:nvGraphicFramePr>
          <p:cNvPr id="6" name="Table 21">
            <a:extLst>
              <a:ext uri="{FF2B5EF4-FFF2-40B4-BE49-F238E27FC236}">
                <a16:creationId xmlns:a16="http://schemas.microsoft.com/office/drawing/2014/main" id="{3F0A12F3-012E-455E-A5DA-71E3D97949A0}"/>
              </a:ext>
            </a:extLst>
          </p:cNvPr>
          <p:cNvGraphicFramePr>
            <a:graphicFrameLocks noGrp="1"/>
          </p:cNvGraphicFramePr>
          <p:nvPr>
            <p:extLst>
              <p:ext uri="{D42A27DB-BD31-4B8C-83A1-F6EECF244321}">
                <p14:modId xmlns:p14="http://schemas.microsoft.com/office/powerpoint/2010/main" val="2644280509"/>
              </p:ext>
            </p:extLst>
          </p:nvPr>
        </p:nvGraphicFramePr>
        <p:xfrm>
          <a:off x="658813" y="2530934"/>
          <a:ext cx="10874375" cy="3091531"/>
        </p:xfrm>
        <a:graphic>
          <a:graphicData uri="http://schemas.openxmlformats.org/drawingml/2006/table">
            <a:tbl>
              <a:tblPr firstRow="1" bandRow="1">
                <a:tableStyleId>{5C22544A-7EE6-4342-B048-85BDC9FD1C3A}</a:tableStyleId>
              </a:tblPr>
              <a:tblGrid>
                <a:gridCol w="3633787">
                  <a:extLst>
                    <a:ext uri="{9D8B030D-6E8A-4147-A177-3AD203B41FA5}">
                      <a16:colId xmlns:a16="http://schemas.microsoft.com/office/drawing/2014/main" val="1060096848"/>
                    </a:ext>
                  </a:extLst>
                </a:gridCol>
                <a:gridCol w="7240588">
                  <a:extLst>
                    <a:ext uri="{9D8B030D-6E8A-4147-A177-3AD203B41FA5}">
                      <a16:colId xmlns:a16="http://schemas.microsoft.com/office/drawing/2014/main" val="3114497497"/>
                    </a:ext>
                  </a:extLst>
                </a:gridCol>
              </a:tblGrid>
              <a:tr h="413950">
                <a:tc>
                  <a:txBody>
                    <a:bodyPr/>
                    <a:lstStyle/>
                    <a:p>
                      <a:pPr algn="ctr"/>
                      <a:r>
                        <a:rPr lang="es-CL" sz="1400" b="1" kern="1200" dirty="0">
                          <a:solidFill>
                            <a:schemeClr val="bg1"/>
                          </a:solidFill>
                          <a:latin typeface="+mj-lt"/>
                          <a:ea typeface="+mn-ea"/>
                          <a:cs typeface="+mn-cs"/>
                        </a:rPr>
                        <a:t>Hoja</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s-CL" sz="1400" b="1" kern="1200" dirty="0">
                          <a:solidFill>
                            <a:schemeClr val="tx2"/>
                          </a:solidFill>
                          <a:latin typeface="+mj-lt"/>
                          <a:ea typeface="+mn-ea"/>
                          <a:cs typeface="+mn-cs"/>
                        </a:rPr>
                        <a:t>Contenido</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44814713"/>
                  </a:ext>
                </a:extLst>
              </a:tr>
              <a:tr h="455705">
                <a:tc>
                  <a:txBody>
                    <a:bodyPr/>
                    <a:lstStyle/>
                    <a:p>
                      <a:pPr algn="ctr"/>
                      <a:r>
                        <a:rPr lang="es-CL" sz="1200" b="0" dirty="0">
                          <a:solidFill>
                            <a:schemeClr val="bg1">
                              <a:lumMod val="95000"/>
                            </a:schemeClr>
                          </a:solidFill>
                          <a:latin typeface="+mj-lt"/>
                        </a:rPr>
                        <a:t>Mis primeros 9 meses (MVP + EXP)</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s-ES" sz="1100" b="0" dirty="0">
                          <a:solidFill>
                            <a:schemeClr val="bg1"/>
                          </a:solidFill>
                          <a:latin typeface="Montserrat" panose="00000500000000000000" pitchFamily="2" charset="0"/>
                        </a:rPr>
                        <a:t>En la hoja "Mis primeros 9 meses", deberán definir la estructura inicial de costos para avanzar en la validación técnica y comercial de su proyecto durante los primeros tres trimestres.</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40767193"/>
                  </a:ext>
                </a:extLst>
              </a:tr>
              <a:tr h="813758">
                <a:tc>
                  <a:txBody>
                    <a:bodyPr/>
                    <a:lstStyle/>
                    <a:p>
                      <a:pPr algn="ctr"/>
                      <a:r>
                        <a:rPr lang="es-CL" sz="1200" b="0" dirty="0">
                          <a:solidFill>
                            <a:schemeClr val="bg1">
                              <a:lumMod val="95000"/>
                            </a:schemeClr>
                          </a:solidFill>
                          <a:latin typeface="+mj-lt"/>
                        </a:rPr>
                        <a:t>Mi plan de crecimiento (PMF + Ajuste MN)</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s-ES" sz="1100" b="0" dirty="0">
                          <a:solidFill>
                            <a:schemeClr val="bg1"/>
                          </a:solidFill>
                          <a:latin typeface="Montserrat" panose="00000500000000000000" pitchFamily="2" charset="0"/>
                        </a:rPr>
                        <a:t>En la hoja "Mi plan de crecimiento", deben realizar una proyección detallada de ingresos, costos y gastos asociados con la ejecución del proyecto. Esta proyección debe considerar aspectos estratégicos y puntos clave para la toma de decisiones, como la captación de capital, siempre alineados con la visión del negocio.</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51479841"/>
                  </a:ext>
                </a:extLst>
              </a:tr>
              <a:tr h="477215">
                <a:tc>
                  <a:txBody>
                    <a:bodyPr/>
                    <a:lstStyle/>
                    <a:p>
                      <a:pPr algn="ctr"/>
                      <a:r>
                        <a:rPr lang="es-CL" sz="1200" b="0" dirty="0">
                          <a:solidFill>
                            <a:schemeClr val="bg1">
                              <a:lumMod val="95000"/>
                            </a:schemeClr>
                          </a:solidFill>
                          <a:latin typeface="+mj-lt"/>
                        </a:rPr>
                        <a:t>Mis </a:t>
                      </a:r>
                      <a:r>
                        <a:rPr lang="es-CL" sz="1200" b="0" dirty="0" err="1">
                          <a:solidFill>
                            <a:schemeClr val="bg1">
                              <a:lumMod val="95000"/>
                            </a:schemeClr>
                          </a:solidFill>
                          <a:latin typeface="+mj-lt"/>
                        </a:rPr>
                        <a:t>OKRs</a:t>
                      </a:r>
                      <a:endParaRPr lang="es-CL" sz="1200" b="0" dirty="0">
                        <a:solidFill>
                          <a:schemeClr val="bg1">
                            <a:lumMod val="95000"/>
                          </a:schemeClr>
                        </a:solidFill>
                        <a:latin typeface="+mj-lt"/>
                      </a:endParaRP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s-ES" sz="1100" b="0" dirty="0">
                          <a:solidFill>
                            <a:schemeClr val="bg1"/>
                          </a:solidFill>
                          <a:latin typeface="Montserrat" panose="00000500000000000000" pitchFamily="2" charset="0"/>
                        </a:rPr>
                        <a:t>La hoja "Mis </a:t>
                      </a:r>
                      <a:r>
                        <a:rPr lang="es-ES" sz="1100" b="0" dirty="0" err="1">
                          <a:solidFill>
                            <a:schemeClr val="bg1"/>
                          </a:solidFill>
                          <a:latin typeface="Montserrat" panose="00000500000000000000" pitchFamily="2" charset="0"/>
                        </a:rPr>
                        <a:t>OKRs</a:t>
                      </a:r>
                      <a:r>
                        <a:rPr lang="es-ES" sz="1100" b="0" dirty="0">
                          <a:solidFill>
                            <a:schemeClr val="bg1"/>
                          </a:solidFill>
                          <a:latin typeface="Montserrat" panose="00000500000000000000" pitchFamily="2" charset="0"/>
                        </a:rPr>
                        <a:t>" debe respaldar las decisiones estratégicas plasmadas en "Mi plan de crecimiento". Los </a:t>
                      </a:r>
                      <a:r>
                        <a:rPr lang="es-ES" sz="1100" b="0" dirty="0" err="1">
                          <a:solidFill>
                            <a:schemeClr val="bg1"/>
                          </a:solidFill>
                          <a:latin typeface="Montserrat" panose="00000500000000000000" pitchFamily="2" charset="0"/>
                        </a:rPr>
                        <a:t>OKRs</a:t>
                      </a:r>
                      <a:r>
                        <a:rPr lang="es-ES" sz="1100" b="0" dirty="0">
                          <a:solidFill>
                            <a:schemeClr val="bg1"/>
                          </a:solidFill>
                          <a:latin typeface="Montserrat" panose="00000500000000000000" pitchFamily="2" charset="0"/>
                        </a:rPr>
                        <a:t> definidos deben estar en sintonía con el plan de escalamiento del proyecto. </a:t>
                      </a:r>
                      <a:r>
                        <a:rPr lang="es-ES" sz="1100" b="1" i="1" dirty="0">
                          <a:solidFill>
                            <a:schemeClr val="bg1"/>
                          </a:solidFill>
                          <a:latin typeface="Montserrat" panose="00000500000000000000" pitchFamily="2" charset="0"/>
                        </a:rPr>
                        <a:t>Existe un </a:t>
                      </a:r>
                      <a:r>
                        <a:rPr lang="es-ES" sz="1100" b="1" i="1" dirty="0" err="1">
                          <a:solidFill>
                            <a:schemeClr val="bg1"/>
                          </a:solidFill>
                          <a:latin typeface="Montserrat" panose="00000500000000000000" pitchFamily="2" charset="0"/>
                        </a:rPr>
                        <a:t>Toolkit</a:t>
                      </a:r>
                      <a:r>
                        <a:rPr lang="es-ES" sz="1100" b="1" i="1" dirty="0">
                          <a:solidFill>
                            <a:schemeClr val="bg1"/>
                          </a:solidFill>
                          <a:latin typeface="Montserrat" panose="00000500000000000000" pitchFamily="2" charset="0"/>
                        </a:rPr>
                        <a:t> exclusivo para explicar la metodología de </a:t>
                      </a:r>
                      <a:r>
                        <a:rPr lang="es-ES" sz="1100" b="1" i="1" dirty="0" err="1">
                          <a:solidFill>
                            <a:schemeClr val="bg1"/>
                          </a:solidFill>
                          <a:latin typeface="Montserrat" panose="00000500000000000000" pitchFamily="2" charset="0"/>
                        </a:rPr>
                        <a:t>OKRs</a:t>
                      </a:r>
                      <a:r>
                        <a:rPr lang="es-ES" sz="1100" b="1" i="1" dirty="0">
                          <a:solidFill>
                            <a:schemeClr val="bg1"/>
                          </a:solidFill>
                          <a:latin typeface="Montserrat" panose="00000500000000000000" pitchFamily="2" charset="0"/>
                        </a:rPr>
                        <a:t>.</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953165125"/>
                  </a:ext>
                </a:extLst>
              </a:tr>
              <a:tr h="813758">
                <a:tc>
                  <a:txBody>
                    <a:bodyPr/>
                    <a:lstStyle/>
                    <a:p>
                      <a:pPr algn="ctr"/>
                      <a:r>
                        <a:rPr lang="es-CL" sz="1200" b="0" dirty="0" err="1">
                          <a:solidFill>
                            <a:schemeClr val="bg1">
                              <a:lumMod val="95000"/>
                            </a:schemeClr>
                          </a:solidFill>
                          <a:latin typeface="+mj-lt"/>
                        </a:rPr>
                        <a:t>Cap</a:t>
                      </a:r>
                      <a:r>
                        <a:rPr lang="es-CL" sz="1200" b="0" dirty="0">
                          <a:solidFill>
                            <a:schemeClr val="bg1">
                              <a:lumMod val="95000"/>
                            </a:schemeClr>
                          </a:solidFill>
                          <a:latin typeface="+mj-lt"/>
                        </a:rPr>
                        <a:t> Table</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s-CL" sz="1100" b="0" dirty="0">
                          <a:solidFill>
                            <a:schemeClr val="bg1"/>
                          </a:solidFill>
                          <a:latin typeface="Montserrat" panose="00000500000000000000" pitchFamily="2" charset="0"/>
                        </a:rPr>
                        <a:t>E</a:t>
                      </a:r>
                      <a:r>
                        <a:rPr lang="es-ES" sz="1100" b="0" dirty="0">
                          <a:solidFill>
                            <a:schemeClr val="bg1"/>
                          </a:solidFill>
                          <a:latin typeface="Montserrat" panose="00000500000000000000" pitchFamily="2" charset="0"/>
                        </a:rPr>
                        <a:t>n la hoja "</a:t>
                      </a:r>
                      <a:r>
                        <a:rPr lang="es-ES" sz="1100" b="0" dirty="0" err="1">
                          <a:solidFill>
                            <a:schemeClr val="bg1"/>
                          </a:solidFill>
                          <a:latin typeface="Montserrat" panose="00000500000000000000" pitchFamily="2" charset="0"/>
                        </a:rPr>
                        <a:t>Cap</a:t>
                      </a:r>
                      <a:r>
                        <a:rPr lang="es-ES" sz="1100" b="0" dirty="0">
                          <a:solidFill>
                            <a:schemeClr val="bg1"/>
                          </a:solidFill>
                          <a:latin typeface="Montserrat" panose="00000500000000000000" pitchFamily="2" charset="0"/>
                        </a:rPr>
                        <a:t> Table" encontrarán una tabla que muestra la estructura de propiedad de la empresa, incluyendo el número de acciones en circulación, los propietarios (inversores, fundadores, empleados, etc.), y el porcentaje de propiedad de cada uno. Esta tabla es crucial para comprender la dilución de acciones, la participación de los accionistas y la valoración de la empresa.</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97340290"/>
                  </a:ext>
                </a:extLst>
              </a:tr>
            </a:tbl>
          </a:graphicData>
        </a:graphic>
      </p:graphicFrame>
    </p:spTree>
    <p:extLst>
      <p:ext uri="{BB962C8B-B14F-4D97-AF65-F5344CB8AC3E}">
        <p14:creationId xmlns:p14="http://schemas.microsoft.com/office/powerpoint/2010/main" val="2892520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Marcador de contenido 2">
            <a:extLst>
              <a:ext uri="{FF2B5EF4-FFF2-40B4-BE49-F238E27FC236}">
                <a16:creationId xmlns:a16="http://schemas.microsoft.com/office/drawing/2014/main" id="{BC0DD9CC-29DE-5DB4-F03C-E8A5223895F0}"/>
              </a:ext>
            </a:extLst>
          </p:cNvPr>
          <p:cNvSpPr txBox="1">
            <a:spLocks/>
          </p:cNvSpPr>
          <p:nvPr/>
        </p:nvSpPr>
        <p:spPr>
          <a:xfrm>
            <a:off x="1066800" y="961282"/>
            <a:ext cx="10160000" cy="555797"/>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s-CL" sz="1200" dirty="0">
                <a:latin typeface="Raleway" pitchFamily="2" charset="77"/>
                <a:cs typeface="Poppins Light" panose="00000400000000000000" pitchFamily="2" charset="0"/>
              </a:rPr>
              <a:t>La lógica de prueba y venta es por 3 equipos para el proceso central (cantidad que genera un impacto muy significativo en recuperación). Los equipos que vigilan las pruebas, y gastos de administración y ventas. Se asume, que va bajando el costo de fabricación (escala y aprendizaje), pero que aumenta gradualmente la inversión y costos de monitoreo.</a:t>
            </a:r>
          </a:p>
        </p:txBody>
      </p:sp>
      <p:sp>
        <p:nvSpPr>
          <p:cNvPr id="16" name="Rectángulo 15">
            <a:extLst>
              <a:ext uri="{FF2B5EF4-FFF2-40B4-BE49-F238E27FC236}">
                <a16:creationId xmlns:a16="http://schemas.microsoft.com/office/drawing/2014/main" id="{02AC52B9-210F-3604-8E54-DE64CD89129A}"/>
              </a:ext>
            </a:extLst>
          </p:cNvPr>
          <p:cNvSpPr/>
          <p:nvPr/>
        </p:nvSpPr>
        <p:spPr>
          <a:xfrm>
            <a:off x="1052286" y="1651000"/>
            <a:ext cx="10160000" cy="3302001"/>
          </a:xfrm>
          <a:prstGeom prst="rect">
            <a:avLst/>
          </a:prstGeom>
        </p:spPr>
        <p:style>
          <a:lnRef idx="2">
            <a:schemeClr val="dk1"/>
          </a:lnRef>
          <a:fillRef idx="1">
            <a:schemeClr val="lt1"/>
          </a:fillRef>
          <a:effectRef idx="0">
            <a:schemeClr val="dk1"/>
          </a:effectRef>
          <a:fontRef idx="minor">
            <a:schemeClr val="dk1"/>
          </a:fontRef>
        </p:style>
        <p:txBody>
          <a:bodyPr rtlCol="0" anchor="t"/>
          <a:lstStyle/>
          <a:p>
            <a:r>
              <a:rPr lang="es-CL" sz="1600" b="1" dirty="0">
                <a:latin typeface="Raleway" pitchFamily="2" charset="77"/>
              </a:rPr>
              <a:t>Chile</a:t>
            </a:r>
          </a:p>
        </p:txBody>
      </p:sp>
      <p:sp>
        <p:nvSpPr>
          <p:cNvPr id="17" name="Elipse 16">
            <a:extLst>
              <a:ext uri="{FF2B5EF4-FFF2-40B4-BE49-F238E27FC236}">
                <a16:creationId xmlns:a16="http://schemas.microsoft.com/office/drawing/2014/main" id="{0D8323B5-3263-A00A-B18F-5FF5ABBCA0B1}"/>
              </a:ext>
            </a:extLst>
          </p:cNvPr>
          <p:cNvSpPr/>
          <p:nvPr/>
        </p:nvSpPr>
        <p:spPr>
          <a:xfrm>
            <a:off x="1306286" y="2511400"/>
            <a:ext cx="816000" cy="816000"/>
          </a:xfrm>
          <a:prstGeom prst="ellipse">
            <a:avLst/>
          </a:prstGeom>
          <a:solidFill>
            <a:schemeClr val="accent5">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CL" sz="1600" dirty="0">
                <a:latin typeface="Raleway" pitchFamily="2" charset="77"/>
              </a:rPr>
              <a:t>3 </a:t>
            </a:r>
            <a:r>
              <a:rPr lang="es-CL" sz="800" dirty="0">
                <a:latin typeface="Raleway" pitchFamily="2" charset="77"/>
              </a:rPr>
              <a:t>equipos</a:t>
            </a:r>
            <a:endParaRPr lang="es-CL" sz="1200" dirty="0">
              <a:latin typeface="Raleway" pitchFamily="2" charset="77"/>
            </a:endParaRPr>
          </a:p>
        </p:txBody>
      </p:sp>
      <p:sp>
        <p:nvSpPr>
          <p:cNvPr id="18" name="CuadroTexto 17">
            <a:extLst>
              <a:ext uri="{FF2B5EF4-FFF2-40B4-BE49-F238E27FC236}">
                <a16:creationId xmlns:a16="http://schemas.microsoft.com/office/drawing/2014/main" id="{248FCAC2-C1B7-087D-ED3E-7805079CF8DA}"/>
              </a:ext>
            </a:extLst>
          </p:cNvPr>
          <p:cNvSpPr txBox="1"/>
          <p:nvPr/>
        </p:nvSpPr>
        <p:spPr>
          <a:xfrm>
            <a:off x="2022086" y="2397317"/>
            <a:ext cx="1314784" cy="276999"/>
          </a:xfrm>
          <a:prstGeom prst="rect">
            <a:avLst/>
          </a:prstGeom>
          <a:noFill/>
        </p:spPr>
        <p:txBody>
          <a:bodyPr wrap="none" rtlCol="0">
            <a:spAutoFit/>
          </a:bodyPr>
          <a:lstStyle/>
          <a:p>
            <a:r>
              <a:rPr lang="es-CL" sz="1200" dirty="0">
                <a:latin typeface="Raleway" pitchFamily="2" charset="77"/>
              </a:rPr>
              <a:t>USD$ 560.000.-</a:t>
            </a:r>
          </a:p>
        </p:txBody>
      </p:sp>
      <p:sp>
        <p:nvSpPr>
          <p:cNvPr id="19" name="Elipse 18">
            <a:extLst>
              <a:ext uri="{FF2B5EF4-FFF2-40B4-BE49-F238E27FC236}">
                <a16:creationId xmlns:a16="http://schemas.microsoft.com/office/drawing/2014/main" id="{F95E5A6D-AF64-9B54-40DA-F634102AF6C5}"/>
              </a:ext>
            </a:extLst>
          </p:cNvPr>
          <p:cNvSpPr/>
          <p:nvPr/>
        </p:nvSpPr>
        <p:spPr>
          <a:xfrm>
            <a:off x="2376286" y="3045399"/>
            <a:ext cx="816000" cy="816000"/>
          </a:xfrm>
          <a:prstGeom prst="ellipse">
            <a:avLst/>
          </a:prstGeom>
          <a:solidFill>
            <a:schemeClr val="accent5">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CL" sz="1600" dirty="0">
                <a:latin typeface="Raleway" pitchFamily="2" charset="77"/>
              </a:rPr>
              <a:t>3 </a:t>
            </a:r>
            <a:r>
              <a:rPr lang="es-CL" sz="800" dirty="0">
                <a:latin typeface="Raleway" pitchFamily="2" charset="77"/>
              </a:rPr>
              <a:t>equipos</a:t>
            </a:r>
            <a:endParaRPr lang="es-CL" sz="1200" dirty="0">
              <a:latin typeface="Raleway" pitchFamily="2" charset="77"/>
            </a:endParaRPr>
          </a:p>
        </p:txBody>
      </p:sp>
      <p:sp>
        <p:nvSpPr>
          <p:cNvPr id="20" name="CuadroTexto 19">
            <a:extLst>
              <a:ext uri="{FF2B5EF4-FFF2-40B4-BE49-F238E27FC236}">
                <a16:creationId xmlns:a16="http://schemas.microsoft.com/office/drawing/2014/main" id="{9D2A495A-A8CE-89D1-7484-D86D20DBF67D}"/>
              </a:ext>
            </a:extLst>
          </p:cNvPr>
          <p:cNvSpPr txBox="1"/>
          <p:nvPr/>
        </p:nvSpPr>
        <p:spPr>
          <a:xfrm>
            <a:off x="2784286" y="2718088"/>
            <a:ext cx="1314784" cy="276999"/>
          </a:xfrm>
          <a:prstGeom prst="rect">
            <a:avLst/>
          </a:prstGeom>
          <a:noFill/>
        </p:spPr>
        <p:txBody>
          <a:bodyPr wrap="none" rtlCol="0">
            <a:spAutoFit/>
          </a:bodyPr>
          <a:lstStyle/>
          <a:p>
            <a:r>
              <a:rPr lang="es-CL" sz="1200" dirty="0">
                <a:latin typeface="Raleway" pitchFamily="2" charset="77"/>
              </a:rPr>
              <a:t>USD$ 560.000.-</a:t>
            </a:r>
          </a:p>
        </p:txBody>
      </p:sp>
      <p:sp>
        <p:nvSpPr>
          <p:cNvPr id="21" name="Elipse 20">
            <a:extLst>
              <a:ext uri="{FF2B5EF4-FFF2-40B4-BE49-F238E27FC236}">
                <a16:creationId xmlns:a16="http://schemas.microsoft.com/office/drawing/2014/main" id="{1EB1CA92-FA90-1A70-18EA-90173722EFA9}"/>
              </a:ext>
            </a:extLst>
          </p:cNvPr>
          <p:cNvSpPr/>
          <p:nvPr/>
        </p:nvSpPr>
        <p:spPr>
          <a:xfrm>
            <a:off x="3854286" y="3045399"/>
            <a:ext cx="816000" cy="816000"/>
          </a:xfrm>
          <a:prstGeom prst="ellipse">
            <a:avLst/>
          </a:prstGeom>
          <a:solidFill>
            <a:schemeClr val="accent5">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CL" sz="1600" dirty="0">
                <a:latin typeface="Raleway" pitchFamily="2" charset="77"/>
              </a:rPr>
              <a:t>3 </a:t>
            </a:r>
            <a:r>
              <a:rPr lang="es-CL" sz="800" dirty="0">
                <a:latin typeface="Raleway" pitchFamily="2" charset="77"/>
              </a:rPr>
              <a:t>equipos</a:t>
            </a:r>
            <a:endParaRPr lang="es-CL" sz="1200" dirty="0">
              <a:latin typeface="Raleway" pitchFamily="2" charset="77"/>
            </a:endParaRPr>
          </a:p>
        </p:txBody>
      </p:sp>
      <p:sp>
        <p:nvSpPr>
          <p:cNvPr id="22" name="CuadroTexto 21">
            <a:extLst>
              <a:ext uri="{FF2B5EF4-FFF2-40B4-BE49-F238E27FC236}">
                <a16:creationId xmlns:a16="http://schemas.microsoft.com/office/drawing/2014/main" id="{63976887-149E-DF15-F14F-AA2AED8739C6}"/>
              </a:ext>
            </a:extLst>
          </p:cNvPr>
          <p:cNvSpPr txBox="1"/>
          <p:nvPr/>
        </p:nvSpPr>
        <p:spPr>
          <a:xfrm>
            <a:off x="4262286" y="2718088"/>
            <a:ext cx="1314784" cy="276999"/>
          </a:xfrm>
          <a:prstGeom prst="rect">
            <a:avLst/>
          </a:prstGeom>
          <a:noFill/>
        </p:spPr>
        <p:txBody>
          <a:bodyPr wrap="none" rtlCol="0">
            <a:spAutoFit/>
          </a:bodyPr>
          <a:lstStyle/>
          <a:p>
            <a:r>
              <a:rPr lang="es-CL" sz="1200" dirty="0">
                <a:latin typeface="Raleway" pitchFamily="2" charset="77"/>
              </a:rPr>
              <a:t>USD$ 560.000.-</a:t>
            </a:r>
          </a:p>
        </p:txBody>
      </p:sp>
      <p:sp>
        <p:nvSpPr>
          <p:cNvPr id="23" name="Rectángulo 22">
            <a:extLst>
              <a:ext uri="{FF2B5EF4-FFF2-40B4-BE49-F238E27FC236}">
                <a16:creationId xmlns:a16="http://schemas.microsoft.com/office/drawing/2014/main" id="{F9C1EC63-833F-AC8C-D3A8-6421320BC8F2}"/>
              </a:ext>
            </a:extLst>
          </p:cNvPr>
          <p:cNvSpPr/>
          <p:nvPr/>
        </p:nvSpPr>
        <p:spPr>
          <a:xfrm>
            <a:off x="1204686" y="4038600"/>
            <a:ext cx="4309225" cy="3556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CL" sz="1200" dirty="0">
                <a:solidFill>
                  <a:schemeClr val="tx1"/>
                </a:solidFill>
                <a:latin typeface="Raleway" pitchFamily="2" charset="77"/>
              </a:rPr>
              <a:t>Supervisión USD$ 10.000.-/ mes </a:t>
            </a:r>
          </a:p>
        </p:txBody>
      </p:sp>
      <p:sp>
        <p:nvSpPr>
          <p:cNvPr id="24" name="Rectángulo 23">
            <a:extLst>
              <a:ext uri="{FF2B5EF4-FFF2-40B4-BE49-F238E27FC236}">
                <a16:creationId xmlns:a16="http://schemas.microsoft.com/office/drawing/2014/main" id="{F3EEE770-20D0-7F0B-EE1A-C76F4BBB438A}"/>
              </a:ext>
            </a:extLst>
          </p:cNvPr>
          <p:cNvSpPr/>
          <p:nvPr/>
        </p:nvSpPr>
        <p:spPr>
          <a:xfrm>
            <a:off x="1204686" y="4460967"/>
            <a:ext cx="4309225" cy="3556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CL" sz="1200" dirty="0">
                <a:solidFill>
                  <a:schemeClr val="tx1"/>
                </a:solidFill>
                <a:latin typeface="Raleway" pitchFamily="2" charset="77"/>
              </a:rPr>
              <a:t>GAV (18%)</a:t>
            </a:r>
          </a:p>
        </p:txBody>
      </p:sp>
      <p:cxnSp>
        <p:nvCxnSpPr>
          <p:cNvPr id="25" name="Conector recto 24">
            <a:extLst>
              <a:ext uri="{FF2B5EF4-FFF2-40B4-BE49-F238E27FC236}">
                <a16:creationId xmlns:a16="http://schemas.microsoft.com/office/drawing/2014/main" id="{E8F023B9-EC60-CFF9-8FCE-D9CE777B9CEA}"/>
              </a:ext>
            </a:extLst>
          </p:cNvPr>
          <p:cNvCxnSpPr/>
          <p:nvPr/>
        </p:nvCxnSpPr>
        <p:spPr>
          <a:xfrm>
            <a:off x="5624286" y="1752600"/>
            <a:ext cx="0" cy="294640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6" name="CuadroTexto 25">
            <a:extLst>
              <a:ext uri="{FF2B5EF4-FFF2-40B4-BE49-F238E27FC236}">
                <a16:creationId xmlns:a16="http://schemas.microsoft.com/office/drawing/2014/main" id="{99D783C6-CBA7-26C0-321B-F7BBB8BD4DE4}"/>
              </a:ext>
            </a:extLst>
          </p:cNvPr>
          <p:cNvSpPr txBox="1"/>
          <p:nvPr/>
        </p:nvSpPr>
        <p:spPr>
          <a:xfrm>
            <a:off x="5662880" y="1752600"/>
            <a:ext cx="915403" cy="584775"/>
          </a:xfrm>
          <a:prstGeom prst="rect">
            <a:avLst/>
          </a:prstGeom>
          <a:noFill/>
        </p:spPr>
        <p:txBody>
          <a:bodyPr wrap="square" rtlCol="0">
            <a:spAutoFit/>
          </a:bodyPr>
          <a:lstStyle/>
          <a:p>
            <a:r>
              <a:rPr lang="es-CL" sz="1600" dirty="0">
                <a:latin typeface="Raleway" pitchFamily="2" charset="77"/>
              </a:rPr>
              <a:t>2 </a:t>
            </a:r>
            <a:r>
              <a:rPr lang="es-CL" sz="1200" dirty="0">
                <a:latin typeface="Raleway" pitchFamily="2" charset="77"/>
              </a:rPr>
              <a:t>años a</a:t>
            </a:r>
          </a:p>
          <a:p>
            <a:r>
              <a:rPr lang="es-CL" sz="1600" dirty="0">
                <a:latin typeface="Raleway" pitchFamily="2" charset="77"/>
              </a:rPr>
              <a:t>ventas</a:t>
            </a:r>
          </a:p>
        </p:txBody>
      </p:sp>
      <p:cxnSp>
        <p:nvCxnSpPr>
          <p:cNvPr id="27" name="Conector recto de flecha 26">
            <a:extLst>
              <a:ext uri="{FF2B5EF4-FFF2-40B4-BE49-F238E27FC236}">
                <a16:creationId xmlns:a16="http://schemas.microsoft.com/office/drawing/2014/main" id="{B5CCC9C3-D7B9-1778-35EA-8B2042FFEA53}"/>
              </a:ext>
            </a:extLst>
          </p:cNvPr>
          <p:cNvCxnSpPr>
            <a:cxnSpLocks/>
          </p:cNvCxnSpPr>
          <p:nvPr/>
        </p:nvCxnSpPr>
        <p:spPr>
          <a:xfrm flipH="1">
            <a:off x="3287486" y="1854200"/>
            <a:ext cx="2273793"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8" name="Rectángulo 27">
            <a:extLst>
              <a:ext uri="{FF2B5EF4-FFF2-40B4-BE49-F238E27FC236}">
                <a16:creationId xmlns:a16="http://schemas.microsoft.com/office/drawing/2014/main" id="{22B0FD10-D68E-72D3-DC72-688436D03442}"/>
              </a:ext>
            </a:extLst>
          </p:cNvPr>
          <p:cNvSpPr/>
          <p:nvPr/>
        </p:nvSpPr>
        <p:spPr>
          <a:xfrm>
            <a:off x="5776686" y="4460967"/>
            <a:ext cx="5232391" cy="3556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CL" sz="1200" dirty="0">
                <a:solidFill>
                  <a:schemeClr val="tx1"/>
                </a:solidFill>
                <a:latin typeface="Raleway" pitchFamily="2" charset="77"/>
              </a:rPr>
              <a:t>GAV (18%)</a:t>
            </a:r>
          </a:p>
        </p:txBody>
      </p:sp>
      <p:sp>
        <p:nvSpPr>
          <p:cNvPr id="29" name="Rectángulo 28">
            <a:extLst>
              <a:ext uri="{FF2B5EF4-FFF2-40B4-BE49-F238E27FC236}">
                <a16:creationId xmlns:a16="http://schemas.microsoft.com/office/drawing/2014/main" id="{14A2836B-C54D-3105-7E02-B20DAAB91BAF}"/>
              </a:ext>
            </a:extLst>
          </p:cNvPr>
          <p:cNvSpPr/>
          <p:nvPr/>
        </p:nvSpPr>
        <p:spPr>
          <a:xfrm>
            <a:off x="5780521" y="4031411"/>
            <a:ext cx="5228555" cy="355600"/>
          </a:xfrm>
          <a:prstGeom prst="rect">
            <a:avLst/>
          </a:prstGeom>
          <a:solidFill>
            <a:srgbClr val="FFFD7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CL" sz="1200" dirty="0">
                <a:solidFill>
                  <a:schemeClr val="tx1"/>
                </a:solidFill>
                <a:latin typeface="Raleway" pitchFamily="2" charset="77"/>
              </a:rPr>
              <a:t>Innovación I+D (10%)</a:t>
            </a:r>
          </a:p>
        </p:txBody>
      </p:sp>
      <p:sp>
        <p:nvSpPr>
          <p:cNvPr id="30" name="Rectángulo 29">
            <a:extLst>
              <a:ext uri="{FF2B5EF4-FFF2-40B4-BE49-F238E27FC236}">
                <a16:creationId xmlns:a16="http://schemas.microsoft.com/office/drawing/2014/main" id="{0259AA08-FC2C-29BE-0CE3-3EC2252AF9A8}"/>
              </a:ext>
            </a:extLst>
          </p:cNvPr>
          <p:cNvSpPr/>
          <p:nvPr/>
        </p:nvSpPr>
        <p:spPr>
          <a:xfrm>
            <a:off x="5804010" y="3581027"/>
            <a:ext cx="5228554" cy="3556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CL" sz="1200" dirty="0">
                <a:solidFill>
                  <a:schemeClr val="tx1"/>
                </a:solidFill>
                <a:latin typeface="Raleway" pitchFamily="2" charset="77"/>
              </a:rPr>
              <a:t>Supervisión</a:t>
            </a:r>
          </a:p>
        </p:txBody>
      </p:sp>
      <p:sp>
        <p:nvSpPr>
          <p:cNvPr id="31" name="Triángulo 17">
            <a:extLst>
              <a:ext uri="{FF2B5EF4-FFF2-40B4-BE49-F238E27FC236}">
                <a16:creationId xmlns:a16="http://schemas.microsoft.com/office/drawing/2014/main" id="{41CC44C9-0632-9D09-BE08-88689FA0F305}"/>
              </a:ext>
            </a:extLst>
          </p:cNvPr>
          <p:cNvSpPr/>
          <p:nvPr/>
        </p:nvSpPr>
        <p:spPr>
          <a:xfrm>
            <a:off x="6932814" y="3103665"/>
            <a:ext cx="4099750" cy="528535"/>
          </a:xfrm>
          <a:prstGeom prst="triangle">
            <a:avLst>
              <a:gd name="adj" fmla="val 100000"/>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s-CL" sz="1200">
              <a:solidFill>
                <a:schemeClr val="tx1"/>
              </a:solidFill>
              <a:latin typeface="Raleway" pitchFamily="2" charset="77"/>
            </a:endParaRPr>
          </a:p>
        </p:txBody>
      </p:sp>
      <p:sp>
        <p:nvSpPr>
          <p:cNvPr id="32" name="Forma libre 31">
            <a:extLst>
              <a:ext uri="{FF2B5EF4-FFF2-40B4-BE49-F238E27FC236}">
                <a16:creationId xmlns:a16="http://schemas.microsoft.com/office/drawing/2014/main" id="{F49785C5-17EE-F162-D2F2-847624BE9B38}"/>
              </a:ext>
            </a:extLst>
          </p:cNvPr>
          <p:cNvSpPr/>
          <p:nvPr/>
        </p:nvSpPr>
        <p:spPr>
          <a:xfrm>
            <a:off x="6262641" y="1916023"/>
            <a:ext cx="3462068" cy="1322717"/>
          </a:xfrm>
          <a:custGeom>
            <a:avLst/>
            <a:gdLst>
              <a:gd name="connsiteX0" fmla="*/ 0 w 5193102"/>
              <a:gd name="connsiteY0" fmla="*/ 1984075 h 1984075"/>
              <a:gd name="connsiteX1" fmla="*/ 3381555 w 5193102"/>
              <a:gd name="connsiteY1" fmla="*/ 1483743 h 1984075"/>
              <a:gd name="connsiteX2" fmla="*/ 5193102 w 5193102"/>
              <a:gd name="connsiteY2" fmla="*/ 0 h 1984075"/>
              <a:gd name="connsiteX3" fmla="*/ 5193102 w 5193102"/>
              <a:gd name="connsiteY3" fmla="*/ 0 h 1984075"/>
            </a:gdLst>
            <a:ahLst/>
            <a:cxnLst>
              <a:cxn ang="0">
                <a:pos x="connsiteX0" y="connsiteY0"/>
              </a:cxn>
              <a:cxn ang="0">
                <a:pos x="connsiteX1" y="connsiteY1"/>
              </a:cxn>
              <a:cxn ang="0">
                <a:pos x="connsiteX2" y="connsiteY2"/>
              </a:cxn>
              <a:cxn ang="0">
                <a:pos x="connsiteX3" y="connsiteY3"/>
              </a:cxn>
            </a:cxnLst>
            <a:rect l="l" t="t" r="r" b="b"/>
            <a:pathLst>
              <a:path w="5193102" h="1984075">
                <a:moveTo>
                  <a:pt x="0" y="1984075"/>
                </a:moveTo>
                <a:cubicBezTo>
                  <a:pt x="1258019" y="1899248"/>
                  <a:pt x="2516038" y="1814422"/>
                  <a:pt x="3381555" y="1483743"/>
                </a:cubicBezTo>
                <a:cubicBezTo>
                  <a:pt x="4247072" y="1153064"/>
                  <a:pt x="5193102" y="0"/>
                  <a:pt x="5193102" y="0"/>
                </a:cubicBezTo>
                <a:lnTo>
                  <a:pt x="5193102" y="0"/>
                </a:lnTo>
              </a:path>
            </a:pathLst>
          </a:custGeom>
          <a:noFill/>
          <a:ln>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sz="1200"/>
          </a:p>
        </p:txBody>
      </p:sp>
      <p:sp>
        <p:nvSpPr>
          <p:cNvPr id="2" name="TextBox 10">
            <a:extLst>
              <a:ext uri="{FF2B5EF4-FFF2-40B4-BE49-F238E27FC236}">
                <a16:creationId xmlns:a16="http://schemas.microsoft.com/office/drawing/2014/main" id="{D8387F9B-45D7-943A-C36F-26CC1F771211}"/>
              </a:ext>
            </a:extLst>
          </p:cNvPr>
          <p:cNvSpPr txBox="1"/>
          <p:nvPr/>
        </p:nvSpPr>
        <p:spPr>
          <a:xfrm>
            <a:off x="673100" y="408760"/>
            <a:ext cx="8151319" cy="507639"/>
          </a:xfrm>
          <a:prstGeom prst="rect">
            <a:avLst/>
          </a:prstGeom>
        </p:spPr>
        <p:txBody>
          <a:bodyPr wrap="square" lIns="0" tIns="0" rIns="0" bIns="0" rtlCol="0" anchor="t">
            <a:spAutoFit/>
          </a:bodyPr>
          <a:lstStyle/>
          <a:p>
            <a:pPr>
              <a:lnSpc>
                <a:spcPts val="4294"/>
              </a:lnSpc>
            </a:pPr>
            <a:r>
              <a:rPr lang="es-ES_tradnl" sz="3067" b="1" dirty="0">
                <a:solidFill>
                  <a:srgbClr val="000000"/>
                </a:solidFill>
                <a:latin typeface="Raleway" pitchFamily="2" charset="77"/>
                <a:ea typeface="Open Sans Bold"/>
                <a:cs typeface="Open Sans Bold"/>
                <a:sym typeface="Open Sans Bold"/>
              </a:rPr>
              <a:t>6.- Mercado objetivo y expansión</a:t>
            </a:r>
          </a:p>
        </p:txBody>
      </p:sp>
      <p:sp>
        <p:nvSpPr>
          <p:cNvPr id="3" name="Rectángulo 2">
            <a:extLst>
              <a:ext uri="{FF2B5EF4-FFF2-40B4-BE49-F238E27FC236}">
                <a16:creationId xmlns:a16="http://schemas.microsoft.com/office/drawing/2014/main" id="{C58DF9E0-4925-106C-EED6-3D70CC595A4E}"/>
              </a:ext>
            </a:extLst>
          </p:cNvPr>
          <p:cNvSpPr/>
          <p:nvPr/>
        </p:nvSpPr>
        <p:spPr>
          <a:xfrm>
            <a:off x="1213688" y="2065180"/>
            <a:ext cx="3456599" cy="2462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CL" sz="1200" dirty="0">
                <a:solidFill>
                  <a:schemeClr val="tx1"/>
                </a:solidFill>
                <a:latin typeface="Raleway" pitchFamily="2" charset="77"/>
              </a:rPr>
              <a:t>Ajuste del equipo/ diseño USD$ 200.000.-</a:t>
            </a:r>
          </a:p>
        </p:txBody>
      </p:sp>
      <p:sp>
        <p:nvSpPr>
          <p:cNvPr id="4" name="Rectángulo 3"/>
          <p:cNvSpPr/>
          <p:nvPr/>
        </p:nvSpPr>
        <p:spPr>
          <a:xfrm>
            <a:off x="1066800" y="4997847"/>
            <a:ext cx="10160000" cy="646331"/>
          </a:xfrm>
          <a:prstGeom prst="rect">
            <a:avLst/>
          </a:prstGeom>
        </p:spPr>
        <p:txBody>
          <a:bodyPr wrap="square">
            <a:spAutoFit/>
          </a:bodyPr>
          <a:lstStyle/>
          <a:p>
            <a:pPr algn="just"/>
            <a:r>
              <a:rPr lang="es-CL" sz="1200" dirty="0">
                <a:latin typeface="Raleway" pitchFamily="2" charset="77"/>
                <a:cs typeface="Poppins Light" panose="00000400000000000000" pitchFamily="2" charset="0"/>
              </a:rPr>
              <a:t>El capital necesario para lograr desarrollar la tecnología y lograr que sea repetible depende de la cantidad de pruebas que se realicen, y este capital puede variar entre USD $1.2mm hasta USD $2.9mm. Se estima que un tercio sea con aportes públicos, otro tercio capital propio y la diferencia desde los inversores.</a:t>
            </a:r>
          </a:p>
        </p:txBody>
      </p:sp>
      <p:graphicFrame>
        <p:nvGraphicFramePr>
          <p:cNvPr id="5" name="Tabla 4"/>
          <p:cNvGraphicFramePr>
            <a:graphicFrameLocks noGrp="1"/>
          </p:cNvGraphicFramePr>
          <p:nvPr/>
        </p:nvGraphicFramePr>
        <p:xfrm>
          <a:off x="1052286" y="5730967"/>
          <a:ext cx="8128000" cy="812800"/>
        </p:xfrm>
        <a:graphic>
          <a:graphicData uri="http://schemas.openxmlformats.org/drawingml/2006/table">
            <a:tbl>
              <a:tblPr bandRow="1">
                <a:tableStyleId>{073A0DAA-6AF3-43AB-8588-CEC1D06C72B9}</a:tableStyleId>
              </a:tblPr>
              <a:tblGrid>
                <a:gridCol w="1625600">
                  <a:extLst>
                    <a:ext uri="{9D8B030D-6E8A-4147-A177-3AD203B41FA5}">
                      <a16:colId xmlns:a16="http://schemas.microsoft.com/office/drawing/2014/main" val="3217903663"/>
                    </a:ext>
                  </a:extLst>
                </a:gridCol>
                <a:gridCol w="1625600">
                  <a:extLst>
                    <a:ext uri="{9D8B030D-6E8A-4147-A177-3AD203B41FA5}">
                      <a16:colId xmlns:a16="http://schemas.microsoft.com/office/drawing/2014/main" val="430423503"/>
                    </a:ext>
                  </a:extLst>
                </a:gridCol>
                <a:gridCol w="1625600">
                  <a:extLst>
                    <a:ext uri="{9D8B030D-6E8A-4147-A177-3AD203B41FA5}">
                      <a16:colId xmlns:a16="http://schemas.microsoft.com/office/drawing/2014/main" val="1346201573"/>
                    </a:ext>
                  </a:extLst>
                </a:gridCol>
                <a:gridCol w="1625600">
                  <a:extLst>
                    <a:ext uri="{9D8B030D-6E8A-4147-A177-3AD203B41FA5}">
                      <a16:colId xmlns:a16="http://schemas.microsoft.com/office/drawing/2014/main" val="622411711"/>
                    </a:ext>
                  </a:extLst>
                </a:gridCol>
                <a:gridCol w="1625600">
                  <a:extLst>
                    <a:ext uri="{9D8B030D-6E8A-4147-A177-3AD203B41FA5}">
                      <a16:colId xmlns:a16="http://schemas.microsoft.com/office/drawing/2014/main" val="3501062643"/>
                    </a:ext>
                  </a:extLst>
                </a:gridCol>
              </a:tblGrid>
              <a:tr h="203200">
                <a:tc>
                  <a:txBody>
                    <a:bodyPr/>
                    <a:lstStyle/>
                    <a:p>
                      <a:pPr algn="ctr"/>
                      <a:r>
                        <a:rPr lang="es-CL" sz="900" dirty="0">
                          <a:latin typeface="Raleway" panose="020B0604020202020204" charset="0"/>
                          <a:cs typeface="Raleway" panose="020B0604020202020204" charset="0"/>
                        </a:rPr>
                        <a:t>N° equipos</a:t>
                      </a:r>
                    </a:p>
                  </a:txBody>
                  <a:tcPr marL="60960" marR="60960" marT="30480" marB="30480"/>
                </a:tc>
                <a:tc>
                  <a:txBody>
                    <a:bodyPr/>
                    <a:lstStyle/>
                    <a:p>
                      <a:pPr algn="ctr"/>
                      <a:r>
                        <a:rPr lang="es-CL" sz="900" dirty="0">
                          <a:latin typeface="Raleway" panose="020B0604020202020204" charset="0"/>
                          <a:cs typeface="Raleway" panose="020B0604020202020204" charset="0"/>
                        </a:rPr>
                        <a:t>Costo fabricación</a:t>
                      </a:r>
                    </a:p>
                  </a:txBody>
                  <a:tcPr marL="60960" marR="60960" marT="30480" marB="30480"/>
                </a:tc>
                <a:tc>
                  <a:txBody>
                    <a:bodyPr/>
                    <a:lstStyle/>
                    <a:p>
                      <a:pPr algn="ctr"/>
                      <a:r>
                        <a:rPr lang="es-CL" sz="900" dirty="0">
                          <a:latin typeface="Raleway" panose="020B0604020202020204" charset="0"/>
                          <a:cs typeface="Raleway" panose="020B0604020202020204" charset="0"/>
                        </a:rPr>
                        <a:t>Supervisión</a:t>
                      </a:r>
                    </a:p>
                  </a:txBody>
                  <a:tcPr marL="60960" marR="60960" marT="30480" marB="3048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900" dirty="0">
                          <a:latin typeface="Raleway" panose="020B0604020202020204" charset="0"/>
                          <a:cs typeface="Raleway" panose="020B0604020202020204" charset="0"/>
                        </a:rPr>
                        <a:t>Ajuste / Diseño</a:t>
                      </a:r>
                    </a:p>
                  </a:txBody>
                  <a:tcPr marL="60960" marR="60960" marT="30480" marB="3048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900" dirty="0">
                          <a:latin typeface="Raleway" panose="020B0604020202020204" charset="0"/>
                          <a:cs typeface="Raleway" panose="020B0604020202020204" charset="0"/>
                        </a:rPr>
                        <a:t>Total</a:t>
                      </a:r>
                    </a:p>
                  </a:txBody>
                  <a:tcPr marL="60960" marR="60960" marT="30480" marB="30480"/>
                </a:tc>
                <a:extLst>
                  <a:ext uri="{0D108BD9-81ED-4DB2-BD59-A6C34878D82A}">
                    <a16:rowId xmlns:a16="http://schemas.microsoft.com/office/drawing/2014/main" val="2664303187"/>
                  </a:ext>
                </a:extLst>
              </a:tr>
              <a:tr h="203200">
                <a:tc>
                  <a:txBody>
                    <a:bodyPr/>
                    <a:lstStyle/>
                    <a:p>
                      <a:pPr algn="ctr"/>
                      <a:r>
                        <a:rPr lang="es-CL" sz="900" dirty="0">
                          <a:latin typeface="Raleway" panose="020B0604020202020204" charset="0"/>
                          <a:cs typeface="Raleway" panose="020B0604020202020204" charset="0"/>
                        </a:rPr>
                        <a:t>3 equipos (12 meses)</a:t>
                      </a:r>
                    </a:p>
                  </a:txBody>
                  <a:tcPr marL="60960" marR="60960" marT="30480" marB="30480"/>
                </a:tc>
                <a:tc>
                  <a:txBody>
                    <a:bodyPr/>
                    <a:lstStyle/>
                    <a:p>
                      <a:pPr algn="ctr"/>
                      <a:r>
                        <a:rPr lang="es-CL" sz="900" dirty="0">
                          <a:latin typeface="Raleway" panose="020B0604020202020204" charset="0"/>
                          <a:cs typeface="Raleway" panose="020B0604020202020204" charset="0"/>
                        </a:rPr>
                        <a:t>$825.000</a:t>
                      </a:r>
                    </a:p>
                  </a:txBody>
                  <a:tcPr marL="60960" marR="60960" marT="30480" marB="30480"/>
                </a:tc>
                <a:tc>
                  <a:txBody>
                    <a:bodyPr/>
                    <a:lstStyle/>
                    <a:p>
                      <a:pPr algn="ctr"/>
                      <a:r>
                        <a:rPr lang="es-CL" sz="900" dirty="0">
                          <a:latin typeface="Raleway" panose="020B0604020202020204" charset="0"/>
                          <a:cs typeface="Raleway" panose="020B0604020202020204" charset="0"/>
                        </a:rPr>
                        <a:t>$120.000</a:t>
                      </a:r>
                    </a:p>
                  </a:txBody>
                  <a:tcPr marL="60960" marR="60960" marT="30480" marB="30480"/>
                </a:tc>
                <a:tc>
                  <a:txBody>
                    <a:bodyPr/>
                    <a:lstStyle/>
                    <a:p>
                      <a:pPr algn="ctr"/>
                      <a:r>
                        <a:rPr lang="es-CL" sz="900" dirty="0">
                          <a:latin typeface="Raleway" panose="020B0604020202020204" charset="0"/>
                          <a:cs typeface="Raleway" panose="020B0604020202020204" charset="0"/>
                        </a:rPr>
                        <a:t>$200.000</a:t>
                      </a:r>
                    </a:p>
                  </a:txBody>
                  <a:tcPr marL="60960" marR="60960" marT="30480" marB="30480"/>
                </a:tc>
                <a:tc>
                  <a:txBody>
                    <a:bodyPr/>
                    <a:lstStyle/>
                    <a:p>
                      <a:pPr algn="ctr"/>
                      <a:r>
                        <a:rPr lang="es-CL" sz="900" dirty="0">
                          <a:latin typeface="Raleway" panose="020B0604020202020204" charset="0"/>
                          <a:cs typeface="Raleway" panose="020B0604020202020204" charset="0"/>
                        </a:rPr>
                        <a:t>$1.145.000</a:t>
                      </a:r>
                    </a:p>
                  </a:txBody>
                  <a:tcPr marL="60960" marR="60960" marT="30480" marB="30480"/>
                </a:tc>
                <a:extLst>
                  <a:ext uri="{0D108BD9-81ED-4DB2-BD59-A6C34878D82A}">
                    <a16:rowId xmlns:a16="http://schemas.microsoft.com/office/drawing/2014/main" val="1042126168"/>
                  </a:ext>
                </a:extLst>
              </a:tr>
              <a:tr h="203200">
                <a:tc>
                  <a:txBody>
                    <a:bodyPr/>
                    <a:lstStyle/>
                    <a:p>
                      <a:pPr algn="ctr"/>
                      <a:r>
                        <a:rPr lang="es-CL" sz="900" dirty="0">
                          <a:latin typeface="Raleway" panose="020B0604020202020204" charset="0"/>
                          <a:cs typeface="Raleway" panose="020B0604020202020204" charset="0"/>
                        </a:rPr>
                        <a:t>6 equipos (18 meses)</a:t>
                      </a:r>
                    </a:p>
                  </a:txBody>
                  <a:tcPr marL="60960" marR="60960" marT="30480" marB="30480"/>
                </a:tc>
                <a:tc>
                  <a:txBody>
                    <a:bodyPr/>
                    <a:lstStyle/>
                    <a:p>
                      <a:pPr algn="ctr"/>
                      <a:r>
                        <a:rPr lang="es-CL" sz="900" dirty="0">
                          <a:latin typeface="Raleway" panose="020B0604020202020204" charset="0"/>
                          <a:cs typeface="Raleway" panose="020B0604020202020204" charset="0"/>
                        </a:rPr>
                        <a:t>$1.650.000</a:t>
                      </a:r>
                    </a:p>
                  </a:txBody>
                  <a:tcPr marL="60960" marR="60960" marT="30480" marB="30480"/>
                </a:tc>
                <a:tc>
                  <a:txBody>
                    <a:bodyPr/>
                    <a:lstStyle/>
                    <a:p>
                      <a:pPr algn="ctr"/>
                      <a:r>
                        <a:rPr lang="es-CL" sz="900" dirty="0">
                          <a:latin typeface="Raleway" panose="020B0604020202020204" charset="0"/>
                          <a:cs typeface="Raleway" panose="020B0604020202020204" charset="0"/>
                        </a:rPr>
                        <a:t>$180.000</a:t>
                      </a:r>
                    </a:p>
                  </a:txBody>
                  <a:tcPr marL="60960" marR="60960" marT="30480" marB="30480"/>
                </a:tc>
                <a:tc>
                  <a:txBody>
                    <a:bodyPr/>
                    <a:lstStyle/>
                    <a:p>
                      <a:pPr algn="ctr"/>
                      <a:r>
                        <a:rPr lang="es-CL" sz="900" dirty="0">
                          <a:latin typeface="Raleway" panose="020B0604020202020204" charset="0"/>
                          <a:cs typeface="Raleway" panose="020B0604020202020204" charset="0"/>
                        </a:rPr>
                        <a:t>$200.000</a:t>
                      </a:r>
                    </a:p>
                  </a:txBody>
                  <a:tcPr marL="60960" marR="60960" marT="30480" marB="30480"/>
                </a:tc>
                <a:tc>
                  <a:txBody>
                    <a:bodyPr/>
                    <a:lstStyle/>
                    <a:p>
                      <a:pPr algn="ctr"/>
                      <a:r>
                        <a:rPr lang="es-CL" sz="900" dirty="0">
                          <a:latin typeface="Raleway" panose="020B0604020202020204" charset="0"/>
                          <a:cs typeface="Raleway" panose="020B0604020202020204" charset="0"/>
                        </a:rPr>
                        <a:t>$2.030.000</a:t>
                      </a:r>
                    </a:p>
                  </a:txBody>
                  <a:tcPr marL="60960" marR="60960" marT="30480" marB="30480"/>
                </a:tc>
                <a:extLst>
                  <a:ext uri="{0D108BD9-81ED-4DB2-BD59-A6C34878D82A}">
                    <a16:rowId xmlns:a16="http://schemas.microsoft.com/office/drawing/2014/main" val="1456412094"/>
                  </a:ext>
                </a:extLst>
              </a:tr>
              <a:tr h="203200">
                <a:tc>
                  <a:txBody>
                    <a:bodyPr/>
                    <a:lstStyle/>
                    <a:p>
                      <a:pPr algn="ctr"/>
                      <a:r>
                        <a:rPr lang="es-CL" sz="900" dirty="0">
                          <a:latin typeface="Raleway" panose="020B0604020202020204" charset="0"/>
                          <a:cs typeface="Raleway" panose="020B0604020202020204" charset="0"/>
                        </a:rPr>
                        <a:t>9 equipos (18 meses)</a:t>
                      </a:r>
                    </a:p>
                  </a:txBody>
                  <a:tcPr marL="60960" marR="60960" marT="30480" marB="30480"/>
                </a:tc>
                <a:tc>
                  <a:txBody>
                    <a:bodyPr/>
                    <a:lstStyle/>
                    <a:p>
                      <a:pPr algn="ctr"/>
                      <a:r>
                        <a:rPr lang="es-CL" sz="900" dirty="0">
                          <a:latin typeface="Raleway" panose="020B0604020202020204" charset="0"/>
                          <a:cs typeface="Raleway" panose="020B0604020202020204" charset="0"/>
                        </a:rPr>
                        <a:t>$2.475.000</a:t>
                      </a:r>
                    </a:p>
                  </a:txBody>
                  <a:tcPr marL="60960" marR="60960" marT="30480" marB="30480"/>
                </a:tc>
                <a:tc>
                  <a:txBody>
                    <a:bodyPr/>
                    <a:lstStyle/>
                    <a:p>
                      <a:pPr algn="ctr"/>
                      <a:r>
                        <a:rPr lang="es-CL" sz="900" dirty="0">
                          <a:latin typeface="Raleway" panose="020B0604020202020204" charset="0"/>
                          <a:cs typeface="Raleway" panose="020B0604020202020204" charset="0"/>
                        </a:rPr>
                        <a:t>$180.000</a:t>
                      </a:r>
                    </a:p>
                  </a:txBody>
                  <a:tcPr marL="60960" marR="60960" marT="30480" marB="30480"/>
                </a:tc>
                <a:tc>
                  <a:txBody>
                    <a:bodyPr/>
                    <a:lstStyle/>
                    <a:p>
                      <a:pPr algn="ctr"/>
                      <a:r>
                        <a:rPr lang="es-CL" sz="900" dirty="0">
                          <a:latin typeface="Raleway" panose="020B0604020202020204" charset="0"/>
                          <a:cs typeface="Raleway" panose="020B0604020202020204" charset="0"/>
                        </a:rPr>
                        <a:t>$200.000</a:t>
                      </a:r>
                    </a:p>
                  </a:txBody>
                  <a:tcPr marL="60960" marR="60960" marT="30480" marB="30480"/>
                </a:tc>
                <a:tc>
                  <a:txBody>
                    <a:bodyPr/>
                    <a:lstStyle/>
                    <a:p>
                      <a:pPr algn="ctr"/>
                      <a:r>
                        <a:rPr lang="es-CL" sz="900" dirty="0">
                          <a:latin typeface="Raleway" panose="020B0604020202020204" charset="0"/>
                          <a:cs typeface="Raleway" panose="020B0604020202020204" charset="0"/>
                        </a:rPr>
                        <a:t>$2.855.000</a:t>
                      </a:r>
                    </a:p>
                  </a:txBody>
                  <a:tcPr marL="60960" marR="60960" marT="30480" marB="30480"/>
                </a:tc>
                <a:extLst>
                  <a:ext uri="{0D108BD9-81ED-4DB2-BD59-A6C34878D82A}">
                    <a16:rowId xmlns:a16="http://schemas.microsoft.com/office/drawing/2014/main" val="27584134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5F216B5-0908-D317-34B3-5A86990973E5}"/>
              </a:ext>
            </a:extLst>
          </p:cNvPr>
          <p:cNvPicPr>
            <a:picLocks noChangeAspect="1"/>
          </p:cNvPicPr>
          <p:nvPr/>
        </p:nvPicPr>
        <p:blipFill>
          <a:blip r:embed="rId2"/>
          <a:srcRect t="20382"/>
          <a:stretch>
            <a:fillRect/>
          </a:stretch>
        </p:blipFill>
        <p:spPr>
          <a:xfrm>
            <a:off x="6096000" y="1049576"/>
            <a:ext cx="4850296" cy="5808424"/>
          </a:xfrm>
          <a:prstGeom prst="rect">
            <a:avLst/>
          </a:prstGeom>
        </p:spPr>
      </p:pic>
      <p:sp>
        <p:nvSpPr>
          <p:cNvPr id="4" name="CuadroTexto 3">
            <a:extLst>
              <a:ext uri="{FF2B5EF4-FFF2-40B4-BE49-F238E27FC236}">
                <a16:creationId xmlns:a16="http://schemas.microsoft.com/office/drawing/2014/main" id="{47201748-B111-BC8D-6E33-60D458D29B42}"/>
              </a:ext>
            </a:extLst>
          </p:cNvPr>
          <p:cNvSpPr txBox="1"/>
          <p:nvPr/>
        </p:nvSpPr>
        <p:spPr>
          <a:xfrm>
            <a:off x="7007942" y="1347045"/>
            <a:ext cx="458780" cy="246221"/>
          </a:xfrm>
          <a:prstGeom prst="rect">
            <a:avLst/>
          </a:prstGeom>
          <a:solidFill>
            <a:schemeClr val="bg1"/>
          </a:solidFill>
        </p:spPr>
        <p:txBody>
          <a:bodyPr wrap="none" rtlCol="0">
            <a:spAutoFit/>
          </a:bodyPr>
          <a:lstStyle/>
          <a:p>
            <a:r>
              <a:rPr lang="es-CL" sz="500" dirty="0">
                <a:latin typeface="Raleway" pitchFamily="2" charset="77"/>
              </a:rPr>
              <a:t>Producto</a:t>
            </a:r>
          </a:p>
          <a:p>
            <a:r>
              <a:rPr lang="es-CL" sz="500" dirty="0">
                <a:latin typeface="Raleway" pitchFamily="2" charset="77"/>
              </a:rPr>
              <a:t>inicial</a:t>
            </a:r>
          </a:p>
        </p:txBody>
      </p:sp>
      <p:sp>
        <p:nvSpPr>
          <p:cNvPr id="5" name="CuadroTexto 4">
            <a:extLst>
              <a:ext uri="{FF2B5EF4-FFF2-40B4-BE49-F238E27FC236}">
                <a16:creationId xmlns:a16="http://schemas.microsoft.com/office/drawing/2014/main" id="{CC0AE5EA-DD70-9FDB-45DF-FE021D1D175F}"/>
              </a:ext>
            </a:extLst>
          </p:cNvPr>
          <p:cNvSpPr txBox="1"/>
          <p:nvPr/>
        </p:nvSpPr>
        <p:spPr>
          <a:xfrm>
            <a:off x="7660860" y="1362070"/>
            <a:ext cx="380232" cy="246221"/>
          </a:xfrm>
          <a:prstGeom prst="rect">
            <a:avLst/>
          </a:prstGeom>
          <a:solidFill>
            <a:schemeClr val="bg1"/>
          </a:solidFill>
        </p:spPr>
        <p:txBody>
          <a:bodyPr wrap="none" rtlCol="0">
            <a:spAutoFit/>
          </a:bodyPr>
          <a:lstStyle/>
          <a:p>
            <a:r>
              <a:rPr lang="es-CL" sz="500" dirty="0">
                <a:latin typeface="Raleway" pitchFamily="2" charset="77"/>
              </a:rPr>
              <a:t>Primer</a:t>
            </a:r>
          </a:p>
          <a:p>
            <a:r>
              <a:rPr lang="es-CL" sz="500" dirty="0">
                <a:latin typeface="Raleway" pitchFamily="2" charset="77"/>
              </a:rPr>
              <a:t>cliente</a:t>
            </a:r>
          </a:p>
        </p:txBody>
      </p:sp>
      <p:sp>
        <p:nvSpPr>
          <p:cNvPr id="6" name="CuadroTexto 5">
            <a:extLst>
              <a:ext uri="{FF2B5EF4-FFF2-40B4-BE49-F238E27FC236}">
                <a16:creationId xmlns:a16="http://schemas.microsoft.com/office/drawing/2014/main" id="{2D9518F3-7E85-79B3-F0CD-B615E8CD601D}"/>
              </a:ext>
            </a:extLst>
          </p:cNvPr>
          <p:cNvSpPr txBox="1"/>
          <p:nvPr/>
        </p:nvSpPr>
        <p:spPr>
          <a:xfrm>
            <a:off x="8318322" y="1357570"/>
            <a:ext cx="609517" cy="246221"/>
          </a:xfrm>
          <a:prstGeom prst="rect">
            <a:avLst/>
          </a:prstGeom>
          <a:solidFill>
            <a:schemeClr val="bg1"/>
          </a:solidFill>
        </p:spPr>
        <p:txBody>
          <a:bodyPr wrap="square" rtlCol="0">
            <a:spAutoFit/>
          </a:bodyPr>
          <a:lstStyle/>
          <a:p>
            <a:r>
              <a:rPr lang="en-US" sz="500" noProof="0" dirty="0">
                <a:latin typeface="Raleway" pitchFamily="2" charset="77"/>
              </a:rPr>
              <a:t>Product market fit</a:t>
            </a:r>
          </a:p>
        </p:txBody>
      </p:sp>
      <p:sp>
        <p:nvSpPr>
          <p:cNvPr id="8" name="CuadroTexto 7">
            <a:extLst>
              <a:ext uri="{FF2B5EF4-FFF2-40B4-BE49-F238E27FC236}">
                <a16:creationId xmlns:a16="http://schemas.microsoft.com/office/drawing/2014/main" id="{4F15EE56-B9FB-C469-0042-B3591F011F3C}"/>
              </a:ext>
            </a:extLst>
          </p:cNvPr>
          <p:cNvSpPr txBox="1"/>
          <p:nvPr/>
        </p:nvSpPr>
        <p:spPr>
          <a:xfrm>
            <a:off x="821634" y="1398716"/>
            <a:ext cx="5274366" cy="4832092"/>
          </a:xfrm>
          <a:prstGeom prst="rect">
            <a:avLst/>
          </a:prstGeom>
          <a:noFill/>
        </p:spPr>
        <p:txBody>
          <a:bodyPr wrap="square">
            <a:spAutoFit/>
          </a:bodyPr>
          <a:lstStyle/>
          <a:p>
            <a:pPr algn="l">
              <a:buNone/>
            </a:pPr>
            <a:r>
              <a:rPr lang="es-419" sz="1400" b="0" i="0" u="none" strike="noStrike" dirty="0">
                <a:solidFill>
                  <a:srgbClr val="202122"/>
                </a:solidFill>
                <a:effectLst/>
                <a:latin typeface="Raleway" pitchFamily="2" charset="77"/>
              </a:rPr>
              <a:t>Esta es la etapa inicial del Valle de la muerte, la de mayor incertidumbre, y donde se busca lograr un </a:t>
            </a:r>
            <a:r>
              <a:rPr lang="es-419" sz="1400" b="1" i="0" u="none" strike="noStrike" dirty="0">
                <a:solidFill>
                  <a:srgbClr val="202122"/>
                </a:solidFill>
                <a:effectLst/>
                <a:latin typeface="Raleway" pitchFamily="2" charset="77"/>
              </a:rPr>
              <a:t>producto inicial o MVP </a:t>
            </a:r>
            <a:r>
              <a:rPr lang="es-419" sz="1400" b="0" i="0" u="none" strike="noStrike" dirty="0">
                <a:solidFill>
                  <a:srgbClr val="202122"/>
                </a:solidFill>
                <a:effectLst/>
                <a:latin typeface="Raleway" pitchFamily="2" charset="77"/>
              </a:rPr>
              <a:t>(o los sucesivos productos de prueba a contrastar con el cliente), conseguir buenos clientes y poder hacer </a:t>
            </a:r>
            <a:r>
              <a:rPr lang="es-419" sz="1400" b="1" i="0" u="none" strike="noStrike" dirty="0">
                <a:solidFill>
                  <a:srgbClr val="202122"/>
                </a:solidFill>
                <a:effectLst/>
                <a:latin typeface="Raleway" pitchFamily="2" charset="77"/>
              </a:rPr>
              <a:t>experimentos</a:t>
            </a:r>
            <a:r>
              <a:rPr lang="es-419" sz="1400" b="0" i="0" u="none" strike="noStrike" dirty="0">
                <a:solidFill>
                  <a:srgbClr val="202122"/>
                </a:solidFill>
                <a:effectLst/>
                <a:latin typeface="Raleway" pitchFamily="2" charset="77"/>
              </a:rPr>
              <a:t> que logren evidencias robustas, hasta alcanzar el </a:t>
            </a:r>
            <a:r>
              <a:rPr lang="es-419" sz="1400" b="1" i="0" u="none" strike="noStrike" dirty="0">
                <a:solidFill>
                  <a:srgbClr val="202122"/>
                </a:solidFill>
                <a:effectLst/>
                <a:latin typeface="Raleway" pitchFamily="2" charset="77"/>
              </a:rPr>
              <a:t>Product Market Fit </a:t>
            </a:r>
            <a:r>
              <a:rPr lang="es-419" sz="1400" b="0" i="0" u="none" strike="noStrike" dirty="0">
                <a:solidFill>
                  <a:srgbClr val="202122"/>
                </a:solidFill>
                <a:effectLst/>
                <a:latin typeface="Raleway" pitchFamily="2" charset="77"/>
              </a:rPr>
              <a:t>–que es cuando el producto logra una posición de liderazgo frente a los clientes descubiertos-.</a:t>
            </a:r>
          </a:p>
          <a:p>
            <a:pPr algn="l">
              <a:buNone/>
            </a:pPr>
            <a:endParaRPr lang="es-419" sz="1400" b="0" i="0" u="none" strike="noStrike" dirty="0">
              <a:solidFill>
                <a:srgbClr val="202122"/>
              </a:solidFill>
              <a:effectLst/>
              <a:latin typeface="Raleway" pitchFamily="2" charset="77"/>
            </a:endParaRPr>
          </a:p>
          <a:p>
            <a:pPr algn="l">
              <a:buNone/>
            </a:pPr>
            <a:r>
              <a:rPr lang="es-CL" sz="1400" b="0" i="0" u="none" strike="noStrike" dirty="0">
                <a:solidFill>
                  <a:srgbClr val="202122"/>
                </a:solidFill>
                <a:effectLst/>
                <a:latin typeface="Raleway" pitchFamily="2" charset="77"/>
              </a:rPr>
              <a:t>Es una etapa de duración variable –como se ve en la gráfica al costado-, de inversión –es decir, saldo negativo de operación-, donde se busca lograr evidencias que permitan aumentar valorización y/o confianza de los inversionistas, de manera de pasar de los montos </a:t>
            </a:r>
            <a:r>
              <a:rPr lang="es-CL" sz="1400" b="1" i="1" u="none" strike="noStrike" dirty="0" err="1">
                <a:solidFill>
                  <a:srgbClr val="202122"/>
                </a:solidFill>
                <a:effectLst/>
                <a:latin typeface="Raleway" pitchFamily="2" charset="77"/>
              </a:rPr>
              <a:t>seed</a:t>
            </a:r>
            <a:r>
              <a:rPr lang="es-CL" sz="1400" b="0" i="0" u="none" strike="noStrike" dirty="0">
                <a:solidFill>
                  <a:srgbClr val="202122"/>
                </a:solidFill>
                <a:effectLst/>
                <a:latin typeface="Raleway" pitchFamily="2" charset="77"/>
              </a:rPr>
              <a:t> a inversiones más grandes.</a:t>
            </a:r>
          </a:p>
          <a:p>
            <a:pPr algn="l">
              <a:buNone/>
            </a:pPr>
            <a:endParaRPr lang="es-CL" sz="1400" dirty="0">
              <a:solidFill>
                <a:srgbClr val="202122"/>
              </a:solidFill>
              <a:latin typeface="Raleway" pitchFamily="2" charset="77"/>
            </a:endParaRPr>
          </a:p>
          <a:p>
            <a:pPr algn="l">
              <a:buNone/>
            </a:pPr>
            <a:r>
              <a:rPr lang="es-CL" sz="1400" b="0" i="0" u="none" strike="noStrike" dirty="0">
                <a:solidFill>
                  <a:srgbClr val="202122"/>
                </a:solidFill>
                <a:effectLst/>
                <a:latin typeface="Raleway" pitchFamily="2" charset="77"/>
              </a:rPr>
              <a:t>Se busca un ingreso de inversión no tan significativo pues la valorización es baja, y la idea es no entregar tanta participación fuera de los fundadores.</a:t>
            </a:r>
          </a:p>
          <a:p>
            <a:pPr algn="l">
              <a:buNone/>
            </a:pPr>
            <a:endParaRPr lang="es-CL" sz="1400" dirty="0">
              <a:solidFill>
                <a:srgbClr val="202122"/>
              </a:solidFill>
              <a:latin typeface="Raleway" pitchFamily="2" charset="77"/>
            </a:endParaRPr>
          </a:p>
          <a:p>
            <a:pPr algn="l">
              <a:buNone/>
            </a:pPr>
            <a:r>
              <a:rPr lang="es-CL" sz="1400" b="0" i="0" u="none" strike="noStrike" dirty="0">
                <a:solidFill>
                  <a:srgbClr val="202122"/>
                </a:solidFill>
                <a:effectLst/>
                <a:latin typeface="Raleway" pitchFamily="2" charset="77"/>
              </a:rPr>
              <a:t>Las fuentes son FFF, Fondos públicos, Ángeles. También hoy se puede hablar de crowdfunding, aceleradoras y fundadores.</a:t>
            </a:r>
          </a:p>
        </p:txBody>
      </p:sp>
      <p:sp>
        <p:nvSpPr>
          <p:cNvPr id="9" name="CuadroTexto 8">
            <a:extLst>
              <a:ext uri="{FF2B5EF4-FFF2-40B4-BE49-F238E27FC236}">
                <a16:creationId xmlns:a16="http://schemas.microsoft.com/office/drawing/2014/main" id="{AE6800F4-175C-78E9-D1CE-26FCCE4FE76E}"/>
              </a:ext>
            </a:extLst>
          </p:cNvPr>
          <p:cNvSpPr txBox="1"/>
          <p:nvPr/>
        </p:nvSpPr>
        <p:spPr>
          <a:xfrm>
            <a:off x="821634" y="457915"/>
            <a:ext cx="10124662" cy="461665"/>
          </a:xfrm>
          <a:prstGeom prst="rect">
            <a:avLst/>
          </a:prstGeom>
          <a:noFill/>
        </p:spPr>
        <p:txBody>
          <a:bodyPr wrap="square" rtlCol="0">
            <a:spAutoFit/>
          </a:bodyPr>
          <a:lstStyle/>
          <a:p>
            <a:r>
              <a:rPr lang="es-CL" sz="2400" b="1" dirty="0">
                <a:latin typeface="Raleway" pitchFamily="2" charset="77"/>
              </a:rPr>
              <a:t>¿Cuánto tiempo lleva alcanzar el </a:t>
            </a:r>
            <a:r>
              <a:rPr lang="en-US" sz="2400" b="1" i="1" dirty="0">
                <a:latin typeface="Raleway" pitchFamily="2" charset="77"/>
              </a:rPr>
              <a:t>product market fit</a:t>
            </a:r>
            <a:r>
              <a:rPr lang="es-CL" sz="2400" b="1" dirty="0">
                <a:latin typeface="Raleway" pitchFamily="2" charset="77"/>
              </a:rPr>
              <a:t>?</a:t>
            </a:r>
          </a:p>
        </p:txBody>
      </p:sp>
    </p:spTree>
    <p:extLst>
      <p:ext uri="{BB962C8B-B14F-4D97-AF65-F5344CB8AC3E}">
        <p14:creationId xmlns:p14="http://schemas.microsoft.com/office/powerpoint/2010/main" val="3913647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D369E4B-A13E-5E35-96F1-236AA12F6437}"/>
              </a:ext>
            </a:extLst>
          </p:cNvPr>
          <p:cNvSpPr txBox="1"/>
          <p:nvPr/>
        </p:nvSpPr>
        <p:spPr>
          <a:xfrm>
            <a:off x="821634" y="1012954"/>
            <a:ext cx="4719294" cy="5262979"/>
          </a:xfrm>
          <a:prstGeom prst="rect">
            <a:avLst/>
          </a:prstGeom>
          <a:noFill/>
        </p:spPr>
        <p:txBody>
          <a:bodyPr wrap="square">
            <a:spAutoFit/>
          </a:bodyPr>
          <a:lstStyle/>
          <a:p>
            <a:pPr algn="l">
              <a:buNone/>
            </a:pPr>
            <a:r>
              <a:rPr lang="es-CL" sz="1200" b="0" i="0" u="none" strike="noStrike" dirty="0">
                <a:solidFill>
                  <a:srgbClr val="202122"/>
                </a:solidFill>
                <a:effectLst/>
                <a:latin typeface="Raleway" pitchFamily="2" charset="77"/>
              </a:rPr>
              <a:t>Ford fue fundada el 16 de junio de 1903 con US$28 000 (equivalente a $949 511 en 2023) aportados por once inversores, entre los que se incluía el socio que le dio nombre a la compañía, Henry Ford, que por aquel entonces contaba con 40 años de edad. En sus primeros años, Ford producía unos pocos coches por día en su fábrica en la avenida Mack en Detroit, Míchigan. </a:t>
            </a:r>
          </a:p>
          <a:p>
            <a:pPr algn="l">
              <a:buNone/>
            </a:pPr>
            <a:endParaRPr lang="es-CL" sz="1200" dirty="0">
              <a:solidFill>
                <a:srgbClr val="202122"/>
              </a:solidFill>
              <a:latin typeface="Raleway" pitchFamily="2" charset="77"/>
            </a:endParaRPr>
          </a:p>
          <a:p>
            <a:pPr algn="l">
              <a:buNone/>
            </a:pPr>
            <a:r>
              <a:rPr lang="es-CL" sz="1200" b="0" i="0" u="none" strike="noStrike" dirty="0">
                <a:solidFill>
                  <a:srgbClr val="202122"/>
                </a:solidFill>
                <a:effectLst/>
                <a:latin typeface="Raleway" pitchFamily="2" charset="77"/>
              </a:rPr>
              <a:t>En 1908, la compañía lanzó el modelo</a:t>
            </a:r>
            <a:r>
              <a:rPr lang="es-CL" sz="1200" b="0" i="0" u="none" strike="noStrike" dirty="0">
                <a:solidFill>
                  <a:srgbClr val="202122"/>
                </a:solidFill>
                <a:effectLst/>
                <a:latin typeface="Raleway" pitchFamily="2" charset="77"/>
                <a:hlinkClick r:id="rId2" tooltip="Ford T"/>
              </a:rPr>
              <a:t> </a:t>
            </a:r>
            <a:r>
              <a:rPr lang="es-CL" sz="1200" b="0" i="0" u="none" strike="noStrike" dirty="0">
                <a:solidFill>
                  <a:srgbClr val="202122"/>
                </a:solidFill>
                <a:effectLst/>
                <a:latin typeface="Raleway" pitchFamily="2" charset="77"/>
              </a:rPr>
              <a:t>T (</a:t>
            </a:r>
            <a:r>
              <a:rPr lang="en-US" sz="1200" b="1" i="1" u="none" strike="noStrike" noProof="0" dirty="0">
                <a:solidFill>
                  <a:srgbClr val="202122"/>
                </a:solidFill>
                <a:effectLst/>
                <a:latin typeface="Raleway" pitchFamily="2" charset="77"/>
              </a:rPr>
              <a:t>Product Market Fit</a:t>
            </a:r>
            <a:r>
              <a:rPr lang="es-CL" sz="1200" b="0" i="0" u="none" strike="noStrike" dirty="0">
                <a:solidFill>
                  <a:srgbClr val="202122"/>
                </a:solidFill>
                <a:effectLst/>
                <a:latin typeface="Raleway" pitchFamily="2" charset="77"/>
              </a:rPr>
              <a:t>), cuya primera unidad fue fabricada en la planta manufacturera de </a:t>
            </a:r>
            <a:r>
              <a:rPr lang="es-CL" sz="1200" b="0" i="0" u="none" strike="noStrike" dirty="0" err="1">
                <a:solidFill>
                  <a:srgbClr val="202122"/>
                </a:solidFill>
                <a:effectLst/>
                <a:latin typeface="Raleway" pitchFamily="2" charset="77"/>
              </a:rPr>
              <a:t>Piquette</a:t>
            </a:r>
            <a:r>
              <a:rPr lang="es-CL" sz="1200" b="0" i="0" u="none" strike="noStrike" dirty="0">
                <a:solidFill>
                  <a:srgbClr val="202122"/>
                </a:solidFill>
                <a:effectLst/>
                <a:latin typeface="Raleway" pitchFamily="2" charset="77"/>
              </a:rPr>
              <a:t>. El modelo T apareció en el mercado el 1 de octubre de 1908 y presentaba una gran cantidad de innovaciones. Por ejemplo, tenía el volante a la izquierda, siendo esto algo que la gran mayoría de las otras compañías pronto copiaron. Todo el motor y la transmisión iban cerrados, los cuatro cilindros estaban encajados en un bloque sólido y la suspensión funcionaba mediante dos muelles semi-elípticos. El automóvil era muy sencillo de conducir y, más importante, muy barato y fácil de reparar. Era tan barato que, con un precio de US$825 (equivalente a $27 977 en 2023) en 1908 (el precio caía cada año), para 1920 la gran mayoría de conductores habían aprendido a manejar en ese modelo (</a:t>
            </a:r>
            <a:r>
              <a:rPr lang="es-CL" sz="1200" b="1" i="0" u="none" strike="noStrike" dirty="0">
                <a:solidFill>
                  <a:srgbClr val="202122"/>
                </a:solidFill>
                <a:effectLst/>
                <a:latin typeface="Raleway" pitchFamily="2" charset="77"/>
              </a:rPr>
              <a:t>estándar de la industria</a:t>
            </a:r>
            <a:r>
              <a:rPr lang="es-CL" sz="1200" b="0" i="0" u="none" strike="noStrike" dirty="0">
                <a:solidFill>
                  <a:srgbClr val="202122"/>
                </a:solidFill>
                <a:effectLst/>
                <a:latin typeface="Raleway" pitchFamily="2" charset="77"/>
              </a:rPr>
              <a:t>).</a:t>
            </a:r>
          </a:p>
          <a:p>
            <a:pPr algn="l">
              <a:buNone/>
            </a:pPr>
            <a:endParaRPr lang="es-CL" sz="1200" dirty="0">
              <a:solidFill>
                <a:srgbClr val="202122"/>
              </a:solidFill>
              <a:latin typeface="Raleway" pitchFamily="2" charset="77"/>
            </a:endParaRPr>
          </a:p>
          <a:p>
            <a:pPr algn="l">
              <a:buNone/>
            </a:pPr>
            <a:r>
              <a:rPr lang="es-CL" sz="1200" b="0" i="0" u="none" strike="noStrike" dirty="0">
                <a:solidFill>
                  <a:srgbClr val="202122"/>
                </a:solidFill>
                <a:effectLst/>
                <a:latin typeface="Raleway" pitchFamily="2" charset="77"/>
              </a:rPr>
              <a:t>Hacia 1913, la compañía había desarrollado todas las técnicas básicas de línea de producción y producción en masa. Ford creó la primera línea de producción móvil del mundo ese año, la cual redujo el tiempo de ensamblaje del chasis de 12 horas y media a 100 minutos (</a:t>
            </a:r>
            <a:r>
              <a:rPr lang="es-CL" sz="1200" b="1" i="0" u="none" strike="noStrike" dirty="0">
                <a:solidFill>
                  <a:srgbClr val="202122"/>
                </a:solidFill>
                <a:effectLst/>
                <a:latin typeface="Raleway" pitchFamily="2" charset="77"/>
              </a:rPr>
              <a:t>ajuste del modelo de negocios</a:t>
            </a:r>
            <a:r>
              <a:rPr lang="es-CL" sz="1200" b="0" i="0" u="none" strike="noStrike" dirty="0">
                <a:solidFill>
                  <a:srgbClr val="202122"/>
                </a:solidFill>
                <a:effectLst/>
                <a:latin typeface="Raleway" pitchFamily="2" charset="77"/>
              </a:rPr>
              <a:t>).</a:t>
            </a:r>
          </a:p>
        </p:txBody>
      </p:sp>
      <p:pic>
        <p:nvPicPr>
          <p:cNvPr id="3074" name="Picture 2" descr="Prices and Sales of Model T Ford Chart, 1908-1916 | Richmond Fed">
            <a:extLst>
              <a:ext uri="{FF2B5EF4-FFF2-40B4-BE49-F238E27FC236}">
                <a16:creationId xmlns:a16="http://schemas.microsoft.com/office/drawing/2014/main" id="{1083DB59-3BD9-B8DF-2D8F-CB80AC71A8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1108" y="1384011"/>
            <a:ext cx="5570084" cy="483209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BB0D61AA-8CAB-5D5E-EDD2-C69CE28B2505}"/>
              </a:ext>
            </a:extLst>
          </p:cNvPr>
          <p:cNvSpPr txBox="1"/>
          <p:nvPr/>
        </p:nvSpPr>
        <p:spPr>
          <a:xfrm>
            <a:off x="5931108" y="842620"/>
            <a:ext cx="1245704" cy="523220"/>
          </a:xfrm>
          <a:prstGeom prst="rect">
            <a:avLst/>
          </a:prstGeom>
          <a:noFill/>
        </p:spPr>
        <p:txBody>
          <a:bodyPr wrap="square" rtlCol="0">
            <a:spAutoFit/>
          </a:bodyPr>
          <a:lstStyle/>
          <a:p>
            <a:r>
              <a:rPr lang="es-CL" sz="1400" b="1" dirty="0" err="1">
                <a:highlight>
                  <a:srgbClr val="00FFFF"/>
                </a:highlight>
                <a:latin typeface="Raleway" pitchFamily="2" charset="77"/>
              </a:rPr>
              <a:t>Product</a:t>
            </a:r>
            <a:r>
              <a:rPr lang="es-CL" sz="1400" b="1" dirty="0">
                <a:highlight>
                  <a:srgbClr val="00FFFF"/>
                </a:highlight>
                <a:latin typeface="Raleway" pitchFamily="2" charset="77"/>
              </a:rPr>
              <a:t> </a:t>
            </a:r>
            <a:r>
              <a:rPr lang="es-CL" sz="1400" b="1" dirty="0" err="1">
                <a:highlight>
                  <a:srgbClr val="00FFFF"/>
                </a:highlight>
                <a:latin typeface="Raleway" pitchFamily="2" charset="77"/>
              </a:rPr>
              <a:t>market</a:t>
            </a:r>
            <a:r>
              <a:rPr lang="es-CL" sz="1400" b="1" dirty="0">
                <a:highlight>
                  <a:srgbClr val="00FFFF"/>
                </a:highlight>
                <a:latin typeface="Raleway" pitchFamily="2" charset="77"/>
              </a:rPr>
              <a:t> </a:t>
            </a:r>
            <a:r>
              <a:rPr lang="es-CL" sz="1400" b="1" dirty="0" err="1">
                <a:highlight>
                  <a:srgbClr val="00FFFF"/>
                </a:highlight>
                <a:latin typeface="Raleway" pitchFamily="2" charset="77"/>
              </a:rPr>
              <a:t>fit</a:t>
            </a:r>
            <a:endParaRPr lang="es-CL" sz="1400" b="1" dirty="0">
              <a:highlight>
                <a:srgbClr val="00FFFF"/>
              </a:highlight>
              <a:latin typeface="Raleway" pitchFamily="2" charset="77"/>
            </a:endParaRPr>
          </a:p>
        </p:txBody>
      </p:sp>
      <p:sp>
        <p:nvSpPr>
          <p:cNvPr id="5" name="CuadroTexto 4">
            <a:extLst>
              <a:ext uri="{FF2B5EF4-FFF2-40B4-BE49-F238E27FC236}">
                <a16:creationId xmlns:a16="http://schemas.microsoft.com/office/drawing/2014/main" id="{42DE9C95-2D0C-7EE4-BAB0-4A0227AC6FD1}"/>
              </a:ext>
            </a:extLst>
          </p:cNvPr>
          <p:cNvSpPr txBox="1"/>
          <p:nvPr/>
        </p:nvSpPr>
        <p:spPr>
          <a:xfrm>
            <a:off x="7176812" y="627176"/>
            <a:ext cx="1245704" cy="738664"/>
          </a:xfrm>
          <a:prstGeom prst="rect">
            <a:avLst/>
          </a:prstGeom>
          <a:noFill/>
        </p:spPr>
        <p:txBody>
          <a:bodyPr wrap="square" rtlCol="0">
            <a:spAutoFit/>
          </a:bodyPr>
          <a:lstStyle/>
          <a:p>
            <a:r>
              <a:rPr lang="es-CL" sz="1400" b="1" dirty="0">
                <a:highlight>
                  <a:srgbClr val="00FFFF"/>
                </a:highlight>
                <a:latin typeface="Raleway" pitchFamily="2" charset="77"/>
              </a:rPr>
              <a:t>Ajuste del modelo de negocios</a:t>
            </a:r>
          </a:p>
        </p:txBody>
      </p:sp>
      <p:cxnSp>
        <p:nvCxnSpPr>
          <p:cNvPr id="7" name="Conector recto de flecha 6">
            <a:extLst>
              <a:ext uri="{FF2B5EF4-FFF2-40B4-BE49-F238E27FC236}">
                <a16:creationId xmlns:a16="http://schemas.microsoft.com/office/drawing/2014/main" id="{B8C06A3D-E35E-80F7-A247-2B73FA9B7F1A}"/>
              </a:ext>
            </a:extLst>
          </p:cNvPr>
          <p:cNvCxnSpPr>
            <a:stCxn id="5" idx="3"/>
          </p:cNvCxnSpPr>
          <p:nvPr/>
        </p:nvCxnSpPr>
        <p:spPr>
          <a:xfrm>
            <a:off x="8422516" y="996508"/>
            <a:ext cx="1635884" cy="10653"/>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2" name="CuadroTexto 1">
            <a:extLst>
              <a:ext uri="{FF2B5EF4-FFF2-40B4-BE49-F238E27FC236}">
                <a16:creationId xmlns:a16="http://schemas.microsoft.com/office/drawing/2014/main" id="{4F46B6B7-4861-E325-B673-7796F337A445}"/>
              </a:ext>
            </a:extLst>
          </p:cNvPr>
          <p:cNvSpPr txBox="1"/>
          <p:nvPr/>
        </p:nvSpPr>
        <p:spPr>
          <a:xfrm>
            <a:off x="821634" y="271508"/>
            <a:ext cx="2919389" cy="461665"/>
          </a:xfrm>
          <a:prstGeom prst="rect">
            <a:avLst/>
          </a:prstGeom>
          <a:noFill/>
        </p:spPr>
        <p:txBody>
          <a:bodyPr wrap="none" rtlCol="0">
            <a:spAutoFit/>
          </a:bodyPr>
          <a:lstStyle/>
          <a:p>
            <a:r>
              <a:rPr lang="es-CL" sz="2400" b="1" dirty="0">
                <a:latin typeface="Raleway" pitchFamily="2" charset="77"/>
              </a:rPr>
              <a:t>La historia de Ford</a:t>
            </a:r>
          </a:p>
        </p:txBody>
      </p:sp>
    </p:spTree>
    <p:extLst>
      <p:ext uri="{BB962C8B-B14F-4D97-AF65-F5344CB8AC3E}">
        <p14:creationId xmlns:p14="http://schemas.microsoft.com/office/powerpoint/2010/main" val="1800393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Conector angular 18">
            <a:extLst>
              <a:ext uri="{FF2B5EF4-FFF2-40B4-BE49-F238E27FC236}">
                <a16:creationId xmlns:a16="http://schemas.microsoft.com/office/drawing/2014/main" id="{93F0EB7A-75E9-275A-A9CF-10A586CBCF44}"/>
              </a:ext>
            </a:extLst>
          </p:cNvPr>
          <p:cNvCxnSpPr>
            <a:stCxn id="12" idx="2"/>
            <a:endCxn id="15" idx="2"/>
          </p:cNvCxnSpPr>
          <p:nvPr/>
        </p:nvCxnSpPr>
        <p:spPr>
          <a:xfrm rot="16200000" flipH="1">
            <a:off x="3926471" y="3306626"/>
            <a:ext cx="1119906" cy="3537205"/>
          </a:xfrm>
          <a:prstGeom prst="bentConnector3">
            <a:avLst>
              <a:gd name="adj1" fmla="val 120412"/>
            </a:avLst>
          </a:prstGeom>
          <a:ln w="57150"/>
        </p:spPr>
        <p:style>
          <a:lnRef idx="2">
            <a:schemeClr val="dk1"/>
          </a:lnRef>
          <a:fillRef idx="0">
            <a:schemeClr val="dk1"/>
          </a:fillRef>
          <a:effectRef idx="1">
            <a:schemeClr val="dk1"/>
          </a:effectRef>
          <a:fontRef idx="minor">
            <a:schemeClr val="tx1"/>
          </a:fontRef>
        </p:style>
      </p:cxnSp>
      <p:grpSp>
        <p:nvGrpSpPr>
          <p:cNvPr id="3" name="Grupo 2">
            <a:extLst>
              <a:ext uri="{FF2B5EF4-FFF2-40B4-BE49-F238E27FC236}">
                <a16:creationId xmlns:a16="http://schemas.microsoft.com/office/drawing/2014/main" id="{3C827940-2925-11D9-D670-E0FB5B47235E}"/>
              </a:ext>
            </a:extLst>
          </p:cNvPr>
          <p:cNvGrpSpPr/>
          <p:nvPr/>
        </p:nvGrpSpPr>
        <p:grpSpPr>
          <a:xfrm>
            <a:off x="0" y="715003"/>
            <a:ext cx="12192000" cy="1591933"/>
            <a:chOff x="0" y="1494572"/>
            <a:chExt cx="12192000" cy="1591933"/>
          </a:xfrm>
        </p:grpSpPr>
        <p:pic>
          <p:nvPicPr>
            <p:cNvPr id="1028" name="Picture 4" descr="The Model T">
              <a:extLst>
                <a:ext uri="{FF2B5EF4-FFF2-40B4-BE49-F238E27FC236}">
                  <a16:creationId xmlns:a16="http://schemas.microsoft.com/office/drawing/2014/main" id="{B442C43F-452E-7775-31A3-F610F02A1F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94572"/>
              <a:ext cx="6255027" cy="159193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9E482AB1-341E-439B-84E6-DF2E3B7B153F}"/>
                </a:ext>
              </a:extLst>
            </p:cNvPr>
            <p:cNvSpPr/>
            <p:nvPr/>
          </p:nvSpPr>
          <p:spPr>
            <a:xfrm>
              <a:off x="6255027" y="1494572"/>
              <a:ext cx="5936973" cy="1591933"/>
            </a:xfrm>
            <a:prstGeom prst="rect">
              <a:avLst/>
            </a:prstGeom>
            <a:solidFill>
              <a:srgbClr val="E4E4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pic>
        <p:nvPicPr>
          <p:cNvPr id="1030" name="Picture 6" descr="Henry Ford's First Car - Historical Pix">
            <a:extLst>
              <a:ext uri="{FF2B5EF4-FFF2-40B4-BE49-F238E27FC236}">
                <a16:creationId xmlns:a16="http://schemas.microsoft.com/office/drawing/2014/main" id="{6C0E048E-44A5-DCD0-7EB2-7CB1C58CD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9288" y="2612314"/>
            <a:ext cx="1773637" cy="121733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he First Ford Model A » Lisa Rivero">
            <a:extLst>
              <a:ext uri="{FF2B5EF4-FFF2-40B4-BE49-F238E27FC236}">
                <a16:creationId xmlns:a16="http://schemas.microsoft.com/office/drawing/2014/main" id="{C6D41AAF-D16D-3952-BD57-475CC59C1D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7915" y="2604400"/>
            <a:ext cx="1773637" cy="118027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1904 Ford Model B | The Model B was introduced by Ford in 19… | Flickr">
            <a:extLst>
              <a:ext uri="{FF2B5EF4-FFF2-40B4-BE49-F238E27FC236}">
                <a16:creationId xmlns:a16="http://schemas.microsoft.com/office/drawing/2014/main" id="{99778721-72FC-9686-2D04-7B78B5048A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944" y="2644478"/>
            <a:ext cx="1773637" cy="114019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odel T | Description &amp; Facts | Britannica">
            <a:extLst>
              <a:ext uri="{FF2B5EF4-FFF2-40B4-BE49-F238E27FC236}">
                <a16:creationId xmlns:a16="http://schemas.microsoft.com/office/drawing/2014/main" id="{755B5F8C-59ED-2F82-65E5-83B7726800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4581" y="2644477"/>
            <a:ext cx="1806377" cy="1140195"/>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9A8A3683-34A2-9003-418D-1CA3A2A7479F}"/>
              </a:ext>
            </a:extLst>
          </p:cNvPr>
          <p:cNvSpPr txBox="1"/>
          <p:nvPr/>
        </p:nvSpPr>
        <p:spPr>
          <a:xfrm>
            <a:off x="490331" y="176619"/>
            <a:ext cx="2919389" cy="461665"/>
          </a:xfrm>
          <a:prstGeom prst="rect">
            <a:avLst/>
          </a:prstGeom>
          <a:noFill/>
        </p:spPr>
        <p:txBody>
          <a:bodyPr wrap="none" rtlCol="0">
            <a:spAutoFit/>
          </a:bodyPr>
          <a:lstStyle/>
          <a:p>
            <a:r>
              <a:rPr lang="es-CL" sz="2400" b="1" dirty="0">
                <a:latin typeface="Raleway" pitchFamily="2" charset="77"/>
              </a:rPr>
              <a:t>La historia de Ford</a:t>
            </a:r>
          </a:p>
        </p:txBody>
      </p:sp>
      <p:sp>
        <p:nvSpPr>
          <p:cNvPr id="5" name="CuadroTexto 4">
            <a:extLst>
              <a:ext uri="{FF2B5EF4-FFF2-40B4-BE49-F238E27FC236}">
                <a16:creationId xmlns:a16="http://schemas.microsoft.com/office/drawing/2014/main" id="{D7AB09A1-1075-310B-3554-D242AC769C5A}"/>
              </a:ext>
            </a:extLst>
          </p:cNvPr>
          <p:cNvSpPr txBox="1"/>
          <p:nvPr/>
        </p:nvSpPr>
        <p:spPr>
          <a:xfrm>
            <a:off x="2387645" y="5221853"/>
            <a:ext cx="688009" cy="369332"/>
          </a:xfrm>
          <a:prstGeom prst="rect">
            <a:avLst/>
          </a:prstGeom>
          <a:noFill/>
        </p:spPr>
        <p:txBody>
          <a:bodyPr wrap="none" rtlCol="0">
            <a:spAutoFit/>
          </a:bodyPr>
          <a:lstStyle/>
          <a:p>
            <a:r>
              <a:rPr lang="es-CL" b="1" dirty="0">
                <a:highlight>
                  <a:srgbClr val="00FFFF"/>
                </a:highlight>
                <a:latin typeface="Raleway" pitchFamily="2" charset="77"/>
              </a:rPr>
              <a:t>MVP</a:t>
            </a:r>
          </a:p>
        </p:txBody>
      </p:sp>
      <p:sp>
        <p:nvSpPr>
          <p:cNvPr id="6" name="CuadroTexto 5">
            <a:extLst>
              <a:ext uri="{FF2B5EF4-FFF2-40B4-BE49-F238E27FC236}">
                <a16:creationId xmlns:a16="http://schemas.microsoft.com/office/drawing/2014/main" id="{9D9EBF1E-9B70-76C7-6C93-5DD7DF4C3E4C}"/>
              </a:ext>
            </a:extLst>
          </p:cNvPr>
          <p:cNvSpPr txBox="1"/>
          <p:nvPr/>
        </p:nvSpPr>
        <p:spPr>
          <a:xfrm>
            <a:off x="7288697" y="5221853"/>
            <a:ext cx="1245704" cy="523220"/>
          </a:xfrm>
          <a:prstGeom prst="rect">
            <a:avLst/>
          </a:prstGeom>
          <a:noFill/>
        </p:spPr>
        <p:txBody>
          <a:bodyPr wrap="square" rtlCol="0">
            <a:spAutoFit/>
          </a:bodyPr>
          <a:lstStyle/>
          <a:p>
            <a:r>
              <a:rPr lang="es-CL" sz="1400" b="1" dirty="0" err="1">
                <a:highlight>
                  <a:srgbClr val="00FFFF"/>
                </a:highlight>
                <a:latin typeface="Raleway" pitchFamily="2" charset="77"/>
              </a:rPr>
              <a:t>Product</a:t>
            </a:r>
            <a:r>
              <a:rPr lang="es-CL" sz="1400" b="1" dirty="0">
                <a:highlight>
                  <a:srgbClr val="00FFFF"/>
                </a:highlight>
                <a:latin typeface="Raleway" pitchFamily="2" charset="77"/>
              </a:rPr>
              <a:t> </a:t>
            </a:r>
            <a:r>
              <a:rPr lang="es-CL" sz="1400" b="1" dirty="0" err="1">
                <a:highlight>
                  <a:srgbClr val="00FFFF"/>
                </a:highlight>
                <a:latin typeface="Raleway" pitchFamily="2" charset="77"/>
              </a:rPr>
              <a:t>market</a:t>
            </a:r>
            <a:r>
              <a:rPr lang="es-CL" sz="1400" b="1" dirty="0">
                <a:highlight>
                  <a:srgbClr val="00FFFF"/>
                </a:highlight>
                <a:latin typeface="Raleway" pitchFamily="2" charset="77"/>
              </a:rPr>
              <a:t> </a:t>
            </a:r>
            <a:r>
              <a:rPr lang="es-CL" sz="1400" b="1" dirty="0" err="1">
                <a:highlight>
                  <a:srgbClr val="00FFFF"/>
                </a:highlight>
                <a:latin typeface="Raleway" pitchFamily="2" charset="77"/>
              </a:rPr>
              <a:t>fit</a:t>
            </a:r>
            <a:endParaRPr lang="es-CL" sz="1400" b="1" dirty="0">
              <a:highlight>
                <a:srgbClr val="00FFFF"/>
              </a:highlight>
              <a:latin typeface="Raleway" pitchFamily="2" charset="77"/>
            </a:endParaRPr>
          </a:p>
        </p:txBody>
      </p:sp>
      <p:sp>
        <p:nvSpPr>
          <p:cNvPr id="7" name="CuadroTexto 6">
            <a:extLst>
              <a:ext uri="{FF2B5EF4-FFF2-40B4-BE49-F238E27FC236}">
                <a16:creationId xmlns:a16="http://schemas.microsoft.com/office/drawing/2014/main" id="{0AF69068-0175-2F85-C068-6EC6F058EB18}"/>
              </a:ext>
            </a:extLst>
          </p:cNvPr>
          <p:cNvSpPr txBox="1"/>
          <p:nvPr/>
        </p:nvSpPr>
        <p:spPr>
          <a:xfrm>
            <a:off x="9997609" y="5210364"/>
            <a:ext cx="1245704" cy="738664"/>
          </a:xfrm>
          <a:prstGeom prst="rect">
            <a:avLst/>
          </a:prstGeom>
          <a:noFill/>
        </p:spPr>
        <p:txBody>
          <a:bodyPr wrap="square" rtlCol="0">
            <a:spAutoFit/>
          </a:bodyPr>
          <a:lstStyle/>
          <a:p>
            <a:r>
              <a:rPr lang="es-CL" sz="1400" b="1" dirty="0">
                <a:highlight>
                  <a:srgbClr val="00FFFF"/>
                </a:highlight>
                <a:latin typeface="Raleway" pitchFamily="2" charset="77"/>
              </a:rPr>
              <a:t>Ajuste del modelo de negocios</a:t>
            </a:r>
          </a:p>
        </p:txBody>
      </p:sp>
      <p:sp>
        <p:nvSpPr>
          <p:cNvPr id="9" name="CuadroTexto 8">
            <a:extLst>
              <a:ext uri="{FF2B5EF4-FFF2-40B4-BE49-F238E27FC236}">
                <a16:creationId xmlns:a16="http://schemas.microsoft.com/office/drawing/2014/main" id="{5D47F0E5-E9AA-3C4E-2489-E18BC045E960}"/>
              </a:ext>
            </a:extLst>
          </p:cNvPr>
          <p:cNvSpPr txBox="1"/>
          <p:nvPr/>
        </p:nvSpPr>
        <p:spPr>
          <a:xfrm>
            <a:off x="6096000" y="821019"/>
            <a:ext cx="5618922" cy="1384995"/>
          </a:xfrm>
          <a:prstGeom prst="rect">
            <a:avLst/>
          </a:prstGeom>
          <a:noFill/>
        </p:spPr>
        <p:txBody>
          <a:bodyPr wrap="square">
            <a:spAutoFit/>
          </a:bodyPr>
          <a:lstStyle/>
          <a:p>
            <a:pPr algn="l" rtl="0">
              <a:buNone/>
            </a:pPr>
            <a:r>
              <a:rPr lang="es-CL" sz="1400" i="0" u="none" strike="noStrike" dirty="0">
                <a:effectLst/>
                <a:latin typeface="Raleway" pitchFamily="2" charset="77"/>
              </a:rPr>
              <a:t>La visión de Henry Ford era hacer el automóvil un producto práctico y asequible para la gente común, no solo para ricos. Implementó el sistema de producción en cadena y la estandarización de piezas para aumentar la eficiencia y bajar los costos, democratizando así la movilidad y transformando la sociedad y la economía.</a:t>
            </a:r>
            <a:endParaRPr lang="es-CL" sz="1400" dirty="0">
              <a:latin typeface="Raleway" pitchFamily="2" charset="77"/>
            </a:endParaRPr>
          </a:p>
        </p:txBody>
      </p:sp>
      <p:cxnSp>
        <p:nvCxnSpPr>
          <p:cNvPr id="11" name="Conector recto de flecha 10">
            <a:extLst>
              <a:ext uri="{FF2B5EF4-FFF2-40B4-BE49-F238E27FC236}">
                <a16:creationId xmlns:a16="http://schemas.microsoft.com/office/drawing/2014/main" id="{80276CDF-9626-0CF1-9734-AC804519F8D5}"/>
              </a:ext>
            </a:extLst>
          </p:cNvPr>
          <p:cNvCxnSpPr/>
          <p:nvPr/>
        </p:nvCxnSpPr>
        <p:spPr>
          <a:xfrm>
            <a:off x="1389288" y="3905844"/>
            <a:ext cx="9177112"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12" name="CuadroTexto 11">
            <a:extLst>
              <a:ext uri="{FF2B5EF4-FFF2-40B4-BE49-F238E27FC236}">
                <a16:creationId xmlns:a16="http://schemas.microsoft.com/office/drawing/2014/main" id="{954D92B7-3C79-F08E-0CF9-5DD0E7EBC421}"/>
              </a:ext>
            </a:extLst>
          </p:cNvPr>
          <p:cNvSpPr txBox="1"/>
          <p:nvPr/>
        </p:nvSpPr>
        <p:spPr>
          <a:xfrm>
            <a:off x="2260644" y="4007445"/>
            <a:ext cx="914355" cy="507831"/>
          </a:xfrm>
          <a:prstGeom prst="rect">
            <a:avLst/>
          </a:prstGeom>
          <a:solidFill>
            <a:schemeClr val="bg1"/>
          </a:solidFill>
        </p:spPr>
        <p:txBody>
          <a:bodyPr wrap="square" rtlCol="0">
            <a:spAutoFit/>
          </a:bodyPr>
          <a:lstStyle/>
          <a:p>
            <a:pPr algn="ctr"/>
            <a:r>
              <a:rPr lang="es-CL" sz="1100" b="1" dirty="0">
                <a:latin typeface="Raleway" pitchFamily="2" charset="77"/>
              </a:rPr>
              <a:t>1896</a:t>
            </a:r>
          </a:p>
          <a:p>
            <a:pPr algn="ctr"/>
            <a:r>
              <a:rPr lang="es-CL" sz="800" dirty="0">
                <a:latin typeface="Raleway" pitchFamily="2" charset="77"/>
              </a:rPr>
              <a:t>Cuatriciclo de Henry Ford</a:t>
            </a:r>
          </a:p>
        </p:txBody>
      </p:sp>
      <p:sp>
        <p:nvSpPr>
          <p:cNvPr id="13" name="CuadroTexto 12">
            <a:extLst>
              <a:ext uri="{FF2B5EF4-FFF2-40B4-BE49-F238E27FC236}">
                <a16:creationId xmlns:a16="http://schemas.microsoft.com/office/drawing/2014/main" id="{E461DB9D-F71D-5C76-117D-4BD13FF34BA4}"/>
              </a:ext>
            </a:extLst>
          </p:cNvPr>
          <p:cNvSpPr txBox="1"/>
          <p:nvPr/>
        </p:nvSpPr>
        <p:spPr>
          <a:xfrm>
            <a:off x="3673052" y="4050133"/>
            <a:ext cx="914355" cy="1123384"/>
          </a:xfrm>
          <a:prstGeom prst="rect">
            <a:avLst/>
          </a:prstGeom>
          <a:solidFill>
            <a:schemeClr val="bg1"/>
          </a:solidFill>
        </p:spPr>
        <p:txBody>
          <a:bodyPr wrap="square" rtlCol="0">
            <a:spAutoFit/>
          </a:bodyPr>
          <a:lstStyle/>
          <a:p>
            <a:pPr algn="ctr"/>
            <a:r>
              <a:rPr lang="es-CL" sz="1100" b="1" dirty="0">
                <a:latin typeface="Raleway" pitchFamily="2" charset="77"/>
              </a:rPr>
              <a:t>1903</a:t>
            </a:r>
          </a:p>
          <a:p>
            <a:pPr algn="ctr"/>
            <a:r>
              <a:rPr lang="es-CL" sz="800" dirty="0">
                <a:latin typeface="Raleway" pitchFamily="2" charset="77"/>
              </a:rPr>
              <a:t>Fundación de Ford Motor Company</a:t>
            </a:r>
          </a:p>
          <a:p>
            <a:pPr algn="ctr"/>
            <a:r>
              <a:rPr lang="es-CL" sz="800" dirty="0">
                <a:latin typeface="Raleway" pitchFamily="2" charset="77"/>
              </a:rPr>
              <a:t>Modelo Ford A</a:t>
            </a:r>
          </a:p>
          <a:p>
            <a:pPr algn="ctr"/>
            <a:r>
              <a:rPr lang="es-CL" sz="800" dirty="0">
                <a:latin typeface="Raleway" pitchFamily="2" charset="77"/>
              </a:rPr>
              <a:t>Diseño de carruaje sin caballos</a:t>
            </a:r>
          </a:p>
        </p:txBody>
      </p:sp>
      <p:sp>
        <p:nvSpPr>
          <p:cNvPr id="14" name="CuadroTexto 13">
            <a:extLst>
              <a:ext uri="{FF2B5EF4-FFF2-40B4-BE49-F238E27FC236}">
                <a16:creationId xmlns:a16="http://schemas.microsoft.com/office/drawing/2014/main" id="{646D0B8B-9C45-CE58-3CB6-B4D92B49E302}"/>
              </a:ext>
            </a:extLst>
          </p:cNvPr>
          <p:cNvSpPr txBox="1"/>
          <p:nvPr/>
        </p:nvSpPr>
        <p:spPr>
          <a:xfrm>
            <a:off x="4587407" y="4050133"/>
            <a:ext cx="914355" cy="877163"/>
          </a:xfrm>
          <a:prstGeom prst="rect">
            <a:avLst/>
          </a:prstGeom>
          <a:solidFill>
            <a:schemeClr val="bg1"/>
          </a:solidFill>
        </p:spPr>
        <p:txBody>
          <a:bodyPr wrap="square" rtlCol="0">
            <a:spAutoFit/>
          </a:bodyPr>
          <a:lstStyle/>
          <a:p>
            <a:pPr algn="ctr"/>
            <a:r>
              <a:rPr lang="es-CL" sz="1100" b="1" dirty="0">
                <a:latin typeface="Raleway" pitchFamily="2" charset="77"/>
              </a:rPr>
              <a:t>1904</a:t>
            </a:r>
          </a:p>
          <a:p>
            <a:pPr algn="ctr"/>
            <a:r>
              <a:rPr lang="es-CL" sz="800" dirty="0">
                <a:latin typeface="Raleway" pitchFamily="2" charset="77"/>
              </a:rPr>
              <a:t>Modelo Ford B</a:t>
            </a:r>
          </a:p>
          <a:p>
            <a:pPr algn="ctr"/>
            <a:r>
              <a:rPr lang="es-CL" sz="800" dirty="0">
                <a:latin typeface="Raleway" pitchFamily="2" charset="77"/>
              </a:rPr>
              <a:t>Primer Ford con arquitectura Panhard*</a:t>
            </a:r>
          </a:p>
        </p:txBody>
      </p:sp>
      <p:sp>
        <p:nvSpPr>
          <p:cNvPr id="15" name="CuadroTexto 14">
            <a:extLst>
              <a:ext uri="{FF2B5EF4-FFF2-40B4-BE49-F238E27FC236}">
                <a16:creationId xmlns:a16="http://schemas.microsoft.com/office/drawing/2014/main" id="{BA734FE7-B852-3876-A5FB-0375FEECF3CB}"/>
              </a:ext>
            </a:extLst>
          </p:cNvPr>
          <p:cNvSpPr txBox="1"/>
          <p:nvPr/>
        </p:nvSpPr>
        <p:spPr>
          <a:xfrm>
            <a:off x="5562647" y="4050133"/>
            <a:ext cx="1384760" cy="1585049"/>
          </a:xfrm>
          <a:prstGeom prst="rect">
            <a:avLst/>
          </a:prstGeom>
          <a:solidFill>
            <a:schemeClr val="bg1"/>
          </a:solidFill>
        </p:spPr>
        <p:txBody>
          <a:bodyPr wrap="square" rtlCol="0">
            <a:spAutoFit/>
          </a:bodyPr>
          <a:lstStyle/>
          <a:p>
            <a:pPr algn="ctr"/>
            <a:r>
              <a:rPr lang="es-CL" sz="1100" b="1" dirty="0">
                <a:latin typeface="Raleway" pitchFamily="2" charset="77"/>
              </a:rPr>
              <a:t>1906</a:t>
            </a:r>
          </a:p>
          <a:p>
            <a:pPr algn="ctr"/>
            <a:r>
              <a:rPr lang="es-CL" sz="1100" b="1" dirty="0">
                <a:latin typeface="Raleway" pitchFamily="2" charset="77"/>
              </a:rPr>
              <a:t>Diseño dominante</a:t>
            </a:r>
          </a:p>
          <a:p>
            <a:pPr algn="ctr"/>
            <a:r>
              <a:rPr lang="es-CL" sz="800" dirty="0">
                <a:latin typeface="Raleway" pitchFamily="2" charset="77"/>
              </a:rPr>
              <a:t>Motor de combustión</a:t>
            </a:r>
          </a:p>
          <a:p>
            <a:pPr algn="ctr"/>
            <a:r>
              <a:rPr lang="es-CL" sz="800" dirty="0">
                <a:latin typeface="Raleway" pitchFamily="2" charset="77"/>
              </a:rPr>
              <a:t>Arquitectura Panhard</a:t>
            </a:r>
          </a:p>
          <a:p>
            <a:pPr algn="ctr"/>
            <a:endParaRPr lang="es-CL" sz="800" dirty="0">
              <a:latin typeface="Raleway" pitchFamily="2" charset="77"/>
            </a:endParaRPr>
          </a:p>
          <a:p>
            <a:pPr algn="ctr"/>
            <a:r>
              <a:rPr lang="es-CL" sz="800" dirty="0">
                <a:latin typeface="Raleway" pitchFamily="2" charset="77"/>
              </a:rPr>
              <a:t>Ford abandona el diseño tipo carruaje…</a:t>
            </a:r>
          </a:p>
          <a:p>
            <a:pPr algn="ctr"/>
            <a:r>
              <a:rPr lang="es-CL" sz="800" dirty="0">
                <a:latin typeface="Raleway" pitchFamily="2" charset="77"/>
              </a:rPr>
              <a:t>El modelo N es el primero en fijar el diseño dominante</a:t>
            </a:r>
          </a:p>
        </p:txBody>
      </p:sp>
      <p:sp>
        <p:nvSpPr>
          <p:cNvPr id="16" name="CuadroTexto 15">
            <a:extLst>
              <a:ext uri="{FF2B5EF4-FFF2-40B4-BE49-F238E27FC236}">
                <a16:creationId xmlns:a16="http://schemas.microsoft.com/office/drawing/2014/main" id="{4531BB41-3682-642E-8392-60493D2B453A}"/>
              </a:ext>
            </a:extLst>
          </p:cNvPr>
          <p:cNvSpPr txBox="1"/>
          <p:nvPr/>
        </p:nvSpPr>
        <p:spPr>
          <a:xfrm>
            <a:off x="6871207" y="4050273"/>
            <a:ext cx="1041348" cy="507831"/>
          </a:xfrm>
          <a:prstGeom prst="rect">
            <a:avLst/>
          </a:prstGeom>
          <a:solidFill>
            <a:schemeClr val="bg1"/>
          </a:solidFill>
        </p:spPr>
        <p:txBody>
          <a:bodyPr wrap="square" rtlCol="0">
            <a:spAutoFit/>
          </a:bodyPr>
          <a:lstStyle/>
          <a:p>
            <a:pPr algn="ctr"/>
            <a:r>
              <a:rPr lang="es-CL" sz="1100" b="1" dirty="0">
                <a:latin typeface="Raleway" pitchFamily="2" charset="77"/>
              </a:rPr>
              <a:t>1908</a:t>
            </a:r>
          </a:p>
          <a:p>
            <a:pPr algn="ctr"/>
            <a:r>
              <a:rPr lang="es-CL" sz="800" dirty="0">
                <a:latin typeface="Raleway" pitchFamily="2" charset="77"/>
              </a:rPr>
              <a:t>Modelo Ford T</a:t>
            </a:r>
          </a:p>
          <a:p>
            <a:pPr algn="ctr"/>
            <a:r>
              <a:rPr lang="en-US" sz="800" noProof="0" dirty="0">
                <a:latin typeface="Raleway" pitchFamily="2" charset="77"/>
              </a:rPr>
              <a:t>Product market fit</a:t>
            </a:r>
          </a:p>
        </p:txBody>
      </p:sp>
      <p:sp>
        <p:nvSpPr>
          <p:cNvPr id="17" name="CuadroTexto 16">
            <a:extLst>
              <a:ext uri="{FF2B5EF4-FFF2-40B4-BE49-F238E27FC236}">
                <a16:creationId xmlns:a16="http://schemas.microsoft.com/office/drawing/2014/main" id="{172D24A9-03ED-B68D-E8F7-7FD0BA8E161D}"/>
              </a:ext>
            </a:extLst>
          </p:cNvPr>
          <p:cNvSpPr txBox="1"/>
          <p:nvPr/>
        </p:nvSpPr>
        <p:spPr>
          <a:xfrm>
            <a:off x="9789625" y="4050133"/>
            <a:ext cx="1289030" cy="630942"/>
          </a:xfrm>
          <a:prstGeom prst="rect">
            <a:avLst/>
          </a:prstGeom>
          <a:solidFill>
            <a:schemeClr val="bg1"/>
          </a:solidFill>
        </p:spPr>
        <p:txBody>
          <a:bodyPr wrap="square" rtlCol="0">
            <a:spAutoFit/>
          </a:bodyPr>
          <a:lstStyle/>
          <a:p>
            <a:pPr algn="ctr"/>
            <a:r>
              <a:rPr lang="es-CL" sz="1100" b="1" dirty="0">
                <a:latin typeface="Raleway" pitchFamily="2" charset="77"/>
              </a:rPr>
              <a:t>1914</a:t>
            </a:r>
          </a:p>
          <a:p>
            <a:pPr algn="ctr"/>
            <a:r>
              <a:rPr lang="es-419" sz="800" dirty="0">
                <a:latin typeface="Raleway" pitchFamily="2" charset="77"/>
              </a:rPr>
              <a:t>Producción en cadena lineal hasta completa implementación</a:t>
            </a:r>
            <a:endParaRPr lang="en-US" sz="800" noProof="0" dirty="0">
              <a:latin typeface="Raleway" pitchFamily="2" charset="77"/>
            </a:endParaRPr>
          </a:p>
        </p:txBody>
      </p:sp>
      <p:sp>
        <p:nvSpPr>
          <p:cNvPr id="20" name="CuadroTexto 19">
            <a:extLst>
              <a:ext uri="{FF2B5EF4-FFF2-40B4-BE49-F238E27FC236}">
                <a16:creationId xmlns:a16="http://schemas.microsoft.com/office/drawing/2014/main" id="{EE174EEE-63E3-07E9-A99D-005124EB3D20}"/>
              </a:ext>
            </a:extLst>
          </p:cNvPr>
          <p:cNvSpPr txBox="1"/>
          <p:nvPr/>
        </p:nvSpPr>
        <p:spPr>
          <a:xfrm>
            <a:off x="3038624" y="5929366"/>
            <a:ext cx="2650976" cy="523220"/>
          </a:xfrm>
          <a:prstGeom prst="rect">
            <a:avLst/>
          </a:prstGeom>
          <a:noFill/>
        </p:spPr>
        <p:txBody>
          <a:bodyPr wrap="square" rtlCol="0">
            <a:spAutoFit/>
          </a:bodyPr>
          <a:lstStyle/>
          <a:p>
            <a:pPr algn="ctr"/>
            <a:r>
              <a:rPr lang="es-CL" sz="1400" b="1" dirty="0">
                <a:latin typeface="Raleway" pitchFamily="2" charset="77"/>
              </a:rPr>
              <a:t>Etapa de experimentación de FORD</a:t>
            </a:r>
          </a:p>
        </p:txBody>
      </p:sp>
      <p:sp>
        <p:nvSpPr>
          <p:cNvPr id="22" name="CuadroTexto 21">
            <a:extLst>
              <a:ext uri="{FF2B5EF4-FFF2-40B4-BE49-F238E27FC236}">
                <a16:creationId xmlns:a16="http://schemas.microsoft.com/office/drawing/2014/main" id="{FA025053-B69C-4E8E-A15B-B78E03382888}"/>
              </a:ext>
            </a:extLst>
          </p:cNvPr>
          <p:cNvSpPr txBox="1"/>
          <p:nvPr/>
        </p:nvSpPr>
        <p:spPr>
          <a:xfrm>
            <a:off x="490330" y="6532259"/>
            <a:ext cx="11224591" cy="246221"/>
          </a:xfrm>
          <a:prstGeom prst="rect">
            <a:avLst/>
          </a:prstGeom>
          <a:noFill/>
        </p:spPr>
        <p:txBody>
          <a:bodyPr wrap="square">
            <a:spAutoFit/>
          </a:bodyPr>
          <a:lstStyle/>
          <a:p>
            <a:pPr algn="l" rtl="0">
              <a:buNone/>
            </a:pPr>
            <a:r>
              <a:rPr lang="es-ES" sz="1000" dirty="0">
                <a:solidFill>
                  <a:srgbClr val="1F1F1F"/>
                </a:solidFill>
                <a:latin typeface="Raleway" pitchFamily="2" charset="77"/>
              </a:rPr>
              <a:t>*D</a:t>
            </a:r>
            <a:r>
              <a:rPr lang="es-ES" sz="1000" b="0" i="0" u="none" strike="noStrike" dirty="0">
                <a:solidFill>
                  <a:srgbClr val="1F1F1F"/>
                </a:solidFill>
                <a:effectLst/>
                <a:latin typeface="Raleway" pitchFamily="2" charset="77"/>
              </a:rPr>
              <a:t>iseño Panhard &amp; </a:t>
            </a:r>
            <a:r>
              <a:rPr lang="es-ES" sz="1000" b="0" i="0" u="none" strike="noStrike" dirty="0" err="1">
                <a:solidFill>
                  <a:srgbClr val="1F1F1F"/>
                </a:solidFill>
                <a:effectLst/>
                <a:latin typeface="Raleway" pitchFamily="2" charset="77"/>
              </a:rPr>
              <a:t>Levassor</a:t>
            </a:r>
            <a:r>
              <a:rPr lang="es-ES" sz="1000" b="0" i="0" u="none" strike="noStrike" dirty="0">
                <a:solidFill>
                  <a:srgbClr val="1F1F1F"/>
                </a:solidFill>
                <a:effectLst/>
                <a:latin typeface="Raleway" pitchFamily="2" charset="77"/>
              </a:rPr>
              <a:t>, con un motor montado en la parte delantera del chasis, una caja de cambios y una transmisión por cardán a un eje trasero rígido.</a:t>
            </a:r>
          </a:p>
        </p:txBody>
      </p:sp>
    </p:spTree>
    <p:extLst>
      <p:ext uri="{BB962C8B-B14F-4D97-AF65-F5344CB8AC3E}">
        <p14:creationId xmlns:p14="http://schemas.microsoft.com/office/powerpoint/2010/main" val="2098100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37B4799-6B0B-55C8-8866-0100967E5DD6}"/>
              </a:ext>
            </a:extLst>
          </p:cNvPr>
          <p:cNvPicPr>
            <a:picLocks noChangeAspect="1"/>
          </p:cNvPicPr>
          <p:nvPr/>
        </p:nvPicPr>
        <p:blipFill>
          <a:blip r:embed="rId2"/>
          <a:stretch>
            <a:fillRect/>
          </a:stretch>
        </p:blipFill>
        <p:spPr>
          <a:xfrm>
            <a:off x="2209800" y="1176680"/>
            <a:ext cx="7772400" cy="5273262"/>
          </a:xfrm>
          <a:prstGeom prst="rect">
            <a:avLst/>
          </a:prstGeom>
        </p:spPr>
      </p:pic>
      <p:sp>
        <p:nvSpPr>
          <p:cNvPr id="5" name="CuadroTexto 4">
            <a:extLst>
              <a:ext uri="{FF2B5EF4-FFF2-40B4-BE49-F238E27FC236}">
                <a16:creationId xmlns:a16="http://schemas.microsoft.com/office/drawing/2014/main" id="{299966DD-E5A4-2F72-CBA1-E9D799C51C8A}"/>
              </a:ext>
            </a:extLst>
          </p:cNvPr>
          <p:cNvSpPr txBox="1"/>
          <p:nvPr/>
        </p:nvSpPr>
        <p:spPr>
          <a:xfrm>
            <a:off x="357809" y="384311"/>
            <a:ext cx="3059171" cy="369332"/>
          </a:xfrm>
          <a:prstGeom prst="rect">
            <a:avLst/>
          </a:prstGeom>
          <a:noFill/>
        </p:spPr>
        <p:txBody>
          <a:bodyPr wrap="none" rtlCol="0">
            <a:spAutoFit/>
          </a:bodyPr>
          <a:lstStyle/>
          <a:p>
            <a:r>
              <a:rPr lang="es-CL" b="1" dirty="0"/>
              <a:t>Plan financiero </a:t>
            </a:r>
            <a:r>
              <a:rPr lang="es-CL" b="1" dirty="0" err="1"/>
              <a:t>StartUp</a:t>
            </a:r>
            <a:r>
              <a:rPr lang="es-CL" b="1" dirty="0"/>
              <a:t> </a:t>
            </a:r>
            <a:r>
              <a:rPr lang="es-CL" b="1" dirty="0" err="1"/>
              <a:t>one</a:t>
            </a:r>
            <a:endParaRPr lang="es-CL" b="1" dirty="0"/>
          </a:p>
        </p:txBody>
      </p:sp>
      <p:cxnSp>
        <p:nvCxnSpPr>
          <p:cNvPr id="7" name="Conector recto 6">
            <a:extLst>
              <a:ext uri="{FF2B5EF4-FFF2-40B4-BE49-F238E27FC236}">
                <a16:creationId xmlns:a16="http://schemas.microsoft.com/office/drawing/2014/main" id="{1822EFAB-62D5-9E7D-76F4-87FE7EEFDCD5}"/>
              </a:ext>
            </a:extLst>
          </p:cNvPr>
          <p:cNvCxnSpPr/>
          <p:nvPr/>
        </p:nvCxnSpPr>
        <p:spPr>
          <a:xfrm flipV="1">
            <a:off x="10098158" y="5393635"/>
            <a:ext cx="1868556" cy="357808"/>
          </a:xfrm>
          <a:prstGeom prst="line">
            <a:avLst/>
          </a:prstGeom>
          <a:ln w="38100">
            <a:solidFill>
              <a:srgbClr val="FFC000"/>
            </a:solidFill>
          </a:ln>
        </p:spPr>
        <p:style>
          <a:lnRef idx="2">
            <a:schemeClr val="accent1"/>
          </a:lnRef>
          <a:fillRef idx="0">
            <a:schemeClr val="accent1"/>
          </a:fillRef>
          <a:effectRef idx="1">
            <a:schemeClr val="accent1"/>
          </a:effectRef>
          <a:fontRef idx="minor">
            <a:schemeClr val="tx1"/>
          </a:fontRef>
        </p:style>
      </p:cxnSp>
      <p:sp>
        <p:nvSpPr>
          <p:cNvPr id="12" name="Forma libre 11">
            <a:extLst>
              <a:ext uri="{FF2B5EF4-FFF2-40B4-BE49-F238E27FC236}">
                <a16:creationId xmlns:a16="http://schemas.microsoft.com/office/drawing/2014/main" id="{2A3E2A30-8064-52CE-C4EF-F9CD14FF361E}"/>
              </a:ext>
            </a:extLst>
          </p:cNvPr>
          <p:cNvSpPr/>
          <p:nvPr/>
        </p:nvSpPr>
        <p:spPr>
          <a:xfrm>
            <a:off x="9846366" y="4823791"/>
            <a:ext cx="2120348" cy="1360064"/>
          </a:xfrm>
          <a:custGeom>
            <a:avLst/>
            <a:gdLst>
              <a:gd name="connsiteX0" fmla="*/ 0 w 1736034"/>
              <a:gd name="connsiteY0" fmla="*/ 755374 h 984095"/>
              <a:gd name="connsiteX1" fmla="*/ 357808 w 1736034"/>
              <a:gd name="connsiteY1" fmla="*/ 980661 h 984095"/>
              <a:gd name="connsiteX2" fmla="*/ 795130 w 1736034"/>
              <a:gd name="connsiteY2" fmla="*/ 821635 h 984095"/>
              <a:gd name="connsiteX3" fmla="*/ 1736034 w 1736034"/>
              <a:gd name="connsiteY3" fmla="*/ 0 h 984095"/>
              <a:gd name="connsiteX4" fmla="*/ 1736034 w 1736034"/>
              <a:gd name="connsiteY4" fmla="*/ 0 h 9840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034" h="984095">
                <a:moveTo>
                  <a:pt x="0" y="755374"/>
                </a:moveTo>
                <a:cubicBezTo>
                  <a:pt x="112643" y="862496"/>
                  <a:pt x="225286" y="969618"/>
                  <a:pt x="357808" y="980661"/>
                </a:cubicBezTo>
                <a:cubicBezTo>
                  <a:pt x="490330" y="991704"/>
                  <a:pt x="565426" y="985078"/>
                  <a:pt x="795130" y="821635"/>
                </a:cubicBezTo>
                <a:cubicBezTo>
                  <a:pt x="1024834" y="658192"/>
                  <a:pt x="1736034" y="0"/>
                  <a:pt x="1736034" y="0"/>
                </a:cubicBezTo>
                <a:lnTo>
                  <a:pt x="1736034" y="0"/>
                </a:lnTo>
              </a:path>
            </a:pathLst>
          </a:cu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14" name="Conector recto 13">
            <a:extLst>
              <a:ext uri="{FF2B5EF4-FFF2-40B4-BE49-F238E27FC236}">
                <a16:creationId xmlns:a16="http://schemas.microsoft.com/office/drawing/2014/main" id="{75B427E8-AEF3-D0D4-C06C-628292BF9011}"/>
              </a:ext>
            </a:extLst>
          </p:cNvPr>
          <p:cNvCxnSpPr>
            <a:cxnSpLocks/>
          </p:cNvCxnSpPr>
          <p:nvPr/>
        </p:nvCxnSpPr>
        <p:spPr>
          <a:xfrm flipV="1">
            <a:off x="10296939" y="4391379"/>
            <a:ext cx="1563757" cy="1545593"/>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id="{A2827784-7784-FD76-B555-4234EBB279B5}"/>
              </a:ext>
            </a:extLst>
          </p:cNvPr>
          <p:cNvSpPr txBox="1"/>
          <p:nvPr/>
        </p:nvSpPr>
        <p:spPr>
          <a:xfrm>
            <a:off x="8527775" y="530349"/>
            <a:ext cx="3140766" cy="646331"/>
          </a:xfrm>
          <a:prstGeom prst="rect">
            <a:avLst/>
          </a:prstGeom>
          <a:noFill/>
        </p:spPr>
        <p:txBody>
          <a:bodyPr wrap="square" rtlCol="0">
            <a:spAutoFit/>
          </a:bodyPr>
          <a:lstStyle/>
          <a:p>
            <a:r>
              <a:rPr lang="es-CL" dirty="0">
                <a:solidFill>
                  <a:srgbClr val="0070C0"/>
                </a:solidFill>
                <a:latin typeface="Ink Free" panose="03080402000500000000" pitchFamily="66" charset="0"/>
              </a:rPr>
              <a:t>Trabajar indicadores tanto financieros como tecnológicos</a:t>
            </a:r>
          </a:p>
        </p:txBody>
      </p:sp>
      <p:cxnSp>
        <p:nvCxnSpPr>
          <p:cNvPr id="18" name="Conector recto de flecha 17">
            <a:extLst>
              <a:ext uri="{FF2B5EF4-FFF2-40B4-BE49-F238E27FC236}">
                <a16:creationId xmlns:a16="http://schemas.microsoft.com/office/drawing/2014/main" id="{D3892D8D-D97B-277D-841F-0C2C99D9273A}"/>
              </a:ext>
            </a:extLst>
          </p:cNvPr>
          <p:cNvCxnSpPr>
            <a:stCxn id="16" idx="1"/>
          </p:cNvCxnSpPr>
          <p:nvPr/>
        </p:nvCxnSpPr>
        <p:spPr>
          <a:xfrm flipH="1">
            <a:off x="7938052" y="853515"/>
            <a:ext cx="589723" cy="154512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 name="Rectángulo 1">
            <a:extLst>
              <a:ext uri="{FF2B5EF4-FFF2-40B4-BE49-F238E27FC236}">
                <a16:creationId xmlns:a16="http://schemas.microsoft.com/office/drawing/2014/main" id="{F7277F3F-EE29-D875-D91B-8F57791337BB}"/>
              </a:ext>
            </a:extLst>
          </p:cNvPr>
          <p:cNvSpPr/>
          <p:nvPr/>
        </p:nvSpPr>
        <p:spPr>
          <a:xfrm>
            <a:off x="3586163" y="1176680"/>
            <a:ext cx="528637" cy="1949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sp>
        <p:nvSpPr>
          <p:cNvPr id="3" name="Rectángulo 2">
            <a:extLst>
              <a:ext uri="{FF2B5EF4-FFF2-40B4-BE49-F238E27FC236}">
                <a16:creationId xmlns:a16="http://schemas.microsoft.com/office/drawing/2014/main" id="{6FBB26C7-6785-0E8E-1707-42A1EB364B3F}"/>
              </a:ext>
            </a:extLst>
          </p:cNvPr>
          <p:cNvSpPr/>
          <p:nvPr/>
        </p:nvSpPr>
        <p:spPr>
          <a:xfrm>
            <a:off x="8243268" y="4362803"/>
            <a:ext cx="503999" cy="20919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sp>
        <p:nvSpPr>
          <p:cNvPr id="6" name="CuadroTexto 5">
            <a:extLst>
              <a:ext uri="{FF2B5EF4-FFF2-40B4-BE49-F238E27FC236}">
                <a16:creationId xmlns:a16="http://schemas.microsoft.com/office/drawing/2014/main" id="{2DB8F89A-D741-120A-46B4-298400BD470B}"/>
              </a:ext>
            </a:extLst>
          </p:cNvPr>
          <p:cNvSpPr txBox="1"/>
          <p:nvPr/>
        </p:nvSpPr>
        <p:spPr>
          <a:xfrm>
            <a:off x="10151166" y="3552459"/>
            <a:ext cx="1762539" cy="369332"/>
          </a:xfrm>
          <a:prstGeom prst="rect">
            <a:avLst/>
          </a:prstGeom>
          <a:noFill/>
        </p:spPr>
        <p:txBody>
          <a:bodyPr wrap="square" rtlCol="0">
            <a:spAutoFit/>
          </a:bodyPr>
          <a:lstStyle>
            <a:defPPr>
              <a:defRPr lang="es-CL"/>
            </a:defPPr>
            <a:lvl1pPr>
              <a:defRPr>
                <a:solidFill>
                  <a:srgbClr val="0070C0"/>
                </a:solidFill>
                <a:latin typeface="Ink Free" panose="03080402000500000000" pitchFamily="66" charset="0"/>
              </a:defRPr>
            </a:lvl1pPr>
          </a:lstStyle>
          <a:p>
            <a:r>
              <a:rPr lang="es-CL" dirty="0"/>
              <a:t>Lo que se busca</a:t>
            </a:r>
          </a:p>
        </p:txBody>
      </p:sp>
      <p:cxnSp>
        <p:nvCxnSpPr>
          <p:cNvPr id="9" name="Conector recto de flecha 8">
            <a:extLst>
              <a:ext uri="{FF2B5EF4-FFF2-40B4-BE49-F238E27FC236}">
                <a16:creationId xmlns:a16="http://schemas.microsoft.com/office/drawing/2014/main" id="{74A4FDC5-557D-F557-6C2A-D796E344969B}"/>
              </a:ext>
            </a:extLst>
          </p:cNvPr>
          <p:cNvCxnSpPr>
            <a:stCxn id="6" idx="2"/>
          </p:cNvCxnSpPr>
          <p:nvPr/>
        </p:nvCxnSpPr>
        <p:spPr>
          <a:xfrm flipH="1">
            <a:off x="11032435" y="3921791"/>
            <a:ext cx="1" cy="54561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0" name="CuadroTexto 9">
            <a:extLst>
              <a:ext uri="{FF2B5EF4-FFF2-40B4-BE49-F238E27FC236}">
                <a16:creationId xmlns:a16="http://schemas.microsoft.com/office/drawing/2014/main" id="{F95141DB-1B89-C0E2-75F8-16C5330A828D}"/>
              </a:ext>
            </a:extLst>
          </p:cNvPr>
          <p:cNvSpPr txBox="1"/>
          <p:nvPr/>
        </p:nvSpPr>
        <p:spPr>
          <a:xfrm>
            <a:off x="357809" y="1626078"/>
            <a:ext cx="1630016" cy="4324261"/>
          </a:xfrm>
          <a:prstGeom prst="rect">
            <a:avLst/>
          </a:prstGeom>
          <a:noFill/>
        </p:spPr>
        <p:txBody>
          <a:bodyPr wrap="square" rtlCol="0">
            <a:spAutoFit/>
          </a:bodyPr>
          <a:lstStyle/>
          <a:p>
            <a:r>
              <a:rPr lang="es-CL" sz="1100" dirty="0"/>
              <a:t>Se proyectan ventas de acuerdo al modelo de negocios en ingresos.</a:t>
            </a:r>
          </a:p>
          <a:p>
            <a:endParaRPr lang="es-CL" sz="1100" dirty="0"/>
          </a:p>
          <a:p>
            <a:r>
              <a:rPr lang="es-CL" sz="1100" dirty="0"/>
              <a:t>Se asumen los costos de operación. Estructura de costo desde el modelo de negocios.</a:t>
            </a:r>
          </a:p>
          <a:p>
            <a:endParaRPr lang="es-CL" sz="1100" dirty="0"/>
          </a:p>
          <a:p>
            <a:r>
              <a:rPr lang="es-CL" sz="1100" dirty="0"/>
              <a:t>Se suman las inversiones en los proyectos estratégicos –inicialmente los experimentos-.</a:t>
            </a:r>
          </a:p>
          <a:p>
            <a:endParaRPr lang="es-CL" sz="1100" dirty="0"/>
          </a:p>
          <a:p>
            <a:r>
              <a:rPr lang="es-CL" sz="1100" dirty="0"/>
              <a:t>Se ajusta a curvas comparables.</a:t>
            </a:r>
          </a:p>
          <a:p>
            <a:endParaRPr lang="es-CL" sz="1100" dirty="0"/>
          </a:p>
          <a:p>
            <a:r>
              <a:rPr lang="es-CL" sz="1100" dirty="0"/>
              <a:t>Se revisan los indicadores que producen el flujo deseado.</a:t>
            </a:r>
          </a:p>
        </p:txBody>
      </p:sp>
    </p:spTree>
    <p:extLst>
      <p:ext uri="{BB962C8B-B14F-4D97-AF65-F5344CB8AC3E}">
        <p14:creationId xmlns:p14="http://schemas.microsoft.com/office/powerpoint/2010/main" val="568648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A2F2FD45-B89A-EA6E-A04C-AF16473816D4}"/>
              </a:ext>
            </a:extLst>
          </p:cNvPr>
          <p:cNvSpPr>
            <a:spLocks noGrp="1"/>
          </p:cNvSpPr>
          <p:nvPr>
            <p:ph type="sldNum" sz="quarter" idx="4294967295"/>
          </p:nvPr>
        </p:nvSpPr>
        <p:spPr>
          <a:xfrm>
            <a:off x="0" y="0"/>
            <a:ext cx="0" cy="0"/>
          </a:xfrm>
        </p:spPr>
        <p:txBody>
          <a:bodyPr/>
          <a:lstStyle/>
          <a:p>
            <a:endParaRPr lang="es-CL" dirty="0"/>
          </a:p>
        </p:txBody>
      </p:sp>
      <p:sp>
        <p:nvSpPr>
          <p:cNvPr id="3" name="CuadroTexto 2">
            <a:extLst>
              <a:ext uri="{FF2B5EF4-FFF2-40B4-BE49-F238E27FC236}">
                <a16:creationId xmlns:a16="http://schemas.microsoft.com/office/drawing/2014/main" id="{3A602106-26AA-9740-B273-A04753A029C3}"/>
              </a:ext>
            </a:extLst>
          </p:cNvPr>
          <p:cNvSpPr txBox="1"/>
          <p:nvPr/>
        </p:nvSpPr>
        <p:spPr>
          <a:xfrm>
            <a:off x="357809" y="384311"/>
            <a:ext cx="3231975" cy="584775"/>
          </a:xfrm>
          <a:prstGeom prst="rect">
            <a:avLst/>
          </a:prstGeom>
          <a:noFill/>
        </p:spPr>
        <p:txBody>
          <a:bodyPr wrap="none" rtlCol="0">
            <a:spAutoFit/>
          </a:bodyPr>
          <a:lstStyle/>
          <a:p>
            <a:r>
              <a:rPr lang="es-CL" b="1" dirty="0"/>
              <a:t>Plan financiero </a:t>
            </a:r>
            <a:r>
              <a:rPr lang="es-CL" b="1" dirty="0" err="1"/>
              <a:t>StartUp</a:t>
            </a:r>
            <a:r>
              <a:rPr lang="es-CL" b="1" dirty="0"/>
              <a:t> </a:t>
            </a:r>
            <a:r>
              <a:rPr lang="es-CL" b="1" dirty="0" err="1"/>
              <a:t>one</a:t>
            </a:r>
            <a:endParaRPr lang="es-CL" b="1" dirty="0"/>
          </a:p>
          <a:p>
            <a:r>
              <a:rPr lang="es-CL" sz="1400" dirty="0"/>
              <a:t>Calculando ingresos</a:t>
            </a:r>
          </a:p>
        </p:txBody>
      </p:sp>
    </p:spTree>
    <p:extLst>
      <p:ext uri="{BB962C8B-B14F-4D97-AF65-F5344CB8AC3E}">
        <p14:creationId xmlns:p14="http://schemas.microsoft.com/office/powerpoint/2010/main" val="1968293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28191-88D6-FE36-0711-3E2ECDA8EC6C}"/>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19E26DD-3664-B396-DCD6-3E5ACDF36780}"/>
              </a:ext>
            </a:extLst>
          </p:cNvPr>
          <p:cNvSpPr>
            <a:spLocks noGrp="1"/>
          </p:cNvSpPr>
          <p:nvPr>
            <p:ph type="sldNum" sz="quarter" idx="4294967295"/>
          </p:nvPr>
        </p:nvSpPr>
        <p:spPr>
          <a:xfrm>
            <a:off x="0" y="0"/>
            <a:ext cx="0" cy="0"/>
          </a:xfrm>
        </p:spPr>
        <p:txBody>
          <a:bodyPr/>
          <a:lstStyle/>
          <a:p>
            <a:endParaRPr lang="es-CL" dirty="0"/>
          </a:p>
        </p:txBody>
      </p:sp>
      <p:sp>
        <p:nvSpPr>
          <p:cNvPr id="3" name="CuadroTexto 2">
            <a:extLst>
              <a:ext uri="{FF2B5EF4-FFF2-40B4-BE49-F238E27FC236}">
                <a16:creationId xmlns:a16="http://schemas.microsoft.com/office/drawing/2014/main" id="{3AC9BD85-D7A7-DD9B-A18E-A8780FD5B5D9}"/>
              </a:ext>
            </a:extLst>
          </p:cNvPr>
          <p:cNvSpPr txBox="1"/>
          <p:nvPr/>
        </p:nvSpPr>
        <p:spPr>
          <a:xfrm>
            <a:off x="357809" y="384311"/>
            <a:ext cx="3231975" cy="584775"/>
          </a:xfrm>
          <a:prstGeom prst="rect">
            <a:avLst/>
          </a:prstGeom>
          <a:noFill/>
        </p:spPr>
        <p:txBody>
          <a:bodyPr wrap="none" rtlCol="0">
            <a:spAutoFit/>
          </a:bodyPr>
          <a:lstStyle/>
          <a:p>
            <a:r>
              <a:rPr lang="es-CL" b="1" dirty="0"/>
              <a:t>Plan financiero </a:t>
            </a:r>
            <a:r>
              <a:rPr lang="es-CL" b="1" dirty="0" err="1"/>
              <a:t>StartUp</a:t>
            </a:r>
            <a:r>
              <a:rPr lang="es-CL" b="1" dirty="0"/>
              <a:t> </a:t>
            </a:r>
            <a:r>
              <a:rPr lang="es-CL" b="1" dirty="0" err="1"/>
              <a:t>one</a:t>
            </a:r>
            <a:endParaRPr lang="es-CL" b="1" dirty="0"/>
          </a:p>
          <a:p>
            <a:r>
              <a:rPr lang="es-CL" sz="1400" dirty="0"/>
              <a:t>Calculando costos</a:t>
            </a:r>
          </a:p>
        </p:txBody>
      </p:sp>
    </p:spTree>
    <p:extLst>
      <p:ext uri="{BB962C8B-B14F-4D97-AF65-F5344CB8AC3E}">
        <p14:creationId xmlns:p14="http://schemas.microsoft.com/office/powerpoint/2010/main" val="9367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A16CB9C-F4FD-0DF9-D367-8356EBF7C554}"/>
              </a:ext>
            </a:extLst>
          </p:cNvPr>
          <p:cNvSpPr txBox="1"/>
          <p:nvPr/>
        </p:nvSpPr>
        <p:spPr>
          <a:xfrm>
            <a:off x="548640" y="491490"/>
            <a:ext cx="5083571" cy="369332"/>
          </a:xfrm>
          <a:prstGeom prst="rect">
            <a:avLst/>
          </a:prstGeom>
          <a:noFill/>
        </p:spPr>
        <p:txBody>
          <a:bodyPr wrap="none" rtlCol="0">
            <a:spAutoFit/>
          </a:bodyPr>
          <a:lstStyle/>
          <a:p>
            <a:r>
              <a:rPr lang="es-CL" dirty="0">
                <a:latin typeface="Avenir Next" panose="020B0503020202020204" pitchFamily="34" charset="0"/>
              </a:rPr>
              <a:t>Calculando el requerimiento de capital  (      K )</a:t>
            </a:r>
          </a:p>
        </p:txBody>
      </p:sp>
      <p:sp>
        <p:nvSpPr>
          <p:cNvPr id="5" name="CuadroTexto 4">
            <a:extLst>
              <a:ext uri="{FF2B5EF4-FFF2-40B4-BE49-F238E27FC236}">
                <a16:creationId xmlns:a16="http://schemas.microsoft.com/office/drawing/2014/main" id="{7244F69E-AB2C-E985-A4F6-B6D997E0D76D}"/>
              </a:ext>
            </a:extLst>
          </p:cNvPr>
          <p:cNvSpPr txBox="1"/>
          <p:nvPr/>
        </p:nvSpPr>
        <p:spPr>
          <a:xfrm>
            <a:off x="548640" y="860822"/>
            <a:ext cx="4055790" cy="646331"/>
          </a:xfrm>
          <a:prstGeom prst="rect">
            <a:avLst/>
          </a:prstGeom>
          <a:noFill/>
        </p:spPr>
        <p:txBody>
          <a:bodyPr wrap="square" rtlCol="0">
            <a:spAutoFit/>
          </a:bodyPr>
          <a:lstStyle/>
          <a:p>
            <a:r>
              <a:rPr lang="es-CL" sz="1200" dirty="0">
                <a:latin typeface="Avenir Next" panose="020B0503020202020204" pitchFamily="34" charset="0"/>
              </a:rPr>
              <a:t>Es el capital externo que se necesita para ejecutar el plan, entre el periodo de solicitarlo y la siguiente ronda de inversión.</a:t>
            </a:r>
          </a:p>
        </p:txBody>
      </p:sp>
      <p:cxnSp>
        <p:nvCxnSpPr>
          <p:cNvPr id="7" name="Conector recto de flecha 6">
            <a:extLst>
              <a:ext uri="{FF2B5EF4-FFF2-40B4-BE49-F238E27FC236}">
                <a16:creationId xmlns:a16="http://schemas.microsoft.com/office/drawing/2014/main" id="{A19C2A0B-8EF6-7B5E-1240-94D3526D7621}"/>
              </a:ext>
            </a:extLst>
          </p:cNvPr>
          <p:cNvCxnSpPr/>
          <p:nvPr/>
        </p:nvCxnSpPr>
        <p:spPr>
          <a:xfrm flipV="1">
            <a:off x="6686550" y="1245870"/>
            <a:ext cx="0" cy="193167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ector recto de flecha 8">
            <a:extLst>
              <a:ext uri="{FF2B5EF4-FFF2-40B4-BE49-F238E27FC236}">
                <a16:creationId xmlns:a16="http://schemas.microsoft.com/office/drawing/2014/main" id="{72D00F59-BBB7-AE1E-1DCF-BAE921DBDA8D}"/>
              </a:ext>
            </a:extLst>
          </p:cNvPr>
          <p:cNvCxnSpPr/>
          <p:nvPr/>
        </p:nvCxnSpPr>
        <p:spPr>
          <a:xfrm>
            <a:off x="6686550" y="3166110"/>
            <a:ext cx="443484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Forma libre 9">
            <a:extLst>
              <a:ext uri="{FF2B5EF4-FFF2-40B4-BE49-F238E27FC236}">
                <a16:creationId xmlns:a16="http://schemas.microsoft.com/office/drawing/2014/main" id="{D96DFEC9-BD2D-A7FC-E76C-69356F3B2182}"/>
              </a:ext>
            </a:extLst>
          </p:cNvPr>
          <p:cNvSpPr/>
          <p:nvPr/>
        </p:nvSpPr>
        <p:spPr>
          <a:xfrm>
            <a:off x="6926580" y="1211580"/>
            <a:ext cx="3406140" cy="1748790"/>
          </a:xfrm>
          <a:custGeom>
            <a:avLst/>
            <a:gdLst>
              <a:gd name="connsiteX0" fmla="*/ 0 w 3406140"/>
              <a:gd name="connsiteY0" fmla="*/ 1748790 h 1748790"/>
              <a:gd name="connsiteX1" fmla="*/ 1828800 w 3406140"/>
              <a:gd name="connsiteY1" fmla="*/ 1440180 h 1748790"/>
              <a:gd name="connsiteX2" fmla="*/ 3406140 w 3406140"/>
              <a:gd name="connsiteY2" fmla="*/ 0 h 1748790"/>
            </a:gdLst>
            <a:ahLst/>
            <a:cxnLst>
              <a:cxn ang="0">
                <a:pos x="connsiteX0" y="connsiteY0"/>
              </a:cxn>
              <a:cxn ang="0">
                <a:pos x="connsiteX1" y="connsiteY1"/>
              </a:cxn>
              <a:cxn ang="0">
                <a:pos x="connsiteX2" y="connsiteY2"/>
              </a:cxn>
            </a:cxnLst>
            <a:rect l="l" t="t" r="r" b="b"/>
            <a:pathLst>
              <a:path w="3406140" h="1748790">
                <a:moveTo>
                  <a:pt x="0" y="1748790"/>
                </a:moveTo>
                <a:cubicBezTo>
                  <a:pt x="630555" y="1740217"/>
                  <a:pt x="1261110" y="1731645"/>
                  <a:pt x="1828800" y="1440180"/>
                </a:cubicBezTo>
                <a:cubicBezTo>
                  <a:pt x="2396490" y="1148715"/>
                  <a:pt x="2901315" y="574357"/>
                  <a:pt x="340614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12" name="Conector recto 11">
            <a:extLst>
              <a:ext uri="{FF2B5EF4-FFF2-40B4-BE49-F238E27FC236}">
                <a16:creationId xmlns:a16="http://schemas.microsoft.com/office/drawing/2014/main" id="{8037FFA6-8FBF-71E2-71F9-0120B243327F}"/>
              </a:ext>
            </a:extLst>
          </p:cNvPr>
          <p:cNvCxnSpPr/>
          <p:nvPr/>
        </p:nvCxnSpPr>
        <p:spPr>
          <a:xfrm>
            <a:off x="7669530" y="2331720"/>
            <a:ext cx="0" cy="845820"/>
          </a:xfrm>
          <a:prstGeom prst="line">
            <a:avLst/>
          </a:prstGeom>
          <a:ln w="6350">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13" name="Conector recto 12">
            <a:extLst>
              <a:ext uri="{FF2B5EF4-FFF2-40B4-BE49-F238E27FC236}">
                <a16:creationId xmlns:a16="http://schemas.microsoft.com/office/drawing/2014/main" id="{CD34BFB8-36E1-1014-521D-2386C392A438}"/>
              </a:ext>
            </a:extLst>
          </p:cNvPr>
          <p:cNvCxnSpPr>
            <a:cxnSpLocks/>
          </p:cNvCxnSpPr>
          <p:nvPr/>
        </p:nvCxnSpPr>
        <p:spPr>
          <a:xfrm>
            <a:off x="9102090" y="1885950"/>
            <a:ext cx="0" cy="1283970"/>
          </a:xfrm>
          <a:prstGeom prst="line">
            <a:avLst/>
          </a:prstGeom>
          <a:ln w="6350">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FFD68F9D-41B4-F007-A4E0-0D05E082139F}"/>
              </a:ext>
            </a:extLst>
          </p:cNvPr>
          <p:cNvSpPr txBox="1"/>
          <p:nvPr/>
        </p:nvSpPr>
        <p:spPr>
          <a:xfrm>
            <a:off x="7406640" y="3246120"/>
            <a:ext cx="566181" cy="246221"/>
          </a:xfrm>
          <a:prstGeom prst="rect">
            <a:avLst/>
          </a:prstGeom>
          <a:noFill/>
        </p:spPr>
        <p:txBody>
          <a:bodyPr wrap="none" rtlCol="0">
            <a:spAutoFit/>
          </a:bodyPr>
          <a:lstStyle/>
          <a:p>
            <a:r>
              <a:rPr lang="es-CL" sz="1000" dirty="0"/>
              <a:t>Serie A</a:t>
            </a:r>
          </a:p>
        </p:txBody>
      </p:sp>
      <p:sp>
        <p:nvSpPr>
          <p:cNvPr id="15" name="CuadroTexto 14">
            <a:extLst>
              <a:ext uri="{FF2B5EF4-FFF2-40B4-BE49-F238E27FC236}">
                <a16:creationId xmlns:a16="http://schemas.microsoft.com/office/drawing/2014/main" id="{B953CDAE-4CB6-0859-8810-AC38F5F774E6}"/>
              </a:ext>
            </a:extLst>
          </p:cNvPr>
          <p:cNvSpPr txBox="1"/>
          <p:nvPr/>
        </p:nvSpPr>
        <p:spPr>
          <a:xfrm>
            <a:off x="8816340" y="3249930"/>
            <a:ext cx="567784" cy="246221"/>
          </a:xfrm>
          <a:prstGeom prst="rect">
            <a:avLst/>
          </a:prstGeom>
          <a:noFill/>
        </p:spPr>
        <p:txBody>
          <a:bodyPr wrap="none" rtlCol="0">
            <a:spAutoFit/>
          </a:bodyPr>
          <a:lstStyle/>
          <a:p>
            <a:r>
              <a:rPr lang="es-CL" sz="1000" dirty="0"/>
              <a:t>Serie B</a:t>
            </a:r>
          </a:p>
        </p:txBody>
      </p:sp>
      <p:sp>
        <p:nvSpPr>
          <p:cNvPr id="17" name="CuadroTexto 16">
            <a:extLst>
              <a:ext uri="{FF2B5EF4-FFF2-40B4-BE49-F238E27FC236}">
                <a16:creationId xmlns:a16="http://schemas.microsoft.com/office/drawing/2014/main" id="{30B05DE2-5638-18A1-347E-47D396DC8D3A}"/>
              </a:ext>
            </a:extLst>
          </p:cNvPr>
          <p:cNvSpPr txBox="1"/>
          <p:nvPr/>
        </p:nvSpPr>
        <p:spPr>
          <a:xfrm>
            <a:off x="7440963" y="3579970"/>
            <a:ext cx="1943161" cy="246221"/>
          </a:xfrm>
          <a:prstGeom prst="rect">
            <a:avLst/>
          </a:prstGeom>
          <a:noFill/>
        </p:spPr>
        <p:txBody>
          <a:bodyPr wrap="none" rtlCol="0">
            <a:spAutoFit/>
          </a:bodyPr>
          <a:lstStyle/>
          <a:p>
            <a:r>
              <a:rPr lang="es-CL" sz="1000" i="1" dirty="0">
                <a:solidFill>
                  <a:srgbClr val="0070C0"/>
                </a:solidFill>
                <a:latin typeface="Ink Free" panose="03080402000500000000" pitchFamily="66" charset="0"/>
              </a:rPr>
              <a:t>Tiempo que debe durar el capital</a:t>
            </a:r>
          </a:p>
        </p:txBody>
      </p:sp>
      <p:cxnSp>
        <p:nvCxnSpPr>
          <p:cNvPr id="19" name="Conector recto 18">
            <a:extLst>
              <a:ext uri="{FF2B5EF4-FFF2-40B4-BE49-F238E27FC236}">
                <a16:creationId xmlns:a16="http://schemas.microsoft.com/office/drawing/2014/main" id="{DB333C75-7BB7-E167-6DCB-928A9B3E0A94}"/>
              </a:ext>
            </a:extLst>
          </p:cNvPr>
          <p:cNvCxnSpPr>
            <a:cxnSpLocks/>
          </p:cNvCxnSpPr>
          <p:nvPr/>
        </p:nvCxnSpPr>
        <p:spPr>
          <a:xfrm>
            <a:off x="7689731" y="3515201"/>
            <a:ext cx="1410501" cy="0"/>
          </a:xfrm>
          <a:prstGeom prst="line">
            <a:avLst/>
          </a:prstGeom>
        </p:spPr>
        <p:style>
          <a:lnRef idx="2">
            <a:schemeClr val="dk1"/>
          </a:lnRef>
          <a:fillRef idx="0">
            <a:schemeClr val="dk1"/>
          </a:fillRef>
          <a:effectRef idx="1">
            <a:schemeClr val="dk1"/>
          </a:effectRef>
          <a:fontRef idx="minor">
            <a:schemeClr val="tx1"/>
          </a:fontRef>
        </p:style>
      </p:cxnSp>
      <p:pic>
        <p:nvPicPr>
          <p:cNvPr id="1026" name="Picture 2" descr="Símbolo del alfabeto griego Delta | Vector Premium">
            <a:extLst>
              <a:ext uri="{FF2B5EF4-FFF2-40B4-BE49-F238E27FC236}">
                <a16:creationId xmlns:a16="http://schemas.microsoft.com/office/drawing/2014/main" id="{12AEF578-F84F-AFF6-EE3C-AF870F48D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2564" y="514350"/>
            <a:ext cx="270511" cy="270511"/>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upo 25">
            <a:extLst>
              <a:ext uri="{FF2B5EF4-FFF2-40B4-BE49-F238E27FC236}">
                <a16:creationId xmlns:a16="http://schemas.microsoft.com/office/drawing/2014/main" id="{17A8A9E4-47BE-D3D6-F9CA-85BD7ABC5E8E}"/>
              </a:ext>
            </a:extLst>
          </p:cNvPr>
          <p:cNvGrpSpPr/>
          <p:nvPr/>
        </p:nvGrpSpPr>
        <p:grpSpPr>
          <a:xfrm>
            <a:off x="617220" y="2417563"/>
            <a:ext cx="3835007" cy="966252"/>
            <a:chOff x="548640" y="1766053"/>
            <a:chExt cx="3835007" cy="966252"/>
          </a:xfrm>
        </p:grpSpPr>
        <p:pic>
          <p:nvPicPr>
            <p:cNvPr id="20" name="Picture 2" descr="Símbolo del alfabeto griego Delta | Vector Premium">
              <a:extLst>
                <a:ext uri="{FF2B5EF4-FFF2-40B4-BE49-F238E27FC236}">
                  <a16:creationId xmlns:a16="http://schemas.microsoft.com/office/drawing/2014/main" id="{9A46A569-E133-78C4-B1D7-A3712DC724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 y="1815464"/>
              <a:ext cx="270511" cy="270511"/>
            </a:xfrm>
            <a:prstGeom prst="rect">
              <a:avLst/>
            </a:prstGeom>
            <a:noFill/>
            <a:extLst>
              <a:ext uri="{909E8E84-426E-40DD-AFC4-6F175D3DCCD1}">
                <a14:hiddenFill xmlns:a14="http://schemas.microsoft.com/office/drawing/2010/main">
                  <a:solidFill>
                    <a:srgbClr val="FFFFFF"/>
                  </a:solidFill>
                </a14:hiddenFill>
              </a:ext>
            </a:extLst>
          </p:spPr>
        </p:pic>
        <p:sp>
          <p:nvSpPr>
            <p:cNvPr id="21" name="CuadroTexto 20">
              <a:extLst>
                <a:ext uri="{FF2B5EF4-FFF2-40B4-BE49-F238E27FC236}">
                  <a16:creationId xmlns:a16="http://schemas.microsoft.com/office/drawing/2014/main" id="{7C98B766-967D-ACC7-5981-81BFF4AB5D09}"/>
                </a:ext>
              </a:extLst>
            </p:cNvPr>
            <p:cNvSpPr txBox="1"/>
            <p:nvPr/>
          </p:nvSpPr>
          <p:spPr>
            <a:xfrm>
              <a:off x="819151" y="1766053"/>
              <a:ext cx="532518" cy="369332"/>
            </a:xfrm>
            <a:prstGeom prst="rect">
              <a:avLst/>
            </a:prstGeom>
            <a:noFill/>
          </p:spPr>
          <p:txBody>
            <a:bodyPr wrap="none" rtlCol="0">
              <a:spAutoFit/>
            </a:bodyPr>
            <a:lstStyle/>
            <a:p>
              <a:r>
                <a:rPr lang="es-CL" dirty="0"/>
                <a:t>K = </a:t>
              </a:r>
            </a:p>
          </p:txBody>
        </p:sp>
        <p:sp>
          <p:nvSpPr>
            <p:cNvPr id="22" name="CuadroTexto 21">
              <a:extLst>
                <a:ext uri="{FF2B5EF4-FFF2-40B4-BE49-F238E27FC236}">
                  <a16:creationId xmlns:a16="http://schemas.microsoft.com/office/drawing/2014/main" id="{F385C0EA-CA21-C419-DD31-55C1EB157A87}"/>
                </a:ext>
              </a:extLst>
            </p:cNvPr>
            <p:cNvSpPr txBox="1"/>
            <p:nvPr/>
          </p:nvSpPr>
          <p:spPr>
            <a:xfrm>
              <a:off x="1562065" y="1815464"/>
              <a:ext cx="2449325" cy="276999"/>
            </a:xfrm>
            <a:prstGeom prst="rect">
              <a:avLst/>
            </a:prstGeom>
            <a:noFill/>
          </p:spPr>
          <p:txBody>
            <a:bodyPr wrap="none" rtlCol="0">
              <a:spAutoFit/>
            </a:bodyPr>
            <a:lstStyle/>
            <a:p>
              <a:r>
                <a:rPr lang="es-CL" sz="1200" dirty="0"/>
                <a:t>+ Aumento en el capital de trabajo</a:t>
              </a:r>
            </a:p>
          </p:txBody>
        </p:sp>
        <p:sp>
          <p:nvSpPr>
            <p:cNvPr id="23" name="CuadroTexto 22">
              <a:extLst>
                <a:ext uri="{FF2B5EF4-FFF2-40B4-BE49-F238E27FC236}">
                  <a16:creationId xmlns:a16="http://schemas.microsoft.com/office/drawing/2014/main" id="{AEA6C586-8A97-283D-6B8A-F4F0C75FC54F}"/>
                </a:ext>
              </a:extLst>
            </p:cNvPr>
            <p:cNvSpPr txBox="1"/>
            <p:nvPr/>
          </p:nvSpPr>
          <p:spPr>
            <a:xfrm>
              <a:off x="1562064" y="2135385"/>
              <a:ext cx="2640979" cy="276999"/>
            </a:xfrm>
            <a:prstGeom prst="rect">
              <a:avLst/>
            </a:prstGeom>
            <a:noFill/>
          </p:spPr>
          <p:txBody>
            <a:bodyPr wrap="none" rtlCol="0">
              <a:spAutoFit/>
            </a:bodyPr>
            <a:lstStyle/>
            <a:p>
              <a:r>
                <a:rPr lang="es-CL" sz="1200" dirty="0"/>
                <a:t>+ Inversión en proyectos estratégicos</a:t>
              </a:r>
            </a:p>
          </p:txBody>
        </p:sp>
        <p:sp>
          <p:nvSpPr>
            <p:cNvPr id="24" name="CuadroTexto 23">
              <a:extLst>
                <a:ext uri="{FF2B5EF4-FFF2-40B4-BE49-F238E27FC236}">
                  <a16:creationId xmlns:a16="http://schemas.microsoft.com/office/drawing/2014/main" id="{73C26B9C-F5CA-44C3-097D-E7CC91D6EBFD}"/>
                </a:ext>
              </a:extLst>
            </p:cNvPr>
            <p:cNvSpPr txBox="1"/>
            <p:nvPr/>
          </p:nvSpPr>
          <p:spPr>
            <a:xfrm>
              <a:off x="1566850" y="2455306"/>
              <a:ext cx="2816797" cy="276999"/>
            </a:xfrm>
            <a:prstGeom prst="rect">
              <a:avLst/>
            </a:prstGeom>
            <a:noFill/>
          </p:spPr>
          <p:txBody>
            <a:bodyPr wrap="none" rtlCol="0">
              <a:spAutoFit/>
            </a:bodyPr>
            <a:lstStyle/>
            <a:p>
              <a:r>
                <a:rPr lang="es-CL" sz="1200" dirty="0"/>
                <a:t>+ Déficit o superávit (resta) operacional</a:t>
              </a:r>
            </a:p>
          </p:txBody>
        </p:sp>
      </p:grpSp>
      <p:sp>
        <p:nvSpPr>
          <p:cNvPr id="27" name="CuadroTexto 26">
            <a:extLst>
              <a:ext uri="{FF2B5EF4-FFF2-40B4-BE49-F238E27FC236}">
                <a16:creationId xmlns:a16="http://schemas.microsoft.com/office/drawing/2014/main" id="{79548B1B-06E0-9D70-49D6-59DFD8124645}"/>
              </a:ext>
            </a:extLst>
          </p:cNvPr>
          <p:cNvSpPr txBox="1"/>
          <p:nvPr/>
        </p:nvSpPr>
        <p:spPr>
          <a:xfrm>
            <a:off x="4301965" y="2072670"/>
            <a:ext cx="1749197" cy="430887"/>
          </a:xfrm>
          <a:prstGeom prst="rect">
            <a:avLst/>
          </a:prstGeom>
          <a:noFill/>
        </p:spPr>
        <p:txBody>
          <a:bodyPr wrap="none" rtlCol="0">
            <a:spAutoFit/>
          </a:bodyPr>
          <a:lstStyle/>
          <a:p>
            <a:r>
              <a:rPr lang="es-CL" sz="1100" dirty="0">
                <a:solidFill>
                  <a:srgbClr val="0070C0"/>
                </a:solidFill>
                <a:latin typeface="Ink Free" panose="03080402000500000000" pitchFamily="66" charset="0"/>
              </a:rPr>
              <a:t>+ Ingreso mes Serie B * 2</a:t>
            </a:r>
          </a:p>
          <a:p>
            <a:r>
              <a:rPr lang="es-CL" sz="1100" dirty="0">
                <a:solidFill>
                  <a:srgbClr val="0070C0"/>
                </a:solidFill>
                <a:latin typeface="Ink Free" panose="03080402000500000000" pitchFamily="66" charset="0"/>
              </a:rPr>
              <a:t>- Ingreso mes Serie A * 2</a:t>
            </a:r>
          </a:p>
        </p:txBody>
      </p:sp>
      <p:cxnSp>
        <p:nvCxnSpPr>
          <p:cNvPr id="29" name="Conector curvado 28">
            <a:extLst>
              <a:ext uri="{FF2B5EF4-FFF2-40B4-BE49-F238E27FC236}">
                <a16:creationId xmlns:a16="http://schemas.microsoft.com/office/drawing/2014/main" id="{92B5152B-FB92-355C-2094-43F3C53585B5}"/>
              </a:ext>
            </a:extLst>
          </p:cNvPr>
          <p:cNvCxnSpPr>
            <a:stCxn id="27" idx="1"/>
            <a:endCxn id="22" idx="0"/>
          </p:cNvCxnSpPr>
          <p:nvPr/>
        </p:nvCxnSpPr>
        <p:spPr>
          <a:xfrm rot="10800000" flipV="1">
            <a:off x="2855309" y="2288114"/>
            <a:ext cx="1446657" cy="178860"/>
          </a:xfrm>
          <a:prstGeom prst="curvedConnector2">
            <a:avLst/>
          </a:prstGeom>
          <a:ln w="952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A3848F7E-2C42-10DA-9475-181F175F9100}"/>
              </a:ext>
            </a:extLst>
          </p:cNvPr>
          <p:cNvSpPr txBox="1"/>
          <p:nvPr/>
        </p:nvSpPr>
        <p:spPr>
          <a:xfrm>
            <a:off x="5062949" y="2737485"/>
            <a:ext cx="1021433" cy="600164"/>
          </a:xfrm>
          <a:prstGeom prst="rect">
            <a:avLst/>
          </a:prstGeom>
          <a:noFill/>
        </p:spPr>
        <p:txBody>
          <a:bodyPr wrap="none" rtlCol="0">
            <a:spAutoFit/>
          </a:bodyPr>
          <a:lstStyle>
            <a:defPPr>
              <a:defRPr lang="es-CL"/>
            </a:defPPr>
            <a:lvl1pPr>
              <a:defRPr sz="1100">
                <a:solidFill>
                  <a:srgbClr val="0070C0"/>
                </a:solidFill>
                <a:latin typeface="Ink Free" panose="03080402000500000000" pitchFamily="66" charset="0"/>
              </a:defRPr>
            </a:lvl1pPr>
          </a:lstStyle>
          <a:p>
            <a:r>
              <a:rPr lang="es-CL" dirty="0"/>
              <a:t>+ Proyecto #1</a:t>
            </a:r>
          </a:p>
          <a:p>
            <a:r>
              <a:rPr lang="es-CL" dirty="0"/>
              <a:t>+ Proyecto #2</a:t>
            </a:r>
          </a:p>
          <a:p>
            <a:r>
              <a:rPr lang="es-CL" dirty="0"/>
              <a:t>+ Proyecto #3</a:t>
            </a:r>
          </a:p>
        </p:txBody>
      </p:sp>
      <p:cxnSp>
        <p:nvCxnSpPr>
          <p:cNvPr id="32" name="Conector curvado 31">
            <a:extLst>
              <a:ext uri="{FF2B5EF4-FFF2-40B4-BE49-F238E27FC236}">
                <a16:creationId xmlns:a16="http://schemas.microsoft.com/office/drawing/2014/main" id="{42DA13B7-81A8-29D8-24AC-F5888A4F960D}"/>
              </a:ext>
            </a:extLst>
          </p:cNvPr>
          <p:cNvCxnSpPr>
            <a:stCxn id="30" idx="1"/>
            <a:endCxn id="23" idx="3"/>
          </p:cNvCxnSpPr>
          <p:nvPr/>
        </p:nvCxnSpPr>
        <p:spPr>
          <a:xfrm rot="10800000">
            <a:off x="4271623" y="2925395"/>
            <a:ext cx="791326" cy="112172"/>
          </a:xfrm>
          <a:prstGeom prst="curvedConnector3">
            <a:avLst/>
          </a:prstGeom>
          <a:ln w="952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33" name="CuadroTexto 32">
            <a:extLst>
              <a:ext uri="{FF2B5EF4-FFF2-40B4-BE49-F238E27FC236}">
                <a16:creationId xmlns:a16="http://schemas.microsoft.com/office/drawing/2014/main" id="{AF56A913-5AC2-C447-7DA5-10318EA7FA7A}"/>
              </a:ext>
            </a:extLst>
          </p:cNvPr>
          <p:cNvSpPr txBox="1"/>
          <p:nvPr/>
        </p:nvSpPr>
        <p:spPr>
          <a:xfrm>
            <a:off x="3851911" y="3571577"/>
            <a:ext cx="1266693" cy="261610"/>
          </a:xfrm>
          <a:prstGeom prst="rect">
            <a:avLst/>
          </a:prstGeom>
          <a:noFill/>
        </p:spPr>
        <p:txBody>
          <a:bodyPr wrap="none" rtlCol="0">
            <a:spAutoFit/>
          </a:bodyPr>
          <a:lstStyle>
            <a:defPPr>
              <a:defRPr lang="es-CL"/>
            </a:defPPr>
            <a:lvl1pPr>
              <a:defRPr sz="1100">
                <a:solidFill>
                  <a:srgbClr val="0070C0"/>
                </a:solidFill>
                <a:latin typeface="Ink Free" panose="03080402000500000000" pitchFamily="66" charset="0"/>
              </a:defRPr>
            </a:lvl1pPr>
          </a:lstStyle>
          <a:p>
            <a:r>
              <a:rPr lang="es-CL" dirty="0"/>
              <a:t>Flujos proyectados</a:t>
            </a:r>
          </a:p>
        </p:txBody>
      </p:sp>
      <p:cxnSp>
        <p:nvCxnSpPr>
          <p:cNvPr id="35" name="Conector curvado 34">
            <a:extLst>
              <a:ext uri="{FF2B5EF4-FFF2-40B4-BE49-F238E27FC236}">
                <a16:creationId xmlns:a16="http://schemas.microsoft.com/office/drawing/2014/main" id="{2774CBDD-FC50-D07A-8947-4392DE97A7ED}"/>
              </a:ext>
            </a:extLst>
          </p:cNvPr>
          <p:cNvCxnSpPr>
            <a:stCxn id="33" idx="1"/>
            <a:endCxn id="24" idx="2"/>
          </p:cNvCxnSpPr>
          <p:nvPr/>
        </p:nvCxnSpPr>
        <p:spPr>
          <a:xfrm rot="10800000">
            <a:off x="3043829" y="3383816"/>
            <a:ext cx="808082" cy="318567"/>
          </a:xfrm>
          <a:prstGeom prst="curvedConnector2">
            <a:avLst/>
          </a:prstGeom>
          <a:ln w="952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36" name="CuadroTexto 35">
            <a:extLst>
              <a:ext uri="{FF2B5EF4-FFF2-40B4-BE49-F238E27FC236}">
                <a16:creationId xmlns:a16="http://schemas.microsoft.com/office/drawing/2014/main" id="{4BFE494D-917E-FA42-DDC8-9F6444A7827B}"/>
              </a:ext>
            </a:extLst>
          </p:cNvPr>
          <p:cNvSpPr txBox="1"/>
          <p:nvPr/>
        </p:nvSpPr>
        <p:spPr>
          <a:xfrm>
            <a:off x="617220" y="1604426"/>
            <a:ext cx="2994731" cy="369332"/>
          </a:xfrm>
          <a:prstGeom prst="rect">
            <a:avLst/>
          </a:prstGeom>
          <a:noFill/>
        </p:spPr>
        <p:txBody>
          <a:bodyPr wrap="none" rtlCol="0">
            <a:spAutoFit/>
          </a:bodyPr>
          <a:lstStyle/>
          <a:p>
            <a:r>
              <a:rPr lang="es-CL" i="1" dirty="0">
                <a:solidFill>
                  <a:srgbClr val="0070C0"/>
                </a:solidFill>
                <a:latin typeface="Ink Free" panose="03080402000500000000" pitchFamily="66" charset="0"/>
              </a:rPr>
              <a:t>1. Calculando el requerimiento</a:t>
            </a:r>
          </a:p>
        </p:txBody>
      </p:sp>
      <p:sp>
        <p:nvSpPr>
          <p:cNvPr id="37" name="CuadroTexto 36">
            <a:extLst>
              <a:ext uri="{FF2B5EF4-FFF2-40B4-BE49-F238E27FC236}">
                <a16:creationId xmlns:a16="http://schemas.microsoft.com/office/drawing/2014/main" id="{2BDCE303-22F1-2E03-9C26-DD1C271404D1}"/>
              </a:ext>
            </a:extLst>
          </p:cNvPr>
          <p:cNvSpPr txBox="1"/>
          <p:nvPr/>
        </p:nvSpPr>
        <p:spPr>
          <a:xfrm>
            <a:off x="617220" y="4179986"/>
            <a:ext cx="4488729" cy="369332"/>
          </a:xfrm>
          <a:prstGeom prst="rect">
            <a:avLst/>
          </a:prstGeom>
          <a:noFill/>
        </p:spPr>
        <p:txBody>
          <a:bodyPr wrap="none" rtlCol="0">
            <a:spAutoFit/>
          </a:bodyPr>
          <a:lstStyle/>
          <a:p>
            <a:r>
              <a:rPr lang="es-CL" i="1" dirty="0">
                <a:solidFill>
                  <a:srgbClr val="0070C0"/>
                </a:solidFill>
                <a:latin typeface="Ink Free" panose="03080402000500000000" pitchFamily="66" charset="0"/>
              </a:rPr>
              <a:t>2. Eligiendo la estrategia de financiamiento</a:t>
            </a:r>
          </a:p>
        </p:txBody>
      </p:sp>
      <p:sp>
        <p:nvSpPr>
          <p:cNvPr id="38" name="Rectángulo 37">
            <a:extLst>
              <a:ext uri="{FF2B5EF4-FFF2-40B4-BE49-F238E27FC236}">
                <a16:creationId xmlns:a16="http://schemas.microsoft.com/office/drawing/2014/main" id="{6614B469-08BA-1114-DE36-2FCF9D183DA1}"/>
              </a:ext>
            </a:extLst>
          </p:cNvPr>
          <p:cNvSpPr/>
          <p:nvPr/>
        </p:nvSpPr>
        <p:spPr>
          <a:xfrm>
            <a:off x="1630644" y="4803099"/>
            <a:ext cx="4320000" cy="12573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CL"/>
          </a:p>
        </p:txBody>
      </p:sp>
      <p:pic>
        <p:nvPicPr>
          <p:cNvPr id="39" name="Picture 2" descr="Símbolo del alfabeto griego Delta | Vector Premium">
            <a:extLst>
              <a:ext uri="{FF2B5EF4-FFF2-40B4-BE49-F238E27FC236}">
                <a16:creationId xmlns:a16="http://schemas.microsoft.com/office/drawing/2014/main" id="{1E2E5F9C-93A5-F0F5-4172-71E6CB7A95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020" y="4836794"/>
            <a:ext cx="270511" cy="270511"/>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39">
            <a:extLst>
              <a:ext uri="{FF2B5EF4-FFF2-40B4-BE49-F238E27FC236}">
                <a16:creationId xmlns:a16="http://schemas.microsoft.com/office/drawing/2014/main" id="{A365C0E2-B3C0-5503-DD0A-38A56492BB97}"/>
              </a:ext>
            </a:extLst>
          </p:cNvPr>
          <p:cNvSpPr txBox="1"/>
          <p:nvPr/>
        </p:nvSpPr>
        <p:spPr>
          <a:xfrm>
            <a:off x="1885950" y="4812030"/>
            <a:ext cx="734496" cy="369332"/>
          </a:xfrm>
          <a:prstGeom prst="rect">
            <a:avLst/>
          </a:prstGeom>
          <a:noFill/>
        </p:spPr>
        <p:txBody>
          <a:bodyPr wrap="none" rtlCol="0">
            <a:spAutoFit/>
          </a:bodyPr>
          <a:lstStyle/>
          <a:p>
            <a:r>
              <a:rPr lang="es-CL" dirty="0"/>
              <a:t>K </a:t>
            </a:r>
            <a:r>
              <a:rPr lang="es-CL" sz="1200" dirty="0"/>
              <a:t>100%</a:t>
            </a:r>
            <a:endParaRPr lang="es-CL" dirty="0"/>
          </a:p>
        </p:txBody>
      </p:sp>
      <p:sp>
        <p:nvSpPr>
          <p:cNvPr id="41" name="CuadroTexto 40">
            <a:extLst>
              <a:ext uri="{FF2B5EF4-FFF2-40B4-BE49-F238E27FC236}">
                <a16:creationId xmlns:a16="http://schemas.microsoft.com/office/drawing/2014/main" id="{F7FF7D81-24E2-7E71-D890-D340C6A9AB23}"/>
              </a:ext>
            </a:extLst>
          </p:cNvPr>
          <p:cNvSpPr txBox="1"/>
          <p:nvPr/>
        </p:nvSpPr>
        <p:spPr>
          <a:xfrm>
            <a:off x="1630644" y="6154056"/>
            <a:ext cx="1369286" cy="261610"/>
          </a:xfrm>
          <a:prstGeom prst="rect">
            <a:avLst/>
          </a:prstGeom>
          <a:noFill/>
        </p:spPr>
        <p:txBody>
          <a:bodyPr wrap="none" rtlCol="0">
            <a:spAutoFit/>
          </a:bodyPr>
          <a:lstStyle>
            <a:defPPr>
              <a:defRPr lang="es-CL"/>
            </a:defPPr>
            <a:lvl1pPr>
              <a:defRPr sz="1100">
                <a:solidFill>
                  <a:srgbClr val="0070C0"/>
                </a:solidFill>
                <a:latin typeface="Ink Free" panose="03080402000500000000" pitchFamily="66" charset="0"/>
              </a:defRPr>
            </a:lvl1pPr>
          </a:lstStyle>
          <a:p>
            <a:r>
              <a:rPr lang="es-CL" dirty="0"/>
              <a:t>Capital propio 30%</a:t>
            </a:r>
          </a:p>
        </p:txBody>
      </p:sp>
      <p:sp>
        <p:nvSpPr>
          <p:cNvPr id="42" name="CuadroTexto 41">
            <a:extLst>
              <a:ext uri="{FF2B5EF4-FFF2-40B4-BE49-F238E27FC236}">
                <a16:creationId xmlns:a16="http://schemas.microsoft.com/office/drawing/2014/main" id="{E4B6046C-3FBA-EA1E-BA6C-96D6868678EC}"/>
              </a:ext>
            </a:extLst>
          </p:cNvPr>
          <p:cNvSpPr txBox="1"/>
          <p:nvPr/>
        </p:nvSpPr>
        <p:spPr>
          <a:xfrm>
            <a:off x="2832510" y="6415666"/>
            <a:ext cx="912429" cy="261610"/>
          </a:xfrm>
          <a:prstGeom prst="rect">
            <a:avLst/>
          </a:prstGeom>
          <a:noFill/>
        </p:spPr>
        <p:txBody>
          <a:bodyPr wrap="none" rtlCol="0">
            <a:spAutoFit/>
          </a:bodyPr>
          <a:lstStyle>
            <a:defPPr>
              <a:defRPr lang="es-CL"/>
            </a:defPPr>
            <a:lvl1pPr>
              <a:defRPr sz="1100">
                <a:solidFill>
                  <a:srgbClr val="0070C0"/>
                </a:solidFill>
                <a:latin typeface="Ink Free" panose="03080402000500000000" pitchFamily="66" charset="0"/>
              </a:defRPr>
            </a:lvl1pPr>
          </a:lstStyle>
          <a:p>
            <a:r>
              <a:rPr lang="es-CL" dirty="0"/>
              <a:t>Deuda 20%</a:t>
            </a:r>
          </a:p>
        </p:txBody>
      </p:sp>
      <p:sp>
        <p:nvSpPr>
          <p:cNvPr id="43" name="Rectángulo 42">
            <a:extLst>
              <a:ext uri="{FF2B5EF4-FFF2-40B4-BE49-F238E27FC236}">
                <a16:creationId xmlns:a16="http://schemas.microsoft.com/office/drawing/2014/main" id="{30E457A8-E4F9-AC77-397E-A9C712F38528}"/>
              </a:ext>
            </a:extLst>
          </p:cNvPr>
          <p:cNvSpPr/>
          <p:nvPr/>
        </p:nvSpPr>
        <p:spPr>
          <a:xfrm>
            <a:off x="3982949" y="4890580"/>
            <a:ext cx="2160000" cy="1257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400" b="1" dirty="0"/>
              <a:t>50%</a:t>
            </a:r>
          </a:p>
        </p:txBody>
      </p:sp>
      <p:sp>
        <p:nvSpPr>
          <p:cNvPr id="44" name="CuadroTexto 43">
            <a:extLst>
              <a:ext uri="{FF2B5EF4-FFF2-40B4-BE49-F238E27FC236}">
                <a16:creationId xmlns:a16="http://schemas.microsoft.com/office/drawing/2014/main" id="{73A647BD-9ABA-78C0-ED2F-0D88EC076915}"/>
              </a:ext>
            </a:extLst>
          </p:cNvPr>
          <p:cNvSpPr txBox="1"/>
          <p:nvPr/>
        </p:nvSpPr>
        <p:spPr>
          <a:xfrm>
            <a:off x="3982643" y="6212845"/>
            <a:ext cx="2597186" cy="261610"/>
          </a:xfrm>
          <a:prstGeom prst="rect">
            <a:avLst/>
          </a:prstGeom>
          <a:noFill/>
        </p:spPr>
        <p:txBody>
          <a:bodyPr wrap="none" rtlCol="0">
            <a:spAutoFit/>
          </a:bodyPr>
          <a:lstStyle>
            <a:defPPr>
              <a:defRPr lang="es-CL"/>
            </a:defPPr>
            <a:lvl1pPr>
              <a:defRPr sz="1100">
                <a:solidFill>
                  <a:srgbClr val="0070C0"/>
                </a:solidFill>
                <a:latin typeface="Ink Free" panose="03080402000500000000" pitchFamily="66" charset="0"/>
              </a:defRPr>
            </a:lvl1pPr>
          </a:lstStyle>
          <a:p>
            <a:r>
              <a:rPr lang="es-CL" dirty="0"/>
              <a:t>Emisión de acciones 50% (USD$ Serie A)</a:t>
            </a:r>
          </a:p>
        </p:txBody>
      </p:sp>
      <p:sp>
        <p:nvSpPr>
          <p:cNvPr id="45" name="CuadroTexto 44">
            <a:extLst>
              <a:ext uri="{FF2B5EF4-FFF2-40B4-BE49-F238E27FC236}">
                <a16:creationId xmlns:a16="http://schemas.microsoft.com/office/drawing/2014/main" id="{DD1B3334-0DDD-CD53-C6B9-059F88EDC4A1}"/>
              </a:ext>
            </a:extLst>
          </p:cNvPr>
          <p:cNvSpPr txBox="1"/>
          <p:nvPr/>
        </p:nvSpPr>
        <p:spPr>
          <a:xfrm>
            <a:off x="6686550" y="4180041"/>
            <a:ext cx="2879314" cy="369332"/>
          </a:xfrm>
          <a:prstGeom prst="rect">
            <a:avLst/>
          </a:prstGeom>
          <a:noFill/>
        </p:spPr>
        <p:txBody>
          <a:bodyPr wrap="none" rtlCol="0">
            <a:spAutoFit/>
          </a:bodyPr>
          <a:lstStyle/>
          <a:p>
            <a:r>
              <a:rPr lang="es-CL" i="1" dirty="0">
                <a:solidFill>
                  <a:srgbClr val="0070C0"/>
                </a:solidFill>
                <a:latin typeface="Ink Free" panose="03080402000500000000" pitchFamily="66" charset="0"/>
              </a:rPr>
              <a:t>3. % de aumento de capital</a:t>
            </a:r>
          </a:p>
        </p:txBody>
      </p:sp>
      <p:sp>
        <p:nvSpPr>
          <p:cNvPr id="46" name="CuadroTexto 45">
            <a:extLst>
              <a:ext uri="{FF2B5EF4-FFF2-40B4-BE49-F238E27FC236}">
                <a16:creationId xmlns:a16="http://schemas.microsoft.com/office/drawing/2014/main" id="{C7114A02-529A-4519-03C0-CF5A6A43BBE0}"/>
              </a:ext>
            </a:extLst>
          </p:cNvPr>
          <p:cNvSpPr txBox="1"/>
          <p:nvPr/>
        </p:nvSpPr>
        <p:spPr>
          <a:xfrm>
            <a:off x="6686549" y="4803099"/>
            <a:ext cx="2217417" cy="646331"/>
          </a:xfrm>
          <a:prstGeom prst="rect">
            <a:avLst/>
          </a:prstGeom>
          <a:noFill/>
        </p:spPr>
        <p:txBody>
          <a:bodyPr wrap="square" rtlCol="0">
            <a:spAutoFit/>
          </a:bodyPr>
          <a:lstStyle/>
          <a:p>
            <a:r>
              <a:rPr lang="es-CL" sz="1200" dirty="0"/>
              <a:t>+ Valorización pre </a:t>
            </a:r>
            <a:r>
              <a:rPr lang="es-CL" sz="1200" dirty="0" err="1"/>
              <a:t>money</a:t>
            </a:r>
            <a:endParaRPr lang="es-CL" sz="1200" dirty="0"/>
          </a:p>
          <a:p>
            <a:r>
              <a:rPr lang="es-CL" sz="1200" dirty="0"/>
              <a:t>+ </a:t>
            </a:r>
            <a:r>
              <a:rPr lang="es-CL" sz="1200" dirty="0">
                <a:latin typeface="Ink Free" panose="03080402000500000000" pitchFamily="66" charset="0"/>
              </a:rPr>
              <a:t>     </a:t>
            </a:r>
            <a:r>
              <a:rPr lang="es-CL" sz="1200" dirty="0"/>
              <a:t>K Serie A</a:t>
            </a:r>
          </a:p>
          <a:p>
            <a:r>
              <a:rPr lang="es-CL" sz="1200" dirty="0"/>
              <a:t>= Valorización post </a:t>
            </a:r>
            <a:r>
              <a:rPr lang="es-CL" sz="1200" dirty="0" err="1"/>
              <a:t>money</a:t>
            </a:r>
            <a:endParaRPr lang="es-CL" sz="1200" dirty="0"/>
          </a:p>
        </p:txBody>
      </p:sp>
      <p:sp>
        <p:nvSpPr>
          <p:cNvPr id="47" name="CuadroTexto 46">
            <a:extLst>
              <a:ext uri="{FF2B5EF4-FFF2-40B4-BE49-F238E27FC236}">
                <a16:creationId xmlns:a16="http://schemas.microsoft.com/office/drawing/2014/main" id="{DADDFDBD-DE59-30F3-980C-9376D4B0331B}"/>
              </a:ext>
            </a:extLst>
          </p:cNvPr>
          <p:cNvSpPr txBox="1"/>
          <p:nvPr/>
        </p:nvSpPr>
        <p:spPr>
          <a:xfrm>
            <a:off x="8047906" y="5643079"/>
            <a:ext cx="3749744" cy="261610"/>
          </a:xfrm>
          <a:prstGeom prst="rect">
            <a:avLst/>
          </a:prstGeom>
          <a:noFill/>
        </p:spPr>
        <p:txBody>
          <a:bodyPr wrap="none" rtlCol="0">
            <a:spAutoFit/>
          </a:bodyPr>
          <a:lstStyle>
            <a:defPPr>
              <a:defRPr lang="es-CL"/>
            </a:defPPr>
            <a:lvl1pPr>
              <a:defRPr sz="1100">
                <a:solidFill>
                  <a:srgbClr val="0070C0"/>
                </a:solidFill>
                <a:latin typeface="Ink Free" panose="03080402000500000000" pitchFamily="66" charset="0"/>
              </a:defRPr>
            </a:lvl1pPr>
          </a:lstStyle>
          <a:p>
            <a:r>
              <a:rPr lang="es-CL" dirty="0"/>
              <a:t>% propiedad accionista Serie A =       K Serie A / Post </a:t>
            </a:r>
            <a:r>
              <a:rPr lang="es-CL" dirty="0" err="1"/>
              <a:t>money</a:t>
            </a:r>
            <a:endParaRPr lang="es-CL" dirty="0"/>
          </a:p>
        </p:txBody>
      </p:sp>
      <p:cxnSp>
        <p:nvCxnSpPr>
          <p:cNvPr id="49" name="Conector curvado 48">
            <a:extLst>
              <a:ext uri="{FF2B5EF4-FFF2-40B4-BE49-F238E27FC236}">
                <a16:creationId xmlns:a16="http://schemas.microsoft.com/office/drawing/2014/main" id="{EF802615-366C-3A8A-9E38-249BD876D2D4}"/>
              </a:ext>
            </a:extLst>
          </p:cNvPr>
          <p:cNvCxnSpPr>
            <a:cxnSpLocks/>
            <a:stCxn id="47" idx="0"/>
            <a:endCxn id="45" idx="3"/>
          </p:cNvCxnSpPr>
          <p:nvPr/>
        </p:nvCxnSpPr>
        <p:spPr>
          <a:xfrm rot="16200000" flipV="1">
            <a:off x="9105135" y="4825436"/>
            <a:ext cx="1278372" cy="356914"/>
          </a:xfrm>
          <a:prstGeom prst="curvedConnector2">
            <a:avLst/>
          </a:prstGeom>
          <a:ln w="9525">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ector recto 51">
            <a:extLst>
              <a:ext uri="{FF2B5EF4-FFF2-40B4-BE49-F238E27FC236}">
                <a16:creationId xmlns:a16="http://schemas.microsoft.com/office/drawing/2014/main" id="{C540396B-F7B8-192B-D32F-5C9D42AB269B}"/>
              </a:ext>
            </a:extLst>
          </p:cNvPr>
          <p:cNvCxnSpPr/>
          <p:nvPr/>
        </p:nvCxnSpPr>
        <p:spPr>
          <a:xfrm>
            <a:off x="2931350" y="5126264"/>
            <a:ext cx="0" cy="1021616"/>
          </a:xfrm>
          <a:prstGeom prst="line">
            <a:avLst/>
          </a:prstGeom>
          <a:ln w="952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53" name="Conector recto 52">
            <a:extLst>
              <a:ext uri="{FF2B5EF4-FFF2-40B4-BE49-F238E27FC236}">
                <a16:creationId xmlns:a16="http://schemas.microsoft.com/office/drawing/2014/main" id="{F4D96F64-C771-241D-9FBE-54CA844932A6}"/>
              </a:ext>
            </a:extLst>
          </p:cNvPr>
          <p:cNvCxnSpPr>
            <a:cxnSpLocks/>
          </p:cNvCxnSpPr>
          <p:nvPr/>
        </p:nvCxnSpPr>
        <p:spPr>
          <a:xfrm>
            <a:off x="3790644" y="5126264"/>
            <a:ext cx="0" cy="1348191"/>
          </a:xfrm>
          <a:prstGeom prst="line">
            <a:avLst/>
          </a:prstGeom>
          <a:ln w="9525">
            <a:solidFill>
              <a:schemeClr val="tx1"/>
            </a:solidFill>
            <a:prstDash val="dash"/>
          </a:ln>
        </p:spPr>
        <p:style>
          <a:lnRef idx="2">
            <a:schemeClr val="accent1"/>
          </a:lnRef>
          <a:fillRef idx="0">
            <a:schemeClr val="accent1"/>
          </a:fillRef>
          <a:effectRef idx="1">
            <a:schemeClr val="accent1"/>
          </a:effectRef>
          <a:fontRef idx="minor">
            <a:schemeClr val="tx1"/>
          </a:fontRef>
        </p:style>
      </p:cxnSp>
      <p:pic>
        <p:nvPicPr>
          <p:cNvPr id="3" name="Picture 2" descr="Símbolo del alfabeto griego Delta | Vector Premium">
            <a:extLst>
              <a:ext uri="{FF2B5EF4-FFF2-40B4-BE49-F238E27FC236}">
                <a16:creationId xmlns:a16="http://schemas.microsoft.com/office/drawing/2014/main" id="{C32C6252-FB91-E966-069D-21230A5304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8854" y="5026005"/>
            <a:ext cx="200518" cy="20051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ímbolo del alfabeto griego Delta | Vector Premium">
            <a:extLst>
              <a:ext uri="{FF2B5EF4-FFF2-40B4-BE49-F238E27FC236}">
                <a16:creationId xmlns:a16="http://schemas.microsoft.com/office/drawing/2014/main" id="{F698C47D-CF61-D833-F4A6-7A7A175BAE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9680" y="5640988"/>
            <a:ext cx="200518" cy="200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0826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093C6F-D54F-440A-9367-AA4BFA1B653C}"/>
              </a:ext>
            </a:extLst>
          </p:cNvPr>
          <p:cNvSpPr>
            <a:spLocks noGrp="1"/>
          </p:cNvSpPr>
          <p:nvPr>
            <p:ph type="title"/>
          </p:nvPr>
        </p:nvSpPr>
        <p:spPr/>
        <p:txBody>
          <a:bodyPr/>
          <a:lstStyle/>
          <a:p>
            <a:r>
              <a:rPr lang="es-CL" b="1" dirty="0">
                <a:solidFill>
                  <a:schemeClr val="accent4"/>
                </a:solidFill>
                <a:sym typeface="Helvetica Neue" charset="0"/>
              </a:rPr>
              <a:t>Mis primeros 9 meses</a:t>
            </a:r>
            <a:endParaRPr lang="es-CL" dirty="0">
              <a:solidFill>
                <a:schemeClr val="accent4"/>
              </a:solidFill>
            </a:endParaRPr>
          </a:p>
        </p:txBody>
      </p:sp>
      <p:pic>
        <p:nvPicPr>
          <p:cNvPr id="3" name="Imagen 2">
            <a:extLst>
              <a:ext uri="{FF2B5EF4-FFF2-40B4-BE49-F238E27FC236}">
                <a16:creationId xmlns:a16="http://schemas.microsoft.com/office/drawing/2014/main" id="{73A64C01-BEFB-4868-BCD7-BD622ED0B7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765175"/>
            <a:ext cx="5437188" cy="5437188"/>
          </a:xfrm>
          <a:prstGeom prst="rect">
            <a:avLst/>
          </a:prstGeom>
        </p:spPr>
      </p:pic>
    </p:spTree>
    <p:extLst>
      <p:ext uri="{BB962C8B-B14F-4D97-AF65-F5344CB8AC3E}">
        <p14:creationId xmlns:p14="http://schemas.microsoft.com/office/powerpoint/2010/main" val="2124981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C23BCEF-B74C-4E4E-9439-AEC053A1D3BB}"/>
              </a:ext>
            </a:extLst>
          </p:cNvPr>
          <p:cNvSpPr>
            <a:spLocks noGrp="1"/>
          </p:cNvSpPr>
          <p:nvPr>
            <p:ph type="title"/>
          </p:nvPr>
        </p:nvSpPr>
        <p:spPr>
          <a:xfrm>
            <a:off x="658813" y="800100"/>
            <a:ext cx="10874375" cy="550600"/>
          </a:xfrm>
        </p:spPr>
        <p:txBody>
          <a:bodyPr/>
          <a:lstStyle/>
          <a:p>
            <a:r>
              <a:rPr lang="es-CL" sz="3200" dirty="0"/>
              <a:t>El paso a paso: </a:t>
            </a:r>
            <a:r>
              <a:rPr lang="es-CL" sz="3200" dirty="0">
                <a:solidFill>
                  <a:schemeClr val="accent4"/>
                </a:solidFill>
              </a:rPr>
              <a:t>Mis primeros 9 meses</a:t>
            </a:r>
          </a:p>
        </p:txBody>
      </p:sp>
      <p:sp>
        <p:nvSpPr>
          <p:cNvPr id="2" name="CuadroTexto 1">
            <a:extLst>
              <a:ext uri="{FF2B5EF4-FFF2-40B4-BE49-F238E27FC236}">
                <a16:creationId xmlns:a16="http://schemas.microsoft.com/office/drawing/2014/main" id="{29F25099-FBD5-483C-A3EC-D38DAE5C4769}"/>
              </a:ext>
            </a:extLst>
          </p:cNvPr>
          <p:cNvSpPr txBox="1"/>
          <p:nvPr/>
        </p:nvSpPr>
        <p:spPr>
          <a:xfrm>
            <a:off x="891941" y="1857755"/>
            <a:ext cx="9246065" cy="728398"/>
          </a:xfrm>
          <a:prstGeom prst="rect">
            <a:avLst/>
          </a:prstGeom>
          <a:solidFill>
            <a:schemeClr val="accent3"/>
          </a:solidFill>
          <a:ln w="28575">
            <a:solidFill>
              <a:schemeClr val="accent4"/>
            </a:solidFill>
          </a:ln>
        </p:spPr>
        <p:txBody>
          <a:bodyPr wrap="square" lIns="468000" tIns="0" bIns="0" rtlCol="0" anchor="ctr">
            <a:noAutofit/>
          </a:bodyPr>
          <a:lstStyle/>
          <a:p>
            <a:pPr lvl="0">
              <a:defRPr/>
            </a:pPr>
            <a:r>
              <a:rPr lang="es-ES" sz="1600" dirty="0">
                <a:solidFill>
                  <a:schemeClr val="bg1"/>
                </a:solidFill>
              </a:rPr>
              <a:t>Estimación de costos realistas.</a:t>
            </a:r>
            <a:endParaRPr lang="es-CL" sz="1300" dirty="0">
              <a:solidFill>
                <a:schemeClr val="bg1"/>
              </a:solidFill>
            </a:endParaRPr>
          </a:p>
        </p:txBody>
      </p:sp>
      <p:sp>
        <p:nvSpPr>
          <p:cNvPr id="3" name="Rectángulo 55">
            <a:extLst>
              <a:ext uri="{FF2B5EF4-FFF2-40B4-BE49-F238E27FC236}">
                <a16:creationId xmlns:a16="http://schemas.microsoft.com/office/drawing/2014/main" id="{E98C1D71-771A-404F-8B6E-E6C9A426F669}"/>
              </a:ext>
            </a:extLst>
          </p:cNvPr>
          <p:cNvSpPr/>
          <p:nvPr/>
        </p:nvSpPr>
        <p:spPr>
          <a:xfrm>
            <a:off x="680363" y="1941486"/>
            <a:ext cx="466254" cy="446114"/>
          </a:xfrm>
          <a:prstGeom prst="ellipse">
            <a:avLst/>
          </a:prstGeom>
          <a:solidFill>
            <a:schemeClr val="accent4"/>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b="1" i="0" u="none" strike="noStrike" kern="1200" cap="none" spc="0" normalizeH="0" baseline="0" noProof="0" dirty="0">
                <a:ln>
                  <a:noFill/>
                </a:ln>
                <a:solidFill>
                  <a:schemeClr val="tx2"/>
                </a:solidFill>
                <a:effectLst/>
                <a:uLnTx/>
                <a:uFillTx/>
                <a:latin typeface="Gotham" panose="02000604030000020004" pitchFamily="50" charset="0"/>
                <a:ea typeface="+mn-ea"/>
                <a:cs typeface="+mn-cs"/>
              </a:rPr>
              <a:t>1</a:t>
            </a:r>
          </a:p>
        </p:txBody>
      </p:sp>
      <p:sp>
        <p:nvSpPr>
          <p:cNvPr id="5" name="CuadroTexto 4">
            <a:extLst>
              <a:ext uri="{FF2B5EF4-FFF2-40B4-BE49-F238E27FC236}">
                <a16:creationId xmlns:a16="http://schemas.microsoft.com/office/drawing/2014/main" id="{279E31C9-D388-4448-9077-F67C7298DF5E}"/>
              </a:ext>
            </a:extLst>
          </p:cNvPr>
          <p:cNvSpPr txBox="1"/>
          <p:nvPr/>
        </p:nvSpPr>
        <p:spPr>
          <a:xfrm>
            <a:off x="891943" y="2801306"/>
            <a:ext cx="9246065" cy="2685094"/>
          </a:xfrm>
          <a:prstGeom prst="rect">
            <a:avLst/>
          </a:prstGeom>
          <a:solidFill>
            <a:schemeClr val="accent3"/>
          </a:solidFill>
          <a:ln w="28575">
            <a:solidFill>
              <a:schemeClr val="accent4"/>
            </a:solidFill>
          </a:ln>
        </p:spPr>
        <p:txBody>
          <a:bodyPr wrap="square" lIns="288000" tIns="0" rIns="288000" bIns="0" rtlCol="0" anchor="ctr">
            <a:noAutofit/>
          </a:bodyPr>
          <a:lstStyle/>
          <a:p>
            <a:pPr lvl="0" algn="just">
              <a:defRPr/>
            </a:pPr>
            <a:r>
              <a:rPr lang="es-ES" sz="1600" dirty="0">
                <a:solidFill>
                  <a:schemeClr val="bg1"/>
                </a:solidFill>
              </a:rPr>
              <a:t>El objetivo de este ejercicio es comprender que un plan financiero sólido y realista es fundamental para la supervivencia y éxito de cualquier emprendimiento. En la hoja "Mis primeros 9 meses", deberán definir en qué se gastará el dinero, evitando suposiciones imprecisas. Esto los ayudará a manejar sus recursos eficientemente y tomar decisiones informadas a lo largo del tiempo. </a:t>
            </a:r>
          </a:p>
          <a:p>
            <a:pPr lvl="0" algn="just">
              <a:defRPr/>
            </a:pPr>
            <a:endParaRPr lang="es-ES" sz="1600" dirty="0">
              <a:solidFill>
                <a:schemeClr val="bg1"/>
              </a:solidFill>
            </a:endParaRPr>
          </a:p>
          <a:p>
            <a:pPr lvl="0" algn="just">
              <a:defRPr/>
            </a:pPr>
            <a:r>
              <a:rPr lang="es-ES" sz="1200" i="1" dirty="0">
                <a:solidFill>
                  <a:schemeClr val="bg1"/>
                </a:solidFill>
              </a:rPr>
              <a:t>*Considera los montos presentados en el ejemplo que sigue como aproximaciones ficticias. Es importante determinar la temporalidad de cada costo y gasto (en el ejemplo no se ve reflejado)</a:t>
            </a:r>
          </a:p>
        </p:txBody>
      </p:sp>
    </p:spTree>
    <p:extLst>
      <p:ext uri="{BB962C8B-B14F-4D97-AF65-F5344CB8AC3E}">
        <p14:creationId xmlns:p14="http://schemas.microsoft.com/office/powerpoint/2010/main" val="62906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D1C2F94B-C656-9702-F8FB-1D77273C2070}"/>
              </a:ext>
            </a:extLst>
          </p:cNvPr>
          <p:cNvGrpSpPr/>
          <p:nvPr/>
        </p:nvGrpSpPr>
        <p:grpSpPr>
          <a:xfrm>
            <a:off x="666750" y="2157768"/>
            <a:ext cx="7772401" cy="2542464"/>
            <a:chOff x="666750" y="1186218"/>
            <a:chExt cx="7772401" cy="2542464"/>
          </a:xfrm>
        </p:grpSpPr>
        <p:pic>
          <p:nvPicPr>
            <p:cNvPr id="3" name="Imagen 2">
              <a:extLst>
                <a:ext uri="{FF2B5EF4-FFF2-40B4-BE49-F238E27FC236}">
                  <a16:creationId xmlns:a16="http://schemas.microsoft.com/office/drawing/2014/main" id="{C428AC40-5F6B-A803-A8E0-AF59E971D045}"/>
                </a:ext>
              </a:extLst>
            </p:cNvPr>
            <p:cNvPicPr>
              <a:picLocks noChangeAspect="1"/>
            </p:cNvPicPr>
            <p:nvPr/>
          </p:nvPicPr>
          <p:blipFill>
            <a:blip r:embed="rId2"/>
            <a:stretch>
              <a:fillRect/>
            </a:stretch>
          </p:blipFill>
          <p:spPr>
            <a:xfrm>
              <a:off x="666750" y="1186218"/>
              <a:ext cx="7772400" cy="2542464"/>
            </a:xfrm>
            <a:prstGeom prst="rect">
              <a:avLst/>
            </a:prstGeom>
          </p:spPr>
        </p:pic>
        <p:sp>
          <p:nvSpPr>
            <p:cNvPr id="4" name="Rectángulo 3">
              <a:extLst>
                <a:ext uri="{FF2B5EF4-FFF2-40B4-BE49-F238E27FC236}">
                  <a16:creationId xmlns:a16="http://schemas.microsoft.com/office/drawing/2014/main" id="{2E66CE8B-F29D-F3D9-622E-A20FACC8DB09}"/>
                </a:ext>
              </a:extLst>
            </p:cNvPr>
            <p:cNvSpPr/>
            <p:nvPr/>
          </p:nvSpPr>
          <p:spPr>
            <a:xfrm>
              <a:off x="4186239" y="1186218"/>
              <a:ext cx="4252912" cy="2542464"/>
            </a:xfrm>
            <a:prstGeom prst="rect">
              <a:avLst/>
            </a:prstGeom>
            <a:solidFill>
              <a:srgbClr val="593BB9">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5" name="CuadroTexto 4">
            <a:extLst>
              <a:ext uri="{FF2B5EF4-FFF2-40B4-BE49-F238E27FC236}">
                <a16:creationId xmlns:a16="http://schemas.microsoft.com/office/drawing/2014/main" id="{2CF29723-CCAD-A4F0-07CB-2F9B450C9D42}"/>
              </a:ext>
            </a:extLst>
          </p:cNvPr>
          <p:cNvSpPr txBox="1"/>
          <p:nvPr/>
        </p:nvSpPr>
        <p:spPr>
          <a:xfrm>
            <a:off x="666750" y="471488"/>
            <a:ext cx="7827784" cy="369332"/>
          </a:xfrm>
          <a:prstGeom prst="rect">
            <a:avLst/>
          </a:prstGeom>
          <a:noFill/>
        </p:spPr>
        <p:txBody>
          <a:bodyPr wrap="none" rtlCol="0">
            <a:spAutoFit/>
          </a:bodyPr>
          <a:lstStyle/>
          <a:p>
            <a:r>
              <a:rPr lang="es-CL" b="1" dirty="0"/>
              <a:t>Mis primeros nueve meses (MVP + Experimentos/ </a:t>
            </a:r>
            <a:r>
              <a:rPr lang="es-CL" b="1" dirty="0" err="1"/>
              <a:t>Product</a:t>
            </a:r>
            <a:r>
              <a:rPr lang="es-CL" b="1" dirty="0"/>
              <a:t> </a:t>
            </a:r>
            <a:r>
              <a:rPr lang="es-CL" b="1" dirty="0" err="1"/>
              <a:t>Market</a:t>
            </a:r>
            <a:r>
              <a:rPr lang="es-CL" b="1" dirty="0"/>
              <a:t> </a:t>
            </a:r>
            <a:r>
              <a:rPr lang="es-CL" b="1" dirty="0" err="1"/>
              <a:t>Fit</a:t>
            </a:r>
            <a:r>
              <a:rPr lang="es-CL" b="1" dirty="0"/>
              <a:t>)</a:t>
            </a:r>
          </a:p>
        </p:txBody>
      </p:sp>
      <p:sp>
        <p:nvSpPr>
          <p:cNvPr id="7" name="CuadroTexto 6">
            <a:extLst>
              <a:ext uri="{FF2B5EF4-FFF2-40B4-BE49-F238E27FC236}">
                <a16:creationId xmlns:a16="http://schemas.microsoft.com/office/drawing/2014/main" id="{03C9A94C-7374-EDCA-7C8E-8B7537B0192E}"/>
              </a:ext>
            </a:extLst>
          </p:cNvPr>
          <p:cNvSpPr txBox="1"/>
          <p:nvPr/>
        </p:nvSpPr>
        <p:spPr>
          <a:xfrm>
            <a:off x="666748" y="1012954"/>
            <a:ext cx="10858501" cy="954107"/>
          </a:xfrm>
          <a:prstGeom prst="rect">
            <a:avLst/>
          </a:prstGeom>
          <a:noFill/>
        </p:spPr>
        <p:txBody>
          <a:bodyPr wrap="square">
            <a:spAutoFit/>
          </a:bodyPr>
          <a:lstStyle/>
          <a:p>
            <a:pPr algn="l">
              <a:buNone/>
            </a:pPr>
            <a:r>
              <a:rPr lang="es-419" sz="1400" b="0" i="0" u="none" strike="noStrike" dirty="0">
                <a:effectLst/>
                <a:latin typeface="Raleway" pitchFamily="2" charset="77"/>
              </a:rPr>
              <a:t>En esta etapa es relevante determinar quienes parten, y como irá creciendo las contrataciones. Las asignaciones de sueldos, donde operar, es muy relevante tensionar a la baja todos los costos pues no habiendo ventas todo es negativo. Poner el acento en la construcción del MVP y buscar el campo de prueba de los pilotos, en clientes validos respecto de las hipotesis por probar.</a:t>
            </a:r>
          </a:p>
          <a:p>
            <a:pPr algn="l">
              <a:buNone/>
            </a:pPr>
            <a:r>
              <a:rPr lang="es-419" sz="1400" dirty="0">
                <a:latin typeface="Raleway" pitchFamily="2" charset="77"/>
              </a:rPr>
              <a:t>Costear los experimentos, y determinar sus tiempos, amarrar a indicadores perseguidos que validen las hipótesis.</a:t>
            </a:r>
            <a:endParaRPr lang="es-CL" sz="1400" b="0" i="0" u="none" strike="noStrike" dirty="0">
              <a:effectLst/>
              <a:latin typeface="Raleway" pitchFamily="2" charset="77"/>
            </a:endParaRPr>
          </a:p>
        </p:txBody>
      </p:sp>
      <p:sp>
        <p:nvSpPr>
          <p:cNvPr id="8" name="CuadroTexto 7">
            <a:extLst>
              <a:ext uri="{FF2B5EF4-FFF2-40B4-BE49-F238E27FC236}">
                <a16:creationId xmlns:a16="http://schemas.microsoft.com/office/drawing/2014/main" id="{A7286ECF-CB57-0005-FB7C-FFD3A5CA2A79}"/>
              </a:ext>
            </a:extLst>
          </p:cNvPr>
          <p:cNvSpPr txBox="1"/>
          <p:nvPr/>
        </p:nvSpPr>
        <p:spPr>
          <a:xfrm>
            <a:off x="666748" y="4890939"/>
            <a:ext cx="10858501" cy="954107"/>
          </a:xfrm>
          <a:prstGeom prst="rect">
            <a:avLst/>
          </a:prstGeom>
          <a:noFill/>
        </p:spPr>
        <p:txBody>
          <a:bodyPr wrap="square">
            <a:spAutoFit/>
          </a:bodyPr>
          <a:lstStyle/>
          <a:p>
            <a:pPr algn="l">
              <a:buNone/>
            </a:pPr>
            <a:r>
              <a:rPr lang="es-419" sz="1400" b="0" i="0" u="none" strike="noStrike" dirty="0">
                <a:effectLst/>
                <a:latin typeface="Raleway" pitchFamily="2" charset="77"/>
              </a:rPr>
              <a:t>La etapa se situa en 9 o 10 meses, pero se puede prolongar facilmente, sin embargo, la idea es lograr en ese tiempo generar algunas fuentes de ingreso primarias, incipientes, pero que comiencen a colaborar al financiamiento.</a:t>
            </a:r>
          </a:p>
          <a:p>
            <a:pPr algn="l">
              <a:buNone/>
            </a:pPr>
            <a:r>
              <a:rPr lang="es-419" sz="1400" dirty="0">
                <a:latin typeface="Raleway" pitchFamily="2" charset="77"/>
              </a:rPr>
              <a:t>Por esto, independiente de no alcanzar el </a:t>
            </a:r>
            <a:r>
              <a:rPr lang="es-419" sz="1400" b="1" dirty="0">
                <a:latin typeface="Raleway" pitchFamily="2" charset="77"/>
              </a:rPr>
              <a:t>Product market fit</a:t>
            </a:r>
            <a:r>
              <a:rPr lang="es-419" sz="1400" dirty="0">
                <a:latin typeface="Raleway" pitchFamily="2" charset="77"/>
              </a:rPr>
              <a:t>, si se puede adelantar que los clientes paguen por pilotos, pruebas, o servicios.</a:t>
            </a:r>
            <a:r>
              <a:rPr lang="es-419" sz="1400" b="0" i="0" u="none" strike="noStrike" dirty="0">
                <a:effectLst/>
                <a:latin typeface="Raleway" pitchFamily="2" charset="77"/>
              </a:rPr>
              <a:t> </a:t>
            </a:r>
            <a:endParaRPr lang="es-CL" sz="1400" b="0" i="0" u="none" strike="noStrike" dirty="0">
              <a:effectLst/>
              <a:latin typeface="Raleway" pitchFamily="2" charset="77"/>
            </a:endParaRPr>
          </a:p>
        </p:txBody>
      </p:sp>
    </p:spTree>
    <p:extLst>
      <p:ext uri="{BB962C8B-B14F-4D97-AF65-F5344CB8AC3E}">
        <p14:creationId xmlns:p14="http://schemas.microsoft.com/office/powerpoint/2010/main" val="3473886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C23BCEF-B74C-4E4E-9439-AEC053A1D3BB}"/>
              </a:ext>
            </a:extLst>
          </p:cNvPr>
          <p:cNvSpPr>
            <a:spLocks noGrp="1"/>
          </p:cNvSpPr>
          <p:nvPr>
            <p:ph type="title"/>
          </p:nvPr>
        </p:nvSpPr>
        <p:spPr>
          <a:xfrm>
            <a:off x="658814" y="2033519"/>
            <a:ext cx="4972730" cy="526802"/>
          </a:xfrm>
        </p:spPr>
        <p:txBody>
          <a:bodyPr/>
          <a:lstStyle/>
          <a:p>
            <a:pPr algn="just"/>
            <a:r>
              <a:rPr lang="es-CL" sz="3200" dirty="0"/>
              <a:t>Caso: </a:t>
            </a:r>
            <a:r>
              <a:rPr lang="es-CL" sz="3200" dirty="0">
                <a:solidFill>
                  <a:schemeClr val="accent4"/>
                </a:solidFill>
              </a:rPr>
              <a:t>Aplicación de adopción de mascotas </a:t>
            </a:r>
          </a:p>
        </p:txBody>
      </p:sp>
      <p:sp>
        <p:nvSpPr>
          <p:cNvPr id="20" name="Marcador de texto 3">
            <a:extLst>
              <a:ext uri="{FF2B5EF4-FFF2-40B4-BE49-F238E27FC236}">
                <a16:creationId xmlns:a16="http://schemas.microsoft.com/office/drawing/2014/main" id="{2FB121B7-4875-4E7F-903F-EAB92325FA0C}"/>
              </a:ext>
            </a:extLst>
          </p:cNvPr>
          <p:cNvSpPr>
            <a:spLocks noGrp="1"/>
          </p:cNvSpPr>
          <p:nvPr>
            <p:ph type="body" sz="quarter" idx="10"/>
          </p:nvPr>
        </p:nvSpPr>
        <p:spPr>
          <a:xfrm>
            <a:off x="658813" y="3314696"/>
            <a:ext cx="6013449" cy="2157413"/>
          </a:xfrm>
        </p:spPr>
        <p:txBody>
          <a:bodyPr/>
          <a:lstStyle/>
          <a:p>
            <a:pPr marL="0" indent="0">
              <a:buClr>
                <a:schemeClr val="accent1"/>
              </a:buClr>
              <a:buNone/>
            </a:pPr>
            <a:r>
              <a:rPr lang="es-ES" sz="1800" dirty="0">
                <a:solidFill>
                  <a:schemeClr val="bg1"/>
                </a:solidFill>
              </a:rPr>
              <a:t>Una aplicación tecnológica que conecta mascotas en adopción con personas interesadas en adoptarlas.</a:t>
            </a:r>
          </a:p>
          <a:p>
            <a:pPr marL="0" indent="0">
              <a:buClr>
                <a:schemeClr val="accent1"/>
              </a:buClr>
              <a:buNone/>
            </a:pPr>
            <a:endParaRPr lang="es-ES" sz="1800" dirty="0">
              <a:solidFill>
                <a:schemeClr val="bg1"/>
              </a:solidFill>
            </a:endParaRPr>
          </a:p>
          <a:p>
            <a:pPr marL="457200" lvl="1" indent="0">
              <a:buClr>
                <a:schemeClr val="accent1"/>
              </a:buClr>
              <a:buNone/>
            </a:pPr>
            <a:r>
              <a:rPr lang="es-ES" sz="1600" dirty="0">
                <a:solidFill>
                  <a:schemeClr val="bg1"/>
                </a:solidFill>
              </a:rPr>
              <a:t>“Funcionaremos 9 meses probando la aplicación en al menos 40 clientes objetivo, midiendo adherencia, tiempos de uso, impacto en los animales, impacto en cuentas de los dueños, velocidad de ingreso de nuevos clientes, satisfacción”.</a:t>
            </a:r>
          </a:p>
          <a:p>
            <a:pPr marL="0" indent="0">
              <a:buClr>
                <a:schemeClr val="accent1"/>
              </a:buClr>
              <a:buNone/>
            </a:pPr>
            <a:endParaRPr lang="es-ES" sz="1800" dirty="0">
              <a:solidFill>
                <a:schemeClr val="bg1"/>
              </a:solidFill>
            </a:endParaRPr>
          </a:p>
          <a:p>
            <a:pPr marL="0" indent="0">
              <a:buClr>
                <a:schemeClr val="accent1"/>
              </a:buClr>
              <a:buNone/>
            </a:pPr>
            <a:endParaRPr lang="es-ES" sz="1800" dirty="0">
              <a:solidFill>
                <a:schemeClr val="bg1"/>
              </a:solidFill>
            </a:endParaRPr>
          </a:p>
          <a:p>
            <a:pPr>
              <a:buClr>
                <a:schemeClr val="accent1"/>
              </a:buClr>
            </a:pPr>
            <a:endParaRPr lang="es-CL" sz="1800" dirty="0">
              <a:solidFill>
                <a:schemeClr val="bg1"/>
              </a:solidFill>
            </a:endParaRPr>
          </a:p>
          <a:p>
            <a:pPr>
              <a:buClr>
                <a:schemeClr val="accent1"/>
              </a:buClr>
            </a:pPr>
            <a:endParaRPr lang="es-CL" sz="1800" dirty="0">
              <a:solidFill>
                <a:schemeClr val="bg1"/>
              </a:solidFill>
            </a:endParaRPr>
          </a:p>
        </p:txBody>
      </p:sp>
    </p:spTree>
    <p:extLst>
      <p:ext uri="{BB962C8B-B14F-4D97-AF65-F5344CB8AC3E}">
        <p14:creationId xmlns:p14="http://schemas.microsoft.com/office/powerpoint/2010/main" val="2579471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upo 49">
            <a:extLst>
              <a:ext uri="{FF2B5EF4-FFF2-40B4-BE49-F238E27FC236}">
                <a16:creationId xmlns:a16="http://schemas.microsoft.com/office/drawing/2014/main" id="{042B7611-FDA2-B8B8-7342-FAAA7E5A81C3}"/>
              </a:ext>
            </a:extLst>
          </p:cNvPr>
          <p:cNvGrpSpPr/>
          <p:nvPr/>
        </p:nvGrpSpPr>
        <p:grpSpPr>
          <a:xfrm>
            <a:off x="650123" y="242942"/>
            <a:ext cx="10874378" cy="5419921"/>
            <a:chOff x="650123" y="242942"/>
            <a:chExt cx="10874378" cy="5663155"/>
          </a:xfrm>
        </p:grpSpPr>
        <p:sp>
          <p:nvSpPr>
            <p:cNvPr id="3" name="CuadroTexto 2">
              <a:extLst>
                <a:ext uri="{FF2B5EF4-FFF2-40B4-BE49-F238E27FC236}">
                  <a16:creationId xmlns:a16="http://schemas.microsoft.com/office/drawing/2014/main" id="{9C35EDAD-7218-D741-2D62-E63637DE2384}"/>
                </a:ext>
              </a:extLst>
            </p:cNvPr>
            <p:cNvSpPr txBox="1"/>
            <p:nvPr/>
          </p:nvSpPr>
          <p:spPr>
            <a:xfrm>
              <a:off x="650127" y="244476"/>
              <a:ext cx="3400202" cy="383202"/>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CL" sz="1600" b="1" dirty="0" err="1">
                  <a:solidFill>
                    <a:schemeClr val="bg1"/>
                  </a:solidFill>
                </a:rPr>
                <a:t>Item</a:t>
              </a:r>
              <a:endParaRPr lang="es-CL" sz="1600" b="1" dirty="0">
                <a:solidFill>
                  <a:schemeClr val="bg1"/>
                </a:solidFill>
              </a:endParaRPr>
            </a:p>
          </p:txBody>
        </p:sp>
        <p:sp>
          <p:nvSpPr>
            <p:cNvPr id="4" name="CuadroTexto 3">
              <a:extLst>
                <a:ext uri="{FF2B5EF4-FFF2-40B4-BE49-F238E27FC236}">
                  <a16:creationId xmlns:a16="http://schemas.microsoft.com/office/drawing/2014/main" id="{DB746D34-AC0F-3D95-96E8-6AC52A5E7C1A}"/>
                </a:ext>
              </a:extLst>
            </p:cNvPr>
            <p:cNvSpPr txBox="1"/>
            <p:nvPr/>
          </p:nvSpPr>
          <p:spPr>
            <a:xfrm>
              <a:off x="650125" y="626144"/>
              <a:ext cx="3400202"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b="1" dirty="0">
                  <a:solidFill>
                    <a:schemeClr val="bg1"/>
                  </a:solidFill>
                </a:rPr>
                <a:t>Recursos humanos 1: </a:t>
              </a:r>
              <a:r>
                <a:rPr lang="es-ES" sz="1100" dirty="0">
                  <a:solidFill>
                    <a:schemeClr val="bg1"/>
                  </a:solidFill>
                </a:rPr>
                <a:t>Programador interno (Desarrollo completo </a:t>
              </a:r>
              <a:r>
                <a:rPr lang="es-ES" sz="1100" dirty="0" err="1">
                  <a:solidFill>
                    <a:schemeClr val="bg1"/>
                  </a:solidFill>
                </a:rPr>
                <a:t>frontend</a:t>
              </a:r>
              <a:r>
                <a:rPr lang="es-ES" sz="1100" dirty="0">
                  <a:solidFill>
                    <a:schemeClr val="bg1"/>
                  </a:solidFill>
                </a:rPr>
                <a:t> y </a:t>
              </a:r>
              <a:r>
                <a:rPr lang="es-ES" sz="1100" dirty="0" err="1">
                  <a:solidFill>
                    <a:schemeClr val="bg1"/>
                  </a:solidFill>
                </a:rPr>
                <a:t>backend</a:t>
              </a:r>
              <a:r>
                <a:rPr lang="es-ES" sz="1100" dirty="0">
                  <a:solidFill>
                    <a:schemeClr val="bg1"/>
                  </a:solidFill>
                </a:rPr>
                <a:t>)</a:t>
              </a:r>
              <a:endParaRPr lang="es-CL" sz="1050" dirty="0">
                <a:solidFill>
                  <a:schemeClr val="bg1"/>
                </a:solidFill>
              </a:endParaRPr>
            </a:p>
          </p:txBody>
        </p:sp>
        <p:sp>
          <p:nvSpPr>
            <p:cNvPr id="7" name="CuadroTexto 6">
              <a:extLst>
                <a:ext uri="{FF2B5EF4-FFF2-40B4-BE49-F238E27FC236}">
                  <a16:creationId xmlns:a16="http://schemas.microsoft.com/office/drawing/2014/main" id="{76F1D56C-0464-23A9-6FF7-B81D2E24EF4E}"/>
                </a:ext>
              </a:extLst>
            </p:cNvPr>
            <p:cNvSpPr txBox="1"/>
            <p:nvPr/>
          </p:nvSpPr>
          <p:spPr>
            <a:xfrm>
              <a:off x="4050329" y="244476"/>
              <a:ext cx="2261575" cy="383202"/>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600" b="1" dirty="0">
                  <a:solidFill>
                    <a:schemeClr val="bg1"/>
                  </a:solidFill>
                </a:rPr>
                <a:t>Ejemplo aplicado</a:t>
              </a:r>
              <a:endParaRPr lang="es-CL" sz="1300" b="1" dirty="0">
                <a:solidFill>
                  <a:schemeClr val="bg1"/>
                </a:solidFill>
              </a:endParaRPr>
            </a:p>
          </p:txBody>
        </p:sp>
        <p:sp>
          <p:nvSpPr>
            <p:cNvPr id="8" name="CuadroTexto 7">
              <a:extLst>
                <a:ext uri="{FF2B5EF4-FFF2-40B4-BE49-F238E27FC236}">
                  <a16:creationId xmlns:a16="http://schemas.microsoft.com/office/drawing/2014/main" id="{A678D35B-B525-B6BD-EB5E-4FC5F80024E1}"/>
                </a:ext>
              </a:extLst>
            </p:cNvPr>
            <p:cNvSpPr txBox="1"/>
            <p:nvPr/>
          </p:nvSpPr>
          <p:spPr>
            <a:xfrm>
              <a:off x="4050327" y="626144"/>
              <a:ext cx="2261575"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$2,000/mes</a:t>
              </a:r>
              <a:endParaRPr lang="es-CL" sz="1050" dirty="0">
                <a:solidFill>
                  <a:schemeClr val="bg1"/>
                </a:solidFill>
              </a:endParaRPr>
            </a:p>
          </p:txBody>
        </p:sp>
        <p:sp>
          <p:nvSpPr>
            <p:cNvPr id="9" name="CuadroTexto 8">
              <a:extLst>
                <a:ext uri="{FF2B5EF4-FFF2-40B4-BE49-F238E27FC236}">
                  <a16:creationId xmlns:a16="http://schemas.microsoft.com/office/drawing/2014/main" id="{AFA8DCA2-45FD-92A4-686C-D9D594866D10}"/>
                </a:ext>
              </a:extLst>
            </p:cNvPr>
            <p:cNvSpPr txBox="1"/>
            <p:nvPr/>
          </p:nvSpPr>
          <p:spPr>
            <a:xfrm>
              <a:off x="6303211" y="242942"/>
              <a:ext cx="5221290" cy="383202"/>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600" b="1" dirty="0">
                  <a:solidFill>
                    <a:schemeClr val="bg1"/>
                  </a:solidFill>
                </a:rPr>
                <a:t>Explicación</a:t>
              </a:r>
              <a:endParaRPr lang="es-CL" sz="1300" b="1" dirty="0">
                <a:solidFill>
                  <a:schemeClr val="bg1"/>
                </a:solidFill>
              </a:endParaRPr>
            </a:p>
          </p:txBody>
        </p:sp>
        <p:sp>
          <p:nvSpPr>
            <p:cNvPr id="10" name="CuadroTexto 9">
              <a:extLst>
                <a:ext uri="{FF2B5EF4-FFF2-40B4-BE49-F238E27FC236}">
                  <a16:creationId xmlns:a16="http://schemas.microsoft.com/office/drawing/2014/main" id="{26ECA3F8-0A6E-D420-4E59-B28FB01B7A81}"/>
                </a:ext>
              </a:extLst>
            </p:cNvPr>
            <p:cNvSpPr txBox="1"/>
            <p:nvPr/>
          </p:nvSpPr>
          <p:spPr>
            <a:xfrm>
              <a:off x="6303209" y="624610"/>
              <a:ext cx="5221290"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El programador interno se encargará de desarrollar tanto la interfaz de usuario como el sistema </a:t>
              </a:r>
              <a:r>
                <a:rPr lang="es-ES" sz="1100" dirty="0" err="1">
                  <a:solidFill>
                    <a:schemeClr val="bg1"/>
                  </a:solidFill>
                </a:rPr>
                <a:t>backend</a:t>
              </a:r>
              <a:r>
                <a:rPr lang="es-ES" sz="1100" dirty="0">
                  <a:solidFill>
                    <a:schemeClr val="bg1"/>
                  </a:solidFill>
                </a:rPr>
                <a:t> de la aplicación. Este gasto es el salario mensual del programador.</a:t>
              </a:r>
              <a:endParaRPr lang="es-CL" sz="1050" dirty="0">
                <a:solidFill>
                  <a:schemeClr val="bg1"/>
                </a:solidFill>
              </a:endParaRPr>
            </a:p>
          </p:txBody>
        </p:sp>
        <p:sp>
          <p:nvSpPr>
            <p:cNvPr id="12" name="CuadroTexto 11">
              <a:extLst>
                <a:ext uri="{FF2B5EF4-FFF2-40B4-BE49-F238E27FC236}">
                  <a16:creationId xmlns:a16="http://schemas.microsoft.com/office/drawing/2014/main" id="{CC50AEA9-FD9F-B86D-5150-FDB35D48872B}"/>
                </a:ext>
              </a:extLst>
            </p:cNvPr>
            <p:cNvSpPr txBox="1"/>
            <p:nvPr/>
          </p:nvSpPr>
          <p:spPr>
            <a:xfrm>
              <a:off x="650125" y="1292169"/>
              <a:ext cx="3400202"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b="1" dirty="0">
                  <a:solidFill>
                    <a:schemeClr val="bg1"/>
                  </a:solidFill>
                </a:rPr>
                <a:t>Recursos humanos 2: </a:t>
              </a:r>
              <a:r>
                <a:rPr lang="es-ES" sz="1100" dirty="0">
                  <a:solidFill>
                    <a:schemeClr val="bg1"/>
                  </a:solidFill>
                </a:rPr>
                <a:t>Apoyo técnico y </a:t>
              </a:r>
              <a:r>
                <a:rPr lang="es-ES" sz="1100" dirty="0" err="1">
                  <a:solidFill>
                    <a:schemeClr val="bg1"/>
                  </a:solidFill>
                </a:rPr>
                <a:t>testing</a:t>
              </a:r>
              <a:endParaRPr lang="es-CL" sz="1050" dirty="0">
                <a:solidFill>
                  <a:schemeClr val="bg1"/>
                </a:solidFill>
              </a:endParaRPr>
            </a:p>
          </p:txBody>
        </p:sp>
        <p:sp>
          <p:nvSpPr>
            <p:cNvPr id="13" name="CuadroTexto 12">
              <a:extLst>
                <a:ext uri="{FF2B5EF4-FFF2-40B4-BE49-F238E27FC236}">
                  <a16:creationId xmlns:a16="http://schemas.microsoft.com/office/drawing/2014/main" id="{08AA7081-AC2D-3615-9207-93D741BDE082}"/>
                </a:ext>
              </a:extLst>
            </p:cNvPr>
            <p:cNvSpPr txBox="1"/>
            <p:nvPr/>
          </p:nvSpPr>
          <p:spPr>
            <a:xfrm>
              <a:off x="4050327" y="1292169"/>
              <a:ext cx="2261575"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$1,000/mes</a:t>
              </a:r>
              <a:endParaRPr lang="es-CL" sz="1050" dirty="0">
                <a:solidFill>
                  <a:schemeClr val="bg1"/>
                </a:solidFill>
              </a:endParaRPr>
            </a:p>
          </p:txBody>
        </p:sp>
        <p:sp>
          <p:nvSpPr>
            <p:cNvPr id="15" name="CuadroTexto 14">
              <a:extLst>
                <a:ext uri="{FF2B5EF4-FFF2-40B4-BE49-F238E27FC236}">
                  <a16:creationId xmlns:a16="http://schemas.microsoft.com/office/drawing/2014/main" id="{C0D7C8B2-6167-3F25-1E44-A2E927113B53}"/>
                </a:ext>
              </a:extLst>
            </p:cNvPr>
            <p:cNvSpPr txBox="1"/>
            <p:nvPr/>
          </p:nvSpPr>
          <p:spPr>
            <a:xfrm>
              <a:off x="6303209" y="1290635"/>
              <a:ext cx="5221290"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El programador interno necesitará apoyo adicional para pruebas y mejoras técnicas. Esto puede incluir un equipo pequeño de QA (aseguramiento de calidad) para realizar </a:t>
              </a:r>
              <a:r>
                <a:rPr lang="es-ES" sz="1100" dirty="0" err="1">
                  <a:solidFill>
                    <a:schemeClr val="bg1"/>
                  </a:solidFill>
                </a:rPr>
                <a:t>testing</a:t>
              </a:r>
              <a:r>
                <a:rPr lang="es-ES" sz="1100" dirty="0">
                  <a:solidFill>
                    <a:schemeClr val="bg1"/>
                  </a:solidFill>
                </a:rPr>
                <a:t>.</a:t>
              </a:r>
              <a:endParaRPr lang="es-CL" sz="1050" dirty="0">
                <a:solidFill>
                  <a:schemeClr val="bg1"/>
                </a:solidFill>
              </a:endParaRPr>
            </a:p>
          </p:txBody>
        </p:sp>
        <p:sp>
          <p:nvSpPr>
            <p:cNvPr id="16" name="CuadroTexto 15">
              <a:extLst>
                <a:ext uri="{FF2B5EF4-FFF2-40B4-BE49-F238E27FC236}">
                  <a16:creationId xmlns:a16="http://schemas.microsoft.com/office/drawing/2014/main" id="{4D43B84C-FEE3-4722-E8E6-8D68C086EE9C}"/>
                </a:ext>
              </a:extLst>
            </p:cNvPr>
            <p:cNvSpPr txBox="1"/>
            <p:nvPr/>
          </p:nvSpPr>
          <p:spPr>
            <a:xfrm>
              <a:off x="650125" y="1962791"/>
              <a:ext cx="3400202"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b="1" dirty="0">
                  <a:solidFill>
                    <a:schemeClr val="bg1"/>
                  </a:solidFill>
                </a:rPr>
                <a:t>Operaciones 1:</a:t>
              </a:r>
              <a:r>
                <a:rPr lang="es-ES" sz="1100" dirty="0">
                  <a:solidFill>
                    <a:schemeClr val="bg1"/>
                  </a:solidFill>
                </a:rPr>
                <a:t> Hosting y servidores </a:t>
              </a:r>
              <a:endParaRPr lang="es-CL" sz="1050" dirty="0">
                <a:solidFill>
                  <a:schemeClr val="bg1"/>
                </a:solidFill>
              </a:endParaRPr>
            </a:p>
          </p:txBody>
        </p:sp>
        <p:sp>
          <p:nvSpPr>
            <p:cNvPr id="18" name="CuadroTexto 17">
              <a:extLst>
                <a:ext uri="{FF2B5EF4-FFF2-40B4-BE49-F238E27FC236}">
                  <a16:creationId xmlns:a16="http://schemas.microsoft.com/office/drawing/2014/main" id="{F372F62D-AB77-3FE1-DD5D-D40A5EB221CF}"/>
                </a:ext>
              </a:extLst>
            </p:cNvPr>
            <p:cNvSpPr txBox="1"/>
            <p:nvPr/>
          </p:nvSpPr>
          <p:spPr>
            <a:xfrm>
              <a:off x="4050327" y="1962791"/>
              <a:ext cx="2261575"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$500/mes</a:t>
              </a:r>
              <a:endParaRPr lang="es-CL" sz="1050" dirty="0">
                <a:solidFill>
                  <a:schemeClr val="bg1"/>
                </a:solidFill>
              </a:endParaRPr>
            </a:p>
          </p:txBody>
        </p:sp>
        <p:sp>
          <p:nvSpPr>
            <p:cNvPr id="19" name="CuadroTexto 18">
              <a:extLst>
                <a:ext uri="{FF2B5EF4-FFF2-40B4-BE49-F238E27FC236}">
                  <a16:creationId xmlns:a16="http://schemas.microsoft.com/office/drawing/2014/main" id="{F52C4281-1512-0A18-2FF4-0B14FA52F110}"/>
                </a:ext>
              </a:extLst>
            </p:cNvPr>
            <p:cNvSpPr txBox="1"/>
            <p:nvPr/>
          </p:nvSpPr>
          <p:spPr>
            <a:xfrm>
              <a:off x="6303209" y="1961257"/>
              <a:ext cx="5221290"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Este costo cubre los servidores y almacenamiento en la nube que permiten que la aplicación esté disponible de manera continua para los usuarios.</a:t>
              </a:r>
              <a:endParaRPr lang="es-CL" sz="1050" dirty="0">
                <a:solidFill>
                  <a:schemeClr val="bg1"/>
                </a:solidFill>
              </a:endParaRPr>
            </a:p>
          </p:txBody>
        </p:sp>
        <p:sp>
          <p:nvSpPr>
            <p:cNvPr id="23" name="CuadroTexto 22">
              <a:extLst>
                <a:ext uri="{FF2B5EF4-FFF2-40B4-BE49-F238E27FC236}">
                  <a16:creationId xmlns:a16="http://schemas.microsoft.com/office/drawing/2014/main" id="{81D678F1-0CCD-76E6-984D-8E9DF915D5A5}"/>
                </a:ext>
              </a:extLst>
            </p:cNvPr>
            <p:cNvSpPr txBox="1"/>
            <p:nvPr/>
          </p:nvSpPr>
          <p:spPr>
            <a:xfrm>
              <a:off x="650125" y="2621151"/>
              <a:ext cx="3400202"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b="1" dirty="0">
                  <a:solidFill>
                    <a:schemeClr val="bg1"/>
                  </a:solidFill>
                </a:rPr>
                <a:t>Operaciones 2:</a:t>
              </a:r>
              <a:r>
                <a:rPr lang="es-ES" sz="1100" dirty="0">
                  <a:solidFill>
                    <a:schemeClr val="bg1"/>
                  </a:solidFill>
                </a:rPr>
                <a:t> Licencias y software</a:t>
              </a:r>
              <a:endParaRPr lang="es-CL" sz="1050" dirty="0">
                <a:solidFill>
                  <a:schemeClr val="bg1"/>
                </a:solidFill>
              </a:endParaRPr>
            </a:p>
          </p:txBody>
        </p:sp>
        <p:sp>
          <p:nvSpPr>
            <p:cNvPr id="27" name="CuadroTexto 26">
              <a:extLst>
                <a:ext uri="{FF2B5EF4-FFF2-40B4-BE49-F238E27FC236}">
                  <a16:creationId xmlns:a16="http://schemas.microsoft.com/office/drawing/2014/main" id="{F53BDC15-FAC7-BC8B-269B-0E895580A0B4}"/>
                </a:ext>
              </a:extLst>
            </p:cNvPr>
            <p:cNvSpPr txBox="1"/>
            <p:nvPr/>
          </p:nvSpPr>
          <p:spPr>
            <a:xfrm>
              <a:off x="4050327" y="2621151"/>
              <a:ext cx="2261575"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$200/mes</a:t>
              </a:r>
              <a:endParaRPr lang="es-CL" sz="1050" dirty="0">
                <a:solidFill>
                  <a:schemeClr val="bg1"/>
                </a:solidFill>
              </a:endParaRPr>
            </a:p>
          </p:txBody>
        </p:sp>
        <p:sp>
          <p:nvSpPr>
            <p:cNvPr id="28" name="CuadroTexto 27">
              <a:extLst>
                <a:ext uri="{FF2B5EF4-FFF2-40B4-BE49-F238E27FC236}">
                  <a16:creationId xmlns:a16="http://schemas.microsoft.com/office/drawing/2014/main" id="{8FDC82D2-65B2-DFC1-E4EB-E4B9389FD9A4}"/>
                </a:ext>
              </a:extLst>
            </p:cNvPr>
            <p:cNvSpPr txBox="1"/>
            <p:nvPr/>
          </p:nvSpPr>
          <p:spPr>
            <a:xfrm>
              <a:off x="6303209" y="2619617"/>
              <a:ext cx="5221290"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Herramientas de desarrollo necesarias, como software de edición, </a:t>
              </a:r>
              <a:r>
                <a:rPr lang="es-ES" sz="1100" dirty="0" err="1">
                  <a:solidFill>
                    <a:schemeClr val="bg1"/>
                  </a:solidFill>
                </a:rPr>
                <a:t>IDEs</a:t>
              </a:r>
              <a:r>
                <a:rPr lang="es-ES" sz="1100" dirty="0">
                  <a:solidFill>
                    <a:schemeClr val="bg1"/>
                  </a:solidFill>
                </a:rPr>
                <a:t>, y licencias para librerías o </a:t>
              </a:r>
              <a:r>
                <a:rPr lang="es-ES" sz="1100" dirty="0" err="1">
                  <a:solidFill>
                    <a:schemeClr val="bg1"/>
                  </a:solidFill>
                </a:rPr>
                <a:t>frameworks</a:t>
              </a:r>
              <a:r>
                <a:rPr lang="es-ES" sz="1100" dirty="0">
                  <a:solidFill>
                    <a:schemeClr val="bg1"/>
                  </a:solidFill>
                </a:rPr>
                <a:t> de código abierto utilizados en el proyecto.</a:t>
              </a:r>
              <a:endParaRPr lang="es-CL" sz="1050" dirty="0">
                <a:solidFill>
                  <a:schemeClr val="bg1"/>
                </a:solidFill>
              </a:endParaRPr>
            </a:p>
          </p:txBody>
        </p:sp>
        <p:sp>
          <p:nvSpPr>
            <p:cNvPr id="29" name="CuadroTexto 28">
              <a:extLst>
                <a:ext uri="{FF2B5EF4-FFF2-40B4-BE49-F238E27FC236}">
                  <a16:creationId xmlns:a16="http://schemas.microsoft.com/office/drawing/2014/main" id="{635F5415-6C41-531A-ECBC-FA543149DBC0}"/>
                </a:ext>
              </a:extLst>
            </p:cNvPr>
            <p:cNvSpPr txBox="1"/>
            <p:nvPr/>
          </p:nvSpPr>
          <p:spPr>
            <a:xfrm>
              <a:off x="650125" y="3276443"/>
              <a:ext cx="3400202"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b="1" dirty="0">
                  <a:solidFill>
                    <a:schemeClr val="bg1"/>
                  </a:solidFill>
                </a:rPr>
                <a:t>Gasto 1:</a:t>
              </a:r>
              <a:r>
                <a:rPr lang="es-ES" sz="1100" dirty="0">
                  <a:solidFill>
                    <a:schemeClr val="bg1"/>
                  </a:solidFill>
                </a:rPr>
                <a:t> Publicidad y marketing inicial</a:t>
              </a:r>
              <a:endParaRPr lang="es-CL" sz="1050" dirty="0">
                <a:solidFill>
                  <a:schemeClr val="bg1"/>
                </a:solidFill>
              </a:endParaRPr>
            </a:p>
          </p:txBody>
        </p:sp>
        <p:sp>
          <p:nvSpPr>
            <p:cNvPr id="30" name="CuadroTexto 29">
              <a:extLst>
                <a:ext uri="{FF2B5EF4-FFF2-40B4-BE49-F238E27FC236}">
                  <a16:creationId xmlns:a16="http://schemas.microsoft.com/office/drawing/2014/main" id="{E2D90938-A03C-2114-14AA-59374D46C5A4}"/>
                </a:ext>
              </a:extLst>
            </p:cNvPr>
            <p:cNvSpPr txBox="1"/>
            <p:nvPr/>
          </p:nvSpPr>
          <p:spPr>
            <a:xfrm>
              <a:off x="4050327" y="3276443"/>
              <a:ext cx="2261575"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$1000/mes</a:t>
              </a:r>
              <a:endParaRPr lang="es-CL" sz="1050" dirty="0">
                <a:solidFill>
                  <a:schemeClr val="bg1"/>
                </a:solidFill>
              </a:endParaRPr>
            </a:p>
          </p:txBody>
        </p:sp>
        <p:sp>
          <p:nvSpPr>
            <p:cNvPr id="36" name="CuadroTexto 35">
              <a:extLst>
                <a:ext uri="{FF2B5EF4-FFF2-40B4-BE49-F238E27FC236}">
                  <a16:creationId xmlns:a16="http://schemas.microsoft.com/office/drawing/2014/main" id="{10270AC7-307D-419A-57A8-DDED68E77553}"/>
                </a:ext>
              </a:extLst>
            </p:cNvPr>
            <p:cNvSpPr txBox="1"/>
            <p:nvPr/>
          </p:nvSpPr>
          <p:spPr>
            <a:xfrm>
              <a:off x="6303209" y="3274909"/>
              <a:ext cx="5221290"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Para dar a conocer la aplicación se lanzarán campañas en redes sociales y Google </a:t>
              </a:r>
              <a:r>
                <a:rPr lang="es-ES" sz="1100" dirty="0" err="1">
                  <a:solidFill>
                    <a:schemeClr val="bg1"/>
                  </a:solidFill>
                </a:rPr>
                <a:t>Ads</a:t>
              </a:r>
              <a:r>
                <a:rPr lang="es-ES" sz="1100" dirty="0">
                  <a:solidFill>
                    <a:schemeClr val="bg1"/>
                  </a:solidFill>
                </a:rPr>
                <a:t>, con el fin de captar usuarios interesados en adoptar mascotas y refugios de animales.</a:t>
              </a:r>
              <a:endParaRPr lang="es-CL" sz="1050" dirty="0">
                <a:solidFill>
                  <a:schemeClr val="bg1"/>
                </a:solidFill>
              </a:endParaRPr>
            </a:p>
          </p:txBody>
        </p:sp>
        <p:sp>
          <p:nvSpPr>
            <p:cNvPr id="41" name="CuadroTexto 40">
              <a:extLst>
                <a:ext uri="{FF2B5EF4-FFF2-40B4-BE49-F238E27FC236}">
                  <a16:creationId xmlns:a16="http://schemas.microsoft.com/office/drawing/2014/main" id="{46FED5A1-B499-A14C-2BB3-EA0BD53A4F1B}"/>
                </a:ext>
              </a:extLst>
            </p:cNvPr>
            <p:cNvSpPr txBox="1"/>
            <p:nvPr/>
          </p:nvSpPr>
          <p:spPr>
            <a:xfrm>
              <a:off x="650123" y="3952645"/>
              <a:ext cx="3400202"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b="1" dirty="0">
                  <a:solidFill>
                    <a:schemeClr val="bg1"/>
                  </a:solidFill>
                </a:rPr>
                <a:t>Gasto 2:</a:t>
              </a:r>
              <a:r>
                <a:rPr lang="es-ES" sz="1100" dirty="0">
                  <a:solidFill>
                    <a:schemeClr val="bg1"/>
                  </a:solidFill>
                </a:rPr>
                <a:t> Asesoría legal	</a:t>
              </a:r>
              <a:endParaRPr lang="es-CL" sz="1050" dirty="0">
                <a:solidFill>
                  <a:schemeClr val="bg1"/>
                </a:solidFill>
              </a:endParaRPr>
            </a:p>
          </p:txBody>
        </p:sp>
        <p:sp>
          <p:nvSpPr>
            <p:cNvPr id="42" name="CuadroTexto 41">
              <a:extLst>
                <a:ext uri="{FF2B5EF4-FFF2-40B4-BE49-F238E27FC236}">
                  <a16:creationId xmlns:a16="http://schemas.microsoft.com/office/drawing/2014/main" id="{0F389565-1B59-F876-D34C-06265FED5CA7}"/>
                </a:ext>
              </a:extLst>
            </p:cNvPr>
            <p:cNvSpPr txBox="1"/>
            <p:nvPr/>
          </p:nvSpPr>
          <p:spPr>
            <a:xfrm>
              <a:off x="4050325" y="3952645"/>
              <a:ext cx="2261575"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$1500 (único)</a:t>
              </a:r>
              <a:endParaRPr lang="es-CL" sz="1050" dirty="0">
                <a:solidFill>
                  <a:schemeClr val="bg1"/>
                </a:solidFill>
              </a:endParaRPr>
            </a:p>
          </p:txBody>
        </p:sp>
        <p:sp>
          <p:nvSpPr>
            <p:cNvPr id="43" name="CuadroTexto 42">
              <a:extLst>
                <a:ext uri="{FF2B5EF4-FFF2-40B4-BE49-F238E27FC236}">
                  <a16:creationId xmlns:a16="http://schemas.microsoft.com/office/drawing/2014/main" id="{00F581D9-AB20-02C7-7179-051AB5B3220B}"/>
                </a:ext>
              </a:extLst>
            </p:cNvPr>
            <p:cNvSpPr txBox="1"/>
            <p:nvPr/>
          </p:nvSpPr>
          <p:spPr>
            <a:xfrm>
              <a:off x="6303207" y="3951111"/>
              <a:ext cx="5221290"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Es necesario contar con asesoría legal para estructurar términos de servicio y políticas de privacidad, así como para los acuerdos con refugios y organizaciones aliadas. </a:t>
              </a:r>
              <a:endParaRPr lang="es-CL" sz="1050" dirty="0">
                <a:solidFill>
                  <a:schemeClr val="bg1"/>
                </a:solidFill>
              </a:endParaRPr>
            </a:p>
          </p:txBody>
        </p:sp>
        <p:sp>
          <p:nvSpPr>
            <p:cNvPr id="44" name="CuadroTexto 43">
              <a:extLst>
                <a:ext uri="{FF2B5EF4-FFF2-40B4-BE49-F238E27FC236}">
                  <a16:creationId xmlns:a16="http://schemas.microsoft.com/office/drawing/2014/main" id="{D39DF12A-9B02-AD29-CE92-467F237DC37F}"/>
                </a:ext>
              </a:extLst>
            </p:cNvPr>
            <p:cNvSpPr txBox="1"/>
            <p:nvPr/>
          </p:nvSpPr>
          <p:spPr>
            <a:xfrm>
              <a:off x="650123" y="4607937"/>
              <a:ext cx="3400202"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b="1" dirty="0">
                  <a:solidFill>
                    <a:schemeClr val="bg1"/>
                  </a:solidFill>
                </a:rPr>
                <a:t>Gasto 3:</a:t>
              </a:r>
              <a:r>
                <a:rPr lang="es-ES" sz="1100" dirty="0">
                  <a:solidFill>
                    <a:schemeClr val="bg1"/>
                  </a:solidFill>
                </a:rPr>
                <a:t> Diseño</a:t>
              </a:r>
              <a:endParaRPr lang="es-CL" sz="1050" dirty="0">
                <a:solidFill>
                  <a:schemeClr val="bg1"/>
                </a:solidFill>
              </a:endParaRPr>
            </a:p>
          </p:txBody>
        </p:sp>
        <p:sp>
          <p:nvSpPr>
            <p:cNvPr id="45" name="CuadroTexto 44">
              <a:extLst>
                <a:ext uri="{FF2B5EF4-FFF2-40B4-BE49-F238E27FC236}">
                  <a16:creationId xmlns:a16="http://schemas.microsoft.com/office/drawing/2014/main" id="{27FADE65-B0B5-A40F-9EB1-7E34B072B566}"/>
                </a:ext>
              </a:extLst>
            </p:cNvPr>
            <p:cNvSpPr txBox="1"/>
            <p:nvPr/>
          </p:nvSpPr>
          <p:spPr>
            <a:xfrm>
              <a:off x="4050325" y="4607937"/>
              <a:ext cx="2261575"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$800 (único)</a:t>
              </a:r>
              <a:endParaRPr lang="es-CL" sz="1050" dirty="0">
                <a:solidFill>
                  <a:schemeClr val="bg1"/>
                </a:solidFill>
              </a:endParaRPr>
            </a:p>
          </p:txBody>
        </p:sp>
        <p:sp>
          <p:nvSpPr>
            <p:cNvPr id="46" name="CuadroTexto 45">
              <a:extLst>
                <a:ext uri="{FF2B5EF4-FFF2-40B4-BE49-F238E27FC236}">
                  <a16:creationId xmlns:a16="http://schemas.microsoft.com/office/drawing/2014/main" id="{E2A76BC9-9B59-9CCA-84A5-EFF44DF4B893}"/>
                </a:ext>
              </a:extLst>
            </p:cNvPr>
            <p:cNvSpPr txBox="1"/>
            <p:nvPr/>
          </p:nvSpPr>
          <p:spPr>
            <a:xfrm>
              <a:off x="6303207" y="4606403"/>
              <a:ext cx="5221290"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Aunque se cuenta con un programador, es recomendable tener apoyo de un diseñador UX/UI para mantener una experiencia atractiva y eficiente para los usuarios.</a:t>
              </a:r>
              <a:endParaRPr lang="es-CL" sz="1050" dirty="0">
                <a:solidFill>
                  <a:schemeClr val="bg1"/>
                </a:solidFill>
              </a:endParaRPr>
            </a:p>
          </p:txBody>
        </p:sp>
        <p:sp>
          <p:nvSpPr>
            <p:cNvPr id="47" name="CuadroTexto 46">
              <a:extLst>
                <a:ext uri="{FF2B5EF4-FFF2-40B4-BE49-F238E27FC236}">
                  <a16:creationId xmlns:a16="http://schemas.microsoft.com/office/drawing/2014/main" id="{30714A7D-26C1-A13E-562D-E3CB5CB2B3C6}"/>
                </a:ext>
              </a:extLst>
            </p:cNvPr>
            <p:cNvSpPr txBox="1"/>
            <p:nvPr/>
          </p:nvSpPr>
          <p:spPr>
            <a:xfrm>
              <a:off x="650123" y="5238538"/>
              <a:ext cx="3400202"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b="1" dirty="0">
                  <a:solidFill>
                    <a:schemeClr val="bg1"/>
                  </a:solidFill>
                </a:rPr>
                <a:t>Gasto 4:</a:t>
              </a:r>
              <a:r>
                <a:rPr lang="es-ES" sz="1100" dirty="0">
                  <a:solidFill>
                    <a:schemeClr val="bg1"/>
                  </a:solidFill>
                </a:rPr>
                <a:t> Costos administrativos</a:t>
              </a:r>
              <a:endParaRPr lang="es-CL" sz="1050" dirty="0">
                <a:solidFill>
                  <a:schemeClr val="bg1"/>
                </a:solidFill>
              </a:endParaRPr>
            </a:p>
          </p:txBody>
        </p:sp>
        <p:sp>
          <p:nvSpPr>
            <p:cNvPr id="48" name="CuadroTexto 47">
              <a:extLst>
                <a:ext uri="{FF2B5EF4-FFF2-40B4-BE49-F238E27FC236}">
                  <a16:creationId xmlns:a16="http://schemas.microsoft.com/office/drawing/2014/main" id="{002D1C81-9D71-FF46-35B1-0E3782A43270}"/>
                </a:ext>
              </a:extLst>
            </p:cNvPr>
            <p:cNvSpPr txBox="1"/>
            <p:nvPr/>
          </p:nvSpPr>
          <p:spPr>
            <a:xfrm>
              <a:off x="4050325" y="5238538"/>
              <a:ext cx="2261575"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$300/mes</a:t>
              </a:r>
              <a:endParaRPr lang="es-CL" sz="1050" dirty="0">
                <a:solidFill>
                  <a:schemeClr val="bg1"/>
                </a:solidFill>
              </a:endParaRPr>
            </a:p>
          </p:txBody>
        </p:sp>
        <p:sp>
          <p:nvSpPr>
            <p:cNvPr id="49" name="CuadroTexto 48">
              <a:extLst>
                <a:ext uri="{FF2B5EF4-FFF2-40B4-BE49-F238E27FC236}">
                  <a16:creationId xmlns:a16="http://schemas.microsoft.com/office/drawing/2014/main" id="{55CEC439-274D-E2E8-A0A5-2786BB118D8D}"/>
                </a:ext>
              </a:extLst>
            </p:cNvPr>
            <p:cNvSpPr txBox="1"/>
            <p:nvPr/>
          </p:nvSpPr>
          <p:spPr>
            <a:xfrm>
              <a:off x="6303207" y="5237004"/>
              <a:ext cx="5221290" cy="667559"/>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Costos de contabilidad, gestión de impuestos y registro de marca, que son esenciales para operar de forma legal y organizada. </a:t>
              </a:r>
              <a:endParaRPr lang="es-CL" sz="1050" dirty="0">
                <a:solidFill>
                  <a:schemeClr val="bg1"/>
                </a:solidFill>
              </a:endParaRPr>
            </a:p>
          </p:txBody>
        </p:sp>
      </p:grpSp>
    </p:spTree>
    <p:extLst>
      <p:ext uri="{BB962C8B-B14F-4D97-AF65-F5344CB8AC3E}">
        <p14:creationId xmlns:p14="http://schemas.microsoft.com/office/powerpoint/2010/main" val="2202955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1AA5E-C36A-28BE-4FFD-81FE9D05B86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ACD60DF-86CA-2D47-FD6B-C6A83965E5FE}"/>
              </a:ext>
            </a:extLst>
          </p:cNvPr>
          <p:cNvSpPr>
            <a:spLocks noGrp="1"/>
          </p:cNvSpPr>
          <p:nvPr>
            <p:ph type="title"/>
          </p:nvPr>
        </p:nvSpPr>
        <p:spPr/>
        <p:txBody>
          <a:bodyPr/>
          <a:lstStyle/>
          <a:p>
            <a:r>
              <a:rPr lang="es-CL" b="1" dirty="0">
                <a:solidFill>
                  <a:schemeClr val="accent4"/>
                </a:solidFill>
                <a:sym typeface="Helvetica Neue" charset="0"/>
              </a:rPr>
              <a:t>Mi plan de crecimiento</a:t>
            </a:r>
            <a:endParaRPr lang="es-CL" dirty="0">
              <a:solidFill>
                <a:schemeClr val="accent4"/>
              </a:solidFill>
            </a:endParaRPr>
          </a:p>
        </p:txBody>
      </p:sp>
      <p:pic>
        <p:nvPicPr>
          <p:cNvPr id="3" name="Imagen 2">
            <a:extLst>
              <a:ext uri="{FF2B5EF4-FFF2-40B4-BE49-F238E27FC236}">
                <a16:creationId xmlns:a16="http://schemas.microsoft.com/office/drawing/2014/main" id="{8B6E8005-1C04-A86B-5A64-A2343605E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765175"/>
            <a:ext cx="5437188" cy="5437188"/>
          </a:xfrm>
          <a:prstGeom prst="rect">
            <a:avLst/>
          </a:prstGeom>
        </p:spPr>
      </p:pic>
    </p:spTree>
    <p:extLst>
      <p:ext uri="{BB962C8B-B14F-4D97-AF65-F5344CB8AC3E}">
        <p14:creationId xmlns:p14="http://schemas.microsoft.com/office/powerpoint/2010/main" val="757423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6054E-8406-0C73-A4BD-703568080D18}"/>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FE6526B6-3244-D206-2552-4F3AD25B47C2}"/>
              </a:ext>
            </a:extLst>
          </p:cNvPr>
          <p:cNvSpPr>
            <a:spLocks noGrp="1"/>
          </p:cNvSpPr>
          <p:nvPr>
            <p:ph type="title"/>
          </p:nvPr>
        </p:nvSpPr>
        <p:spPr>
          <a:xfrm>
            <a:off x="658813" y="800100"/>
            <a:ext cx="10874375" cy="550600"/>
          </a:xfrm>
        </p:spPr>
        <p:txBody>
          <a:bodyPr/>
          <a:lstStyle/>
          <a:p>
            <a:r>
              <a:rPr lang="es-CL" sz="3200" dirty="0"/>
              <a:t>El paso a paso: </a:t>
            </a:r>
            <a:r>
              <a:rPr lang="es-CL" sz="3200" dirty="0">
                <a:solidFill>
                  <a:schemeClr val="accent4"/>
                </a:solidFill>
              </a:rPr>
              <a:t>Mi plan de crecimiento</a:t>
            </a:r>
          </a:p>
        </p:txBody>
      </p:sp>
      <p:sp>
        <p:nvSpPr>
          <p:cNvPr id="2" name="CuadroTexto 1">
            <a:extLst>
              <a:ext uri="{FF2B5EF4-FFF2-40B4-BE49-F238E27FC236}">
                <a16:creationId xmlns:a16="http://schemas.microsoft.com/office/drawing/2014/main" id="{777DB0EF-1F6B-12E0-F926-BB86ADA9F691}"/>
              </a:ext>
            </a:extLst>
          </p:cNvPr>
          <p:cNvSpPr txBox="1"/>
          <p:nvPr/>
        </p:nvSpPr>
        <p:spPr>
          <a:xfrm>
            <a:off x="891942" y="1857755"/>
            <a:ext cx="6597427" cy="728398"/>
          </a:xfrm>
          <a:prstGeom prst="rect">
            <a:avLst/>
          </a:prstGeom>
          <a:solidFill>
            <a:schemeClr val="accent3"/>
          </a:solidFill>
          <a:ln w="28575">
            <a:solidFill>
              <a:schemeClr val="accent4"/>
            </a:solidFill>
          </a:ln>
        </p:spPr>
        <p:txBody>
          <a:bodyPr wrap="square" lIns="468000" tIns="0" bIns="0" rtlCol="0" anchor="ctr">
            <a:noAutofit/>
          </a:bodyPr>
          <a:lstStyle/>
          <a:p>
            <a:pPr lvl="0" algn="just">
              <a:defRPr/>
            </a:pPr>
            <a:r>
              <a:rPr lang="es-ES" sz="1600" dirty="0">
                <a:solidFill>
                  <a:schemeClr val="bg1"/>
                </a:solidFill>
              </a:rPr>
              <a:t>Trabajo sobre el flujo de caja desde el mes 10 en adelante.</a:t>
            </a:r>
            <a:endParaRPr lang="es-CL" sz="1300" dirty="0">
              <a:solidFill>
                <a:schemeClr val="bg1"/>
              </a:solidFill>
            </a:endParaRPr>
          </a:p>
        </p:txBody>
      </p:sp>
      <p:sp>
        <p:nvSpPr>
          <p:cNvPr id="3" name="Rectángulo 55">
            <a:extLst>
              <a:ext uri="{FF2B5EF4-FFF2-40B4-BE49-F238E27FC236}">
                <a16:creationId xmlns:a16="http://schemas.microsoft.com/office/drawing/2014/main" id="{FD0C52BA-44A6-3A7A-E2F1-DBAC08B9E0D9}"/>
              </a:ext>
            </a:extLst>
          </p:cNvPr>
          <p:cNvSpPr/>
          <p:nvPr/>
        </p:nvSpPr>
        <p:spPr>
          <a:xfrm>
            <a:off x="680363" y="1941486"/>
            <a:ext cx="466254" cy="446114"/>
          </a:xfrm>
          <a:prstGeom prst="ellipse">
            <a:avLst/>
          </a:prstGeom>
          <a:solidFill>
            <a:schemeClr val="accent4"/>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b="1" i="0" u="none" strike="noStrike" kern="1200" cap="none" spc="0" normalizeH="0" baseline="0" noProof="0" dirty="0">
                <a:ln>
                  <a:noFill/>
                </a:ln>
                <a:solidFill>
                  <a:schemeClr val="tx2"/>
                </a:solidFill>
                <a:effectLst/>
                <a:uLnTx/>
                <a:uFillTx/>
                <a:latin typeface="Gotham" panose="02000604030000020004" pitchFamily="50" charset="0"/>
                <a:ea typeface="+mn-ea"/>
                <a:cs typeface="+mn-cs"/>
              </a:rPr>
              <a:t>2</a:t>
            </a:r>
          </a:p>
        </p:txBody>
      </p:sp>
      <p:sp>
        <p:nvSpPr>
          <p:cNvPr id="5" name="CuadroTexto 4">
            <a:extLst>
              <a:ext uri="{FF2B5EF4-FFF2-40B4-BE49-F238E27FC236}">
                <a16:creationId xmlns:a16="http://schemas.microsoft.com/office/drawing/2014/main" id="{92818F81-E448-61E5-B696-EC015624272D}"/>
              </a:ext>
            </a:extLst>
          </p:cNvPr>
          <p:cNvSpPr txBox="1"/>
          <p:nvPr/>
        </p:nvSpPr>
        <p:spPr>
          <a:xfrm>
            <a:off x="891944" y="2801306"/>
            <a:ext cx="6597427" cy="2685094"/>
          </a:xfrm>
          <a:prstGeom prst="rect">
            <a:avLst/>
          </a:prstGeom>
          <a:solidFill>
            <a:schemeClr val="accent3"/>
          </a:solidFill>
          <a:ln w="28575">
            <a:solidFill>
              <a:schemeClr val="accent4"/>
            </a:solidFill>
          </a:ln>
        </p:spPr>
        <p:txBody>
          <a:bodyPr wrap="square" lIns="288000" tIns="0" rIns="288000" bIns="0" rtlCol="0" anchor="ctr">
            <a:noAutofit/>
          </a:bodyPr>
          <a:lstStyle/>
          <a:p>
            <a:pPr lvl="0" algn="just">
              <a:defRPr/>
            </a:pPr>
            <a:r>
              <a:rPr lang="es-ES" sz="1600" dirty="0">
                <a:solidFill>
                  <a:schemeClr val="bg1"/>
                </a:solidFill>
              </a:rPr>
              <a:t>El foco de esta parte de la actividad es desarrollar un plan de crecimiento sólido y sostenible, teniendo en cuenta la proyección de ingresos, costos y gastos, así como el levantamiento de capital para la expansión. La claridad en la planificación financiera y la identificación de fuentes de ingreso son esenciales para asegurar la viabilidad del proyecto y su escalabilidad.</a:t>
            </a:r>
          </a:p>
          <a:p>
            <a:pPr lvl="0" algn="just">
              <a:defRPr/>
            </a:pPr>
            <a:endParaRPr lang="es-ES" sz="1600" dirty="0">
              <a:solidFill>
                <a:schemeClr val="bg1"/>
              </a:solidFill>
            </a:endParaRPr>
          </a:p>
          <a:p>
            <a:pPr lvl="0" algn="just">
              <a:defRPr/>
            </a:pPr>
            <a:r>
              <a:rPr lang="es-ES" sz="1200" i="1" dirty="0">
                <a:solidFill>
                  <a:schemeClr val="bg1"/>
                </a:solidFill>
              </a:rPr>
              <a:t>*Considera los montos presentados en el ejemplo que sigue como aproximaciones ficticias. Es importante determinar la temporalidad de cada costo y gasto (en el ejemplo no se ve reflejado).</a:t>
            </a:r>
          </a:p>
        </p:txBody>
      </p:sp>
      <p:graphicFrame>
        <p:nvGraphicFramePr>
          <p:cNvPr id="6" name="Table 21">
            <a:extLst>
              <a:ext uri="{FF2B5EF4-FFF2-40B4-BE49-F238E27FC236}">
                <a16:creationId xmlns:a16="http://schemas.microsoft.com/office/drawing/2014/main" id="{85E788A7-2E73-D1B9-2F0B-47581BC0FF14}"/>
              </a:ext>
            </a:extLst>
          </p:cNvPr>
          <p:cNvGraphicFramePr>
            <a:graphicFrameLocks noGrp="1"/>
          </p:cNvGraphicFramePr>
          <p:nvPr>
            <p:extLst>
              <p:ext uri="{D42A27DB-BD31-4B8C-83A1-F6EECF244321}">
                <p14:modId xmlns:p14="http://schemas.microsoft.com/office/powerpoint/2010/main" val="3499717055"/>
              </p:ext>
            </p:extLst>
          </p:nvPr>
        </p:nvGraphicFramePr>
        <p:xfrm>
          <a:off x="8235037" y="1390814"/>
          <a:ext cx="3276600" cy="4400385"/>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1060096848"/>
                    </a:ext>
                  </a:extLst>
                </a:gridCol>
              </a:tblGrid>
              <a:tr h="327115">
                <a:tc>
                  <a:txBody>
                    <a:bodyPr/>
                    <a:lstStyle/>
                    <a:p>
                      <a:pPr algn="ctr"/>
                      <a:r>
                        <a:rPr lang="es-CL" sz="900" b="1" kern="1200" dirty="0">
                          <a:solidFill>
                            <a:schemeClr val="tx2"/>
                          </a:solidFill>
                          <a:latin typeface="+mj-lt"/>
                          <a:ea typeface="+mn-ea"/>
                          <a:cs typeface="+mn-cs"/>
                        </a:rPr>
                        <a:t>TIPS</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44814713"/>
                  </a:ext>
                </a:extLst>
              </a:tr>
              <a:tr h="4073270">
                <a:tc>
                  <a:txBody>
                    <a:bodyPr/>
                    <a:lstStyle/>
                    <a:p>
                      <a:r>
                        <a:rPr lang="es-CL" sz="1200" b="1" kern="1200" dirty="0">
                          <a:solidFill>
                            <a:schemeClr val="bg1"/>
                          </a:solidFill>
                          <a:latin typeface="+mn-lt"/>
                          <a:ea typeface="+mn-ea"/>
                          <a:cs typeface="+mn-cs"/>
                        </a:rPr>
                        <a:t>Identificación de fuentes de ingreso:</a:t>
                      </a:r>
                      <a:r>
                        <a:rPr lang="es-CL" sz="1100" b="1" kern="1200" dirty="0">
                          <a:solidFill>
                            <a:schemeClr val="bg1"/>
                          </a:solidFill>
                          <a:latin typeface="+mn-lt"/>
                          <a:ea typeface="+mn-ea"/>
                          <a:cs typeface="+mn-cs"/>
                        </a:rPr>
                        <a:t> </a:t>
                      </a:r>
                      <a:r>
                        <a:rPr lang="es-ES" sz="1100" kern="1200" dirty="0">
                          <a:solidFill>
                            <a:schemeClr val="bg1"/>
                          </a:solidFill>
                          <a:latin typeface="+mn-lt"/>
                          <a:ea typeface="+mn-ea"/>
                          <a:cs typeface="+mn-cs"/>
                        </a:rPr>
                        <a:t>Definir </a:t>
                      </a:r>
                      <a:r>
                        <a:rPr lang="es-ES" sz="1050" kern="1200" dirty="0">
                          <a:solidFill>
                            <a:schemeClr val="bg1"/>
                          </a:solidFill>
                          <a:latin typeface="+mn-lt"/>
                          <a:ea typeface="+mn-ea"/>
                          <a:cs typeface="+mn-cs"/>
                        </a:rPr>
                        <a:t>cómo la solución generará ingresos. Considerar modelos de monetización.</a:t>
                      </a:r>
                    </a:p>
                    <a:p>
                      <a:endParaRPr lang="es-ES" sz="1200" kern="1200" dirty="0">
                        <a:solidFill>
                          <a:schemeClr val="bg1"/>
                        </a:solidFill>
                        <a:latin typeface="+mn-lt"/>
                        <a:ea typeface="+mn-ea"/>
                        <a:cs typeface="+mn-cs"/>
                      </a:endParaRPr>
                    </a:p>
                    <a:p>
                      <a:r>
                        <a:rPr lang="es-ES" sz="1200" b="1" kern="1200" dirty="0">
                          <a:solidFill>
                            <a:schemeClr val="bg1"/>
                          </a:solidFill>
                          <a:latin typeface="+mn-lt"/>
                          <a:ea typeface="+mn-ea"/>
                          <a:cs typeface="+mn-cs"/>
                        </a:rPr>
                        <a:t>Proyección Financiera Realista:</a:t>
                      </a:r>
                    </a:p>
                    <a:p>
                      <a:r>
                        <a:rPr lang="es-ES" sz="1050" b="0" kern="1200" dirty="0">
                          <a:solidFill>
                            <a:schemeClr val="bg1"/>
                          </a:solidFill>
                          <a:latin typeface="+mn-lt"/>
                          <a:ea typeface="+mn-ea"/>
                          <a:cs typeface="+mn-cs"/>
                        </a:rPr>
                        <a:t>Realizar una proyección financiera que contemple todos los costos operativos, incluyendo salarios, gastos de marketing y costos de desarrollo. Esto es un marco de referencia necesario, que puede cambiar, pero es una guía para el emprendedor.</a:t>
                      </a:r>
                    </a:p>
                    <a:p>
                      <a:endParaRPr lang="es-ES" sz="1200" b="0" kern="1200" dirty="0">
                        <a:solidFill>
                          <a:schemeClr val="bg1"/>
                        </a:solidFill>
                        <a:latin typeface="+mn-lt"/>
                        <a:ea typeface="+mn-ea"/>
                        <a:cs typeface="+mn-cs"/>
                      </a:endParaRPr>
                    </a:p>
                    <a:p>
                      <a:r>
                        <a:rPr lang="es-ES" sz="1200" b="1" kern="1200" dirty="0">
                          <a:solidFill>
                            <a:schemeClr val="bg1"/>
                          </a:solidFill>
                          <a:latin typeface="+mn-lt"/>
                          <a:ea typeface="+mn-ea"/>
                          <a:cs typeface="+mn-cs"/>
                        </a:rPr>
                        <a:t>Uso de Capital Levantado:</a:t>
                      </a:r>
                    </a:p>
                    <a:p>
                      <a:r>
                        <a:rPr lang="es-ES" sz="1050" kern="1200" dirty="0">
                          <a:solidFill>
                            <a:schemeClr val="bg1"/>
                          </a:solidFill>
                          <a:latin typeface="+mn-lt"/>
                          <a:ea typeface="+mn-ea"/>
                          <a:cs typeface="+mn-cs"/>
                        </a:rPr>
                        <a:t>Especificar cómo se utilizarán los fondos recaudados en el levantamiento de capital. Detallar las áreas de inversión (desarrollo de características, marketing, expansión del equipo) ayudará a los inversores a entender el potencial de crecimiento y retorno.</a:t>
                      </a:r>
                    </a:p>
                    <a:p>
                      <a:endParaRPr lang="es-ES" sz="1050" b="1" kern="1200" dirty="0">
                        <a:solidFill>
                          <a:schemeClr val="bg1"/>
                        </a:solidFill>
                        <a:latin typeface="+mn-lt"/>
                        <a:ea typeface="+mn-ea"/>
                        <a:cs typeface="+mn-cs"/>
                      </a:endParaRPr>
                    </a:p>
                    <a:p>
                      <a:r>
                        <a:rPr lang="es-ES" sz="1200" b="1" kern="1200" dirty="0">
                          <a:solidFill>
                            <a:schemeClr val="bg1"/>
                          </a:solidFill>
                          <a:latin typeface="+mn-lt"/>
                          <a:ea typeface="+mn-ea"/>
                          <a:cs typeface="+mn-cs"/>
                        </a:rPr>
                        <a:t>En este punto deberías considerar estructuras de crecimiento formales:</a:t>
                      </a:r>
                    </a:p>
                    <a:p>
                      <a:endParaRPr lang="es-ES" sz="1050" b="1" kern="1200" dirty="0">
                        <a:solidFill>
                          <a:schemeClr val="bg1"/>
                        </a:solidFill>
                        <a:latin typeface="+mn-lt"/>
                        <a:ea typeface="+mn-ea"/>
                        <a:cs typeface="+mn-cs"/>
                      </a:endParaRPr>
                    </a:p>
                    <a:p>
                      <a:r>
                        <a:rPr lang="es-ES" sz="1050" b="1" kern="1200" dirty="0">
                          <a:solidFill>
                            <a:schemeClr val="bg1"/>
                          </a:solidFill>
                          <a:latin typeface="+mn-lt"/>
                          <a:ea typeface="+mn-ea"/>
                          <a:cs typeface="+mn-cs"/>
                        </a:rPr>
                        <a:t>CEO, CTO, CFO, CIO, COO </a:t>
                      </a:r>
                      <a:r>
                        <a:rPr lang="es-ES" sz="1050" b="1" kern="1200" dirty="0" err="1">
                          <a:solidFill>
                            <a:schemeClr val="bg1"/>
                          </a:solidFill>
                          <a:latin typeface="+mn-lt"/>
                          <a:ea typeface="+mn-ea"/>
                          <a:cs typeface="+mn-cs"/>
                        </a:rPr>
                        <a:t>etc</a:t>
                      </a:r>
                      <a:endParaRPr lang="es-ES" sz="1050" b="1" kern="1200" dirty="0">
                        <a:solidFill>
                          <a:schemeClr val="bg1"/>
                        </a:solidFill>
                        <a:latin typeface="+mn-lt"/>
                        <a:ea typeface="+mn-ea"/>
                        <a:cs typeface="+mn-cs"/>
                      </a:endParaRP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0767193"/>
                  </a:ext>
                </a:extLst>
              </a:tr>
            </a:tbl>
          </a:graphicData>
        </a:graphic>
      </p:graphicFrame>
    </p:spTree>
    <p:extLst>
      <p:ext uri="{BB962C8B-B14F-4D97-AF65-F5344CB8AC3E}">
        <p14:creationId xmlns:p14="http://schemas.microsoft.com/office/powerpoint/2010/main" val="415748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2FE62-87B6-B02B-7DFA-CC7979B93857}"/>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96801AFF-0379-028C-46FF-3D92DF32AC0C}"/>
              </a:ext>
            </a:extLst>
          </p:cNvPr>
          <p:cNvGrpSpPr/>
          <p:nvPr/>
        </p:nvGrpSpPr>
        <p:grpSpPr>
          <a:xfrm>
            <a:off x="666750" y="2157768"/>
            <a:ext cx="7772400" cy="2542464"/>
            <a:chOff x="666750" y="2157768"/>
            <a:chExt cx="7772400" cy="2542464"/>
          </a:xfrm>
        </p:grpSpPr>
        <p:pic>
          <p:nvPicPr>
            <p:cNvPr id="3" name="Imagen 2">
              <a:extLst>
                <a:ext uri="{FF2B5EF4-FFF2-40B4-BE49-F238E27FC236}">
                  <a16:creationId xmlns:a16="http://schemas.microsoft.com/office/drawing/2014/main" id="{CB42136C-F7DA-9F0F-F3F8-A7ADD0D887CF}"/>
                </a:ext>
              </a:extLst>
            </p:cNvPr>
            <p:cNvPicPr>
              <a:picLocks noChangeAspect="1"/>
            </p:cNvPicPr>
            <p:nvPr/>
          </p:nvPicPr>
          <p:blipFill>
            <a:blip r:embed="rId2"/>
            <a:stretch>
              <a:fillRect/>
            </a:stretch>
          </p:blipFill>
          <p:spPr>
            <a:xfrm>
              <a:off x="666750" y="2157768"/>
              <a:ext cx="7772400" cy="2542464"/>
            </a:xfrm>
            <a:prstGeom prst="rect">
              <a:avLst/>
            </a:prstGeom>
          </p:spPr>
        </p:pic>
        <p:sp>
          <p:nvSpPr>
            <p:cNvPr id="4" name="Rectángulo 3">
              <a:extLst>
                <a:ext uri="{FF2B5EF4-FFF2-40B4-BE49-F238E27FC236}">
                  <a16:creationId xmlns:a16="http://schemas.microsoft.com/office/drawing/2014/main" id="{3A1FB794-FD8A-0961-E74C-BBE6E7010C4F}"/>
                </a:ext>
              </a:extLst>
            </p:cNvPr>
            <p:cNvSpPr/>
            <p:nvPr/>
          </p:nvSpPr>
          <p:spPr>
            <a:xfrm>
              <a:off x="700067" y="2157768"/>
              <a:ext cx="3486171" cy="2542464"/>
            </a:xfrm>
            <a:prstGeom prst="rect">
              <a:avLst/>
            </a:prstGeom>
            <a:solidFill>
              <a:srgbClr val="593BB9">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5" name="CuadroTexto 4">
            <a:extLst>
              <a:ext uri="{FF2B5EF4-FFF2-40B4-BE49-F238E27FC236}">
                <a16:creationId xmlns:a16="http://schemas.microsoft.com/office/drawing/2014/main" id="{2FB61F94-8E74-B14E-919F-E7086668FC5A}"/>
              </a:ext>
            </a:extLst>
          </p:cNvPr>
          <p:cNvSpPr txBox="1"/>
          <p:nvPr/>
        </p:nvSpPr>
        <p:spPr>
          <a:xfrm>
            <a:off x="666750" y="471488"/>
            <a:ext cx="9153468" cy="369332"/>
          </a:xfrm>
          <a:prstGeom prst="rect">
            <a:avLst/>
          </a:prstGeom>
          <a:noFill/>
        </p:spPr>
        <p:txBody>
          <a:bodyPr wrap="none" rtlCol="0">
            <a:spAutoFit/>
          </a:bodyPr>
          <a:lstStyle/>
          <a:p>
            <a:r>
              <a:rPr lang="es-CL" b="1" dirty="0"/>
              <a:t>Plan de crecimiento II Etapa (</a:t>
            </a:r>
            <a:r>
              <a:rPr lang="es-CL" b="1" dirty="0" err="1"/>
              <a:t>Product</a:t>
            </a:r>
            <a:r>
              <a:rPr lang="es-CL" b="1" dirty="0"/>
              <a:t> </a:t>
            </a:r>
            <a:r>
              <a:rPr lang="es-CL" b="1" dirty="0" err="1"/>
              <a:t>Market</a:t>
            </a:r>
            <a:r>
              <a:rPr lang="es-CL" b="1" dirty="0"/>
              <a:t> </a:t>
            </a:r>
            <a:r>
              <a:rPr lang="es-CL" b="1" dirty="0" err="1"/>
              <a:t>Fit</a:t>
            </a:r>
            <a:r>
              <a:rPr lang="es-CL" b="1" dirty="0"/>
              <a:t> + ajuste del modelo de negocios)</a:t>
            </a:r>
          </a:p>
        </p:txBody>
      </p:sp>
      <p:sp>
        <p:nvSpPr>
          <p:cNvPr id="7" name="CuadroTexto 6">
            <a:extLst>
              <a:ext uri="{FF2B5EF4-FFF2-40B4-BE49-F238E27FC236}">
                <a16:creationId xmlns:a16="http://schemas.microsoft.com/office/drawing/2014/main" id="{22B442F1-395A-9095-B295-D2B1267F25E1}"/>
              </a:ext>
            </a:extLst>
          </p:cNvPr>
          <p:cNvSpPr txBox="1"/>
          <p:nvPr/>
        </p:nvSpPr>
        <p:spPr>
          <a:xfrm>
            <a:off x="666748" y="1012954"/>
            <a:ext cx="10858501" cy="954107"/>
          </a:xfrm>
          <a:prstGeom prst="rect">
            <a:avLst/>
          </a:prstGeom>
          <a:noFill/>
        </p:spPr>
        <p:txBody>
          <a:bodyPr wrap="square">
            <a:spAutoFit/>
          </a:bodyPr>
          <a:lstStyle/>
          <a:p>
            <a:pPr algn="l">
              <a:buNone/>
            </a:pPr>
            <a:r>
              <a:rPr lang="es-419" sz="1400" b="0" i="0" u="none" strike="noStrike" dirty="0">
                <a:effectLst/>
                <a:latin typeface="Raleway" pitchFamily="2" charset="77"/>
              </a:rPr>
              <a:t>Esta etapa tiene foco en el ajuste frente a clientes, lo cual se expresa en la velocidad de ventas</a:t>
            </a:r>
            <a:r>
              <a:rPr lang="es-419" sz="1400" dirty="0">
                <a:latin typeface="Raleway" pitchFamily="2" charset="77"/>
              </a:rPr>
              <a:t>. Antes del Product market fit (PMF), la curva crece con una pendiente “plana”, luego del PMF comienza a expresar su forma exponencial propia de los startups. Luego, en el </a:t>
            </a:r>
            <a:r>
              <a:rPr lang="es-419" sz="1400" b="1" dirty="0">
                <a:latin typeface="Raleway" pitchFamily="2" charset="77"/>
              </a:rPr>
              <a:t>Ajuste del modelo de negocios </a:t>
            </a:r>
            <a:r>
              <a:rPr lang="es-419" sz="1400" dirty="0">
                <a:latin typeface="Raleway" pitchFamily="2" charset="77"/>
              </a:rPr>
              <a:t>(</a:t>
            </a:r>
            <a:r>
              <a:rPr lang="es-419" sz="1400" b="1" dirty="0">
                <a:latin typeface="Raleway" pitchFamily="2" charset="77"/>
              </a:rPr>
              <a:t>repetible</a:t>
            </a:r>
            <a:r>
              <a:rPr lang="es-419" sz="1400" dirty="0">
                <a:latin typeface="Raleway" pitchFamily="2" charset="77"/>
              </a:rPr>
              <a:t>) lo importante es la evolución, desde la perdida operacional, al break even, y luego a la expansión del % EBIDTA –distanciamiento de ingresos respecto de crecimiento de costos-.</a:t>
            </a:r>
            <a:endParaRPr lang="es-CL" sz="1400" b="0" i="0" u="none" strike="noStrike" dirty="0">
              <a:effectLst/>
              <a:latin typeface="Raleway" pitchFamily="2" charset="77"/>
            </a:endParaRPr>
          </a:p>
        </p:txBody>
      </p:sp>
      <p:sp>
        <p:nvSpPr>
          <p:cNvPr id="8" name="CuadroTexto 7">
            <a:extLst>
              <a:ext uri="{FF2B5EF4-FFF2-40B4-BE49-F238E27FC236}">
                <a16:creationId xmlns:a16="http://schemas.microsoft.com/office/drawing/2014/main" id="{68979CBA-2512-FE72-0C3F-E9A56F7DFB7F}"/>
              </a:ext>
            </a:extLst>
          </p:cNvPr>
          <p:cNvSpPr txBox="1"/>
          <p:nvPr/>
        </p:nvSpPr>
        <p:spPr>
          <a:xfrm>
            <a:off x="666748" y="4890939"/>
            <a:ext cx="10858501" cy="954107"/>
          </a:xfrm>
          <a:prstGeom prst="rect">
            <a:avLst/>
          </a:prstGeom>
          <a:noFill/>
        </p:spPr>
        <p:txBody>
          <a:bodyPr wrap="square">
            <a:spAutoFit/>
          </a:bodyPr>
          <a:lstStyle/>
          <a:p>
            <a:pPr algn="l">
              <a:buNone/>
            </a:pPr>
            <a:r>
              <a:rPr lang="es-419" sz="1400" b="0" i="0" u="none" strike="noStrike" dirty="0">
                <a:effectLst/>
                <a:latin typeface="Raleway" pitchFamily="2" charset="77"/>
              </a:rPr>
              <a:t>En la segunda etapa, el startup debe preparar el modelo para crear la empresa, es decir, sus finanzas se deben ir estabilizando en un modelo de negocios (a diferencia de la primera etapa que son estructuras de costo sin una estructura lógica necesaria)</a:t>
            </a:r>
            <a:r>
              <a:rPr lang="es-419" sz="1400" dirty="0">
                <a:latin typeface="Raleway" pitchFamily="2" charset="77"/>
              </a:rPr>
              <a:t>.</a:t>
            </a:r>
            <a:r>
              <a:rPr lang="es-419" sz="1400" b="0" i="0" u="none" strike="noStrike" dirty="0">
                <a:effectLst/>
                <a:latin typeface="Raleway" pitchFamily="2" charset="77"/>
              </a:rPr>
              <a:t> </a:t>
            </a:r>
          </a:p>
          <a:p>
            <a:pPr algn="l">
              <a:buNone/>
            </a:pPr>
            <a:r>
              <a:rPr lang="es-419" sz="1400" dirty="0">
                <a:latin typeface="Raleway" pitchFamily="2" charset="77"/>
              </a:rPr>
              <a:t>Por esto, se trabaja desde el modelo de negocios, los organigramas, y la estructura de costos de producción por producto o cliente atendido.</a:t>
            </a:r>
            <a:endParaRPr lang="es-CL" sz="1400" b="0" i="0" u="none" strike="noStrike" dirty="0">
              <a:effectLst/>
              <a:latin typeface="Raleway" pitchFamily="2" charset="77"/>
            </a:endParaRPr>
          </a:p>
        </p:txBody>
      </p:sp>
    </p:spTree>
    <p:extLst>
      <p:ext uri="{BB962C8B-B14F-4D97-AF65-F5344CB8AC3E}">
        <p14:creationId xmlns:p14="http://schemas.microsoft.com/office/powerpoint/2010/main" val="3237275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5A92A-5103-DFB7-60B4-C11C106D8AD1}"/>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3E9529CD-E476-9818-AA34-39871E231CE7}"/>
              </a:ext>
            </a:extLst>
          </p:cNvPr>
          <p:cNvSpPr>
            <a:spLocks noGrp="1"/>
          </p:cNvSpPr>
          <p:nvPr>
            <p:ph type="title"/>
          </p:nvPr>
        </p:nvSpPr>
        <p:spPr>
          <a:xfrm>
            <a:off x="658814" y="2033519"/>
            <a:ext cx="4972730" cy="526802"/>
          </a:xfrm>
        </p:spPr>
        <p:txBody>
          <a:bodyPr/>
          <a:lstStyle/>
          <a:p>
            <a:pPr algn="just"/>
            <a:r>
              <a:rPr lang="es-CL" sz="3200" dirty="0"/>
              <a:t>Caso: </a:t>
            </a:r>
            <a:r>
              <a:rPr lang="es-CL" sz="3200" dirty="0">
                <a:solidFill>
                  <a:schemeClr val="accent4"/>
                </a:solidFill>
              </a:rPr>
              <a:t>Aplicación de adopción de mascotas </a:t>
            </a:r>
          </a:p>
        </p:txBody>
      </p:sp>
      <p:sp>
        <p:nvSpPr>
          <p:cNvPr id="20" name="Marcador de texto 3">
            <a:extLst>
              <a:ext uri="{FF2B5EF4-FFF2-40B4-BE49-F238E27FC236}">
                <a16:creationId xmlns:a16="http://schemas.microsoft.com/office/drawing/2014/main" id="{70A7373E-218C-C2CB-DD95-00D7B8DEF4AB}"/>
              </a:ext>
            </a:extLst>
          </p:cNvPr>
          <p:cNvSpPr>
            <a:spLocks noGrp="1"/>
          </p:cNvSpPr>
          <p:nvPr>
            <p:ph type="body" sz="quarter" idx="10"/>
          </p:nvPr>
        </p:nvSpPr>
        <p:spPr>
          <a:xfrm>
            <a:off x="658814" y="3429000"/>
            <a:ext cx="5800044" cy="2171700"/>
          </a:xfrm>
        </p:spPr>
        <p:txBody>
          <a:bodyPr/>
          <a:lstStyle/>
          <a:p>
            <a:pPr marL="0" indent="0">
              <a:buClr>
                <a:schemeClr val="accent1"/>
              </a:buClr>
              <a:buNone/>
            </a:pPr>
            <a:r>
              <a:rPr lang="es-ES" sz="1800" dirty="0">
                <a:solidFill>
                  <a:schemeClr val="bg1"/>
                </a:solidFill>
              </a:rPr>
              <a:t>Una aplicación tecnológica que conecta mascotas en adopción con personas interesadas en adoptarlas</a:t>
            </a:r>
          </a:p>
          <a:p>
            <a:pPr marL="0" indent="0">
              <a:buClr>
                <a:schemeClr val="accent1"/>
              </a:buClr>
              <a:buNone/>
            </a:pPr>
            <a:endParaRPr lang="es-ES" sz="1800" dirty="0">
              <a:solidFill>
                <a:schemeClr val="bg1"/>
              </a:solidFill>
            </a:endParaRPr>
          </a:p>
          <a:p>
            <a:pPr marL="457200" lvl="1" indent="0">
              <a:buClr>
                <a:schemeClr val="accent1"/>
              </a:buClr>
              <a:buNone/>
            </a:pPr>
            <a:r>
              <a:rPr lang="es-ES" sz="1600" dirty="0">
                <a:solidFill>
                  <a:schemeClr val="bg1"/>
                </a:solidFill>
              </a:rPr>
              <a:t>¿Cuál es la arquitectura rentable de la empresa en N° de clientes, servicios, costos de atención, % de GAV? ¿Cómo evolucionan los ingreso y costos?</a:t>
            </a:r>
            <a:endParaRPr lang="es-CL" sz="1600" dirty="0">
              <a:solidFill>
                <a:schemeClr val="bg1"/>
              </a:solidFill>
            </a:endParaRPr>
          </a:p>
          <a:p>
            <a:pPr>
              <a:buClr>
                <a:schemeClr val="accent1"/>
              </a:buClr>
            </a:pPr>
            <a:endParaRPr lang="es-CL" sz="1800" dirty="0">
              <a:solidFill>
                <a:schemeClr val="bg1"/>
              </a:solidFill>
            </a:endParaRPr>
          </a:p>
        </p:txBody>
      </p:sp>
    </p:spTree>
    <p:extLst>
      <p:ext uri="{BB962C8B-B14F-4D97-AF65-F5344CB8AC3E}">
        <p14:creationId xmlns:p14="http://schemas.microsoft.com/office/powerpoint/2010/main" val="2434613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CCBB7-7FCB-8BF8-0F91-2047A97AA7D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4A3F99B-F166-495A-956E-370511D19161}"/>
              </a:ext>
            </a:extLst>
          </p:cNvPr>
          <p:cNvSpPr txBox="1"/>
          <p:nvPr/>
        </p:nvSpPr>
        <p:spPr>
          <a:xfrm>
            <a:off x="658814" y="1768540"/>
            <a:ext cx="3400202" cy="366743"/>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CL" sz="1600" b="1" dirty="0" err="1">
                <a:solidFill>
                  <a:schemeClr val="bg1"/>
                </a:solidFill>
              </a:rPr>
              <a:t>Item</a:t>
            </a:r>
            <a:endParaRPr lang="es-CL" sz="1600" b="1" dirty="0">
              <a:solidFill>
                <a:schemeClr val="bg1"/>
              </a:solidFill>
            </a:endParaRPr>
          </a:p>
        </p:txBody>
      </p:sp>
      <p:sp>
        <p:nvSpPr>
          <p:cNvPr id="4" name="CuadroTexto 3">
            <a:extLst>
              <a:ext uri="{FF2B5EF4-FFF2-40B4-BE49-F238E27FC236}">
                <a16:creationId xmlns:a16="http://schemas.microsoft.com/office/drawing/2014/main" id="{08262B7B-C470-313F-D4A2-AF231E9CF0D6}"/>
              </a:ext>
            </a:extLst>
          </p:cNvPr>
          <p:cNvSpPr txBox="1"/>
          <p:nvPr/>
        </p:nvSpPr>
        <p:spPr>
          <a:xfrm>
            <a:off x="658812" y="2133815"/>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dirty="0">
                <a:solidFill>
                  <a:schemeClr val="bg1"/>
                </a:solidFill>
              </a:rPr>
              <a:t>Ingresos operacionales </a:t>
            </a:r>
          </a:p>
          <a:p>
            <a:pPr lvl="0">
              <a:defRPr/>
            </a:pPr>
            <a:r>
              <a:rPr lang="es-ES" sz="1000" dirty="0">
                <a:solidFill>
                  <a:schemeClr val="bg1"/>
                </a:solidFill>
              </a:rPr>
              <a:t>Publicidad</a:t>
            </a:r>
            <a:endParaRPr lang="es-CL" sz="900" dirty="0">
              <a:solidFill>
                <a:schemeClr val="bg1"/>
              </a:solidFill>
            </a:endParaRPr>
          </a:p>
        </p:txBody>
      </p:sp>
      <p:sp>
        <p:nvSpPr>
          <p:cNvPr id="7" name="CuadroTexto 6">
            <a:extLst>
              <a:ext uri="{FF2B5EF4-FFF2-40B4-BE49-F238E27FC236}">
                <a16:creationId xmlns:a16="http://schemas.microsoft.com/office/drawing/2014/main" id="{9E2F50E6-1830-D00E-1EFF-98B8C289FFBD}"/>
              </a:ext>
            </a:extLst>
          </p:cNvPr>
          <p:cNvSpPr txBox="1"/>
          <p:nvPr/>
        </p:nvSpPr>
        <p:spPr>
          <a:xfrm>
            <a:off x="4059016" y="1768540"/>
            <a:ext cx="2261575" cy="366743"/>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600" b="1" dirty="0">
                <a:solidFill>
                  <a:schemeClr val="bg1"/>
                </a:solidFill>
              </a:rPr>
              <a:t>Ejemplo aplicado</a:t>
            </a:r>
            <a:endParaRPr lang="es-CL" sz="1300" b="1" dirty="0">
              <a:solidFill>
                <a:schemeClr val="bg1"/>
              </a:solidFill>
            </a:endParaRPr>
          </a:p>
        </p:txBody>
      </p:sp>
      <p:sp>
        <p:nvSpPr>
          <p:cNvPr id="8" name="CuadroTexto 7">
            <a:extLst>
              <a:ext uri="{FF2B5EF4-FFF2-40B4-BE49-F238E27FC236}">
                <a16:creationId xmlns:a16="http://schemas.microsoft.com/office/drawing/2014/main" id="{B415DD0D-4624-52E9-6383-22B6B1D3F59B}"/>
              </a:ext>
            </a:extLst>
          </p:cNvPr>
          <p:cNvSpPr txBox="1"/>
          <p:nvPr/>
        </p:nvSpPr>
        <p:spPr>
          <a:xfrm>
            <a:off x="4059014" y="2133815"/>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$2,000/mes</a:t>
            </a:r>
            <a:endParaRPr lang="es-CL" sz="1050" dirty="0">
              <a:solidFill>
                <a:schemeClr val="bg1"/>
              </a:solidFill>
            </a:endParaRPr>
          </a:p>
        </p:txBody>
      </p:sp>
      <p:sp>
        <p:nvSpPr>
          <p:cNvPr id="9" name="CuadroTexto 8">
            <a:extLst>
              <a:ext uri="{FF2B5EF4-FFF2-40B4-BE49-F238E27FC236}">
                <a16:creationId xmlns:a16="http://schemas.microsoft.com/office/drawing/2014/main" id="{98303BC9-C649-CA04-F3FD-103CBC4A5DD6}"/>
              </a:ext>
            </a:extLst>
          </p:cNvPr>
          <p:cNvSpPr txBox="1"/>
          <p:nvPr/>
        </p:nvSpPr>
        <p:spPr>
          <a:xfrm>
            <a:off x="6311898" y="1767072"/>
            <a:ext cx="5221290" cy="366743"/>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600" b="1" dirty="0">
                <a:solidFill>
                  <a:schemeClr val="bg1"/>
                </a:solidFill>
              </a:rPr>
              <a:t>Explicación</a:t>
            </a:r>
            <a:endParaRPr lang="es-CL" sz="1300" b="1" dirty="0">
              <a:solidFill>
                <a:schemeClr val="bg1"/>
              </a:solidFill>
            </a:endParaRPr>
          </a:p>
        </p:txBody>
      </p:sp>
      <p:sp>
        <p:nvSpPr>
          <p:cNvPr id="10" name="CuadroTexto 9">
            <a:extLst>
              <a:ext uri="{FF2B5EF4-FFF2-40B4-BE49-F238E27FC236}">
                <a16:creationId xmlns:a16="http://schemas.microsoft.com/office/drawing/2014/main" id="{9D83BCE8-3E6F-43DC-4539-31D2B3FC0211}"/>
              </a:ext>
            </a:extLst>
          </p:cNvPr>
          <p:cNvSpPr txBox="1"/>
          <p:nvPr/>
        </p:nvSpPr>
        <p:spPr>
          <a:xfrm>
            <a:off x="6311896" y="2132347"/>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Se espera que la aplicación atraiga empresas de productos para mascotas que deseen publicitarse a través de la plataforma.</a:t>
            </a:r>
            <a:endParaRPr lang="es-CL" sz="1050" dirty="0">
              <a:solidFill>
                <a:schemeClr val="bg1"/>
              </a:solidFill>
            </a:endParaRPr>
          </a:p>
        </p:txBody>
      </p:sp>
      <p:sp>
        <p:nvSpPr>
          <p:cNvPr id="13" name="CuadroTexto 12">
            <a:extLst>
              <a:ext uri="{FF2B5EF4-FFF2-40B4-BE49-F238E27FC236}">
                <a16:creationId xmlns:a16="http://schemas.microsoft.com/office/drawing/2014/main" id="{2CB34E75-DF43-0058-2390-5B6C593CE9F6}"/>
              </a:ext>
            </a:extLst>
          </p:cNvPr>
          <p:cNvSpPr txBox="1"/>
          <p:nvPr/>
        </p:nvSpPr>
        <p:spPr>
          <a:xfrm>
            <a:off x="4059014" y="2771234"/>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$1,000/mes</a:t>
            </a:r>
            <a:endParaRPr lang="es-CL" sz="1050" dirty="0">
              <a:solidFill>
                <a:schemeClr val="bg1"/>
              </a:solidFill>
            </a:endParaRPr>
          </a:p>
        </p:txBody>
      </p:sp>
      <p:sp>
        <p:nvSpPr>
          <p:cNvPr id="15" name="CuadroTexto 14">
            <a:extLst>
              <a:ext uri="{FF2B5EF4-FFF2-40B4-BE49-F238E27FC236}">
                <a16:creationId xmlns:a16="http://schemas.microsoft.com/office/drawing/2014/main" id="{5AE7933A-E1CD-6EDA-C6E4-7723C70D8DF8}"/>
              </a:ext>
            </a:extLst>
          </p:cNvPr>
          <p:cNvSpPr txBox="1"/>
          <p:nvPr/>
        </p:nvSpPr>
        <p:spPr>
          <a:xfrm>
            <a:off x="6311896" y="2769766"/>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Ingresos esperados de usuarios que opten por funciones adicionales en la aplicación, como perfiles destacados o acceso a veterinarios.</a:t>
            </a:r>
            <a:endParaRPr lang="es-CL" sz="1050" dirty="0">
              <a:solidFill>
                <a:schemeClr val="bg1"/>
              </a:solidFill>
            </a:endParaRPr>
          </a:p>
        </p:txBody>
      </p:sp>
      <p:sp>
        <p:nvSpPr>
          <p:cNvPr id="18" name="CuadroTexto 17">
            <a:extLst>
              <a:ext uri="{FF2B5EF4-FFF2-40B4-BE49-F238E27FC236}">
                <a16:creationId xmlns:a16="http://schemas.microsoft.com/office/drawing/2014/main" id="{0C38361C-4535-B0D4-3410-81CA17273FFD}"/>
              </a:ext>
            </a:extLst>
          </p:cNvPr>
          <p:cNvSpPr txBox="1"/>
          <p:nvPr/>
        </p:nvSpPr>
        <p:spPr>
          <a:xfrm>
            <a:off x="4059014" y="3413053"/>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$1,500/mes (basado en 100 adopciones/mes)</a:t>
            </a:r>
            <a:endParaRPr lang="es-CL" sz="1050" dirty="0">
              <a:solidFill>
                <a:schemeClr val="bg1"/>
              </a:solidFill>
            </a:endParaRPr>
          </a:p>
        </p:txBody>
      </p:sp>
      <p:sp>
        <p:nvSpPr>
          <p:cNvPr id="19" name="CuadroTexto 18">
            <a:extLst>
              <a:ext uri="{FF2B5EF4-FFF2-40B4-BE49-F238E27FC236}">
                <a16:creationId xmlns:a16="http://schemas.microsoft.com/office/drawing/2014/main" id="{73644AF5-A1F7-3901-03C9-62911CA11591}"/>
              </a:ext>
            </a:extLst>
          </p:cNvPr>
          <p:cNvSpPr txBox="1"/>
          <p:nvPr/>
        </p:nvSpPr>
        <p:spPr>
          <a:xfrm>
            <a:off x="6311896" y="3411585"/>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La aplicación cobrará una pequeña comisión por cada adopción exitosa, que ayudará a cubrir los costos operativos y de mantenimiento de la app.</a:t>
            </a:r>
            <a:endParaRPr lang="es-CL" sz="1050" dirty="0">
              <a:solidFill>
                <a:schemeClr val="bg1"/>
              </a:solidFill>
            </a:endParaRPr>
          </a:p>
        </p:txBody>
      </p:sp>
      <p:sp>
        <p:nvSpPr>
          <p:cNvPr id="23" name="CuadroTexto 22">
            <a:extLst>
              <a:ext uri="{FF2B5EF4-FFF2-40B4-BE49-F238E27FC236}">
                <a16:creationId xmlns:a16="http://schemas.microsoft.com/office/drawing/2014/main" id="{EA6EC41B-2682-E9D1-7899-4C265D0A6387}"/>
              </a:ext>
            </a:extLst>
          </p:cNvPr>
          <p:cNvSpPr txBox="1"/>
          <p:nvPr/>
        </p:nvSpPr>
        <p:spPr>
          <a:xfrm>
            <a:off x="658812" y="4043136"/>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dirty="0">
                <a:solidFill>
                  <a:schemeClr val="bg1"/>
                </a:solidFill>
              </a:rPr>
              <a:t>Ingresos por financiamiento:</a:t>
            </a:r>
          </a:p>
          <a:p>
            <a:pPr lvl="0">
              <a:defRPr/>
            </a:pPr>
            <a:r>
              <a:rPr lang="es-ES" sz="1000" dirty="0">
                <a:solidFill>
                  <a:schemeClr val="bg1"/>
                </a:solidFill>
              </a:rPr>
              <a:t>Levantamiento de capital</a:t>
            </a:r>
            <a:endParaRPr lang="es-CL" sz="900" dirty="0">
              <a:solidFill>
                <a:schemeClr val="bg1"/>
              </a:solidFill>
            </a:endParaRPr>
          </a:p>
        </p:txBody>
      </p:sp>
      <p:sp>
        <p:nvSpPr>
          <p:cNvPr id="27" name="CuadroTexto 26">
            <a:extLst>
              <a:ext uri="{FF2B5EF4-FFF2-40B4-BE49-F238E27FC236}">
                <a16:creationId xmlns:a16="http://schemas.microsoft.com/office/drawing/2014/main" id="{08173DCF-EC59-4624-5B4F-59377BCF0B79}"/>
              </a:ext>
            </a:extLst>
          </p:cNvPr>
          <p:cNvSpPr txBox="1"/>
          <p:nvPr/>
        </p:nvSpPr>
        <p:spPr>
          <a:xfrm>
            <a:off x="4059014" y="4043136"/>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$50,000 (en un mes a definir)</a:t>
            </a:r>
            <a:endParaRPr lang="es-CL" sz="1050" dirty="0">
              <a:solidFill>
                <a:schemeClr val="bg1"/>
              </a:solidFill>
            </a:endParaRPr>
          </a:p>
        </p:txBody>
      </p:sp>
      <p:sp>
        <p:nvSpPr>
          <p:cNvPr id="28" name="CuadroTexto 27">
            <a:extLst>
              <a:ext uri="{FF2B5EF4-FFF2-40B4-BE49-F238E27FC236}">
                <a16:creationId xmlns:a16="http://schemas.microsoft.com/office/drawing/2014/main" id="{0EE576F0-D51C-FBAC-49BE-C38AC51D88A0}"/>
              </a:ext>
            </a:extLst>
          </p:cNvPr>
          <p:cNvSpPr txBox="1"/>
          <p:nvPr/>
        </p:nvSpPr>
        <p:spPr>
          <a:xfrm>
            <a:off x="6311896" y="4041668"/>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Fondos que se obtendrán a través de inversores ángeles o una ronda de financiamiento para apoyar el crecimiento y desarrollo de nuevas características de la aplicación.</a:t>
            </a:r>
            <a:endParaRPr lang="es-CL" sz="1050" dirty="0">
              <a:solidFill>
                <a:schemeClr val="bg1"/>
              </a:solidFill>
            </a:endParaRPr>
          </a:p>
        </p:txBody>
      </p:sp>
      <p:sp>
        <p:nvSpPr>
          <p:cNvPr id="2" name="CuadroTexto 1">
            <a:extLst>
              <a:ext uri="{FF2B5EF4-FFF2-40B4-BE49-F238E27FC236}">
                <a16:creationId xmlns:a16="http://schemas.microsoft.com/office/drawing/2014/main" id="{24E5F739-8D31-8BD6-0D68-1F117BFFD5A0}"/>
              </a:ext>
            </a:extLst>
          </p:cNvPr>
          <p:cNvSpPr txBox="1"/>
          <p:nvPr/>
        </p:nvSpPr>
        <p:spPr>
          <a:xfrm>
            <a:off x="658810" y="2769924"/>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dirty="0">
                <a:solidFill>
                  <a:schemeClr val="bg1"/>
                </a:solidFill>
              </a:rPr>
              <a:t>Ingresos operacionales </a:t>
            </a:r>
          </a:p>
          <a:p>
            <a:pPr lvl="0">
              <a:defRPr/>
            </a:pPr>
            <a:r>
              <a:rPr lang="es-ES" sz="1000" dirty="0">
                <a:solidFill>
                  <a:schemeClr val="bg1"/>
                </a:solidFill>
              </a:rPr>
              <a:t>Suscripciones premium</a:t>
            </a:r>
            <a:endParaRPr lang="es-CL" sz="900" dirty="0">
              <a:solidFill>
                <a:schemeClr val="bg1"/>
              </a:solidFill>
            </a:endParaRPr>
          </a:p>
        </p:txBody>
      </p:sp>
      <p:sp>
        <p:nvSpPr>
          <p:cNvPr id="5" name="CuadroTexto 4">
            <a:extLst>
              <a:ext uri="{FF2B5EF4-FFF2-40B4-BE49-F238E27FC236}">
                <a16:creationId xmlns:a16="http://schemas.microsoft.com/office/drawing/2014/main" id="{00254374-7856-DC51-134F-ABC911ED9AEF}"/>
              </a:ext>
            </a:extLst>
          </p:cNvPr>
          <p:cNvSpPr txBox="1"/>
          <p:nvPr/>
        </p:nvSpPr>
        <p:spPr>
          <a:xfrm>
            <a:off x="658808" y="3412319"/>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dirty="0">
                <a:solidFill>
                  <a:schemeClr val="bg1"/>
                </a:solidFill>
              </a:rPr>
              <a:t>Comisiones por adopciones </a:t>
            </a:r>
          </a:p>
          <a:p>
            <a:pPr lvl="0">
              <a:defRPr/>
            </a:pPr>
            <a:r>
              <a:rPr lang="es-ES" sz="1000" dirty="0">
                <a:solidFill>
                  <a:schemeClr val="bg1"/>
                </a:solidFill>
              </a:rPr>
              <a:t>Suscripciones premium</a:t>
            </a:r>
            <a:endParaRPr lang="es-CL" sz="900" dirty="0">
              <a:solidFill>
                <a:schemeClr val="bg1"/>
              </a:solidFill>
            </a:endParaRPr>
          </a:p>
        </p:txBody>
      </p:sp>
      <p:sp>
        <p:nvSpPr>
          <p:cNvPr id="6" name="Título 3">
            <a:extLst>
              <a:ext uri="{FF2B5EF4-FFF2-40B4-BE49-F238E27FC236}">
                <a16:creationId xmlns:a16="http://schemas.microsoft.com/office/drawing/2014/main" id="{FEDAA11F-1ECE-51B3-F4EC-7A95F3C8F303}"/>
              </a:ext>
            </a:extLst>
          </p:cNvPr>
          <p:cNvSpPr>
            <a:spLocks noGrp="1"/>
          </p:cNvSpPr>
          <p:nvPr>
            <p:ph type="title"/>
          </p:nvPr>
        </p:nvSpPr>
        <p:spPr>
          <a:xfrm>
            <a:off x="658813" y="800100"/>
            <a:ext cx="10874375" cy="550600"/>
          </a:xfrm>
        </p:spPr>
        <p:txBody>
          <a:bodyPr/>
          <a:lstStyle/>
          <a:p>
            <a:r>
              <a:rPr lang="es-CL" sz="2400" dirty="0"/>
              <a:t>Mi plan de crecimiento: </a:t>
            </a:r>
            <a:r>
              <a:rPr lang="es-CL" sz="2400" dirty="0">
                <a:solidFill>
                  <a:schemeClr val="accent4"/>
                </a:solidFill>
              </a:rPr>
              <a:t>Ingresos</a:t>
            </a:r>
          </a:p>
        </p:txBody>
      </p:sp>
      <p:sp>
        <p:nvSpPr>
          <p:cNvPr id="14" name="CuadroTexto 13">
            <a:extLst>
              <a:ext uri="{FF2B5EF4-FFF2-40B4-BE49-F238E27FC236}">
                <a16:creationId xmlns:a16="http://schemas.microsoft.com/office/drawing/2014/main" id="{709AEA84-C28A-D3B0-EBFB-F72DF4A3F248}"/>
              </a:ext>
            </a:extLst>
          </p:cNvPr>
          <p:cNvSpPr txBox="1"/>
          <p:nvPr/>
        </p:nvSpPr>
        <p:spPr>
          <a:xfrm>
            <a:off x="658808" y="5064039"/>
            <a:ext cx="7597780" cy="307777"/>
          </a:xfrm>
          <a:prstGeom prst="rect">
            <a:avLst/>
          </a:prstGeom>
          <a:noFill/>
        </p:spPr>
        <p:txBody>
          <a:bodyPr wrap="square">
            <a:spAutoFit/>
          </a:bodyPr>
          <a:lstStyle/>
          <a:p>
            <a:pPr lvl="0" algn="just">
              <a:defRPr/>
            </a:pPr>
            <a:r>
              <a:rPr lang="es-ES" sz="1400" i="1" dirty="0">
                <a:solidFill>
                  <a:schemeClr val="bg1"/>
                </a:solidFill>
              </a:rPr>
              <a:t>* En este punto es clave tener estructurado el Modelo de Negocio.</a:t>
            </a:r>
          </a:p>
        </p:txBody>
      </p:sp>
    </p:spTree>
    <p:extLst>
      <p:ext uri="{BB962C8B-B14F-4D97-AF65-F5344CB8AC3E}">
        <p14:creationId xmlns:p14="http://schemas.microsoft.com/office/powerpoint/2010/main" val="784612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44F10-9BAE-ABD4-5466-7CB63D1E2C9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DB53E53-8E52-8A34-243D-076ED8E76F03}"/>
              </a:ext>
            </a:extLst>
          </p:cNvPr>
          <p:cNvSpPr txBox="1"/>
          <p:nvPr/>
        </p:nvSpPr>
        <p:spPr>
          <a:xfrm>
            <a:off x="658814" y="1768540"/>
            <a:ext cx="3400202" cy="366743"/>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CL" sz="1600" b="1" dirty="0" err="1">
                <a:solidFill>
                  <a:schemeClr val="bg1"/>
                </a:solidFill>
              </a:rPr>
              <a:t>Item</a:t>
            </a:r>
            <a:endParaRPr lang="es-CL" sz="1600" b="1" dirty="0">
              <a:solidFill>
                <a:schemeClr val="bg1"/>
              </a:solidFill>
            </a:endParaRPr>
          </a:p>
        </p:txBody>
      </p:sp>
      <p:sp>
        <p:nvSpPr>
          <p:cNvPr id="4" name="CuadroTexto 3">
            <a:extLst>
              <a:ext uri="{FF2B5EF4-FFF2-40B4-BE49-F238E27FC236}">
                <a16:creationId xmlns:a16="http://schemas.microsoft.com/office/drawing/2014/main" id="{CB60BCC7-B483-6E3D-C5CE-D148189BE543}"/>
              </a:ext>
            </a:extLst>
          </p:cNvPr>
          <p:cNvSpPr txBox="1"/>
          <p:nvPr/>
        </p:nvSpPr>
        <p:spPr>
          <a:xfrm>
            <a:off x="658812" y="2133816"/>
            <a:ext cx="3400202" cy="366744"/>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400" b="1" dirty="0">
                <a:solidFill>
                  <a:schemeClr val="bg1"/>
                </a:solidFill>
              </a:rPr>
              <a:t>Costos operacionales</a:t>
            </a:r>
          </a:p>
        </p:txBody>
      </p:sp>
      <p:sp>
        <p:nvSpPr>
          <p:cNvPr id="7" name="CuadroTexto 6">
            <a:extLst>
              <a:ext uri="{FF2B5EF4-FFF2-40B4-BE49-F238E27FC236}">
                <a16:creationId xmlns:a16="http://schemas.microsoft.com/office/drawing/2014/main" id="{77D8E0D9-289A-A50A-58FC-E82673E47277}"/>
              </a:ext>
            </a:extLst>
          </p:cNvPr>
          <p:cNvSpPr txBox="1"/>
          <p:nvPr/>
        </p:nvSpPr>
        <p:spPr>
          <a:xfrm>
            <a:off x="4059016" y="1768540"/>
            <a:ext cx="2261575" cy="366743"/>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600" b="1" dirty="0">
                <a:solidFill>
                  <a:schemeClr val="bg1"/>
                </a:solidFill>
              </a:rPr>
              <a:t>Ejemplo aplicado</a:t>
            </a:r>
            <a:endParaRPr lang="es-CL" sz="1300" b="1" dirty="0">
              <a:solidFill>
                <a:schemeClr val="bg1"/>
              </a:solidFill>
            </a:endParaRPr>
          </a:p>
        </p:txBody>
      </p:sp>
      <p:sp>
        <p:nvSpPr>
          <p:cNvPr id="8" name="CuadroTexto 7">
            <a:extLst>
              <a:ext uri="{FF2B5EF4-FFF2-40B4-BE49-F238E27FC236}">
                <a16:creationId xmlns:a16="http://schemas.microsoft.com/office/drawing/2014/main" id="{2F4C2F2F-D887-95E9-A359-167EC0E99BDD}"/>
              </a:ext>
            </a:extLst>
          </p:cNvPr>
          <p:cNvSpPr txBox="1"/>
          <p:nvPr/>
        </p:nvSpPr>
        <p:spPr>
          <a:xfrm>
            <a:off x="4059014" y="2133816"/>
            <a:ext cx="2261575" cy="366744"/>
          </a:xfrm>
          <a:prstGeom prst="rect">
            <a:avLst/>
          </a:prstGeom>
          <a:solidFill>
            <a:schemeClr val="accent3"/>
          </a:solidFill>
          <a:ln w="28575">
            <a:solidFill>
              <a:schemeClr val="accent4"/>
            </a:solidFill>
          </a:ln>
        </p:spPr>
        <p:txBody>
          <a:bodyPr wrap="square" lIns="216000" tIns="0" bIns="0" rtlCol="0" anchor="ctr">
            <a:noAutofit/>
          </a:bodyPr>
          <a:lstStyle/>
          <a:p>
            <a:pPr lvl="0">
              <a:defRPr/>
            </a:pPr>
            <a:endParaRPr lang="es-CL" sz="1050" dirty="0">
              <a:solidFill>
                <a:schemeClr val="bg1"/>
              </a:solidFill>
            </a:endParaRPr>
          </a:p>
        </p:txBody>
      </p:sp>
      <p:sp>
        <p:nvSpPr>
          <p:cNvPr id="9" name="CuadroTexto 8">
            <a:extLst>
              <a:ext uri="{FF2B5EF4-FFF2-40B4-BE49-F238E27FC236}">
                <a16:creationId xmlns:a16="http://schemas.microsoft.com/office/drawing/2014/main" id="{29AC3751-9F95-342D-694D-93301342C850}"/>
              </a:ext>
            </a:extLst>
          </p:cNvPr>
          <p:cNvSpPr txBox="1"/>
          <p:nvPr/>
        </p:nvSpPr>
        <p:spPr>
          <a:xfrm>
            <a:off x="6311898" y="1767072"/>
            <a:ext cx="5221290" cy="366743"/>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600" b="1" dirty="0">
                <a:solidFill>
                  <a:schemeClr val="bg1"/>
                </a:solidFill>
              </a:rPr>
              <a:t>Explicación</a:t>
            </a:r>
            <a:endParaRPr lang="es-CL" sz="1300" b="1" dirty="0">
              <a:solidFill>
                <a:schemeClr val="bg1"/>
              </a:solidFill>
            </a:endParaRPr>
          </a:p>
        </p:txBody>
      </p:sp>
      <p:sp>
        <p:nvSpPr>
          <p:cNvPr id="10" name="CuadroTexto 9">
            <a:extLst>
              <a:ext uri="{FF2B5EF4-FFF2-40B4-BE49-F238E27FC236}">
                <a16:creationId xmlns:a16="http://schemas.microsoft.com/office/drawing/2014/main" id="{C8F4EB7D-6466-CFAE-B221-B468D6F6FA9F}"/>
              </a:ext>
            </a:extLst>
          </p:cNvPr>
          <p:cNvSpPr txBox="1"/>
          <p:nvPr/>
        </p:nvSpPr>
        <p:spPr>
          <a:xfrm>
            <a:off x="6311896" y="2132348"/>
            <a:ext cx="5221290" cy="366744"/>
          </a:xfrm>
          <a:prstGeom prst="rect">
            <a:avLst/>
          </a:prstGeom>
          <a:solidFill>
            <a:schemeClr val="accent3"/>
          </a:solidFill>
          <a:ln w="28575">
            <a:solidFill>
              <a:schemeClr val="accent4"/>
            </a:solidFill>
          </a:ln>
        </p:spPr>
        <p:txBody>
          <a:bodyPr wrap="square" lIns="216000" tIns="0" bIns="0" rtlCol="0" anchor="ctr">
            <a:noAutofit/>
          </a:bodyPr>
          <a:lstStyle/>
          <a:p>
            <a:pPr lvl="0">
              <a:defRPr/>
            </a:pPr>
            <a:endParaRPr lang="es-CL" sz="1050" dirty="0">
              <a:solidFill>
                <a:schemeClr val="bg1"/>
              </a:solidFill>
            </a:endParaRPr>
          </a:p>
        </p:txBody>
      </p:sp>
      <p:sp>
        <p:nvSpPr>
          <p:cNvPr id="13" name="CuadroTexto 12">
            <a:extLst>
              <a:ext uri="{FF2B5EF4-FFF2-40B4-BE49-F238E27FC236}">
                <a16:creationId xmlns:a16="http://schemas.microsoft.com/office/drawing/2014/main" id="{16ED7015-9680-7CFB-2040-147DFECDF8AF}"/>
              </a:ext>
            </a:extLst>
          </p:cNvPr>
          <p:cNvSpPr txBox="1"/>
          <p:nvPr/>
        </p:nvSpPr>
        <p:spPr>
          <a:xfrm>
            <a:off x="4059013" y="2512378"/>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$4,000/mes</a:t>
            </a:r>
            <a:endParaRPr lang="es-CL" sz="1050" dirty="0">
              <a:solidFill>
                <a:schemeClr val="bg1"/>
              </a:solidFill>
            </a:endParaRPr>
          </a:p>
        </p:txBody>
      </p:sp>
      <p:sp>
        <p:nvSpPr>
          <p:cNvPr id="15" name="CuadroTexto 14">
            <a:extLst>
              <a:ext uri="{FF2B5EF4-FFF2-40B4-BE49-F238E27FC236}">
                <a16:creationId xmlns:a16="http://schemas.microsoft.com/office/drawing/2014/main" id="{DB74F1EB-EE34-B238-FFDD-F9C84F6F0683}"/>
              </a:ext>
            </a:extLst>
          </p:cNvPr>
          <p:cNvSpPr txBox="1"/>
          <p:nvPr/>
        </p:nvSpPr>
        <p:spPr>
          <a:xfrm>
            <a:off x="6311895" y="2515673"/>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Incorporación de un programador senior adicional para liderar el equipo de desarrollo.</a:t>
            </a:r>
            <a:endParaRPr lang="es-CL" sz="1050" dirty="0">
              <a:solidFill>
                <a:schemeClr val="bg1"/>
              </a:solidFill>
            </a:endParaRPr>
          </a:p>
        </p:txBody>
      </p:sp>
      <p:sp>
        <p:nvSpPr>
          <p:cNvPr id="18" name="CuadroTexto 17">
            <a:extLst>
              <a:ext uri="{FF2B5EF4-FFF2-40B4-BE49-F238E27FC236}">
                <a16:creationId xmlns:a16="http://schemas.microsoft.com/office/drawing/2014/main" id="{4BE511EF-170F-7DB2-F17D-FA47E597EDE6}"/>
              </a:ext>
            </a:extLst>
          </p:cNvPr>
          <p:cNvSpPr txBox="1"/>
          <p:nvPr/>
        </p:nvSpPr>
        <p:spPr>
          <a:xfrm>
            <a:off x="4059019" y="3133041"/>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$3,000/mes </a:t>
            </a:r>
            <a:endParaRPr lang="es-CL" sz="1050" dirty="0">
              <a:solidFill>
                <a:schemeClr val="bg1"/>
              </a:solidFill>
            </a:endParaRPr>
          </a:p>
        </p:txBody>
      </p:sp>
      <p:sp>
        <p:nvSpPr>
          <p:cNvPr id="19" name="CuadroTexto 18">
            <a:extLst>
              <a:ext uri="{FF2B5EF4-FFF2-40B4-BE49-F238E27FC236}">
                <a16:creationId xmlns:a16="http://schemas.microsoft.com/office/drawing/2014/main" id="{C5BF88A1-5E56-0D4A-5964-1E6D55A176B0}"/>
              </a:ext>
            </a:extLst>
          </p:cNvPr>
          <p:cNvSpPr txBox="1"/>
          <p:nvPr/>
        </p:nvSpPr>
        <p:spPr>
          <a:xfrm>
            <a:off x="6311901" y="3131573"/>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Aumento de personal en programación para escalar el desarrollo de nuevas funciones y mejoras y c</a:t>
            </a:r>
            <a:r>
              <a:rPr lang="es-ES" sz="1050" dirty="0">
                <a:solidFill>
                  <a:schemeClr val="bg1"/>
                </a:solidFill>
              </a:rPr>
              <a:t>ontratación de personal de soporte técnico para asegurar la calidad del servicio a medida que crecen los usuarios.</a:t>
            </a:r>
            <a:endParaRPr lang="es-CL" sz="1050" dirty="0">
              <a:solidFill>
                <a:schemeClr val="bg1"/>
              </a:solidFill>
            </a:endParaRPr>
          </a:p>
        </p:txBody>
      </p:sp>
      <p:sp>
        <p:nvSpPr>
          <p:cNvPr id="23" name="CuadroTexto 22">
            <a:extLst>
              <a:ext uri="{FF2B5EF4-FFF2-40B4-BE49-F238E27FC236}">
                <a16:creationId xmlns:a16="http://schemas.microsoft.com/office/drawing/2014/main" id="{50863DE2-1998-2CF6-7044-1A8456AB58D1}"/>
              </a:ext>
            </a:extLst>
          </p:cNvPr>
          <p:cNvSpPr txBox="1"/>
          <p:nvPr/>
        </p:nvSpPr>
        <p:spPr>
          <a:xfrm>
            <a:off x="658817" y="3763124"/>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dirty="0">
                <a:solidFill>
                  <a:schemeClr val="bg1"/>
                </a:solidFill>
              </a:rPr>
              <a:t>Diseñador UX/UI</a:t>
            </a:r>
            <a:endParaRPr lang="es-CL" sz="900" dirty="0">
              <a:solidFill>
                <a:schemeClr val="bg1"/>
              </a:solidFill>
            </a:endParaRPr>
          </a:p>
        </p:txBody>
      </p:sp>
      <p:sp>
        <p:nvSpPr>
          <p:cNvPr id="27" name="CuadroTexto 26">
            <a:extLst>
              <a:ext uri="{FF2B5EF4-FFF2-40B4-BE49-F238E27FC236}">
                <a16:creationId xmlns:a16="http://schemas.microsoft.com/office/drawing/2014/main" id="{CEC90EC0-9FEE-9373-536B-CCF4BE013E71}"/>
              </a:ext>
            </a:extLst>
          </p:cNvPr>
          <p:cNvSpPr txBox="1"/>
          <p:nvPr/>
        </p:nvSpPr>
        <p:spPr>
          <a:xfrm>
            <a:off x="4059019" y="3763124"/>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$2,000/mes</a:t>
            </a:r>
            <a:endParaRPr lang="es-CL" sz="1050" dirty="0">
              <a:solidFill>
                <a:schemeClr val="bg1"/>
              </a:solidFill>
            </a:endParaRPr>
          </a:p>
        </p:txBody>
      </p:sp>
      <p:sp>
        <p:nvSpPr>
          <p:cNvPr id="28" name="CuadroTexto 27">
            <a:extLst>
              <a:ext uri="{FF2B5EF4-FFF2-40B4-BE49-F238E27FC236}">
                <a16:creationId xmlns:a16="http://schemas.microsoft.com/office/drawing/2014/main" id="{F94D7AD0-A267-DD17-4E8C-B20D7F3AFA53}"/>
              </a:ext>
            </a:extLst>
          </p:cNvPr>
          <p:cNvSpPr txBox="1"/>
          <p:nvPr/>
        </p:nvSpPr>
        <p:spPr>
          <a:xfrm>
            <a:off x="6311901" y="3761656"/>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Incorporación de un diseñador especializado para mejorar la experiencia de usuario.</a:t>
            </a:r>
            <a:endParaRPr lang="es-CL" sz="1050" dirty="0">
              <a:solidFill>
                <a:schemeClr val="bg1"/>
              </a:solidFill>
            </a:endParaRPr>
          </a:p>
        </p:txBody>
      </p:sp>
      <p:sp>
        <p:nvSpPr>
          <p:cNvPr id="2" name="CuadroTexto 1">
            <a:extLst>
              <a:ext uri="{FF2B5EF4-FFF2-40B4-BE49-F238E27FC236}">
                <a16:creationId xmlns:a16="http://schemas.microsoft.com/office/drawing/2014/main" id="{6376E3EB-1579-2EFD-34CE-B7A8FCE8CE8F}"/>
              </a:ext>
            </a:extLst>
          </p:cNvPr>
          <p:cNvSpPr txBox="1"/>
          <p:nvPr/>
        </p:nvSpPr>
        <p:spPr>
          <a:xfrm>
            <a:off x="658809" y="2515831"/>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dirty="0">
                <a:solidFill>
                  <a:schemeClr val="bg1"/>
                </a:solidFill>
              </a:rPr>
              <a:t>Programador Senior</a:t>
            </a:r>
          </a:p>
        </p:txBody>
      </p:sp>
      <p:sp>
        <p:nvSpPr>
          <p:cNvPr id="5" name="CuadroTexto 4">
            <a:extLst>
              <a:ext uri="{FF2B5EF4-FFF2-40B4-BE49-F238E27FC236}">
                <a16:creationId xmlns:a16="http://schemas.microsoft.com/office/drawing/2014/main" id="{E1206373-2FD8-C678-0CB6-FAF533061061}"/>
              </a:ext>
            </a:extLst>
          </p:cNvPr>
          <p:cNvSpPr txBox="1"/>
          <p:nvPr/>
        </p:nvSpPr>
        <p:spPr>
          <a:xfrm>
            <a:off x="658801" y="3131572"/>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dirty="0">
                <a:solidFill>
                  <a:schemeClr val="bg1"/>
                </a:solidFill>
              </a:rPr>
              <a:t>Programador Junior (2)</a:t>
            </a:r>
            <a:endParaRPr lang="es-CL" sz="900" dirty="0">
              <a:solidFill>
                <a:schemeClr val="bg1"/>
              </a:solidFill>
            </a:endParaRPr>
          </a:p>
        </p:txBody>
      </p:sp>
      <p:sp>
        <p:nvSpPr>
          <p:cNvPr id="6" name="Título 3">
            <a:extLst>
              <a:ext uri="{FF2B5EF4-FFF2-40B4-BE49-F238E27FC236}">
                <a16:creationId xmlns:a16="http://schemas.microsoft.com/office/drawing/2014/main" id="{071FD085-71EC-A098-E335-44A31D2F1EB9}"/>
              </a:ext>
            </a:extLst>
          </p:cNvPr>
          <p:cNvSpPr>
            <a:spLocks noGrp="1"/>
          </p:cNvSpPr>
          <p:nvPr>
            <p:ph type="title"/>
          </p:nvPr>
        </p:nvSpPr>
        <p:spPr>
          <a:xfrm>
            <a:off x="658813" y="800100"/>
            <a:ext cx="10874375" cy="550600"/>
          </a:xfrm>
        </p:spPr>
        <p:txBody>
          <a:bodyPr/>
          <a:lstStyle/>
          <a:p>
            <a:r>
              <a:rPr lang="es-CL" sz="2400" dirty="0"/>
              <a:t>Mi plan de crecimiento: </a:t>
            </a:r>
            <a:r>
              <a:rPr lang="es-CL" sz="2400" dirty="0">
                <a:solidFill>
                  <a:schemeClr val="accent4"/>
                </a:solidFill>
              </a:rPr>
              <a:t>Estructura de Costos y Gastos</a:t>
            </a:r>
          </a:p>
        </p:txBody>
      </p:sp>
      <p:sp>
        <p:nvSpPr>
          <p:cNvPr id="11" name="CuadroTexto 10">
            <a:extLst>
              <a:ext uri="{FF2B5EF4-FFF2-40B4-BE49-F238E27FC236}">
                <a16:creationId xmlns:a16="http://schemas.microsoft.com/office/drawing/2014/main" id="{1C5712EB-BC8C-5480-1BB3-AB82BC697558}"/>
              </a:ext>
            </a:extLst>
          </p:cNvPr>
          <p:cNvSpPr txBox="1"/>
          <p:nvPr/>
        </p:nvSpPr>
        <p:spPr>
          <a:xfrm>
            <a:off x="4059031" y="4377556"/>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$3,000/mes </a:t>
            </a:r>
            <a:endParaRPr lang="es-CL" sz="1050" dirty="0">
              <a:solidFill>
                <a:schemeClr val="bg1"/>
              </a:solidFill>
            </a:endParaRPr>
          </a:p>
        </p:txBody>
      </p:sp>
      <p:sp>
        <p:nvSpPr>
          <p:cNvPr id="12" name="CuadroTexto 11">
            <a:extLst>
              <a:ext uri="{FF2B5EF4-FFF2-40B4-BE49-F238E27FC236}">
                <a16:creationId xmlns:a16="http://schemas.microsoft.com/office/drawing/2014/main" id="{8EA4F8BD-8D0C-A886-642D-390D653E1181}"/>
              </a:ext>
            </a:extLst>
          </p:cNvPr>
          <p:cNvSpPr txBox="1"/>
          <p:nvPr/>
        </p:nvSpPr>
        <p:spPr>
          <a:xfrm>
            <a:off x="6311913" y="4376088"/>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Aumento de personal en programación para escalar el desarrollo de nuevas funciones y mejoras y c</a:t>
            </a:r>
            <a:r>
              <a:rPr lang="es-ES" sz="1050" dirty="0">
                <a:solidFill>
                  <a:schemeClr val="bg1"/>
                </a:solidFill>
              </a:rPr>
              <a:t>ontratación de personal de soporte técnico para asegurar la calidad del servicio a medida que crecen los usuarios.</a:t>
            </a:r>
            <a:endParaRPr lang="es-CL" sz="1050" dirty="0">
              <a:solidFill>
                <a:schemeClr val="bg1"/>
              </a:solidFill>
            </a:endParaRPr>
          </a:p>
        </p:txBody>
      </p:sp>
      <p:sp>
        <p:nvSpPr>
          <p:cNvPr id="16" name="CuadroTexto 15">
            <a:extLst>
              <a:ext uri="{FF2B5EF4-FFF2-40B4-BE49-F238E27FC236}">
                <a16:creationId xmlns:a16="http://schemas.microsoft.com/office/drawing/2014/main" id="{25985807-EB88-7F17-0400-5EDD1B934932}"/>
              </a:ext>
            </a:extLst>
          </p:cNvPr>
          <p:cNvSpPr txBox="1"/>
          <p:nvPr/>
        </p:nvSpPr>
        <p:spPr>
          <a:xfrm>
            <a:off x="658829" y="5007639"/>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a:solidFill>
                  <a:schemeClr val="bg1"/>
                </a:solidFill>
              </a:rPr>
              <a:t>Licencias de Software</a:t>
            </a:r>
            <a:endParaRPr lang="es-CL" sz="900" dirty="0">
              <a:solidFill>
                <a:schemeClr val="bg1"/>
              </a:solidFill>
            </a:endParaRPr>
          </a:p>
        </p:txBody>
      </p:sp>
      <p:sp>
        <p:nvSpPr>
          <p:cNvPr id="17" name="CuadroTexto 16">
            <a:extLst>
              <a:ext uri="{FF2B5EF4-FFF2-40B4-BE49-F238E27FC236}">
                <a16:creationId xmlns:a16="http://schemas.microsoft.com/office/drawing/2014/main" id="{4DA35D1C-235B-7C91-259F-F972C131AE9B}"/>
              </a:ext>
            </a:extLst>
          </p:cNvPr>
          <p:cNvSpPr txBox="1"/>
          <p:nvPr/>
        </p:nvSpPr>
        <p:spPr>
          <a:xfrm>
            <a:off x="4059031" y="5007639"/>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$2,000/mes</a:t>
            </a:r>
            <a:endParaRPr lang="es-CL" sz="1050" dirty="0">
              <a:solidFill>
                <a:schemeClr val="bg1"/>
              </a:solidFill>
            </a:endParaRPr>
          </a:p>
        </p:txBody>
      </p:sp>
      <p:sp>
        <p:nvSpPr>
          <p:cNvPr id="20" name="CuadroTexto 19">
            <a:extLst>
              <a:ext uri="{FF2B5EF4-FFF2-40B4-BE49-F238E27FC236}">
                <a16:creationId xmlns:a16="http://schemas.microsoft.com/office/drawing/2014/main" id="{61FB4374-13CD-992E-3261-B2C27127993B}"/>
              </a:ext>
            </a:extLst>
          </p:cNvPr>
          <p:cNvSpPr txBox="1"/>
          <p:nvPr/>
        </p:nvSpPr>
        <p:spPr>
          <a:xfrm>
            <a:off x="6311913" y="5006171"/>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Incorporación de un diseñador especializado para mejorar la experiencia de usuario.</a:t>
            </a:r>
            <a:endParaRPr lang="es-CL" sz="1050" dirty="0">
              <a:solidFill>
                <a:schemeClr val="bg1"/>
              </a:solidFill>
            </a:endParaRPr>
          </a:p>
        </p:txBody>
      </p:sp>
      <p:sp>
        <p:nvSpPr>
          <p:cNvPr id="21" name="CuadroTexto 20">
            <a:extLst>
              <a:ext uri="{FF2B5EF4-FFF2-40B4-BE49-F238E27FC236}">
                <a16:creationId xmlns:a16="http://schemas.microsoft.com/office/drawing/2014/main" id="{287CA44D-B6B7-F153-7D77-9D6FC9ED7787}"/>
              </a:ext>
            </a:extLst>
          </p:cNvPr>
          <p:cNvSpPr txBox="1"/>
          <p:nvPr/>
        </p:nvSpPr>
        <p:spPr>
          <a:xfrm>
            <a:off x="658813" y="4376087"/>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dirty="0">
                <a:solidFill>
                  <a:schemeClr val="bg1"/>
                </a:solidFill>
              </a:rPr>
              <a:t>Servidores/Cloud	</a:t>
            </a:r>
            <a:endParaRPr lang="es-CL" sz="900" dirty="0">
              <a:solidFill>
                <a:schemeClr val="bg1"/>
              </a:solidFill>
            </a:endParaRPr>
          </a:p>
        </p:txBody>
      </p:sp>
    </p:spTree>
    <p:extLst>
      <p:ext uri="{BB962C8B-B14F-4D97-AF65-F5344CB8AC3E}">
        <p14:creationId xmlns:p14="http://schemas.microsoft.com/office/powerpoint/2010/main" val="525171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88005-3690-9CCD-0BEF-8DCC22A9D1A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82A7C51-63A7-C257-76DE-CAED4125C4A3}"/>
              </a:ext>
            </a:extLst>
          </p:cNvPr>
          <p:cNvSpPr txBox="1"/>
          <p:nvPr/>
        </p:nvSpPr>
        <p:spPr>
          <a:xfrm>
            <a:off x="658814" y="1768540"/>
            <a:ext cx="3400202" cy="366743"/>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CL" sz="1600" b="1" dirty="0" err="1">
                <a:solidFill>
                  <a:schemeClr val="bg1"/>
                </a:solidFill>
              </a:rPr>
              <a:t>Item</a:t>
            </a:r>
            <a:endParaRPr lang="es-CL" sz="1600" b="1" dirty="0">
              <a:solidFill>
                <a:schemeClr val="bg1"/>
              </a:solidFill>
            </a:endParaRPr>
          </a:p>
        </p:txBody>
      </p:sp>
      <p:sp>
        <p:nvSpPr>
          <p:cNvPr id="4" name="CuadroTexto 3">
            <a:extLst>
              <a:ext uri="{FF2B5EF4-FFF2-40B4-BE49-F238E27FC236}">
                <a16:creationId xmlns:a16="http://schemas.microsoft.com/office/drawing/2014/main" id="{4063D7D0-7302-A5FC-06E5-5FCA39EB8391}"/>
              </a:ext>
            </a:extLst>
          </p:cNvPr>
          <p:cNvSpPr txBox="1"/>
          <p:nvPr/>
        </p:nvSpPr>
        <p:spPr>
          <a:xfrm>
            <a:off x="658812" y="2133816"/>
            <a:ext cx="3400202" cy="366744"/>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400" b="1" dirty="0">
                <a:solidFill>
                  <a:schemeClr val="bg1"/>
                </a:solidFill>
              </a:rPr>
              <a:t>Gastos</a:t>
            </a:r>
          </a:p>
        </p:txBody>
      </p:sp>
      <p:sp>
        <p:nvSpPr>
          <p:cNvPr id="7" name="CuadroTexto 6">
            <a:extLst>
              <a:ext uri="{FF2B5EF4-FFF2-40B4-BE49-F238E27FC236}">
                <a16:creationId xmlns:a16="http://schemas.microsoft.com/office/drawing/2014/main" id="{D52BDC3C-A572-9928-4B85-8D7255E94C2C}"/>
              </a:ext>
            </a:extLst>
          </p:cNvPr>
          <p:cNvSpPr txBox="1"/>
          <p:nvPr/>
        </p:nvSpPr>
        <p:spPr>
          <a:xfrm>
            <a:off x="4059016" y="1768540"/>
            <a:ext cx="2261575" cy="366743"/>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600" b="1" dirty="0">
                <a:solidFill>
                  <a:schemeClr val="bg1"/>
                </a:solidFill>
              </a:rPr>
              <a:t>Ejemplo aplicado</a:t>
            </a:r>
            <a:endParaRPr lang="es-CL" sz="1300" b="1" dirty="0">
              <a:solidFill>
                <a:schemeClr val="bg1"/>
              </a:solidFill>
            </a:endParaRPr>
          </a:p>
        </p:txBody>
      </p:sp>
      <p:sp>
        <p:nvSpPr>
          <p:cNvPr id="8" name="CuadroTexto 7">
            <a:extLst>
              <a:ext uri="{FF2B5EF4-FFF2-40B4-BE49-F238E27FC236}">
                <a16:creationId xmlns:a16="http://schemas.microsoft.com/office/drawing/2014/main" id="{4989D139-07C4-16D4-2819-8695CB634545}"/>
              </a:ext>
            </a:extLst>
          </p:cNvPr>
          <p:cNvSpPr txBox="1"/>
          <p:nvPr/>
        </p:nvSpPr>
        <p:spPr>
          <a:xfrm>
            <a:off x="4059014" y="2133816"/>
            <a:ext cx="2261575" cy="366744"/>
          </a:xfrm>
          <a:prstGeom prst="rect">
            <a:avLst/>
          </a:prstGeom>
          <a:solidFill>
            <a:schemeClr val="accent3"/>
          </a:solidFill>
          <a:ln w="28575">
            <a:solidFill>
              <a:schemeClr val="accent4"/>
            </a:solidFill>
          </a:ln>
        </p:spPr>
        <p:txBody>
          <a:bodyPr wrap="square" lIns="216000" tIns="0" bIns="0" rtlCol="0" anchor="ctr">
            <a:noAutofit/>
          </a:bodyPr>
          <a:lstStyle/>
          <a:p>
            <a:pPr lvl="0">
              <a:defRPr/>
            </a:pPr>
            <a:endParaRPr lang="es-CL" sz="1050" dirty="0">
              <a:solidFill>
                <a:schemeClr val="bg1"/>
              </a:solidFill>
            </a:endParaRPr>
          </a:p>
        </p:txBody>
      </p:sp>
      <p:sp>
        <p:nvSpPr>
          <p:cNvPr id="9" name="CuadroTexto 8">
            <a:extLst>
              <a:ext uri="{FF2B5EF4-FFF2-40B4-BE49-F238E27FC236}">
                <a16:creationId xmlns:a16="http://schemas.microsoft.com/office/drawing/2014/main" id="{4891D87D-CF3A-B399-E87D-B8F1883ABFB1}"/>
              </a:ext>
            </a:extLst>
          </p:cNvPr>
          <p:cNvSpPr txBox="1"/>
          <p:nvPr/>
        </p:nvSpPr>
        <p:spPr>
          <a:xfrm>
            <a:off x="6311898" y="1767072"/>
            <a:ext cx="5221290" cy="366743"/>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600" b="1" dirty="0">
                <a:solidFill>
                  <a:schemeClr val="bg1"/>
                </a:solidFill>
              </a:rPr>
              <a:t>Explicación</a:t>
            </a:r>
            <a:endParaRPr lang="es-CL" sz="1300" b="1" dirty="0">
              <a:solidFill>
                <a:schemeClr val="bg1"/>
              </a:solidFill>
            </a:endParaRPr>
          </a:p>
        </p:txBody>
      </p:sp>
      <p:sp>
        <p:nvSpPr>
          <p:cNvPr id="10" name="CuadroTexto 9">
            <a:extLst>
              <a:ext uri="{FF2B5EF4-FFF2-40B4-BE49-F238E27FC236}">
                <a16:creationId xmlns:a16="http://schemas.microsoft.com/office/drawing/2014/main" id="{58A4F440-D804-85BB-456A-017B659E1605}"/>
              </a:ext>
            </a:extLst>
          </p:cNvPr>
          <p:cNvSpPr txBox="1"/>
          <p:nvPr/>
        </p:nvSpPr>
        <p:spPr>
          <a:xfrm>
            <a:off x="6311896" y="2132348"/>
            <a:ext cx="5221290" cy="366744"/>
          </a:xfrm>
          <a:prstGeom prst="rect">
            <a:avLst/>
          </a:prstGeom>
          <a:solidFill>
            <a:schemeClr val="accent3"/>
          </a:solidFill>
          <a:ln w="28575">
            <a:solidFill>
              <a:schemeClr val="accent4"/>
            </a:solidFill>
          </a:ln>
        </p:spPr>
        <p:txBody>
          <a:bodyPr wrap="square" lIns="216000" tIns="0" bIns="0" rtlCol="0" anchor="ctr">
            <a:noAutofit/>
          </a:bodyPr>
          <a:lstStyle/>
          <a:p>
            <a:pPr lvl="0">
              <a:defRPr/>
            </a:pPr>
            <a:endParaRPr lang="es-CL" sz="1050" dirty="0">
              <a:solidFill>
                <a:schemeClr val="bg1"/>
              </a:solidFill>
            </a:endParaRPr>
          </a:p>
        </p:txBody>
      </p:sp>
      <p:sp>
        <p:nvSpPr>
          <p:cNvPr id="13" name="CuadroTexto 12">
            <a:extLst>
              <a:ext uri="{FF2B5EF4-FFF2-40B4-BE49-F238E27FC236}">
                <a16:creationId xmlns:a16="http://schemas.microsoft.com/office/drawing/2014/main" id="{3CA3A815-B032-70B3-F4BA-4A84AA9F956F}"/>
              </a:ext>
            </a:extLst>
          </p:cNvPr>
          <p:cNvSpPr txBox="1"/>
          <p:nvPr/>
        </p:nvSpPr>
        <p:spPr>
          <a:xfrm>
            <a:off x="4059013" y="2512378"/>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$2,000/mes</a:t>
            </a:r>
            <a:endParaRPr lang="es-CL" sz="1050" dirty="0">
              <a:solidFill>
                <a:schemeClr val="bg1"/>
              </a:solidFill>
            </a:endParaRPr>
          </a:p>
        </p:txBody>
      </p:sp>
      <p:sp>
        <p:nvSpPr>
          <p:cNvPr id="15" name="CuadroTexto 14">
            <a:extLst>
              <a:ext uri="{FF2B5EF4-FFF2-40B4-BE49-F238E27FC236}">
                <a16:creationId xmlns:a16="http://schemas.microsoft.com/office/drawing/2014/main" id="{153141AD-2289-FF77-AAC2-07431CAB7001}"/>
              </a:ext>
            </a:extLst>
          </p:cNvPr>
          <p:cNvSpPr txBox="1"/>
          <p:nvPr/>
        </p:nvSpPr>
        <p:spPr>
          <a:xfrm>
            <a:off x="6311895" y="2515673"/>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Mayor inversión en campañas de marketing digital para atraer más usuarios y </a:t>
            </a:r>
            <a:r>
              <a:rPr lang="es-ES" sz="1100" dirty="0" err="1">
                <a:solidFill>
                  <a:schemeClr val="bg1"/>
                </a:solidFill>
              </a:rPr>
              <a:t>ONGs</a:t>
            </a:r>
            <a:r>
              <a:rPr lang="es-ES" sz="1100" dirty="0">
                <a:solidFill>
                  <a:schemeClr val="bg1"/>
                </a:solidFill>
              </a:rPr>
              <a:t>.</a:t>
            </a:r>
            <a:endParaRPr lang="es-CL" sz="1050" dirty="0">
              <a:solidFill>
                <a:schemeClr val="bg1"/>
              </a:solidFill>
            </a:endParaRPr>
          </a:p>
        </p:txBody>
      </p:sp>
      <p:sp>
        <p:nvSpPr>
          <p:cNvPr id="18" name="CuadroTexto 17">
            <a:extLst>
              <a:ext uri="{FF2B5EF4-FFF2-40B4-BE49-F238E27FC236}">
                <a16:creationId xmlns:a16="http://schemas.microsoft.com/office/drawing/2014/main" id="{AA35F82C-5734-68EB-5B12-1C400A796315}"/>
              </a:ext>
            </a:extLst>
          </p:cNvPr>
          <p:cNvSpPr txBox="1"/>
          <p:nvPr/>
        </p:nvSpPr>
        <p:spPr>
          <a:xfrm>
            <a:off x="4059019" y="3133041"/>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$1,000/mes </a:t>
            </a:r>
            <a:endParaRPr lang="es-CL" sz="1050" dirty="0">
              <a:solidFill>
                <a:schemeClr val="bg1"/>
              </a:solidFill>
            </a:endParaRPr>
          </a:p>
        </p:txBody>
      </p:sp>
      <p:sp>
        <p:nvSpPr>
          <p:cNvPr id="19" name="CuadroTexto 18">
            <a:extLst>
              <a:ext uri="{FF2B5EF4-FFF2-40B4-BE49-F238E27FC236}">
                <a16:creationId xmlns:a16="http://schemas.microsoft.com/office/drawing/2014/main" id="{908242DB-D190-84DB-001A-B22F5DBDD323}"/>
              </a:ext>
            </a:extLst>
          </p:cNvPr>
          <p:cNvSpPr txBox="1"/>
          <p:nvPr/>
        </p:nvSpPr>
        <p:spPr>
          <a:xfrm>
            <a:off x="6311901" y="3131573"/>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050" dirty="0">
                <a:solidFill>
                  <a:schemeClr val="bg1"/>
                </a:solidFill>
              </a:rPr>
              <a:t>Asociaciones con </a:t>
            </a:r>
            <a:r>
              <a:rPr lang="es-ES" sz="1050" dirty="0" err="1">
                <a:solidFill>
                  <a:schemeClr val="bg1"/>
                </a:solidFill>
              </a:rPr>
              <a:t>ONGs</a:t>
            </a:r>
            <a:r>
              <a:rPr lang="es-ES" sz="1050" dirty="0">
                <a:solidFill>
                  <a:schemeClr val="bg1"/>
                </a:solidFill>
              </a:rPr>
              <a:t> para promover la adopción de mascotas mediante la plataforma.</a:t>
            </a:r>
            <a:endParaRPr lang="es-CL" sz="1050" dirty="0">
              <a:solidFill>
                <a:schemeClr val="bg1"/>
              </a:solidFill>
            </a:endParaRPr>
          </a:p>
        </p:txBody>
      </p:sp>
      <p:sp>
        <p:nvSpPr>
          <p:cNvPr id="23" name="CuadroTexto 22">
            <a:extLst>
              <a:ext uri="{FF2B5EF4-FFF2-40B4-BE49-F238E27FC236}">
                <a16:creationId xmlns:a16="http://schemas.microsoft.com/office/drawing/2014/main" id="{3EAADFB6-2732-72D8-3EFB-8C53C0E0E6FF}"/>
              </a:ext>
            </a:extLst>
          </p:cNvPr>
          <p:cNvSpPr txBox="1"/>
          <p:nvPr/>
        </p:nvSpPr>
        <p:spPr>
          <a:xfrm>
            <a:off x="658817" y="3763124"/>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dirty="0">
                <a:solidFill>
                  <a:schemeClr val="bg1"/>
                </a:solidFill>
              </a:rPr>
              <a:t>Consultoría Legal	 </a:t>
            </a:r>
            <a:endParaRPr lang="es-CL" sz="900" dirty="0">
              <a:solidFill>
                <a:schemeClr val="bg1"/>
              </a:solidFill>
            </a:endParaRPr>
          </a:p>
        </p:txBody>
      </p:sp>
      <p:sp>
        <p:nvSpPr>
          <p:cNvPr id="27" name="CuadroTexto 26">
            <a:extLst>
              <a:ext uri="{FF2B5EF4-FFF2-40B4-BE49-F238E27FC236}">
                <a16:creationId xmlns:a16="http://schemas.microsoft.com/office/drawing/2014/main" id="{6F47DF80-36DC-A003-E5F1-AA7DC19DEEA7}"/>
              </a:ext>
            </a:extLst>
          </p:cNvPr>
          <p:cNvSpPr txBox="1"/>
          <p:nvPr/>
        </p:nvSpPr>
        <p:spPr>
          <a:xfrm>
            <a:off x="4059019" y="3763124"/>
            <a:ext cx="2261575"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$1,000/mes</a:t>
            </a:r>
            <a:endParaRPr lang="es-CL" sz="1050" dirty="0">
              <a:solidFill>
                <a:schemeClr val="bg1"/>
              </a:solidFill>
            </a:endParaRPr>
          </a:p>
        </p:txBody>
      </p:sp>
      <p:sp>
        <p:nvSpPr>
          <p:cNvPr id="28" name="CuadroTexto 27">
            <a:extLst>
              <a:ext uri="{FF2B5EF4-FFF2-40B4-BE49-F238E27FC236}">
                <a16:creationId xmlns:a16="http://schemas.microsoft.com/office/drawing/2014/main" id="{502AA4E7-FC41-EC69-07C5-4B14F314D1BC}"/>
              </a:ext>
            </a:extLst>
          </p:cNvPr>
          <p:cNvSpPr txBox="1"/>
          <p:nvPr/>
        </p:nvSpPr>
        <p:spPr>
          <a:xfrm>
            <a:off x="6311901" y="3761656"/>
            <a:ext cx="5221290"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100" dirty="0">
                <a:solidFill>
                  <a:schemeClr val="bg1"/>
                </a:solidFill>
              </a:rPr>
              <a:t>Servicios legales para la expansión de la empresa y protección de propiedad intelectual.</a:t>
            </a:r>
            <a:endParaRPr lang="es-CL" sz="1050" dirty="0">
              <a:solidFill>
                <a:schemeClr val="bg1"/>
              </a:solidFill>
            </a:endParaRPr>
          </a:p>
        </p:txBody>
      </p:sp>
      <p:sp>
        <p:nvSpPr>
          <p:cNvPr id="2" name="CuadroTexto 1">
            <a:extLst>
              <a:ext uri="{FF2B5EF4-FFF2-40B4-BE49-F238E27FC236}">
                <a16:creationId xmlns:a16="http://schemas.microsoft.com/office/drawing/2014/main" id="{AF1B8542-7432-FCA8-C3E5-CFB5323B8599}"/>
              </a:ext>
            </a:extLst>
          </p:cNvPr>
          <p:cNvSpPr txBox="1"/>
          <p:nvPr/>
        </p:nvSpPr>
        <p:spPr>
          <a:xfrm>
            <a:off x="658809" y="2515831"/>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dirty="0">
                <a:solidFill>
                  <a:schemeClr val="bg1"/>
                </a:solidFill>
              </a:rPr>
              <a:t>Publicidad Online	 </a:t>
            </a:r>
          </a:p>
        </p:txBody>
      </p:sp>
      <p:sp>
        <p:nvSpPr>
          <p:cNvPr id="5" name="CuadroTexto 4">
            <a:extLst>
              <a:ext uri="{FF2B5EF4-FFF2-40B4-BE49-F238E27FC236}">
                <a16:creationId xmlns:a16="http://schemas.microsoft.com/office/drawing/2014/main" id="{88910241-8DD7-1438-D05E-27D3BCC41D45}"/>
              </a:ext>
            </a:extLst>
          </p:cNvPr>
          <p:cNvSpPr txBox="1"/>
          <p:nvPr/>
        </p:nvSpPr>
        <p:spPr>
          <a:xfrm>
            <a:off x="658801" y="3131572"/>
            <a:ext cx="3400202" cy="638887"/>
          </a:xfrm>
          <a:prstGeom prst="rect">
            <a:avLst/>
          </a:prstGeom>
          <a:solidFill>
            <a:schemeClr val="accent3"/>
          </a:solidFill>
          <a:ln w="28575">
            <a:solidFill>
              <a:schemeClr val="accent4"/>
            </a:solidFill>
          </a:ln>
        </p:spPr>
        <p:txBody>
          <a:bodyPr wrap="square" lIns="216000" tIns="0" bIns="0" rtlCol="0" anchor="ctr">
            <a:noAutofit/>
          </a:bodyPr>
          <a:lstStyle/>
          <a:p>
            <a:pPr lvl="0">
              <a:defRPr/>
            </a:pPr>
            <a:r>
              <a:rPr lang="es-ES" sz="1200" b="1" dirty="0">
                <a:solidFill>
                  <a:schemeClr val="bg1"/>
                </a:solidFill>
              </a:rPr>
              <a:t>Colaboraciones con </a:t>
            </a:r>
            <a:r>
              <a:rPr lang="es-ES" sz="1200" b="1" dirty="0" err="1">
                <a:solidFill>
                  <a:schemeClr val="bg1"/>
                </a:solidFill>
              </a:rPr>
              <a:t>ONGs</a:t>
            </a:r>
            <a:r>
              <a:rPr lang="es-ES" sz="1200" b="1" dirty="0">
                <a:solidFill>
                  <a:schemeClr val="bg1"/>
                </a:solidFill>
              </a:rPr>
              <a:t>	</a:t>
            </a:r>
            <a:endParaRPr lang="es-CL" sz="900" dirty="0">
              <a:solidFill>
                <a:schemeClr val="bg1"/>
              </a:solidFill>
            </a:endParaRPr>
          </a:p>
        </p:txBody>
      </p:sp>
      <p:sp>
        <p:nvSpPr>
          <p:cNvPr id="6" name="Título 3">
            <a:extLst>
              <a:ext uri="{FF2B5EF4-FFF2-40B4-BE49-F238E27FC236}">
                <a16:creationId xmlns:a16="http://schemas.microsoft.com/office/drawing/2014/main" id="{EFA2E8F6-C810-8B70-E543-38C5093055EA}"/>
              </a:ext>
            </a:extLst>
          </p:cNvPr>
          <p:cNvSpPr>
            <a:spLocks noGrp="1"/>
          </p:cNvSpPr>
          <p:nvPr>
            <p:ph type="title"/>
          </p:nvPr>
        </p:nvSpPr>
        <p:spPr>
          <a:xfrm>
            <a:off x="658813" y="800100"/>
            <a:ext cx="10874375" cy="550600"/>
          </a:xfrm>
        </p:spPr>
        <p:txBody>
          <a:bodyPr/>
          <a:lstStyle/>
          <a:p>
            <a:r>
              <a:rPr lang="es-CL" sz="2400" dirty="0"/>
              <a:t>Mi plan de crecimiento: </a:t>
            </a:r>
            <a:r>
              <a:rPr lang="es-CL" sz="2400" dirty="0">
                <a:solidFill>
                  <a:schemeClr val="accent4"/>
                </a:solidFill>
              </a:rPr>
              <a:t>Estructura de Costos y Gastos</a:t>
            </a:r>
          </a:p>
        </p:txBody>
      </p:sp>
    </p:spTree>
    <p:extLst>
      <p:ext uri="{BB962C8B-B14F-4D97-AF65-F5344CB8AC3E}">
        <p14:creationId xmlns:p14="http://schemas.microsoft.com/office/powerpoint/2010/main" val="3498181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093C6F-D54F-440A-9367-AA4BFA1B653C}"/>
              </a:ext>
            </a:extLst>
          </p:cNvPr>
          <p:cNvSpPr>
            <a:spLocks noGrp="1"/>
          </p:cNvSpPr>
          <p:nvPr>
            <p:ph type="title"/>
          </p:nvPr>
        </p:nvSpPr>
        <p:spPr>
          <a:xfrm>
            <a:off x="842964" y="2219960"/>
            <a:ext cx="4886504" cy="2418080"/>
          </a:xfrm>
        </p:spPr>
        <p:txBody>
          <a:bodyPr/>
          <a:lstStyle/>
          <a:p>
            <a:r>
              <a:rPr lang="es-CL" b="1" dirty="0">
                <a:solidFill>
                  <a:schemeClr val="accent2">
                    <a:lumMod val="20000"/>
                    <a:lumOff val="80000"/>
                  </a:schemeClr>
                </a:solidFill>
                <a:sym typeface="Helvetica Neue" charset="0"/>
              </a:rPr>
              <a:t>Paso a paso:</a:t>
            </a:r>
            <a:br>
              <a:rPr lang="es-CL" b="1" dirty="0">
                <a:solidFill>
                  <a:schemeClr val="accent2">
                    <a:lumMod val="20000"/>
                    <a:lumOff val="80000"/>
                  </a:schemeClr>
                </a:solidFill>
                <a:sym typeface="Helvetica Neue" charset="0"/>
              </a:rPr>
            </a:br>
            <a:r>
              <a:rPr lang="es-CL" b="1" dirty="0">
                <a:solidFill>
                  <a:schemeClr val="accent2">
                    <a:lumMod val="20000"/>
                    <a:lumOff val="80000"/>
                  </a:schemeClr>
                </a:solidFill>
                <a:sym typeface="Helvetica Neue" charset="0"/>
              </a:rPr>
              <a:t>Cuáles son los hitos, y los objetivos y resultados clave a conseguir</a:t>
            </a:r>
            <a:endParaRPr lang="es-CL" sz="2400" dirty="0"/>
          </a:p>
        </p:txBody>
      </p:sp>
      <p:pic>
        <p:nvPicPr>
          <p:cNvPr id="6" name="Imagen 5">
            <a:extLst>
              <a:ext uri="{FF2B5EF4-FFF2-40B4-BE49-F238E27FC236}">
                <a16:creationId xmlns:a16="http://schemas.microsoft.com/office/drawing/2014/main" id="{D4511FCA-4D11-4B96-BBB4-83E3E5F2F7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765175"/>
            <a:ext cx="5437188" cy="5437188"/>
          </a:xfrm>
          <a:prstGeom prst="rect">
            <a:avLst/>
          </a:prstGeom>
        </p:spPr>
      </p:pic>
    </p:spTree>
    <p:extLst>
      <p:ext uri="{BB962C8B-B14F-4D97-AF65-F5344CB8AC3E}">
        <p14:creationId xmlns:p14="http://schemas.microsoft.com/office/powerpoint/2010/main" val="3072189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61DCDBBA-4046-7C47-875B-5A6180FCA680}"/>
              </a:ext>
            </a:extLst>
          </p:cNvPr>
          <p:cNvSpPr>
            <a:spLocks noGrp="1"/>
          </p:cNvSpPr>
          <p:nvPr>
            <p:ph type="title" idx="4294967295"/>
          </p:nvPr>
        </p:nvSpPr>
        <p:spPr>
          <a:xfrm>
            <a:off x="763929" y="398804"/>
            <a:ext cx="10098871" cy="654492"/>
          </a:xfrm>
        </p:spPr>
        <p:txBody>
          <a:bodyPr/>
          <a:lstStyle/>
          <a:p>
            <a:r>
              <a:rPr lang="es-CL" dirty="0"/>
              <a:t>Construcción de la curva de crecimiento</a:t>
            </a:r>
          </a:p>
        </p:txBody>
      </p:sp>
      <p:graphicFrame>
        <p:nvGraphicFramePr>
          <p:cNvPr id="2" name="Tabla 1">
            <a:extLst>
              <a:ext uri="{FF2B5EF4-FFF2-40B4-BE49-F238E27FC236}">
                <a16:creationId xmlns:a16="http://schemas.microsoft.com/office/drawing/2014/main" id="{329AA15A-723F-5976-6C13-25824BA275D5}"/>
              </a:ext>
            </a:extLst>
          </p:cNvPr>
          <p:cNvGraphicFramePr>
            <a:graphicFrameLocks noGrp="1"/>
          </p:cNvGraphicFramePr>
          <p:nvPr>
            <p:extLst>
              <p:ext uri="{D42A27DB-BD31-4B8C-83A1-F6EECF244321}">
                <p14:modId xmlns:p14="http://schemas.microsoft.com/office/powerpoint/2010/main" val="1671498775"/>
              </p:ext>
            </p:extLst>
          </p:nvPr>
        </p:nvGraphicFramePr>
        <p:xfrm>
          <a:off x="763929" y="2674530"/>
          <a:ext cx="8128002" cy="222504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3269188744"/>
                    </a:ext>
                  </a:extLst>
                </a:gridCol>
                <a:gridCol w="1354667">
                  <a:extLst>
                    <a:ext uri="{9D8B030D-6E8A-4147-A177-3AD203B41FA5}">
                      <a16:colId xmlns:a16="http://schemas.microsoft.com/office/drawing/2014/main" val="681351952"/>
                    </a:ext>
                  </a:extLst>
                </a:gridCol>
                <a:gridCol w="1354667">
                  <a:extLst>
                    <a:ext uri="{9D8B030D-6E8A-4147-A177-3AD203B41FA5}">
                      <a16:colId xmlns:a16="http://schemas.microsoft.com/office/drawing/2014/main" val="24107179"/>
                    </a:ext>
                  </a:extLst>
                </a:gridCol>
                <a:gridCol w="1354667">
                  <a:extLst>
                    <a:ext uri="{9D8B030D-6E8A-4147-A177-3AD203B41FA5}">
                      <a16:colId xmlns:a16="http://schemas.microsoft.com/office/drawing/2014/main" val="1790906411"/>
                    </a:ext>
                  </a:extLst>
                </a:gridCol>
                <a:gridCol w="1354667">
                  <a:extLst>
                    <a:ext uri="{9D8B030D-6E8A-4147-A177-3AD203B41FA5}">
                      <a16:colId xmlns:a16="http://schemas.microsoft.com/office/drawing/2014/main" val="155307701"/>
                    </a:ext>
                  </a:extLst>
                </a:gridCol>
                <a:gridCol w="1354667">
                  <a:extLst>
                    <a:ext uri="{9D8B030D-6E8A-4147-A177-3AD203B41FA5}">
                      <a16:colId xmlns:a16="http://schemas.microsoft.com/office/drawing/2014/main" val="3879349766"/>
                    </a:ext>
                  </a:extLst>
                </a:gridCol>
              </a:tblGrid>
              <a:tr h="370840">
                <a:tc>
                  <a:txBody>
                    <a:bodyPr/>
                    <a:lstStyle/>
                    <a:p>
                      <a:pPr algn="ctr"/>
                      <a:r>
                        <a:rPr lang="es-CL" sz="1200" dirty="0"/>
                        <a:t>60 - 80</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3475886725"/>
                  </a:ext>
                </a:extLst>
              </a:tr>
              <a:tr h="370840">
                <a:tc>
                  <a:txBody>
                    <a:bodyPr/>
                    <a:lstStyle/>
                    <a:p>
                      <a:pPr algn="ctr"/>
                      <a:r>
                        <a:rPr lang="es-CL" sz="1200" dirty="0"/>
                        <a:t>60 - 40</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3527897137"/>
                  </a:ext>
                </a:extLst>
              </a:tr>
              <a:tr h="370840">
                <a:tc>
                  <a:txBody>
                    <a:bodyPr/>
                    <a:lstStyle/>
                    <a:p>
                      <a:pPr algn="ctr"/>
                      <a:r>
                        <a:rPr lang="es-CL" sz="1200" dirty="0"/>
                        <a:t>40 - 60</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2586705712"/>
                  </a:ext>
                </a:extLst>
              </a:tr>
              <a:tr h="370840">
                <a:tc>
                  <a:txBody>
                    <a:bodyPr/>
                    <a:lstStyle/>
                    <a:p>
                      <a:pPr algn="ctr"/>
                      <a:r>
                        <a:rPr lang="es-CL" sz="1200" dirty="0"/>
                        <a:t>20 – 40</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382873299"/>
                  </a:ext>
                </a:extLst>
              </a:tr>
              <a:tr h="370840">
                <a:tc>
                  <a:txBody>
                    <a:bodyPr/>
                    <a:lstStyle/>
                    <a:p>
                      <a:pPr algn="ctr"/>
                      <a:r>
                        <a:rPr lang="es-CL" sz="1200" dirty="0"/>
                        <a:t>0 a 20</a:t>
                      </a:r>
                    </a:p>
                  </a:txBody>
                  <a:tcPr anchor="ctr"/>
                </a:tc>
                <a:tc>
                  <a:txBody>
                    <a:bodyPr/>
                    <a:lstStyle/>
                    <a:p>
                      <a:endParaRPr lang="es-CL" sz="1200" dirty="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192168962"/>
                  </a:ext>
                </a:extLst>
              </a:tr>
              <a:tr h="370840">
                <a:tc>
                  <a:txBody>
                    <a:bodyPr/>
                    <a:lstStyle/>
                    <a:p>
                      <a:pPr algn="ctr"/>
                      <a:r>
                        <a:rPr lang="es-CL" sz="1000" dirty="0"/>
                        <a:t>Ventas / Tiempo</a:t>
                      </a:r>
                    </a:p>
                  </a:txBody>
                  <a:tcPr anchor="ctr"/>
                </a:tc>
                <a:tc>
                  <a:txBody>
                    <a:bodyPr/>
                    <a:lstStyle/>
                    <a:p>
                      <a:pPr algn="ctr"/>
                      <a:r>
                        <a:rPr lang="es-CL" sz="1200" dirty="0"/>
                        <a:t>1er año</a:t>
                      </a:r>
                    </a:p>
                  </a:txBody>
                  <a:tcPr anchor="ctr"/>
                </a:tc>
                <a:tc>
                  <a:txBody>
                    <a:bodyPr/>
                    <a:lstStyle/>
                    <a:p>
                      <a:pPr algn="ctr"/>
                      <a:r>
                        <a:rPr lang="es-CL" sz="1200" dirty="0"/>
                        <a:t>2do año</a:t>
                      </a:r>
                    </a:p>
                  </a:txBody>
                  <a:tcPr anchor="ctr"/>
                </a:tc>
                <a:tc>
                  <a:txBody>
                    <a:bodyPr/>
                    <a:lstStyle/>
                    <a:p>
                      <a:pPr algn="ctr"/>
                      <a:r>
                        <a:rPr lang="es-CL" sz="1200" dirty="0"/>
                        <a:t>3er año</a:t>
                      </a:r>
                    </a:p>
                  </a:txBody>
                  <a:tcPr anchor="ctr"/>
                </a:tc>
                <a:tc>
                  <a:txBody>
                    <a:bodyPr/>
                    <a:lstStyle/>
                    <a:p>
                      <a:pPr algn="ctr"/>
                      <a:r>
                        <a:rPr lang="es-CL" sz="1200" dirty="0"/>
                        <a:t>4to año</a:t>
                      </a:r>
                    </a:p>
                  </a:txBody>
                  <a:tcPr anchor="ctr"/>
                </a:tc>
                <a:tc>
                  <a:txBody>
                    <a:bodyPr/>
                    <a:lstStyle/>
                    <a:p>
                      <a:pPr algn="ctr"/>
                      <a:r>
                        <a:rPr lang="es-CL" sz="1200" dirty="0"/>
                        <a:t>5to año</a:t>
                      </a:r>
                    </a:p>
                  </a:txBody>
                  <a:tcPr anchor="ctr"/>
                </a:tc>
                <a:extLst>
                  <a:ext uri="{0D108BD9-81ED-4DB2-BD59-A6C34878D82A}">
                    <a16:rowId xmlns:a16="http://schemas.microsoft.com/office/drawing/2014/main" val="2497154790"/>
                  </a:ext>
                </a:extLst>
              </a:tr>
            </a:tbl>
          </a:graphicData>
        </a:graphic>
      </p:graphicFrame>
      <p:sp>
        <p:nvSpPr>
          <p:cNvPr id="6" name="Triángulo 5">
            <a:extLst>
              <a:ext uri="{FF2B5EF4-FFF2-40B4-BE49-F238E27FC236}">
                <a16:creationId xmlns:a16="http://schemas.microsoft.com/office/drawing/2014/main" id="{DA3043D0-A0E4-12DA-16AB-4D2391E261A9}"/>
              </a:ext>
            </a:extLst>
          </p:cNvPr>
          <p:cNvSpPr/>
          <p:nvPr/>
        </p:nvSpPr>
        <p:spPr>
          <a:xfrm>
            <a:off x="2870521" y="5026892"/>
            <a:ext cx="231493" cy="46982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riángulo 6">
            <a:extLst>
              <a:ext uri="{FF2B5EF4-FFF2-40B4-BE49-F238E27FC236}">
                <a16:creationId xmlns:a16="http://schemas.microsoft.com/office/drawing/2014/main" id="{8B679781-28CF-ABB6-30AA-F494791716F2}"/>
              </a:ext>
            </a:extLst>
          </p:cNvPr>
          <p:cNvSpPr/>
          <p:nvPr/>
        </p:nvSpPr>
        <p:spPr>
          <a:xfrm>
            <a:off x="4481331" y="5026892"/>
            <a:ext cx="231493" cy="46982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Triángulo 7">
            <a:extLst>
              <a:ext uri="{FF2B5EF4-FFF2-40B4-BE49-F238E27FC236}">
                <a16:creationId xmlns:a16="http://schemas.microsoft.com/office/drawing/2014/main" id="{7B65D9EB-E19E-D4DD-C4C0-826C81428A23}"/>
              </a:ext>
            </a:extLst>
          </p:cNvPr>
          <p:cNvSpPr/>
          <p:nvPr/>
        </p:nvSpPr>
        <p:spPr>
          <a:xfrm>
            <a:off x="6657371" y="5026892"/>
            <a:ext cx="231493" cy="46982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CuadroTexto 8">
            <a:extLst>
              <a:ext uri="{FF2B5EF4-FFF2-40B4-BE49-F238E27FC236}">
                <a16:creationId xmlns:a16="http://schemas.microsoft.com/office/drawing/2014/main" id="{1A51441A-8CA1-4057-89FD-05677E9FFFE5}"/>
              </a:ext>
            </a:extLst>
          </p:cNvPr>
          <p:cNvSpPr txBox="1"/>
          <p:nvPr/>
        </p:nvSpPr>
        <p:spPr>
          <a:xfrm>
            <a:off x="1486429" y="5026892"/>
            <a:ext cx="1362874" cy="646331"/>
          </a:xfrm>
          <a:prstGeom prst="rect">
            <a:avLst/>
          </a:prstGeom>
          <a:noFill/>
        </p:spPr>
        <p:txBody>
          <a:bodyPr wrap="none" rtlCol="0">
            <a:spAutoFit/>
          </a:bodyPr>
          <a:lstStyle/>
          <a:p>
            <a:r>
              <a:rPr lang="es-CL" sz="1200" dirty="0"/>
              <a:t>FFF</a:t>
            </a:r>
          </a:p>
          <a:p>
            <a:r>
              <a:rPr lang="es-CL" sz="1200" dirty="0"/>
              <a:t>Fondos públicos</a:t>
            </a:r>
          </a:p>
          <a:p>
            <a:r>
              <a:rPr lang="es-CL" sz="1200" dirty="0"/>
              <a:t>USD$ 0,2 mill</a:t>
            </a:r>
          </a:p>
        </p:txBody>
      </p:sp>
      <p:sp>
        <p:nvSpPr>
          <p:cNvPr id="10" name="CuadroTexto 9">
            <a:extLst>
              <a:ext uri="{FF2B5EF4-FFF2-40B4-BE49-F238E27FC236}">
                <a16:creationId xmlns:a16="http://schemas.microsoft.com/office/drawing/2014/main" id="{7B5D6283-5D47-6D5A-613A-ECD365096FC0}"/>
              </a:ext>
            </a:extLst>
          </p:cNvPr>
          <p:cNvSpPr txBox="1"/>
          <p:nvPr/>
        </p:nvSpPr>
        <p:spPr>
          <a:xfrm>
            <a:off x="3118453" y="5026892"/>
            <a:ext cx="1362874" cy="646331"/>
          </a:xfrm>
          <a:prstGeom prst="rect">
            <a:avLst/>
          </a:prstGeom>
          <a:noFill/>
        </p:spPr>
        <p:txBody>
          <a:bodyPr wrap="none" rtlCol="0">
            <a:spAutoFit/>
          </a:bodyPr>
          <a:lstStyle/>
          <a:p>
            <a:r>
              <a:rPr lang="es-CL" sz="1200" dirty="0"/>
              <a:t>Ángeles</a:t>
            </a:r>
          </a:p>
          <a:p>
            <a:r>
              <a:rPr lang="es-CL" sz="1200" dirty="0"/>
              <a:t>Fondos públicos</a:t>
            </a:r>
          </a:p>
          <a:p>
            <a:r>
              <a:rPr lang="es-CL" sz="1200" dirty="0"/>
              <a:t>USD$ 1 mill</a:t>
            </a:r>
          </a:p>
        </p:txBody>
      </p:sp>
      <p:sp>
        <p:nvSpPr>
          <p:cNvPr id="11" name="CuadroTexto 10">
            <a:extLst>
              <a:ext uri="{FF2B5EF4-FFF2-40B4-BE49-F238E27FC236}">
                <a16:creationId xmlns:a16="http://schemas.microsoft.com/office/drawing/2014/main" id="{1728DD82-5D90-D0DC-8C86-B0F58BD0EF44}"/>
              </a:ext>
            </a:extLst>
          </p:cNvPr>
          <p:cNvSpPr txBox="1"/>
          <p:nvPr/>
        </p:nvSpPr>
        <p:spPr>
          <a:xfrm>
            <a:off x="5268410" y="5035053"/>
            <a:ext cx="1013419" cy="461665"/>
          </a:xfrm>
          <a:prstGeom prst="rect">
            <a:avLst/>
          </a:prstGeom>
          <a:noFill/>
        </p:spPr>
        <p:txBody>
          <a:bodyPr wrap="none" rtlCol="0">
            <a:spAutoFit/>
          </a:bodyPr>
          <a:lstStyle/>
          <a:p>
            <a:r>
              <a:rPr lang="es-CL" sz="1200" dirty="0"/>
              <a:t>Serie A</a:t>
            </a:r>
          </a:p>
          <a:p>
            <a:r>
              <a:rPr lang="es-CL" sz="1200" dirty="0"/>
              <a:t>USD$ 2 mill</a:t>
            </a:r>
          </a:p>
        </p:txBody>
      </p:sp>
      <p:sp>
        <p:nvSpPr>
          <p:cNvPr id="12" name="Elipse 11">
            <a:extLst>
              <a:ext uri="{FF2B5EF4-FFF2-40B4-BE49-F238E27FC236}">
                <a16:creationId xmlns:a16="http://schemas.microsoft.com/office/drawing/2014/main" id="{21EF2E35-4118-AA61-B0DB-30C24A2469C5}"/>
              </a:ext>
            </a:extLst>
          </p:cNvPr>
          <p:cNvSpPr/>
          <p:nvPr/>
        </p:nvSpPr>
        <p:spPr>
          <a:xfrm>
            <a:off x="4514122" y="4246651"/>
            <a:ext cx="144000" cy="144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Elipse 12">
            <a:extLst>
              <a:ext uri="{FF2B5EF4-FFF2-40B4-BE49-F238E27FC236}">
                <a16:creationId xmlns:a16="http://schemas.microsoft.com/office/drawing/2014/main" id="{AF8D0C5B-5A2F-A4E4-EC02-8FF0DBBB4565}"/>
              </a:ext>
            </a:extLst>
          </p:cNvPr>
          <p:cNvSpPr/>
          <p:nvPr/>
        </p:nvSpPr>
        <p:spPr>
          <a:xfrm>
            <a:off x="5870291" y="3716143"/>
            <a:ext cx="144000" cy="144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4" name="Elipse 13">
            <a:extLst>
              <a:ext uri="{FF2B5EF4-FFF2-40B4-BE49-F238E27FC236}">
                <a16:creationId xmlns:a16="http://schemas.microsoft.com/office/drawing/2014/main" id="{0F6B910C-5409-8406-9B21-CE960FF3176D}"/>
              </a:ext>
            </a:extLst>
          </p:cNvPr>
          <p:cNvSpPr/>
          <p:nvPr/>
        </p:nvSpPr>
        <p:spPr>
          <a:xfrm>
            <a:off x="7282400" y="2801749"/>
            <a:ext cx="144000" cy="144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Elipse 14">
            <a:extLst>
              <a:ext uri="{FF2B5EF4-FFF2-40B4-BE49-F238E27FC236}">
                <a16:creationId xmlns:a16="http://schemas.microsoft.com/office/drawing/2014/main" id="{38741145-ACD6-D0EE-231E-01399F88A049}"/>
              </a:ext>
            </a:extLst>
          </p:cNvPr>
          <p:cNvSpPr/>
          <p:nvPr/>
        </p:nvSpPr>
        <p:spPr>
          <a:xfrm>
            <a:off x="2632651" y="3810199"/>
            <a:ext cx="720000" cy="720000"/>
          </a:xfrm>
          <a:prstGeom prst="ellipse">
            <a:avLst/>
          </a:prstGeom>
          <a:solidFill>
            <a:srgbClr val="593BB9">
              <a:alpha val="50980"/>
            </a:srgb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s-CL" sz="800" dirty="0">
                <a:solidFill>
                  <a:schemeClr val="tx1"/>
                </a:solidFill>
              </a:rPr>
              <a:t>Proyecto estratégico #1</a:t>
            </a:r>
          </a:p>
        </p:txBody>
      </p:sp>
      <p:sp>
        <p:nvSpPr>
          <p:cNvPr id="16" name="Elipse 15">
            <a:extLst>
              <a:ext uri="{FF2B5EF4-FFF2-40B4-BE49-F238E27FC236}">
                <a16:creationId xmlns:a16="http://schemas.microsoft.com/office/drawing/2014/main" id="{C9A76909-27C4-5F93-D8C4-E07ED79655BE}"/>
              </a:ext>
            </a:extLst>
          </p:cNvPr>
          <p:cNvSpPr/>
          <p:nvPr/>
        </p:nvSpPr>
        <p:spPr>
          <a:xfrm>
            <a:off x="3766965" y="3598651"/>
            <a:ext cx="720000" cy="720000"/>
          </a:xfrm>
          <a:prstGeom prst="ellipse">
            <a:avLst/>
          </a:prstGeom>
          <a:solidFill>
            <a:srgbClr val="593BB9">
              <a:alpha val="50980"/>
            </a:srgb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s-CL" sz="800" dirty="0">
                <a:solidFill>
                  <a:schemeClr val="tx1"/>
                </a:solidFill>
              </a:rPr>
              <a:t>Proyecto estratégico #2</a:t>
            </a:r>
          </a:p>
        </p:txBody>
      </p:sp>
      <p:sp>
        <p:nvSpPr>
          <p:cNvPr id="17" name="Elipse 16">
            <a:extLst>
              <a:ext uri="{FF2B5EF4-FFF2-40B4-BE49-F238E27FC236}">
                <a16:creationId xmlns:a16="http://schemas.microsoft.com/office/drawing/2014/main" id="{30FED07D-BA46-2AC7-1356-D9CBCBBA98B8}"/>
              </a:ext>
            </a:extLst>
          </p:cNvPr>
          <p:cNvSpPr/>
          <p:nvPr/>
        </p:nvSpPr>
        <p:spPr>
          <a:xfrm>
            <a:off x="4192854" y="3326904"/>
            <a:ext cx="720000" cy="720000"/>
          </a:xfrm>
          <a:prstGeom prst="ellipse">
            <a:avLst/>
          </a:prstGeom>
          <a:solidFill>
            <a:srgbClr val="593BB9">
              <a:alpha val="50980"/>
            </a:srgb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s-CL" sz="800" dirty="0">
                <a:solidFill>
                  <a:schemeClr val="tx1"/>
                </a:solidFill>
              </a:rPr>
              <a:t>Proyecto estratégico #3</a:t>
            </a:r>
          </a:p>
        </p:txBody>
      </p:sp>
      <p:sp>
        <p:nvSpPr>
          <p:cNvPr id="18" name="CuadroTexto 17">
            <a:extLst>
              <a:ext uri="{FF2B5EF4-FFF2-40B4-BE49-F238E27FC236}">
                <a16:creationId xmlns:a16="http://schemas.microsoft.com/office/drawing/2014/main" id="{B637CA0E-D702-621F-1D76-3F3AE64F5EBF}"/>
              </a:ext>
            </a:extLst>
          </p:cNvPr>
          <p:cNvSpPr txBox="1"/>
          <p:nvPr/>
        </p:nvSpPr>
        <p:spPr>
          <a:xfrm>
            <a:off x="763929" y="5941183"/>
            <a:ext cx="8128002" cy="307777"/>
          </a:xfrm>
          <a:prstGeom prst="rect">
            <a:avLst/>
          </a:prstGeom>
          <a:noFill/>
        </p:spPr>
        <p:txBody>
          <a:bodyPr wrap="square" rtlCol="0">
            <a:spAutoFit/>
          </a:bodyPr>
          <a:lstStyle/>
          <a:p>
            <a:r>
              <a:rPr lang="es-CL" sz="1400" dirty="0"/>
              <a:t>Explicar el plan y principales indicadores y riesgos</a:t>
            </a:r>
          </a:p>
        </p:txBody>
      </p:sp>
      <p:graphicFrame>
        <p:nvGraphicFramePr>
          <p:cNvPr id="19" name="Tabla 18">
            <a:extLst>
              <a:ext uri="{FF2B5EF4-FFF2-40B4-BE49-F238E27FC236}">
                <a16:creationId xmlns:a16="http://schemas.microsoft.com/office/drawing/2014/main" id="{93DF7922-A439-8533-A397-FB080FA2F7EB}"/>
              </a:ext>
            </a:extLst>
          </p:cNvPr>
          <p:cNvGraphicFramePr>
            <a:graphicFrameLocks noGrp="1"/>
          </p:cNvGraphicFramePr>
          <p:nvPr>
            <p:extLst>
              <p:ext uri="{D42A27DB-BD31-4B8C-83A1-F6EECF244321}">
                <p14:modId xmlns:p14="http://schemas.microsoft.com/office/powerpoint/2010/main" val="3054534426"/>
              </p:ext>
            </p:extLst>
          </p:nvPr>
        </p:nvGraphicFramePr>
        <p:xfrm>
          <a:off x="9094437" y="2674530"/>
          <a:ext cx="2800530" cy="2225041"/>
        </p:xfrm>
        <a:graphic>
          <a:graphicData uri="http://schemas.openxmlformats.org/drawingml/2006/table">
            <a:tbl>
              <a:tblPr firstRow="1" bandRow="1">
                <a:tableStyleId>{5940675A-B579-460E-94D1-54222C63F5DA}</a:tableStyleId>
              </a:tblPr>
              <a:tblGrid>
                <a:gridCol w="933510">
                  <a:extLst>
                    <a:ext uri="{9D8B030D-6E8A-4147-A177-3AD203B41FA5}">
                      <a16:colId xmlns:a16="http://schemas.microsoft.com/office/drawing/2014/main" val="3552759365"/>
                    </a:ext>
                  </a:extLst>
                </a:gridCol>
                <a:gridCol w="933510">
                  <a:extLst>
                    <a:ext uri="{9D8B030D-6E8A-4147-A177-3AD203B41FA5}">
                      <a16:colId xmlns:a16="http://schemas.microsoft.com/office/drawing/2014/main" val="3579175587"/>
                    </a:ext>
                  </a:extLst>
                </a:gridCol>
                <a:gridCol w="933510">
                  <a:extLst>
                    <a:ext uri="{9D8B030D-6E8A-4147-A177-3AD203B41FA5}">
                      <a16:colId xmlns:a16="http://schemas.microsoft.com/office/drawing/2014/main" val="1888180784"/>
                    </a:ext>
                  </a:extLst>
                </a:gridCol>
              </a:tblGrid>
              <a:tr h="416266">
                <a:tc>
                  <a:txBody>
                    <a:bodyPr/>
                    <a:lstStyle/>
                    <a:p>
                      <a:pPr algn="ctr"/>
                      <a:r>
                        <a:rPr lang="es-CL" sz="800" b="1" dirty="0"/>
                        <a:t>INDICADORES DE ÉXITO</a:t>
                      </a:r>
                    </a:p>
                  </a:txBody>
                  <a:tcPr anchor="ctr"/>
                </a:tc>
                <a:tc>
                  <a:txBody>
                    <a:bodyPr/>
                    <a:lstStyle/>
                    <a:p>
                      <a:pPr algn="ctr"/>
                      <a:r>
                        <a:rPr lang="es-CL" sz="1100" b="1" dirty="0"/>
                        <a:t>4to año</a:t>
                      </a:r>
                    </a:p>
                  </a:txBody>
                  <a:tcPr anchor="ctr"/>
                </a:tc>
                <a:tc>
                  <a:txBody>
                    <a:bodyPr/>
                    <a:lstStyle/>
                    <a:p>
                      <a:pPr algn="ctr"/>
                      <a:r>
                        <a:rPr lang="es-CL" sz="1100" b="1" dirty="0"/>
                        <a:t>5to año</a:t>
                      </a:r>
                    </a:p>
                  </a:txBody>
                  <a:tcPr anchor="ctr"/>
                </a:tc>
                <a:extLst>
                  <a:ext uri="{0D108BD9-81ED-4DB2-BD59-A6C34878D82A}">
                    <a16:rowId xmlns:a16="http://schemas.microsoft.com/office/drawing/2014/main" val="3762796135"/>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754347163"/>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4293141614"/>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1272607573"/>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2741043591"/>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1992390671"/>
                  </a:ext>
                </a:extLst>
              </a:tr>
            </a:tbl>
          </a:graphicData>
        </a:graphic>
      </p:graphicFrame>
      <p:sp>
        <p:nvSpPr>
          <p:cNvPr id="4" name="CuadroTexto 3">
            <a:extLst>
              <a:ext uri="{FF2B5EF4-FFF2-40B4-BE49-F238E27FC236}">
                <a16:creationId xmlns:a16="http://schemas.microsoft.com/office/drawing/2014/main" id="{EC7D4A48-D037-42D5-CE82-5BC284E96C7A}"/>
              </a:ext>
            </a:extLst>
          </p:cNvPr>
          <p:cNvSpPr txBox="1"/>
          <p:nvPr/>
        </p:nvSpPr>
        <p:spPr>
          <a:xfrm>
            <a:off x="763929" y="1184777"/>
            <a:ext cx="10761321" cy="738664"/>
          </a:xfrm>
          <a:prstGeom prst="rect">
            <a:avLst/>
          </a:prstGeom>
          <a:noFill/>
        </p:spPr>
        <p:txBody>
          <a:bodyPr wrap="square">
            <a:spAutoFit/>
          </a:bodyPr>
          <a:lstStyle/>
          <a:p>
            <a:pPr algn="l">
              <a:buNone/>
            </a:pPr>
            <a:r>
              <a:rPr lang="es-419" sz="1400" b="0" i="0" u="none" strike="noStrike" dirty="0">
                <a:effectLst/>
                <a:latin typeface="Raleway" pitchFamily="2" charset="77"/>
              </a:rPr>
              <a:t>Con los flujos iniciales a 4 o 5 años, se puede estructurar un resumen donde se van fijando las etapas y lógicas de crecimiento con hitos, fijando los proyectos (desde el plan de expansión), y luego, la estructura lógica de ingresos de capital o rondas de inversión, con los montos probables por ronda.</a:t>
            </a:r>
            <a:endParaRPr lang="es-CL" sz="1400" b="0" i="0" u="none" strike="noStrike" dirty="0">
              <a:effectLst/>
              <a:latin typeface="Raleway" pitchFamily="2" charset="77"/>
            </a:endParaRPr>
          </a:p>
        </p:txBody>
      </p:sp>
      <p:cxnSp>
        <p:nvCxnSpPr>
          <p:cNvPr id="20" name="Conector recto 19">
            <a:extLst>
              <a:ext uri="{FF2B5EF4-FFF2-40B4-BE49-F238E27FC236}">
                <a16:creationId xmlns:a16="http://schemas.microsoft.com/office/drawing/2014/main" id="{CF7787EF-F238-DC82-996D-EC3E41616457}"/>
              </a:ext>
            </a:extLst>
          </p:cNvPr>
          <p:cNvCxnSpPr>
            <a:cxnSpLocks/>
            <a:endCxn id="12" idx="2"/>
          </p:cNvCxnSpPr>
          <p:nvPr/>
        </p:nvCxnSpPr>
        <p:spPr>
          <a:xfrm flipV="1">
            <a:off x="3614738" y="4318651"/>
            <a:ext cx="899384" cy="72000"/>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23" name="Conector recto 22">
            <a:extLst>
              <a:ext uri="{FF2B5EF4-FFF2-40B4-BE49-F238E27FC236}">
                <a16:creationId xmlns:a16="http://schemas.microsoft.com/office/drawing/2014/main" id="{F245D6DE-92E4-0A23-7605-F0F87BB0BF61}"/>
              </a:ext>
            </a:extLst>
          </p:cNvPr>
          <p:cNvCxnSpPr>
            <a:stCxn id="12" idx="6"/>
            <a:endCxn id="13" idx="2"/>
          </p:cNvCxnSpPr>
          <p:nvPr/>
        </p:nvCxnSpPr>
        <p:spPr>
          <a:xfrm flipV="1">
            <a:off x="4658122" y="3788143"/>
            <a:ext cx="1212169" cy="530508"/>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25" name="Conector recto 24">
            <a:extLst>
              <a:ext uri="{FF2B5EF4-FFF2-40B4-BE49-F238E27FC236}">
                <a16:creationId xmlns:a16="http://schemas.microsoft.com/office/drawing/2014/main" id="{5D75BC23-2DCB-B19D-5169-E7339B2BBD29}"/>
              </a:ext>
            </a:extLst>
          </p:cNvPr>
          <p:cNvCxnSpPr>
            <a:cxnSpLocks/>
            <a:endCxn id="14" idx="3"/>
          </p:cNvCxnSpPr>
          <p:nvPr/>
        </p:nvCxnSpPr>
        <p:spPr>
          <a:xfrm flipV="1">
            <a:off x="6014291" y="2924661"/>
            <a:ext cx="1289197" cy="791482"/>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28" name="Conector recto 27">
            <a:extLst>
              <a:ext uri="{FF2B5EF4-FFF2-40B4-BE49-F238E27FC236}">
                <a16:creationId xmlns:a16="http://schemas.microsoft.com/office/drawing/2014/main" id="{9FE71AC4-AFD5-8F65-C55A-DA5080501B6A}"/>
              </a:ext>
            </a:extLst>
          </p:cNvPr>
          <p:cNvCxnSpPr>
            <a:stCxn id="14" idx="7"/>
          </p:cNvCxnSpPr>
          <p:nvPr/>
        </p:nvCxnSpPr>
        <p:spPr>
          <a:xfrm flipV="1">
            <a:off x="7405312" y="2286000"/>
            <a:ext cx="652838" cy="536837"/>
          </a:xfrm>
          <a:prstGeom prst="line">
            <a:avLst/>
          </a:prstGeom>
          <a:ln w="127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07134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61DCDBBA-4046-7C47-875B-5A6180FCA680}"/>
              </a:ext>
            </a:extLst>
          </p:cNvPr>
          <p:cNvSpPr>
            <a:spLocks noGrp="1"/>
          </p:cNvSpPr>
          <p:nvPr>
            <p:ph type="title" idx="4294967295"/>
          </p:nvPr>
        </p:nvSpPr>
        <p:spPr>
          <a:xfrm>
            <a:off x="658811" y="218896"/>
            <a:ext cx="10215564" cy="1036638"/>
          </a:xfrm>
        </p:spPr>
        <p:txBody>
          <a:bodyPr/>
          <a:lstStyle/>
          <a:p>
            <a:r>
              <a:rPr lang="es-CL" dirty="0"/>
              <a:t>Mi plan de crecimiento</a:t>
            </a:r>
          </a:p>
        </p:txBody>
      </p:sp>
      <p:sp>
        <p:nvSpPr>
          <p:cNvPr id="4" name="Marcador de texto 3">
            <a:extLst>
              <a:ext uri="{FF2B5EF4-FFF2-40B4-BE49-F238E27FC236}">
                <a16:creationId xmlns:a16="http://schemas.microsoft.com/office/drawing/2014/main" id="{3C1A7925-A467-AF12-325E-C087C45840E6}"/>
              </a:ext>
            </a:extLst>
          </p:cNvPr>
          <p:cNvSpPr>
            <a:spLocks noGrp="1"/>
          </p:cNvSpPr>
          <p:nvPr>
            <p:ph type="body" sz="quarter" idx="4294967295"/>
          </p:nvPr>
        </p:nvSpPr>
        <p:spPr>
          <a:xfrm>
            <a:off x="658811" y="1243236"/>
            <a:ext cx="5437188" cy="808037"/>
          </a:xfrm>
        </p:spPr>
        <p:txBody>
          <a:bodyPr/>
          <a:lstStyle/>
          <a:p>
            <a:r>
              <a:rPr lang="es-CL" dirty="0"/>
              <a:t>¿Cuáles son los objetivos de crecimiento para mis primeros dos años?</a:t>
            </a:r>
          </a:p>
        </p:txBody>
      </p:sp>
      <p:graphicFrame>
        <p:nvGraphicFramePr>
          <p:cNvPr id="2" name="Tabla 1">
            <a:extLst>
              <a:ext uri="{FF2B5EF4-FFF2-40B4-BE49-F238E27FC236}">
                <a16:creationId xmlns:a16="http://schemas.microsoft.com/office/drawing/2014/main" id="{938E0094-374E-8FB5-F331-8C2B837DA63C}"/>
              </a:ext>
            </a:extLst>
          </p:cNvPr>
          <p:cNvGraphicFramePr>
            <a:graphicFrameLocks noGrp="1"/>
          </p:cNvGraphicFramePr>
          <p:nvPr/>
        </p:nvGraphicFramePr>
        <p:xfrm>
          <a:off x="658812" y="2083439"/>
          <a:ext cx="5437188" cy="1925320"/>
        </p:xfrm>
        <a:graphic>
          <a:graphicData uri="http://schemas.openxmlformats.org/drawingml/2006/table">
            <a:tbl>
              <a:tblPr firstRow="1" bandRow="1">
                <a:tableStyleId>{5940675A-B579-460E-94D1-54222C63F5DA}</a:tableStyleId>
              </a:tblPr>
              <a:tblGrid>
                <a:gridCol w="1812396">
                  <a:extLst>
                    <a:ext uri="{9D8B030D-6E8A-4147-A177-3AD203B41FA5}">
                      <a16:colId xmlns:a16="http://schemas.microsoft.com/office/drawing/2014/main" val="2837012287"/>
                    </a:ext>
                  </a:extLst>
                </a:gridCol>
                <a:gridCol w="1812396">
                  <a:extLst>
                    <a:ext uri="{9D8B030D-6E8A-4147-A177-3AD203B41FA5}">
                      <a16:colId xmlns:a16="http://schemas.microsoft.com/office/drawing/2014/main" val="386244906"/>
                    </a:ext>
                  </a:extLst>
                </a:gridCol>
                <a:gridCol w="1812396">
                  <a:extLst>
                    <a:ext uri="{9D8B030D-6E8A-4147-A177-3AD203B41FA5}">
                      <a16:colId xmlns:a16="http://schemas.microsoft.com/office/drawing/2014/main" val="1171635645"/>
                    </a:ext>
                  </a:extLst>
                </a:gridCol>
              </a:tblGrid>
              <a:tr h="370840">
                <a:tc gridSpan="3">
                  <a:txBody>
                    <a:bodyPr/>
                    <a:lstStyle/>
                    <a:p>
                      <a:pPr algn="ctr"/>
                      <a:r>
                        <a:rPr lang="es-CL" sz="1400" dirty="0"/>
                        <a:t>Mi plan de crecimiento 1er año</a:t>
                      </a:r>
                    </a:p>
                  </a:txBody>
                  <a:tcPr/>
                </a:tc>
                <a:tc hMerge="1">
                  <a:txBody>
                    <a:bodyPr/>
                    <a:lstStyle/>
                    <a:p>
                      <a:endParaRPr lang="es-CL" dirty="0"/>
                    </a:p>
                  </a:txBody>
                  <a:tcPr/>
                </a:tc>
                <a:tc hMerge="1">
                  <a:txBody>
                    <a:bodyPr/>
                    <a:lstStyle/>
                    <a:p>
                      <a:endParaRPr lang="es-CL" dirty="0"/>
                    </a:p>
                  </a:txBody>
                  <a:tcPr/>
                </a:tc>
                <a:extLst>
                  <a:ext uri="{0D108BD9-81ED-4DB2-BD59-A6C34878D82A}">
                    <a16:rowId xmlns:a16="http://schemas.microsoft.com/office/drawing/2014/main" val="1694198660"/>
                  </a:ext>
                </a:extLst>
              </a:tr>
              <a:tr h="370840">
                <a:tc>
                  <a:txBody>
                    <a:bodyPr/>
                    <a:lstStyle/>
                    <a:p>
                      <a:pPr algn="ctr"/>
                      <a:r>
                        <a:rPr lang="es-CL" sz="1400" dirty="0"/>
                        <a:t>Objetivo #1</a:t>
                      </a:r>
                    </a:p>
                  </a:txBody>
                  <a:tcPr/>
                </a:tc>
                <a:tc>
                  <a:txBody>
                    <a:bodyPr/>
                    <a:lstStyle/>
                    <a:p>
                      <a:pPr algn="ctr"/>
                      <a:r>
                        <a:rPr lang="es-CL" sz="1400" dirty="0"/>
                        <a:t>Descripción del objetivo</a:t>
                      </a:r>
                    </a:p>
                  </a:txBody>
                  <a:tcPr/>
                </a:tc>
                <a:tc>
                  <a:txBody>
                    <a:bodyPr/>
                    <a:lstStyle/>
                    <a:p>
                      <a:pPr algn="ctr"/>
                      <a:r>
                        <a:rPr lang="es-CL" sz="1400" dirty="0"/>
                        <a:t>Indicador del objetivo</a:t>
                      </a:r>
                    </a:p>
                  </a:txBody>
                  <a:tcPr/>
                </a:tc>
                <a:extLst>
                  <a:ext uri="{0D108BD9-81ED-4DB2-BD59-A6C34878D82A}">
                    <a16:rowId xmlns:a16="http://schemas.microsoft.com/office/drawing/2014/main" val="2192387757"/>
                  </a:ext>
                </a:extLst>
              </a:tr>
              <a:tr h="370840">
                <a:tc>
                  <a:txBody>
                    <a:bodyPr/>
                    <a:lstStyle/>
                    <a:p>
                      <a:pPr algn="ctr"/>
                      <a:r>
                        <a:rPr lang="es-CL" sz="1400" dirty="0"/>
                        <a:t>Objetivo #2</a:t>
                      </a:r>
                    </a:p>
                  </a:txBody>
                  <a:tcPr/>
                </a:tc>
                <a:tc>
                  <a:txBody>
                    <a:bodyPr/>
                    <a:lstStyle/>
                    <a:p>
                      <a:pPr algn="ctr"/>
                      <a:r>
                        <a:rPr lang="es-CL" sz="1400" dirty="0"/>
                        <a:t>Ejemplo, consolidar mercado nacional</a:t>
                      </a:r>
                    </a:p>
                  </a:txBody>
                  <a:tcPr/>
                </a:tc>
                <a:tc>
                  <a:txBody>
                    <a:bodyPr/>
                    <a:lstStyle/>
                    <a:p>
                      <a:pPr algn="ctr"/>
                      <a:r>
                        <a:rPr lang="es-CL" sz="1400" dirty="0"/>
                        <a:t>30 equipos instalados</a:t>
                      </a:r>
                    </a:p>
                  </a:txBody>
                  <a:tcPr/>
                </a:tc>
                <a:extLst>
                  <a:ext uri="{0D108BD9-81ED-4DB2-BD59-A6C34878D82A}">
                    <a16:rowId xmlns:a16="http://schemas.microsoft.com/office/drawing/2014/main" val="318432733"/>
                  </a:ext>
                </a:extLst>
              </a:tr>
              <a:tr h="370840">
                <a:tc>
                  <a:txBody>
                    <a:bodyPr/>
                    <a:lstStyle/>
                    <a:p>
                      <a:pPr algn="ctr"/>
                      <a:r>
                        <a:rPr lang="es-CL" sz="1400" dirty="0"/>
                        <a:t>Objetivo #3</a:t>
                      </a:r>
                    </a:p>
                  </a:txBody>
                  <a:tcPr/>
                </a:tc>
                <a:tc>
                  <a:txBody>
                    <a:bodyPr/>
                    <a:lstStyle/>
                    <a:p>
                      <a:pPr algn="ctr"/>
                      <a:r>
                        <a:rPr lang="es-CL" sz="1400" dirty="0"/>
                        <a:t>Ejemplo, iniciar internacionalización</a:t>
                      </a:r>
                    </a:p>
                  </a:txBody>
                  <a:tcPr/>
                </a:tc>
                <a:tc>
                  <a:txBody>
                    <a:bodyPr/>
                    <a:lstStyle/>
                    <a:p>
                      <a:pPr algn="ctr"/>
                      <a:r>
                        <a:rPr lang="es-CL" sz="1400" dirty="0"/>
                        <a:t>2 nuevos mercados</a:t>
                      </a:r>
                    </a:p>
                  </a:txBody>
                  <a:tcPr/>
                </a:tc>
                <a:extLst>
                  <a:ext uri="{0D108BD9-81ED-4DB2-BD59-A6C34878D82A}">
                    <a16:rowId xmlns:a16="http://schemas.microsoft.com/office/drawing/2014/main" val="1034418756"/>
                  </a:ext>
                </a:extLst>
              </a:tr>
            </a:tbl>
          </a:graphicData>
        </a:graphic>
      </p:graphicFrame>
      <p:grpSp>
        <p:nvGrpSpPr>
          <p:cNvPr id="9" name="Grupo 8">
            <a:extLst>
              <a:ext uri="{FF2B5EF4-FFF2-40B4-BE49-F238E27FC236}">
                <a16:creationId xmlns:a16="http://schemas.microsoft.com/office/drawing/2014/main" id="{8472C801-2E6F-E868-21D3-B559AE369762}"/>
              </a:ext>
            </a:extLst>
          </p:cNvPr>
          <p:cNvGrpSpPr/>
          <p:nvPr/>
        </p:nvGrpSpPr>
        <p:grpSpPr>
          <a:xfrm>
            <a:off x="6778488" y="1435958"/>
            <a:ext cx="4575313" cy="3311203"/>
            <a:chOff x="6778488" y="997184"/>
            <a:chExt cx="4575313" cy="3311203"/>
          </a:xfrm>
        </p:grpSpPr>
        <p:pic>
          <p:nvPicPr>
            <p:cNvPr id="5" name="Gráfico 4">
              <a:extLst>
                <a:ext uri="{FF2B5EF4-FFF2-40B4-BE49-F238E27FC236}">
                  <a16:creationId xmlns:a16="http://schemas.microsoft.com/office/drawing/2014/main" id="{74F9C532-F293-D2BA-5827-CDA650551F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78488" y="1600200"/>
              <a:ext cx="4575312" cy="2708187"/>
            </a:xfrm>
            <a:prstGeom prst="rect">
              <a:avLst/>
            </a:prstGeom>
          </p:spPr>
        </p:pic>
        <p:sp>
          <p:nvSpPr>
            <p:cNvPr id="6" name="CuadroTexto 5">
              <a:extLst>
                <a:ext uri="{FF2B5EF4-FFF2-40B4-BE49-F238E27FC236}">
                  <a16:creationId xmlns:a16="http://schemas.microsoft.com/office/drawing/2014/main" id="{A4BD2F62-B0D0-E444-D638-B7B05ADADC54}"/>
                </a:ext>
              </a:extLst>
            </p:cNvPr>
            <p:cNvSpPr txBox="1"/>
            <p:nvPr/>
          </p:nvSpPr>
          <p:spPr>
            <a:xfrm>
              <a:off x="6778489" y="997184"/>
              <a:ext cx="4575312" cy="276999"/>
            </a:xfrm>
            <a:prstGeom prst="rect">
              <a:avLst/>
            </a:prstGeom>
            <a:noFill/>
          </p:spPr>
          <p:txBody>
            <a:bodyPr wrap="square" rtlCol="0">
              <a:spAutoFit/>
            </a:bodyPr>
            <a:lstStyle/>
            <a:p>
              <a:r>
                <a:rPr lang="es-CL" sz="1200" dirty="0">
                  <a:latin typeface="Avenir Next" panose="020B0503020202020204" pitchFamily="34" charset="0"/>
                </a:rPr>
                <a:t>Expansión esperada en el mercado nacional 2020 - 2028</a:t>
              </a:r>
            </a:p>
          </p:txBody>
        </p:sp>
      </p:grpSp>
      <p:graphicFrame>
        <p:nvGraphicFramePr>
          <p:cNvPr id="10" name="Tabla 9">
            <a:extLst>
              <a:ext uri="{FF2B5EF4-FFF2-40B4-BE49-F238E27FC236}">
                <a16:creationId xmlns:a16="http://schemas.microsoft.com/office/drawing/2014/main" id="{49A49918-A09E-A40F-1B14-29ACF18CE34B}"/>
              </a:ext>
            </a:extLst>
          </p:cNvPr>
          <p:cNvGraphicFramePr>
            <a:graphicFrameLocks noGrp="1"/>
          </p:cNvGraphicFramePr>
          <p:nvPr/>
        </p:nvGraphicFramePr>
        <p:xfrm>
          <a:off x="658811" y="4292600"/>
          <a:ext cx="5437188" cy="1483360"/>
        </p:xfrm>
        <a:graphic>
          <a:graphicData uri="http://schemas.openxmlformats.org/drawingml/2006/table">
            <a:tbl>
              <a:tblPr firstRow="1" bandRow="1">
                <a:tableStyleId>{5940675A-B579-460E-94D1-54222C63F5DA}</a:tableStyleId>
              </a:tblPr>
              <a:tblGrid>
                <a:gridCol w="1812396">
                  <a:extLst>
                    <a:ext uri="{9D8B030D-6E8A-4147-A177-3AD203B41FA5}">
                      <a16:colId xmlns:a16="http://schemas.microsoft.com/office/drawing/2014/main" val="2837012287"/>
                    </a:ext>
                  </a:extLst>
                </a:gridCol>
                <a:gridCol w="1812396">
                  <a:extLst>
                    <a:ext uri="{9D8B030D-6E8A-4147-A177-3AD203B41FA5}">
                      <a16:colId xmlns:a16="http://schemas.microsoft.com/office/drawing/2014/main" val="386244906"/>
                    </a:ext>
                  </a:extLst>
                </a:gridCol>
                <a:gridCol w="1812396">
                  <a:extLst>
                    <a:ext uri="{9D8B030D-6E8A-4147-A177-3AD203B41FA5}">
                      <a16:colId xmlns:a16="http://schemas.microsoft.com/office/drawing/2014/main" val="1171635645"/>
                    </a:ext>
                  </a:extLst>
                </a:gridCol>
              </a:tblGrid>
              <a:tr h="370840">
                <a:tc gridSpan="3">
                  <a:txBody>
                    <a:bodyPr/>
                    <a:lstStyle/>
                    <a:p>
                      <a:pPr algn="ctr"/>
                      <a:r>
                        <a:rPr lang="es-CL" sz="1400" dirty="0"/>
                        <a:t>Mi plan de crecimiento 2do año</a:t>
                      </a:r>
                    </a:p>
                  </a:txBody>
                  <a:tcPr/>
                </a:tc>
                <a:tc hMerge="1">
                  <a:txBody>
                    <a:bodyPr/>
                    <a:lstStyle/>
                    <a:p>
                      <a:endParaRPr lang="es-CL" dirty="0"/>
                    </a:p>
                  </a:txBody>
                  <a:tcPr/>
                </a:tc>
                <a:tc hMerge="1">
                  <a:txBody>
                    <a:bodyPr/>
                    <a:lstStyle/>
                    <a:p>
                      <a:endParaRPr lang="es-CL" dirty="0"/>
                    </a:p>
                  </a:txBody>
                  <a:tcPr/>
                </a:tc>
                <a:extLst>
                  <a:ext uri="{0D108BD9-81ED-4DB2-BD59-A6C34878D82A}">
                    <a16:rowId xmlns:a16="http://schemas.microsoft.com/office/drawing/2014/main" val="1694198660"/>
                  </a:ext>
                </a:extLst>
              </a:tr>
              <a:tr h="370840">
                <a:tc>
                  <a:txBody>
                    <a:bodyPr/>
                    <a:lstStyle/>
                    <a:p>
                      <a:pPr algn="ctr"/>
                      <a:r>
                        <a:rPr lang="es-CL" sz="1400" dirty="0"/>
                        <a:t>Objetivo #1</a:t>
                      </a:r>
                    </a:p>
                  </a:txBody>
                  <a:tcPr/>
                </a:tc>
                <a:tc>
                  <a:txBody>
                    <a:bodyPr/>
                    <a:lstStyle/>
                    <a:p>
                      <a:pPr algn="ctr"/>
                      <a:endParaRPr lang="es-CL" sz="1400" dirty="0"/>
                    </a:p>
                  </a:txBody>
                  <a:tcPr/>
                </a:tc>
                <a:tc>
                  <a:txBody>
                    <a:bodyPr/>
                    <a:lstStyle/>
                    <a:p>
                      <a:pPr algn="ctr"/>
                      <a:endParaRPr lang="es-CL" sz="1400" dirty="0"/>
                    </a:p>
                  </a:txBody>
                  <a:tcPr/>
                </a:tc>
                <a:extLst>
                  <a:ext uri="{0D108BD9-81ED-4DB2-BD59-A6C34878D82A}">
                    <a16:rowId xmlns:a16="http://schemas.microsoft.com/office/drawing/2014/main" val="2192387757"/>
                  </a:ext>
                </a:extLst>
              </a:tr>
              <a:tr h="370840">
                <a:tc>
                  <a:txBody>
                    <a:bodyPr/>
                    <a:lstStyle/>
                    <a:p>
                      <a:pPr algn="ctr"/>
                      <a:r>
                        <a:rPr lang="es-CL" sz="1400" dirty="0"/>
                        <a:t>Objetivo #2</a:t>
                      </a:r>
                    </a:p>
                  </a:txBody>
                  <a:tcPr/>
                </a:tc>
                <a:tc>
                  <a:txBody>
                    <a:bodyPr/>
                    <a:lstStyle/>
                    <a:p>
                      <a:pPr algn="ctr"/>
                      <a:endParaRPr lang="es-CL" sz="1400" dirty="0"/>
                    </a:p>
                  </a:txBody>
                  <a:tcPr/>
                </a:tc>
                <a:tc>
                  <a:txBody>
                    <a:bodyPr/>
                    <a:lstStyle/>
                    <a:p>
                      <a:pPr algn="ctr"/>
                      <a:endParaRPr lang="es-CL" sz="1400" dirty="0"/>
                    </a:p>
                  </a:txBody>
                  <a:tcPr/>
                </a:tc>
                <a:extLst>
                  <a:ext uri="{0D108BD9-81ED-4DB2-BD59-A6C34878D82A}">
                    <a16:rowId xmlns:a16="http://schemas.microsoft.com/office/drawing/2014/main" val="318432733"/>
                  </a:ext>
                </a:extLst>
              </a:tr>
              <a:tr h="370840">
                <a:tc>
                  <a:txBody>
                    <a:bodyPr/>
                    <a:lstStyle/>
                    <a:p>
                      <a:pPr algn="ctr"/>
                      <a:r>
                        <a:rPr lang="es-CL" sz="1400" dirty="0"/>
                        <a:t>Objetivo #3</a:t>
                      </a:r>
                    </a:p>
                  </a:txBody>
                  <a:tcPr/>
                </a:tc>
                <a:tc>
                  <a:txBody>
                    <a:bodyPr/>
                    <a:lstStyle/>
                    <a:p>
                      <a:pPr algn="ctr"/>
                      <a:endParaRPr lang="es-CL" sz="1400" dirty="0"/>
                    </a:p>
                  </a:txBody>
                  <a:tcPr/>
                </a:tc>
                <a:tc>
                  <a:txBody>
                    <a:bodyPr/>
                    <a:lstStyle/>
                    <a:p>
                      <a:pPr algn="ctr"/>
                      <a:endParaRPr lang="es-CL" sz="1400" dirty="0"/>
                    </a:p>
                  </a:txBody>
                  <a:tcPr/>
                </a:tc>
                <a:extLst>
                  <a:ext uri="{0D108BD9-81ED-4DB2-BD59-A6C34878D82A}">
                    <a16:rowId xmlns:a16="http://schemas.microsoft.com/office/drawing/2014/main" val="1034418756"/>
                  </a:ext>
                </a:extLst>
              </a:tr>
            </a:tbl>
          </a:graphicData>
        </a:graphic>
      </p:graphicFrame>
      <p:sp>
        <p:nvSpPr>
          <p:cNvPr id="11" name="CuadroTexto 10">
            <a:extLst>
              <a:ext uri="{FF2B5EF4-FFF2-40B4-BE49-F238E27FC236}">
                <a16:creationId xmlns:a16="http://schemas.microsoft.com/office/drawing/2014/main" id="{9F2AF985-5EEA-A0C8-ED2D-01B5CA6DEA83}"/>
              </a:ext>
            </a:extLst>
          </p:cNvPr>
          <p:cNvSpPr txBox="1"/>
          <p:nvPr/>
        </p:nvSpPr>
        <p:spPr>
          <a:xfrm>
            <a:off x="6778489" y="4884270"/>
            <a:ext cx="4575312" cy="1446550"/>
          </a:xfrm>
          <a:prstGeom prst="rect">
            <a:avLst/>
          </a:prstGeom>
          <a:noFill/>
        </p:spPr>
        <p:txBody>
          <a:bodyPr wrap="square" rtlCol="0">
            <a:spAutoFit/>
          </a:bodyPr>
          <a:lstStyle/>
          <a:p>
            <a:r>
              <a:rPr lang="es-CL" dirty="0"/>
              <a:t>Consejo:</a:t>
            </a:r>
          </a:p>
          <a:p>
            <a:r>
              <a:rPr lang="es-CL" sz="1400" dirty="0"/>
              <a:t>Para esto defina una unidad de venta o crecimiento, ejemplos número de locales, cantidad de clientes, maquinas instaladas. Y luego una velocidad de crecimiento o ventas por unidad de tiempo, trimestres, años.</a:t>
            </a:r>
          </a:p>
        </p:txBody>
      </p:sp>
    </p:spTree>
    <p:extLst>
      <p:ext uri="{BB962C8B-B14F-4D97-AF65-F5344CB8AC3E}">
        <p14:creationId xmlns:p14="http://schemas.microsoft.com/office/powerpoint/2010/main" val="374172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6096001" y="3124200"/>
            <a:ext cx="5232397" cy="2949467"/>
          </a:xfrm>
          <a:prstGeom prst="rect">
            <a:avLst/>
          </a:prstGeom>
        </p:spPr>
      </p:pic>
      <p:pic>
        <p:nvPicPr>
          <p:cNvPr id="8" name="Imagen 7" descr="C:\Users\Javiera\AppData\Local\Microsoft\Windows\INetCache\Content.MSO\FA0A35E7.tmp"/>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bwMode="auto">
          <a:xfrm>
            <a:off x="6070600" y="3124200"/>
            <a:ext cx="5257798" cy="2946400"/>
          </a:xfrm>
          <a:prstGeom prst="rect">
            <a:avLst/>
          </a:prstGeom>
          <a:noFill/>
          <a:ln>
            <a:noFill/>
          </a:ln>
        </p:spPr>
      </p:pic>
      <p:graphicFrame>
        <p:nvGraphicFramePr>
          <p:cNvPr id="9" name="Tabla 8"/>
          <p:cNvGraphicFramePr>
            <a:graphicFrameLocks noGrp="1"/>
          </p:cNvGraphicFramePr>
          <p:nvPr/>
        </p:nvGraphicFramePr>
        <p:xfrm>
          <a:off x="6096001" y="1115312"/>
          <a:ext cx="5232401" cy="1432561"/>
        </p:xfrm>
        <a:graphic>
          <a:graphicData uri="http://schemas.openxmlformats.org/drawingml/2006/table">
            <a:tbl>
              <a:tblPr firstRow="1" bandRow="1">
                <a:tableStyleId>{5940675A-B579-460E-94D1-54222C63F5DA}</a:tableStyleId>
              </a:tblPr>
              <a:tblGrid>
                <a:gridCol w="1046480">
                  <a:extLst>
                    <a:ext uri="{9D8B030D-6E8A-4147-A177-3AD203B41FA5}">
                      <a16:colId xmlns:a16="http://schemas.microsoft.com/office/drawing/2014/main" val="1861059786"/>
                    </a:ext>
                  </a:extLst>
                </a:gridCol>
                <a:gridCol w="791931">
                  <a:extLst>
                    <a:ext uri="{9D8B030D-6E8A-4147-A177-3AD203B41FA5}">
                      <a16:colId xmlns:a16="http://schemas.microsoft.com/office/drawing/2014/main" val="1198940628"/>
                    </a:ext>
                  </a:extLst>
                </a:gridCol>
                <a:gridCol w="820214">
                  <a:extLst>
                    <a:ext uri="{9D8B030D-6E8A-4147-A177-3AD203B41FA5}">
                      <a16:colId xmlns:a16="http://schemas.microsoft.com/office/drawing/2014/main" val="3367288387"/>
                    </a:ext>
                  </a:extLst>
                </a:gridCol>
                <a:gridCol w="829642">
                  <a:extLst>
                    <a:ext uri="{9D8B030D-6E8A-4147-A177-3AD203B41FA5}">
                      <a16:colId xmlns:a16="http://schemas.microsoft.com/office/drawing/2014/main" val="2857795192"/>
                    </a:ext>
                  </a:extLst>
                </a:gridCol>
                <a:gridCol w="872067">
                  <a:extLst>
                    <a:ext uri="{9D8B030D-6E8A-4147-A177-3AD203B41FA5}">
                      <a16:colId xmlns:a16="http://schemas.microsoft.com/office/drawing/2014/main" val="3505412898"/>
                    </a:ext>
                  </a:extLst>
                </a:gridCol>
                <a:gridCol w="872067">
                  <a:extLst>
                    <a:ext uri="{9D8B030D-6E8A-4147-A177-3AD203B41FA5}">
                      <a16:colId xmlns:a16="http://schemas.microsoft.com/office/drawing/2014/main" val="255521764"/>
                    </a:ext>
                  </a:extLst>
                </a:gridCol>
              </a:tblGrid>
              <a:tr h="247227">
                <a:tc>
                  <a:txBody>
                    <a:bodyPr/>
                    <a:lstStyle/>
                    <a:p>
                      <a:pPr algn="ctr"/>
                      <a:endParaRPr lang="es-CL" sz="900" dirty="0">
                        <a:latin typeface="Raleway" pitchFamily="2" charset="77"/>
                      </a:endParaRPr>
                    </a:p>
                  </a:txBody>
                  <a:tcPr marL="60960" marR="60960" marT="30480" marB="30480"/>
                </a:tc>
                <a:tc>
                  <a:txBody>
                    <a:bodyPr/>
                    <a:lstStyle/>
                    <a:p>
                      <a:pPr algn="ctr"/>
                      <a:r>
                        <a:rPr lang="es-CL" sz="900" dirty="0">
                          <a:latin typeface="Raleway" pitchFamily="2" charset="77"/>
                        </a:rPr>
                        <a:t>Año 1</a:t>
                      </a:r>
                    </a:p>
                  </a:txBody>
                  <a:tcPr marL="60960" marR="60960" marT="30480" marB="30480"/>
                </a:tc>
                <a:tc>
                  <a:txBody>
                    <a:bodyPr/>
                    <a:lstStyle/>
                    <a:p>
                      <a:pPr algn="ctr"/>
                      <a:r>
                        <a:rPr lang="es-CL" sz="900" dirty="0">
                          <a:latin typeface="Raleway" pitchFamily="2" charset="77"/>
                        </a:rPr>
                        <a:t>Año 2</a:t>
                      </a:r>
                    </a:p>
                  </a:txBody>
                  <a:tcPr marL="60960" marR="60960" marT="30480" marB="30480"/>
                </a:tc>
                <a:tc>
                  <a:txBody>
                    <a:bodyPr/>
                    <a:lstStyle/>
                    <a:p>
                      <a:pPr algn="ctr"/>
                      <a:r>
                        <a:rPr lang="es-CL" sz="900" dirty="0">
                          <a:latin typeface="Raleway" pitchFamily="2" charset="77"/>
                        </a:rPr>
                        <a:t>Año 3</a:t>
                      </a:r>
                    </a:p>
                  </a:txBody>
                  <a:tcPr marL="60960" marR="60960" marT="30480" marB="30480"/>
                </a:tc>
                <a:tc>
                  <a:txBody>
                    <a:bodyPr/>
                    <a:lstStyle/>
                    <a:p>
                      <a:pPr algn="ctr"/>
                      <a:r>
                        <a:rPr lang="es-CL" sz="900" dirty="0">
                          <a:latin typeface="Raleway" pitchFamily="2" charset="77"/>
                        </a:rPr>
                        <a:t>Año 4</a:t>
                      </a:r>
                    </a:p>
                  </a:txBody>
                  <a:tcPr marL="60960" marR="60960" marT="30480" marB="30480"/>
                </a:tc>
                <a:tc>
                  <a:txBody>
                    <a:bodyPr/>
                    <a:lstStyle/>
                    <a:p>
                      <a:pPr algn="ctr"/>
                      <a:r>
                        <a:rPr lang="es-CL" sz="900" dirty="0">
                          <a:latin typeface="Raleway" pitchFamily="2" charset="77"/>
                        </a:rPr>
                        <a:t>Año 5</a:t>
                      </a:r>
                    </a:p>
                  </a:txBody>
                  <a:tcPr marL="60960" marR="60960" marT="30480" marB="30480"/>
                </a:tc>
                <a:extLst>
                  <a:ext uri="{0D108BD9-81ED-4DB2-BD59-A6C34878D82A}">
                    <a16:rowId xmlns:a16="http://schemas.microsoft.com/office/drawing/2014/main" val="2573026374"/>
                  </a:ext>
                </a:extLst>
              </a:tr>
              <a:tr h="247227">
                <a:tc>
                  <a:txBody>
                    <a:bodyPr/>
                    <a:lstStyle/>
                    <a:p>
                      <a:pPr algn="r"/>
                      <a:r>
                        <a:rPr lang="es-CL" sz="900" dirty="0">
                          <a:latin typeface="Raleway" pitchFamily="2" charset="77"/>
                        </a:rPr>
                        <a:t>Ingresos</a:t>
                      </a:r>
                    </a:p>
                  </a:txBody>
                  <a:tcPr marL="60960" marR="60960" marT="30480" marB="30480"/>
                </a:tc>
                <a:tc>
                  <a:txBody>
                    <a:bodyPr/>
                    <a:lstStyle/>
                    <a:p>
                      <a:pPr algn="ctr"/>
                      <a:r>
                        <a:rPr lang="es-CL" sz="900" dirty="0">
                          <a:latin typeface="Raleway" pitchFamily="2" charset="77"/>
                        </a:rPr>
                        <a:t>0</a:t>
                      </a:r>
                    </a:p>
                  </a:txBody>
                  <a:tcPr marL="60960" marR="60960" marT="30480" marB="30480" anchor="ctr"/>
                </a:tc>
                <a:tc>
                  <a:txBody>
                    <a:bodyPr/>
                    <a:lstStyle/>
                    <a:p>
                      <a:pPr algn="ctr"/>
                      <a:r>
                        <a:rPr lang="es-CL" sz="900" dirty="0">
                          <a:latin typeface="Raleway" pitchFamily="2" charset="77"/>
                        </a:rPr>
                        <a:t>$1.846.845</a:t>
                      </a:r>
                    </a:p>
                  </a:txBody>
                  <a:tcPr marL="60960" marR="60960" marT="30480" marB="30480" anchor="ctr"/>
                </a:tc>
                <a:tc>
                  <a:txBody>
                    <a:bodyPr/>
                    <a:lstStyle/>
                    <a:p>
                      <a:pPr algn="ctr"/>
                      <a:r>
                        <a:rPr lang="es-CL" sz="900" dirty="0">
                          <a:latin typeface="Raleway" pitchFamily="2" charset="77"/>
                        </a:rPr>
                        <a:t>$3.822.969</a:t>
                      </a:r>
                    </a:p>
                  </a:txBody>
                  <a:tcPr marL="60960" marR="60960" marT="30480" marB="30480" anchor="ctr"/>
                </a:tc>
                <a:tc>
                  <a:txBody>
                    <a:bodyPr/>
                    <a:lstStyle/>
                    <a:p>
                      <a:pPr algn="ctr"/>
                      <a:r>
                        <a:rPr lang="es-CL" sz="900" dirty="0">
                          <a:latin typeface="Raleway" pitchFamily="2" charset="77"/>
                        </a:rPr>
                        <a:t>$9.891.931</a:t>
                      </a:r>
                    </a:p>
                  </a:txBody>
                  <a:tcPr marL="60960" marR="60960" marT="30480" marB="30480" anchor="ctr"/>
                </a:tc>
                <a:tc>
                  <a:txBody>
                    <a:bodyPr/>
                    <a:lstStyle/>
                    <a:p>
                      <a:pPr algn="ctr"/>
                      <a:r>
                        <a:rPr lang="es-CL" sz="900" dirty="0">
                          <a:latin typeface="Raleway" pitchFamily="2" charset="77"/>
                        </a:rPr>
                        <a:t>$16.381.039</a:t>
                      </a:r>
                    </a:p>
                  </a:txBody>
                  <a:tcPr marL="60960" marR="60960" marT="30480" marB="30480" anchor="ctr"/>
                </a:tc>
                <a:extLst>
                  <a:ext uri="{0D108BD9-81ED-4DB2-BD59-A6C34878D82A}">
                    <a16:rowId xmlns:a16="http://schemas.microsoft.com/office/drawing/2014/main" val="400541401"/>
                  </a:ext>
                </a:extLst>
              </a:tr>
              <a:tr h="247227">
                <a:tc>
                  <a:txBody>
                    <a:bodyPr/>
                    <a:lstStyle/>
                    <a:p>
                      <a:pPr algn="r"/>
                      <a:r>
                        <a:rPr lang="es-CL" sz="900" dirty="0">
                          <a:latin typeface="Raleway" pitchFamily="2" charset="77"/>
                        </a:rPr>
                        <a:t>N°</a:t>
                      </a:r>
                      <a:r>
                        <a:rPr lang="es-CL" sz="900" baseline="0" dirty="0">
                          <a:latin typeface="Raleway" pitchFamily="2" charset="77"/>
                        </a:rPr>
                        <a:t> Equipos</a:t>
                      </a:r>
                      <a:endParaRPr lang="es-CL" sz="900" dirty="0">
                        <a:latin typeface="Raleway" pitchFamily="2" charset="77"/>
                      </a:endParaRPr>
                    </a:p>
                  </a:txBody>
                  <a:tcPr marL="60960" marR="60960" marT="30480" marB="30480"/>
                </a:tc>
                <a:tc>
                  <a:txBody>
                    <a:bodyPr/>
                    <a:lstStyle/>
                    <a:p>
                      <a:pPr algn="ctr"/>
                      <a:r>
                        <a:rPr lang="es-CL" sz="900" baseline="0" dirty="0">
                          <a:latin typeface="Raleway" pitchFamily="2" charset="77"/>
                        </a:rPr>
                        <a:t>3 (pilotaje)</a:t>
                      </a:r>
                      <a:endParaRPr lang="es-CL" sz="900" dirty="0">
                        <a:latin typeface="Raleway" pitchFamily="2" charset="77"/>
                      </a:endParaRPr>
                    </a:p>
                  </a:txBody>
                  <a:tcPr marL="60960" marR="60960" marT="30480" marB="30480" anchor="ctr"/>
                </a:tc>
                <a:tc>
                  <a:txBody>
                    <a:bodyPr/>
                    <a:lstStyle/>
                    <a:p>
                      <a:pPr algn="ctr"/>
                      <a:r>
                        <a:rPr lang="es-CL" sz="900" baseline="0" dirty="0">
                          <a:latin typeface="Raleway" pitchFamily="2" charset="77"/>
                        </a:rPr>
                        <a:t>9 </a:t>
                      </a:r>
                      <a:r>
                        <a:rPr lang="es-CL" sz="900" dirty="0">
                          <a:latin typeface="Raleway" pitchFamily="2" charset="77"/>
                        </a:rPr>
                        <a:t>(pilotaje)</a:t>
                      </a:r>
                    </a:p>
                  </a:txBody>
                  <a:tcPr marL="60960" marR="60960" marT="30480" marB="30480" anchor="ctr"/>
                </a:tc>
                <a:tc>
                  <a:txBody>
                    <a:bodyPr/>
                    <a:lstStyle/>
                    <a:p>
                      <a:pPr algn="ctr"/>
                      <a:r>
                        <a:rPr lang="es-CL" sz="900" dirty="0">
                          <a:latin typeface="Raleway" pitchFamily="2" charset="77"/>
                        </a:rPr>
                        <a:t>9</a:t>
                      </a:r>
                    </a:p>
                  </a:txBody>
                  <a:tcPr marL="60960" marR="60960" marT="30480" marB="30480" anchor="ctr"/>
                </a:tc>
                <a:tc>
                  <a:txBody>
                    <a:bodyPr/>
                    <a:lstStyle/>
                    <a:p>
                      <a:pPr algn="ctr"/>
                      <a:r>
                        <a:rPr lang="es-CL" sz="900" dirty="0">
                          <a:latin typeface="Raleway" pitchFamily="2" charset="77"/>
                        </a:rPr>
                        <a:t>24</a:t>
                      </a:r>
                    </a:p>
                  </a:txBody>
                  <a:tcPr marL="60960" marR="60960" marT="30480" marB="30480" anchor="ctr"/>
                </a:tc>
                <a:tc>
                  <a:txBody>
                    <a:bodyPr/>
                    <a:lstStyle/>
                    <a:p>
                      <a:pPr algn="ctr"/>
                      <a:r>
                        <a:rPr lang="es-CL" sz="900" dirty="0">
                          <a:latin typeface="Raleway" pitchFamily="2" charset="77"/>
                        </a:rPr>
                        <a:t>80</a:t>
                      </a:r>
                    </a:p>
                  </a:txBody>
                  <a:tcPr marL="60960" marR="60960" marT="30480" marB="30480" anchor="ctr"/>
                </a:tc>
                <a:extLst>
                  <a:ext uri="{0D108BD9-81ED-4DB2-BD59-A6C34878D82A}">
                    <a16:rowId xmlns:a16="http://schemas.microsoft.com/office/drawing/2014/main" val="2518293857"/>
                  </a:ext>
                </a:extLst>
              </a:tr>
              <a:tr h="345440">
                <a:tc>
                  <a:txBody>
                    <a:bodyPr/>
                    <a:lstStyle/>
                    <a:p>
                      <a:pPr algn="r"/>
                      <a:r>
                        <a:rPr lang="es-CL" sz="900" dirty="0">
                          <a:latin typeface="Raleway" pitchFamily="2" charset="77"/>
                        </a:rPr>
                        <a:t>N° Clientes nacionales</a:t>
                      </a:r>
                    </a:p>
                  </a:txBody>
                  <a:tcPr marL="60960" marR="60960" marT="30480" marB="30480"/>
                </a:tc>
                <a:tc>
                  <a:txBody>
                    <a:bodyPr/>
                    <a:lstStyle/>
                    <a:p>
                      <a:pPr algn="ctr"/>
                      <a:r>
                        <a:rPr lang="es-CL" sz="900" dirty="0">
                          <a:latin typeface="Raleway" pitchFamily="2" charset="77"/>
                        </a:rPr>
                        <a:t>0</a:t>
                      </a:r>
                    </a:p>
                  </a:txBody>
                  <a:tcPr marL="60960" marR="60960" marT="30480" marB="30480" anchor="ctr"/>
                </a:tc>
                <a:tc>
                  <a:txBody>
                    <a:bodyPr/>
                    <a:lstStyle/>
                    <a:p>
                      <a:pPr algn="ctr"/>
                      <a:r>
                        <a:rPr lang="es-CL" sz="900" dirty="0">
                          <a:latin typeface="Raleway" pitchFamily="2" charset="77"/>
                        </a:rPr>
                        <a:t>0</a:t>
                      </a:r>
                    </a:p>
                  </a:txBody>
                  <a:tcPr marL="60960" marR="60960" marT="30480" marB="30480" anchor="ctr"/>
                </a:tc>
                <a:tc>
                  <a:txBody>
                    <a:bodyPr/>
                    <a:lstStyle/>
                    <a:p>
                      <a:pPr algn="ctr"/>
                      <a:r>
                        <a:rPr lang="es-CL" sz="900" dirty="0">
                          <a:latin typeface="Raleway" pitchFamily="2" charset="77"/>
                        </a:rPr>
                        <a:t>3</a:t>
                      </a:r>
                    </a:p>
                  </a:txBody>
                  <a:tcPr marL="60960" marR="60960" marT="30480" marB="30480" anchor="ctr"/>
                </a:tc>
                <a:tc>
                  <a:txBody>
                    <a:bodyPr/>
                    <a:lstStyle/>
                    <a:p>
                      <a:pPr algn="ctr"/>
                      <a:r>
                        <a:rPr lang="es-CL" sz="900" dirty="0">
                          <a:latin typeface="Raleway" pitchFamily="2" charset="77"/>
                        </a:rPr>
                        <a:t>8</a:t>
                      </a:r>
                    </a:p>
                  </a:txBody>
                  <a:tcPr marL="60960" marR="60960" marT="30480" marB="30480" anchor="ctr"/>
                </a:tc>
                <a:tc>
                  <a:txBody>
                    <a:bodyPr/>
                    <a:lstStyle/>
                    <a:p>
                      <a:pPr algn="ctr"/>
                      <a:r>
                        <a:rPr lang="es-CL" sz="900" dirty="0">
                          <a:latin typeface="Raleway" pitchFamily="2" charset="77"/>
                        </a:rPr>
                        <a:t>13</a:t>
                      </a:r>
                    </a:p>
                  </a:txBody>
                  <a:tcPr marL="60960" marR="60960" marT="30480" marB="30480" anchor="ctr"/>
                </a:tc>
                <a:extLst>
                  <a:ext uri="{0D108BD9-81ED-4DB2-BD59-A6C34878D82A}">
                    <a16:rowId xmlns:a16="http://schemas.microsoft.com/office/drawing/2014/main" val="1843125178"/>
                  </a:ext>
                </a:extLst>
              </a:tr>
              <a:tr h="345440">
                <a:tc>
                  <a:txBody>
                    <a:bodyPr/>
                    <a:lstStyle/>
                    <a:p>
                      <a:pPr algn="r"/>
                      <a:r>
                        <a:rPr lang="es-CL" sz="900" dirty="0">
                          <a:latin typeface="Raleway" pitchFamily="2" charset="77"/>
                        </a:rPr>
                        <a:t>N° Clientes Internacionales</a:t>
                      </a:r>
                    </a:p>
                  </a:txBody>
                  <a:tcPr marL="60960" marR="60960" marT="30480" marB="30480"/>
                </a:tc>
                <a:tc>
                  <a:txBody>
                    <a:bodyPr/>
                    <a:lstStyle/>
                    <a:p>
                      <a:pPr algn="ctr"/>
                      <a:r>
                        <a:rPr lang="es-CL" sz="900" dirty="0">
                          <a:latin typeface="Raleway" pitchFamily="2" charset="77"/>
                        </a:rPr>
                        <a:t>0</a:t>
                      </a:r>
                    </a:p>
                  </a:txBody>
                  <a:tcPr marL="60960" marR="60960" marT="30480" marB="30480" anchor="ctr"/>
                </a:tc>
                <a:tc>
                  <a:txBody>
                    <a:bodyPr/>
                    <a:lstStyle/>
                    <a:p>
                      <a:pPr algn="ctr"/>
                      <a:r>
                        <a:rPr lang="es-CL" sz="900" dirty="0">
                          <a:latin typeface="Raleway" pitchFamily="2" charset="77"/>
                        </a:rPr>
                        <a:t>0</a:t>
                      </a:r>
                    </a:p>
                  </a:txBody>
                  <a:tcPr marL="60960" marR="60960" marT="30480" marB="30480" anchor="ctr"/>
                </a:tc>
                <a:tc>
                  <a:txBody>
                    <a:bodyPr/>
                    <a:lstStyle/>
                    <a:p>
                      <a:pPr algn="ctr"/>
                      <a:r>
                        <a:rPr lang="es-CL" sz="900" dirty="0">
                          <a:latin typeface="Raleway" pitchFamily="2" charset="77"/>
                        </a:rPr>
                        <a:t>0</a:t>
                      </a:r>
                    </a:p>
                  </a:txBody>
                  <a:tcPr marL="60960" marR="60960" marT="30480" marB="30480" anchor="ctr"/>
                </a:tc>
                <a:tc>
                  <a:txBody>
                    <a:bodyPr/>
                    <a:lstStyle/>
                    <a:p>
                      <a:pPr algn="ctr"/>
                      <a:r>
                        <a:rPr lang="es-CL" sz="900" dirty="0">
                          <a:latin typeface="Raleway" pitchFamily="2" charset="77"/>
                        </a:rPr>
                        <a:t>0</a:t>
                      </a:r>
                    </a:p>
                  </a:txBody>
                  <a:tcPr marL="60960" marR="60960" marT="30480" marB="30480" anchor="ctr"/>
                </a:tc>
                <a:tc>
                  <a:txBody>
                    <a:bodyPr/>
                    <a:lstStyle/>
                    <a:p>
                      <a:pPr algn="ctr"/>
                      <a:r>
                        <a:rPr lang="es-CL" sz="900" dirty="0">
                          <a:latin typeface="Raleway" pitchFamily="2" charset="77"/>
                        </a:rPr>
                        <a:t>2</a:t>
                      </a:r>
                    </a:p>
                  </a:txBody>
                  <a:tcPr marL="60960" marR="60960" marT="30480" marB="30480" anchor="ctr"/>
                </a:tc>
                <a:extLst>
                  <a:ext uri="{0D108BD9-81ED-4DB2-BD59-A6C34878D82A}">
                    <a16:rowId xmlns:a16="http://schemas.microsoft.com/office/drawing/2014/main" val="3020082454"/>
                  </a:ext>
                </a:extLst>
              </a:tr>
            </a:tbl>
          </a:graphicData>
        </a:graphic>
      </p:graphicFrame>
      <p:pic>
        <p:nvPicPr>
          <p:cNvPr id="5" name="Imagen 4"/>
          <p:cNvPicPr>
            <a:picLocks noChangeAspect="1"/>
          </p:cNvPicPr>
          <p:nvPr/>
        </p:nvPicPr>
        <p:blipFill>
          <a:blip r:embed="rId5"/>
          <a:stretch>
            <a:fillRect/>
          </a:stretch>
        </p:blipFill>
        <p:spPr>
          <a:xfrm>
            <a:off x="6093346" y="2952520"/>
            <a:ext cx="5235052" cy="2920933"/>
          </a:xfrm>
          <a:prstGeom prst="rect">
            <a:avLst/>
          </a:prstGeom>
        </p:spPr>
      </p:pic>
      <p:sp>
        <p:nvSpPr>
          <p:cNvPr id="25" name="CuadroTexto 24"/>
          <p:cNvSpPr txBox="1"/>
          <p:nvPr/>
        </p:nvSpPr>
        <p:spPr>
          <a:xfrm>
            <a:off x="10871201" y="3157332"/>
            <a:ext cx="697947" cy="338554"/>
          </a:xfrm>
          <a:prstGeom prst="rect">
            <a:avLst/>
          </a:prstGeom>
          <a:noFill/>
        </p:spPr>
        <p:txBody>
          <a:bodyPr wrap="square" rtlCol="0">
            <a:spAutoFit/>
          </a:bodyPr>
          <a:lstStyle/>
          <a:p>
            <a:r>
              <a:rPr lang="es-CL" sz="800" dirty="0">
                <a:latin typeface="Avenir Next" panose="020B0503020202020204" pitchFamily="34" charset="0"/>
              </a:rPr>
              <a:t>80 equipos</a:t>
            </a:r>
          </a:p>
        </p:txBody>
      </p:sp>
      <p:sp>
        <p:nvSpPr>
          <p:cNvPr id="26" name="CuadroTexto 25"/>
          <p:cNvSpPr txBox="1"/>
          <p:nvPr/>
        </p:nvSpPr>
        <p:spPr>
          <a:xfrm>
            <a:off x="9448800" y="4089400"/>
            <a:ext cx="812800" cy="215444"/>
          </a:xfrm>
          <a:prstGeom prst="rect">
            <a:avLst/>
          </a:prstGeom>
          <a:noFill/>
        </p:spPr>
        <p:txBody>
          <a:bodyPr wrap="square" rtlCol="0">
            <a:spAutoFit/>
          </a:bodyPr>
          <a:lstStyle/>
          <a:p>
            <a:r>
              <a:rPr lang="es-CL" sz="800" dirty="0">
                <a:latin typeface="Avenir Next" panose="020B0503020202020204" pitchFamily="34" charset="0"/>
              </a:rPr>
              <a:t>24 equipos</a:t>
            </a:r>
          </a:p>
        </p:txBody>
      </p:sp>
      <p:sp>
        <p:nvSpPr>
          <p:cNvPr id="27" name="CuadroTexto 26"/>
          <p:cNvSpPr txBox="1"/>
          <p:nvPr/>
        </p:nvSpPr>
        <p:spPr>
          <a:xfrm>
            <a:off x="8659320" y="4872888"/>
            <a:ext cx="789480" cy="215444"/>
          </a:xfrm>
          <a:prstGeom prst="rect">
            <a:avLst/>
          </a:prstGeom>
          <a:noFill/>
        </p:spPr>
        <p:txBody>
          <a:bodyPr wrap="square" rtlCol="0">
            <a:spAutoFit/>
          </a:bodyPr>
          <a:lstStyle/>
          <a:p>
            <a:r>
              <a:rPr lang="es-CL" sz="800" dirty="0">
                <a:latin typeface="Avenir Next" panose="020B0503020202020204" pitchFamily="34" charset="0"/>
              </a:rPr>
              <a:t>9 equipos</a:t>
            </a:r>
          </a:p>
        </p:txBody>
      </p:sp>
      <p:sp>
        <p:nvSpPr>
          <p:cNvPr id="37" name="TextBox 10">
            <a:extLst>
              <a:ext uri="{FF2B5EF4-FFF2-40B4-BE49-F238E27FC236}">
                <a16:creationId xmlns:a16="http://schemas.microsoft.com/office/drawing/2014/main" id="{B0A34F1E-2F4A-AC5E-00C4-90841F713D78}"/>
              </a:ext>
            </a:extLst>
          </p:cNvPr>
          <p:cNvSpPr txBox="1"/>
          <p:nvPr/>
        </p:nvSpPr>
        <p:spPr>
          <a:xfrm>
            <a:off x="508001" y="330200"/>
            <a:ext cx="8151319" cy="507639"/>
          </a:xfrm>
          <a:prstGeom prst="rect">
            <a:avLst/>
          </a:prstGeom>
        </p:spPr>
        <p:txBody>
          <a:bodyPr wrap="square" lIns="0" tIns="0" rIns="0" bIns="0" rtlCol="0" anchor="t">
            <a:spAutoFit/>
          </a:bodyPr>
          <a:lstStyle/>
          <a:p>
            <a:pPr>
              <a:lnSpc>
                <a:spcPts val="4294"/>
              </a:lnSpc>
            </a:pPr>
            <a:r>
              <a:rPr lang="es-ES_tradnl" sz="3067" b="1" dirty="0">
                <a:solidFill>
                  <a:srgbClr val="000000"/>
                </a:solidFill>
                <a:latin typeface="Raleway" pitchFamily="2" charset="77"/>
                <a:ea typeface="Open Sans Bold"/>
                <a:cs typeface="Open Sans Bold"/>
                <a:sym typeface="Open Sans Bold"/>
              </a:rPr>
              <a:t>8.- Plan financiero</a:t>
            </a:r>
          </a:p>
        </p:txBody>
      </p:sp>
      <p:sp>
        <p:nvSpPr>
          <p:cNvPr id="6" name="TextBox 9">
            <a:extLst>
              <a:ext uri="{FF2B5EF4-FFF2-40B4-BE49-F238E27FC236}">
                <a16:creationId xmlns:a16="http://schemas.microsoft.com/office/drawing/2014/main" id="{98F0C968-E6AE-E1FC-D794-04EF41508296}"/>
              </a:ext>
            </a:extLst>
          </p:cNvPr>
          <p:cNvSpPr txBox="1"/>
          <p:nvPr/>
        </p:nvSpPr>
        <p:spPr>
          <a:xfrm>
            <a:off x="1066800" y="1142907"/>
            <a:ext cx="4470398" cy="3323987"/>
          </a:xfrm>
          <a:prstGeom prst="rect">
            <a:avLst/>
          </a:prstGeom>
        </p:spPr>
        <p:txBody>
          <a:bodyPr wrap="square" lIns="0" tIns="0" rIns="0" bIns="0" rtlCol="0" anchor="t">
            <a:spAutoFit/>
          </a:bodyPr>
          <a:lstStyle/>
          <a:p>
            <a:pPr algn="l"/>
            <a:r>
              <a:rPr lang="es-ES" sz="1200" dirty="0">
                <a:latin typeface="Raleway"/>
                <a:ea typeface="Raleway"/>
                <a:cs typeface="Raleway"/>
                <a:sym typeface="Raleway"/>
              </a:rPr>
              <a:t>El plan financiero considera 3 etapas, la primera de 2 años es la fase </a:t>
            </a:r>
            <a:r>
              <a:rPr lang="es-ES" sz="1200" dirty="0" err="1">
                <a:latin typeface="Raleway"/>
                <a:ea typeface="Raleway"/>
                <a:cs typeface="Raleway"/>
                <a:sym typeface="Raleway"/>
              </a:rPr>
              <a:t>seed</a:t>
            </a:r>
            <a:r>
              <a:rPr lang="es-ES" sz="1200" dirty="0">
                <a:latin typeface="Raleway"/>
                <a:ea typeface="Raleway"/>
                <a:cs typeface="Raleway"/>
                <a:sym typeface="Raleway"/>
              </a:rPr>
              <a:t>, donde lograr pasar de TRL 5 a TRL8, donde el principal desafío es levantar entre USD$ 1,8 a 2 millones de inversión, con un horizonte de 1/3 socios, 1/3 fondos públicos y 1/3 clientes. El principal indicador de salida es el éxito de los equipos en faena, con clientes donde se realizaron los pilotajes que compran los equipos (3 pilotos).</a:t>
            </a:r>
          </a:p>
          <a:p>
            <a:pPr algn="l"/>
            <a:endParaRPr lang="es-ES" sz="1200" dirty="0">
              <a:latin typeface="Raleway"/>
              <a:ea typeface="Raleway"/>
              <a:cs typeface="Raleway"/>
              <a:sym typeface="Raleway"/>
            </a:endParaRPr>
          </a:p>
          <a:p>
            <a:pPr algn="l"/>
            <a:r>
              <a:rPr lang="es-ES" sz="1200" dirty="0">
                <a:latin typeface="Raleway"/>
                <a:ea typeface="Raleway"/>
                <a:cs typeface="Raleway"/>
                <a:sym typeface="Raleway"/>
              </a:rPr>
              <a:t>Luego la fase de expansión temprana, donde se espera levantar capital por USD$ 2 millones desde inversionistas y/o socios estratégicos (con capacidad manufactura), por hasta un 30% de la empresa, donde consolidar los equipos con casos de éxito claros en buenos clientes en Chile y Perú.</a:t>
            </a:r>
          </a:p>
          <a:p>
            <a:pPr algn="l"/>
            <a:endParaRPr lang="es-ES" sz="1200" dirty="0">
              <a:latin typeface="Raleway"/>
              <a:ea typeface="Raleway"/>
              <a:cs typeface="Raleway"/>
              <a:sym typeface="Raleway"/>
            </a:endParaRPr>
          </a:p>
          <a:p>
            <a:pPr algn="l"/>
            <a:r>
              <a:rPr lang="es-ES" sz="1200" dirty="0">
                <a:latin typeface="Raleway"/>
                <a:ea typeface="Raleway"/>
                <a:cs typeface="Raleway"/>
                <a:sym typeface="Raleway"/>
              </a:rPr>
              <a:t>La tercera fase es hacer un </a:t>
            </a:r>
            <a:r>
              <a:rPr lang="es-ES" sz="1200" i="1" dirty="0" err="1">
                <a:latin typeface="Raleway"/>
                <a:ea typeface="Raleway"/>
                <a:cs typeface="Raleway"/>
                <a:sym typeface="Raleway"/>
              </a:rPr>
              <a:t>exit</a:t>
            </a:r>
            <a:r>
              <a:rPr lang="es-ES" sz="1200" dirty="0">
                <a:latin typeface="Raleway"/>
                <a:ea typeface="Raleway"/>
                <a:cs typeface="Raleway"/>
                <a:sym typeface="Raleway"/>
              </a:rPr>
              <a:t> a un fabricante de equipos a una valorización de más de USD$ 20 millones en año 2029.</a:t>
            </a:r>
          </a:p>
          <a:p>
            <a:pPr algn="l"/>
            <a:endParaRPr lang="es-ES" sz="1200" dirty="0">
              <a:latin typeface="Raleway"/>
              <a:ea typeface="Raleway"/>
              <a:cs typeface="Raleway"/>
              <a:sym typeface="Raleway"/>
            </a:endParaRPr>
          </a:p>
          <a:p>
            <a:pPr algn="l"/>
            <a:endParaRPr lang="es-CL" sz="1200" dirty="0">
              <a:latin typeface="Raleway"/>
              <a:ea typeface="Raleway"/>
              <a:cs typeface="Raleway"/>
              <a:sym typeface="Raleway"/>
            </a:endParaRPr>
          </a:p>
        </p:txBody>
      </p:sp>
      <p:sp>
        <p:nvSpPr>
          <p:cNvPr id="20" name="CuadroTexto 19">
            <a:extLst>
              <a:ext uri="{FF2B5EF4-FFF2-40B4-BE49-F238E27FC236}">
                <a16:creationId xmlns:a16="http://schemas.microsoft.com/office/drawing/2014/main" id="{6F964BDE-BBFE-D98C-1BD1-E85986ACFD06}"/>
              </a:ext>
            </a:extLst>
          </p:cNvPr>
          <p:cNvSpPr txBox="1"/>
          <p:nvPr/>
        </p:nvSpPr>
        <p:spPr>
          <a:xfrm>
            <a:off x="8839200" y="4699000"/>
            <a:ext cx="538930" cy="215444"/>
          </a:xfrm>
          <a:prstGeom prst="rect">
            <a:avLst/>
          </a:prstGeom>
          <a:noFill/>
        </p:spPr>
        <p:txBody>
          <a:bodyPr wrap="none" rtlCol="0">
            <a:spAutoFit/>
          </a:bodyPr>
          <a:lstStyle/>
          <a:p>
            <a:r>
              <a:rPr lang="es-CL" sz="800" b="1" dirty="0">
                <a:highlight>
                  <a:srgbClr val="00FFFF"/>
                </a:highlight>
                <a:latin typeface="Avenir Next" panose="020B0503020202020204" pitchFamily="34" charset="0"/>
              </a:rPr>
              <a:t>Serie A</a:t>
            </a:r>
          </a:p>
        </p:txBody>
      </p:sp>
      <p:sp>
        <p:nvSpPr>
          <p:cNvPr id="21" name="CuadroTexto 20">
            <a:extLst>
              <a:ext uri="{FF2B5EF4-FFF2-40B4-BE49-F238E27FC236}">
                <a16:creationId xmlns:a16="http://schemas.microsoft.com/office/drawing/2014/main" id="{6DEE8F82-C1EC-773B-F8E4-9B0B6832CF1E}"/>
              </a:ext>
            </a:extLst>
          </p:cNvPr>
          <p:cNvSpPr txBox="1"/>
          <p:nvPr/>
        </p:nvSpPr>
        <p:spPr>
          <a:xfrm>
            <a:off x="10341032" y="3532315"/>
            <a:ext cx="532518" cy="338554"/>
          </a:xfrm>
          <a:prstGeom prst="rect">
            <a:avLst/>
          </a:prstGeom>
          <a:noFill/>
        </p:spPr>
        <p:txBody>
          <a:bodyPr wrap="none" rtlCol="0">
            <a:spAutoFit/>
          </a:bodyPr>
          <a:lstStyle/>
          <a:p>
            <a:r>
              <a:rPr lang="es-CL" sz="800" b="1" dirty="0">
                <a:highlight>
                  <a:srgbClr val="00FFFF"/>
                </a:highlight>
                <a:latin typeface="Avenir Next" panose="020B0503020202020204" pitchFamily="34" charset="0"/>
              </a:rPr>
              <a:t>Serie B</a:t>
            </a:r>
          </a:p>
          <a:p>
            <a:r>
              <a:rPr lang="es-CL" sz="800" b="1" dirty="0">
                <a:highlight>
                  <a:srgbClr val="00FFFF"/>
                </a:highlight>
                <a:latin typeface="Avenir Next" panose="020B0503020202020204" pitchFamily="34" charset="0"/>
              </a:rPr>
              <a:t>¿</a:t>
            </a:r>
            <a:r>
              <a:rPr lang="es-CL" sz="800" b="1" dirty="0" err="1">
                <a:highlight>
                  <a:srgbClr val="00FFFF"/>
                </a:highlight>
                <a:latin typeface="Avenir Next" panose="020B0503020202020204" pitchFamily="34" charset="0"/>
              </a:rPr>
              <a:t>Exit</a:t>
            </a:r>
            <a:r>
              <a:rPr lang="es-CL" sz="800" b="1" dirty="0">
                <a:highlight>
                  <a:srgbClr val="00FFFF"/>
                </a:highlight>
                <a:latin typeface="Avenir Next" panose="020B0503020202020204" pitchFamily="34" charset="0"/>
              </a:rPr>
              <a:t>?</a:t>
            </a:r>
          </a:p>
        </p:txBody>
      </p:sp>
      <p:sp>
        <p:nvSpPr>
          <p:cNvPr id="2" name="CuadroTexto 1">
            <a:extLst>
              <a:ext uri="{FF2B5EF4-FFF2-40B4-BE49-F238E27FC236}">
                <a16:creationId xmlns:a16="http://schemas.microsoft.com/office/drawing/2014/main" id="{AA0AA5CC-0CE9-6F00-B744-8ECABB859196}"/>
              </a:ext>
            </a:extLst>
          </p:cNvPr>
          <p:cNvSpPr txBox="1"/>
          <p:nvPr/>
        </p:nvSpPr>
        <p:spPr>
          <a:xfrm>
            <a:off x="1066800" y="4274066"/>
            <a:ext cx="4470398" cy="1815882"/>
          </a:xfrm>
          <a:prstGeom prst="rect">
            <a:avLst/>
          </a:prstGeom>
          <a:noFill/>
        </p:spPr>
        <p:txBody>
          <a:bodyPr wrap="square" rtlCol="0">
            <a:spAutoFit/>
          </a:bodyPr>
          <a:lstStyle/>
          <a:p>
            <a:pPr algn="ctr"/>
            <a:r>
              <a:rPr lang="es-CL" sz="1600" b="1" i="1" dirty="0">
                <a:latin typeface="Raleway" pitchFamily="2" charset="77"/>
              </a:rPr>
              <a:t>“Es difícil asegurar un éxito de la tecnología sin una base de prueba con un producto mínimo viable –es decir, inversión notable-, que impacte y haga sentido al cliente. La máquina no se puede probar por partes (o en una cantidad no relevante) y debe ser contra el segmento de mercado objetivo”.</a:t>
            </a:r>
          </a:p>
        </p:txBody>
      </p:sp>
    </p:spTree>
    <p:extLst>
      <p:ext uri="{BB962C8B-B14F-4D97-AF65-F5344CB8AC3E}">
        <p14:creationId xmlns:p14="http://schemas.microsoft.com/office/powerpoint/2010/main" val="19982213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CB67F-DACA-E6D8-80F0-E97E8EFFF12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4120335-0EC9-EF9F-8DED-9AEA58142D8C}"/>
              </a:ext>
            </a:extLst>
          </p:cNvPr>
          <p:cNvSpPr>
            <a:spLocks noGrp="1"/>
          </p:cNvSpPr>
          <p:nvPr>
            <p:ph type="title"/>
          </p:nvPr>
        </p:nvSpPr>
        <p:spPr/>
        <p:txBody>
          <a:bodyPr/>
          <a:lstStyle/>
          <a:p>
            <a:r>
              <a:rPr lang="es-CL" b="1" dirty="0" err="1">
                <a:solidFill>
                  <a:schemeClr val="accent4"/>
                </a:solidFill>
                <a:sym typeface="Helvetica Neue" charset="0"/>
              </a:rPr>
              <a:t>Cap</a:t>
            </a:r>
            <a:r>
              <a:rPr lang="es-CL" b="1" dirty="0">
                <a:solidFill>
                  <a:schemeClr val="accent4"/>
                </a:solidFill>
                <a:sym typeface="Helvetica Neue" charset="0"/>
              </a:rPr>
              <a:t> Table</a:t>
            </a:r>
            <a:endParaRPr lang="es-CL" dirty="0">
              <a:solidFill>
                <a:schemeClr val="accent4"/>
              </a:solidFill>
            </a:endParaRPr>
          </a:p>
        </p:txBody>
      </p:sp>
      <p:pic>
        <p:nvPicPr>
          <p:cNvPr id="3" name="Imagen 2">
            <a:extLst>
              <a:ext uri="{FF2B5EF4-FFF2-40B4-BE49-F238E27FC236}">
                <a16:creationId xmlns:a16="http://schemas.microsoft.com/office/drawing/2014/main" id="{2A82592C-DAFB-EBF1-C08E-7C5A42798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765175"/>
            <a:ext cx="5437188" cy="5437188"/>
          </a:xfrm>
          <a:prstGeom prst="rect">
            <a:avLst/>
          </a:prstGeom>
        </p:spPr>
      </p:pic>
    </p:spTree>
    <p:extLst>
      <p:ext uri="{BB962C8B-B14F-4D97-AF65-F5344CB8AC3E}">
        <p14:creationId xmlns:p14="http://schemas.microsoft.com/office/powerpoint/2010/main" val="15272131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0B7E1-1F96-EFF7-F025-D02FFF1501A4}"/>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A9E52CE1-A0BB-0D5A-4BC8-D612E3EE65A3}"/>
              </a:ext>
            </a:extLst>
          </p:cNvPr>
          <p:cNvSpPr>
            <a:spLocks noGrp="1"/>
          </p:cNvSpPr>
          <p:nvPr>
            <p:ph type="title"/>
          </p:nvPr>
        </p:nvSpPr>
        <p:spPr>
          <a:xfrm>
            <a:off x="658813" y="800100"/>
            <a:ext cx="10874375" cy="550600"/>
          </a:xfrm>
        </p:spPr>
        <p:txBody>
          <a:bodyPr/>
          <a:lstStyle/>
          <a:p>
            <a:r>
              <a:rPr lang="es-CL" sz="3200" dirty="0"/>
              <a:t>El paso a paso: </a:t>
            </a:r>
            <a:r>
              <a:rPr lang="es-CL" sz="3200" dirty="0" err="1">
                <a:solidFill>
                  <a:schemeClr val="accent4"/>
                </a:solidFill>
              </a:rPr>
              <a:t>Cap</a:t>
            </a:r>
            <a:r>
              <a:rPr lang="es-CL" sz="3200" dirty="0">
                <a:solidFill>
                  <a:schemeClr val="accent4"/>
                </a:solidFill>
              </a:rPr>
              <a:t> Table</a:t>
            </a:r>
          </a:p>
        </p:txBody>
      </p:sp>
      <p:sp>
        <p:nvSpPr>
          <p:cNvPr id="2" name="CuadroTexto 1">
            <a:extLst>
              <a:ext uri="{FF2B5EF4-FFF2-40B4-BE49-F238E27FC236}">
                <a16:creationId xmlns:a16="http://schemas.microsoft.com/office/drawing/2014/main" id="{92C9CDAC-1684-9FC0-D780-B79EB9829594}"/>
              </a:ext>
            </a:extLst>
          </p:cNvPr>
          <p:cNvSpPr txBox="1"/>
          <p:nvPr/>
        </p:nvSpPr>
        <p:spPr>
          <a:xfrm>
            <a:off x="891942" y="1584404"/>
            <a:ext cx="7923446" cy="728398"/>
          </a:xfrm>
          <a:prstGeom prst="rect">
            <a:avLst/>
          </a:prstGeom>
          <a:solidFill>
            <a:schemeClr val="accent3"/>
          </a:solidFill>
          <a:ln w="28575">
            <a:solidFill>
              <a:schemeClr val="accent4"/>
            </a:solidFill>
          </a:ln>
        </p:spPr>
        <p:txBody>
          <a:bodyPr wrap="square" lIns="468000" tIns="0" bIns="0" rtlCol="0" anchor="ctr">
            <a:noAutofit/>
          </a:bodyPr>
          <a:lstStyle/>
          <a:p>
            <a:pPr lvl="0" algn="just">
              <a:defRPr/>
            </a:pPr>
            <a:r>
              <a:rPr lang="es-ES" sz="1300" b="1" dirty="0">
                <a:solidFill>
                  <a:schemeClr val="bg1"/>
                </a:solidFill>
              </a:rPr>
              <a:t>Definir el número total de acciones:</a:t>
            </a:r>
          </a:p>
          <a:p>
            <a:pPr lvl="0" algn="just">
              <a:defRPr/>
            </a:pPr>
            <a:r>
              <a:rPr lang="es-ES" sz="1300" dirty="0">
                <a:solidFill>
                  <a:schemeClr val="bg1"/>
                </a:solidFill>
              </a:rPr>
              <a:t>Decide cuántas acciones iniciales tendrá la empresa. Por lo general, se establecen números redondos como 1,000,000 acciones para facilitar los cálculos. </a:t>
            </a:r>
            <a:endParaRPr lang="es-CL" sz="1300" dirty="0">
              <a:solidFill>
                <a:schemeClr val="bg1"/>
              </a:solidFill>
            </a:endParaRPr>
          </a:p>
        </p:txBody>
      </p:sp>
      <p:sp>
        <p:nvSpPr>
          <p:cNvPr id="3" name="Rectángulo 55">
            <a:extLst>
              <a:ext uri="{FF2B5EF4-FFF2-40B4-BE49-F238E27FC236}">
                <a16:creationId xmlns:a16="http://schemas.microsoft.com/office/drawing/2014/main" id="{97A1FD62-6241-2FE8-8BF9-9935B851758D}"/>
              </a:ext>
            </a:extLst>
          </p:cNvPr>
          <p:cNvSpPr/>
          <p:nvPr/>
        </p:nvSpPr>
        <p:spPr>
          <a:xfrm>
            <a:off x="680363" y="1668135"/>
            <a:ext cx="466254" cy="446114"/>
          </a:xfrm>
          <a:prstGeom prst="ellipse">
            <a:avLst/>
          </a:prstGeom>
          <a:solidFill>
            <a:schemeClr val="accent4"/>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b="1" i="0" u="none" strike="noStrike" kern="1200" cap="none" spc="0" normalizeH="0" baseline="0" noProof="0" dirty="0">
                <a:ln>
                  <a:noFill/>
                </a:ln>
                <a:solidFill>
                  <a:schemeClr val="tx2"/>
                </a:solidFill>
                <a:effectLst/>
                <a:uLnTx/>
                <a:uFillTx/>
                <a:latin typeface="Gotham" panose="02000604030000020004" pitchFamily="50" charset="0"/>
                <a:ea typeface="+mn-ea"/>
                <a:cs typeface="+mn-cs"/>
              </a:rPr>
              <a:t>1</a:t>
            </a:r>
          </a:p>
        </p:txBody>
      </p:sp>
      <p:sp>
        <p:nvSpPr>
          <p:cNvPr id="7" name="CuadroTexto 6">
            <a:extLst>
              <a:ext uri="{FF2B5EF4-FFF2-40B4-BE49-F238E27FC236}">
                <a16:creationId xmlns:a16="http://schemas.microsoft.com/office/drawing/2014/main" id="{E954E1EF-DC6D-5000-BEA3-A4D41DEE25F8}"/>
              </a:ext>
            </a:extLst>
          </p:cNvPr>
          <p:cNvSpPr txBox="1"/>
          <p:nvPr/>
        </p:nvSpPr>
        <p:spPr>
          <a:xfrm>
            <a:off x="891942" y="2396533"/>
            <a:ext cx="7923446" cy="945383"/>
          </a:xfrm>
          <a:prstGeom prst="rect">
            <a:avLst/>
          </a:prstGeom>
          <a:solidFill>
            <a:schemeClr val="accent3"/>
          </a:solidFill>
          <a:ln w="28575">
            <a:solidFill>
              <a:schemeClr val="accent4"/>
            </a:solidFill>
          </a:ln>
        </p:spPr>
        <p:txBody>
          <a:bodyPr wrap="square" lIns="468000" tIns="0" bIns="0" rtlCol="0" anchor="ctr">
            <a:noAutofit/>
          </a:bodyPr>
          <a:lstStyle/>
          <a:p>
            <a:pPr lvl="0" algn="just">
              <a:defRPr/>
            </a:pPr>
            <a:r>
              <a:rPr lang="es-ES" sz="1300" b="1" dirty="0">
                <a:solidFill>
                  <a:schemeClr val="bg1"/>
                </a:solidFill>
              </a:rPr>
              <a:t>Identificar los tipos de accionistas:</a:t>
            </a:r>
          </a:p>
          <a:p>
            <a:pPr lvl="0" algn="just">
              <a:defRPr/>
            </a:pPr>
            <a:r>
              <a:rPr lang="es-ES" sz="1300" dirty="0">
                <a:solidFill>
                  <a:schemeClr val="bg1"/>
                </a:solidFill>
              </a:rPr>
              <a:t>Fundadores: Personas que crearon la empresa.</a:t>
            </a:r>
          </a:p>
          <a:p>
            <a:pPr lvl="0" algn="just">
              <a:defRPr/>
            </a:pPr>
            <a:r>
              <a:rPr lang="es-ES" sz="1300" dirty="0">
                <a:solidFill>
                  <a:schemeClr val="bg1"/>
                </a:solidFill>
              </a:rPr>
              <a:t>Inversores: Participantes en rondas de financiamiento (Ángel, Serie A, etc.).</a:t>
            </a:r>
          </a:p>
          <a:p>
            <a:pPr lvl="0" algn="just">
              <a:defRPr/>
            </a:pPr>
            <a:r>
              <a:rPr lang="es-ES" sz="1300" dirty="0">
                <a:solidFill>
                  <a:schemeClr val="bg1"/>
                </a:solidFill>
              </a:rPr>
              <a:t>Empleados/Stock </a:t>
            </a:r>
            <a:r>
              <a:rPr lang="es-ES" sz="1300" dirty="0" err="1">
                <a:solidFill>
                  <a:schemeClr val="bg1"/>
                </a:solidFill>
              </a:rPr>
              <a:t>Options</a:t>
            </a:r>
            <a:r>
              <a:rPr lang="es-ES" sz="1300" dirty="0">
                <a:solidFill>
                  <a:schemeClr val="bg1"/>
                </a:solidFill>
              </a:rPr>
              <a:t>: Acciones asignadas o reservadas para incentivar al equipo. </a:t>
            </a:r>
            <a:endParaRPr lang="es-CL" sz="1300" dirty="0">
              <a:solidFill>
                <a:schemeClr val="bg1"/>
              </a:solidFill>
            </a:endParaRPr>
          </a:p>
        </p:txBody>
      </p:sp>
      <p:sp>
        <p:nvSpPr>
          <p:cNvPr id="8" name="Rectángulo 55">
            <a:extLst>
              <a:ext uri="{FF2B5EF4-FFF2-40B4-BE49-F238E27FC236}">
                <a16:creationId xmlns:a16="http://schemas.microsoft.com/office/drawing/2014/main" id="{82EBBAB5-056F-9A9A-B585-592532316755}"/>
              </a:ext>
            </a:extLst>
          </p:cNvPr>
          <p:cNvSpPr/>
          <p:nvPr/>
        </p:nvSpPr>
        <p:spPr>
          <a:xfrm>
            <a:off x="680363" y="2480264"/>
            <a:ext cx="466254" cy="446114"/>
          </a:xfrm>
          <a:prstGeom prst="ellipse">
            <a:avLst/>
          </a:prstGeom>
          <a:solidFill>
            <a:schemeClr val="accent4"/>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b="1" dirty="0">
                <a:solidFill>
                  <a:schemeClr val="tx2"/>
                </a:solidFill>
                <a:latin typeface="Gotham" panose="02000604030000020004" pitchFamily="50" charset="0"/>
              </a:rPr>
              <a:t>2</a:t>
            </a:r>
            <a:endParaRPr kumimoji="0" lang="es-CL" b="1" i="0" u="none" strike="noStrike" kern="1200" cap="none" spc="0" normalizeH="0" baseline="0" noProof="0" dirty="0">
              <a:ln>
                <a:noFill/>
              </a:ln>
              <a:solidFill>
                <a:schemeClr val="tx2"/>
              </a:solidFill>
              <a:effectLst/>
              <a:uLnTx/>
              <a:uFillTx/>
              <a:latin typeface="Gotham" panose="02000604030000020004" pitchFamily="50" charset="0"/>
              <a:ea typeface="+mn-ea"/>
              <a:cs typeface="+mn-cs"/>
            </a:endParaRPr>
          </a:p>
        </p:txBody>
      </p:sp>
      <p:sp>
        <p:nvSpPr>
          <p:cNvPr id="9" name="CuadroTexto 8">
            <a:extLst>
              <a:ext uri="{FF2B5EF4-FFF2-40B4-BE49-F238E27FC236}">
                <a16:creationId xmlns:a16="http://schemas.microsoft.com/office/drawing/2014/main" id="{A37AC854-2D2E-6AD3-240C-8ECBDC1B9965}"/>
              </a:ext>
            </a:extLst>
          </p:cNvPr>
          <p:cNvSpPr txBox="1"/>
          <p:nvPr/>
        </p:nvSpPr>
        <p:spPr>
          <a:xfrm>
            <a:off x="891942" y="3428257"/>
            <a:ext cx="7923446" cy="925701"/>
          </a:xfrm>
          <a:prstGeom prst="rect">
            <a:avLst/>
          </a:prstGeom>
          <a:solidFill>
            <a:schemeClr val="accent3"/>
          </a:solidFill>
          <a:ln w="28575">
            <a:solidFill>
              <a:schemeClr val="accent4"/>
            </a:solidFill>
          </a:ln>
        </p:spPr>
        <p:txBody>
          <a:bodyPr wrap="square" lIns="468000" tIns="0" bIns="0" rtlCol="0" anchor="ctr">
            <a:noAutofit/>
          </a:bodyPr>
          <a:lstStyle/>
          <a:p>
            <a:pPr lvl="0" algn="just">
              <a:defRPr/>
            </a:pPr>
            <a:r>
              <a:rPr lang="es-ES" sz="1300" b="1" dirty="0">
                <a:solidFill>
                  <a:schemeClr val="bg1"/>
                </a:solidFill>
              </a:rPr>
              <a:t>Asignar el número de acciones y porcentaje correspondiente:</a:t>
            </a:r>
          </a:p>
          <a:p>
            <a:pPr lvl="0" algn="just">
              <a:defRPr/>
            </a:pPr>
            <a:r>
              <a:rPr lang="es-ES" sz="1300" dirty="0">
                <a:solidFill>
                  <a:schemeClr val="bg1"/>
                </a:solidFill>
              </a:rPr>
              <a:t>Divide las acciones entre los diferentes propietarios, asegurando que sumen el 100%.</a:t>
            </a:r>
          </a:p>
          <a:p>
            <a:pPr lvl="0" algn="just">
              <a:defRPr/>
            </a:pPr>
            <a:r>
              <a:rPr lang="es-ES" sz="1300" dirty="0">
                <a:solidFill>
                  <a:schemeClr val="bg1"/>
                </a:solidFill>
              </a:rPr>
              <a:t>Calcula los porcentajes dividiendo las acciones de cada grupo por el total.</a:t>
            </a:r>
            <a:endParaRPr lang="es-CL" sz="1300" dirty="0">
              <a:solidFill>
                <a:schemeClr val="bg1"/>
              </a:solidFill>
            </a:endParaRPr>
          </a:p>
        </p:txBody>
      </p:sp>
      <p:sp>
        <p:nvSpPr>
          <p:cNvPr id="10" name="Rectángulo 55">
            <a:extLst>
              <a:ext uri="{FF2B5EF4-FFF2-40B4-BE49-F238E27FC236}">
                <a16:creationId xmlns:a16="http://schemas.microsoft.com/office/drawing/2014/main" id="{AD838409-2C03-E13A-B473-07EC2ABC273C}"/>
              </a:ext>
            </a:extLst>
          </p:cNvPr>
          <p:cNvSpPr/>
          <p:nvPr/>
        </p:nvSpPr>
        <p:spPr>
          <a:xfrm>
            <a:off x="680363" y="3511989"/>
            <a:ext cx="466254" cy="446114"/>
          </a:xfrm>
          <a:prstGeom prst="ellipse">
            <a:avLst/>
          </a:prstGeom>
          <a:solidFill>
            <a:schemeClr val="accent4"/>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b="1" i="0" u="none" strike="noStrike" kern="1200" cap="none" spc="0" normalizeH="0" baseline="0" noProof="0" dirty="0">
                <a:ln>
                  <a:noFill/>
                </a:ln>
                <a:solidFill>
                  <a:schemeClr val="tx2"/>
                </a:solidFill>
                <a:effectLst/>
                <a:uLnTx/>
                <a:uFillTx/>
                <a:latin typeface="Gotham" panose="02000604030000020004" pitchFamily="50" charset="0"/>
                <a:ea typeface="+mn-ea"/>
                <a:cs typeface="+mn-cs"/>
              </a:rPr>
              <a:t>3</a:t>
            </a:r>
          </a:p>
        </p:txBody>
      </p:sp>
      <p:sp>
        <p:nvSpPr>
          <p:cNvPr id="11" name="CuadroTexto 10">
            <a:extLst>
              <a:ext uri="{FF2B5EF4-FFF2-40B4-BE49-F238E27FC236}">
                <a16:creationId xmlns:a16="http://schemas.microsoft.com/office/drawing/2014/main" id="{4536CB32-ED9A-5526-B605-A1ACF6D5D288}"/>
              </a:ext>
            </a:extLst>
          </p:cNvPr>
          <p:cNvSpPr txBox="1"/>
          <p:nvPr/>
        </p:nvSpPr>
        <p:spPr>
          <a:xfrm>
            <a:off x="891942" y="4437690"/>
            <a:ext cx="7923446" cy="1107450"/>
          </a:xfrm>
          <a:prstGeom prst="rect">
            <a:avLst/>
          </a:prstGeom>
          <a:solidFill>
            <a:schemeClr val="accent3"/>
          </a:solidFill>
          <a:ln w="28575">
            <a:solidFill>
              <a:schemeClr val="accent4"/>
            </a:solidFill>
          </a:ln>
        </p:spPr>
        <p:txBody>
          <a:bodyPr wrap="square" lIns="468000" tIns="0" bIns="0" rtlCol="0" anchor="ctr">
            <a:noAutofit/>
          </a:bodyPr>
          <a:lstStyle/>
          <a:p>
            <a:pPr lvl="0" algn="just">
              <a:defRPr/>
            </a:pPr>
            <a:r>
              <a:rPr lang="es-ES" sz="1300" b="1" dirty="0">
                <a:solidFill>
                  <a:schemeClr val="bg1"/>
                </a:solidFill>
              </a:rPr>
              <a:t>Incluir rondas de financiamiento y calcula la dilución:</a:t>
            </a:r>
          </a:p>
          <a:p>
            <a:pPr lvl="0" algn="just">
              <a:defRPr/>
            </a:pPr>
            <a:r>
              <a:rPr lang="es-ES" sz="1300" dirty="0">
                <a:solidFill>
                  <a:schemeClr val="bg1"/>
                </a:solidFill>
              </a:rPr>
              <a:t>Muestra cómo cambian las participaciones después de cada ronda de inversión.</a:t>
            </a:r>
          </a:p>
          <a:p>
            <a:pPr lvl="0" algn="just">
              <a:defRPr/>
            </a:pPr>
            <a:r>
              <a:rPr lang="es-ES" sz="1300" dirty="0">
                <a:solidFill>
                  <a:schemeClr val="bg1"/>
                </a:solidFill>
              </a:rPr>
              <a:t>Especifica la cantidad invertida y las nuevas acciones emitidas.</a:t>
            </a:r>
          </a:p>
          <a:p>
            <a:pPr lvl="0" algn="just">
              <a:defRPr/>
            </a:pPr>
            <a:r>
              <a:rPr lang="es-ES" sz="1300" dirty="0">
                <a:solidFill>
                  <a:schemeClr val="bg1"/>
                </a:solidFill>
              </a:rPr>
              <a:t>Indica cómo se reduce el porcentaje de propiedad para los fundadores y otros accionistas existentes al emitir nuevas acciones.</a:t>
            </a:r>
            <a:endParaRPr lang="es-CL" sz="1300" dirty="0">
              <a:solidFill>
                <a:schemeClr val="bg1"/>
              </a:solidFill>
            </a:endParaRPr>
          </a:p>
        </p:txBody>
      </p:sp>
      <p:sp>
        <p:nvSpPr>
          <p:cNvPr id="12" name="Rectángulo 55">
            <a:extLst>
              <a:ext uri="{FF2B5EF4-FFF2-40B4-BE49-F238E27FC236}">
                <a16:creationId xmlns:a16="http://schemas.microsoft.com/office/drawing/2014/main" id="{CBA91810-D8B5-618E-AA5E-28BB4C25CCC3}"/>
              </a:ext>
            </a:extLst>
          </p:cNvPr>
          <p:cNvSpPr/>
          <p:nvPr/>
        </p:nvSpPr>
        <p:spPr>
          <a:xfrm>
            <a:off x="680363" y="4521421"/>
            <a:ext cx="466254" cy="446114"/>
          </a:xfrm>
          <a:prstGeom prst="ellipse">
            <a:avLst/>
          </a:prstGeom>
          <a:solidFill>
            <a:schemeClr val="accent4"/>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b="1" i="0" u="none" strike="noStrike" kern="1200" cap="none" spc="0" normalizeH="0" baseline="0" noProof="0" dirty="0">
                <a:ln>
                  <a:noFill/>
                </a:ln>
                <a:solidFill>
                  <a:schemeClr val="tx2"/>
                </a:solidFill>
                <a:effectLst/>
                <a:uLnTx/>
                <a:uFillTx/>
                <a:latin typeface="Gotham" panose="02000604030000020004" pitchFamily="50" charset="0"/>
                <a:ea typeface="+mn-ea"/>
                <a:cs typeface="+mn-cs"/>
              </a:rPr>
              <a:t>4</a:t>
            </a:r>
          </a:p>
        </p:txBody>
      </p:sp>
      <p:graphicFrame>
        <p:nvGraphicFramePr>
          <p:cNvPr id="5" name="Table 21">
            <a:extLst>
              <a:ext uri="{FF2B5EF4-FFF2-40B4-BE49-F238E27FC236}">
                <a16:creationId xmlns:a16="http://schemas.microsoft.com/office/drawing/2014/main" id="{3C2E6E2B-A2FE-6276-FCC9-4FE2E3B4FE2D}"/>
              </a:ext>
            </a:extLst>
          </p:cNvPr>
          <p:cNvGraphicFramePr>
            <a:graphicFrameLocks noGrp="1"/>
          </p:cNvGraphicFramePr>
          <p:nvPr>
            <p:extLst>
              <p:ext uri="{D42A27DB-BD31-4B8C-83A1-F6EECF244321}">
                <p14:modId xmlns:p14="http://schemas.microsoft.com/office/powerpoint/2010/main" val="2065731641"/>
              </p:ext>
            </p:extLst>
          </p:nvPr>
        </p:nvGraphicFramePr>
        <p:xfrm>
          <a:off x="9026967" y="1584405"/>
          <a:ext cx="2874521" cy="3960736"/>
        </p:xfrm>
        <a:graphic>
          <a:graphicData uri="http://schemas.openxmlformats.org/drawingml/2006/table">
            <a:tbl>
              <a:tblPr firstRow="1" bandRow="1">
                <a:tableStyleId>{5C22544A-7EE6-4342-B048-85BDC9FD1C3A}</a:tableStyleId>
              </a:tblPr>
              <a:tblGrid>
                <a:gridCol w="2874521">
                  <a:extLst>
                    <a:ext uri="{9D8B030D-6E8A-4147-A177-3AD203B41FA5}">
                      <a16:colId xmlns:a16="http://schemas.microsoft.com/office/drawing/2014/main" val="1060096848"/>
                    </a:ext>
                  </a:extLst>
                </a:gridCol>
              </a:tblGrid>
              <a:tr h="294432">
                <a:tc>
                  <a:txBody>
                    <a:bodyPr/>
                    <a:lstStyle/>
                    <a:p>
                      <a:pPr algn="ctr"/>
                      <a:r>
                        <a:rPr lang="es-CL" sz="900" b="1" kern="1200" dirty="0">
                          <a:solidFill>
                            <a:schemeClr val="tx2"/>
                          </a:solidFill>
                          <a:latin typeface="+mj-lt"/>
                          <a:ea typeface="+mn-ea"/>
                          <a:cs typeface="+mn-cs"/>
                        </a:rPr>
                        <a:t>TIPS</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44814713"/>
                  </a:ext>
                </a:extLst>
              </a:tr>
              <a:tr h="3666304">
                <a:tc>
                  <a:txBody>
                    <a:bodyPr/>
                    <a:lstStyle/>
                    <a:p>
                      <a:r>
                        <a:rPr lang="es-ES" sz="1200" b="1" kern="1200" dirty="0">
                          <a:solidFill>
                            <a:schemeClr val="bg1"/>
                          </a:solidFill>
                          <a:latin typeface="+mn-lt"/>
                          <a:ea typeface="+mn-ea"/>
                          <a:cs typeface="+mn-cs"/>
                        </a:rPr>
                        <a:t>Monitoreo continuo:</a:t>
                      </a:r>
                    </a:p>
                    <a:p>
                      <a:r>
                        <a:rPr lang="es-ES" sz="1050" kern="1200" dirty="0">
                          <a:solidFill>
                            <a:schemeClr val="bg1"/>
                          </a:solidFill>
                          <a:latin typeface="+mn-lt"/>
                          <a:ea typeface="+mn-ea"/>
                          <a:cs typeface="+mn-cs"/>
                        </a:rPr>
                        <a:t>Siempre deben revisar cómo cada nueva ronda de inversión afecta la estructura de propiedad.</a:t>
                      </a:r>
                    </a:p>
                    <a:p>
                      <a:endParaRPr lang="es-ES" sz="1200" kern="1200" dirty="0">
                        <a:solidFill>
                          <a:schemeClr val="bg1"/>
                        </a:solidFill>
                        <a:latin typeface="+mn-lt"/>
                        <a:ea typeface="+mn-ea"/>
                        <a:cs typeface="+mn-cs"/>
                      </a:endParaRPr>
                    </a:p>
                    <a:p>
                      <a:r>
                        <a:rPr lang="es-ES" sz="1200" b="1" kern="1200" dirty="0">
                          <a:solidFill>
                            <a:schemeClr val="bg1"/>
                          </a:solidFill>
                          <a:latin typeface="+mn-lt"/>
                          <a:ea typeface="+mn-ea"/>
                          <a:cs typeface="+mn-cs"/>
                        </a:rPr>
                        <a:t>Stock </a:t>
                      </a:r>
                      <a:r>
                        <a:rPr lang="es-ES" sz="1200" b="1" kern="1200" dirty="0" err="1">
                          <a:solidFill>
                            <a:schemeClr val="bg1"/>
                          </a:solidFill>
                          <a:latin typeface="+mn-lt"/>
                          <a:ea typeface="+mn-ea"/>
                          <a:cs typeface="+mn-cs"/>
                        </a:rPr>
                        <a:t>Options</a:t>
                      </a:r>
                      <a:r>
                        <a:rPr lang="es-ES" sz="1200" b="1" kern="1200" dirty="0">
                          <a:solidFill>
                            <a:schemeClr val="bg1"/>
                          </a:solidFill>
                          <a:latin typeface="+mn-lt"/>
                          <a:ea typeface="+mn-ea"/>
                          <a:cs typeface="+mn-cs"/>
                        </a:rPr>
                        <a:t> para empleados: </a:t>
                      </a:r>
                    </a:p>
                    <a:p>
                      <a:r>
                        <a:rPr lang="es-ES" sz="1050" kern="1200" dirty="0">
                          <a:solidFill>
                            <a:schemeClr val="bg1"/>
                          </a:solidFill>
                          <a:latin typeface="+mn-lt"/>
                          <a:ea typeface="+mn-ea"/>
                          <a:cs typeface="+mn-cs"/>
                        </a:rPr>
                        <a:t>Son esenciales para retener talento, pero pueden diluir la participación de los fundadores.</a:t>
                      </a:r>
                    </a:p>
                    <a:p>
                      <a:endParaRPr lang="es-ES" sz="1200" kern="1200" dirty="0">
                        <a:solidFill>
                          <a:schemeClr val="bg1"/>
                        </a:solidFill>
                        <a:latin typeface="+mn-lt"/>
                        <a:ea typeface="+mn-ea"/>
                        <a:cs typeface="+mn-cs"/>
                      </a:endParaRPr>
                    </a:p>
                    <a:p>
                      <a:r>
                        <a:rPr lang="es-ES" sz="1200" kern="1200" dirty="0">
                          <a:solidFill>
                            <a:schemeClr val="bg1"/>
                          </a:solidFill>
                          <a:latin typeface="+mn-lt"/>
                          <a:ea typeface="+mn-ea"/>
                          <a:cs typeface="+mn-cs"/>
                        </a:rPr>
                        <a:t>Negociación con inversores:</a:t>
                      </a:r>
                    </a:p>
                    <a:p>
                      <a:r>
                        <a:rPr lang="es-ES" sz="1050" kern="1200" dirty="0">
                          <a:solidFill>
                            <a:schemeClr val="bg1"/>
                          </a:solidFill>
                          <a:latin typeface="+mn-lt"/>
                          <a:ea typeface="+mn-ea"/>
                          <a:cs typeface="+mn-cs"/>
                        </a:rPr>
                        <a:t>Es importante encontrar un balance entre levantar capital y mantener control sobre la empresa.</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0767193"/>
                  </a:ext>
                </a:extLst>
              </a:tr>
            </a:tbl>
          </a:graphicData>
        </a:graphic>
      </p:graphicFrame>
    </p:spTree>
    <p:extLst>
      <p:ext uri="{BB962C8B-B14F-4D97-AF65-F5344CB8AC3E}">
        <p14:creationId xmlns:p14="http://schemas.microsoft.com/office/powerpoint/2010/main" val="11490280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A06C97A-0C8E-08E2-DAE9-226AAB152A7C}"/>
              </a:ext>
            </a:extLst>
          </p:cNvPr>
          <p:cNvSpPr txBox="1"/>
          <p:nvPr/>
        </p:nvSpPr>
        <p:spPr>
          <a:xfrm>
            <a:off x="657224" y="507847"/>
            <a:ext cx="11068611" cy="523220"/>
          </a:xfrm>
          <a:prstGeom prst="rect">
            <a:avLst/>
          </a:prstGeom>
          <a:noFill/>
        </p:spPr>
        <p:txBody>
          <a:bodyPr wrap="square" rtlCol="0">
            <a:spAutoFit/>
          </a:bodyPr>
          <a:lstStyle/>
          <a:p>
            <a:r>
              <a:rPr lang="es-CL" sz="2800" b="1" dirty="0">
                <a:latin typeface="Raleway" pitchFamily="2" charset="77"/>
              </a:rPr>
              <a:t>Tabla de capitalización (</a:t>
            </a:r>
            <a:r>
              <a:rPr lang="es-CL" sz="2800" b="1" i="0" u="none" strike="noStrike" dirty="0" err="1">
                <a:solidFill>
                  <a:srgbClr val="202124"/>
                </a:solidFill>
                <a:effectLst/>
                <a:highlight>
                  <a:srgbClr val="FFFFFF"/>
                </a:highlight>
                <a:latin typeface="Raleway" pitchFamily="2" charset="77"/>
              </a:rPr>
              <a:t>cap</a:t>
            </a:r>
            <a:r>
              <a:rPr lang="es-CL" sz="2800" b="1" i="0" u="none" strike="noStrike" dirty="0">
                <a:solidFill>
                  <a:srgbClr val="202124"/>
                </a:solidFill>
                <a:effectLst/>
                <a:highlight>
                  <a:srgbClr val="FFFFFF"/>
                </a:highlight>
                <a:latin typeface="Raleway" pitchFamily="2" charset="77"/>
              </a:rPr>
              <a:t> table</a:t>
            </a:r>
            <a:r>
              <a:rPr lang="es-CL" sz="2800" b="1" dirty="0">
                <a:latin typeface="Raleway" pitchFamily="2" charset="77"/>
              </a:rPr>
              <a:t>)</a:t>
            </a:r>
          </a:p>
        </p:txBody>
      </p:sp>
      <p:sp>
        <p:nvSpPr>
          <p:cNvPr id="5" name="CuadroTexto 4">
            <a:extLst>
              <a:ext uri="{FF2B5EF4-FFF2-40B4-BE49-F238E27FC236}">
                <a16:creationId xmlns:a16="http://schemas.microsoft.com/office/drawing/2014/main" id="{B2B06B34-1E5A-2B42-67FB-E1A9D089C668}"/>
              </a:ext>
            </a:extLst>
          </p:cNvPr>
          <p:cNvSpPr txBox="1"/>
          <p:nvPr/>
        </p:nvSpPr>
        <p:spPr>
          <a:xfrm>
            <a:off x="4847044" y="6073154"/>
            <a:ext cx="3231910" cy="276999"/>
          </a:xfrm>
          <a:prstGeom prst="rect">
            <a:avLst/>
          </a:prstGeom>
          <a:noFill/>
        </p:spPr>
        <p:txBody>
          <a:bodyPr wrap="none" rtlCol="0">
            <a:spAutoFit/>
          </a:bodyPr>
          <a:lstStyle/>
          <a:p>
            <a:r>
              <a:rPr lang="es-CL" sz="1200" dirty="0">
                <a:latin typeface="Avenir Next" panose="020B0503020202020204" pitchFamily="34" charset="0"/>
              </a:rPr>
              <a:t>* Fuente: </a:t>
            </a:r>
            <a:r>
              <a:rPr lang="es-CL" sz="1200" dirty="0" err="1">
                <a:latin typeface="Avenir Next" panose="020B0503020202020204" pitchFamily="34" charset="0"/>
              </a:rPr>
              <a:t>medium.com</a:t>
            </a:r>
            <a:r>
              <a:rPr lang="es-CL" sz="1200" dirty="0">
                <a:latin typeface="Avenir Next" panose="020B0503020202020204" pitchFamily="34" charset="0"/>
              </a:rPr>
              <a:t> acceso 09/05/2024 </a:t>
            </a:r>
          </a:p>
        </p:txBody>
      </p:sp>
      <p:sp>
        <p:nvSpPr>
          <p:cNvPr id="7" name="CuadroTexto 6">
            <a:extLst>
              <a:ext uri="{FF2B5EF4-FFF2-40B4-BE49-F238E27FC236}">
                <a16:creationId xmlns:a16="http://schemas.microsoft.com/office/drawing/2014/main" id="{C97C2C59-5F23-C6E6-09AE-B48782BF54DA}"/>
              </a:ext>
            </a:extLst>
          </p:cNvPr>
          <p:cNvSpPr txBox="1"/>
          <p:nvPr/>
        </p:nvSpPr>
        <p:spPr>
          <a:xfrm>
            <a:off x="657225" y="1368053"/>
            <a:ext cx="3986213" cy="4401205"/>
          </a:xfrm>
          <a:prstGeom prst="rect">
            <a:avLst/>
          </a:prstGeom>
          <a:noFill/>
        </p:spPr>
        <p:txBody>
          <a:bodyPr wrap="square">
            <a:spAutoFit/>
          </a:bodyPr>
          <a:lstStyle/>
          <a:p>
            <a:r>
              <a:rPr lang="es-CL" sz="1400" b="0" i="0" u="none" strike="noStrike" dirty="0">
                <a:solidFill>
                  <a:srgbClr val="242424"/>
                </a:solidFill>
                <a:effectLst/>
                <a:highlight>
                  <a:srgbClr val="FFFFFF"/>
                </a:highlight>
                <a:latin typeface="Raleway" pitchFamily="2" charset="77"/>
              </a:rPr>
              <a:t>Un </a:t>
            </a:r>
            <a:r>
              <a:rPr lang="es-CL" sz="1400" b="0" i="0" u="none" strike="noStrike" dirty="0" err="1">
                <a:solidFill>
                  <a:srgbClr val="242424"/>
                </a:solidFill>
                <a:effectLst/>
                <a:highlight>
                  <a:srgbClr val="FFFFFF"/>
                </a:highlight>
                <a:latin typeface="Raleway" pitchFamily="2" charset="77"/>
              </a:rPr>
              <a:t>cap</a:t>
            </a:r>
            <a:r>
              <a:rPr lang="es-CL" sz="1400" b="0" i="0" u="none" strike="noStrike" dirty="0">
                <a:solidFill>
                  <a:srgbClr val="242424"/>
                </a:solidFill>
                <a:effectLst/>
                <a:highlight>
                  <a:srgbClr val="FFFFFF"/>
                </a:highlight>
                <a:latin typeface="Raleway" pitchFamily="2" charset="77"/>
              </a:rPr>
              <a:t> table es una hoja de cálculo que descompone quién es dueño de qué en un startup. El </a:t>
            </a:r>
            <a:r>
              <a:rPr lang="es-CL" sz="1400" b="0" i="0" u="none" strike="noStrike" dirty="0" err="1">
                <a:solidFill>
                  <a:srgbClr val="242424"/>
                </a:solidFill>
                <a:effectLst/>
                <a:highlight>
                  <a:srgbClr val="FFFFFF"/>
                </a:highlight>
                <a:latin typeface="Raleway" pitchFamily="2" charset="77"/>
              </a:rPr>
              <a:t>cap</a:t>
            </a:r>
            <a:r>
              <a:rPr lang="es-CL" sz="1400" b="0" i="0" u="none" strike="noStrike" dirty="0">
                <a:solidFill>
                  <a:srgbClr val="242424"/>
                </a:solidFill>
                <a:effectLst/>
                <a:highlight>
                  <a:srgbClr val="FFFFFF"/>
                </a:highlight>
                <a:latin typeface="Raleway" pitchFamily="2" charset="77"/>
              </a:rPr>
              <a:t> table es un ítem clave de </a:t>
            </a:r>
            <a:r>
              <a:rPr lang="es-CL" sz="1400" b="0" i="0" u="none" strike="noStrike" dirty="0" err="1">
                <a:solidFill>
                  <a:srgbClr val="242424"/>
                </a:solidFill>
                <a:effectLst/>
                <a:highlight>
                  <a:srgbClr val="FFFFFF"/>
                </a:highlight>
                <a:latin typeface="Raleway" pitchFamily="2" charset="77"/>
              </a:rPr>
              <a:t>due</a:t>
            </a:r>
            <a:r>
              <a:rPr lang="es-CL" sz="1400" b="0" i="0" u="none" strike="noStrike" dirty="0">
                <a:solidFill>
                  <a:srgbClr val="242424"/>
                </a:solidFill>
                <a:effectLst/>
                <a:highlight>
                  <a:srgbClr val="FFFFFF"/>
                </a:highlight>
                <a:latin typeface="Raleway" pitchFamily="2" charset="77"/>
              </a:rPr>
              <a:t> </a:t>
            </a:r>
            <a:r>
              <a:rPr lang="es-CL" sz="1400" b="0" i="0" u="none" strike="noStrike" dirty="0" err="1">
                <a:solidFill>
                  <a:srgbClr val="242424"/>
                </a:solidFill>
                <a:effectLst/>
                <a:highlight>
                  <a:srgbClr val="FFFFFF"/>
                </a:highlight>
                <a:latin typeface="Raleway" pitchFamily="2" charset="77"/>
              </a:rPr>
              <a:t>diligence</a:t>
            </a:r>
            <a:r>
              <a:rPr lang="es-CL" sz="1400" b="0" i="0" u="none" strike="noStrike" dirty="0">
                <a:solidFill>
                  <a:srgbClr val="242424"/>
                </a:solidFill>
                <a:effectLst/>
                <a:highlight>
                  <a:srgbClr val="FFFFFF"/>
                </a:highlight>
                <a:latin typeface="Raleway" pitchFamily="2" charset="77"/>
              </a:rPr>
              <a:t> porque revela cómo impacta a cada accionista el ingreso de financiamiento*.</a:t>
            </a:r>
          </a:p>
          <a:p>
            <a:endParaRPr lang="es-CL" sz="1400" dirty="0">
              <a:solidFill>
                <a:srgbClr val="242424"/>
              </a:solidFill>
              <a:highlight>
                <a:srgbClr val="FFFFFF"/>
              </a:highlight>
              <a:latin typeface="Raleway" pitchFamily="2" charset="77"/>
            </a:endParaRPr>
          </a:p>
          <a:p>
            <a:r>
              <a:rPr lang="es-CL" sz="1400" dirty="0">
                <a:solidFill>
                  <a:srgbClr val="242424"/>
                </a:solidFill>
                <a:highlight>
                  <a:srgbClr val="FFFFFF"/>
                </a:highlight>
                <a:latin typeface="Raleway" pitchFamily="2" charset="77"/>
              </a:rPr>
              <a:t>La tablas de capitalización dependen de negociaciones, los ingresos de capital se dan contra valorizaciones (</a:t>
            </a:r>
            <a:r>
              <a:rPr lang="es-CL" sz="1400" dirty="0" err="1">
                <a:solidFill>
                  <a:srgbClr val="242424"/>
                </a:solidFill>
                <a:highlight>
                  <a:srgbClr val="FFFFFF"/>
                </a:highlight>
                <a:latin typeface="Raleway" pitchFamily="2" charset="77"/>
              </a:rPr>
              <a:t>premoney</a:t>
            </a:r>
            <a:r>
              <a:rPr lang="es-CL" sz="1400" dirty="0">
                <a:solidFill>
                  <a:srgbClr val="242424"/>
                </a:solidFill>
                <a:highlight>
                  <a:srgbClr val="FFFFFF"/>
                </a:highlight>
                <a:latin typeface="Raleway" pitchFamily="2" charset="77"/>
              </a:rPr>
              <a:t>) y la participación lograda (</a:t>
            </a:r>
            <a:r>
              <a:rPr lang="es-CL" sz="1400" dirty="0" err="1">
                <a:solidFill>
                  <a:srgbClr val="242424"/>
                </a:solidFill>
                <a:highlight>
                  <a:srgbClr val="FFFFFF"/>
                </a:highlight>
                <a:latin typeface="Raleway" pitchFamily="2" charset="77"/>
              </a:rPr>
              <a:t>postmoney</a:t>
            </a:r>
            <a:r>
              <a:rPr lang="es-CL" sz="1400" dirty="0">
                <a:solidFill>
                  <a:srgbClr val="242424"/>
                </a:solidFill>
                <a:highlight>
                  <a:srgbClr val="FFFFFF"/>
                </a:highlight>
                <a:latin typeface="Raleway" pitchFamily="2" charset="77"/>
              </a:rPr>
              <a:t>). Entonces, los accionistas buscan altas valorizaciones para no diluirse (y correctas, pues en los contratos se fijan indicadores y premios o castigos futuros contra estos que se expresan en participación), y los entrantes, bajar las valorizaciones para tomar más participación.</a:t>
            </a:r>
          </a:p>
          <a:p>
            <a:endParaRPr lang="es-CL" sz="1400" dirty="0">
              <a:solidFill>
                <a:srgbClr val="242424"/>
              </a:solidFill>
              <a:highlight>
                <a:srgbClr val="FFFFFF"/>
              </a:highlight>
              <a:latin typeface="Raleway" pitchFamily="2" charset="77"/>
            </a:endParaRPr>
          </a:p>
          <a:p>
            <a:r>
              <a:rPr lang="es-CL" sz="1400" dirty="0">
                <a:solidFill>
                  <a:srgbClr val="242424"/>
                </a:solidFill>
                <a:highlight>
                  <a:srgbClr val="FFFFFF"/>
                </a:highlight>
                <a:latin typeface="Raleway" pitchFamily="2" charset="77"/>
              </a:rPr>
              <a:t>Las acciones se venden por número de acciones, y estás –de acuerdo al total, expresan su participación como porcentaje.</a:t>
            </a:r>
            <a:endParaRPr lang="es-CL" sz="1400" dirty="0">
              <a:latin typeface="Raleway" pitchFamily="2" charset="77"/>
            </a:endParaRPr>
          </a:p>
        </p:txBody>
      </p:sp>
      <p:pic>
        <p:nvPicPr>
          <p:cNvPr id="3" name="Imagen 2">
            <a:extLst>
              <a:ext uri="{FF2B5EF4-FFF2-40B4-BE49-F238E27FC236}">
                <a16:creationId xmlns:a16="http://schemas.microsoft.com/office/drawing/2014/main" id="{E2B7F561-F898-82FF-A30B-0F2F5FE6B0F1}"/>
              </a:ext>
            </a:extLst>
          </p:cNvPr>
          <p:cNvPicPr>
            <a:picLocks noChangeAspect="1"/>
          </p:cNvPicPr>
          <p:nvPr/>
        </p:nvPicPr>
        <p:blipFill>
          <a:blip r:embed="rId2"/>
          <a:stretch>
            <a:fillRect/>
          </a:stretch>
        </p:blipFill>
        <p:spPr>
          <a:xfrm>
            <a:off x="4847044" y="1812299"/>
            <a:ext cx="6878792" cy="2719051"/>
          </a:xfrm>
          <a:prstGeom prst="rect">
            <a:avLst/>
          </a:prstGeom>
        </p:spPr>
      </p:pic>
      <p:sp>
        <p:nvSpPr>
          <p:cNvPr id="4" name="CuadroTexto 3">
            <a:extLst>
              <a:ext uri="{FF2B5EF4-FFF2-40B4-BE49-F238E27FC236}">
                <a16:creationId xmlns:a16="http://schemas.microsoft.com/office/drawing/2014/main" id="{E89D2641-5463-9853-7D5C-54892EB439ED}"/>
              </a:ext>
            </a:extLst>
          </p:cNvPr>
          <p:cNvSpPr txBox="1"/>
          <p:nvPr/>
        </p:nvSpPr>
        <p:spPr>
          <a:xfrm>
            <a:off x="4847044" y="1368053"/>
            <a:ext cx="5572359" cy="307777"/>
          </a:xfrm>
          <a:prstGeom prst="rect">
            <a:avLst/>
          </a:prstGeom>
          <a:noFill/>
        </p:spPr>
        <p:txBody>
          <a:bodyPr wrap="none" rtlCol="0">
            <a:spAutoFit/>
          </a:bodyPr>
          <a:lstStyle/>
          <a:p>
            <a:r>
              <a:rPr lang="es-CL" sz="1400" b="1" dirty="0"/>
              <a:t>Ejemplo de tabla de capitalización y su evolución hasta serie B</a:t>
            </a:r>
          </a:p>
        </p:txBody>
      </p:sp>
      <p:sp>
        <p:nvSpPr>
          <p:cNvPr id="6" name="CuadroTexto 5">
            <a:extLst>
              <a:ext uri="{FF2B5EF4-FFF2-40B4-BE49-F238E27FC236}">
                <a16:creationId xmlns:a16="http://schemas.microsoft.com/office/drawing/2014/main" id="{4BAED3FB-E441-6C0E-DD8C-E23BF3DD4213}"/>
              </a:ext>
            </a:extLst>
          </p:cNvPr>
          <p:cNvSpPr txBox="1"/>
          <p:nvPr/>
        </p:nvSpPr>
        <p:spPr>
          <a:xfrm>
            <a:off x="4847043" y="4748254"/>
            <a:ext cx="6878791" cy="1200329"/>
          </a:xfrm>
          <a:prstGeom prst="rect">
            <a:avLst/>
          </a:prstGeom>
          <a:noFill/>
        </p:spPr>
        <p:txBody>
          <a:bodyPr wrap="square" rtlCol="0">
            <a:spAutoFit/>
          </a:bodyPr>
          <a:lstStyle/>
          <a:p>
            <a:r>
              <a:rPr lang="es-CL" sz="1200" dirty="0">
                <a:solidFill>
                  <a:srgbClr val="593BB9"/>
                </a:solidFill>
              </a:rPr>
              <a:t>La tabla de capitalización es relevante pues muestra a los accionistas y sus derechos, y da los poderes para conformar el directorio o gobierno corporativo quienes comandan la empresa (delegan en el CEO).</a:t>
            </a:r>
          </a:p>
          <a:p>
            <a:r>
              <a:rPr lang="es-CL" sz="1200" dirty="0">
                <a:solidFill>
                  <a:srgbClr val="593BB9"/>
                </a:solidFill>
              </a:rPr>
              <a:t>Las inversiones pueden ser como </a:t>
            </a:r>
            <a:r>
              <a:rPr lang="es-CL" sz="1200" i="1" dirty="0" err="1">
                <a:solidFill>
                  <a:srgbClr val="593BB9"/>
                </a:solidFill>
              </a:rPr>
              <a:t>equity</a:t>
            </a:r>
            <a:r>
              <a:rPr lang="es-CL" sz="1200" dirty="0">
                <a:solidFill>
                  <a:srgbClr val="593BB9"/>
                </a:solidFill>
              </a:rPr>
              <a:t> (participación), y esto como ”aumento de capital” o compra (</a:t>
            </a:r>
            <a:r>
              <a:rPr lang="es-CL" sz="1200" i="1" dirty="0">
                <a:solidFill>
                  <a:srgbClr val="593BB9"/>
                </a:solidFill>
              </a:rPr>
              <a:t>cash </a:t>
            </a:r>
            <a:r>
              <a:rPr lang="es-CL" sz="1200" i="1" dirty="0" err="1">
                <a:solidFill>
                  <a:srgbClr val="593BB9"/>
                </a:solidFill>
              </a:rPr>
              <a:t>out</a:t>
            </a:r>
            <a:r>
              <a:rPr lang="es-CL" sz="1200" dirty="0">
                <a:solidFill>
                  <a:srgbClr val="593BB9"/>
                </a:solidFill>
              </a:rPr>
              <a:t>). También como deuda, notas convertibles o SAFE, si es de esta forma, no tiene poder en el directorio.</a:t>
            </a:r>
          </a:p>
        </p:txBody>
      </p:sp>
    </p:spTree>
    <p:extLst>
      <p:ext uri="{BB962C8B-B14F-4D97-AF65-F5344CB8AC3E}">
        <p14:creationId xmlns:p14="http://schemas.microsoft.com/office/powerpoint/2010/main" val="26623943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2FF73-2366-8A44-42EE-C1DDB37CC893}"/>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F9D0AD68-F25B-5764-CCFF-0EB24303CC92}"/>
              </a:ext>
            </a:extLst>
          </p:cNvPr>
          <p:cNvSpPr>
            <a:spLocks noGrp="1"/>
          </p:cNvSpPr>
          <p:nvPr>
            <p:ph type="title"/>
          </p:nvPr>
        </p:nvSpPr>
        <p:spPr>
          <a:xfrm>
            <a:off x="658813" y="800100"/>
            <a:ext cx="10874375" cy="550600"/>
          </a:xfrm>
        </p:spPr>
        <p:txBody>
          <a:bodyPr/>
          <a:lstStyle/>
          <a:p>
            <a:r>
              <a:rPr lang="es-CL" sz="3200" dirty="0"/>
              <a:t>El paso a paso: </a:t>
            </a:r>
            <a:r>
              <a:rPr lang="es-CL" sz="3200" dirty="0" err="1">
                <a:solidFill>
                  <a:schemeClr val="accent4"/>
                </a:solidFill>
              </a:rPr>
              <a:t>Cap</a:t>
            </a:r>
            <a:r>
              <a:rPr lang="es-CL" sz="3200" dirty="0">
                <a:solidFill>
                  <a:schemeClr val="accent4"/>
                </a:solidFill>
              </a:rPr>
              <a:t> Table</a:t>
            </a:r>
          </a:p>
        </p:txBody>
      </p:sp>
      <p:graphicFrame>
        <p:nvGraphicFramePr>
          <p:cNvPr id="6" name="Table 21">
            <a:extLst>
              <a:ext uri="{FF2B5EF4-FFF2-40B4-BE49-F238E27FC236}">
                <a16:creationId xmlns:a16="http://schemas.microsoft.com/office/drawing/2014/main" id="{136470B5-D88D-7E29-708A-48753C92AFDB}"/>
              </a:ext>
            </a:extLst>
          </p:cNvPr>
          <p:cNvGraphicFramePr>
            <a:graphicFrameLocks noGrp="1"/>
          </p:cNvGraphicFramePr>
          <p:nvPr>
            <p:extLst>
              <p:ext uri="{D42A27DB-BD31-4B8C-83A1-F6EECF244321}">
                <p14:modId xmlns:p14="http://schemas.microsoft.com/office/powerpoint/2010/main" val="441768972"/>
              </p:ext>
            </p:extLst>
          </p:nvPr>
        </p:nvGraphicFramePr>
        <p:xfrm>
          <a:off x="8636001" y="1228807"/>
          <a:ext cx="3276600" cy="4400385"/>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1060096848"/>
                    </a:ext>
                  </a:extLst>
                </a:gridCol>
              </a:tblGrid>
              <a:tr h="327115">
                <a:tc>
                  <a:txBody>
                    <a:bodyPr/>
                    <a:lstStyle/>
                    <a:p>
                      <a:pPr algn="ctr"/>
                      <a:r>
                        <a:rPr lang="es-CL" sz="900" b="1" kern="1200" dirty="0">
                          <a:solidFill>
                            <a:schemeClr val="tx2"/>
                          </a:solidFill>
                          <a:latin typeface="+mj-lt"/>
                          <a:ea typeface="+mn-ea"/>
                          <a:cs typeface="+mn-cs"/>
                        </a:rPr>
                        <a:t>TIPS</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44814713"/>
                  </a:ext>
                </a:extLst>
              </a:tr>
              <a:tr h="4073270">
                <a:tc>
                  <a:txBody>
                    <a:bodyPr/>
                    <a:lstStyle/>
                    <a:p>
                      <a:r>
                        <a:rPr lang="es-ES" sz="1200" b="1" kern="1200" dirty="0">
                          <a:solidFill>
                            <a:schemeClr val="bg1"/>
                          </a:solidFill>
                          <a:latin typeface="+mn-lt"/>
                          <a:ea typeface="+mn-ea"/>
                          <a:cs typeface="+mn-cs"/>
                        </a:rPr>
                        <a:t>Monitoreo continuo:</a:t>
                      </a:r>
                    </a:p>
                    <a:p>
                      <a:r>
                        <a:rPr lang="es-ES" sz="1050" kern="1200" dirty="0">
                          <a:solidFill>
                            <a:schemeClr val="bg1"/>
                          </a:solidFill>
                          <a:latin typeface="+mn-lt"/>
                          <a:ea typeface="+mn-ea"/>
                          <a:cs typeface="+mn-cs"/>
                        </a:rPr>
                        <a:t>Siempre deben revisar cómo cada nueva ronda de inversión afecta la estructura de propiedad.</a:t>
                      </a:r>
                    </a:p>
                    <a:p>
                      <a:endParaRPr lang="es-ES" sz="1200" kern="1200" dirty="0">
                        <a:solidFill>
                          <a:schemeClr val="bg1"/>
                        </a:solidFill>
                        <a:latin typeface="+mn-lt"/>
                        <a:ea typeface="+mn-ea"/>
                        <a:cs typeface="+mn-cs"/>
                      </a:endParaRPr>
                    </a:p>
                    <a:p>
                      <a:r>
                        <a:rPr lang="es-ES" sz="1200" b="1" kern="1200" dirty="0">
                          <a:solidFill>
                            <a:schemeClr val="bg1"/>
                          </a:solidFill>
                          <a:latin typeface="+mn-lt"/>
                          <a:ea typeface="+mn-ea"/>
                          <a:cs typeface="+mn-cs"/>
                        </a:rPr>
                        <a:t>Stock </a:t>
                      </a:r>
                      <a:r>
                        <a:rPr lang="es-ES" sz="1200" b="1" kern="1200" dirty="0" err="1">
                          <a:solidFill>
                            <a:schemeClr val="bg1"/>
                          </a:solidFill>
                          <a:latin typeface="+mn-lt"/>
                          <a:ea typeface="+mn-ea"/>
                          <a:cs typeface="+mn-cs"/>
                        </a:rPr>
                        <a:t>Options</a:t>
                      </a:r>
                      <a:r>
                        <a:rPr lang="es-ES" sz="1200" b="1" kern="1200" dirty="0">
                          <a:solidFill>
                            <a:schemeClr val="bg1"/>
                          </a:solidFill>
                          <a:latin typeface="+mn-lt"/>
                          <a:ea typeface="+mn-ea"/>
                          <a:cs typeface="+mn-cs"/>
                        </a:rPr>
                        <a:t> para empleados: </a:t>
                      </a:r>
                    </a:p>
                    <a:p>
                      <a:r>
                        <a:rPr lang="es-ES" sz="1050" kern="1200" dirty="0">
                          <a:solidFill>
                            <a:schemeClr val="bg1"/>
                          </a:solidFill>
                          <a:latin typeface="+mn-lt"/>
                          <a:ea typeface="+mn-ea"/>
                          <a:cs typeface="+mn-cs"/>
                        </a:rPr>
                        <a:t>Son esenciales para retener talento, pero pueden diluir la participación de los fundadores.</a:t>
                      </a:r>
                    </a:p>
                    <a:p>
                      <a:endParaRPr lang="es-ES" sz="1200" kern="1200" dirty="0">
                        <a:solidFill>
                          <a:schemeClr val="bg1"/>
                        </a:solidFill>
                        <a:latin typeface="+mn-lt"/>
                        <a:ea typeface="+mn-ea"/>
                        <a:cs typeface="+mn-cs"/>
                      </a:endParaRPr>
                    </a:p>
                    <a:p>
                      <a:r>
                        <a:rPr lang="es-ES" sz="1200" kern="1200" dirty="0">
                          <a:solidFill>
                            <a:schemeClr val="bg1"/>
                          </a:solidFill>
                          <a:latin typeface="+mn-lt"/>
                          <a:ea typeface="+mn-ea"/>
                          <a:cs typeface="+mn-cs"/>
                        </a:rPr>
                        <a:t>Negociación con inversores:</a:t>
                      </a:r>
                    </a:p>
                    <a:p>
                      <a:r>
                        <a:rPr lang="es-ES" sz="1050" kern="1200" dirty="0">
                          <a:solidFill>
                            <a:schemeClr val="bg1"/>
                          </a:solidFill>
                          <a:latin typeface="+mn-lt"/>
                          <a:ea typeface="+mn-ea"/>
                          <a:cs typeface="+mn-cs"/>
                        </a:rPr>
                        <a:t>Es importante encontrar un balance entre levantar capital y mantener control sobre la empresa.</a:t>
                      </a:r>
                    </a:p>
                  </a:txBody>
                  <a:tcPr anchor="ct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2857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340767193"/>
                  </a:ext>
                </a:extLst>
              </a:tr>
            </a:tbl>
          </a:graphicData>
        </a:graphic>
      </p:graphicFrame>
      <p:graphicFrame>
        <p:nvGraphicFramePr>
          <p:cNvPr id="5" name="Tabla 4">
            <a:extLst>
              <a:ext uri="{FF2B5EF4-FFF2-40B4-BE49-F238E27FC236}">
                <a16:creationId xmlns:a16="http://schemas.microsoft.com/office/drawing/2014/main" id="{0F0FD9EF-B8AE-558A-84E8-FF3B84F13515}"/>
              </a:ext>
            </a:extLst>
          </p:cNvPr>
          <p:cNvGraphicFramePr>
            <a:graphicFrameLocks noGrp="1"/>
          </p:cNvGraphicFramePr>
          <p:nvPr>
            <p:extLst>
              <p:ext uri="{D42A27DB-BD31-4B8C-83A1-F6EECF244321}">
                <p14:modId xmlns:p14="http://schemas.microsoft.com/office/powerpoint/2010/main" val="2925554798"/>
              </p:ext>
            </p:extLst>
          </p:nvPr>
        </p:nvGraphicFramePr>
        <p:xfrm>
          <a:off x="658813" y="1880952"/>
          <a:ext cx="7483701" cy="3096096"/>
        </p:xfrm>
        <a:graphic>
          <a:graphicData uri="http://schemas.openxmlformats.org/drawingml/2006/table">
            <a:tbl>
              <a:tblPr>
                <a:tableStyleId>{37CE84F3-28C3-443E-9E96-99CF82512B78}</a:tableStyleId>
              </a:tblPr>
              <a:tblGrid>
                <a:gridCol w="1474787">
                  <a:extLst>
                    <a:ext uri="{9D8B030D-6E8A-4147-A177-3AD203B41FA5}">
                      <a16:colId xmlns:a16="http://schemas.microsoft.com/office/drawing/2014/main" val="95025464"/>
                    </a:ext>
                  </a:extLst>
                </a:gridCol>
                <a:gridCol w="1886857">
                  <a:extLst>
                    <a:ext uri="{9D8B030D-6E8A-4147-A177-3AD203B41FA5}">
                      <a16:colId xmlns:a16="http://schemas.microsoft.com/office/drawing/2014/main" val="891555825"/>
                    </a:ext>
                  </a:extLst>
                </a:gridCol>
                <a:gridCol w="1190172">
                  <a:extLst>
                    <a:ext uri="{9D8B030D-6E8A-4147-A177-3AD203B41FA5}">
                      <a16:colId xmlns:a16="http://schemas.microsoft.com/office/drawing/2014/main" val="2476042536"/>
                    </a:ext>
                  </a:extLst>
                </a:gridCol>
                <a:gridCol w="1364342">
                  <a:extLst>
                    <a:ext uri="{9D8B030D-6E8A-4147-A177-3AD203B41FA5}">
                      <a16:colId xmlns:a16="http://schemas.microsoft.com/office/drawing/2014/main" val="1931987322"/>
                    </a:ext>
                  </a:extLst>
                </a:gridCol>
                <a:gridCol w="1567543">
                  <a:extLst>
                    <a:ext uri="{9D8B030D-6E8A-4147-A177-3AD203B41FA5}">
                      <a16:colId xmlns:a16="http://schemas.microsoft.com/office/drawing/2014/main" val="2589599299"/>
                    </a:ext>
                  </a:extLst>
                </a:gridCol>
              </a:tblGrid>
              <a:tr h="488962">
                <a:tc>
                  <a:txBody>
                    <a:bodyPr/>
                    <a:lstStyle/>
                    <a:p>
                      <a:pPr algn="l" fontAlgn="b"/>
                      <a:r>
                        <a:rPr lang="es-CL" sz="1600" b="1" u="none" strike="noStrike" dirty="0">
                          <a:effectLst/>
                        </a:rPr>
                        <a:t>Nombre del accionista</a:t>
                      </a:r>
                      <a:endParaRPr lang="es-CL" sz="1600" b="1" i="0" u="none" strike="noStrike" dirty="0">
                        <a:solidFill>
                          <a:srgbClr val="FFFFFF"/>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b="1" u="none" strike="noStrike">
                          <a:effectLst/>
                        </a:rPr>
                        <a:t>Tipo de accionista</a:t>
                      </a:r>
                      <a:endParaRPr lang="es-CL" sz="1600" b="1" i="0" u="none" strike="noStrike">
                        <a:solidFill>
                          <a:srgbClr val="FFFFFF"/>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b="1" u="none" strike="noStrike" dirty="0">
                          <a:effectLst/>
                        </a:rPr>
                        <a:t>Número de acciones</a:t>
                      </a:r>
                      <a:endParaRPr lang="es-CL" sz="1600" b="1" i="0" u="none" strike="noStrike" dirty="0">
                        <a:solidFill>
                          <a:srgbClr val="FFFFFF"/>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b="1" u="none" strike="noStrike">
                          <a:effectLst/>
                        </a:rPr>
                        <a:t>Porcentaje de propiedad</a:t>
                      </a:r>
                      <a:endParaRPr lang="es-CL" sz="1600" b="1" i="0" u="none" strike="noStrike">
                        <a:solidFill>
                          <a:srgbClr val="FFFFFF"/>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b="1" u="none" strike="noStrike" dirty="0">
                          <a:effectLst/>
                        </a:rPr>
                        <a:t>Valoraciones de las acciones</a:t>
                      </a:r>
                      <a:endParaRPr lang="es-CL" sz="1600" b="1" i="0" u="none" strike="noStrike" dirty="0">
                        <a:solidFill>
                          <a:srgbClr val="FFFFFF"/>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01048819"/>
                  </a:ext>
                </a:extLst>
              </a:tr>
              <a:tr h="260614">
                <a:tc>
                  <a:txBody>
                    <a:bodyPr/>
                    <a:lstStyle/>
                    <a:p>
                      <a:pPr algn="l" fontAlgn="b"/>
                      <a:r>
                        <a:rPr lang="es-CL" sz="1600" u="none" strike="noStrike">
                          <a:effectLst/>
                        </a:rPr>
                        <a:t>Fundador 1</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u="none" strike="noStrike">
                          <a:effectLst/>
                        </a:rPr>
                        <a:t>Fundador</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2000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10%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dirty="0">
                          <a:effectLst/>
                        </a:rPr>
                        <a:t>$ 95.238 </a:t>
                      </a:r>
                      <a:endParaRPr lang="es-CL" sz="16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521931959"/>
                  </a:ext>
                </a:extLst>
              </a:tr>
              <a:tr h="260614">
                <a:tc>
                  <a:txBody>
                    <a:bodyPr/>
                    <a:lstStyle/>
                    <a:p>
                      <a:pPr algn="l" fontAlgn="b"/>
                      <a:r>
                        <a:rPr lang="es-CL" sz="1600" u="none" strike="noStrike">
                          <a:effectLst/>
                        </a:rPr>
                        <a:t>Fundador 2</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u="none" strike="noStrike">
                          <a:effectLst/>
                        </a:rPr>
                        <a:t>Fundador</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2000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10%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dirty="0">
                          <a:effectLst/>
                        </a:rPr>
                        <a:t>$ 95.238 </a:t>
                      </a:r>
                      <a:endParaRPr lang="es-CL" sz="16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48001051"/>
                  </a:ext>
                </a:extLst>
              </a:tr>
              <a:tr h="260614">
                <a:tc>
                  <a:txBody>
                    <a:bodyPr/>
                    <a:lstStyle/>
                    <a:p>
                      <a:pPr algn="l" fontAlgn="b"/>
                      <a:r>
                        <a:rPr lang="es-CL" sz="1600" u="none" strike="noStrike">
                          <a:effectLst/>
                        </a:rPr>
                        <a:t>Fundador 3</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u="none" strike="noStrike">
                          <a:effectLst/>
                        </a:rPr>
                        <a:t>Fundador</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2000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10%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dirty="0">
                          <a:effectLst/>
                        </a:rPr>
                        <a:t>$ 95.238 </a:t>
                      </a:r>
                      <a:endParaRPr lang="es-CL" sz="16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99190012"/>
                  </a:ext>
                </a:extLst>
              </a:tr>
              <a:tr h="260614">
                <a:tc>
                  <a:txBody>
                    <a:bodyPr/>
                    <a:lstStyle/>
                    <a:p>
                      <a:pPr algn="l" fontAlgn="b"/>
                      <a:r>
                        <a:rPr lang="es-CL" sz="1600" u="none" strike="noStrike">
                          <a:effectLst/>
                        </a:rPr>
                        <a:t>Fundador 4</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u="none" strike="noStrike">
                          <a:effectLst/>
                        </a:rPr>
                        <a:t>Fundador</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2000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10%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dirty="0">
                          <a:effectLst/>
                        </a:rPr>
                        <a:t>$ 95.238 </a:t>
                      </a:r>
                      <a:endParaRPr lang="es-CL" sz="16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52459769"/>
                  </a:ext>
                </a:extLst>
              </a:tr>
              <a:tr h="260614">
                <a:tc>
                  <a:txBody>
                    <a:bodyPr/>
                    <a:lstStyle/>
                    <a:p>
                      <a:pPr algn="l" fontAlgn="b"/>
                      <a:r>
                        <a:rPr lang="es-CL" sz="1600" u="none" strike="noStrike">
                          <a:effectLst/>
                        </a:rPr>
                        <a:t>Fundador 5</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u="none" strike="noStrike">
                          <a:effectLst/>
                        </a:rPr>
                        <a:t>Fundador</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2000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10%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dirty="0">
                          <a:effectLst/>
                        </a:rPr>
                        <a:t>$ 95.238 </a:t>
                      </a:r>
                      <a:endParaRPr lang="es-CL" sz="16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56325722"/>
                  </a:ext>
                </a:extLst>
              </a:tr>
              <a:tr h="260614">
                <a:tc>
                  <a:txBody>
                    <a:bodyPr/>
                    <a:lstStyle/>
                    <a:p>
                      <a:pPr algn="l" fontAlgn="b"/>
                      <a:r>
                        <a:rPr lang="es-CL" sz="1600" u="none" strike="noStrike">
                          <a:effectLst/>
                        </a:rPr>
                        <a:t>Fundador 6</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u="none" strike="noStrike">
                          <a:effectLst/>
                        </a:rPr>
                        <a:t>Fundador</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2000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10%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s-CL" sz="1600" u="none" strike="noStrike" dirty="0">
                          <a:effectLst/>
                        </a:rPr>
                        <a:t>$ 95.238 </a:t>
                      </a:r>
                      <a:endParaRPr lang="es-CL" sz="16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15689872"/>
                  </a:ext>
                </a:extLst>
              </a:tr>
              <a:tr h="260614">
                <a:tc>
                  <a:txBody>
                    <a:bodyPr/>
                    <a:lstStyle/>
                    <a:p>
                      <a:pPr algn="l" fontAlgn="b"/>
                      <a:r>
                        <a:rPr lang="es-CL" sz="1600" u="none" strike="noStrike">
                          <a:effectLst/>
                        </a:rPr>
                        <a:t>Inversionista 1</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u="none" strike="noStrike">
                          <a:effectLst/>
                        </a:rPr>
                        <a:t>Inversionista</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3000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14%</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dirty="0">
                          <a:effectLst/>
                        </a:rPr>
                        <a:t>$ 142.857 </a:t>
                      </a:r>
                      <a:endParaRPr lang="es-CL" sz="16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78352073"/>
                  </a:ext>
                </a:extLst>
              </a:tr>
              <a:tr h="260614">
                <a:tc>
                  <a:txBody>
                    <a:bodyPr/>
                    <a:lstStyle/>
                    <a:p>
                      <a:pPr algn="l" fontAlgn="b"/>
                      <a:r>
                        <a:rPr lang="es-CL" sz="1600" u="none" strike="noStrike">
                          <a:effectLst/>
                        </a:rPr>
                        <a:t>Inversionista 2</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u="none" strike="noStrike">
                          <a:effectLst/>
                        </a:rPr>
                        <a:t>Inversionista</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3000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14%</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dirty="0">
                          <a:effectLst/>
                        </a:rPr>
                        <a:t>$ 142.857 </a:t>
                      </a:r>
                      <a:endParaRPr lang="es-CL" sz="16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369421743"/>
                  </a:ext>
                </a:extLst>
              </a:tr>
              <a:tr h="260614">
                <a:tc>
                  <a:txBody>
                    <a:bodyPr/>
                    <a:lstStyle/>
                    <a:p>
                      <a:pPr algn="l" fontAlgn="b"/>
                      <a:r>
                        <a:rPr lang="es-CL" sz="1600" u="none" strike="noStrike">
                          <a:effectLst/>
                        </a:rPr>
                        <a:t>Empleado 1</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u="none" strike="noStrike">
                          <a:effectLst/>
                        </a:rPr>
                        <a:t>Empleado</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1500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7%</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dirty="0">
                          <a:effectLst/>
                        </a:rPr>
                        <a:t>$ 71.429 </a:t>
                      </a:r>
                      <a:endParaRPr lang="es-CL" sz="16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115126184"/>
                  </a:ext>
                </a:extLst>
              </a:tr>
              <a:tr h="250686">
                <a:tc>
                  <a:txBody>
                    <a:bodyPr/>
                    <a:lstStyle/>
                    <a:p>
                      <a:pPr algn="l" fontAlgn="b"/>
                      <a:r>
                        <a:rPr lang="es-CL" sz="1600" u="none" strike="noStrike">
                          <a:effectLst/>
                        </a:rPr>
                        <a:t>Empleado 2</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b"/>
                      <a:r>
                        <a:rPr lang="es-CL" sz="1600" u="none" strike="noStrike">
                          <a:effectLst/>
                        </a:rPr>
                        <a:t>Empleado</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1500</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a:effectLst/>
                        </a:rPr>
                        <a:t>7%</a:t>
                      </a:r>
                      <a:endParaRPr lang="es-CL" sz="16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r" fontAlgn="b"/>
                      <a:r>
                        <a:rPr lang="es-CL" sz="1600" u="none" strike="noStrike" dirty="0">
                          <a:effectLst/>
                        </a:rPr>
                        <a:t>$ 71.429 </a:t>
                      </a:r>
                      <a:endParaRPr lang="es-CL" sz="16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112328040"/>
                  </a:ext>
                </a:extLst>
              </a:tr>
            </a:tbl>
          </a:graphicData>
        </a:graphic>
      </p:graphicFrame>
    </p:spTree>
    <p:extLst>
      <p:ext uri="{BB962C8B-B14F-4D97-AF65-F5344CB8AC3E}">
        <p14:creationId xmlns:p14="http://schemas.microsoft.com/office/powerpoint/2010/main" val="2031646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B046203-6FE1-3D39-DB0C-38F09FA88ACE}"/>
              </a:ext>
            </a:extLst>
          </p:cNvPr>
          <p:cNvSpPr txBox="1"/>
          <p:nvPr/>
        </p:nvSpPr>
        <p:spPr>
          <a:xfrm>
            <a:off x="548640" y="491490"/>
            <a:ext cx="4710535" cy="646331"/>
          </a:xfrm>
          <a:prstGeom prst="rect">
            <a:avLst/>
          </a:prstGeom>
          <a:noFill/>
        </p:spPr>
        <p:txBody>
          <a:bodyPr wrap="square" rtlCol="0">
            <a:spAutoFit/>
          </a:bodyPr>
          <a:lstStyle/>
          <a:p>
            <a:r>
              <a:rPr lang="es-CL" dirty="0">
                <a:latin typeface="Avenir Next" panose="020B0503020202020204" pitchFamily="34" charset="0"/>
              </a:rPr>
              <a:t>Calculando valorización con multiplicador de EBIDTA entre serie A y serie B</a:t>
            </a:r>
          </a:p>
        </p:txBody>
      </p:sp>
      <p:sp>
        <p:nvSpPr>
          <p:cNvPr id="3" name="CuadroTexto 2">
            <a:extLst>
              <a:ext uri="{FF2B5EF4-FFF2-40B4-BE49-F238E27FC236}">
                <a16:creationId xmlns:a16="http://schemas.microsoft.com/office/drawing/2014/main" id="{6E87BE8B-8D2A-8030-1395-D83E142D279E}"/>
              </a:ext>
            </a:extLst>
          </p:cNvPr>
          <p:cNvSpPr txBox="1"/>
          <p:nvPr/>
        </p:nvSpPr>
        <p:spPr>
          <a:xfrm>
            <a:off x="548639" y="1207818"/>
            <a:ext cx="4514308" cy="646331"/>
          </a:xfrm>
          <a:prstGeom prst="rect">
            <a:avLst/>
          </a:prstGeom>
          <a:noFill/>
        </p:spPr>
        <p:txBody>
          <a:bodyPr wrap="square" rtlCol="0">
            <a:spAutoFit/>
          </a:bodyPr>
          <a:lstStyle/>
          <a:p>
            <a:r>
              <a:rPr lang="es-CL" sz="1200" dirty="0">
                <a:latin typeface="Avenir Next" panose="020B0503020202020204" pitchFamily="34" charset="0"/>
              </a:rPr>
              <a:t>Las discusiones sobre valorizaciones usando multiplicador de EBIDTA, implican manejar muy bien indicadores que permitan guiar a la empresa en el camino de creación de valor.</a:t>
            </a:r>
          </a:p>
        </p:txBody>
      </p:sp>
      <p:cxnSp>
        <p:nvCxnSpPr>
          <p:cNvPr id="5" name="Conector recto de flecha 4">
            <a:extLst>
              <a:ext uri="{FF2B5EF4-FFF2-40B4-BE49-F238E27FC236}">
                <a16:creationId xmlns:a16="http://schemas.microsoft.com/office/drawing/2014/main" id="{775A19AA-10E9-672B-49BF-8D6E203E09C7}"/>
              </a:ext>
            </a:extLst>
          </p:cNvPr>
          <p:cNvCxnSpPr/>
          <p:nvPr/>
        </p:nvCxnSpPr>
        <p:spPr>
          <a:xfrm flipV="1">
            <a:off x="6686550" y="1245870"/>
            <a:ext cx="0" cy="193167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ector recto de flecha 5">
            <a:extLst>
              <a:ext uri="{FF2B5EF4-FFF2-40B4-BE49-F238E27FC236}">
                <a16:creationId xmlns:a16="http://schemas.microsoft.com/office/drawing/2014/main" id="{42C6A037-8074-031F-7E29-A63292DB95E2}"/>
              </a:ext>
            </a:extLst>
          </p:cNvPr>
          <p:cNvCxnSpPr/>
          <p:nvPr/>
        </p:nvCxnSpPr>
        <p:spPr>
          <a:xfrm>
            <a:off x="6686550" y="3166110"/>
            <a:ext cx="443484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Forma libre 6">
            <a:extLst>
              <a:ext uri="{FF2B5EF4-FFF2-40B4-BE49-F238E27FC236}">
                <a16:creationId xmlns:a16="http://schemas.microsoft.com/office/drawing/2014/main" id="{CC9B4D80-87CF-1348-3F0B-01CA4A41134D}"/>
              </a:ext>
            </a:extLst>
          </p:cNvPr>
          <p:cNvSpPr/>
          <p:nvPr/>
        </p:nvSpPr>
        <p:spPr>
          <a:xfrm>
            <a:off x="6926580" y="1211580"/>
            <a:ext cx="3406140" cy="1748790"/>
          </a:xfrm>
          <a:custGeom>
            <a:avLst/>
            <a:gdLst>
              <a:gd name="connsiteX0" fmla="*/ 0 w 3406140"/>
              <a:gd name="connsiteY0" fmla="*/ 1748790 h 1748790"/>
              <a:gd name="connsiteX1" fmla="*/ 1828800 w 3406140"/>
              <a:gd name="connsiteY1" fmla="*/ 1440180 h 1748790"/>
              <a:gd name="connsiteX2" fmla="*/ 3406140 w 3406140"/>
              <a:gd name="connsiteY2" fmla="*/ 0 h 1748790"/>
            </a:gdLst>
            <a:ahLst/>
            <a:cxnLst>
              <a:cxn ang="0">
                <a:pos x="connsiteX0" y="connsiteY0"/>
              </a:cxn>
              <a:cxn ang="0">
                <a:pos x="connsiteX1" y="connsiteY1"/>
              </a:cxn>
              <a:cxn ang="0">
                <a:pos x="connsiteX2" y="connsiteY2"/>
              </a:cxn>
            </a:cxnLst>
            <a:rect l="l" t="t" r="r" b="b"/>
            <a:pathLst>
              <a:path w="3406140" h="1748790">
                <a:moveTo>
                  <a:pt x="0" y="1748790"/>
                </a:moveTo>
                <a:cubicBezTo>
                  <a:pt x="630555" y="1740217"/>
                  <a:pt x="1261110" y="1731645"/>
                  <a:pt x="1828800" y="1440180"/>
                </a:cubicBezTo>
                <a:cubicBezTo>
                  <a:pt x="2396490" y="1148715"/>
                  <a:pt x="2901315" y="574357"/>
                  <a:pt x="340614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8" name="Conector recto 7">
            <a:extLst>
              <a:ext uri="{FF2B5EF4-FFF2-40B4-BE49-F238E27FC236}">
                <a16:creationId xmlns:a16="http://schemas.microsoft.com/office/drawing/2014/main" id="{3E0F8F88-A99C-7697-1B52-1CFD5AB7A38F}"/>
              </a:ext>
            </a:extLst>
          </p:cNvPr>
          <p:cNvCxnSpPr/>
          <p:nvPr/>
        </p:nvCxnSpPr>
        <p:spPr>
          <a:xfrm>
            <a:off x="7669530" y="2331720"/>
            <a:ext cx="0" cy="845820"/>
          </a:xfrm>
          <a:prstGeom prst="line">
            <a:avLst/>
          </a:prstGeom>
          <a:ln w="6350">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9" name="Conector recto 8">
            <a:extLst>
              <a:ext uri="{FF2B5EF4-FFF2-40B4-BE49-F238E27FC236}">
                <a16:creationId xmlns:a16="http://schemas.microsoft.com/office/drawing/2014/main" id="{89C271FD-76B9-1A65-45BD-6F2D7DEB26D4}"/>
              </a:ext>
            </a:extLst>
          </p:cNvPr>
          <p:cNvCxnSpPr>
            <a:cxnSpLocks/>
          </p:cNvCxnSpPr>
          <p:nvPr/>
        </p:nvCxnSpPr>
        <p:spPr>
          <a:xfrm>
            <a:off x="9102090" y="1885950"/>
            <a:ext cx="0" cy="1283970"/>
          </a:xfrm>
          <a:prstGeom prst="line">
            <a:avLst/>
          </a:prstGeom>
          <a:ln w="6350">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CuadroTexto 9">
            <a:extLst>
              <a:ext uri="{FF2B5EF4-FFF2-40B4-BE49-F238E27FC236}">
                <a16:creationId xmlns:a16="http://schemas.microsoft.com/office/drawing/2014/main" id="{DEF8C2D0-3DB7-DC51-F418-50C3C3BCA3B9}"/>
              </a:ext>
            </a:extLst>
          </p:cNvPr>
          <p:cNvSpPr txBox="1"/>
          <p:nvPr/>
        </p:nvSpPr>
        <p:spPr>
          <a:xfrm>
            <a:off x="7406640" y="3246120"/>
            <a:ext cx="566181" cy="246221"/>
          </a:xfrm>
          <a:prstGeom prst="rect">
            <a:avLst/>
          </a:prstGeom>
          <a:noFill/>
        </p:spPr>
        <p:txBody>
          <a:bodyPr wrap="none" rtlCol="0">
            <a:spAutoFit/>
          </a:bodyPr>
          <a:lstStyle/>
          <a:p>
            <a:r>
              <a:rPr lang="es-CL" sz="1000" dirty="0"/>
              <a:t>Serie A</a:t>
            </a:r>
          </a:p>
        </p:txBody>
      </p:sp>
      <p:sp>
        <p:nvSpPr>
          <p:cNvPr id="11" name="CuadroTexto 10">
            <a:extLst>
              <a:ext uri="{FF2B5EF4-FFF2-40B4-BE49-F238E27FC236}">
                <a16:creationId xmlns:a16="http://schemas.microsoft.com/office/drawing/2014/main" id="{560E353B-5C0E-5F7F-4DD6-123040C85E1A}"/>
              </a:ext>
            </a:extLst>
          </p:cNvPr>
          <p:cNvSpPr txBox="1"/>
          <p:nvPr/>
        </p:nvSpPr>
        <p:spPr>
          <a:xfrm>
            <a:off x="8816340" y="3249930"/>
            <a:ext cx="567784" cy="246221"/>
          </a:xfrm>
          <a:prstGeom prst="rect">
            <a:avLst/>
          </a:prstGeom>
          <a:noFill/>
        </p:spPr>
        <p:txBody>
          <a:bodyPr wrap="none" rtlCol="0">
            <a:spAutoFit/>
          </a:bodyPr>
          <a:lstStyle/>
          <a:p>
            <a:r>
              <a:rPr lang="es-CL" sz="1000" dirty="0"/>
              <a:t>Serie B</a:t>
            </a:r>
          </a:p>
        </p:txBody>
      </p:sp>
      <p:sp>
        <p:nvSpPr>
          <p:cNvPr id="12" name="CuadroTexto 11">
            <a:extLst>
              <a:ext uri="{FF2B5EF4-FFF2-40B4-BE49-F238E27FC236}">
                <a16:creationId xmlns:a16="http://schemas.microsoft.com/office/drawing/2014/main" id="{6C5EF0FC-FA75-564F-27C8-E697A872D093}"/>
              </a:ext>
            </a:extLst>
          </p:cNvPr>
          <p:cNvSpPr txBox="1"/>
          <p:nvPr/>
        </p:nvSpPr>
        <p:spPr>
          <a:xfrm>
            <a:off x="7440963" y="3579970"/>
            <a:ext cx="1943161" cy="246221"/>
          </a:xfrm>
          <a:prstGeom prst="rect">
            <a:avLst/>
          </a:prstGeom>
          <a:noFill/>
        </p:spPr>
        <p:txBody>
          <a:bodyPr wrap="none" rtlCol="0">
            <a:spAutoFit/>
          </a:bodyPr>
          <a:lstStyle/>
          <a:p>
            <a:r>
              <a:rPr lang="es-CL" sz="1000" i="1" dirty="0">
                <a:solidFill>
                  <a:srgbClr val="0070C0"/>
                </a:solidFill>
                <a:latin typeface="Ink Free" panose="03080402000500000000" pitchFamily="66" charset="0"/>
              </a:rPr>
              <a:t>Tiempo que debe durar el capital</a:t>
            </a:r>
          </a:p>
        </p:txBody>
      </p:sp>
      <p:cxnSp>
        <p:nvCxnSpPr>
          <p:cNvPr id="13" name="Conector recto 12">
            <a:extLst>
              <a:ext uri="{FF2B5EF4-FFF2-40B4-BE49-F238E27FC236}">
                <a16:creationId xmlns:a16="http://schemas.microsoft.com/office/drawing/2014/main" id="{B033EDC6-D956-C2C6-A4B4-6AA4556F8D3D}"/>
              </a:ext>
            </a:extLst>
          </p:cNvPr>
          <p:cNvCxnSpPr>
            <a:cxnSpLocks/>
          </p:cNvCxnSpPr>
          <p:nvPr/>
        </p:nvCxnSpPr>
        <p:spPr>
          <a:xfrm>
            <a:off x="7689731" y="3515201"/>
            <a:ext cx="1410501" cy="0"/>
          </a:xfrm>
          <a:prstGeom prst="line">
            <a:avLst/>
          </a:prstGeom>
        </p:spPr>
        <p:style>
          <a:lnRef idx="2">
            <a:schemeClr val="dk1"/>
          </a:lnRef>
          <a:fillRef idx="0">
            <a:schemeClr val="dk1"/>
          </a:fillRef>
          <a:effectRef idx="1">
            <a:schemeClr val="dk1"/>
          </a:effectRef>
          <a:fontRef idx="minor">
            <a:schemeClr val="tx1"/>
          </a:fontRef>
        </p:style>
      </p:cxnSp>
      <p:sp>
        <p:nvSpPr>
          <p:cNvPr id="4" name="CuadroTexto 3">
            <a:extLst>
              <a:ext uri="{FF2B5EF4-FFF2-40B4-BE49-F238E27FC236}">
                <a16:creationId xmlns:a16="http://schemas.microsoft.com/office/drawing/2014/main" id="{B9D11C7D-6FB7-8879-3885-A7958371C932}"/>
              </a:ext>
            </a:extLst>
          </p:cNvPr>
          <p:cNvSpPr txBox="1"/>
          <p:nvPr/>
        </p:nvSpPr>
        <p:spPr>
          <a:xfrm>
            <a:off x="7234005" y="1950959"/>
            <a:ext cx="718466" cy="246221"/>
          </a:xfrm>
          <a:prstGeom prst="rect">
            <a:avLst/>
          </a:prstGeom>
          <a:noFill/>
        </p:spPr>
        <p:txBody>
          <a:bodyPr wrap="none" rtlCol="0">
            <a:spAutoFit/>
          </a:bodyPr>
          <a:lstStyle/>
          <a:p>
            <a:r>
              <a:rPr lang="es-CL" sz="1000" b="1" dirty="0"/>
              <a:t>EBITDA A</a:t>
            </a:r>
          </a:p>
        </p:txBody>
      </p:sp>
      <p:sp>
        <p:nvSpPr>
          <p:cNvPr id="14" name="CuadroTexto 13">
            <a:extLst>
              <a:ext uri="{FF2B5EF4-FFF2-40B4-BE49-F238E27FC236}">
                <a16:creationId xmlns:a16="http://schemas.microsoft.com/office/drawing/2014/main" id="{0D0233FD-ECAE-13B1-9F3C-263FCBB6796E}"/>
              </a:ext>
            </a:extLst>
          </p:cNvPr>
          <p:cNvSpPr txBox="1"/>
          <p:nvPr/>
        </p:nvSpPr>
        <p:spPr>
          <a:xfrm>
            <a:off x="8816586" y="1651327"/>
            <a:ext cx="718466" cy="246221"/>
          </a:xfrm>
          <a:prstGeom prst="rect">
            <a:avLst/>
          </a:prstGeom>
          <a:noFill/>
        </p:spPr>
        <p:txBody>
          <a:bodyPr wrap="none" rtlCol="0">
            <a:spAutoFit/>
          </a:bodyPr>
          <a:lstStyle/>
          <a:p>
            <a:r>
              <a:rPr lang="es-CL" sz="1000" b="1" dirty="0"/>
              <a:t>EBITDA B</a:t>
            </a:r>
          </a:p>
        </p:txBody>
      </p:sp>
      <p:grpSp>
        <p:nvGrpSpPr>
          <p:cNvPr id="15" name="Grupo 14">
            <a:extLst>
              <a:ext uri="{FF2B5EF4-FFF2-40B4-BE49-F238E27FC236}">
                <a16:creationId xmlns:a16="http://schemas.microsoft.com/office/drawing/2014/main" id="{E002CC2A-4409-7F8F-81F6-1EB5195EDCFA}"/>
              </a:ext>
            </a:extLst>
          </p:cNvPr>
          <p:cNvGrpSpPr/>
          <p:nvPr/>
        </p:nvGrpSpPr>
        <p:grpSpPr>
          <a:xfrm>
            <a:off x="617219" y="2964682"/>
            <a:ext cx="2663405" cy="916841"/>
            <a:chOff x="548639" y="1815464"/>
            <a:chExt cx="2663405" cy="916841"/>
          </a:xfrm>
        </p:grpSpPr>
        <p:sp>
          <p:nvSpPr>
            <p:cNvPr id="17" name="CuadroTexto 16">
              <a:extLst>
                <a:ext uri="{FF2B5EF4-FFF2-40B4-BE49-F238E27FC236}">
                  <a16:creationId xmlns:a16="http://schemas.microsoft.com/office/drawing/2014/main" id="{1132F81E-57B1-3521-53D4-BE91CCB377BE}"/>
                </a:ext>
              </a:extLst>
            </p:cNvPr>
            <p:cNvSpPr txBox="1"/>
            <p:nvPr/>
          </p:nvSpPr>
          <p:spPr>
            <a:xfrm>
              <a:off x="548639" y="1830986"/>
              <a:ext cx="1013425" cy="584775"/>
            </a:xfrm>
            <a:prstGeom prst="rect">
              <a:avLst/>
            </a:prstGeom>
            <a:noFill/>
          </p:spPr>
          <p:txBody>
            <a:bodyPr wrap="square" rtlCol="0">
              <a:spAutoFit/>
            </a:bodyPr>
            <a:lstStyle/>
            <a:p>
              <a:pPr algn="ctr"/>
              <a:r>
                <a:rPr lang="es-CL" sz="1200" b="1" dirty="0"/>
                <a:t>EBIDTA A</a:t>
              </a:r>
              <a:r>
                <a:rPr lang="es-CL" sz="1200" dirty="0"/>
                <a:t> =</a:t>
              </a:r>
            </a:p>
            <a:p>
              <a:pPr algn="ctr"/>
              <a:r>
                <a:rPr lang="es-CL" sz="1000" dirty="0"/>
                <a:t>% respecto de ingreso</a:t>
              </a:r>
            </a:p>
          </p:txBody>
        </p:sp>
        <p:sp>
          <p:nvSpPr>
            <p:cNvPr id="18" name="CuadroTexto 17">
              <a:extLst>
                <a:ext uri="{FF2B5EF4-FFF2-40B4-BE49-F238E27FC236}">
                  <a16:creationId xmlns:a16="http://schemas.microsoft.com/office/drawing/2014/main" id="{A9B654C9-5DE3-DBA1-CDB4-3EDA7CCE1028}"/>
                </a:ext>
              </a:extLst>
            </p:cNvPr>
            <p:cNvSpPr txBox="1"/>
            <p:nvPr/>
          </p:nvSpPr>
          <p:spPr>
            <a:xfrm>
              <a:off x="1562065" y="1815464"/>
              <a:ext cx="1485791" cy="276999"/>
            </a:xfrm>
            <a:prstGeom prst="rect">
              <a:avLst/>
            </a:prstGeom>
            <a:noFill/>
          </p:spPr>
          <p:txBody>
            <a:bodyPr wrap="none" rtlCol="0">
              <a:spAutoFit/>
            </a:bodyPr>
            <a:lstStyle/>
            <a:p>
              <a:r>
                <a:rPr lang="es-CL" sz="1200" dirty="0"/>
                <a:t>+ Ingresos (P</a:t>
              </a:r>
              <a:r>
                <a:rPr lang="es-CL" sz="1200" baseline="-25000" dirty="0"/>
                <a:t>0</a:t>
              </a:r>
              <a:r>
                <a:rPr lang="es-CL" sz="1200" dirty="0"/>
                <a:t> * Q</a:t>
              </a:r>
              <a:r>
                <a:rPr lang="es-CL" sz="1200" baseline="-25000" dirty="0"/>
                <a:t>0</a:t>
              </a:r>
              <a:r>
                <a:rPr lang="es-CL" sz="1200" dirty="0"/>
                <a:t>)</a:t>
              </a:r>
            </a:p>
          </p:txBody>
        </p:sp>
        <p:sp>
          <p:nvSpPr>
            <p:cNvPr id="19" name="CuadroTexto 18">
              <a:extLst>
                <a:ext uri="{FF2B5EF4-FFF2-40B4-BE49-F238E27FC236}">
                  <a16:creationId xmlns:a16="http://schemas.microsoft.com/office/drawing/2014/main" id="{A51DE5A1-590A-68A2-1CBD-C234CE09E8C8}"/>
                </a:ext>
              </a:extLst>
            </p:cNvPr>
            <p:cNvSpPr txBox="1"/>
            <p:nvPr/>
          </p:nvSpPr>
          <p:spPr>
            <a:xfrm>
              <a:off x="1562064" y="2135385"/>
              <a:ext cx="800155" cy="276999"/>
            </a:xfrm>
            <a:prstGeom prst="rect">
              <a:avLst/>
            </a:prstGeom>
            <a:noFill/>
          </p:spPr>
          <p:txBody>
            <a:bodyPr wrap="none" rtlCol="0">
              <a:spAutoFit/>
            </a:bodyPr>
            <a:lstStyle/>
            <a:p>
              <a:r>
                <a:rPr lang="es-CL" sz="1200" dirty="0"/>
                <a:t>- GAV (%)</a:t>
              </a:r>
            </a:p>
          </p:txBody>
        </p:sp>
        <p:sp>
          <p:nvSpPr>
            <p:cNvPr id="20" name="CuadroTexto 19">
              <a:extLst>
                <a:ext uri="{FF2B5EF4-FFF2-40B4-BE49-F238E27FC236}">
                  <a16:creationId xmlns:a16="http://schemas.microsoft.com/office/drawing/2014/main" id="{33974C3A-34D3-0D1D-7B25-F8136ED502E0}"/>
                </a:ext>
              </a:extLst>
            </p:cNvPr>
            <p:cNvSpPr txBox="1"/>
            <p:nvPr/>
          </p:nvSpPr>
          <p:spPr>
            <a:xfrm>
              <a:off x="1566850" y="2455306"/>
              <a:ext cx="1645194" cy="276999"/>
            </a:xfrm>
            <a:prstGeom prst="rect">
              <a:avLst/>
            </a:prstGeom>
            <a:noFill/>
          </p:spPr>
          <p:txBody>
            <a:bodyPr wrap="none" rtlCol="0">
              <a:spAutoFit/>
            </a:bodyPr>
            <a:lstStyle/>
            <a:p>
              <a:r>
                <a:rPr lang="es-CL" sz="1200" dirty="0"/>
                <a:t>- Costos de operación</a:t>
              </a:r>
            </a:p>
          </p:txBody>
        </p:sp>
      </p:grpSp>
      <p:sp>
        <p:nvSpPr>
          <p:cNvPr id="21" name="CuadroTexto 20">
            <a:extLst>
              <a:ext uri="{FF2B5EF4-FFF2-40B4-BE49-F238E27FC236}">
                <a16:creationId xmlns:a16="http://schemas.microsoft.com/office/drawing/2014/main" id="{DA5EB0F5-9028-3D98-30F9-E8900D9BE5A4}"/>
              </a:ext>
            </a:extLst>
          </p:cNvPr>
          <p:cNvSpPr txBox="1"/>
          <p:nvPr/>
        </p:nvSpPr>
        <p:spPr>
          <a:xfrm>
            <a:off x="3628405" y="2466727"/>
            <a:ext cx="2797561" cy="600164"/>
          </a:xfrm>
          <a:prstGeom prst="rect">
            <a:avLst/>
          </a:prstGeom>
          <a:noFill/>
        </p:spPr>
        <p:txBody>
          <a:bodyPr wrap="none" rtlCol="0">
            <a:spAutoFit/>
          </a:bodyPr>
          <a:lstStyle/>
          <a:p>
            <a:r>
              <a:rPr lang="es-CL" sz="1100" dirty="0">
                <a:solidFill>
                  <a:srgbClr val="0070C0"/>
                </a:solidFill>
                <a:latin typeface="Ink Free" panose="03080402000500000000" pitchFamily="66" charset="0"/>
              </a:rPr>
              <a:t>+ Cantidad, indicador de ingreso</a:t>
            </a:r>
          </a:p>
          <a:p>
            <a:r>
              <a:rPr lang="es-CL" sz="1100" dirty="0">
                <a:solidFill>
                  <a:srgbClr val="0070C0"/>
                </a:solidFill>
                <a:latin typeface="Ink Free" panose="03080402000500000000" pitchFamily="66" charset="0"/>
              </a:rPr>
              <a:t>(+ Precio)</a:t>
            </a:r>
          </a:p>
          <a:p>
            <a:r>
              <a:rPr lang="es-CL" sz="1100" dirty="0">
                <a:solidFill>
                  <a:srgbClr val="0070C0"/>
                </a:solidFill>
                <a:latin typeface="Ink Free" panose="03080402000500000000" pitchFamily="66" charset="0"/>
              </a:rPr>
              <a:t>Intentar indexar a una variable los ingresos</a:t>
            </a:r>
          </a:p>
        </p:txBody>
      </p:sp>
      <p:cxnSp>
        <p:nvCxnSpPr>
          <p:cNvPr id="22" name="Conector curvado 21">
            <a:extLst>
              <a:ext uri="{FF2B5EF4-FFF2-40B4-BE49-F238E27FC236}">
                <a16:creationId xmlns:a16="http://schemas.microsoft.com/office/drawing/2014/main" id="{AE8EA94B-B768-6825-E86C-06776E463ADF}"/>
              </a:ext>
            </a:extLst>
          </p:cNvPr>
          <p:cNvCxnSpPr>
            <a:stCxn id="21" idx="1"/>
            <a:endCxn id="18" idx="0"/>
          </p:cNvCxnSpPr>
          <p:nvPr/>
        </p:nvCxnSpPr>
        <p:spPr>
          <a:xfrm rot="10800000" flipV="1">
            <a:off x="2373541" y="2766808"/>
            <a:ext cx="1254864" cy="197873"/>
          </a:xfrm>
          <a:prstGeom prst="curvedConnector2">
            <a:avLst/>
          </a:prstGeom>
          <a:ln w="952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3" name="CuadroTexto 22">
            <a:extLst>
              <a:ext uri="{FF2B5EF4-FFF2-40B4-BE49-F238E27FC236}">
                <a16:creationId xmlns:a16="http://schemas.microsoft.com/office/drawing/2014/main" id="{9D9CE627-073E-BCCC-C0E1-DFA193F422E2}"/>
              </a:ext>
            </a:extLst>
          </p:cNvPr>
          <p:cNvSpPr txBox="1"/>
          <p:nvPr/>
        </p:nvSpPr>
        <p:spPr>
          <a:xfrm>
            <a:off x="5062949" y="3235193"/>
            <a:ext cx="1449436" cy="430887"/>
          </a:xfrm>
          <a:prstGeom prst="rect">
            <a:avLst/>
          </a:prstGeom>
          <a:noFill/>
        </p:spPr>
        <p:txBody>
          <a:bodyPr wrap="none" rtlCol="0">
            <a:spAutoFit/>
          </a:bodyPr>
          <a:lstStyle>
            <a:defPPr>
              <a:defRPr lang="es-CL"/>
            </a:defPPr>
            <a:lvl1pPr>
              <a:defRPr sz="1100">
                <a:solidFill>
                  <a:srgbClr val="0070C0"/>
                </a:solidFill>
                <a:latin typeface="Ink Free" panose="03080402000500000000" pitchFamily="66" charset="0"/>
              </a:defRPr>
            </a:lvl1pPr>
          </a:lstStyle>
          <a:p>
            <a:r>
              <a:rPr lang="es-CL" dirty="0"/>
              <a:t>+ Administración</a:t>
            </a:r>
          </a:p>
          <a:p>
            <a:r>
              <a:rPr lang="es-CL" dirty="0"/>
              <a:t>+ Capacidad de venta</a:t>
            </a:r>
          </a:p>
        </p:txBody>
      </p:sp>
      <p:cxnSp>
        <p:nvCxnSpPr>
          <p:cNvPr id="24" name="Conector curvado 23">
            <a:extLst>
              <a:ext uri="{FF2B5EF4-FFF2-40B4-BE49-F238E27FC236}">
                <a16:creationId xmlns:a16="http://schemas.microsoft.com/office/drawing/2014/main" id="{488C37F3-2578-BB21-3F13-032AB5942F31}"/>
              </a:ext>
            </a:extLst>
          </p:cNvPr>
          <p:cNvCxnSpPr>
            <a:stCxn id="23" idx="1"/>
            <a:endCxn id="19" idx="3"/>
          </p:cNvCxnSpPr>
          <p:nvPr/>
        </p:nvCxnSpPr>
        <p:spPr>
          <a:xfrm rot="10800000">
            <a:off x="2430799" y="3423103"/>
            <a:ext cx="2632150" cy="27534"/>
          </a:xfrm>
          <a:prstGeom prst="curvedConnector3">
            <a:avLst/>
          </a:prstGeom>
          <a:ln w="952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5" name="CuadroTexto 24">
            <a:extLst>
              <a:ext uri="{FF2B5EF4-FFF2-40B4-BE49-F238E27FC236}">
                <a16:creationId xmlns:a16="http://schemas.microsoft.com/office/drawing/2014/main" id="{51A3A1F8-F441-67DB-2EBC-4C384E33DD81}"/>
              </a:ext>
            </a:extLst>
          </p:cNvPr>
          <p:cNvSpPr txBox="1"/>
          <p:nvPr/>
        </p:nvSpPr>
        <p:spPr>
          <a:xfrm>
            <a:off x="3851911" y="4069285"/>
            <a:ext cx="2223686" cy="261610"/>
          </a:xfrm>
          <a:prstGeom prst="rect">
            <a:avLst/>
          </a:prstGeom>
          <a:noFill/>
        </p:spPr>
        <p:txBody>
          <a:bodyPr wrap="none" rtlCol="0">
            <a:spAutoFit/>
          </a:bodyPr>
          <a:lstStyle>
            <a:defPPr>
              <a:defRPr lang="es-CL"/>
            </a:defPPr>
            <a:lvl1pPr>
              <a:defRPr sz="1100">
                <a:solidFill>
                  <a:srgbClr val="0070C0"/>
                </a:solidFill>
                <a:latin typeface="Ink Free" panose="03080402000500000000" pitchFamily="66" charset="0"/>
              </a:defRPr>
            </a:lvl1pPr>
          </a:lstStyle>
          <a:p>
            <a:r>
              <a:rPr lang="es-CL" dirty="0"/>
              <a:t>Desde la contabilidad, por factores</a:t>
            </a:r>
          </a:p>
        </p:txBody>
      </p:sp>
      <p:cxnSp>
        <p:nvCxnSpPr>
          <p:cNvPr id="26" name="Conector curvado 25">
            <a:extLst>
              <a:ext uri="{FF2B5EF4-FFF2-40B4-BE49-F238E27FC236}">
                <a16:creationId xmlns:a16="http://schemas.microsoft.com/office/drawing/2014/main" id="{732E19D5-2BE5-9F79-65D0-E726B535790D}"/>
              </a:ext>
            </a:extLst>
          </p:cNvPr>
          <p:cNvCxnSpPr>
            <a:stCxn id="25" idx="1"/>
            <a:endCxn id="20" idx="2"/>
          </p:cNvCxnSpPr>
          <p:nvPr/>
        </p:nvCxnSpPr>
        <p:spPr>
          <a:xfrm rot="10800000">
            <a:off x="2458027" y="3881524"/>
            <a:ext cx="1393884" cy="318567"/>
          </a:xfrm>
          <a:prstGeom prst="curvedConnector2">
            <a:avLst/>
          </a:prstGeom>
          <a:ln w="952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7" name="CuadroTexto 26">
            <a:extLst>
              <a:ext uri="{FF2B5EF4-FFF2-40B4-BE49-F238E27FC236}">
                <a16:creationId xmlns:a16="http://schemas.microsoft.com/office/drawing/2014/main" id="{C5162F9C-DDA1-34EA-F585-9EDB055B4036}"/>
              </a:ext>
            </a:extLst>
          </p:cNvPr>
          <p:cNvSpPr txBox="1"/>
          <p:nvPr/>
        </p:nvSpPr>
        <p:spPr>
          <a:xfrm>
            <a:off x="617220" y="2102134"/>
            <a:ext cx="2779928" cy="369332"/>
          </a:xfrm>
          <a:prstGeom prst="rect">
            <a:avLst/>
          </a:prstGeom>
          <a:noFill/>
        </p:spPr>
        <p:txBody>
          <a:bodyPr wrap="none" rtlCol="0">
            <a:spAutoFit/>
          </a:bodyPr>
          <a:lstStyle/>
          <a:p>
            <a:r>
              <a:rPr lang="es-CL" i="1" dirty="0">
                <a:solidFill>
                  <a:srgbClr val="0070C0"/>
                </a:solidFill>
                <a:latin typeface="Ink Free" panose="03080402000500000000" pitchFamily="66" charset="0"/>
              </a:rPr>
              <a:t>1. Calculando el EBIDTA A</a:t>
            </a:r>
          </a:p>
        </p:txBody>
      </p:sp>
      <p:grpSp>
        <p:nvGrpSpPr>
          <p:cNvPr id="29" name="Grupo 28">
            <a:extLst>
              <a:ext uri="{FF2B5EF4-FFF2-40B4-BE49-F238E27FC236}">
                <a16:creationId xmlns:a16="http://schemas.microsoft.com/office/drawing/2014/main" id="{7D6D8D78-3353-0A4F-88C3-4FBD3385F989}"/>
              </a:ext>
            </a:extLst>
          </p:cNvPr>
          <p:cNvGrpSpPr/>
          <p:nvPr/>
        </p:nvGrpSpPr>
        <p:grpSpPr>
          <a:xfrm>
            <a:off x="617219" y="5281178"/>
            <a:ext cx="2663405" cy="916841"/>
            <a:chOff x="548639" y="1815464"/>
            <a:chExt cx="2663405" cy="916841"/>
          </a:xfrm>
        </p:grpSpPr>
        <p:sp>
          <p:nvSpPr>
            <p:cNvPr id="30" name="CuadroTexto 29">
              <a:extLst>
                <a:ext uri="{FF2B5EF4-FFF2-40B4-BE49-F238E27FC236}">
                  <a16:creationId xmlns:a16="http://schemas.microsoft.com/office/drawing/2014/main" id="{31B1BD11-F091-E71A-E042-F2E5F4E1E47D}"/>
                </a:ext>
              </a:extLst>
            </p:cNvPr>
            <p:cNvSpPr txBox="1"/>
            <p:nvPr/>
          </p:nvSpPr>
          <p:spPr>
            <a:xfrm>
              <a:off x="548639" y="1830986"/>
              <a:ext cx="1013425" cy="584775"/>
            </a:xfrm>
            <a:prstGeom prst="rect">
              <a:avLst/>
            </a:prstGeom>
            <a:noFill/>
          </p:spPr>
          <p:txBody>
            <a:bodyPr wrap="square" rtlCol="0">
              <a:spAutoFit/>
            </a:bodyPr>
            <a:lstStyle/>
            <a:p>
              <a:pPr algn="ctr"/>
              <a:r>
                <a:rPr lang="es-CL" sz="1200" b="1" dirty="0"/>
                <a:t>EBIDTA B</a:t>
              </a:r>
              <a:r>
                <a:rPr lang="es-CL" sz="1200" dirty="0"/>
                <a:t> =</a:t>
              </a:r>
            </a:p>
            <a:p>
              <a:pPr algn="ctr"/>
              <a:r>
                <a:rPr lang="es-CL" sz="1000" dirty="0"/>
                <a:t>% respecto de ingreso</a:t>
              </a:r>
            </a:p>
          </p:txBody>
        </p:sp>
        <p:sp>
          <p:nvSpPr>
            <p:cNvPr id="31" name="CuadroTexto 30">
              <a:extLst>
                <a:ext uri="{FF2B5EF4-FFF2-40B4-BE49-F238E27FC236}">
                  <a16:creationId xmlns:a16="http://schemas.microsoft.com/office/drawing/2014/main" id="{B6A81F65-645D-0191-EB59-6A9CEDD15125}"/>
                </a:ext>
              </a:extLst>
            </p:cNvPr>
            <p:cNvSpPr txBox="1"/>
            <p:nvPr/>
          </p:nvSpPr>
          <p:spPr>
            <a:xfrm>
              <a:off x="1562065" y="1815464"/>
              <a:ext cx="1431289" cy="276999"/>
            </a:xfrm>
            <a:prstGeom prst="rect">
              <a:avLst/>
            </a:prstGeom>
            <a:noFill/>
          </p:spPr>
          <p:txBody>
            <a:bodyPr wrap="none" rtlCol="0">
              <a:spAutoFit/>
            </a:bodyPr>
            <a:lstStyle/>
            <a:p>
              <a:r>
                <a:rPr lang="es-CL" sz="1200" dirty="0"/>
                <a:t>+ Ingresos (P</a:t>
              </a:r>
              <a:r>
                <a:rPr lang="es-CL" sz="1200" baseline="-25000" dirty="0"/>
                <a:t>1</a:t>
              </a:r>
              <a:r>
                <a:rPr lang="es-CL" sz="1200" dirty="0"/>
                <a:t> * Q</a:t>
              </a:r>
              <a:r>
                <a:rPr lang="es-CL" sz="1200" baseline="-25000" dirty="0"/>
                <a:t>1</a:t>
              </a:r>
              <a:r>
                <a:rPr lang="es-CL" sz="1200" dirty="0"/>
                <a:t>)</a:t>
              </a:r>
            </a:p>
          </p:txBody>
        </p:sp>
        <p:sp>
          <p:nvSpPr>
            <p:cNvPr id="32" name="CuadroTexto 31">
              <a:extLst>
                <a:ext uri="{FF2B5EF4-FFF2-40B4-BE49-F238E27FC236}">
                  <a16:creationId xmlns:a16="http://schemas.microsoft.com/office/drawing/2014/main" id="{EA03EB4E-3205-D142-2F01-6A508C89E52B}"/>
                </a:ext>
              </a:extLst>
            </p:cNvPr>
            <p:cNvSpPr txBox="1"/>
            <p:nvPr/>
          </p:nvSpPr>
          <p:spPr>
            <a:xfrm>
              <a:off x="1562064" y="2135385"/>
              <a:ext cx="800155" cy="276999"/>
            </a:xfrm>
            <a:prstGeom prst="rect">
              <a:avLst/>
            </a:prstGeom>
            <a:noFill/>
          </p:spPr>
          <p:txBody>
            <a:bodyPr wrap="none" rtlCol="0">
              <a:spAutoFit/>
            </a:bodyPr>
            <a:lstStyle/>
            <a:p>
              <a:r>
                <a:rPr lang="es-CL" sz="1200" dirty="0"/>
                <a:t>- GAV (%)</a:t>
              </a:r>
            </a:p>
          </p:txBody>
        </p:sp>
        <p:sp>
          <p:nvSpPr>
            <p:cNvPr id="33" name="CuadroTexto 32">
              <a:extLst>
                <a:ext uri="{FF2B5EF4-FFF2-40B4-BE49-F238E27FC236}">
                  <a16:creationId xmlns:a16="http://schemas.microsoft.com/office/drawing/2014/main" id="{54EE6895-5CAA-6FC9-792F-D70183E80E26}"/>
                </a:ext>
              </a:extLst>
            </p:cNvPr>
            <p:cNvSpPr txBox="1"/>
            <p:nvPr/>
          </p:nvSpPr>
          <p:spPr>
            <a:xfrm>
              <a:off x="1566850" y="2455306"/>
              <a:ext cx="1645194" cy="276999"/>
            </a:xfrm>
            <a:prstGeom prst="rect">
              <a:avLst/>
            </a:prstGeom>
            <a:noFill/>
          </p:spPr>
          <p:txBody>
            <a:bodyPr wrap="none" rtlCol="0">
              <a:spAutoFit/>
            </a:bodyPr>
            <a:lstStyle/>
            <a:p>
              <a:r>
                <a:rPr lang="es-CL" sz="1200" dirty="0"/>
                <a:t>- Costos de operación</a:t>
              </a:r>
            </a:p>
          </p:txBody>
        </p:sp>
      </p:grpSp>
      <p:sp>
        <p:nvSpPr>
          <p:cNvPr id="34" name="CuadroTexto 33">
            <a:extLst>
              <a:ext uri="{FF2B5EF4-FFF2-40B4-BE49-F238E27FC236}">
                <a16:creationId xmlns:a16="http://schemas.microsoft.com/office/drawing/2014/main" id="{D9A046B8-108F-A41A-C821-CA3690E5EC53}"/>
              </a:ext>
            </a:extLst>
          </p:cNvPr>
          <p:cNvSpPr txBox="1"/>
          <p:nvPr/>
        </p:nvSpPr>
        <p:spPr>
          <a:xfrm>
            <a:off x="3628405" y="4783223"/>
            <a:ext cx="2026517" cy="430887"/>
          </a:xfrm>
          <a:prstGeom prst="rect">
            <a:avLst/>
          </a:prstGeom>
          <a:noFill/>
        </p:spPr>
        <p:txBody>
          <a:bodyPr wrap="none" rtlCol="0">
            <a:spAutoFit/>
          </a:bodyPr>
          <a:lstStyle/>
          <a:p>
            <a:r>
              <a:rPr lang="es-CL" sz="1100" dirty="0">
                <a:solidFill>
                  <a:srgbClr val="0070C0"/>
                </a:solidFill>
                <a:latin typeface="Ink Free" panose="03080402000500000000" pitchFamily="66" charset="0"/>
              </a:rPr>
              <a:t>+ Cantidad, indicador de ingreso</a:t>
            </a:r>
          </a:p>
          <a:p>
            <a:r>
              <a:rPr lang="es-CL" sz="1100" dirty="0">
                <a:solidFill>
                  <a:srgbClr val="0070C0"/>
                </a:solidFill>
                <a:latin typeface="Ink Free" panose="03080402000500000000" pitchFamily="66" charset="0"/>
              </a:rPr>
              <a:t>(+ Precio)</a:t>
            </a:r>
          </a:p>
        </p:txBody>
      </p:sp>
      <p:cxnSp>
        <p:nvCxnSpPr>
          <p:cNvPr id="35" name="Conector curvado 34">
            <a:extLst>
              <a:ext uri="{FF2B5EF4-FFF2-40B4-BE49-F238E27FC236}">
                <a16:creationId xmlns:a16="http://schemas.microsoft.com/office/drawing/2014/main" id="{25E120C9-03AA-7B8E-9B23-00E35298922E}"/>
              </a:ext>
            </a:extLst>
          </p:cNvPr>
          <p:cNvCxnSpPr>
            <a:stCxn id="34" idx="1"/>
            <a:endCxn id="31" idx="0"/>
          </p:cNvCxnSpPr>
          <p:nvPr/>
        </p:nvCxnSpPr>
        <p:spPr>
          <a:xfrm rot="10800000" flipV="1">
            <a:off x="2346291" y="4998666"/>
            <a:ext cx="1282115" cy="282511"/>
          </a:xfrm>
          <a:prstGeom prst="curvedConnector2">
            <a:avLst/>
          </a:prstGeom>
          <a:ln w="952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36" name="CuadroTexto 35">
            <a:extLst>
              <a:ext uri="{FF2B5EF4-FFF2-40B4-BE49-F238E27FC236}">
                <a16:creationId xmlns:a16="http://schemas.microsoft.com/office/drawing/2014/main" id="{D9383212-0F47-26C9-C07B-D16CE764948D}"/>
              </a:ext>
            </a:extLst>
          </p:cNvPr>
          <p:cNvSpPr txBox="1"/>
          <p:nvPr/>
        </p:nvSpPr>
        <p:spPr>
          <a:xfrm>
            <a:off x="4626161" y="5371863"/>
            <a:ext cx="1430200" cy="430887"/>
          </a:xfrm>
          <a:prstGeom prst="rect">
            <a:avLst/>
          </a:prstGeom>
          <a:noFill/>
        </p:spPr>
        <p:txBody>
          <a:bodyPr wrap="none" rtlCol="0">
            <a:spAutoFit/>
          </a:bodyPr>
          <a:lstStyle>
            <a:defPPr>
              <a:defRPr lang="es-CL"/>
            </a:defPPr>
            <a:lvl1pPr>
              <a:defRPr sz="1100">
                <a:solidFill>
                  <a:srgbClr val="0070C0"/>
                </a:solidFill>
                <a:latin typeface="Ink Free" panose="03080402000500000000" pitchFamily="66" charset="0"/>
              </a:defRPr>
            </a:lvl1pPr>
          </a:lstStyle>
          <a:p>
            <a:r>
              <a:rPr lang="es-CL" dirty="0"/>
              <a:t>+ % del ingreso</a:t>
            </a:r>
          </a:p>
          <a:p>
            <a:r>
              <a:rPr lang="es-CL" dirty="0"/>
              <a:t>+ Factores de cambio</a:t>
            </a:r>
          </a:p>
        </p:txBody>
      </p:sp>
      <p:cxnSp>
        <p:nvCxnSpPr>
          <p:cNvPr id="37" name="Conector curvado 36">
            <a:extLst>
              <a:ext uri="{FF2B5EF4-FFF2-40B4-BE49-F238E27FC236}">
                <a16:creationId xmlns:a16="http://schemas.microsoft.com/office/drawing/2014/main" id="{66DD0175-098A-C62E-FCEC-8E62AB4E2E5E}"/>
              </a:ext>
            </a:extLst>
          </p:cNvPr>
          <p:cNvCxnSpPr>
            <a:stCxn id="36" idx="1"/>
            <a:endCxn id="32" idx="3"/>
          </p:cNvCxnSpPr>
          <p:nvPr/>
        </p:nvCxnSpPr>
        <p:spPr>
          <a:xfrm rot="10800000" flipV="1">
            <a:off x="2430799" y="5587307"/>
            <a:ext cx="2195362" cy="152292"/>
          </a:xfrm>
          <a:prstGeom prst="curvedConnector3">
            <a:avLst/>
          </a:prstGeom>
          <a:ln w="952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38" name="CuadroTexto 37">
            <a:extLst>
              <a:ext uri="{FF2B5EF4-FFF2-40B4-BE49-F238E27FC236}">
                <a16:creationId xmlns:a16="http://schemas.microsoft.com/office/drawing/2014/main" id="{53336A8B-4807-1240-DBAA-4127998303AA}"/>
              </a:ext>
            </a:extLst>
          </p:cNvPr>
          <p:cNvSpPr txBox="1"/>
          <p:nvPr/>
        </p:nvSpPr>
        <p:spPr>
          <a:xfrm>
            <a:off x="3828977" y="6239185"/>
            <a:ext cx="1430200" cy="261610"/>
          </a:xfrm>
          <a:prstGeom prst="rect">
            <a:avLst/>
          </a:prstGeom>
          <a:noFill/>
        </p:spPr>
        <p:txBody>
          <a:bodyPr wrap="none" rtlCol="0">
            <a:spAutoFit/>
          </a:bodyPr>
          <a:lstStyle>
            <a:defPPr>
              <a:defRPr lang="es-CL"/>
            </a:defPPr>
            <a:lvl1pPr>
              <a:defRPr sz="1100">
                <a:solidFill>
                  <a:srgbClr val="0070C0"/>
                </a:solidFill>
                <a:latin typeface="Ink Free" panose="03080402000500000000" pitchFamily="66" charset="0"/>
              </a:defRPr>
            </a:lvl1pPr>
          </a:lstStyle>
          <a:p>
            <a:r>
              <a:rPr lang="es-CL" dirty="0"/>
              <a:t>+ Factores de cambio</a:t>
            </a:r>
          </a:p>
        </p:txBody>
      </p:sp>
      <p:cxnSp>
        <p:nvCxnSpPr>
          <p:cNvPr id="39" name="Conector curvado 38">
            <a:extLst>
              <a:ext uri="{FF2B5EF4-FFF2-40B4-BE49-F238E27FC236}">
                <a16:creationId xmlns:a16="http://schemas.microsoft.com/office/drawing/2014/main" id="{711D4FE6-E172-923F-5930-939D0691FCE9}"/>
              </a:ext>
            </a:extLst>
          </p:cNvPr>
          <p:cNvCxnSpPr>
            <a:stCxn id="38" idx="1"/>
            <a:endCxn id="33" idx="2"/>
          </p:cNvCxnSpPr>
          <p:nvPr/>
        </p:nvCxnSpPr>
        <p:spPr>
          <a:xfrm rot="10800000">
            <a:off x="2458027" y="6198020"/>
            <a:ext cx="1370950" cy="171971"/>
          </a:xfrm>
          <a:prstGeom prst="curvedConnector2">
            <a:avLst/>
          </a:prstGeom>
          <a:ln w="952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40" name="CuadroTexto 39">
            <a:extLst>
              <a:ext uri="{FF2B5EF4-FFF2-40B4-BE49-F238E27FC236}">
                <a16:creationId xmlns:a16="http://schemas.microsoft.com/office/drawing/2014/main" id="{12480C50-67CE-D331-6ED7-C5A7C0EBC550}"/>
              </a:ext>
            </a:extLst>
          </p:cNvPr>
          <p:cNvSpPr txBox="1"/>
          <p:nvPr/>
        </p:nvSpPr>
        <p:spPr>
          <a:xfrm>
            <a:off x="617220" y="4418630"/>
            <a:ext cx="2852063" cy="369332"/>
          </a:xfrm>
          <a:prstGeom prst="rect">
            <a:avLst/>
          </a:prstGeom>
          <a:noFill/>
        </p:spPr>
        <p:txBody>
          <a:bodyPr wrap="none" rtlCol="0">
            <a:spAutoFit/>
          </a:bodyPr>
          <a:lstStyle/>
          <a:p>
            <a:r>
              <a:rPr lang="es-CL" i="1" dirty="0">
                <a:solidFill>
                  <a:srgbClr val="0070C0"/>
                </a:solidFill>
                <a:latin typeface="Ink Free" panose="03080402000500000000" pitchFamily="66" charset="0"/>
              </a:rPr>
              <a:t>2. Calculando el EBIDTA B</a:t>
            </a:r>
          </a:p>
        </p:txBody>
      </p:sp>
      <p:sp>
        <p:nvSpPr>
          <p:cNvPr id="43" name="CuadroTexto 42">
            <a:extLst>
              <a:ext uri="{FF2B5EF4-FFF2-40B4-BE49-F238E27FC236}">
                <a16:creationId xmlns:a16="http://schemas.microsoft.com/office/drawing/2014/main" id="{8DA0F788-B059-B07E-A270-7CC88CF3D082}"/>
              </a:ext>
            </a:extLst>
          </p:cNvPr>
          <p:cNvSpPr txBox="1"/>
          <p:nvPr/>
        </p:nvSpPr>
        <p:spPr>
          <a:xfrm>
            <a:off x="6987430" y="4557444"/>
            <a:ext cx="3833080" cy="738664"/>
          </a:xfrm>
          <a:prstGeom prst="rect">
            <a:avLst/>
          </a:prstGeom>
          <a:noFill/>
        </p:spPr>
        <p:txBody>
          <a:bodyPr wrap="square" rtlCol="0">
            <a:spAutoFit/>
          </a:bodyPr>
          <a:lstStyle/>
          <a:p>
            <a:r>
              <a:rPr lang="es-CL" sz="1400" dirty="0"/>
              <a:t>Los cambios en los % que afecten al EBIDTA deben ser explicados por los proyectos estratégicos.</a:t>
            </a:r>
          </a:p>
        </p:txBody>
      </p:sp>
    </p:spTree>
    <p:extLst>
      <p:ext uri="{BB962C8B-B14F-4D97-AF65-F5344CB8AC3E}">
        <p14:creationId xmlns:p14="http://schemas.microsoft.com/office/powerpoint/2010/main" val="3314750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F7452FC-8B32-6AE6-CADA-620229E4AB9D}"/>
              </a:ext>
            </a:extLst>
          </p:cNvPr>
          <p:cNvSpPr txBox="1"/>
          <p:nvPr/>
        </p:nvSpPr>
        <p:spPr>
          <a:xfrm>
            <a:off x="657224" y="507847"/>
            <a:ext cx="11068611" cy="523220"/>
          </a:xfrm>
          <a:prstGeom prst="rect">
            <a:avLst/>
          </a:prstGeom>
          <a:noFill/>
        </p:spPr>
        <p:txBody>
          <a:bodyPr wrap="square" rtlCol="0">
            <a:spAutoFit/>
          </a:bodyPr>
          <a:lstStyle/>
          <a:p>
            <a:r>
              <a:rPr lang="es-CL" sz="2800" b="1" dirty="0">
                <a:latin typeface="Raleway" pitchFamily="2" charset="77"/>
              </a:rPr>
              <a:t>Estrategias de ingreso de capital</a:t>
            </a:r>
          </a:p>
        </p:txBody>
      </p:sp>
      <p:pic>
        <p:nvPicPr>
          <p:cNvPr id="16" name="Imagen 15">
            <a:extLst>
              <a:ext uri="{FF2B5EF4-FFF2-40B4-BE49-F238E27FC236}">
                <a16:creationId xmlns:a16="http://schemas.microsoft.com/office/drawing/2014/main" id="{37B32C13-E49D-809F-8A4F-4A824028830C}"/>
              </a:ext>
            </a:extLst>
          </p:cNvPr>
          <p:cNvPicPr>
            <a:picLocks noChangeAspect="1"/>
          </p:cNvPicPr>
          <p:nvPr/>
        </p:nvPicPr>
        <p:blipFill>
          <a:blip r:embed="rId2"/>
          <a:stretch>
            <a:fillRect/>
          </a:stretch>
        </p:blipFill>
        <p:spPr>
          <a:xfrm>
            <a:off x="3724275" y="1555522"/>
            <a:ext cx="7772400" cy="3746955"/>
          </a:xfrm>
          <a:prstGeom prst="rect">
            <a:avLst/>
          </a:prstGeom>
        </p:spPr>
      </p:pic>
      <p:sp>
        <p:nvSpPr>
          <p:cNvPr id="17" name="CuadroTexto 16">
            <a:extLst>
              <a:ext uri="{FF2B5EF4-FFF2-40B4-BE49-F238E27FC236}">
                <a16:creationId xmlns:a16="http://schemas.microsoft.com/office/drawing/2014/main" id="{3EEB1DE6-F149-E689-D836-AB5971D76435}"/>
              </a:ext>
            </a:extLst>
          </p:cNvPr>
          <p:cNvSpPr txBox="1"/>
          <p:nvPr/>
        </p:nvSpPr>
        <p:spPr>
          <a:xfrm>
            <a:off x="657224" y="1547603"/>
            <a:ext cx="2671764" cy="3539430"/>
          </a:xfrm>
          <a:prstGeom prst="rect">
            <a:avLst/>
          </a:prstGeom>
          <a:noFill/>
        </p:spPr>
        <p:txBody>
          <a:bodyPr wrap="square">
            <a:spAutoFit/>
          </a:bodyPr>
          <a:lstStyle/>
          <a:p>
            <a:r>
              <a:rPr lang="es-CL" sz="1400" b="0" i="0" u="none" strike="noStrike" dirty="0">
                <a:solidFill>
                  <a:srgbClr val="242424"/>
                </a:solidFill>
                <a:effectLst/>
                <a:highlight>
                  <a:srgbClr val="FFFFFF"/>
                </a:highlight>
                <a:latin typeface="Raleway" pitchFamily="2" charset="77"/>
              </a:rPr>
              <a:t>Las estrategias de ingreso de capital son tablas donde se definen las rondas de inversión, metas de ingreso de capital, formas, socios esperados, indicadores necesarios y valorizaciones esperadas. Es decir, expresan la ruta a la que se somete la Startup para conseguir sus objetivos de valorización e impacto.</a:t>
            </a:r>
          </a:p>
          <a:p>
            <a:endParaRPr lang="es-CL" sz="1400" dirty="0">
              <a:solidFill>
                <a:srgbClr val="242424"/>
              </a:solidFill>
              <a:highlight>
                <a:srgbClr val="FFFFFF"/>
              </a:highlight>
              <a:latin typeface="Raleway" pitchFamily="2" charset="77"/>
            </a:endParaRPr>
          </a:p>
          <a:p>
            <a:r>
              <a:rPr lang="es-CL" sz="1400" dirty="0">
                <a:solidFill>
                  <a:srgbClr val="242424"/>
                </a:solidFill>
                <a:highlight>
                  <a:srgbClr val="FFFFFF"/>
                </a:highlight>
                <a:latin typeface="Raleway" pitchFamily="2" charset="77"/>
              </a:rPr>
              <a:t>Estas tablas son las hojas de ruta de las nuevas empresas tecnológicas.</a:t>
            </a:r>
            <a:endParaRPr lang="es-CL" sz="1400" dirty="0">
              <a:latin typeface="Raleway" pitchFamily="2" charset="77"/>
            </a:endParaRPr>
          </a:p>
        </p:txBody>
      </p:sp>
    </p:spTree>
    <p:extLst>
      <p:ext uri="{BB962C8B-B14F-4D97-AF65-F5344CB8AC3E}">
        <p14:creationId xmlns:p14="http://schemas.microsoft.com/office/powerpoint/2010/main" val="3349419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C3C19-B710-9E4F-2B81-F9D3AFAB954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266DB0-B026-3BED-6C57-1AA7D0AEC600}"/>
              </a:ext>
            </a:extLst>
          </p:cNvPr>
          <p:cNvSpPr>
            <a:spLocks noGrp="1"/>
          </p:cNvSpPr>
          <p:nvPr>
            <p:ph type="title"/>
          </p:nvPr>
        </p:nvSpPr>
        <p:spPr/>
        <p:txBody>
          <a:bodyPr/>
          <a:lstStyle/>
          <a:p>
            <a:r>
              <a:rPr lang="es-CL" b="1" dirty="0">
                <a:solidFill>
                  <a:schemeClr val="accent4"/>
                </a:solidFill>
                <a:sym typeface="Helvetica Neue" charset="0"/>
              </a:rPr>
              <a:t>Ejercicio</a:t>
            </a:r>
            <a:br>
              <a:rPr lang="es-CL" b="1" dirty="0">
                <a:solidFill>
                  <a:schemeClr val="accent4"/>
                </a:solidFill>
                <a:sym typeface="Helvetica Neue" charset="0"/>
              </a:rPr>
            </a:br>
            <a:r>
              <a:rPr lang="es-CL" b="1" dirty="0">
                <a:solidFill>
                  <a:schemeClr val="accent4"/>
                </a:solidFill>
                <a:sym typeface="Helvetica Neue" charset="0"/>
              </a:rPr>
              <a:t>Startup ONE</a:t>
            </a:r>
            <a:endParaRPr lang="es-CL" dirty="0">
              <a:solidFill>
                <a:schemeClr val="accent4"/>
              </a:solidFill>
            </a:endParaRPr>
          </a:p>
        </p:txBody>
      </p:sp>
      <p:pic>
        <p:nvPicPr>
          <p:cNvPr id="3" name="Imagen 2">
            <a:extLst>
              <a:ext uri="{FF2B5EF4-FFF2-40B4-BE49-F238E27FC236}">
                <a16:creationId xmlns:a16="http://schemas.microsoft.com/office/drawing/2014/main" id="{8F0FD9BF-E3A9-72F1-07BE-CF6E366F6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765175"/>
            <a:ext cx="5437188" cy="5437188"/>
          </a:xfrm>
          <a:prstGeom prst="rect">
            <a:avLst/>
          </a:prstGeom>
        </p:spPr>
      </p:pic>
    </p:spTree>
    <p:extLst>
      <p:ext uri="{BB962C8B-B14F-4D97-AF65-F5344CB8AC3E}">
        <p14:creationId xmlns:p14="http://schemas.microsoft.com/office/powerpoint/2010/main" val="11598889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54A2630-5AE0-9794-CECF-87236B843AAD}"/>
              </a:ext>
            </a:extLst>
          </p:cNvPr>
          <p:cNvSpPr txBox="1"/>
          <p:nvPr/>
        </p:nvSpPr>
        <p:spPr>
          <a:xfrm>
            <a:off x="657224" y="507847"/>
            <a:ext cx="11068611" cy="523220"/>
          </a:xfrm>
          <a:prstGeom prst="rect">
            <a:avLst/>
          </a:prstGeom>
          <a:noFill/>
        </p:spPr>
        <p:txBody>
          <a:bodyPr wrap="square" rtlCol="0">
            <a:spAutoFit/>
          </a:bodyPr>
          <a:lstStyle/>
          <a:p>
            <a:r>
              <a:rPr lang="es-CL" sz="2800" b="1" dirty="0">
                <a:latin typeface="Raleway" pitchFamily="2" charset="77"/>
              </a:rPr>
              <a:t>Caso Startup ONE</a:t>
            </a:r>
          </a:p>
        </p:txBody>
      </p:sp>
      <p:sp>
        <p:nvSpPr>
          <p:cNvPr id="3" name="TextBox 2">
            <a:extLst>
              <a:ext uri="{FF2B5EF4-FFF2-40B4-BE49-F238E27FC236}">
                <a16:creationId xmlns:a16="http://schemas.microsoft.com/office/drawing/2014/main" id="{C762DEAF-7A26-5EA7-952B-B2FAEFABDEE7}"/>
              </a:ext>
            </a:extLst>
          </p:cNvPr>
          <p:cNvSpPr txBox="1"/>
          <p:nvPr/>
        </p:nvSpPr>
        <p:spPr>
          <a:xfrm>
            <a:off x="657224" y="1259305"/>
            <a:ext cx="10729914" cy="4524315"/>
          </a:xfrm>
          <a:prstGeom prst="rect">
            <a:avLst/>
          </a:prstGeom>
          <a:noFill/>
        </p:spPr>
        <p:txBody>
          <a:bodyPr wrap="square">
            <a:spAutoFit/>
          </a:bodyPr>
          <a:lstStyle/>
          <a:p>
            <a:r>
              <a:rPr lang="es-ES_tradnl" sz="1200" dirty="0">
                <a:latin typeface="Avenir Next" panose="020B0503020202020204" pitchFamily="34" charset="0"/>
              </a:rPr>
              <a:t>Lo han invitado a formar parte de un Startup que busca apoyar a los sistemas de CCTV (vigilancia con cámaras) a través de una plataforma de inteligencia artificial. Es decir, toman las imágenes desde cualquier cámara, las reúnen y programan la vigilancia con casos, “la tecnología reconoce cambios en las imágenes y si esta programada logra identificar que provoca la discontinuidad”, en este sentido la oferta de valor esta dirigida a cámaras que vigilan lugares con pocos cambios (no son para centros comerciales, ni transporte, o tiendas de día), pero son fáciles de instalar y convenientes.</a:t>
            </a:r>
            <a:r>
              <a:rPr lang="es-CL" sz="1200" dirty="0">
                <a:latin typeface="Avenir Next" panose="020B0503020202020204" pitchFamily="34" charset="0"/>
              </a:rPr>
              <a:t> </a:t>
            </a:r>
            <a:r>
              <a:rPr lang="es-ES_tradnl" sz="1200" dirty="0">
                <a:latin typeface="Avenir Next" panose="020B0503020202020204" pitchFamily="34" charset="0"/>
              </a:rPr>
              <a:t>Le explican:</a:t>
            </a:r>
          </a:p>
          <a:p>
            <a:endParaRPr lang="es-ES_tradnl" sz="1200" dirty="0">
              <a:latin typeface="Avenir Next" panose="020B0503020202020204" pitchFamily="34" charset="0"/>
            </a:endParaRPr>
          </a:p>
          <a:p>
            <a:pPr lvl="1"/>
            <a:r>
              <a:rPr lang="es-ES_tradnl" sz="1200" dirty="0">
                <a:latin typeface="Avenir Next" panose="020B0503020202020204" pitchFamily="34" charset="0"/>
              </a:rPr>
              <a:t>“Tenemos la tecnología y nos hemos ganado un CORFO (M$ 20.000.-) y otra inversión ángel pequeña de USD$ 25.000.- (5% propiedad)”. Pero un profesor –amargo el caballero-, ya nos han dicho que estamos enamorados de la tecnología, y que no tenemos nada si no estamos creciendo y ajustando frente a clientes”.</a:t>
            </a:r>
            <a:endParaRPr lang="es-CL" sz="1200" dirty="0">
              <a:latin typeface="Avenir Next" panose="020B0503020202020204" pitchFamily="34" charset="0"/>
            </a:endParaRPr>
          </a:p>
          <a:p>
            <a:r>
              <a:rPr lang="es-ES_tradnl" sz="1200" dirty="0">
                <a:latin typeface="Avenir Next" panose="020B0503020202020204" pitchFamily="34" charset="0"/>
              </a:rPr>
              <a:t> </a:t>
            </a:r>
            <a:endParaRPr lang="es-CL" sz="1200" dirty="0">
              <a:latin typeface="Avenir Next" panose="020B0503020202020204" pitchFamily="34" charset="0"/>
            </a:endParaRPr>
          </a:p>
          <a:p>
            <a:r>
              <a:rPr lang="es-ES_tradnl" sz="1200" dirty="0">
                <a:latin typeface="Avenir Next" panose="020B0503020202020204" pitchFamily="34" charset="0"/>
              </a:rPr>
              <a:t>Entonces:</a:t>
            </a:r>
          </a:p>
          <a:p>
            <a:endParaRPr lang="es-ES_tradnl" sz="1200" dirty="0">
              <a:latin typeface="Avenir Next" panose="020B0503020202020204" pitchFamily="34" charset="0"/>
            </a:endParaRPr>
          </a:p>
          <a:p>
            <a:pPr lvl="1"/>
            <a:r>
              <a:rPr lang="es-ES_tradnl" sz="1200" dirty="0">
                <a:latin typeface="Avenir Next" panose="020B0503020202020204" pitchFamily="34" charset="0"/>
              </a:rPr>
              <a:t>“Nos han recomendado integrar un industrial -aunque los encontramos </a:t>
            </a:r>
            <a:r>
              <a:rPr lang="es-ES_tradnl" sz="1200" dirty="0" err="1">
                <a:latin typeface="Avenir Next" panose="020B0503020202020204" pitchFamily="34" charset="0"/>
              </a:rPr>
              <a:t>soft</a:t>
            </a:r>
            <a:r>
              <a:rPr lang="es-ES_tradnl" sz="1200" dirty="0">
                <a:latin typeface="Avenir Next" panose="020B0503020202020204" pitchFamily="34" charset="0"/>
              </a:rPr>
              <a:t>-, ¿En qué nos podrías ayudar? ¿Nos puedes buscar clientes, un primer experimento? ¿Sabes de modelo de negocios y levantamiento de capital? Un problema que tenemos al iniciar es como financiamos nuestro primer gran experimento, y el diseñar el producto, y servicios. Tenemos ideas, queremos ir a puertos, grandes galpones, municipios rurales ¿Qué opinas?”</a:t>
            </a:r>
            <a:endParaRPr lang="es-CL" sz="1200" dirty="0">
              <a:latin typeface="Avenir Next" panose="020B0503020202020204" pitchFamily="34" charset="0"/>
            </a:endParaRPr>
          </a:p>
          <a:p>
            <a:pPr lvl="1"/>
            <a:r>
              <a:rPr lang="es-ES_tradnl" sz="1200" dirty="0">
                <a:latin typeface="Avenir Next" panose="020B0503020202020204" pitchFamily="34" charset="0"/>
              </a:rPr>
              <a:t> </a:t>
            </a:r>
            <a:endParaRPr lang="es-CL" sz="1200" dirty="0">
              <a:latin typeface="Avenir Next" panose="020B0503020202020204" pitchFamily="34" charset="0"/>
            </a:endParaRPr>
          </a:p>
          <a:p>
            <a:pPr lvl="0"/>
            <a:r>
              <a:rPr lang="es-ES_tradnl" sz="1200" dirty="0">
                <a:latin typeface="Avenir Next" panose="020B0503020202020204" pitchFamily="34" charset="0"/>
              </a:rPr>
              <a:t>Un Municipio rural encuentra muy interesante su proyecto, y desea probar con 200 cámaras (espacios urbanos y rurales) para monitorearlos, haciendo con Uds. Un contrato a dos años, y además, proyecta ganar un fondo CORFO semilla por USD$ 40.000.- en un año. Ante esto, un inversionista ángel le ofrece capital de inversión de USD$ 135.000.-, los fundadores le preguntan ¿Cuánta propiedad le entregan?</a:t>
            </a:r>
          </a:p>
          <a:p>
            <a:pPr lvl="0"/>
            <a:endParaRPr lang="es-ES_tradnl" sz="1200" dirty="0">
              <a:latin typeface="Avenir Next" panose="020B0503020202020204" pitchFamily="34" charset="0"/>
            </a:endParaRPr>
          </a:p>
          <a:p>
            <a:r>
              <a:rPr lang="es-ES_tradnl" sz="1200" dirty="0">
                <a:latin typeface="Avenir Next" panose="020B0503020202020204" pitchFamily="34" charset="0"/>
              </a:rPr>
              <a:t>A partir de este caso, y con el modelo de negocios y un flujo que ellos prepararon. Responda.</a:t>
            </a:r>
            <a:endParaRPr lang="es-CL" sz="1200" dirty="0">
              <a:latin typeface="Avenir Next" panose="020B0503020202020204" pitchFamily="34" charset="0"/>
            </a:endParaRPr>
          </a:p>
          <a:p>
            <a:pPr lvl="0"/>
            <a:endParaRPr lang="es-ES_tradnl" sz="1200" dirty="0">
              <a:latin typeface="Avenir Next" panose="020B0503020202020204" pitchFamily="34" charset="0"/>
            </a:endParaRPr>
          </a:p>
          <a:p>
            <a:pPr lvl="0"/>
            <a:r>
              <a:rPr lang="es-CL" sz="1200" i="1" kern="100" dirty="0">
                <a:effectLst/>
                <a:latin typeface="Avenir Next" panose="020B0503020202020204" pitchFamily="34" charset="0"/>
                <a:ea typeface="Aptos" panose="020B0004020202020204" pitchFamily="34" charset="0"/>
                <a:cs typeface="Times New Roman" panose="02020603050405020304" pitchFamily="18" charset="0"/>
              </a:rPr>
              <a:t>Basado en un caso real.</a:t>
            </a:r>
            <a:endParaRPr lang="es-CL" sz="1200" kern="100" dirty="0">
              <a:effectLst/>
              <a:latin typeface="Avenir Next" panose="020B0503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09051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6E45391-D60D-ED94-A2A0-1101D470E11D}"/>
              </a:ext>
            </a:extLst>
          </p:cNvPr>
          <p:cNvPicPr>
            <a:picLocks noChangeAspect="1"/>
          </p:cNvPicPr>
          <p:nvPr/>
        </p:nvPicPr>
        <p:blipFill>
          <a:blip r:embed="rId2"/>
          <a:stretch>
            <a:fillRect/>
          </a:stretch>
        </p:blipFill>
        <p:spPr>
          <a:xfrm>
            <a:off x="3228975" y="668833"/>
            <a:ext cx="8696325" cy="4891683"/>
          </a:xfrm>
          <a:prstGeom prst="rect">
            <a:avLst/>
          </a:prstGeom>
        </p:spPr>
      </p:pic>
      <p:sp>
        <p:nvSpPr>
          <p:cNvPr id="3" name="CuadroTexto 2">
            <a:extLst>
              <a:ext uri="{FF2B5EF4-FFF2-40B4-BE49-F238E27FC236}">
                <a16:creationId xmlns:a16="http://schemas.microsoft.com/office/drawing/2014/main" id="{7D051DBD-023C-B732-E967-006DA4A12941}"/>
              </a:ext>
            </a:extLst>
          </p:cNvPr>
          <p:cNvSpPr txBox="1"/>
          <p:nvPr/>
        </p:nvSpPr>
        <p:spPr>
          <a:xfrm>
            <a:off x="414338" y="668833"/>
            <a:ext cx="2671762" cy="2893100"/>
          </a:xfrm>
          <a:prstGeom prst="rect">
            <a:avLst/>
          </a:prstGeom>
          <a:noFill/>
        </p:spPr>
        <p:txBody>
          <a:bodyPr wrap="square" rtlCol="0">
            <a:spAutoFit/>
          </a:bodyPr>
          <a:lstStyle/>
          <a:p>
            <a:r>
              <a:rPr lang="es-CL" sz="1400" dirty="0"/>
              <a:t>El modelo de ingresos esta basado en un cobro de USD$ 15 por cámara/ mes. Donde se ha recomendado establecer un cobro de instalación, y ver como evolucionar a ticket interesante por grandes empresas.</a:t>
            </a:r>
          </a:p>
          <a:p>
            <a:endParaRPr lang="es-CL" sz="1400" dirty="0"/>
          </a:p>
          <a:p>
            <a:r>
              <a:rPr lang="es-CL" sz="1400" dirty="0"/>
              <a:t>Mejore el modelo de negocios e indique puntos clave de la tecnología.</a:t>
            </a:r>
          </a:p>
        </p:txBody>
      </p:sp>
    </p:spTree>
    <p:extLst>
      <p:ext uri="{BB962C8B-B14F-4D97-AF65-F5344CB8AC3E}">
        <p14:creationId xmlns:p14="http://schemas.microsoft.com/office/powerpoint/2010/main" val="3786412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5AED27B-F44E-4E84-CCC6-E01705CBD0F2}"/>
              </a:ext>
            </a:extLst>
          </p:cNvPr>
          <p:cNvPicPr>
            <a:picLocks noChangeAspect="1"/>
          </p:cNvPicPr>
          <p:nvPr/>
        </p:nvPicPr>
        <p:blipFill>
          <a:blip r:embed="rId2"/>
          <a:stretch>
            <a:fillRect/>
          </a:stretch>
        </p:blipFill>
        <p:spPr>
          <a:xfrm>
            <a:off x="6096000" y="902643"/>
            <a:ext cx="5448299" cy="5052713"/>
          </a:xfrm>
          <a:prstGeom prst="rect">
            <a:avLst/>
          </a:prstGeom>
        </p:spPr>
      </p:pic>
      <p:pic>
        <p:nvPicPr>
          <p:cNvPr id="3" name="Imagen 2">
            <a:extLst>
              <a:ext uri="{FF2B5EF4-FFF2-40B4-BE49-F238E27FC236}">
                <a16:creationId xmlns:a16="http://schemas.microsoft.com/office/drawing/2014/main" id="{83D62592-CC79-2F77-6440-4B763FC38976}"/>
              </a:ext>
            </a:extLst>
          </p:cNvPr>
          <p:cNvPicPr>
            <a:picLocks noChangeAspect="1"/>
          </p:cNvPicPr>
          <p:nvPr/>
        </p:nvPicPr>
        <p:blipFill>
          <a:blip r:embed="rId3"/>
          <a:stretch>
            <a:fillRect/>
          </a:stretch>
        </p:blipFill>
        <p:spPr>
          <a:xfrm>
            <a:off x="647701" y="902643"/>
            <a:ext cx="5010149" cy="3573204"/>
          </a:xfrm>
          <a:prstGeom prst="rect">
            <a:avLst/>
          </a:prstGeom>
        </p:spPr>
      </p:pic>
      <p:sp>
        <p:nvSpPr>
          <p:cNvPr id="4" name="CuadroTexto 3">
            <a:extLst>
              <a:ext uri="{FF2B5EF4-FFF2-40B4-BE49-F238E27FC236}">
                <a16:creationId xmlns:a16="http://schemas.microsoft.com/office/drawing/2014/main" id="{5D0970D9-A84A-6626-F878-0F7A3938819C}"/>
              </a:ext>
            </a:extLst>
          </p:cNvPr>
          <p:cNvSpPr txBox="1"/>
          <p:nvPr/>
        </p:nvSpPr>
        <p:spPr>
          <a:xfrm>
            <a:off x="647700" y="4611231"/>
            <a:ext cx="5010149" cy="1384995"/>
          </a:xfrm>
          <a:prstGeom prst="rect">
            <a:avLst/>
          </a:prstGeom>
          <a:noFill/>
        </p:spPr>
        <p:txBody>
          <a:bodyPr wrap="square" rtlCol="0">
            <a:spAutoFit/>
          </a:bodyPr>
          <a:lstStyle/>
          <a:p>
            <a:r>
              <a:rPr lang="es-CL" sz="1400" dirty="0"/>
              <a:t>En el primer flujo presentado se les ha dicho que no sería una Startup si vende sólo MM$ 360.- al 4to año, al menos debería ir por unos MM$ 800.-</a:t>
            </a:r>
          </a:p>
          <a:p>
            <a:r>
              <a:rPr lang="es-CL" sz="1400" dirty="0"/>
              <a:t>Rehaga el flujo para que sea más atractivo. Y fije los puntos donde capturar inversión.</a:t>
            </a:r>
          </a:p>
          <a:p>
            <a:endParaRPr lang="es-CL" sz="1400" dirty="0"/>
          </a:p>
        </p:txBody>
      </p:sp>
    </p:spTree>
    <p:extLst>
      <p:ext uri="{BB962C8B-B14F-4D97-AF65-F5344CB8AC3E}">
        <p14:creationId xmlns:p14="http://schemas.microsoft.com/office/powerpoint/2010/main" val="37023495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2E9A5796-4C8E-D787-E5EE-BF0ED033690F}"/>
              </a:ext>
            </a:extLst>
          </p:cNvPr>
          <p:cNvGraphicFramePr>
            <a:graphicFrameLocks noGrp="1"/>
          </p:cNvGraphicFramePr>
          <p:nvPr>
            <p:extLst>
              <p:ext uri="{D42A27DB-BD31-4B8C-83A1-F6EECF244321}">
                <p14:modId xmlns:p14="http://schemas.microsoft.com/office/powerpoint/2010/main" val="3184491532"/>
              </p:ext>
            </p:extLst>
          </p:nvPr>
        </p:nvGraphicFramePr>
        <p:xfrm>
          <a:off x="763929" y="1860135"/>
          <a:ext cx="8128002" cy="259588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3269188744"/>
                    </a:ext>
                  </a:extLst>
                </a:gridCol>
                <a:gridCol w="1354667">
                  <a:extLst>
                    <a:ext uri="{9D8B030D-6E8A-4147-A177-3AD203B41FA5}">
                      <a16:colId xmlns:a16="http://schemas.microsoft.com/office/drawing/2014/main" val="681351952"/>
                    </a:ext>
                  </a:extLst>
                </a:gridCol>
                <a:gridCol w="1354667">
                  <a:extLst>
                    <a:ext uri="{9D8B030D-6E8A-4147-A177-3AD203B41FA5}">
                      <a16:colId xmlns:a16="http://schemas.microsoft.com/office/drawing/2014/main" val="24107179"/>
                    </a:ext>
                  </a:extLst>
                </a:gridCol>
                <a:gridCol w="1354667">
                  <a:extLst>
                    <a:ext uri="{9D8B030D-6E8A-4147-A177-3AD203B41FA5}">
                      <a16:colId xmlns:a16="http://schemas.microsoft.com/office/drawing/2014/main" val="1790906411"/>
                    </a:ext>
                  </a:extLst>
                </a:gridCol>
                <a:gridCol w="1354667">
                  <a:extLst>
                    <a:ext uri="{9D8B030D-6E8A-4147-A177-3AD203B41FA5}">
                      <a16:colId xmlns:a16="http://schemas.microsoft.com/office/drawing/2014/main" val="155307701"/>
                    </a:ext>
                  </a:extLst>
                </a:gridCol>
                <a:gridCol w="1354667">
                  <a:extLst>
                    <a:ext uri="{9D8B030D-6E8A-4147-A177-3AD203B41FA5}">
                      <a16:colId xmlns:a16="http://schemas.microsoft.com/office/drawing/2014/main" val="3879349766"/>
                    </a:ext>
                  </a:extLst>
                </a:gridCol>
              </a:tblGrid>
              <a:tr h="370840">
                <a:tc>
                  <a:txBody>
                    <a:bodyPr/>
                    <a:lstStyle/>
                    <a:p>
                      <a:pPr algn="ctr"/>
                      <a:r>
                        <a:rPr lang="es-CL" sz="1200" dirty="0"/>
                        <a:t>??</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3475886725"/>
                  </a:ext>
                </a:extLst>
              </a:tr>
              <a:tr h="370840">
                <a:tc>
                  <a:txBody>
                    <a:bodyPr/>
                    <a:lstStyle/>
                    <a:p>
                      <a:pPr algn="ctr"/>
                      <a:r>
                        <a:rPr lang="es-CL" sz="1200" dirty="0"/>
                        <a:t>??</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3527897137"/>
                  </a:ext>
                </a:extLst>
              </a:tr>
              <a:tr h="370840">
                <a:tc>
                  <a:txBody>
                    <a:bodyPr/>
                    <a:lstStyle/>
                    <a:p>
                      <a:pPr algn="ctr"/>
                      <a:r>
                        <a:rPr lang="es-CL" sz="1200" dirty="0"/>
                        <a:t>??</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2586705712"/>
                  </a:ext>
                </a:extLst>
              </a:tr>
              <a:tr h="370840">
                <a:tc>
                  <a:txBody>
                    <a:bodyPr/>
                    <a:lstStyle/>
                    <a:p>
                      <a:pPr algn="ctr"/>
                      <a:r>
                        <a:rPr lang="es-CL" sz="1200" dirty="0"/>
                        <a:t>??</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382873299"/>
                  </a:ext>
                </a:extLst>
              </a:tr>
              <a:tr h="370840">
                <a:tc>
                  <a:txBody>
                    <a:bodyPr/>
                    <a:lstStyle/>
                    <a:p>
                      <a:pPr algn="ctr"/>
                      <a:r>
                        <a:rPr lang="es-CL" sz="1200" dirty="0"/>
                        <a:t>??</a:t>
                      </a:r>
                    </a:p>
                  </a:txBody>
                  <a:tcPr anchor="ctr"/>
                </a:tc>
                <a:tc>
                  <a:txBody>
                    <a:bodyPr/>
                    <a:lstStyle/>
                    <a:p>
                      <a:endParaRPr lang="es-CL" sz="1200" dirty="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192168962"/>
                  </a:ext>
                </a:extLst>
              </a:tr>
              <a:tr h="370840">
                <a:tc>
                  <a:txBody>
                    <a:bodyPr/>
                    <a:lstStyle/>
                    <a:p>
                      <a:pPr algn="ctr"/>
                      <a:r>
                        <a:rPr lang="es-CL" sz="1000" dirty="0"/>
                        <a:t>Ventas / Tiempo</a:t>
                      </a:r>
                    </a:p>
                  </a:txBody>
                  <a:tcPr anchor="ctr"/>
                </a:tc>
                <a:tc>
                  <a:txBody>
                    <a:bodyPr/>
                    <a:lstStyle/>
                    <a:p>
                      <a:pPr algn="ctr"/>
                      <a:r>
                        <a:rPr lang="es-CL" sz="1200" dirty="0"/>
                        <a:t>1er año</a:t>
                      </a:r>
                    </a:p>
                  </a:txBody>
                  <a:tcPr anchor="ctr"/>
                </a:tc>
                <a:tc>
                  <a:txBody>
                    <a:bodyPr/>
                    <a:lstStyle/>
                    <a:p>
                      <a:pPr algn="ctr"/>
                      <a:r>
                        <a:rPr lang="es-CL" sz="1200" dirty="0"/>
                        <a:t>2do año</a:t>
                      </a:r>
                    </a:p>
                  </a:txBody>
                  <a:tcPr anchor="ctr"/>
                </a:tc>
                <a:tc>
                  <a:txBody>
                    <a:bodyPr/>
                    <a:lstStyle/>
                    <a:p>
                      <a:pPr algn="ctr"/>
                      <a:r>
                        <a:rPr lang="es-CL" sz="1200" dirty="0"/>
                        <a:t>3er año</a:t>
                      </a:r>
                    </a:p>
                  </a:txBody>
                  <a:tcPr anchor="ctr"/>
                </a:tc>
                <a:tc>
                  <a:txBody>
                    <a:bodyPr/>
                    <a:lstStyle/>
                    <a:p>
                      <a:pPr algn="ctr"/>
                      <a:r>
                        <a:rPr lang="es-CL" sz="1200" dirty="0"/>
                        <a:t>4to año</a:t>
                      </a:r>
                    </a:p>
                  </a:txBody>
                  <a:tcPr anchor="ctr"/>
                </a:tc>
                <a:tc>
                  <a:txBody>
                    <a:bodyPr/>
                    <a:lstStyle/>
                    <a:p>
                      <a:pPr algn="ctr"/>
                      <a:r>
                        <a:rPr lang="es-CL" sz="1200" dirty="0"/>
                        <a:t>5to año</a:t>
                      </a:r>
                    </a:p>
                  </a:txBody>
                  <a:tcPr anchor="ctr"/>
                </a:tc>
                <a:extLst>
                  <a:ext uri="{0D108BD9-81ED-4DB2-BD59-A6C34878D82A}">
                    <a16:rowId xmlns:a16="http://schemas.microsoft.com/office/drawing/2014/main" val="2497154790"/>
                  </a:ext>
                </a:extLst>
              </a:tr>
              <a:tr h="370840">
                <a:tc>
                  <a:txBody>
                    <a:bodyPr/>
                    <a:lstStyle/>
                    <a:p>
                      <a:pPr algn="ctr"/>
                      <a:r>
                        <a:rPr lang="es-CL" sz="1000" dirty="0"/>
                        <a:t>Valorización</a:t>
                      </a:r>
                    </a:p>
                  </a:txBody>
                  <a:tcPr anchor="ctr"/>
                </a:tc>
                <a:tc>
                  <a:txBody>
                    <a:bodyPr/>
                    <a:lstStyle/>
                    <a:p>
                      <a:pPr algn="ctr"/>
                      <a:endParaRPr lang="es-CL" sz="1200" dirty="0"/>
                    </a:p>
                  </a:txBody>
                  <a:tcPr anchor="ctr"/>
                </a:tc>
                <a:tc>
                  <a:txBody>
                    <a:bodyPr/>
                    <a:lstStyle/>
                    <a:p>
                      <a:pPr algn="ctr"/>
                      <a:r>
                        <a:rPr lang="es-CL" sz="1200" dirty="0"/>
                        <a:t>??</a:t>
                      </a:r>
                    </a:p>
                  </a:txBody>
                  <a:tcPr anchor="ctr"/>
                </a:tc>
                <a:tc>
                  <a:txBody>
                    <a:bodyPr/>
                    <a:lstStyle/>
                    <a:p>
                      <a:pPr algn="ctr"/>
                      <a:r>
                        <a:rPr lang="es-CL" sz="1200" dirty="0"/>
                        <a:t>??</a:t>
                      </a:r>
                    </a:p>
                  </a:txBody>
                  <a:tcPr anchor="ctr"/>
                </a:tc>
                <a:tc>
                  <a:txBody>
                    <a:bodyPr/>
                    <a:lstStyle/>
                    <a:p>
                      <a:pPr algn="ctr"/>
                      <a:r>
                        <a:rPr lang="es-CL" sz="1200" dirty="0"/>
                        <a:t>??</a:t>
                      </a:r>
                    </a:p>
                  </a:txBody>
                  <a:tcPr anchor="ctr"/>
                </a:tc>
                <a:tc>
                  <a:txBody>
                    <a:bodyPr/>
                    <a:lstStyle/>
                    <a:p>
                      <a:pPr algn="ctr"/>
                      <a:r>
                        <a:rPr lang="es-CL" sz="1200" dirty="0"/>
                        <a:t>??</a:t>
                      </a:r>
                    </a:p>
                  </a:txBody>
                  <a:tcPr anchor="ctr"/>
                </a:tc>
                <a:extLst>
                  <a:ext uri="{0D108BD9-81ED-4DB2-BD59-A6C34878D82A}">
                    <a16:rowId xmlns:a16="http://schemas.microsoft.com/office/drawing/2014/main" val="3907704881"/>
                  </a:ext>
                </a:extLst>
              </a:tr>
            </a:tbl>
          </a:graphicData>
        </a:graphic>
      </p:graphicFrame>
      <p:sp>
        <p:nvSpPr>
          <p:cNvPr id="3" name="Triángulo 2">
            <a:extLst>
              <a:ext uri="{FF2B5EF4-FFF2-40B4-BE49-F238E27FC236}">
                <a16:creationId xmlns:a16="http://schemas.microsoft.com/office/drawing/2014/main" id="{32963821-EFF6-55D7-B0A3-4F1F76FA3986}"/>
              </a:ext>
            </a:extLst>
          </p:cNvPr>
          <p:cNvSpPr/>
          <p:nvPr/>
        </p:nvSpPr>
        <p:spPr>
          <a:xfrm>
            <a:off x="2870521" y="4612551"/>
            <a:ext cx="231493" cy="46982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Triángulo 3">
            <a:extLst>
              <a:ext uri="{FF2B5EF4-FFF2-40B4-BE49-F238E27FC236}">
                <a16:creationId xmlns:a16="http://schemas.microsoft.com/office/drawing/2014/main" id="{52E6764F-E0C4-B32B-E659-9608CD46A32F}"/>
              </a:ext>
            </a:extLst>
          </p:cNvPr>
          <p:cNvSpPr/>
          <p:nvPr/>
        </p:nvSpPr>
        <p:spPr>
          <a:xfrm>
            <a:off x="4481331" y="4612551"/>
            <a:ext cx="231493" cy="46982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Triángulo 4">
            <a:extLst>
              <a:ext uri="{FF2B5EF4-FFF2-40B4-BE49-F238E27FC236}">
                <a16:creationId xmlns:a16="http://schemas.microsoft.com/office/drawing/2014/main" id="{12E62DA2-E517-E8B7-CBE6-59A5E396E26F}"/>
              </a:ext>
            </a:extLst>
          </p:cNvPr>
          <p:cNvSpPr/>
          <p:nvPr/>
        </p:nvSpPr>
        <p:spPr>
          <a:xfrm>
            <a:off x="6657371" y="4612551"/>
            <a:ext cx="231493" cy="46982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CuadroTexto 5">
            <a:extLst>
              <a:ext uri="{FF2B5EF4-FFF2-40B4-BE49-F238E27FC236}">
                <a16:creationId xmlns:a16="http://schemas.microsoft.com/office/drawing/2014/main" id="{5EBB757D-187E-9F1C-8E81-51C548141684}"/>
              </a:ext>
            </a:extLst>
          </p:cNvPr>
          <p:cNvSpPr txBox="1"/>
          <p:nvPr/>
        </p:nvSpPr>
        <p:spPr>
          <a:xfrm>
            <a:off x="1486429" y="4612551"/>
            <a:ext cx="1362874" cy="646331"/>
          </a:xfrm>
          <a:prstGeom prst="rect">
            <a:avLst/>
          </a:prstGeom>
          <a:noFill/>
        </p:spPr>
        <p:txBody>
          <a:bodyPr wrap="none" rtlCol="0">
            <a:spAutoFit/>
          </a:bodyPr>
          <a:lstStyle/>
          <a:p>
            <a:r>
              <a:rPr lang="es-CL" sz="1200" dirty="0"/>
              <a:t>FFF</a:t>
            </a:r>
          </a:p>
          <a:p>
            <a:r>
              <a:rPr lang="es-CL" sz="1200" dirty="0"/>
              <a:t>Fondos públicos</a:t>
            </a:r>
          </a:p>
          <a:p>
            <a:r>
              <a:rPr lang="es-CL" sz="1200" dirty="0"/>
              <a:t>USD$ ?? mill</a:t>
            </a:r>
          </a:p>
        </p:txBody>
      </p:sp>
      <p:sp>
        <p:nvSpPr>
          <p:cNvPr id="7" name="CuadroTexto 6">
            <a:extLst>
              <a:ext uri="{FF2B5EF4-FFF2-40B4-BE49-F238E27FC236}">
                <a16:creationId xmlns:a16="http://schemas.microsoft.com/office/drawing/2014/main" id="{7F6C55C6-C2A6-49ED-2A7B-C94455EC9D4F}"/>
              </a:ext>
            </a:extLst>
          </p:cNvPr>
          <p:cNvSpPr txBox="1"/>
          <p:nvPr/>
        </p:nvSpPr>
        <p:spPr>
          <a:xfrm>
            <a:off x="3118453" y="4612551"/>
            <a:ext cx="1362874" cy="646331"/>
          </a:xfrm>
          <a:prstGeom prst="rect">
            <a:avLst/>
          </a:prstGeom>
          <a:noFill/>
        </p:spPr>
        <p:txBody>
          <a:bodyPr wrap="none" rtlCol="0">
            <a:spAutoFit/>
          </a:bodyPr>
          <a:lstStyle/>
          <a:p>
            <a:r>
              <a:rPr lang="es-CL" sz="1200" dirty="0"/>
              <a:t>Ángeles</a:t>
            </a:r>
          </a:p>
          <a:p>
            <a:r>
              <a:rPr lang="es-CL" sz="1200" dirty="0"/>
              <a:t>Fondos públicos</a:t>
            </a:r>
          </a:p>
          <a:p>
            <a:r>
              <a:rPr lang="es-CL" sz="1200" dirty="0"/>
              <a:t>USD$ ?? mill</a:t>
            </a:r>
          </a:p>
        </p:txBody>
      </p:sp>
      <p:sp>
        <p:nvSpPr>
          <p:cNvPr id="8" name="CuadroTexto 7">
            <a:extLst>
              <a:ext uri="{FF2B5EF4-FFF2-40B4-BE49-F238E27FC236}">
                <a16:creationId xmlns:a16="http://schemas.microsoft.com/office/drawing/2014/main" id="{FDC2968D-3A40-8774-7382-C396EDF7CB87}"/>
              </a:ext>
            </a:extLst>
          </p:cNvPr>
          <p:cNvSpPr txBox="1"/>
          <p:nvPr/>
        </p:nvSpPr>
        <p:spPr>
          <a:xfrm>
            <a:off x="5268410" y="4620712"/>
            <a:ext cx="1080745" cy="461665"/>
          </a:xfrm>
          <a:prstGeom prst="rect">
            <a:avLst/>
          </a:prstGeom>
          <a:noFill/>
        </p:spPr>
        <p:txBody>
          <a:bodyPr wrap="none" rtlCol="0">
            <a:spAutoFit/>
          </a:bodyPr>
          <a:lstStyle/>
          <a:p>
            <a:r>
              <a:rPr lang="es-CL" sz="1200" dirty="0"/>
              <a:t>Serie A</a:t>
            </a:r>
          </a:p>
          <a:p>
            <a:r>
              <a:rPr lang="es-CL" sz="1200" dirty="0"/>
              <a:t>USD$ ?? mill</a:t>
            </a:r>
          </a:p>
        </p:txBody>
      </p:sp>
      <p:sp>
        <p:nvSpPr>
          <p:cNvPr id="9" name="Elipse 8">
            <a:extLst>
              <a:ext uri="{FF2B5EF4-FFF2-40B4-BE49-F238E27FC236}">
                <a16:creationId xmlns:a16="http://schemas.microsoft.com/office/drawing/2014/main" id="{93DC2AB4-719D-F508-1DDC-E0E14B855552}"/>
              </a:ext>
            </a:extLst>
          </p:cNvPr>
          <p:cNvSpPr/>
          <p:nvPr/>
        </p:nvSpPr>
        <p:spPr>
          <a:xfrm>
            <a:off x="4514122" y="3432256"/>
            <a:ext cx="144000" cy="144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 name="Elipse 9">
            <a:extLst>
              <a:ext uri="{FF2B5EF4-FFF2-40B4-BE49-F238E27FC236}">
                <a16:creationId xmlns:a16="http://schemas.microsoft.com/office/drawing/2014/main" id="{082F576B-CD4E-EAED-249D-2B1757437E41}"/>
              </a:ext>
            </a:extLst>
          </p:cNvPr>
          <p:cNvSpPr/>
          <p:nvPr/>
        </p:nvSpPr>
        <p:spPr>
          <a:xfrm>
            <a:off x="5870291" y="2901748"/>
            <a:ext cx="144000" cy="144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Elipse 10">
            <a:extLst>
              <a:ext uri="{FF2B5EF4-FFF2-40B4-BE49-F238E27FC236}">
                <a16:creationId xmlns:a16="http://schemas.microsoft.com/office/drawing/2014/main" id="{E550F232-F3A2-2C5F-8A9E-EF19EA02FC26}"/>
              </a:ext>
            </a:extLst>
          </p:cNvPr>
          <p:cNvSpPr/>
          <p:nvPr/>
        </p:nvSpPr>
        <p:spPr>
          <a:xfrm>
            <a:off x="7282400" y="1987354"/>
            <a:ext cx="144000" cy="144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2" name="Elipse 11">
            <a:extLst>
              <a:ext uri="{FF2B5EF4-FFF2-40B4-BE49-F238E27FC236}">
                <a16:creationId xmlns:a16="http://schemas.microsoft.com/office/drawing/2014/main" id="{F344E657-02CA-1067-EDF9-BB7458CF1FD9}"/>
              </a:ext>
            </a:extLst>
          </p:cNvPr>
          <p:cNvSpPr/>
          <p:nvPr/>
        </p:nvSpPr>
        <p:spPr>
          <a:xfrm>
            <a:off x="2632651" y="2995804"/>
            <a:ext cx="720000" cy="720000"/>
          </a:xfrm>
          <a:prstGeom prst="ellipse">
            <a:avLst/>
          </a:prstGeom>
          <a:solidFill>
            <a:srgbClr val="593BB9">
              <a:alpha val="50980"/>
            </a:srgb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s-CL" sz="800" dirty="0">
                <a:solidFill>
                  <a:schemeClr val="tx1"/>
                </a:solidFill>
              </a:rPr>
              <a:t>Proyecto estratégico #1</a:t>
            </a:r>
          </a:p>
        </p:txBody>
      </p:sp>
      <p:sp>
        <p:nvSpPr>
          <p:cNvPr id="13" name="Elipse 12">
            <a:extLst>
              <a:ext uri="{FF2B5EF4-FFF2-40B4-BE49-F238E27FC236}">
                <a16:creationId xmlns:a16="http://schemas.microsoft.com/office/drawing/2014/main" id="{B07A4A99-39BA-FA4D-2080-23404EE0C48C}"/>
              </a:ext>
            </a:extLst>
          </p:cNvPr>
          <p:cNvSpPr/>
          <p:nvPr/>
        </p:nvSpPr>
        <p:spPr>
          <a:xfrm>
            <a:off x="3766965" y="2784256"/>
            <a:ext cx="720000" cy="720000"/>
          </a:xfrm>
          <a:prstGeom prst="ellipse">
            <a:avLst/>
          </a:prstGeom>
          <a:solidFill>
            <a:srgbClr val="593BB9">
              <a:alpha val="50980"/>
            </a:srgb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s-CL" sz="800" dirty="0">
                <a:solidFill>
                  <a:schemeClr val="tx1"/>
                </a:solidFill>
              </a:rPr>
              <a:t>Proyecto estratégico #2</a:t>
            </a:r>
          </a:p>
        </p:txBody>
      </p:sp>
      <p:sp>
        <p:nvSpPr>
          <p:cNvPr id="14" name="Elipse 13">
            <a:extLst>
              <a:ext uri="{FF2B5EF4-FFF2-40B4-BE49-F238E27FC236}">
                <a16:creationId xmlns:a16="http://schemas.microsoft.com/office/drawing/2014/main" id="{43E6E09D-478D-D5E1-F5C1-86E327E0E3E0}"/>
              </a:ext>
            </a:extLst>
          </p:cNvPr>
          <p:cNvSpPr/>
          <p:nvPr/>
        </p:nvSpPr>
        <p:spPr>
          <a:xfrm>
            <a:off x="4192854" y="2512509"/>
            <a:ext cx="720000" cy="720000"/>
          </a:xfrm>
          <a:prstGeom prst="ellipse">
            <a:avLst/>
          </a:prstGeom>
          <a:solidFill>
            <a:srgbClr val="593BB9">
              <a:alpha val="50980"/>
            </a:srgb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s-CL" sz="800" dirty="0">
                <a:solidFill>
                  <a:schemeClr val="tx1"/>
                </a:solidFill>
              </a:rPr>
              <a:t>Proyecto estratégico #3</a:t>
            </a:r>
          </a:p>
        </p:txBody>
      </p:sp>
      <p:sp>
        <p:nvSpPr>
          <p:cNvPr id="15" name="CuadroTexto 14">
            <a:extLst>
              <a:ext uri="{FF2B5EF4-FFF2-40B4-BE49-F238E27FC236}">
                <a16:creationId xmlns:a16="http://schemas.microsoft.com/office/drawing/2014/main" id="{7B482F5B-9C6A-4128-66B0-6B8CBB5C20EE}"/>
              </a:ext>
            </a:extLst>
          </p:cNvPr>
          <p:cNvSpPr txBox="1"/>
          <p:nvPr/>
        </p:nvSpPr>
        <p:spPr>
          <a:xfrm>
            <a:off x="763929" y="453133"/>
            <a:ext cx="8128002" cy="307777"/>
          </a:xfrm>
          <a:prstGeom prst="rect">
            <a:avLst/>
          </a:prstGeom>
          <a:noFill/>
        </p:spPr>
        <p:txBody>
          <a:bodyPr wrap="square" rtlCol="0">
            <a:spAutoFit/>
          </a:bodyPr>
          <a:lstStyle/>
          <a:p>
            <a:r>
              <a:rPr lang="es-CL" sz="1400" dirty="0"/>
              <a:t>Explicar el plan y principales indicadores y riesgos</a:t>
            </a:r>
          </a:p>
        </p:txBody>
      </p:sp>
      <p:graphicFrame>
        <p:nvGraphicFramePr>
          <p:cNvPr id="16" name="Tabla 15">
            <a:extLst>
              <a:ext uri="{FF2B5EF4-FFF2-40B4-BE49-F238E27FC236}">
                <a16:creationId xmlns:a16="http://schemas.microsoft.com/office/drawing/2014/main" id="{D6153658-23DA-FC73-EB7F-C3C7BC819F9E}"/>
              </a:ext>
            </a:extLst>
          </p:cNvPr>
          <p:cNvGraphicFramePr>
            <a:graphicFrameLocks noGrp="1"/>
          </p:cNvGraphicFramePr>
          <p:nvPr>
            <p:extLst>
              <p:ext uri="{D42A27DB-BD31-4B8C-83A1-F6EECF244321}">
                <p14:modId xmlns:p14="http://schemas.microsoft.com/office/powerpoint/2010/main" val="1730851253"/>
              </p:ext>
            </p:extLst>
          </p:nvPr>
        </p:nvGraphicFramePr>
        <p:xfrm>
          <a:off x="9094437" y="1860135"/>
          <a:ext cx="2800530" cy="2586796"/>
        </p:xfrm>
        <a:graphic>
          <a:graphicData uri="http://schemas.openxmlformats.org/drawingml/2006/table">
            <a:tbl>
              <a:tblPr firstRow="1" bandRow="1">
                <a:tableStyleId>{5940675A-B579-460E-94D1-54222C63F5DA}</a:tableStyleId>
              </a:tblPr>
              <a:tblGrid>
                <a:gridCol w="933510">
                  <a:extLst>
                    <a:ext uri="{9D8B030D-6E8A-4147-A177-3AD203B41FA5}">
                      <a16:colId xmlns:a16="http://schemas.microsoft.com/office/drawing/2014/main" val="3552759365"/>
                    </a:ext>
                  </a:extLst>
                </a:gridCol>
                <a:gridCol w="933510">
                  <a:extLst>
                    <a:ext uri="{9D8B030D-6E8A-4147-A177-3AD203B41FA5}">
                      <a16:colId xmlns:a16="http://schemas.microsoft.com/office/drawing/2014/main" val="3579175587"/>
                    </a:ext>
                  </a:extLst>
                </a:gridCol>
                <a:gridCol w="933510">
                  <a:extLst>
                    <a:ext uri="{9D8B030D-6E8A-4147-A177-3AD203B41FA5}">
                      <a16:colId xmlns:a16="http://schemas.microsoft.com/office/drawing/2014/main" val="1888180784"/>
                    </a:ext>
                  </a:extLst>
                </a:gridCol>
              </a:tblGrid>
              <a:tr h="416266">
                <a:tc>
                  <a:txBody>
                    <a:bodyPr/>
                    <a:lstStyle/>
                    <a:p>
                      <a:pPr algn="ctr"/>
                      <a:r>
                        <a:rPr lang="es-CL" sz="800" b="1" dirty="0"/>
                        <a:t>INDICADORES DE ÉXITO</a:t>
                      </a:r>
                    </a:p>
                  </a:txBody>
                  <a:tcPr anchor="ctr"/>
                </a:tc>
                <a:tc>
                  <a:txBody>
                    <a:bodyPr/>
                    <a:lstStyle/>
                    <a:p>
                      <a:pPr algn="ctr"/>
                      <a:r>
                        <a:rPr lang="es-CL" sz="1100" b="1" dirty="0"/>
                        <a:t>4to año</a:t>
                      </a:r>
                    </a:p>
                  </a:txBody>
                  <a:tcPr anchor="ctr"/>
                </a:tc>
                <a:tc>
                  <a:txBody>
                    <a:bodyPr/>
                    <a:lstStyle/>
                    <a:p>
                      <a:pPr algn="ctr"/>
                      <a:r>
                        <a:rPr lang="es-CL" sz="1100" b="1" dirty="0"/>
                        <a:t>5to año</a:t>
                      </a:r>
                    </a:p>
                  </a:txBody>
                  <a:tcPr anchor="ctr"/>
                </a:tc>
                <a:extLst>
                  <a:ext uri="{0D108BD9-81ED-4DB2-BD59-A6C34878D82A}">
                    <a16:rowId xmlns:a16="http://schemas.microsoft.com/office/drawing/2014/main" val="3762796135"/>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754347163"/>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4293141614"/>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1272607573"/>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2741043591"/>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1992390671"/>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508688125"/>
                  </a:ext>
                </a:extLst>
              </a:tr>
            </a:tbl>
          </a:graphicData>
        </a:graphic>
      </p:graphicFrame>
      <p:cxnSp>
        <p:nvCxnSpPr>
          <p:cNvPr id="17" name="Conector recto 16">
            <a:extLst>
              <a:ext uri="{FF2B5EF4-FFF2-40B4-BE49-F238E27FC236}">
                <a16:creationId xmlns:a16="http://schemas.microsoft.com/office/drawing/2014/main" id="{BF29EF32-7585-8228-6B72-2ADD6A4C68F9}"/>
              </a:ext>
            </a:extLst>
          </p:cNvPr>
          <p:cNvCxnSpPr>
            <a:cxnSpLocks/>
            <a:endCxn id="9" idx="2"/>
          </p:cNvCxnSpPr>
          <p:nvPr/>
        </p:nvCxnSpPr>
        <p:spPr>
          <a:xfrm flipV="1">
            <a:off x="3614738" y="3504256"/>
            <a:ext cx="899384" cy="72000"/>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18" name="Conector recto 17">
            <a:extLst>
              <a:ext uri="{FF2B5EF4-FFF2-40B4-BE49-F238E27FC236}">
                <a16:creationId xmlns:a16="http://schemas.microsoft.com/office/drawing/2014/main" id="{82CACF88-9CD6-9E54-0E96-6BF1D74344D5}"/>
              </a:ext>
            </a:extLst>
          </p:cNvPr>
          <p:cNvCxnSpPr>
            <a:stCxn id="9" idx="6"/>
            <a:endCxn id="10" idx="2"/>
          </p:cNvCxnSpPr>
          <p:nvPr/>
        </p:nvCxnSpPr>
        <p:spPr>
          <a:xfrm flipV="1">
            <a:off x="4658122" y="2973748"/>
            <a:ext cx="1212169" cy="530508"/>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19" name="Conector recto 18">
            <a:extLst>
              <a:ext uri="{FF2B5EF4-FFF2-40B4-BE49-F238E27FC236}">
                <a16:creationId xmlns:a16="http://schemas.microsoft.com/office/drawing/2014/main" id="{74236618-9000-7DBD-F360-934E40CC7840}"/>
              </a:ext>
            </a:extLst>
          </p:cNvPr>
          <p:cNvCxnSpPr>
            <a:cxnSpLocks/>
            <a:endCxn id="11" idx="3"/>
          </p:cNvCxnSpPr>
          <p:nvPr/>
        </p:nvCxnSpPr>
        <p:spPr>
          <a:xfrm flipV="1">
            <a:off x="6014291" y="2110266"/>
            <a:ext cx="1289197" cy="791482"/>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20" name="Conector recto 19">
            <a:extLst>
              <a:ext uri="{FF2B5EF4-FFF2-40B4-BE49-F238E27FC236}">
                <a16:creationId xmlns:a16="http://schemas.microsoft.com/office/drawing/2014/main" id="{E4615704-4828-8154-575E-22D2A152405B}"/>
              </a:ext>
            </a:extLst>
          </p:cNvPr>
          <p:cNvCxnSpPr>
            <a:stCxn id="11" idx="7"/>
          </p:cNvCxnSpPr>
          <p:nvPr/>
        </p:nvCxnSpPr>
        <p:spPr>
          <a:xfrm flipV="1">
            <a:off x="7405312" y="1471605"/>
            <a:ext cx="652838" cy="536837"/>
          </a:xfrm>
          <a:prstGeom prst="line">
            <a:avLst/>
          </a:prstGeom>
          <a:ln w="127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535777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49797F3-8732-C669-B83A-292AA0B6E7E3}"/>
              </a:ext>
            </a:extLst>
          </p:cNvPr>
          <p:cNvSpPr txBox="1"/>
          <p:nvPr/>
        </p:nvSpPr>
        <p:spPr>
          <a:xfrm>
            <a:off x="657224" y="507847"/>
            <a:ext cx="11068611" cy="830997"/>
          </a:xfrm>
          <a:prstGeom prst="rect">
            <a:avLst/>
          </a:prstGeom>
          <a:noFill/>
        </p:spPr>
        <p:txBody>
          <a:bodyPr wrap="square" rtlCol="0">
            <a:spAutoFit/>
          </a:bodyPr>
          <a:lstStyle/>
          <a:p>
            <a:r>
              <a:rPr lang="es-CL" sz="2800" b="1" dirty="0">
                <a:latin typeface="Raleway" pitchFamily="2" charset="77"/>
              </a:rPr>
              <a:t>Caso Startup ONE</a:t>
            </a:r>
          </a:p>
          <a:p>
            <a:r>
              <a:rPr lang="es-CL" b="1" dirty="0">
                <a:solidFill>
                  <a:srgbClr val="593BB9"/>
                </a:solidFill>
                <a:latin typeface="Raleway" pitchFamily="2" charset="77"/>
              </a:rPr>
              <a:t>Requerimiento de capital, valorizaciones y perfil de inversionistas</a:t>
            </a:r>
          </a:p>
        </p:txBody>
      </p:sp>
      <p:sp>
        <p:nvSpPr>
          <p:cNvPr id="3" name="Rectángulo 2">
            <a:extLst>
              <a:ext uri="{FF2B5EF4-FFF2-40B4-BE49-F238E27FC236}">
                <a16:creationId xmlns:a16="http://schemas.microsoft.com/office/drawing/2014/main" id="{0D1EE80F-D151-73EE-5F02-0B3AEC3823C3}"/>
              </a:ext>
            </a:extLst>
          </p:cNvPr>
          <p:cNvSpPr/>
          <p:nvPr/>
        </p:nvSpPr>
        <p:spPr>
          <a:xfrm>
            <a:off x="800100" y="1843088"/>
            <a:ext cx="3500438" cy="5715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noProof="0" dirty="0"/>
              <a:t>Seed</a:t>
            </a:r>
            <a:endParaRPr lang="es-CL" dirty="0"/>
          </a:p>
        </p:txBody>
      </p:sp>
      <p:sp>
        <p:nvSpPr>
          <p:cNvPr id="4" name="Rectángulo 3">
            <a:extLst>
              <a:ext uri="{FF2B5EF4-FFF2-40B4-BE49-F238E27FC236}">
                <a16:creationId xmlns:a16="http://schemas.microsoft.com/office/drawing/2014/main" id="{278424EB-15E3-15B4-43B0-C3CC722AEA5D}"/>
              </a:ext>
            </a:extLst>
          </p:cNvPr>
          <p:cNvSpPr/>
          <p:nvPr/>
        </p:nvSpPr>
        <p:spPr>
          <a:xfrm>
            <a:off x="4567238" y="1843088"/>
            <a:ext cx="3500438" cy="5715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CL" dirty="0"/>
              <a:t>Ángeles</a:t>
            </a:r>
          </a:p>
        </p:txBody>
      </p:sp>
      <p:sp>
        <p:nvSpPr>
          <p:cNvPr id="5" name="Rectángulo 4">
            <a:extLst>
              <a:ext uri="{FF2B5EF4-FFF2-40B4-BE49-F238E27FC236}">
                <a16:creationId xmlns:a16="http://schemas.microsoft.com/office/drawing/2014/main" id="{E5559710-4173-4815-256D-313ADE4EF8B8}"/>
              </a:ext>
            </a:extLst>
          </p:cNvPr>
          <p:cNvSpPr/>
          <p:nvPr/>
        </p:nvSpPr>
        <p:spPr>
          <a:xfrm>
            <a:off x="8334376" y="1843088"/>
            <a:ext cx="3500438" cy="5715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CL" dirty="0"/>
              <a:t>Serie A</a:t>
            </a:r>
          </a:p>
        </p:txBody>
      </p:sp>
      <p:sp>
        <p:nvSpPr>
          <p:cNvPr id="6" name="Rectángulo 5">
            <a:extLst>
              <a:ext uri="{FF2B5EF4-FFF2-40B4-BE49-F238E27FC236}">
                <a16:creationId xmlns:a16="http://schemas.microsoft.com/office/drawing/2014/main" id="{E826C9C9-78F3-1DD4-DA45-C8EFC15434C4}"/>
              </a:ext>
            </a:extLst>
          </p:cNvPr>
          <p:cNvSpPr/>
          <p:nvPr/>
        </p:nvSpPr>
        <p:spPr>
          <a:xfrm>
            <a:off x="800100" y="2514601"/>
            <a:ext cx="3500438" cy="914399"/>
          </a:xfrm>
          <a:prstGeom prst="rect">
            <a:avLst/>
          </a:prstGeom>
        </p:spPr>
        <p:style>
          <a:lnRef idx="2">
            <a:schemeClr val="dk1"/>
          </a:lnRef>
          <a:fillRef idx="1">
            <a:schemeClr val="lt1"/>
          </a:fillRef>
          <a:effectRef idx="0">
            <a:schemeClr val="dk1"/>
          </a:effectRef>
          <a:fontRef idx="minor">
            <a:schemeClr val="dk1"/>
          </a:fontRef>
        </p:style>
        <p:txBody>
          <a:bodyPr rtlCol="0" anchor="t"/>
          <a:lstStyle/>
          <a:p>
            <a:r>
              <a:rPr lang="es-CL" sz="1400" dirty="0"/>
              <a:t>Monto requerido/ tiempo</a:t>
            </a:r>
          </a:p>
        </p:txBody>
      </p:sp>
      <p:sp>
        <p:nvSpPr>
          <p:cNvPr id="9" name="Rectángulo 8">
            <a:extLst>
              <a:ext uri="{FF2B5EF4-FFF2-40B4-BE49-F238E27FC236}">
                <a16:creationId xmlns:a16="http://schemas.microsoft.com/office/drawing/2014/main" id="{208AB652-1EC1-94D9-4348-E9127808001B}"/>
              </a:ext>
            </a:extLst>
          </p:cNvPr>
          <p:cNvSpPr/>
          <p:nvPr/>
        </p:nvSpPr>
        <p:spPr>
          <a:xfrm>
            <a:off x="800100" y="3529014"/>
            <a:ext cx="3500438" cy="914399"/>
          </a:xfrm>
          <a:prstGeom prst="rect">
            <a:avLst/>
          </a:prstGeom>
        </p:spPr>
        <p:style>
          <a:lnRef idx="2">
            <a:schemeClr val="dk1"/>
          </a:lnRef>
          <a:fillRef idx="1">
            <a:schemeClr val="lt1"/>
          </a:fillRef>
          <a:effectRef idx="0">
            <a:schemeClr val="dk1"/>
          </a:effectRef>
          <a:fontRef idx="minor">
            <a:schemeClr val="dk1"/>
          </a:fontRef>
        </p:style>
        <p:txBody>
          <a:bodyPr rtlCol="0" anchor="t"/>
          <a:lstStyle/>
          <a:p>
            <a:r>
              <a:rPr lang="es-CL" sz="1400" dirty="0"/>
              <a:t>Valorización/ Método</a:t>
            </a:r>
          </a:p>
        </p:txBody>
      </p:sp>
      <p:sp>
        <p:nvSpPr>
          <p:cNvPr id="10" name="Rectángulo 9">
            <a:extLst>
              <a:ext uri="{FF2B5EF4-FFF2-40B4-BE49-F238E27FC236}">
                <a16:creationId xmlns:a16="http://schemas.microsoft.com/office/drawing/2014/main" id="{D9E10B37-3E2D-6A56-5DA1-19D1DD00C9A1}"/>
              </a:ext>
            </a:extLst>
          </p:cNvPr>
          <p:cNvSpPr/>
          <p:nvPr/>
        </p:nvSpPr>
        <p:spPr>
          <a:xfrm>
            <a:off x="800100" y="4543427"/>
            <a:ext cx="3500438" cy="914399"/>
          </a:xfrm>
          <a:prstGeom prst="rect">
            <a:avLst/>
          </a:prstGeom>
        </p:spPr>
        <p:style>
          <a:lnRef idx="2">
            <a:schemeClr val="dk1"/>
          </a:lnRef>
          <a:fillRef idx="1">
            <a:schemeClr val="lt1"/>
          </a:fillRef>
          <a:effectRef idx="0">
            <a:schemeClr val="dk1"/>
          </a:effectRef>
          <a:fontRef idx="minor">
            <a:schemeClr val="dk1"/>
          </a:fontRef>
        </p:style>
        <p:txBody>
          <a:bodyPr rtlCol="0" anchor="t"/>
          <a:lstStyle/>
          <a:p>
            <a:r>
              <a:rPr lang="es-CL" sz="1400" dirty="0"/>
              <a:t>Perfil de inversionista</a:t>
            </a:r>
          </a:p>
        </p:txBody>
      </p:sp>
      <p:sp>
        <p:nvSpPr>
          <p:cNvPr id="11" name="Rectángulo 10">
            <a:extLst>
              <a:ext uri="{FF2B5EF4-FFF2-40B4-BE49-F238E27FC236}">
                <a16:creationId xmlns:a16="http://schemas.microsoft.com/office/drawing/2014/main" id="{80E12DAD-5BBE-0CC8-31FB-B3E2F128AEB9}"/>
              </a:ext>
            </a:extLst>
          </p:cNvPr>
          <p:cNvSpPr/>
          <p:nvPr/>
        </p:nvSpPr>
        <p:spPr>
          <a:xfrm>
            <a:off x="4567238" y="2514601"/>
            <a:ext cx="3500438" cy="914399"/>
          </a:xfrm>
          <a:prstGeom prst="rect">
            <a:avLst/>
          </a:prstGeom>
        </p:spPr>
        <p:style>
          <a:lnRef idx="2">
            <a:schemeClr val="dk1"/>
          </a:lnRef>
          <a:fillRef idx="1">
            <a:schemeClr val="lt1"/>
          </a:fillRef>
          <a:effectRef idx="0">
            <a:schemeClr val="dk1"/>
          </a:effectRef>
          <a:fontRef idx="minor">
            <a:schemeClr val="dk1"/>
          </a:fontRef>
        </p:style>
        <p:txBody>
          <a:bodyPr rtlCol="0" anchor="t"/>
          <a:lstStyle/>
          <a:p>
            <a:r>
              <a:rPr lang="es-CL" sz="1400" dirty="0"/>
              <a:t>Monto requerido/ tiempo</a:t>
            </a:r>
          </a:p>
        </p:txBody>
      </p:sp>
      <p:sp>
        <p:nvSpPr>
          <p:cNvPr id="12" name="Rectángulo 11">
            <a:extLst>
              <a:ext uri="{FF2B5EF4-FFF2-40B4-BE49-F238E27FC236}">
                <a16:creationId xmlns:a16="http://schemas.microsoft.com/office/drawing/2014/main" id="{C93D3256-22CE-0FAA-E07A-242AA6D9E5BD}"/>
              </a:ext>
            </a:extLst>
          </p:cNvPr>
          <p:cNvSpPr/>
          <p:nvPr/>
        </p:nvSpPr>
        <p:spPr>
          <a:xfrm>
            <a:off x="4567238" y="3529014"/>
            <a:ext cx="3500438" cy="914399"/>
          </a:xfrm>
          <a:prstGeom prst="rect">
            <a:avLst/>
          </a:prstGeom>
        </p:spPr>
        <p:style>
          <a:lnRef idx="2">
            <a:schemeClr val="dk1"/>
          </a:lnRef>
          <a:fillRef idx="1">
            <a:schemeClr val="lt1"/>
          </a:fillRef>
          <a:effectRef idx="0">
            <a:schemeClr val="dk1"/>
          </a:effectRef>
          <a:fontRef idx="minor">
            <a:schemeClr val="dk1"/>
          </a:fontRef>
        </p:style>
        <p:txBody>
          <a:bodyPr rtlCol="0" anchor="t"/>
          <a:lstStyle/>
          <a:p>
            <a:r>
              <a:rPr lang="es-CL" sz="1400" dirty="0"/>
              <a:t>Valorización/ Método</a:t>
            </a:r>
          </a:p>
        </p:txBody>
      </p:sp>
      <p:sp>
        <p:nvSpPr>
          <p:cNvPr id="13" name="Rectángulo 12">
            <a:extLst>
              <a:ext uri="{FF2B5EF4-FFF2-40B4-BE49-F238E27FC236}">
                <a16:creationId xmlns:a16="http://schemas.microsoft.com/office/drawing/2014/main" id="{E4686E9E-215A-FF11-D83F-4BD17A419563}"/>
              </a:ext>
            </a:extLst>
          </p:cNvPr>
          <p:cNvSpPr/>
          <p:nvPr/>
        </p:nvSpPr>
        <p:spPr>
          <a:xfrm>
            <a:off x="4567238" y="4543427"/>
            <a:ext cx="3500438" cy="914399"/>
          </a:xfrm>
          <a:prstGeom prst="rect">
            <a:avLst/>
          </a:prstGeom>
        </p:spPr>
        <p:style>
          <a:lnRef idx="2">
            <a:schemeClr val="dk1"/>
          </a:lnRef>
          <a:fillRef idx="1">
            <a:schemeClr val="lt1"/>
          </a:fillRef>
          <a:effectRef idx="0">
            <a:schemeClr val="dk1"/>
          </a:effectRef>
          <a:fontRef idx="minor">
            <a:schemeClr val="dk1"/>
          </a:fontRef>
        </p:style>
        <p:txBody>
          <a:bodyPr rtlCol="0" anchor="t"/>
          <a:lstStyle/>
          <a:p>
            <a:r>
              <a:rPr lang="es-CL" sz="1400" dirty="0"/>
              <a:t>Perfil de inversionista</a:t>
            </a:r>
          </a:p>
        </p:txBody>
      </p:sp>
      <p:sp>
        <p:nvSpPr>
          <p:cNvPr id="14" name="Rectángulo 13">
            <a:extLst>
              <a:ext uri="{FF2B5EF4-FFF2-40B4-BE49-F238E27FC236}">
                <a16:creationId xmlns:a16="http://schemas.microsoft.com/office/drawing/2014/main" id="{A7DDB7A4-217A-9B40-EC3D-E48EEE7D81ED}"/>
              </a:ext>
            </a:extLst>
          </p:cNvPr>
          <p:cNvSpPr/>
          <p:nvPr/>
        </p:nvSpPr>
        <p:spPr>
          <a:xfrm>
            <a:off x="8334376" y="2514601"/>
            <a:ext cx="3500438" cy="914399"/>
          </a:xfrm>
          <a:prstGeom prst="rect">
            <a:avLst/>
          </a:prstGeom>
        </p:spPr>
        <p:style>
          <a:lnRef idx="2">
            <a:schemeClr val="dk1"/>
          </a:lnRef>
          <a:fillRef idx="1">
            <a:schemeClr val="lt1"/>
          </a:fillRef>
          <a:effectRef idx="0">
            <a:schemeClr val="dk1"/>
          </a:effectRef>
          <a:fontRef idx="minor">
            <a:schemeClr val="dk1"/>
          </a:fontRef>
        </p:style>
        <p:txBody>
          <a:bodyPr rtlCol="0" anchor="t"/>
          <a:lstStyle/>
          <a:p>
            <a:r>
              <a:rPr lang="es-CL" sz="1400" dirty="0"/>
              <a:t>Monto requerido/ tiempo</a:t>
            </a:r>
          </a:p>
        </p:txBody>
      </p:sp>
      <p:sp>
        <p:nvSpPr>
          <p:cNvPr id="15" name="Rectángulo 14">
            <a:extLst>
              <a:ext uri="{FF2B5EF4-FFF2-40B4-BE49-F238E27FC236}">
                <a16:creationId xmlns:a16="http://schemas.microsoft.com/office/drawing/2014/main" id="{C68EAF13-1318-F51B-BF65-D4D57FF7EC4D}"/>
              </a:ext>
            </a:extLst>
          </p:cNvPr>
          <p:cNvSpPr/>
          <p:nvPr/>
        </p:nvSpPr>
        <p:spPr>
          <a:xfrm>
            <a:off x="8334376" y="3529014"/>
            <a:ext cx="3500438" cy="914399"/>
          </a:xfrm>
          <a:prstGeom prst="rect">
            <a:avLst/>
          </a:prstGeom>
        </p:spPr>
        <p:style>
          <a:lnRef idx="2">
            <a:schemeClr val="dk1"/>
          </a:lnRef>
          <a:fillRef idx="1">
            <a:schemeClr val="lt1"/>
          </a:fillRef>
          <a:effectRef idx="0">
            <a:schemeClr val="dk1"/>
          </a:effectRef>
          <a:fontRef idx="minor">
            <a:schemeClr val="dk1"/>
          </a:fontRef>
        </p:style>
        <p:txBody>
          <a:bodyPr rtlCol="0" anchor="t"/>
          <a:lstStyle/>
          <a:p>
            <a:r>
              <a:rPr lang="es-CL" sz="1400" dirty="0"/>
              <a:t>Valorización/ Método</a:t>
            </a:r>
          </a:p>
        </p:txBody>
      </p:sp>
      <p:sp>
        <p:nvSpPr>
          <p:cNvPr id="16" name="Rectángulo 15">
            <a:extLst>
              <a:ext uri="{FF2B5EF4-FFF2-40B4-BE49-F238E27FC236}">
                <a16:creationId xmlns:a16="http://schemas.microsoft.com/office/drawing/2014/main" id="{4AC3015E-2FDD-EF72-9251-0FFD7D0320D8}"/>
              </a:ext>
            </a:extLst>
          </p:cNvPr>
          <p:cNvSpPr/>
          <p:nvPr/>
        </p:nvSpPr>
        <p:spPr>
          <a:xfrm>
            <a:off x="8334376" y="4543427"/>
            <a:ext cx="3500438" cy="914399"/>
          </a:xfrm>
          <a:prstGeom prst="rect">
            <a:avLst/>
          </a:prstGeom>
        </p:spPr>
        <p:style>
          <a:lnRef idx="2">
            <a:schemeClr val="dk1"/>
          </a:lnRef>
          <a:fillRef idx="1">
            <a:schemeClr val="lt1"/>
          </a:fillRef>
          <a:effectRef idx="0">
            <a:schemeClr val="dk1"/>
          </a:effectRef>
          <a:fontRef idx="minor">
            <a:schemeClr val="dk1"/>
          </a:fontRef>
        </p:style>
        <p:txBody>
          <a:bodyPr rtlCol="0" anchor="t"/>
          <a:lstStyle/>
          <a:p>
            <a:r>
              <a:rPr lang="es-CL" sz="1400" dirty="0"/>
              <a:t>Perfil de inversionista</a:t>
            </a:r>
          </a:p>
        </p:txBody>
      </p:sp>
    </p:spTree>
    <p:extLst>
      <p:ext uri="{BB962C8B-B14F-4D97-AF65-F5344CB8AC3E}">
        <p14:creationId xmlns:p14="http://schemas.microsoft.com/office/powerpoint/2010/main" val="35081275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54D7B-C229-3973-095F-E00B8DBA80B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ABA4B41-52B2-0C5A-60B4-0954EBE5E277}"/>
              </a:ext>
            </a:extLst>
          </p:cNvPr>
          <p:cNvSpPr txBox="1"/>
          <p:nvPr/>
        </p:nvSpPr>
        <p:spPr>
          <a:xfrm>
            <a:off x="657224" y="507847"/>
            <a:ext cx="11068611" cy="830997"/>
          </a:xfrm>
          <a:prstGeom prst="rect">
            <a:avLst/>
          </a:prstGeom>
          <a:noFill/>
        </p:spPr>
        <p:txBody>
          <a:bodyPr wrap="square" rtlCol="0">
            <a:spAutoFit/>
          </a:bodyPr>
          <a:lstStyle/>
          <a:p>
            <a:r>
              <a:rPr lang="es-CL" sz="2800" b="1" dirty="0">
                <a:latin typeface="Raleway" pitchFamily="2" charset="77"/>
              </a:rPr>
              <a:t>Caso Startup ONE</a:t>
            </a:r>
          </a:p>
          <a:p>
            <a:r>
              <a:rPr lang="es-CL" b="1" dirty="0" err="1">
                <a:solidFill>
                  <a:srgbClr val="593BB9"/>
                </a:solidFill>
                <a:latin typeface="Raleway" pitchFamily="2" charset="77"/>
              </a:rPr>
              <a:t>Cap</a:t>
            </a:r>
            <a:r>
              <a:rPr lang="es-CL" b="1" dirty="0">
                <a:solidFill>
                  <a:srgbClr val="593BB9"/>
                </a:solidFill>
                <a:latin typeface="Raleway" pitchFamily="2" charset="77"/>
              </a:rPr>
              <a:t> table proyectado</a:t>
            </a:r>
          </a:p>
        </p:txBody>
      </p:sp>
      <p:graphicFrame>
        <p:nvGraphicFramePr>
          <p:cNvPr id="7" name="Tabla 6">
            <a:extLst>
              <a:ext uri="{FF2B5EF4-FFF2-40B4-BE49-F238E27FC236}">
                <a16:creationId xmlns:a16="http://schemas.microsoft.com/office/drawing/2014/main" id="{AF67897D-0C07-5A36-7BDF-723BD82530B6}"/>
              </a:ext>
            </a:extLst>
          </p:cNvPr>
          <p:cNvGraphicFramePr>
            <a:graphicFrameLocks noGrp="1"/>
          </p:cNvGraphicFramePr>
          <p:nvPr>
            <p:extLst>
              <p:ext uri="{D42A27DB-BD31-4B8C-83A1-F6EECF244321}">
                <p14:modId xmlns:p14="http://schemas.microsoft.com/office/powerpoint/2010/main" val="762099711"/>
              </p:ext>
            </p:extLst>
          </p:nvPr>
        </p:nvGraphicFramePr>
        <p:xfrm>
          <a:off x="2228849" y="1734820"/>
          <a:ext cx="9344025" cy="3388360"/>
        </p:xfrm>
        <a:graphic>
          <a:graphicData uri="http://schemas.openxmlformats.org/drawingml/2006/table">
            <a:tbl>
              <a:tblPr firstRow="1" bandRow="1">
                <a:tableStyleId>{5940675A-B579-460E-94D1-54222C63F5DA}</a:tableStyleId>
              </a:tblPr>
              <a:tblGrid>
                <a:gridCol w="1038225">
                  <a:extLst>
                    <a:ext uri="{9D8B030D-6E8A-4147-A177-3AD203B41FA5}">
                      <a16:colId xmlns:a16="http://schemas.microsoft.com/office/drawing/2014/main" val="3516870898"/>
                    </a:ext>
                  </a:extLst>
                </a:gridCol>
                <a:gridCol w="1038225">
                  <a:extLst>
                    <a:ext uri="{9D8B030D-6E8A-4147-A177-3AD203B41FA5}">
                      <a16:colId xmlns:a16="http://schemas.microsoft.com/office/drawing/2014/main" val="1929096429"/>
                    </a:ext>
                  </a:extLst>
                </a:gridCol>
                <a:gridCol w="1038225">
                  <a:extLst>
                    <a:ext uri="{9D8B030D-6E8A-4147-A177-3AD203B41FA5}">
                      <a16:colId xmlns:a16="http://schemas.microsoft.com/office/drawing/2014/main" val="4212268407"/>
                    </a:ext>
                  </a:extLst>
                </a:gridCol>
                <a:gridCol w="1038225">
                  <a:extLst>
                    <a:ext uri="{9D8B030D-6E8A-4147-A177-3AD203B41FA5}">
                      <a16:colId xmlns:a16="http://schemas.microsoft.com/office/drawing/2014/main" val="114552454"/>
                    </a:ext>
                  </a:extLst>
                </a:gridCol>
                <a:gridCol w="1038225">
                  <a:extLst>
                    <a:ext uri="{9D8B030D-6E8A-4147-A177-3AD203B41FA5}">
                      <a16:colId xmlns:a16="http://schemas.microsoft.com/office/drawing/2014/main" val="2742536588"/>
                    </a:ext>
                  </a:extLst>
                </a:gridCol>
                <a:gridCol w="1038225">
                  <a:extLst>
                    <a:ext uri="{9D8B030D-6E8A-4147-A177-3AD203B41FA5}">
                      <a16:colId xmlns:a16="http://schemas.microsoft.com/office/drawing/2014/main" val="2129509277"/>
                    </a:ext>
                  </a:extLst>
                </a:gridCol>
                <a:gridCol w="1038225">
                  <a:extLst>
                    <a:ext uri="{9D8B030D-6E8A-4147-A177-3AD203B41FA5}">
                      <a16:colId xmlns:a16="http://schemas.microsoft.com/office/drawing/2014/main" val="1083776398"/>
                    </a:ext>
                  </a:extLst>
                </a:gridCol>
                <a:gridCol w="1038225">
                  <a:extLst>
                    <a:ext uri="{9D8B030D-6E8A-4147-A177-3AD203B41FA5}">
                      <a16:colId xmlns:a16="http://schemas.microsoft.com/office/drawing/2014/main" val="1255874805"/>
                    </a:ext>
                  </a:extLst>
                </a:gridCol>
                <a:gridCol w="1038225">
                  <a:extLst>
                    <a:ext uri="{9D8B030D-6E8A-4147-A177-3AD203B41FA5}">
                      <a16:colId xmlns:a16="http://schemas.microsoft.com/office/drawing/2014/main" val="690170297"/>
                    </a:ext>
                  </a:extLst>
                </a:gridCol>
              </a:tblGrid>
              <a:tr h="370840">
                <a:tc>
                  <a:txBody>
                    <a:bodyPr/>
                    <a:lstStyle/>
                    <a:p>
                      <a:pPr algn="ctr"/>
                      <a:r>
                        <a:rPr lang="es-CL" sz="1000" b="1" dirty="0"/>
                        <a:t>Accionista</a:t>
                      </a:r>
                    </a:p>
                  </a:txBody>
                  <a:tcPr anchor="ctr"/>
                </a:tc>
                <a:tc>
                  <a:txBody>
                    <a:bodyPr/>
                    <a:lstStyle/>
                    <a:p>
                      <a:pPr algn="ctr"/>
                      <a:r>
                        <a:rPr lang="es-CL" sz="1000" b="1" dirty="0"/>
                        <a:t>Emisión inicial</a:t>
                      </a:r>
                    </a:p>
                  </a:txBody>
                  <a:tcPr anchor="ctr"/>
                </a:tc>
                <a:tc>
                  <a:txBody>
                    <a:bodyPr/>
                    <a:lstStyle/>
                    <a:p>
                      <a:pPr algn="ctr"/>
                      <a:r>
                        <a:rPr lang="es-CL" sz="1000" b="1" dirty="0"/>
                        <a:t>%</a:t>
                      </a:r>
                    </a:p>
                  </a:txBody>
                  <a:tcPr anchor="ctr"/>
                </a:tc>
                <a:tc>
                  <a:txBody>
                    <a:bodyPr/>
                    <a:lstStyle/>
                    <a:p>
                      <a:pPr algn="ctr"/>
                      <a:r>
                        <a:rPr lang="es-CL" sz="1000" b="1" dirty="0"/>
                        <a:t>Ingreso ángeles</a:t>
                      </a:r>
                    </a:p>
                  </a:txBody>
                  <a:tcPr anchor="ctr"/>
                </a:tc>
                <a:tc>
                  <a:txBody>
                    <a:bodyPr/>
                    <a:lstStyle/>
                    <a:p>
                      <a:pPr algn="ctr"/>
                      <a:r>
                        <a:rPr lang="es-CL" sz="1000" b="1" dirty="0"/>
                        <a:t>%</a:t>
                      </a:r>
                    </a:p>
                  </a:txBody>
                  <a:tcPr anchor="ctr"/>
                </a:tc>
                <a:tc>
                  <a:txBody>
                    <a:bodyPr/>
                    <a:lstStyle/>
                    <a:p>
                      <a:pPr algn="ctr"/>
                      <a:r>
                        <a:rPr lang="es-CL" sz="1000" b="1" dirty="0"/>
                        <a:t>Alineación del talento</a:t>
                      </a:r>
                    </a:p>
                  </a:txBody>
                  <a:tcPr anchor="ctr"/>
                </a:tc>
                <a:tc>
                  <a:txBody>
                    <a:bodyPr/>
                    <a:lstStyle/>
                    <a:p>
                      <a:pPr algn="ctr"/>
                      <a:r>
                        <a:rPr lang="es-CL" sz="1000" b="1" dirty="0"/>
                        <a:t>%</a:t>
                      </a:r>
                    </a:p>
                  </a:txBody>
                  <a:tcPr anchor="ctr"/>
                </a:tc>
                <a:tc>
                  <a:txBody>
                    <a:bodyPr/>
                    <a:lstStyle/>
                    <a:p>
                      <a:pPr algn="ctr"/>
                      <a:r>
                        <a:rPr lang="es-CL" sz="1000" b="1" dirty="0"/>
                        <a:t>Serie A</a:t>
                      </a:r>
                    </a:p>
                  </a:txBody>
                  <a:tcPr anchor="ctr"/>
                </a:tc>
                <a:tc>
                  <a:txBody>
                    <a:bodyPr/>
                    <a:lstStyle/>
                    <a:p>
                      <a:pPr algn="ctr"/>
                      <a:r>
                        <a:rPr lang="es-CL" sz="1000" b="1" dirty="0"/>
                        <a:t>%</a:t>
                      </a:r>
                    </a:p>
                  </a:txBody>
                  <a:tcPr anchor="ctr"/>
                </a:tc>
                <a:extLst>
                  <a:ext uri="{0D108BD9-81ED-4DB2-BD59-A6C34878D82A}">
                    <a16:rowId xmlns:a16="http://schemas.microsoft.com/office/drawing/2014/main" val="1421472808"/>
                  </a:ext>
                </a:extLst>
              </a:tr>
              <a:tr h="370840">
                <a:tc>
                  <a:txBody>
                    <a:bodyPr/>
                    <a:lstStyle/>
                    <a:p>
                      <a:r>
                        <a:rPr lang="es-CL" sz="1000" dirty="0"/>
                        <a:t>Fundador</a:t>
                      </a:r>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extLst>
                  <a:ext uri="{0D108BD9-81ED-4DB2-BD59-A6C34878D82A}">
                    <a16:rowId xmlns:a16="http://schemas.microsoft.com/office/drawing/2014/main" val="2172676767"/>
                  </a:ext>
                </a:extLst>
              </a:tr>
              <a:tr h="370840">
                <a:tc>
                  <a:txBody>
                    <a:bodyPr/>
                    <a:lstStyle/>
                    <a:p>
                      <a:r>
                        <a:rPr lang="es-CL" sz="1000" dirty="0"/>
                        <a:t>Cofundador 1</a:t>
                      </a:r>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extLst>
                  <a:ext uri="{0D108BD9-81ED-4DB2-BD59-A6C34878D82A}">
                    <a16:rowId xmlns:a16="http://schemas.microsoft.com/office/drawing/2014/main" val="2368331733"/>
                  </a:ext>
                </a:extLst>
              </a:tr>
              <a:tr h="370840">
                <a:tc>
                  <a:txBody>
                    <a:bodyPr/>
                    <a:lstStyle/>
                    <a:p>
                      <a:r>
                        <a:rPr lang="es-CL" sz="1000" dirty="0"/>
                        <a:t>Cofundador 2</a:t>
                      </a:r>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extLst>
                  <a:ext uri="{0D108BD9-81ED-4DB2-BD59-A6C34878D82A}">
                    <a16:rowId xmlns:a16="http://schemas.microsoft.com/office/drawing/2014/main" val="3826268152"/>
                  </a:ext>
                </a:extLst>
              </a:tr>
              <a:tr h="370840">
                <a:tc>
                  <a:txBody>
                    <a:bodyPr/>
                    <a:lstStyle/>
                    <a:p>
                      <a:r>
                        <a:rPr lang="es-CL" sz="1000" dirty="0"/>
                        <a:t>Ángel 1</a:t>
                      </a:r>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extLst>
                  <a:ext uri="{0D108BD9-81ED-4DB2-BD59-A6C34878D82A}">
                    <a16:rowId xmlns:a16="http://schemas.microsoft.com/office/drawing/2014/main" val="1384985910"/>
                  </a:ext>
                </a:extLst>
              </a:tr>
              <a:tr h="370840">
                <a:tc>
                  <a:txBody>
                    <a:bodyPr/>
                    <a:lstStyle/>
                    <a:p>
                      <a:r>
                        <a:rPr lang="es-CL" sz="1000" dirty="0"/>
                        <a:t>Alineación talento</a:t>
                      </a:r>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extLst>
                  <a:ext uri="{0D108BD9-81ED-4DB2-BD59-A6C34878D82A}">
                    <a16:rowId xmlns:a16="http://schemas.microsoft.com/office/drawing/2014/main" val="3836190259"/>
                  </a:ext>
                </a:extLst>
              </a:tr>
              <a:tr h="370840">
                <a:tc>
                  <a:txBody>
                    <a:bodyPr/>
                    <a:lstStyle/>
                    <a:p>
                      <a:r>
                        <a:rPr lang="es-CL" sz="1000" dirty="0"/>
                        <a:t>Inversor 1 SA</a:t>
                      </a:r>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extLst>
                  <a:ext uri="{0D108BD9-81ED-4DB2-BD59-A6C34878D82A}">
                    <a16:rowId xmlns:a16="http://schemas.microsoft.com/office/drawing/2014/main" val="202981297"/>
                  </a:ext>
                </a:extLst>
              </a:tr>
              <a:tr h="370840">
                <a:tc>
                  <a:txBody>
                    <a:bodyPr/>
                    <a:lstStyle/>
                    <a:p>
                      <a:r>
                        <a:rPr lang="es-CL" sz="1000" dirty="0"/>
                        <a:t>Inversor 2 SA</a:t>
                      </a:r>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tc>
                  <a:txBody>
                    <a:bodyPr/>
                    <a:lstStyle/>
                    <a:p>
                      <a:pPr algn="r"/>
                      <a:endParaRPr lang="es-CL" sz="1000" dirty="0"/>
                    </a:p>
                  </a:txBody>
                  <a:tcPr anchor="ctr"/>
                </a:tc>
                <a:extLst>
                  <a:ext uri="{0D108BD9-81ED-4DB2-BD59-A6C34878D82A}">
                    <a16:rowId xmlns:a16="http://schemas.microsoft.com/office/drawing/2014/main" val="2174424542"/>
                  </a:ext>
                </a:extLst>
              </a:tr>
              <a:tr h="370840">
                <a:tc>
                  <a:txBody>
                    <a:bodyPr/>
                    <a:lstStyle/>
                    <a:p>
                      <a:r>
                        <a:rPr lang="es-CL" sz="1000" b="1" dirty="0"/>
                        <a:t>TOTAL</a:t>
                      </a:r>
                    </a:p>
                  </a:txBody>
                  <a:tcPr anchor="ctr"/>
                </a:tc>
                <a:tc>
                  <a:txBody>
                    <a:bodyPr/>
                    <a:lstStyle/>
                    <a:p>
                      <a:pPr algn="r"/>
                      <a:r>
                        <a:rPr lang="es-CL" sz="1000" dirty="0"/>
                        <a:t>10.000</a:t>
                      </a:r>
                    </a:p>
                  </a:txBody>
                  <a:tcPr anchor="ctr"/>
                </a:tc>
                <a:tc>
                  <a:txBody>
                    <a:bodyPr/>
                    <a:lstStyle/>
                    <a:p>
                      <a:pPr algn="r"/>
                      <a:r>
                        <a:rPr lang="es-CL" sz="1000" dirty="0"/>
                        <a:t>100%</a:t>
                      </a:r>
                    </a:p>
                  </a:txBody>
                  <a:tcPr anchor="ctr"/>
                </a:tc>
                <a:tc>
                  <a:txBody>
                    <a:bodyPr/>
                    <a:lstStyle/>
                    <a:p>
                      <a:pPr algn="r"/>
                      <a:endParaRPr lang="es-CL" sz="1000" dirty="0"/>
                    </a:p>
                  </a:txBody>
                  <a:tcPr anchor="ctr"/>
                </a:tc>
                <a:tc>
                  <a:txBody>
                    <a:bodyPr/>
                    <a:lstStyle/>
                    <a:p>
                      <a:pPr algn="r"/>
                      <a:r>
                        <a:rPr lang="es-CL" sz="1000" dirty="0"/>
                        <a:t>100%</a:t>
                      </a:r>
                    </a:p>
                  </a:txBody>
                  <a:tcPr anchor="ctr"/>
                </a:tc>
                <a:tc>
                  <a:txBody>
                    <a:bodyPr/>
                    <a:lstStyle/>
                    <a:p>
                      <a:pPr algn="r"/>
                      <a:endParaRPr lang="es-CL" sz="1000" dirty="0"/>
                    </a:p>
                  </a:txBody>
                  <a:tcPr anchor="ctr"/>
                </a:tc>
                <a:tc>
                  <a:txBody>
                    <a:bodyPr/>
                    <a:lstStyle/>
                    <a:p>
                      <a:pPr algn="r"/>
                      <a:r>
                        <a:rPr lang="es-CL" sz="1000" dirty="0"/>
                        <a:t>100%</a:t>
                      </a:r>
                    </a:p>
                  </a:txBody>
                  <a:tcPr anchor="ctr"/>
                </a:tc>
                <a:tc>
                  <a:txBody>
                    <a:bodyPr/>
                    <a:lstStyle/>
                    <a:p>
                      <a:pPr algn="r"/>
                      <a:endParaRPr lang="es-CL" sz="1000" dirty="0"/>
                    </a:p>
                  </a:txBody>
                  <a:tcPr anchor="ctr"/>
                </a:tc>
                <a:tc>
                  <a:txBody>
                    <a:bodyPr/>
                    <a:lstStyle/>
                    <a:p>
                      <a:pPr algn="r"/>
                      <a:r>
                        <a:rPr lang="es-CL" sz="1000" dirty="0"/>
                        <a:t>100%</a:t>
                      </a:r>
                    </a:p>
                  </a:txBody>
                  <a:tcPr anchor="ctr"/>
                </a:tc>
                <a:extLst>
                  <a:ext uri="{0D108BD9-81ED-4DB2-BD59-A6C34878D82A}">
                    <a16:rowId xmlns:a16="http://schemas.microsoft.com/office/drawing/2014/main" val="454209467"/>
                  </a:ext>
                </a:extLst>
              </a:tr>
            </a:tbl>
          </a:graphicData>
        </a:graphic>
      </p:graphicFrame>
      <p:sp>
        <p:nvSpPr>
          <p:cNvPr id="8" name="CuadroTexto 7">
            <a:extLst>
              <a:ext uri="{FF2B5EF4-FFF2-40B4-BE49-F238E27FC236}">
                <a16:creationId xmlns:a16="http://schemas.microsoft.com/office/drawing/2014/main" id="{F380D343-8E07-82CD-02CD-E51B4E0285FC}"/>
              </a:ext>
            </a:extLst>
          </p:cNvPr>
          <p:cNvSpPr txBox="1"/>
          <p:nvPr/>
        </p:nvSpPr>
        <p:spPr>
          <a:xfrm>
            <a:off x="314325" y="1734820"/>
            <a:ext cx="1671638" cy="2462213"/>
          </a:xfrm>
          <a:prstGeom prst="rect">
            <a:avLst/>
          </a:prstGeom>
          <a:noFill/>
        </p:spPr>
        <p:txBody>
          <a:bodyPr wrap="square" rtlCol="0">
            <a:spAutoFit/>
          </a:bodyPr>
          <a:lstStyle/>
          <a:p>
            <a:r>
              <a:rPr lang="es-CL" sz="1400" dirty="0"/>
              <a:t>Proyecte una tabla de capitalización, con proyecciones, supuestos y metas.</a:t>
            </a:r>
          </a:p>
          <a:p>
            <a:endParaRPr lang="es-CL" sz="1400" dirty="0"/>
          </a:p>
          <a:p>
            <a:r>
              <a:rPr lang="es-CL" sz="1400" dirty="0"/>
              <a:t>Considere alinear el </a:t>
            </a:r>
            <a:r>
              <a:rPr lang="es-CL" sz="1400"/>
              <a:t>talento antes de la serie A.</a:t>
            </a:r>
            <a:endParaRPr lang="es-CL" sz="1400" dirty="0"/>
          </a:p>
        </p:txBody>
      </p:sp>
    </p:spTree>
    <p:extLst>
      <p:ext uri="{BB962C8B-B14F-4D97-AF65-F5344CB8AC3E}">
        <p14:creationId xmlns:p14="http://schemas.microsoft.com/office/powerpoint/2010/main" val="38470087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0F440-F792-9D1E-D135-57D82D6BDD0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D821F8-00A6-73DD-2733-D614C1196DBE}"/>
              </a:ext>
            </a:extLst>
          </p:cNvPr>
          <p:cNvSpPr txBox="1"/>
          <p:nvPr/>
        </p:nvSpPr>
        <p:spPr>
          <a:xfrm>
            <a:off x="577336" y="2255508"/>
            <a:ext cx="5911953" cy="2062103"/>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buFontTx/>
              <a:buNone/>
              <a:tabLst/>
              <a:defRPr/>
            </a:pPr>
            <a:r>
              <a:rPr lang="es-CL" sz="3200" b="1" dirty="0">
                <a:solidFill>
                  <a:schemeClr val="accent3"/>
                </a:solidFill>
                <a:latin typeface="+mj-lt"/>
              </a:rPr>
              <a:t>Plan de crecimiento: </a:t>
            </a:r>
            <a:r>
              <a:rPr kumimoji="0" lang="es-CL" sz="3200" b="1" i="0" u="none" strike="noStrike" kern="1200" cap="none" spc="0" normalizeH="0" baseline="0" noProof="0" dirty="0">
                <a:ln>
                  <a:noFill/>
                </a:ln>
                <a:solidFill>
                  <a:schemeClr val="accent2"/>
                </a:solidFill>
                <a:effectLst/>
                <a:uLnTx/>
                <a:uFillTx/>
                <a:latin typeface="+mj-lt"/>
                <a:ea typeface="+mn-ea"/>
                <a:cs typeface="+mn-cs"/>
              </a:rPr>
              <a:t>Proyección de flujos de caja para estrategia del emprendimiento</a:t>
            </a:r>
            <a:endParaRPr kumimoji="0" lang="es-CL" sz="3200" b="1" i="0" u="none" strike="noStrike" kern="1200" cap="none" spc="0" normalizeH="0" baseline="0" noProof="0" dirty="0">
              <a:ln>
                <a:noFill/>
              </a:ln>
              <a:solidFill>
                <a:schemeClr val="accent5"/>
              </a:solidFill>
              <a:effectLst/>
              <a:uLnTx/>
              <a:uFillTx/>
              <a:latin typeface="+mj-lt"/>
              <a:ea typeface="+mn-ea"/>
              <a:cs typeface="+mn-cs"/>
            </a:endParaRPr>
          </a:p>
        </p:txBody>
      </p:sp>
      <p:sp>
        <p:nvSpPr>
          <p:cNvPr id="5" name="Rectangle 9">
            <a:extLst>
              <a:ext uri="{FF2B5EF4-FFF2-40B4-BE49-F238E27FC236}">
                <a16:creationId xmlns:a16="http://schemas.microsoft.com/office/drawing/2014/main" id="{0F7B0607-9BB7-F4F5-A707-71576E876050}"/>
              </a:ext>
            </a:extLst>
          </p:cNvPr>
          <p:cNvSpPr/>
          <p:nvPr/>
        </p:nvSpPr>
        <p:spPr>
          <a:xfrm>
            <a:off x="658813" y="1682303"/>
            <a:ext cx="1821733" cy="3565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b="1" spc="300" dirty="0">
                <a:solidFill>
                  <a:schemeClr val="tx2"/>
                </a:solidFill>
                <a:latin typeface="+mj-lt"/>
              </a:rPr>
              <a:t>TOOLKIT </a:t>
            </a:r>
          </a:p>
        </p:txBody>
      </p:sp>
      <p:pic>
        <p:nvPicPr>
          <p:cNvPr id="6" name="Imagen 5">
            <a:extLst>
              <a:ext uri="{FF2B5EF4-FFF2-40B4-BE49-F238E27FC236}">
                <a16:creationId xmlns:a16="http://schemas.microsoft.com/office/drawing/2014/main" id="{22FE852F-6F9A-70C4-B138-8286E35D8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765176"/>
            <a:ext cx="5437186" cy="5437186"/>
          </a:xfrm>
          <a:prstGeom prst="rect">
            <a:avLst/>
          </a:prstGeom>
        </p:spPr>
      </p:pic>
    </p:spTree>
    <p:extLst>
      <p:ext uri="{BB962C8B-B14F-4D97-AF65-F5344CB8AC3E}">
        <p14:creationId xmlns:p14="http://schemas.microsoft.com/office/powerpoint/2010/main" val="3603012734"/>
      </p:ext>
    </p:extLst>
  </p:cSld>
  <p:clrMapOvr>
    <a:masterClrMapping/>
  </p:clrMapOvr>
</p:sld>
</file>

<file path=ppt/theme/theme1.xml><?xml version="1.0" encoding="utf-8"?>
<a:theme xmlns:a="http://schemas.openxmlformats.org/drawingml/2006/main" name="1_Office Theme">
  <a:themeElements>
    <a:clrScheme name="UINN">
      <a:dk1>
        <a:srgbClr val="000000"/>
      </a:dk1>
      <a:lt1>
        <a:srgbClr val="FFFFFF"/>
      </a:lt1>
      <a:dk2>
        <a:srgbClr val="4E696D"/>
      </a:dk2>
      <a:lt2>
        <a:srgbClr val="E7E6E6"/>
      </a:lt2>
      <a:accent1>
        <a:srgbClr val="B13258"/>
      </a:accent1>
      <a:accent2>
        <a:srgbClr val="593BB9"/>
      </a:accent2>
      <a:accent3>
        <a:srgbClr val="482261"/>
      </a:accent3>
      <a:accent4>
        <a:srgbClr val="79F7D5"/>
      </a:accent4>
      <a:accent5>
        <a:srgbClr val="7FF226"/>
      </a:accent5>
      <a:accent6>
        <a:srgbClr val="FEF330"/>
      </a:accent6>
      <a:hlink>
        <a:srgbClr val="0563C1"/>
      </a:hlink>
      <a:folHlink>
        <a:srgbClr val="954F72"/>
      </a:folHlink>
    </a:clrScheme>
    <a:fontScheme name="DinamizaTipografias">
      <a:majorFont>
        <a:latin typeface="Montserrat ExtraBold"/>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933E2300-8C1F-477D-8082-2E0FFBC01B47}" vid="{474764C6-E147-44E8-9BFF-FD7C9920C77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5795</TotalTime>
  <Words>5846</Words>
  <Application>Microsoft Macintosh PowerPoint</Application>
  <PresentationFormat>Panorámica</PresentationFormat>
  <Paragraphs>633</Paragraphs>
  <Slides>44</Slides>
  <Notes>10</Notes>
  <HiddenSlides>0</HiddenSlides>
  <MMClips>0</MMClips>
  <ScaleCrop>false</ScaleCrop>
  <HeadingPairs>
    <vt:vector size="6" baseType="variant">
      <vt:variant>
        <vt:lpstr>Fuentes usadas</vt:lpstr>
      </vt:variant>
      <vt:variant>
        <vt:i4>13</vt:i4>
      </vt:variant>
      <vt:variant>
        <vt:lpstr>Tema</vt:lpstr>
      </vt:variant>
      <vt:variant>
        <vt:i4>1</vt:i4>
      </vt:variant>
      <vt:variant>
        <vt:lpstr>Títulos de diapositiva</vt:lpstr>
      </vt:variant>
      <vt:variant>
        <vt:i4>44</vt:i4>
      </vt:variant>
    </vt:vector>
  </HeadingPairs>
  <TitlesOfParts>
    <vt:vector size="58" baseType="lpstr">
      <vt:lpstr>Montserrat ExtraBold</vt:lpstr>
      <vt:lpstr>Montserrat SemiBold</vt:lpstr>
      <vt:lpstr>Montserrat</vt:lpstr>
      <vt:lpstr>Wingdings</vt:lpstr>
      <vt:lpstr>Calibri</vt:lpstr>
      <vt:lpstr>Ink Free</vt:lpstr>
      <vt:lpstr>Aptos Narrow</vt:lpstr>
      <vt:lpstr>Helvetica Neue</vt:lpstr>
      <vt:lpstr>Arial</vt:lpstr>
      <vt:lpstr>Gotham</vt:lpstr>
      <vt:lpstr>Avenir Next</vt:lpstr>
      <vt:lpstr>Raleway</vt:lpstr>
      <vt:lpstr>Montserrat Medium</vt:lpstr>
      <vt:lpstr>1_Office Theme</vt:lpstr>
      <vt:lpstr>Presentación de PowerPoint</vt:lpstr>
      <vt:lpstr>¿Por qué usamos un plan de crecimiento?</vt:lpstr>
      <vt:lpstr>Presentación de PowerPoint</vt:lpstr>
      <vt:lpstr>Plan de crecimiento: Flujos financieros y estrategia</vt:lpstr>
      <vt:lpstr>¿Cómo se divide la planilla de trabajo?</vt:lpstr>
      <vt:lpstr>Herramientas Centrales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Mis primeros 9 meses</vt:lpstr>
      <vt:lpstr>El paso a paso: Mis primeros 9 meses</vt:lpstr>
      <vt:lpstr>Presentación de PowerPoint</vt:lpstr>
      <vt:lpstr>Caso: Aplicación de adopción de mascotas </vt:lpstr>
      <vt:lpstr>Presentación de PowerPoint</vt:lpstr>
      <vt:lpstr>Mi plan de crecimiento</vt:lpstr>
      <vt:lpstr>El paso a paso: Mi plan de crecimiento</vt:lpstr>
      <vt:lpstr>Presentación de PowerPoint</vt:lpstr>
      <vt:lpstr>Caso: Aplicación de adopción de mascotas </vt:lpstr>
      <vt:lpstr>Mi plan de crecimiento: Ingresos</vt:lpstr>
      <vt:lpstr>Mi plan de crecimiento: Estructura de Costos y Gastos</vt:lpstr>
      <vt:lpstr>Mi plan de crecimiento: Estructura de Costos y Gastos</vt:lpstr>
      <vt:lpstr>Paso a paso: Cuáles son los hitos, y los objetivos y resultados clave a conseguir</vt:lpstr>
      <vt:lpstr>Construcción de la curva de crecimiento</vt:lpstr>
      <vt:lpstr>Mi plan de crecimiento</vt:lpstr>
      <vt:lpstr>Presentación de PowerPoint</vt:lpstr>
      <vt:lpstr>Cap Table</vt:lpstr>
      <vt:lpstr>El paso a paso: Cap Table</vt:lpstr>
      <vt:lpstr>Presentación de PowerPoint</vt:lpstr>
      <vt:lpstr>El paso a paso: Cap Table</vt:lpstr>
      <vt:lpstr>Presentación de PowerPoint</vt:lpstr>
      <vt:lpstr>Presentación de PowerPoint</vt:lpstr>
      <vt:lpstr>Ejercicio Startup ONE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Inti Nuñez</dc:creator>
  <cp:lastModifiedBy>Inti Nuñez</cp:lastModifiedBy>
  <cp:revision>285</cp:revision>
  <dcterms:created xsi:type="dcterms:W3CDTF">2020-08-03T17:19:28Z</dcterms:created>
  <dcterms:modified xsi:type="dcterms:W3CDTF">2025-10-07T11:40:07Z</dcterms:modified>
</cp:coreProperties>
</file>