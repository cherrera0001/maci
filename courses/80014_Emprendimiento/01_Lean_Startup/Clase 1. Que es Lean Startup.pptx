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6" r:id="rId2"/>
  </p:sldMasterIdLst>
  <p:notesMasterIdLst>
    <p:notesMasterId r:id="rId57"/>
  </p:notesMasterIdLst>
  <p:sldIdLst>
    <p:sldId id="257" r:id="rId3"/>
    <p:sldId id="1859" r:id="rId4"/>
    <p:sldId id="261" r:id="rId5"/>
    <p:sldId id="1830" r:id="rId6"/>
    <p:sldId id="1794" r:id="rId7"/>
    <p:sldId id="1813" r:id="rId8"/>
    <p:sldId id="1853" r:id="rId9"/>
    <p:sldId id="1837" r:id="rId10"/>
    <p:sldId id="1838" r:id="rId11"/>
    <p:sldId id="1793" r:id="rId12"/>
    <p:sldId id="1812" r:id="rId13"/>
    <p:sldId id="1819" r:id="rId14"/>
    <p:sldId id="1839" r:id="rId15"/>
    <p:sldId id="1851" r:id="rId16"/>
    <p:sldId id="1795" r:id="rId17"/>
    <p:sldId id="1801" r:id="rId18"/>
    <p:sldId id="1796" r:id="rId19"/>
    <p:sldId id="1797" r:id="rId20"/>
    <p:sldId id="1817" r:id="rId21"/>
    <p:sldId id="262" r:id="rId22"/>
    <p:sldId id="1924" r:id="rId23"/>
    <p:sldId id="2067" r:id="rId24"/>
    <p:sldId id="1925" r:id="rId25"/>
    <p:sldId id="920" r:id="rId26"/>
    <p:sldId id="880" r:id="rId27"/>
    <p:sldId id="1204" r:id="rId28"/>
    <p:sldId id="276" r:id="rId29"/>
    <p:sldId id="277" r:id="rId30"/>
    <p:sldId id="2065" r:id="rId31"/>
    <p:sldId id="1927" r:id="rId32"/>
    <p:sldId id="1930" r:id="rId33"/>
    <p:sldId id="1939" r:id="rId34"/>
    <p:sldId id="1940" r:id="rId35"/>
    <p:sldId id="1931" r:id="rId36"/>
    <p:sldId id="1941" r:id="rId37"/>
    <p:sldId id="1928" r:id="rId38"/>
    <p:sldId id="2063" r:id="rId39"/>
    <p:sldId id="1923" r:id="rId40"/>
    <p:sldId id="1922" r:id="rId41"/>
    <p:sldId id="510" r:id="rId42"/>
    <p:sldId id="2064" r:id="rId43"/>
    <p:sldId id="511" r:id="rId44"/>
    <p:sldId id="2071" r:id="rId45"/>
    <p:sldId id="2072" r:id="rId46"/>
    <p:sldId id="2068" r:id="rId47"/>
    <p:sldId id="2076" r:id="rId48"/>
    <p:sldId id="263" r:id="rId49"/>
    <p:sldId id="1826" r:id="rId50"/>
    <p:sldId id="1827" r:id="rId51"/>
    <p:sldId id="278" r:id="rId52"/>
    <p:sldId id="280" r:id="rId53"/>
    <p:sldId id="264" r:id="rId54"/>
    <p:sldId id="266" r:id="rId55"/>
    <p:sldId id="2077" r:id="rId56"/>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lase 1.1 Que es Lean Startup" id="{0F5EE2DD-DA99-9D4F-B9BF-0C4B696FC3BD}">
          <p14:sldIdLst>
            <p14:sldId id="257"/>
            <p14:sldId id="1859"/>
          </p14:sldIdLst>
        </p14:section>
        <p14:section name="Que es una Startup" id="{49412171-810A-2644-B079-D369036C4AC9}">
          <p14:sldIdLst>
            <p14:sldId id="261"/>
            <p14:sldId id="1830"/>
            <p14:sldId id="1794"/>
            <p14:sldId id="1813"/>
            <p14:sldId id="1853"/>
            <p14:sldId id="1837"/>
            <p14:sldId id="1838"/>
            <p14:sldId id="1793"/>
            <p14:sldId id="1812"/>
            <p14:sldId id="1819"/>
            <p14:sldId id="1839"/>
            <p14:sldId id="1851"/>
            <p14:sldId id="1795"/>
            <p14:sldId id="1801"/>
            <p14:sldId id="1796"/>
            <p14:sldId id="1797"/>
            <p14:sldId id="1817"/>
          </p14:sldIdLst>
        </p14:section>
        <p14:section name="La lógica de crecimiento Lean Startup" id="{2FD6CA10-9A93-C346-AE63-CDE6DC4D19BA}">
          <p14:sldIdLst>
            <p14:sldId id="262"/>
            <p14:sldId id="1924"/>
            <p14:sldId id="2067"/>
            <p14:sldId id="1925"/>
            <p14:sldId id="920"/>
            <p14:sldId id="880"/>
            <p14:sldId id="1204"/>
            <p14:sldId id="276"/>
            <p14:sldId id="277"/>
            <p14:sldId id="2065"/>
            <p14:sldId id="1927"/>
            <p14:sldId id="1930"/>
            <p14:sldId id="1939"/>
            <p14:sldId id="1940"/>
            <p14:sldId id="1931"/>
            <p14:sldId id="1941"/>
            <p14:sldId id="1928"/>
            <p14:sldId id="2063"/>
            <p14:sldId id="1923"/>
            <p14:sldId id="1922"/>
            <p14:sldId id="510"/>
            <p14:sldId id="2064"/>
            <p14:sldId id="511"/>
            <p14:sldId id="2071"/>
            <p14:sldId id="2072"/>
            <p14:sldId id="2068"/>
            <p14:sldId id="2076"/>
          </p14:sldIdLst>
        </p14:section>
        <p14:section name="Las finanzas en la lógica de crecimiento" id="{55A3DA15-B1AC-DF43-AA89-9FA3CD5C7F53}">
          <p14:sldIdLst>
            <p14:sldId id="263"/>
            <p14:sldId id="1826"/>
            <p14:sldId id="1827"/>
            <p14:sldId id="278"/>
            <p14:sldId id="280"/>
          </p14:sldIdLst>
        </p14:section>
        <p14:section name="Casos en Lean Startup actividad" id="{75DA87C6-AD6E-184B-A947-75B77EE15B66}">
          <p14:sldIdLst>
            <p14:sldId id="264"/>
            <p14:sldId id="266"/>
            <p14:sldId id="20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4F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3C59C-C9AE-CB48-B1B9-6CC6738A9C98}" v="4" dt="2026-03-03T13:17:30.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352"/>
    <p:restoredTop sz="94643"/>
  </p:normalViewPr>
  <p:slideViewPr>
    <p:cSldViewPr snapToGrid="0">
      <p:cViewPr varScale="1">
        <p:scale>
          <a:sx n="115" d="100"/>
          <a:sy n="115" d="100"/>
        </p:scale>
        <p:origin x="376" y="192"/>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ti Nuñez" userId="fc293a4ee38bb93b" providerId="LiveId" clId="{8C091EB5-D9FC-51B9-B601-2F1273399689}"/>
    <pc:docChg chg="custSel addSld delSld modSld sldOrd addMainMaster delMainMaster modMainMaster addSection modSection">
      <pc:chgData name="Inti Nuñez" userId="fc293a4ee38bb93b" providerId="LiveId" clId="{8C091EB5-D9FC-51B9-B601-2F1273399689}" dt="2026-03-03T13:17:32.783" v="697" actId="2696"/>
      <pc:docMkLst>
        <pc:docMk/>
      </pc:docMkLst>
      <pc:sldChg chg="addSp modSp del mod">
        <pc:chgData name="Inti Nuñez" userId="fc293a4ee38bb93b" providerId="LiveId" clId="{8C091EB5-D9FC-51B9-B601-2F1273399689}" dt="2026-03-03T13:17:32.783" v="697" actId="2696"/>
        <pc:sldMkLst>
          <pc:docMk/>
          <pc:sldMk cId="4064498378" sldId="260"/>
        </pc:sldMkLst>
        <pc:spChg chg="add mod">
          <ac:chgData name="Inti Nuñez" userId="fc293a4ee38bb93b" providerId="LiveId" clId="{8C091EB5-D9FC-51B9-B601-2F1273399689}" dt="2026-03-03T12:58:21.157" v="693" actId="20577"/>
          <ac:spMkLst>
            <pc:docMk/>
            <pc:sldMk cId="4064498378" sldId="260"/>
            <ac:spMk id="2" creationId="{005A733D-ECF6-3925-3826-694CC94258FC}"/>
          </ac:spMkLst>
        </pc:spChg>
      </pc:sldChg>
      <pc:sldChg chg="del">
        <pc:chgData name="Inti Nuñez" userId="fc293a4ee38bb93b" providerId="LiveId" clId="{8C091EB5-D9FC-51B9-B601-2F1273399689}" dt="2026-03-03T12:58:54.720" v="695" actId="2696"/>
        <pc:sldMkLst>
          <pc:docMk/>
          <pc:sldMk cId="1141749374" sldId="266"/>
        </pc:sldMkLst>
      </pc:sldChg>
      <pc:sldChg chg="add">
        <pc:chgData name="Inti Nuñez" userId="fc293a4ee38bb93b" providerId="LiveId" clId="{8C091EB5-D9FC-51B9-B601-2F1273399689}" dt="2026-03-03T13:17:30.313" v="696"/>
        <pc:sldMkLst>
          <pc:docMk/>
          <pc:sldMk cId="1800393488" sldId="266"/>
        </pc:sldMkLst>
      </pc:sldChg>
      <pc:sldChg chg="delSp mod">
        <pc:chgData name="Inti Nuñez" userId="fc293a4ee38bb93b" providerId="LiveId" clId="{8C091EB5-D9FC-51B9-B601-2F1273399689}" dt="2026-03-03T11:47:41.811" v="345" actId="478"/>
        <pc:sldMkLst>
          <pc:docMk/>
          <pc:sldMk cId="0" sldId="276"/>
        </pc:sldMkLst>
        <pc:spChg chg="del">
          <ac:chgData name="Inti Nuñez" userId="fc293a4ee38bb93b" providerId="LiveId" clId="{8C091EB5-D9FC-51B9-B601-2F1273399689}" dt="2026-03-03T11:47:41.811" v="345" actId="478"/>
          <ac:spMkLst>
            <pc:docMk/>
            <pc:sldMk cId="0" sldId="276"/>
            <ac:spMk id="3" creationId="{00000000-0000-0000-0000-000000000000}"/>
          </ac:spMkLst>
        </pc:spChg>
      </pc:sldChg>
      <pc:sldChg chg="delSp mod">
        <pc:chgData name="Inti Nuñez" userId="fc293a4ee38bb93b" providerId="LiveId" clId="{8C091EB5-D9FC-51B9-B601-2F1273399689}" dt="2026-03-03T11:47:47.222" v="346" actId="478"/>
        <pc:sldMkLst>
          <pc:docMk/>
          <pc:sldMk cId="0" sldId="277"/>
        </pc:sldMkLst>
        <pc:spChg chg="del">
          <ac:chgData name="Inti Nuñez" userId="fc293a4ee38bb93b" providerId="LiveId" clId="{8C091EB5-D9FC-51B9-B601-2F1273399689}" dt="2026-03-03T11:47:47.222" v="346" actId="478"/>
          <ac:spMkLst>
            <pc:docMk/>
            <pc:sldMk cId="0" sldId="277"/>
            <ac:spMk id="3" creationId="{00000000-0000-0000-0000-000000000000}"/>
          </ac:spMkLst>
        </pc:spChg>
      </pc:sldChg>
      <pc:sldChg chg="del">
        <pc:chgData name="Inti Nuñez" userId="fc293a4ee38bb93b" providerId="LiveId" clId="{8C091EB5-D9FC-51B9-B601-2F1273399689}" dt="2026-03-03T12:58:36.649" v="694" actId="2696"/>
        <pc:sldMkLst>
          <pc:docMk/>
          <pc:sldMk cId="0" sldId="292"/>
        </pc:sldMkLst>
      </pc:sldChg>
      <pc:sldChg chg="delSp del mod">
        <pc:chgData name="Inti Nuñez" userId="fc293a4ee38bb93b" providerId="LiveId" clId="{8C091EB5-D9FC-51B9-B601-2F1273399689}" dt="2026-03-03T11:48:22.483" v="350" actId="2696"/>
        <pc:sldMkLst>
          <pc:docMk/>
          <pc:sldMk cId="38460686" sldId="507"/>
        </pc:sldMkLst>
        <pc:spChg chg="del">
          <ac:chgData name="Inti Nuñez" userId="fc293a4ee38bb93b" providerId="LiveId" clId="{8C091EB5-D9FC-51B9-B601-2F1273399689}" dt="2026-03-03T11:47:56.713" v="348" actId="478"/>
          <ac:spMkLst>
            <pc:docMk/>
            <pc:sldMk cId="38460686" sldId="507"/>
            <ac:spMk id="25602" creationId="{00000000-0000-0000-0000-000000000000}"/>
          </ac:spMkLst>
        </pc:spChg>
        <pc:spChg chg="del">
          <ac:chgData name="Inti Nuñez" userId="fc293a4ee38bb93b" providerId="LiveId" clId="{8C091EB5-D9FC-51B9-B601-2F1273399689}" dt="2026-03-03T11:48:02.241" v="349" actId="478"/>
          <ac:spMkLst>
            <pc:docMk/>
            <pc:sldMk cId="38460686" sldId="507"/>
            <ac:spMk id="25603" creationId="{00000000-0000-0000-0000-000000000000}"/>
          </ac:spMkLst>
        </pc:spChg>
      </pc:sldChg>
      <pc:sldChg chg="delSp mod ord">
        <pc:chgData name="Inti Nuñez" userId="fc293a4ee38bb93b" providerId="LiveId" clId="{8C091EB5-D9FC-51B9-B601-2F1273399689}" dt="2026-03-03T12:57:25.388" v="664" actId="20578"/>
        <pc:sldMkLst>
          <pc:docMk/>
          <pc:sldMk cId="3112281426" sldId="511"/>
        </pc:sldMkLst>
        <pc:spChg chg="del">
          <ac:chgData name="Inti Nuñez" userId="fc293a4ee38bb93b" providerId="LiveId" clId="{8C091EB5-D9FC-51B9-B601-2F1273399689}" dt="2026-03-03T11:50:52.826" v="372" actId="478"/>
          <ac:spMkLst>
            <pc:docMk/>
            <pc:sldMk cId="3112281426" sldId="511"/>
            <ac:spMk id="28675" creationId="{00000000-0000-0000-0000-000000000000}"/>
          </ac:spMkLst>
        </pc:spChg>
      </pc:sldChg>
      <pc:sldChg chg="delSp del mod">
        <pc:chgData name="Inti Nuñez" userId="fc293a4ee38bb93b" providerId="LiveId" clId="{8C091EB5-D9FC-51B9-B601-2F1273399689}" dt="2026-03-03T12:56:38.107" v="662" actId="2696"/>
        <pc:sldMkLst>
          <pc:docMk/>
          <pc:sldMk cId="3917947847" sldId="1206"/>
        </pc:sldMkLst>
        <pc:spChg chg="del">
          <ac:chgData name="Inti Nuñez" userId="fc293a4ee38bb93b" providerId="LiveId" clId="{8C091EB5-D9FC-51B9-B601-2F1273399689}" dt="2026-03-03T11:50:06.442" v="368" actId="478"/>
          <ac:spMkLst>
            <pc:docMk/>
            <pc:sldMk cId="3917947847" sldId="1206"/>
            <ac:spMk id="2" creationId="{6823BB29-8592-4175-BFF3-30990CC70D6A}"/>
          </ac:spMkLst>
        </pc:spChg>
        <pc:spChg chg="del">
          <ac:chgData name="Inti Nuñez" userId="fc293a4ee38bb93b" providerId="LiveId" clId="{8C091EB5-D9FC-51B9-B601-2F1273399689}" dt="2026-03-03T11:49:54.337" v="367" actId="478"/>
          <ac:spMkLst>
            <pc:docMk/>
            <pc:sldMk cId="3917947847" sldId="1206"/>
            <ac:spMk id="6" creationId="{A1C46D07-4BB5-4F8B-BE8A-1D42D01C73B1}"/>
          </ac:spMkLst>
        </pc:spChg>
      </pc:sldChg>
      <pc:sldChg chg="addSp modSp mod">
        <pc:chgData name="Inti Nuñez" userId="fc293a4ee38bb93b" providerId="LiveId" clId="{8C091EB5-D9FC-51B9-B601-2F1273399689}" dt="2026-03-03T12:53:40.735" v="661" actId="1076"/>
        <pc:sldMkLst>
          <pc:docMk/>
          <pc:sldMk cId="3181725884" sldId="1794"/>
        </pc:sldMkLst>
        <pc:spChg chg="add mod">
          <ac:chgData name="Inti Nuñez" userId="fc293a4ee38bb93b" providerId="LiveId" clId="{8C091EB5-D9FC-51B9-B601-2F1273399689}" dt="2026-03-03T12:53:40.735" v="661" actId="1076"/>
          <ac:spMkLst>
            <pc:docMk/>
            <pc:sldMk cId="3181725884" sldId="1794"/>
            <ac:spMk id="3" creationId="{9563FC17-847E-55E8-5BEC-1D957FE69659}"/>
          </ac:spMkLst>
        </pc:spChg>
        <pc:spChg chg="mod">
          <ac:chgData name="Inti Nuñez" userId="fc293a4ee38bb93b" providerId="LiveId" clId="{8C091EB5-D9FC-51B9-B601-2F1273399689}" dt="2026-03-03T12:52:19.435" v="536" actId="1076"/>
          <ac:spMkLst>
            <pc:docMk/>
            <pc:sldMk cId="3181725884" sldId="1794"/>
            <ac:spMk id="5" creationId="{2A6DD90A-5482-4971-B1B8-05DC59120764}"/>
          </ac:spMkLst>
        </pc:spChg>
      </pc:sldChg>
      <pc:sldChg chg="add ord">
        <pc:chgData name="Inti Nuñez" userId="fc293a4ee38bb93b" providerId="LiveId" clId="{8C091EB5-D9FC-51B9-B601-2F1273399689}" dt="2026-03-03T11:46:23.757" v="344" actId="20578"/>
        <pc:sldMkLst>
          <pc:docMk/>
          <pc:sldMk cId="451661190" sldId="1813"/>
        </pc:sldMkLst>
      </pc:sldChg>
      <pc:sldChg chg="addSp modSp mod">
        <pc:chgData name="Inti Nuñez" userId="fc293a4ee38bb93b" providerId="LiveId" clId="{8C091EB5-D9FC-51B9-B601-2F1273399689}" dt="2026-03-03T12:52:01.347" v="535" actId="122"/>
        <pc:sldMkLst>
          <pc:docMk/>
          <pc:sldMk cId="983638056" sldId="1830"/>
        </pc:sldMkLst>
        <pc:spChg chg="add mod">
          <ac:chgData name="Inti Nuñez" userId="fc293a4ee38bb93b" providerId="LiveId" clId="{8C091EB5-D9FC-51B9-B601-2F1273399689}" dt="2026-03-03T12:52:01.347" v="535" actId="122"/>
          <ac:spMkLst>
            <pc:docMk/>
            <pc:sldMk cId="983638056" sldId="1830"/>
            <ac:spMk id="3" creationId="{191F1843-C232-8685-3107-9164103F3489}"/>
          </ac:spMkLst>
        </pc:spChg>
        <pc:spChg chg="mod">
          <ac:chgData name="Inti Nuñez" userId="fc293a4ee38bb93b" providerId="LiveId" clId="{8C091EB5-D9FC-51B9-B601-2F1273399689}" dt="2026-03-03T12:50:34.578" v="373" actId="20577"/>
          <ac:spMkLst>
            <pc:docMk/>
            <pc:sldMk cId="983638056" sldId="1830"/>
            <ac:spMk id="5" creationId="{2A6DD90A-5482-4971-B1B8-05DC59120764}"/>
          </ac:spMkLst>
        </pc:spChg>
      </pc:sldChg>
      <pc:sldChg chg="modSp mod">
        <pc:chgData name="Inti Nuñez" userId="fc293a4ee38bb93b" providerId="LiveId" clId="{8C091EB5-D9FC-51B9-B601-2F1273399689}" dt="2026-03-03T11:50:30.035" v="371" actId="1076"/>
        <pc:sldMkLst>
          <pc:docMk/>
          <pc:sldMk cId="834887736" sldId="1923"/>
        </pc:sldMkLst>
        <pc:spChg chg="mod">
          <ac:chgData name="Inti Nuñez" userId="fc293a4ee38bb93b" providerId="LiveId" clId="{8C091EB5-D9FC-51B9-B601-2F1273399689}" dt="2026-03-03T11:50:30.035" v="371" actId="1076"/>
          <ac:spMkLst>
            <pc:docMk/>
            <pc:sldMk cId="834887736" sldId="1923"/>
            <ac:spMk id="22" creationId="{66552D35-F35E-4F22-BEB5-2900DE3A8693}"/>
          </ac:spMkLst>
        </pc:spChg>
      </pc:sldChg>
      <pc:sldChg chg="modSp mod">
        <pc:chgData name="Inti Nuñez" userId="fc293a4ee38bb93b" providerId="LiveId" clId="{8C091EB5-D9FC-51B9-B601-2F1273399689}" dt="2026-03-03T11:48:36.492" v="351" actId="114"/>
        <pc:sldMkLst>
          <pc:docMk/>
          <pc:sldMk cId="1492314841" sldId="1927"/>
        </pc:sldMkLst>
        <pc:spChg chg="mod">
          <ac:chgData name="Inti Nuñez" userId="fc293a4ee38bb93b" providerId="LiveId" clId="{8C091EB5-D9FC-51B9-B601-2F1273399689}" dt="2026-03-03T11:48:36.492" v="351" actId="114"/>
          <ac:spMkLst>
            <pc:docMk/>
            <pc:sldMk cId="1492314841" sldId="1927"/>
            <ac:spMk id="5" creationId="{D1A4CCDA-F51C-4F1F-AAA4-7EEB1E05228B}"/>
          </ac:spMkLst>
        </pc:spChg>
      </pc:sldChg>
      <pc:sldChg chg="delSp del mod">
        <pc:chgData name="Inti Nuñez" userId="fc293a4ee38bb93b" providerId="LiveId" clId="{8C091EB5-D9FC-51B9-B601-2F1273399689}" dt="2026-03-03T12:56:38.110" v="663" actId="2696"/>
        <pc:sldMkLst>
          <pc:docMk/>
          <pc:sldMk cId="1856676534" sldId="1938"/>
        </pc:sldMkLst>
        <pc:spChg chg="del">
          <ac:chgData name="Inti Nuñez" userId="fc293a4ee38bb93b" providerId="LiveId" clId="{8C091EB5-D9FC-51B9-B601-2F1273399689}" dt="2026-03-03T11:50:21.010" v="370" actId="478"/>
          <ac:spMkLst>
            <pc:docMk/>
            <pc:sldMk cId="1856676534" sldId="1938"/>
            <ac:spMk id="2" creationId="{6823BB29-8592-4175-BFF3-30990CC70D6A}"/>
          </ac:spMkLst>
        </pc:spChg>
        <pc:spChg chg="del">
          <ac:chgData name="Inti Nuñez" userId="fc293a4ee38bb93b" providerId="LiveId" clId="{8C091EB5-D9FC-51B9-B601-2F1273399689}" dt="2026-03-03T11:50:14.012" v="369" actId="478"/>
          <ac:spMkLst>
            <pc:docMk/>
            <pc:sldMk cId="1856676534" sldId="1938"/>
            <ac:spMk id="3" creationId="{583C9196-9349-8394-1CA5-A01862175E26}"/>
          </ac:spMkLst>
        </pc:spChg>
      </pc:sldChg>
      <pc:sldChg chg="modSp mod">
        <pc:chgData name="Inti Nuñez" userId="fc293a4ee38bb93b" providerId="LiveId" clId="{8C091EB5-D9FC-51B9-B601-2F1273399689}" dt="2026-03-03T11:49:08.868" v="366" actId="114"/>
        <pc:sldMkLst>
          <pc:docMk/>
          <pc:sldMk cId="3946085401" sldId="1939"/>
        </pc:sldMkLst>
        <pc:spChg chg="mod">
          <ac:chgData name="Inti Nuñez" userId="fc293a4ee38bb93b" providerId="LiveId" clId="{8C091EB5-D9FC-51B9-B601-2F1273399689}" dt="2026-03-03T11:48:59.486" v="358" actId="1035"/>
          <ac:spMkLst>
            <pc:docMk/>
            <pc:sldMk cId="3946085401" sldId="1939"/>
            <ac:spMk id="5" creationId="{D1A4CCDA-F51C-4F1F-AAA4-7EEB1E05228B}"/>
          </ac:spMkLst>
        </pc:spChg>
        <pc:spChg chg="mod">
          <ac:chgData name="Inti Nuñez" userId="fc293a4ee38bb93b" providerId="LiveId" clId="{8C091EB5-D9FC-51B9-B601-2F1273399689}" dt="2026-03-03T11:49:08.868" v="366" actId="114"/>
          <ac:spMkLst>
            <pc:docMk/>
            <pc:sldMk cId="3946085401" sldId="1939"/>
            <ac:spMk id="8" creationId="{6BFDD8EE-6456-4A85-A2F5-0F437243002E}"/>
          </ac:spMkLst>
        </pc:spChg>
      </pc:sldChg>
      <pc:sldChg chg="delSp mod">
        <pc:chgData name="Inti Nuñez" userId="fc293a4ee38bb93b" providerId="LiveId" clId="{8C091EB5-D9FC-51B9-B601-2F1273399689}" dt="2026-03-03T11:47:51.346" v="347" actId="478"/>
        <pc:sldMkLst>
          <pc:docMk/>
          <pc:sldMk cId="0" sldId="2065"/>
        </pc:sldMkLst>
        <pc:spChg chg="del">
          <ac:chgData name="Inti Nuñez" userId="fc293a4ee38bb93b" providerId="LiveId" clId="{8C091EB5-D9FC-51B9-B601-2F1273399689}" dt="2026-03-03T11:47:51.346" v="347" actId="478"/>
          <ac:spMkLst>
            <pc:docMk/>
            <pc:sldMk cId="0" sldId="2065"/>
            <ac:spMk id="7" creationId="{00000000-0000-0000-0000-000000000000}"/>
          </ac:spMkLst>
        </pc:spChg>
      </pc:sldChg>
      <pc:sldChg chg="add">
        <pc:chgData name="Inti Nuñez" userId="fc293a4ee38bb93b" providerId="LiveId" clId="{8C091EB5-D9FC-51B9-B601-2F1273399689}" dt="2026-03-03T13:17:30.313" v="696"/>
        <pc:sldMkLst>
          <pc:docMk/>
          <pc:sldMk cId="2098100052" sldId="20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78D170-5DD4-AC42-9B42-38681BF200A8}" type="datetimeFigureOut">
              <a:rPr lang="es-CL" smtClean="0"/>
              <a:t>03-03-26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CA445-6EB0-3945-9E03-B7D555990304}" type="slidenum">
              <a:rPr lang="es-CL" smtClean="0"/>
              <a:t>‹Nº›</a:t>
            </a:fld>
            <a:endParaRPr lang="es-CL"/>
          </a:p>
        </p:txBody>
      </p:sp>
    </p:spTree>
    <p:extLst>
      <p:ext uri="{BB962C8B-B14F-4D97-AF65-F5344CB8AC3E}">
        <p14:creationId xmlns:p14="http://schemas.microsoft.com/office/powerpoint/2010/main" val="4211517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p:txBody>
          <a:bodyPr/>
          <a:lstStyle/>
          <a:p>
            <a:pPr marL="0" marR="0" lvl="0" indent="0" algn="r" defTabSz="950506" rtl="0" eaLnBrk="1" fontAlgn="auto" latinLnBrk="0" hangingPunct="1">
              <a:lnSpc>
                <a:spcPct val="100000"/>
              </a:lnSpc>
              <a:spcBef>
                <a:spcPts val="0"/>
              </a:spcBef>
              <a:spcAft>
                <a:spcPts val="0"/>
              </a:spcAft>
              <a:buClrTx/>
              <a:buSzTx/>
              <a:buFontTx/>
              <a:buNone/>
              <a:tabLst/>
              <a:defRPr/>
            </a:pPr>
            <a:fld id="{685AABEF-5BD0-45AF-B36A-6979D2F23C67}" type="slidenum">
              <a:rPr kumimoji="0" lang="de-AT" sz="1300" b="0" i="0" u="none" strike="noStrike" kern="1200" cap="none" spc="0" normalizeH="0" baseline="0" noProof="0" smtClean="0">
                <a:ln>
                  <a:noFill/>
                </a:ln>
                <a:solidFill>
                  <a:prstClr val="black"/>
                </a:solidFill>
                <a:effectLst/>
                <a:uLnTx/>
                <a:uFillTx/>
                <a:latin typeface="Calibri"/>
                <a:ea typeface="+mn-ea"/>
                <a:cs typeface="+mn-cs"/>
                <a:sym typeface="Gill Sans" charset="0"/>
              </a:rPr>
              <a:pPr marL="0" marR="0" lvl="0" indent="0" algn="r" defTabSz="950506" rtl="0" eaLnBrk="1" fontAlgn="auto" latinLnBrk="0" hangingPunct="1">
                <a:lnSpc>
                  <a:spcPct val="100000"/>
                </a:lnSpc>
                <a:spcBef>
                  <a:spcPts val="0"/>
                </a:spcBef>
                <a:spcAft>
                  <a:spcPts val="0"/>
                </a:spcAft>
                <a:buClrTx/>
                <a:buSzTx/>
                <a:buFontTx/>
                <a:buNone/>
                <a:tabLst/>
                <a:defRPr/>
              </a:pPr>
              <a:t>26</a:t>
            </a:fld>
            <a:endParaRPr kumimoji="0" lang="de-AT" sz="1300" b="0" i="0" u="none" strike="noStrike" kern="1200" cap="none" spc="0" normalizeH="0" baseline="0" noProof="0" dirty="0">
              <a:ln>
                <a:noFill/>
              </a:ln>
              <a:solidFill>
                <a:prstClr val="black"/>
              </a:solidFill>
              <a:effectLst/>
              <a:uLnTx/>
              <a:uFillTx/>
              <a:latin typeface="Calibri"/>
              <a:ea typeface="+mn-ea"/>
              <a:cs typeface="+mn-cs"/>
              <a:sym typeface="Gill Sans" charset="0"/>
            </a:endParaRPr>
          </a:p>
        </p:txBody>
      </p:sp>
      <p:sp>
        <p:nvSpPr>
          <p:cNvPr id="58371" name="Rectangle 2"/>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s-AR"/>
              <a:t>Diapo clave: Resolver el problema de cliente y solución de ingeniería simultaneamente. Salir del edificio para testear hipótesis sobre el mercado y desarrollar internamente soluciones ágiles ad hoc para ese mercado y estte proceso se cicla rápidamente de un lado para el otro </a:t>
            </a:r>
          </a:p>
        </p:txBody>
      </p:sp>
    </p:spTree>
    <p:extLst>
      <p:ext uri="{BB962C8B-B14F-4D97-AF65-F5344CB8AC3E}">
        <p14:creationId xmlns:p14="http://schemas.microsoft.com/office/powerpoint/2010/main" val="3440258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1 Marcador de imagen de diapositiva"/>
          <p:cNvSpPr>
            <a:spLocks noGrp="1" noRot="1" noChangeAspect="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s-CL"/>
              <a:t>Desarrollo ágil</a:t>
            </a:r>
          </a:p>
        </p:txBody>
      </p:sp>
      <p:sp>
        <p:nvSpPr>
          <p:cNvPr id="4" name="3 Marcador de número de diapositiva"/>
          <p:cNvSpPr>
            <a:spLocks noGrp="1"/>
          </p:cNvSpPr>
          <p:nvPr>
            <p:ph type="sldNum" sz="quarter" idx="5"/>
          </p:nvPr>
        </p:nvSpPr>
        <p:spPr/>
        <p:txBody>
          <a:bodyPr/>
          <a:lstStyle/>
          <a:p>
            <a:pPr marL="0" marR="0" lvl="0" indent="0" algn="r" defTabSz="1648561" rtl="0" eaLnBrk="1" fontAlgn="auto" latinLnBrk="0" hangingPunct="1">
              <a:lnSpc>
                <a:spcPct val="100000"/>
              </a:lnSpc>
              <a:spcBef>
                <a:spcPts val="0"/>
              </a:spcBef>
              <a:spcAft>
                <a:spcPts val="0"/>
              </a:spcAft>
              <a:buClrTx/>
              <a:buSzTx/>
              <a:buFontTx/>
              <a:buNone/>
              <a:tabLst/>
              <a:defRPr/>
            </a:pPr>
            <a:fld id="{2676C7F6-936E-4FD0-8BB2-6C4126AEE756}" type="slidenum">
              <a:rPr kumimoji="0" lang="es-ES" sz="1300" b="0" i="0" u="none" strike="noStrike" kern="1200" cap="none" spc="0" normalizeH="0" baseline="0" noProof="0" smtClean="0">
                <a:ln>
                  <a:noFill/>
                </a:ln>
                <a:solidFill>
                  <a:prstClr val="black"/>
                </a:solidFill>
                <a:effectLst/>
                <a:uLnTx/>
                <a:uFillTx/>
                <a:latin typeface="Calibri"/>
                <a:ea typeface="+mn-ea"/>
                <a:cs typeface="+mn-cs"/>
                <a:sym typeface="Gill Sans" charset="0"/>
              </a:rPr>
              <a:pPr marL="0" marR="0" lvl="0" indent="0" algn="r" defTabSz="1648561" rtl="0" eaLnBrk="1" fontAlgn="auto" latinLnBrk="0" hangingPunct="1">
                <a:lnSpc>
                  <a:spcPct val="100000"/>
                </a:lnSpc>
                <a:spcBef>
                  <a:spcPts val="0"/>
                </a:spcBef>
                <a:spcAft>
                  <a:spcPts val="0"/>
                </a:spcAft>
                <a:buClrTx/>
                <a:buSzTx/>
                <a:buFontTx/>
                <a:buNone/>
                <a:tabLst/>
                <a:defRPr/>
              </a:pPr>
              <a:t>39</a:t>
            </a:fld>
            <a:endParaRPr kumimoji="0" lang="es-ES" sz="1300" b="0" i="0" u="none" strike="noStrike" kern="1200" cap="none" spc="0" normalizeH="0" baseline="0" noProof="0">
              <a:ln>
                <a:noFill/>
              </a:ln>
              <a:solidFill>
                <a:prstClr val="black"/>
              </a:solidFill>
              <a:effectLst/>
              <a:uLnTx/>
              <a:uFillTx/>
              <a:latin typeface="Calibri"/>
              <a:ea typeface="+mn-ea"/>
              <a:cs typeface="+mn-cs"/>
              <a:sym typeface="Gill Sans"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1 Marcador de imagen de diapositiva"/>
          <p:cNvSpPr>
            <a:spLocks noGrp="1" noRot="1" noChangeAspect="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s-CL"/>
              <a:t>Desarrollo ágil</a:t>
            </a:r>
          </a:p>
        </p:txBody>
      </p:sp>
      <p:sp>
        <p:nvSpPr>
          <p:cNvPr id="4" name="3 Marcador de número de diapositiva"/>
          <p:cNvSpPr>
            <a:spLocks noGrp="1"/>
          </p:cNvSpPr>
          <p:nvPr>
            <p:ph type="sldNum" sz="quarter" idx="5"/>
          </p:nvPr>
        </p:nvSpPr>
        <p:spPr/>
        <p:txBody>
          <a:bodyPr/>
          <a:lstStyle/>
          <a:p>
            <a:pPr marL="0" marR="0" lvl="0" indent="0" algn="r" defTabSz="1648561" rtl="0" eaLnBrk="1" fontAlgn="auto" latinLnBrk="0" hangingPunct="1">
              <a:lnSpc>
                <a:spcPct val="100000"/>
              </a:lnSpc>
              <a:spcBef>
                <a:spcPts val="0"/>
              </a:spcBef>
              <a:spcAft>
                <a:spcPts val="0"/>
              </a:spcAft>
              <a:buClrTx/>
              <a:buSzTx/>
              <a:buFontTx/>
              <a:buNone/>
              <a:tabLst/>
              <a:defRPr/>
            </a:pPr>
            <a:fld id="{F9E8FE72-7BF3-4295-82C0-665406305ECB}" type="slidenum">
              <a:rPr kumimoji="0" lang="es-ES" sz="1300" b="0" i="0" u="none" strike="noStrike" kern="1200" cap="none" spc="0" normalizeH="0" baseline="0" noProof="0" smtClean="0">
                <a:ln>
                  <a:noFill/>
                </a:ln>
                <a:solidFill>
                  <a:prstClr val="black"/>
                </a:solidFill>
                <a:effectLst/>
                <a:uLnTx/>
                <a:uFillTx/>
                <a:latin typeface="Calibri"/>
                <a:ea typeface="+mn-ea"/>
                <a:cs typeface="+mn-cs"/>
                <a:sym typeface="Gill Sans" charset="0"/>
              </a:rPr>
              <a:pPr marL="0" marR="0" lvl="0" indent="0" algn="r" defTabSz="1648561" rtl="0" eaLnBrk="1" fontAlgn="auto" latinLnBrk="0" hangingPunct="1">
                <a:lnSpc>
                  <a:spcPct val="100000"/>
                </a:lnSpc>
                <a:spcBef>
                  <a:spcPts val="0"/>
                </a:spcBef>
                <a:spcAft>
                  <a:spcPts val="0"/>
                </a:spcAft>
                <a:buClrTx/>
                <a:buSzTx/>
                <a:buFontTx/>
                <a:buNone/>
                <a:tabLst/>
                <a:defRPr/>
              </a:pPr>
              <a:t>40</a:t>
            </a:fld>
            <a:endParaRPr kumimoji="0" lang="es-ES" sz="1300" b="0" i="0" u="none" strike="noStrike" kern="1200" cap="none" spc="0" normalizeH="0" baseline="0" noProof="0">
              <a:ln>
                <a:noFill/>
              </a:ln>
              <a:solidFill>
                <a:prstClr val="black"/>
              </a:solidFill>
              <a:effectLst/>
              <a:uLnTx/>
              <a:uFillTx/>
              <a:latin typeface="Calibri"/>
              <a:ea typeface="+mn-ea"/>
              <a:cs typeface="+mn-cs"/>
              <a:sym typeface="Gill Sans"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p:txBody>
          <a:bodyPr/>
          <a:lstStyle/>
          <a:p>
            <a:pPr marL="0" marR="0" lvl="0" indent="0" algn="r" defTabSz="950506" rtl="0" eaLnBrk="1" fontAlgn="auto" latinLnBrk="0" hangingPunct="1">
              <a:lnSpc>
                <a:spcPct val="100000"/>
              </a:lnSpc>
              <a:spcBef>
                <a:spcPts val="0"/>
              </a:spcBef>
              <a:spcAft>
                <a:spcPts val="0"/>
              </a:spcAft>
              <a:buClrTx/>
              <a:buSzTx/>
              <a:buFontTx/>
              <a:buNone/>
              <a:tabLst/>
              <a:defRPr/>
            </a:pPr>
            <a:fld id="{6B102BC5-0A21-4DC3-87DF-FEFAA39583A2}" type="slidenum">
              <a:rPr kumimoji="0" lang="de-AT" sz="1300" b="0" i="0" u="none" strike="noStrike" kern="1200" cap="none" spc="0" normalizeH="0" baseline="0" noProof="0" smtClean="0">
                <a:ln>
                  <a:noFill/>
                </a:ln>
                <a:solidFill>
                  <a:prstClr val="black"/>
                </a:solidFill>
                <a:effectLst/>
                <a:uLnTx/>
                <a:uFillTx/>
                <a:latin typeface="Calibri"/>
                <a:ea typeface="+mn-ea"/>
                <a:cs typeface="+mn-cs"/>
                <a:sym typeface="Gill Sans" charset="0"/>
              </a:rPr>
              <a:pPr marL="0" marR="0" lvl="0" indent="0" algn="r" defTabSz="950506" rtl="0" eaLnBrk="1" fontAlgn="auto" latinLnBrk="0" hangingPunct="1">
                <a:lnSpc>
                  <a:spcPct val="100000"/>
                </a:lnSpc>
                <a:spcBef>
                  <a:spcPts val="0"/>
                </a:spcBef>
                <a:spcAft>
                  <a:spcPts val="0"/>
                </a:spcAft>
                <a:buClrTx/>
                <a:buSzTx/>
                <a:buFontTx/>
                <a:buNone/>
                <a:tabLst/>
                <a:defRPr/>
              </a:pPr>
              <a:t>42</a:t>
            </a:fld>
            <a:endParaRPr kumimoji="0" lang="de-AT" sz="1300" b="0" i="0" u="none" strike="noStrike" kern="1200" cap="none" spc="0" normalizeH="0" baseline="0" noProof="0" dirty="0">
              <a:ln>
                <a:noFill/>
              </a:ln>
              <a:solidFill>
                <a:prstClr val="black"/>
              </a:solidFill>
              <a:effectLst/>
              <a:uLnTx/>
              <a:uFillTx/>
              <a:latin typeface="Calibri"/>
              <a:ea typeface="+mn-ea"/>
              <a:cs typeface="+mn-cs"/>
              <a:sym typeface="Gill Sans" charset="0"/>
            </a:endParaRPr>
          </a:p>
        </p:txBody>
      </p:sp>
      <p:sp>
        <p:nvSpPr>
          <p:cNvPr id="60419" name="Rectangle 2"/>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512619" indent="-512619">
              <a:buFontTx/>
              <a:buAutoNum type="arabicParenR"/>
            </a:pPr>
            <a:r>
              <a:rPr lang="es-CL"/>
              <a:t>Dibujar un mapa del entorno del emprendimeinto: Usuarios, clientes, canales de distribución, socios técnicos, estratégicos, publicidad, clientes de mis clientes, etc. Todos aquellos que te entregan valor y reciben valor de tu producto. Quien paga a quien y como se mueve tu producto para llegar a destino</a:t>
            </a:r>
          </a:p>
          <a:p>
            <a:pPr marL="512619" indent="-512619">
              <a:buFontTx/>
              <a:buAutoNum type="arabicParenR"/>
            </a:pPr>
            <a:r>
              <a:rPr lang="es-CL"/>
              <a:t>Definir una propuesta de valor para cada actor: Hipótesis de C-P-S que deben ser probadas en la etapa de descubrimiento</a:t>
            </a:r>
          </a:p>
          <a:p>
            <a:pPr marL="512619" indent="-512619">
              <a:buFontTx/>
              <a:buAutoNum type="arabicParenR"/>
            </a:pPr>
            <a:r>
              <a:rPr lang="es-CL"/>
              <a:t>Definir un MVP (proceso iterativo) (más adelante)</a:t>
            </a:r>
          </a:p>
          <a:p>
            <a:pPr marL="512619" indent="-512619">
              <a:buFontTx/>
              <a:buAutoNum type="arabicParenR"/>
            </a:pPr>
            <a:r>
              <a:rPr lang="es-CL"/>
              <a:t>¿Donde está el riesgo?</a:t>
            </a:r>
          </a:p>
          <a:p>
            <a:pPr marL="512619" indent="-512619">
              <a:buFontTx/>
              <a:buAutoNum type="arabicParenR"/>
            </a:pPr>
            <a:r>
              <a:rPr lang="es-CL"/>
              <a:t>Crear la senda para la creación de valor</a:t>
            </a:r>
          </a:p>
          <a:p>
            <a:pPr marL="512619" indent="-512619"/>
            <a:endParaRPr lang="es-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911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B5AC80-D16F-276F-428A-D0501511E329}"/>
              </a:ext>
            </a:extLst>
          </p:cNvPr>
          <p:cNvSpPr>
            <a:spLocks noGrp="1"/>
          </p:cNvSpPr>
          <p:nvPr>
            <p:ph type="title"/>
          </p:nvPr>
        </p:nvSpPr>
        <p:spPr>
          <a:xfrm>
            <a:off x="838200" y="365125"/>
            <a:ext cx="10515600" cy="1325563"/>
          </a:xfrm>
          <a:prstGeom prst="rect">
            <a:avLst/>
          </a:prstGeom>
        </p:spPr>
        <p:txBody>
          <a:bodyPr anchor="ctr"/>
          <a:lstStyle>
            <a:lvl1pPr>
              <a:defRPr sz="2800">
                <a:latin typeface="Raleway" pitchFamily="2" charset="77"/>
              </a:defRPr>
            </a:lvl1p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97C48075-19FB-7EEF-9680-31290BE2A4E2}"/>
              </a:ext>
            </a:extLst>
          </p:cNvPr>
          <p:cNvSpPr>
            <a:spLocks noGrp="1"/>
          </p:cNvSpPr>
          <p:nvPr>
            <p:ph idx="1"/>
          </p:nvPr>
        </p:nvSpPr>
        <p:spPr>
          <a:xfrm>
            <a:off x="838200" y="1825625"/>
            <a:ext cx="10515600" cy="3462471"/>
          </a:xfrm>
          <a:prstGeom prst="rect">
            <a:avLst/>
          </a:prstGeom>
        </p:spPr>
        <p:txBody>
          <a:bodyPr/>
          <a:lstStyle>
            <a:lvl1pPr>
              <a:defRPr>
                <a:latin typeface="Raleway" pitchFamily="2" charset="77"/>
              </a:defRPr>
            </a:lvl1pPr>
            <a:lvl2pPr>
              <a:defRPr>
                <a:latin typeface="Raleway" pitchFamily="2" charset="77"/>
              </a:defRPr>
            </a:lvl2pPr>
            <a:lvl3pPr>
              <a:defRPr>
                <a:latin typeface="Raleway" pitchFamily="2" charset="77"/>
              </a:defRPr>
            </a:lvl3pPr>
            <a:lvl4pPr>
              <a:defRPr>
                <a:latin typeface="Raleway" pitchFamily="2" charset="77"/>
              </a:defRPr>
            </a:lvl4pPr>
            <a:lvl5pPr>
              <a:defRPr>
                <a:latin typeface="Raleway" pitchFamily="2" charset="77"/>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Tree>
    <p:extLst>
      <p:ext uri="{BB962C8B-B14F-4D97-AF65-F5344CB8AC3E}">
        <p14:creationId xmlns:p14="http://schemas.microsoft.com/office/powerpoint/2010/main" val="1822977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663E75-CAA5-010C-E70B-6295B48CBC62}"/>
              </a:ext>
            </a:extLst>
          </p:cNvPr>
          <p:cNvSpPr>
            <a:spLocks noGrp="1"/>
          </p:cNvSpPr>
          <p:nvPr>
            <p:ph type="title"/>
          </p:nvPr>
        </p:nvSpPr>
        <p:spPr>
          <a:xfrm>
            <a:off x="838200" y="365125"/>
            <a:ext cx="10515600" cy="1325563"/>
          </a:xfrm>
          <a:prstGeom prst="rect">
            <a:avLst/>
          </a:prstGeom>
        </p:spPr>
        <p:txBody>
          <a:bodyPr anchor="ctr"/>
          <a:lstStyle>
            <a:lvl1pPr>
              <a:defRPr sz="2800">
                <a:latin typeface="Raleway" pitchFamily="2" charset="77"/>
              </a:defRPr>
            </a:lvl1pPr>
          </a:lstStyle>
          <a:p>
            <a:r>
              <a:rPr lang="es-MX"/>
              <a:t>Haz clic para modificar el estilo de título del patrón</a:t>
            </a:r>
            <a:endParaRPr lang="es-CL"/>
          </a:p>
        </p:txBody>
      </p:sp>
    </p:spTree>
    <p:extLst>
      <p:ext uri="{BB962C8B-B14F-4D97-AF65-F5344CB8AC3E}">
        <p14:creationId xmlns:p14="http://schemas.microsoft.com/office/powerpoint/2010/main" val="676340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889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solidFill>
          <a:srgbClr val="504FB7"/>
        </a:solidFill>
        <a:effectLst/>
      </p:bgPr>
    </p:bg>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748A6285-A3A5-F8F8-F082-F32E16565A64}"/>
              </a:ext>
            </a:extLst>
          </p:cNvPr>
          <p:cNvSpPr>
            <a:spLocks noGrp="1"/>
          </p:cNvSpPr>
          <p:nvPr>
            <p:ph type="title"/>
          </p:nvPr>
        </p:nvSpPr>
        <p:spPr>
          <a:xfrm>
            <a:off x="838200" y="1477828"/>
            <a:ext cx="5257800" cy="1325563"/>
          </a:xfrm>
          <a:prstGeom prst="rect">
            <a:avLst/>
          </a:prstGeom>
        </p:spPr>
        <p:txBody>
          <a:bodyPr/>
          <a:lstStyle>
            <a:lvl1pPr>
              <a:defRPr sz="2800">
                <a:solidFill>
                  <a:schemeClr val="bg1"/>
                </a:solidFill>
              </a:defRPr>
            </a:lvl1pPr>
          </a:lstStyle>
          <a:p>
            <a:r>
              <a:rPr lang="es-MX"/>
              <a:t>Haz clic para modificar el estilo de título del patrón</a:t>
            </a:r>
            <a:endParaRPr lang="es-CL"/>
          </a:p>
        </p:txBody>
      </p:sp>
    </p:spTree>
    <p:extLst>
      <p:ext uri="{BB962C8B-B14F-4D97-AF65-F5344CB8AC3E}">
        <p14:creationId xmlns:p14="http://schemas.microsoft.com/office/powerpoint/2010/main" val="216596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1977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ca">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2506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svg"/><Relationship Id="rId12" Type="http://schemas.openxmlformats.org/officeDocument/2006/relationships/image" Target="../media/image7.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png"/><Relationship Id="rId5" Type="http://schemas.openxmlformats.org/officeDocument/2006/relationships/theme" Target="../theme/theme1.xml"/><Relationship Id="rId10" Type="http://schemas.openxmlformats.org/officeDocument/2006/relationships/image" Target="../media/image5.svg"/><Relationship Id="rId4" Type="http://schemas.openxmlformats.org/officeDocument/2006/relationships/slideLayout" Target="../slideLayouts/slideLayout4.xml"/><Relationship Id="rId9"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2560BCF9-4D1A-C318-2D53-51A1C8390AF5}"/>
              </a:ext>
            </a:extLst>
          </p:cNvPr>
          <p:cNvSpPr/>
          <p:nvPr userDrawn="1"/>
        </p:nvSpPr>
        <p:spPr>
          <a:xfrm>
            <a:off x="4763" y="5726116"/>
            <a:ext cx="12187237" cy="9525"/>
          </a:xfrm>
          <a:custGeom>
            <a:avLst/>
            <a:gdLst/>
            <a:ahLst/>
            <a:cxnLst/>
            <a:rect l="l" t="t" r="r" b="b"/>
            <a:pathLst>
              <a:path w="18280856" h="14288">
                <a:moveTo>
                  <a:pt x="0" y="0"/>
                </a:moveTo>
                <a:lnTo>
                  <a:pt x="18280856" y="0"/>
                </a:lnTo>
                <a:lnTo>
                  <a:pt x="18280856" y="14287"/>
                </a:lnTo>
                <a:lnTo>
                  <a:pt x="0" y="142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sz="1200"/>
          </a:p>
        </p:txBody>
      </p:sp>
      <p:sp>
        <p:nvSpPr>
          <p:cNvPr id="8" name="Freeform 3">
            <a:extLst>
              <a:ext uri="{FF2B5EF4-FFF2-40B4-BE49-F238E27FC236}">
                <a16:creationId xmlns:a16="http://schemas.microsoft.com/office/drawing/2014/main" id="{DFB5B67B-256E-897C-764A-AE68CF9CB530}"/>
              </a:ext>
            </a:extLst>
          </p:cNvPr>
          <p:cNvSpPr/>
          <p:nvPr userDrawn="1"/>
        </p:nvSpPr>
        <p:spPr>
          <a:xfrm>
            <a:off x="9077896" y="6124574"/>
            <a:ext cx="627962" cy="341737"/>
          </a:xfrm>
          <a:custGeom>
            <a:avLst/>
            <a:gdLst/>
            <a:ahLst/>
            <a:cxnLst/>
            <a:rect l="l" t="t" r="r" b="b"/>
            <a:pathLst>
              <a:path w="785812" h="428625">
                <a:moveTo>
                  <a:pt x="0" y="0"/>
                </a:moveTo>
                <a:lnTo>
                  <a:pt x="785812" y="0"/>
                </a:lnTo>
                <a:lnTo>
                  <a:pt x="785812" y="428626"/>
                </a:lnTo>
                <a:lnTo>
                  <a:pt x="0" y="428626"/>
                </a:lnTo>
                <a:lnTo>
                  <a:pt x="0" y="0"/>
                </a:lnTo>
                <a:close/>
              </a:path>
            </a:pathLst>
          </a:custGeom>
          <a:blipFill>
            <a:blip r:embed="rId8"/>
            <a:stretch>
              <a:fillRect/>
            </a:stretch>
          </a:blipFill>
        </p:spPr>
        <p:txBody>
          <a:bodyPr/>
          <a:lstStyle/>
          <a:p>
            <a:endParaRPr lang="es-CL" sz="1200"/>
          </a:p>
        </p:txBody>
      </p:sp>
      <p:pic>
        <p:nvPicPr>
          <p:cNvPr id="2" name="Graphic 7">
            <a:extLst>
              <a:ext uri="{FF2B5EF4-FFF2-40B4-BE49-F238E27FC236}">
                <a16:creationId xmlns:a16="http://schemas.microsoft.com/office/drawing/2014/main" id="{E96CF3C4-BC8F-BB10-9759-C0786E283787}"/>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203054" y="6124575"/>
            <a:ext cx="1617133" cy="398893"/>
          </a:xfrm>
          <a:prstGeom prst="rect">
            <a:avLst/>
          </a:prstGeom>
        </p:spPr>
      </p:pic>
      <p:pic>
        <p:nvPicPr>
          <p:cNvPr id="3" name="Graphic 17">
            <a:extLst>
              <a:ext uri="{FF2B5EF4-FFF2-40B4-BE49-F238E27FC236}">
                <a16:creationId xmlns:a16="http://schemas.microsoft.com/office/drawing/2014/main" id="{CD15504B-BF12-8358-B17C-64BCD014BA4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582886" y="6124574"/>
            <a:ext cx="808554" cy="412220"/>
          </a:xfrm>
          <a:prstGeom prst="rect">
            <a:avLst/>
          </a:prstGeom>
        </p:spPr>
      </p:pic>
    </p:spTree>
    <p:extLst>
      <p:ext uri="{BB962C8B-B14F-4D97-AF65-F5344CB8AC3E}">
        <p14:creationId xmlns:p14="http://schemas.microsoft.com/office/powerpoint/2010/main" val="173844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Graphic 17">
            <a:extLst>
              <a:ext uri="{FF2B5EF4-FFF2-40B4-BE49-F238E27FC236}">
                <a16:creationId xmlns:a16="http://schemas.microsoft.com/office/drawing/2014/main" id="{CD15504B-BF12-8358-B17C-64BCD014BA4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582886" y="6124574"/>
            <a:ext cx="808554" cy="412220"/>
          </a:xfrm>
          <a:prstGeom prst="rect">
            <a:avLst/>
          </a:prstGeom>
        </p:spPr>
      </p:pic>
    </p:spTree>
    <p:extLst>
      <p:ext uri="{BB962C8B-B14F-4D97-AF65-F5344CB8AC3E}">
        <p14:creationId xmlns:p14="http://schemas.microsoft.com/office/powerpoint/2010/main" val="101096882"/>
      </p:ext>
    </p:extLst>
  </p:cSld>
  <p:clrMap bg1="lt1" tx1="dk1" bg2="lt2" tx2="dk2" accent1="accent1" accent2="accent2" accent3="accent3" accent4="accent4" accent5="accent5" accent6="accent6" hlink="hlink" folHlink="folHlink"/>
  <p:sldLayoutIdLst>
    <p:sldLayoutId id="2147483657" r:id="rId1"/>
    <p:sldLayoutId id="2147483670" r:id="rId2"/>
    <p:sldLayoutId id="214748367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ntinunez@udec.cl" TargetMode="Externa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oleObject" Target="../embeddings/oleObject1.bin"/><Relationship Id="rId4" Type="http://schemas.openxmlformats.org/officeDocument/2006/relationships/notesSlide" Target="../notesSlides/notesSlide1.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xml"/><Relationship Id="rId4"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48.gif"/><Relationship Id="rId2" Type="http://schemas.openxmlformats.org/officeDocument/2006/relationships/hyperlink" Target="https://es.wikipedia.org/wiki/Ford_T" TargetMode="Externa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6.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8F8C90-C3AD-21A9-6CC0-218AF8F6D5A9}"/>
              </a:ext>
            </a:extLst>
          </p:cNvPr>
          <p:cNvSpPr>
            <a:spLocks noGrp="1"/>
          </p:cNvSpPr>
          <p:nvPr>
            <p:ph type="title"/>
          </p:nvPr>
        </p:nvSpPr>
        <p:spPr>
          <a:xfrm>
            <a:off x="838200" y="749438"/>
            <a:ext cx="10515600" cy="1325563"/>
          </a:xfrm>
        </p:spPr>
        <p:txBody>
          <a:bodyPr>
            <a:normAutofit/>
          </a:bodyPr>
          <a:lstStyle/>
          <a:p>
            <a:r>
              <a:rPr lang="es-CL" sz="1800" b="1" dirty="0">
                <a:solidFill>
                  <a:srgbClr val="504FB7"/>
                </a:solidFill>
                <a:latin typeface="Lao Sangam MN" pitchFamily="2" charset="0"/>
                <a:cs typeface="Lao Sangam MN" pitchFamily="2" charset="0"/>
              </a:rPr>
              <a:t>VIRALIZA</a:t>
            </a:r>
            <a:br>
              <a:rPr lang="es-CL" sz="2800" dirty="0">
                <a:latin typeface="Lao Sangam MN" pitchFamily="2" charset="0"/>
                <a:cs typeface="Lao Sangam MN" pitchFamily="2" charset="0"/>
              </a:rPr>
            </a:br>
            <a:r>
              <a:rPr lang="es-CL" sz="2400" dirty="0">
                <a:latin typeface="Raleway" pitchFamily="2" charset="77"/>
              </a:rPr>
              <a:t>VENTURE STUDIO UINN</a:t>
            </a:r>
            <a:br>
              <a:rPr lang="es-CL" sz="2700" dirty="0">
                <a:latin typeface="Raleway" pitchFamily="2" charset="77"/>
              </a:rPr>
            </a:br>
            <a:r>
              <a:rPr lang="es-CL" sz="2000" dirty="0">
                <a:latin typeface="Raleway" pitchFamily="2" charset="77"/>
              </a:rPr>
              <a:t>Programa de financiamiento especializado para startups.</a:t>
            </a:r>
            <a:r>
              <a:rPr lang="es-CL" sz="2000" dirty="0">
                <a:effectLst/>
                <a:latin typeface="Raleway" pitchFamily="2" charset="77"/>
              </a:rPr>
              <a:t> </a:t>
            </a:r>
            <a:endParaRPr lang="es-CL" sz="2700" dirty="0">
              <a:latin typeface="Raleway" pitchFamily="2" charset="77"/>
              <a:cs typeface="Lao Sangam MN" pitchFamily="2" charset="0"/>
            </a:endParaRPr>
          </a:p>
        </p:txBody>
      </p:sp>
      <p:sp>
        <p:nvSpPr>
          <p:cNvPr id="4" name="Freeform 6">
            <a:extLst>
              <a:ext uri="{FF2B5EF4-FFF2-40B4-BE49-F238E27FC236}">
                <a16:creationId xmlns:a16="http://schemas.microsoft.com/office/drawing/2014/main" id="{E6E937C4-0EE0-1AB1-69A6-F93E72D47C99}"/>
              </a:ext>
            </a:extLst>
          </p:cNvPr>
          <p:cNvSpPr/>
          <p:nvPr/>
        </p:nvSpPr>
        <p:spPr>
          <a:xfrm>
            <a:off x="9900027" y="749438"/>
            <a:ext cx="1453773" cy="1043295"/>
          </a:xfrm>
          <a:custGeom>
            <a:avLst/>
            <a:gdLst/>
            <a:ahLst/>
            <a:cxnLst/>
            <a:rect l="l" t="t" r="r" b="b"/>
            <a:pathLst>
              <a:path w="3643312" h="2614612">
                <a:moveTo>
                  <a:pt x="0" y="0"/>
                </a:moveTo>
                <a:lnTo>
                  <a:pt x="3643312" y="0"/>
                </a:lnTo>
                <a:lnTo>
                  <a:pt x="3643312" y="2614613"/>
                </a:lnTo>
                <a:lnTo>
                  <a:pt x="0" y="2614613"/>
                </a:lnTo>
                <a:lnTo>
                  <a:pt x="0" y="0"/>
                </a:lnTo>
                <a:close/>
              </a:path>
            </a:pathLst>
          </a:custGeom>
          <a:blipFill>
            <a:blip r:embed="rId2"/>
            <a:stretch>
              <a:fillRect/>
            </a:stretch>
          </a:blipFill>
        </p:spPr>
        <p:txBody>
          <a:bodyPr/>
          <a:lstStyle/>
          <a:p>
            <a:endParaRPr lang="es-CL" sz="1200"/>
          </a:p>
        </p:txBody>
      </p:sp>
      <p:sp>
        <p:nvSpPr>
          <p:cNvPr id="5" name="CuadroTexto 4">
            <a:extLst>
              <a:ext uri="{FF2B5EF4-FFF2-40B4-BE49-F238E27FC236}">
                <a16:creationId xmlns:a16="http://schemas.microsoft.com/office/drawing/2014/main" id="{B501B132-CCC4-F801-D8E4-239CCD23112D}"/>
              </a:ext>
            </a:extLst>
          </p:cNvPr>
          <p:cNvSpPr txBox="1"/>
          <p:nvPr/>
        </p:nvSpPr>
        <p:spPr>
          <a:xfrm>
            <a:off x="838200" y="2451652"/>
            <a:ext cx="5257800" cy="2462213"/>
          </a:xfrm>
          <a:prstGeom prst="rect">
            <a:avLst/>
          </a:prstGeom>
          <a:noFill/>
        </p:spPr>
        <p:txBody>
          <a:bodyPr wrap="square" rtlCol="0">
            <a:spAutoFit/>
          </a:bodyPr>
          <a:lstStyle/>
          <a:p>
            <a:r>
              <a:rPr lang="es-CL" dirty="0">
                <a:latin typeface="Raleway" pitchFamily="2" charset="77"/>
              </a:rPr>
              <a:t>CLASE N° 1.1</a:t>
            </a:r>
          </a:p>
          <a:p>
            <a:r>
              <a:rPr lang="es-CL" dirty="0">
                <a:latin typeface="Raleway" pitchFamily="2" charset="77"/>
              </a:rPr>
              <a:t>¿Qué es </a:t>
            </a:r>
            <a:r>
              <a:rPr lang="en-US" noProof="0" dirty="0">
                <a:latin typeface="Raleway" pitchFamily="2" charset="77"/>
              </a:rPr>
              <a:t>Lean Startup</a:t>
            </a:r>
            <a:r>
              <a:rPr lang="es-CL" dirty="0">
                <a:latin typeface="Raleway" pitchFamily="2" charset="77"/>
              </a:rPr>
              <a:t>?</a:t>
            </a: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r>
              <a:rPr lang="es-CL" sz="1400" dirty="0">
                <a:latin typeface="Raleway" pitchFamily="2" charset="77"/>
              </a:rPr>
              <a:t>Inti Núñez </a:t>
            </a:r>
            <a:r>
              <a:rPr lang="es-CL" sz="1400" dirty="0" err="1">
                <a:latin typeface="Raleway" pitchFamily="2" charset="77"/>
              </a:rPr>
              <a:t>Ursic</a:t>
            </a:r>
            <a:endParaRPr lang="es-CL" sz="1400" dirty="0">
              <a:latin typeface="Raleway" pitchFamily="2" charset="77"/>
            </a:endParaRPr>
          </a:p>
          <a:p>
            <a:r>
              <a:rPr lang="es-CL" sz="1200" dirty="0">
                <a:latin typeface="Raleway" pitchFamily="2" charset="77"/>
                <a:hlinkClick r:id="rId3"/>
              </a:rPr>
              <a:t>intinunez@udec.cl</a:t>
            </a:r>
            <a:r>
              <a:rPr lang="es-CL" sz="1200" dirty="0">
                <a:latin typeface="Raleway" pitchFamily="2" charset="77"/>
              </a:rPr>
              <a:t> </a:t>
            </a:r>
          </a:p>
        </p:txBody>
      </p:sp>
    </p:spTree>
    <p:extLst>
      <p:ext uri="{BB962C8B-B14F-4D97-AF65-F5344CB8AC3E}">
        <p14:creationId xmlns:p14="http://schemas.microsoft.com/office/powerpoint/2010/main" val="2982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ecnologías del futuro | 14 avances tecnológicos que cambiarán el mundo">
            <a:extLst>
              <a:ext uri="{FF2B5EF4-FFF2-40B4-BE49-F238E27FC236}">
                <a16:creationId xmlns:a16="http://schemas.microsoft.com/office/drawing/2014/main" id="{675BAED8-4236-DCA7-2AF2-15030FA20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96BD2F5D-1425-52DA-76A6-9EA46F285E0A}"/>
              </a:ext>
            </a:extLst>
          </p:cNvPr>
          <p:cNvSpPr txBox="1"/>
          <p:nvPr/>
        </p:nvSpPr>
        <p:spPr>
          <a:xfrm>
            <a:off x="5604734" y="3908561"/>
            <a:ext cx="5604734" cy="2308324"/>
          </a:xfrm>
          <a:prstGeom prst="rect">
            <a:avLst/>
          </a:prstGeom>
          <a:noFill/>
        </p:spPr>
        <p:txBody>
          <a:bodyPr wrap="square">
            <a:spAutoFit/>
          </a:bodyPr>
          <a:lstStyle/>
          <a:p>
            <a:pPr algn="l"/>
            <a:r>
              <a:rPr lang="en-US" b="0" i="0" u="none" strike="noStrike" dirty="0">
                <a:solidFill>
                  <a:srgbClr val="333333"/>
                </a:solidFill>
                <a:effectLst/>
                <a:highlight>
                  <a:srgbClr val="ABE9FF"/>
                </a:highlight>
                <a:latin typeface="Avenir Next" panose="020B0503020202020204" pitchFamily="34" charset="0"/>
              </a:rPr>
              <a:t>The best way to predict the future is to create it.</a:t>
            </a:r>
          </a:p>
          <a:p>
            <a:pPr algn="l"/>
            <a:endParaRPr lang="en-US" b="0" i="0" u="none" strike="noStrike" dirty="0">
              <a:solidFill>
                <a:srgbClr val="333333"/>
              </a:solidFill>
              <a:effectLst/>
              <a:highlight>
                <a:srgbClr val="ABE9FF"/>
              </a:highlight>
              <a:latin typeface="Avenir Next" panose="020B0503020202020204" pitchFamily="34" charset="0"/>
            </a:endParaRPr>
          </a:p>
          <a:p>
            <a:pPr algn="r"/>
            <a:r>
              <a:rPr lang="en-US" b="0" i="0" u="none" strike="noStrike" dirty="0">
                <a:solidFill>
                  <a:srgbClr val="333333"/>
                </a:solidFill>
                <a:effectLst/>
                <a:highlight>
                  <a:srgbClr val="ABE9FF"/>
                </a:highlight>
                <a:latin typeface="Avenir Next" panose="020B0503020202020204" pitchFamily="34" charset="0"/>
              </a:rPr>
              <a:t>Peter Drucker</a:t>
            </a:r>
          </a:p>
          <a:p>
            <a:pPr algn="l"/>
            <a:endParaRPr lang="en-US" b="0" i="0" u="none" strike="noStrike" dirty="0">
              <a:solidFill>
                <a:srgbClr val="333333"/>
              </a:solidFill>
              <a:effectLst/>
              <a:highlight>
                <a:srgbClr val="ABE9FF"/>
              </a:highlight>
              <a:latin typeface="Avenir Next" panose="020B0503020202020204" pitchFamily="34" charset="0"/>
            </a:endParaRPr>
          </a:p>
          <a:p>
            <a:pPr algn="l"/>
            <a:endParaRPr lang="en-US" b="0" i="0" u="none" strike="noStrike" dirty="0">
              <a:solidFill>
                <a:srgbClr val="333333"/>
              </a:solidFill>
              <a:effectLst/>
              <a:highlight>
                <a:srgbClr val="ABE9FF"/>
              </a:highlight>
              <a:latin typeface="Avenir Next" panose="020B0503020202020204" pitchFamily="34" charset="0"/>
            </a:endParaRPr>
          </a:p>
          <a:p>
            <a:pPr algn="l"/>
            <a:r>
              <a:rPr lang="en-US" b="0" i="0" u="none" strike="noStrike" dirty="0">
                <a:solidFill>
                  <a:srgbClr val="333333"/>
                </a:solidFill>
                <a:effectLst/>
                <a:highlight>
                  <a:srgbClr val="ABE9FF"/>
                </a:highlight>
                <a:latin typeface="Avenir Next" panose="020B0503020202020204" pitchFamily="34" charset="0"/>
              </a:rPr>
              <a:t>Winners never quit and quitters never win.</a:t>
            </a:r>
          </a:p>
          <a:p>
            <a:pPr algn="l"/>
            <a:endParaRPr lang="en-US" dirty="0">
              <a:solidFill>
                <a:srgbClr val="333333"/>
              </a:solidFill>
              <a:highlight>
                <a:srgbClr val="ABE9FF"/>
              </a:highlight>
              <a:latin typeface="Avenir Next" panose="020B0503020202020204" pitchFamily="34" charset="0"/>
            </a:endParaRPr>
          </a:p>
          <a:p>
            <a:pPr algn="r"/>
            <a:r>
              <a:rPr lang="en-US" b="0" i="0" u="none" strike="noStrike" dirty="0">
                <a:solidFill>
                  <a:srgbClr val="333333"/>
                </a:solidFill>
                <a:effectLst/>
                <a:highlight>
                  <a:srgbClr val="ABE9FF"/>
                </a:highlight>
                <a:latin typeface="Avenir Next" panose="020B0503020202020204" pitchFamily="34" charset="0"/>
              </a:rPr>
              <a:t>Vince Lombardi</a:t>
            </a:r>
          </a:p>
        </p:txBody>
      </p:sp>
    </p:spTree>
    <p:extLst>
      <p:ext uri="{BB962C8B-B14F-4D97-AF65-F5344CB8AC3E}">
        <p14:creationId xmlns:p14="http://schemas.microsoft.com/office/powerpoint/2010/main" val="3433768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F2249F7-3D6B-F6DE-99F4-62F9C6BCA080}"/>
              </a:ext>
            </a:extLst>
          </p:cNvPr>
          <p:cNvSpPr>
            <a:spLocks noGrp="1"/>
          </p:cNvSpPr>
          <p:nvPr>
            <p:ph type="title"/>
          </p:nvPr>
        </p:nvSpPr>
        <p:spPr/>
        <p:txBody>
          <a:bodyPr/>
          <a:lstStyle/>
          <a:p>
            <a:r>
              <a:rPr lang="es-CL" dirty="0"/>
              <a:t>¿Qué es una Startup?</a:t>
            </a:r>
          </a:p>
        </p:txBody>
      </p:sp>
    </p:spTree>
    <p:extLst>
      <p:ext uri="{BB962C8B-B14F-4D97-AF65-F5344CB8AC3E}">
        <p14:creationId xmlns:p14="http://schemas.microsoft.com/office/powerpoint/2010/main" val="624010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2A6DD90A-5482-4971-B1B8-05DC59120764}"/>
              </a:ext>
            </a:extLst>
          </p:cNvPr>
          <p:cNvSpPr txBox="1">
            <a:spLocks/>
          </p:cNvSpPr>
          <p:nvPr/>
        </p:nvSpPr>
        <p:spPr>
          <a:xfrm>
            <a:off x="663218" y="1562717"/>
            <a:ext cx="4789714" cy="4795776"/>
          </a:xfrm>
          <a:prstGeom prst="rect">
            <a:avLst/>
          </a:prstGeom>
        </p:spPr>
        <p:txBody>
          <a:bodyPr/>
          <a:lstStyle>
            <a:lvl1pPr marL="228600" indent="-228600" algn="l" defTabSz="914400" rtl="0" eaLnBrk="1" latinLnBrk="0" hangingPunct="1">
              <a:lnSpc>
                <a:spcPct val="90000"/>
              </a:lnSpc>
              <a:spcBef>
                <a:spcPts val="1000"/>
              </a:spcBef>
              <a:buClr>
                <a:schemeClr val="accent4"/>
              </a:buClr>
              <a:buFont typeface="Wingdings" pitchFamily="2" charset="2"/>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chemeClr val="accent4"/>
              </a:buClr>
              <a:buFont typeface="Wingdings"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4"/>
              </a:buClr>
              <a:buFont typeface="Wingdings"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s-MX" sz="1600" dirty="0">
                <a:latin typeface="Montserrat" panose="00000500000000000000" pitchFamily="2" charset="0"/>
              </a:rPr>
              <a:t>Se habla de emprendimiento dinamico a una iniciativa que tiene una tasa de crecimiento, de escalamiento muy acelerada (en comparación con emprendimientos tradicionales). </a:t>
            </a:r>
            <a:endParaRPr lang="es-MX" sz="300" dirty="0">
              <a:latin typeface="Montserrat" panose="00000500000000000000" pitchFamily="2" charset="0"/>
            </a:endParaRPr>
          </a:p>
          <a:p>
            <a:pPr marL="0" indent="0">
              <a:lnSpc>
                <a:spcPct val="100000"/>
              </a:lnSpc>
              <a:buFont typeface="Wingdings" pitchFamily="2" charset="2"/>
              <a:buNone/>
            </a:pPr>
            <a:endParaRPr lang="es-MX" sz="300" b="1" dirty="0">
              <a:latin typeface="Montserrat" panose="00000500000000000000" pitchFamily="2" charset="0"/>
            </a:endParaRPr>
          </a:p>
          <a:p>
            <a:pPr marL="0" indent="0">
              <a:buFont typeface="Wingdings" pitchFamily="2" charset="2"/>
              <a:buNone/>
            </a:pPr>
            <a:r>
              <a:rPr lang="es-MX" sz="1600" b="1" dirty="0">
                <a:latin typeface="Montserrat" panose="00000500000000000000" pitchFamily="2" charset="0"/>
              </a:rPr>
              <a:t>Principales características del emprendimiento:</a:t>
            </a:r>
          </a:p>
          <a:p>
            <a:pPr marL="0" indent="0">
              <a:buFont typeface="Wingdings" pitchFamily="2" charset="2"/>
              <a:buNone/>
            </a:pPr>
            <a:endParaRPr lang="es-MX" sz="1600" b="1" dirty="0">
              <a:latin typeface="Montserrat" panose="00000500000000000000" pitchFamily="2" charset="0"/>
            </a:endParaRPr>
          </a:p>
          <a:p>
            <a:pPr marL="342900" indent="-342900">
              <a:buClr>
                <a:srgbClr val="00B0F0"/>
              </a:buClr>
              <a:buFont typeface="+mj-lt"/>
              <a:buAutoNum type="arabicPeriod"/>
            </a:pPr>
            <a:r>
              <a:rPr lang="es-MX" sz="1600" b="1" dirty="0">
                <a:latin typeface="Montserrat" panose="00000500000000000000" pitchFamily="2" charset="0"/>
              </a:rPr>
              <a:t>Innovación</a:t>
            </a:r>
          </a:p>
          <a:p>
            <a:pPr marL="342900" indent="-342900">
              <a:buClr>
                <a:srgbClr val="00B0F0"/>
              </a:buClr>
              <a:buFont typeface="+mj-lt"/>
              <a:buAutoNum type="arabicPeriod"/>
            </a:pPr>
            <a:r>
              <a:rPr lang="es-MX" sz="1600" b="1" dirty="0">
                <a:latin typeface="Montserrat" panose="00000500000000000000" pitchFamily="2" charset="0"/>
              </a:rPr>
              <a:t>Riesgo</a:t>
            </a:r>
            <a:endParaRPr lang="es-MX" sz="1600" dirty="0">
              <a:latin typeface="Montserrat" panose="00000500000000000000" pitchFamily="2" charset="0"/>
            </a:endParaRPr>
          </a:p>
          <a:p>
            <a:pPr marL="342900" indent="-342900">
              <a:buClr>
                <a:srgbClr val="00B0F0"/>
              </a:buClr>
              <a:buFont typeface="+mj-lt"/>
              <a:buAutoNum type="arabicPeriod"/>
            </a:pPr>
            <a:r>
              <a:rPr lang="es-MX" sz="1600" b="1" dirty="0">
                <a:latin typeface="Montserrat" panose="00000500000000000000" pitchFamily="2" charset="0"/>
              </a:rPr>
              <a:t>Visión</a:t>
            </a:r>
            <a:endParaRPr lang="es-MX" sz="1600" dirty="0">
              <a:latin typeface="Montserrat" panose="00000500000000000000" pitchFamily="2" charset="0"/>
            </a:endParaRPr>
          </a:p>
          <a:p>
            <a:pPr marL="342900" indent="-342900">
              <a:buClr>
                <a:srgbClr val="00B0F0"/>
              </a:buClr>
              <a:buFont typeface="+mj-lt"/>
              <a:buAutoNum type="arabicPeriod"/>
            </a:pPr>
            <a:r>
              <a:rPr lang="es-MX" sz="1600" b="1" dirty="0">
                <a:latin typeface="Montserrat" panose="00000500000000000000" pitchFamily="2" charset="0"/>
              </a:rPr>
              <a:t>Flexibilidad</a:t>
            </a:r>
            <a:endParaRPr lang="es-MX" sz="1600" dirty="0">
              <a:latin typeface="Montserrat" panose="00000500000000000000" pitchFamily="2" charset="0"/>
            </a:endParaRPr>
          </a:p>
          <a:p>
            <a:pPr marL="342900" indent="-342900">
              <a:buClr>
                <a:srgbClr val="00B0F0"/>
              </a:buClr>
              <a:buFont typeface="+mj-lt"/>
              <a:buAutoNum type="arabicPeriod"/>
            </a:pPr>
            <a:r>
              <a:rPr lang="es-MX" sz="1600" b="1" dirty="0">
                <a:latin typeface="Montserrat" panose="00000500000000000000" pitchFamily="2" charset="0"/>
              </a:rPr>
              <a:t>Dedicación</a:t>
            </a:r>
          </a:p>
          <a:p>
            <a:pPr marL="342900" indent="-342900">
              <a:buClr>
                <a:srgbClr val="00B0F0"/>
              </a:buClr>
              <a:buFont typeface="+mj-lt"/>
              <a:buAutoNum type="arabicPeriod"/>
            </a:pPr>
            <a:r>
              <a:rPr lang="es-MX" sz="1600" b="1" dirty="0">
                <a:latin typeface="Montserrat" panose="00000500000000000000" pitchFamily="2" charset="0"/>
              </a:rPr>
              <a:t>Resiliencia</a:t>
            </a:r>
            <a:endParaRPr lang="es-MX" sz="1600" dirty="0">
              <a:latin typeface="Montserrat" panose="00000500000000000000" pitchFamily="2" charset="0"/>
            </a:endParaRPr>
          </a:p>
        </p:txBody>
      </p:sp>
      <p:sp>
        <p:nvSpPr>
          <p:cNvPr id="2" name="TextBox 1">
            <a:extLst>
              <a:ext uri="{FF2B5EF4-FFF2-40B4-BE49-F238E27FC236}">
                <a16:creationId xmlns:a16="http://schemas.microsoft.com/office/drawing/2014/main" id="{F8A2E706-AFAB-3EAE-E614-0EB0C8415FA0}"/>
              </a:ext>
            </a:extLst>
          </p:cNvPr>
          <p:cNvSpPr txBox="1"/>
          <p:nvPr/>
        </p:nvSpPr>
        <p:spPr>
          <a:xfrm>
            <a:off x="663218" y="499507"/>
            <a:ext cx="10874374" cy="523220"/>
          </a:xfrm>
          <a:prstGeom prst="rect">
            <a:avLst/>
          </a:prstGeom>
          <a:noFill/>
        </p:spPr>
        <p:txBody>
          <a:bodyPr wrap="square" rtlCol="0">
            <a:spAutoFit/>
          </a:bodyPr>
          <a:lstStyle/>
          <a:p>
            <a:pPr algn="ctr"/>
            <a:r>
              <a:rPr lang="es-ES" sz="2800" dirty="0">
                <a:latin typeface="Montserrat SemiBold" pitchFamily="2" charset="0"/>
              </a:rPr>
              <a:t>El emprendimiento dinámico</a:t>
            </a:r>
            <a:endParaRPr lang="es-CL" sz="2800" dirty="0">
              <a:latin typeface="Montserrat SemiBold" pitchFamily="2" charset="0"/>
            </a:endParaRPr>
          </a:p>
        </p:txBody>
      </p:sp>
      <p:sp>
        <p:nvSpPr>
          <p:cNvPr id="3" name="CuadroTexto 2">
            <a:extLst>
              <a:ext uri="{FF2B5EF4-FFF2-40B4-BE49-F238E27FC236}">
                <a16:creationId xmlns:a16="http://schemas.microsoft.com/office/drawing/2014/main" id="{191F1843-C232-8685-3107-9164103F3489}"/>
              </a:ext>
            </a:extLst>
          </p:cNvPr>
          <p:cNvSpPr txBox="1"/>
          <p:nvPr/>
        </p:nvSpPr>
        <p:spPr>
          <a:xfrm>
            <a:off x="6739070" y="2828835"/>
            <a:ext cx="4789712" cy="1200329"/>
          </a:xfrm>
          <a:prstGeom prst="rect">
            <a:avLst/>
          </a:prstGeom>
          <a:noFill/>
        </p:spPr>
        <p:txBody>
          <a:bodyPr wrap="square" rtlCol="0">
            <a:spAutoFit/>
          </a:bodyPr>
          <a:lstStyle/>
          <a:p>
            <a:pPr algn="ctr"/>
            <a:r>
              <a:rPr lang="es-CL" dirty="0"/>
              <a:t>Emprendimiento de alto crecimiento, basado en diferencias sustantivas, alto riesgo, con requerimiento alto de recursos de inversión, potencial global.</a:t>
            </a:r>
          </a:p>
        </p:txBody>
      </p:sp>
    </p:spTree>
    <p:extLst>
      <p:ext uri="{BB962C8B-B14F-4D97-AF65-F5344CB8AC3E}">
        <p14:creationId xmlns:p14="http://schemas.microsoft.com/office/powerpoint/2010/main" val="983638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2A6DD90A-5482-4971-B1B8-05DC59120764}"/>
              </a:ext>
            </a:extLst>
          </p:cNvPr>
          <p:cNvSpPr txBox="1">
            <a:spLocks/>
          </p:cNvSpPr>
          <p:nvPr/>
        </p:nvSpPr>
        <p:spPr>
          <a:xfrm>
            <a:off x="5699709" y="1875747"/>
            <a:ext cx="5833478" cy="3106506"/>
          </a:xfrm>
          <a:prstGeom prst="rect">
            <a:avLst/>
          </a:prstGeom>
        </p:spPr>
        <p:txBody>
          <a:bodyPr/>
          <a:lstStyle>
            <a:lvl1pPr marL="228600" indent="-228600" algn="l" defTabSz="914400" rtl="0" eaLnBrk="1" latinLnBrk="0" hangingPunct="1">
              <a:lnSpc>
                <a:spcPct val="90000"/>
              </a:lnSpc>
              <a:spcBef>
                <a:spcPts val="1000"/>
              </a:spcBef>
              <a:buClr>
                <a:schemeClr val="accent4"/>
              </a:buClr>
              <a:buFont typeface="Wingdings" pitchFamily="2" charset="2"/>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chemeClr val="accent4"/>
              </a:buClr>
              <a:buFont typeface="Wingdings"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4"/>
              </a:buClr>
              <a:buFont typeface="Wingdings"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Clr>
                <a:srgbClr val="00B0F0"/>
              </a:buClr>
              <a:buFont typeface="+mj-lt"/>
              <a:buAutoNum type="arabicPeriod"/>
            </a:pPr>
            <a:r>
              <a:rPr lang="es-MX" sz="1600" b="1" dirty="0">
                <a:latin typeface="Montserrat" panose="00000500000000000000" pitchFamily="2" charset="0"/>
              </a:rPr>
              <a:t>Secuencial (paso a paso): </a:t>
            </a:r>
            <a:r>
              <a:rPr lang="es-MX" sz="1600" dirty="0">
                <a:latin typeface="Montserrat" panose="00000500000000000000" pitchFamily="2" charset="0"/>
              </a:rPr>
              <a:t>Hay etapas o fases definidas que se deben atravesar para alcanzar el éxito.</a:t>
            </a:r>
          </a:p>
          <a:p>
            <a:pPr marL="342900" indent="-342900">
              <a:lnSpc>
                <a:spcPct val="100000"/>
              </a:lnSpc>
              <a:buClr>
                <a:srgbClr val="00B0F0"/>
              </a:buClr>
              <a:buFont typeface="+mj-lt"/>
              <a:buAutoNum type="arabicPeriod"/>
            </a:pPr>
            <a:r>
              <a:rPr lang="es-MX" sz="1600" b="1" dirty="0">
                <a:latin typeface="Montserrat" panose="00000500000000000000" pitchFamily="2" charset="0"/>
              </a:rPr>
              <a:t>Discontinuo (cada día tiene su afán): </a:t>
            </a:r>
            <a:r>
              <a:rPr lang="es-CL" sz="1600" dirty="0">
                <a:latin typeface="Montserrat" panose="00000500000000000000" pitchFamily="2" charset="0"/>
              </a:rPr>
              <a:t>Al igual que en un viaje, emprender implica constantes descubrimientos, aprendizajes y crecimiento personal y profesional. </a:t>
            </a:r>
          </a:p>
          <a:p>
            <a:pPr marL="342900" indent="-342900">
              <a:lnSpc>
                <a:spcPct val="100000"/>
              </a:lnSpc>
              <a:buClr>
                <a:srgbClr val="00B0F0"/>
              </a:buClr>
              <a:buFont typeface="+mj-lt"/>
              <a:buAutoNum type="arabicPeriod"/>
            </a:pPr>
            <a:r>
              <a:rPr lang="es-CL" sz="1600" b="1" dirty="0">
                <a:latin typeface="Montserrat" panose="00000500000000000000" pitchFamily="2" charset="0"/>
              </a:rPr>
              <a:t>Evolutivo (causa efecto dependiente del recorrido): </a:t>
            </a:r>
            <a:r>
              <a:rPr lang="es-CL" sz="1600" dirty="0">
                <a:latin typeface="Montserrat" panose="00000500000000000000" pitchFamily="2" charset="0"/>
              </a:rPr>
              <a:t>Tanto en un viaje como en el emprendimiento, se encuentran obstáculos y desafíos que deben superarse.</a:t>
            </a:r>
          </a:p>
        </p:txBody>
      </p:sp>
      <p:sp>
        <p:nvSpPr>
          <p:cNvPr id="2" name="TextBox 1">
            <a:extLst>
              <a:ext uri="{FF2B5EF4-FFF2-40B4-BE49-F238E27FC236}">
                <a16:creationId xmlns:a16="http://schemas.microsoft.com/office/drawing/2014/main" id="{F8A2E706-AFAB-3EAE-E614-0EB0C8415FA0}"/>
              </a:ext>
            </a:extLst>
          </p:cNvPr>
          <p:cNvSpPr txBox="1"/>
          <p:nvPr/>
        </p:nvSpPr>
        <p:spPr>
          <a:xfrm>
            <a:off x="658813" y="707218"/>
            <a:ext cx="10874374" cy="523220"/>
          </a:xfrm>
          <a:prstGeom prst="rect">
            <a:avLst/>
          </a:prstGeom>
          <a:noFill/>
        </p:spPr>
        <p:txBody>
          <a:bodyPr wrap="square" rtlCol="0">
            <a:spAutoFit/>
          </a:bodyPr>
          <a:lstStyle/>
          <a:p>
            <a:r>
              <a:rPr lang="es-ES" sz="2800" dirty="0">
                <a:latin typeface="Montserrat SemiBold" pitchFamily="2" charset="0"/>
              </a:rPr>
              <a:t>El emprendimiento dinámico es un viaje… una escalera</a:t>
            </a:r>
            <a:endParaRPr lang="es-CL" sz="2800" dirty="0">
              <a:latin typeface="Montserrat SemiBold" pitchFamily="2" charset="0"/>
            </a:endParaRPr>
          </a:p>
        </p:txBody>
      </p:sp>
      <p:sp>
        <p:nvSpPr>
          <p:cNvPr id="3" name="CuadroTexto 2">
            <a:extLst>
              <a:ext uri="{FF2B5EF4-FFF2-40B4-BE49-F238E27FC236}">
                <a16:creationId xmlns:a16="http://schemas.microsoft.com/office/drawing/2014/main" id="{9563FC17-847E-55E8-5BEC-1D957FE69659}"/>
              </a:ext>
            </a:extLst>
          </p:cNvPr>
          <p:cNvSpPr txBox="1"/>
          <p:nvPr/>
        </p:nvSpPr>
        <p:spPr>
          <a:xfrm>
            <a:off x="1073426" y="2828835"/>
            <a:ext cx="3882887" cy="1200329"/>
          </a:xfrm>
          <a:prstGeom prst="rect">
            <a:avLst/>
          </a:prstGeom>
          <a:noFill/>
        </p:spPr>
        <p:txBody>
          <a:bodyPr wrap="square" rtlCol="0">
            <a:spAutoFit/>
          </a:bodyPr>
          <a:lstStyle/>
          <a:p>
            <a:pPr algn="ctr"/>
            <a:r>
              <a:rPr lang="es-CL" dirty="0"/>
              <a:t>Son pulsos de aprendizaje evolutivo, pasar etapas, donde el (modelo de) negocios, se descubre, consolida y expande.</a:t>
            </a:r>
          </a:p>
        </p:txBody>
      </p:sp>
    </p:spTree>
    <p:extLst>
      <p:ext uri="{BB962C8B-B14F-4D97-AF65-F5344CB8AC3E}">
        <p14:creationId xmlns:p14="http://schemas.microsoft.com/office/powerpoint/2010/main" val="3181725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408855"/>
            <a:ext cx="10865564" cy="523220"/>
          </a:xfrm>
          <a:prstGeom prst="rect">
            <a:avLst/>
          </a:prstGeom>
          <a:noFill/>
        </p:spPr>
        <p:txBody>
          <a:bodyPr wrap="square" rtlCol="0">
            <a:spAutoFit/>
          </a:bodyPr>
          <a:lstStyle/>
          <a:p>
            <a:pPr algn="ctr"/>
            <a:r>
              <a:rPr lang="es-ES" sz="2800" dirty="0">
                <a:latin typeface="Montserrat SemiBold" pitchFamily="2" charset="0"/>
              </a:rPr>
              <a:t>Conceptos en el emprendimiento</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982450"/>
            <a:ext cx="3440696" cy="2893100"/>
          </a:xfrm>
          <a:prstGeom prst="rect">
            <a:avLst/>
          </a:prstGeom>
          <a:noFill/>
        </p:spPr>
        <p:txBody>
          <a:bodyPr wrap="square">
            <a:spAutoFit/>
          </a:bodyPr>
          <a:lstStyle/>
          <a:p>
            <a:pPr algn="just"/>
            <a:r>
              <a:rPr lang="es-CL" sz="1400" dirty="0">
                <a:latin typeface="Montserrat" panose="00000500000000000000" pitchFamily="2" charset="0"/>
              </a:rPr>
              <a:t>En el mundo del emprendimiento se utilizan diversos conceptos y términos que han facilitado el uso de un lenguaje común:</a:t>
            </a:r>
          </a:p>
          <a:p>
            <a:pPr algn="just"/>
            <a:endParaRPr lang="es-CL" sz="1400" dirty="0">
              <a:latin typeface="Montserrat" panose="00000500000000000000" pitchFamily="2" charset="0"/>
            </a:endParaRPr>
          </a:p>
          <a:p>
            <a:pPr marL="342900" indent="-342900" algn="just">
              <a:buFont typeface="+mj-lt"/>
              <a:buAutoNum type="arabicPeriod"/>
            </a:pPr>
            <a:r>
              <a:rPr lang="es-CL" sz="1400" b="1" dirty="0">
                <a:latin typeface="Montserrat" panose="00000500000000000000" pitchFamily="2" charset="0"/>
              </a:rPr>
              <a:t>Oleada tecnológica</a:t>
            </a:r>
            <a:endParaRPr lang="es-CL" sz="1400" dirty="0">
              <a:latin typeface="Montserrat" panose="00000500000000000000" pitchFamily="2" charset="0"/>
            </a:endParaRPr>
          </a:p>
          <a:p>
            <a:pPr marL="342900" indent="-342900" algn="just">
              <a:buFont typeface="+mj-lt"/>
              <a:buAutoNum type="arabicPeriod"/>
            </a:pPr>
            <a:endParaRPr lang="es-CL" sz="1400" b="1" dirty="0">
              <a:latin typeface="Montserrat" panose="00000500000000000000" pitchFamily="2" charset="0"/>
            </a:endParaRPr>
          </a:p>
          <a:p>
            <a:pPr marL="342900" indent="-342900" algn="just">
              <a:buFont typeface="+mj-lt"/>
              <a:buAutoNum type="arabicPeriod"/>
            </a:pPr>
            <a:r>
              <a:rPr lang="es-CL" sz="1400" b="1" dirty="0">
                <a:latin typeface="Montserrat" panose="00000500000000000000" pitchFamily="2" charset="0"/>
              </a:rPr>
              <a:t>Innovación</a:t>
            </a:r>
          </a:p>
          <a:p>
            <a:pPr marL="342900" indent="-342900" algn="just">
              <a:buFont typeface="+mj-lt"/>
              <a:buAutoNum type="arabicPeriod"/>
            </a:pPr>
            <a:endParaRPr lang="es-CL" sz="1400" dirty="0">
              <a:latin typeface="Montserrat" panose="00000500000000000000" pitchFamily="2" charset="0"/>
            </a:endParaRPr>
          </a:p>
          <a:p>
            <a:pPr marL="342900" indent="-342900" algn="just">
              <a:buFont typeface="+mj-lt"/>
              <a:buAutoNum type="arabicPeriod"/>
            </a:pPr>
            <a:r>
              <a:rPr lang="es-CL" sz="1400" b="1" dirty="0">
                <a:latin typeface="Montserrat" panose="00000500000000000000" pitchFamily="2" charset="0"/>
              </a:rPr>
              <a:t>Ecosistema</a:t>
            </a:r>
            <a:r>
              <a:rPr lang="es-CL" sz="1400" dirty="0">
                <a:latin typeface="Montserrat" panose="00000500000000000000" pitchFamily="2" charset="0"/>
              </a:rPr>
              <a:t> </a:t>
            </a:r>
          </a:p>
          <a:p>
            <a:pPr marL="342900" indent="-342900" algn="just">
              <a:buFont typeface="+mj-lt"/>
              <a:buAutoNum type="arabicPeriod"/>
            </a:pPr>
            <a:endParaRPr lang="es-CL" sz="1400" dirty="0">
              <a:latin typeface="Montserrat" panose="00000500000000000000" pitchFamily="2" charset="0"/>
            </a:endParaRPr>
          </a:p>
          <a:p>
            <a:pPr marL="342900" indent="-342900" algn="just">
              <a:buFont typeface="+mj-lt"/>
              <a:buAutoNum type="arabicPeriod"/>
            </a:pPr>
            <a:r>
              <a:rPr lang="es-CL" sz="1400" b="1" dirty="0">
                <a:latin typeface="Montserrat" panose="00000500000000000000" pitchFamily="2" charset="0"/>
              </a:rPr>
              <a:t>Capital de riesgo</a:t>
            </a:r>
            <a:endParaRPr lang="es-CL" sz="1400" dirty="0">
              <a:latin typeface="Montserrat" panose="00000500000000000000" pitchFamily="2" charset="0"/>
            </a:endParaRPr>
          </a:p>
          <a:p>
            <a:pPr algn="ctr"/>
            <a:endParaRPr lang="es-CL" sz="1400" dirty="0">
              <a:latin typeface="Montserrat" panose="00000500000000000000" pitchFamily="2" charset="0"/>
            </a:endParaRPr>
          </a:p>
        </p:txBody>
      </p:sp>
    </p:spTree>
    <p:extLst>
      <p:ext uri="{BB962C8B-B14F-4D97-AF65-F5344CB8AC3E}">
        <p14:creationId xmlns:p14="http://schemas.microsoft.com/office/powerpoint/2010/main" val="451661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3">
            <a:extLst>
              <a:ext uri="{FF2B5EF4-FFF2-40B4-BE49-F238E27FC236}">
                <a16:creationId xmlns:a16="http://schemas.microsoft.com/office/drawing/2014/main" id="{14D25FF0-59E7-8F05-D0AB-E5E381C121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25036" y="1263814"/>
            <a:ext cx="6077222" cy="433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Marcador de texto 4">
            <a:extLst>
              <a:ext uri="{FF2B5EF4-FFF2-40B4-BE49-F238E27FC236}">
                <a16:creationId xmlns:a16="http://schemas.microsoft.com/office/drawing/2014/main" id="{631A8882-DB27-E644-7435-0C8B88EE0424}"/>
              </a:ext>
            </a:extLst>
          </p:cNvPr>
          <p:cNvSpPr txBox="1">
            <a:spLocks/>
          </p:cNvSpPr>
          <p:nvPr/>
        </p:nvSpPr>
        <p:spPr>
          <a:xfrm>
            <a:off x="663219" y="900590"/>
            <a:ext cx="4070146" cy="5056819"/>
          </a:xfrm>
          <a:prstGeom prst="rect">
            <a:avLst/>
          </a:prstGeom>
        </p:spPr>
        <p:txBody>
          <a:bodyPr/>
          <a:lstStyle>
            <a:lvl1pPr marL="228600" indent="-228600" algn="l" defTabSz="914400" rtl="0" eaLnBrk="1" latinLnBrk="0" hangingPunct="1">
              <a:lnSpc>
                <a:spcPct val="90000"/>
              </a:lnSpc>
              <a:spcBef>
                <a:spcPts val="1000"/>
              </a:spcBef>
              <a:buClr>
                <a:schemeClr val="accent4"/>
              </a:buClr>
              <a:buFont typeface="Wingdings" pitchFamily="2" charset="2"/>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chemeClr val="accent4"/>
              </a:buClr>
              <a:buFont typeface="Wingdings"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4"/>
              </a:buClr>
              <a:buFont typeface="Wingdings"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s-MX" sz="1600" dirty="0">
                <a:latin typeface="Montserrat" panose="00000500000000000000" pitchFamily="2" charset="0"/>
              </a:rPr>
              <a:t>Al explicar cómo se dan los emprendimientos dinámicos, deberiamos decir que se “montan” (así como un surfista) sobre oleadas tecnológicas (nueva tecnología, los automoviles y Ford, el cine y Walt Disney, los PC y Steve Jobs), las cuales sólo pueden ser abordadas por personas (no gobiernos, no universidades, no empresas. La unidad son personas), que, a través de oportunidades, las cuales se crean con concursos abiertos, estimulos, torneos; logran hacer negocios usando la nueva tecnología, y que la posibilidad de esparcir, replicar, aprovechar ese impacto positivo en la economía es por y através de ecosistemas (muchos jugadores relacionados).</a:t>
            </a:r>
          </a:p>
        </p:txBody>
      </p:sp>
    </p:spTree>
    <p:extLst>
      <p:ext uri="{BB962C8B-B14F-4D97-AF65-F5344CB8AC3E}">
        <p14:creationId xmlns:p14="http://schemas.microsoft.com/office/powerpoint/2010/main" val="3622329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2A6DD90A-5482-4971-B1B8-05DC59120764}"/>
              </a:ext>
            </a:extLst>
          </p:cNvPr>
          <p:cNvSpPr txBox="1">
            <a:spLocks/>
          </p:cNvSpPr>
          <p:nvPr/>
        </p:nvSpPr>
        <p:spPr>
          <a:xfrm>
            <a:off x="663219" y="1538492"/>
            <a:ext cx="5432782" cy="4841517"/>
          </a:xfrm>
          <a:prstGeom prst="rect">
            <a:avLst/>
          </a:prstGeom>
        </p:spPr>
        <p:txBody>
          <a:bodyPr/>
          <a:lstStyle>
            <a:lvl1pPr marL="228600" indent="-228600" algn="l" defTabSz="914400" rtl="0" eaLnBrk="1" latinLnBrk="0" hangingPunct="1">
              <a:lnSpc>
                <a:spcPct val="90000"/>
              </a:lnSpc>
              <a:spcBef>
                <a:spcPts val="1000"/>
              </a:spcBef>
              <a:buClr>
                <a:schemeClr val="accent4"/>
              </a:buClr>
              <a:buFont typeface="Wingdings" pitchFamily="2" charset="2"/>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chemeClr val="accent4"/>
              </a:buClr>
              <a:buFont typeface="Wingdings"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4"/>
              </a:buClr>
              <a:buFont typeface="Wingdings"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s-MX" sz="1600" b="1" dirty="0">
                <a:latin typeface="Montserrat" panose="00000500000000000000" pitchFamily="2" charset="0"/>
              </a:rPr>
              <a:t>Los emprendedores se lanzan a hacer reales su visión y su negocio</a:t>
            </a:r>
            <a:r>
              <a:rPr lang="es-MX" sz="1600" dirty="0">
                <a:latin typeface="Montserrat" panose="00000500000000000000" pitchFamily="2" charset="0"/>
              </a:rPr>
              <a:t>. </a:t>
            </a:r>
          </a:p>
          <a:p>
            <a:pPr marL="0" indent="0" algn="just">
              <a:lnSpc>
                <a:spcPct val="100000"/>
              </a:lnSpc>
              <a:buNone/>
            </a:pPr>
            <a:r>
              <a:rPr lang="es-CL" sz="1600" dirty="0">
                <a:latin typeface="Montserrat" panose="00000500000000000000" pitchFamily="2" charset="0"/>
              </a:rPr>
              <a:t>Ser un emprendedor implica </a:t>
            </a:r>
            <a:r>
              <a:rPr lang="es-CL" sz="1600" b="1" dirty="0">
                <a:latin typeface="Montserrat" panose="00000500000000000000" pitchFamily="2" charset="0"/>
              </a:rPr>
              <a:t>tener una mentalidad creativa, visionaria y proactiva, así como la capacidad de abandonar su </a:t>
            </a:r>
            <a:r>
              <a:rPr lang="es-CL" sz="1600" b="1" i="1" dirty="0">
                <a:latin typeface="Montserrat" panose="00000500000000000000" pitchFamily="2" charset="0"/>
              </a:rPr>
              <a:t>status quo</a:t>
            </a:r>
            <a:r>
              <a:rPr lang="es-CL" sz="1600" b="1" dirty="0">
                <a:latin typeface="Montserrat" panose="00000500000000000000" pitchFamily="2" charset="0"/>
              </a:rPr>
              <a:t>, asumir riesgos y enfrentar un nuevo camino</a:t>
            </a:r>
            <a:r>
              <a:rPr lang="es-CL" sz="1600" dirty="0">
                <a:latin typeface="Montserrat" panose="00000500000000000000" pitchFamily="2" charset="0"/>
              </a:rPr>
              <a:t>, a menudo envuelto en incertidumbre y miedo. </a:t>
            </a:r>
          </a:p>
        </p:txBody>
      </p:sp>
      <p:sp>
        <p:nvSpPr>
          <p:cNvPr id="2" name="TextBox 1">
            <a:extLst>
              <a:ext uri="{FF2B5EF4-FFF2-40B4-BE49-F238E27FC236}">
                <a16:creationId xmlns:a16="http://schemas.microsoft.com/office/drawing/2014/main" id="{F8A2E706-AFAB-3EAE-E614-0EB0C8415FA0}"/>
              </a:ext>
            </a:extLst>
          </p:cNvPr>
          <p:cNvSpPr txBox="1"/>
          <p:nvPr/>
        </p:nvSpPr>
        <p:spPr>
          <a:xfrm>
            <a:off x="663218" y="545436"/>
            <a:ext cx="10524735" cy="523220"/>
          </a:xfrm>
          <a:prstGeom prst="rect">
            <a:avLst/>
          </a:prstGeom>
          <a:noFill/>
        </p:spPr>
        <p:txBody>
          <a:bodyPr wrap="square" rtlCol="0">
            <a:spAutoFit/>
          </a:bodyPr>
          <a:lstStyle/>
          <a:p>
            <a:pPr algn="ctr"/>
            <a:r>
              <a:rPr lang="es-ES" sz="2800" dirty="0">
                <a:latin typeface="Montserrat SemiBold" pitchFamily="2" charset="0"/>
              </a:rPr>
              <a:t>El emprendedor/a es el protagonista</a:t>
            </a:r>
            <a:endParaRPr lang="es-CL" sz="2800" dirty="0">
              <a:latin typeface="Montserrat SemiBold" pitchFamily="2" charset="0"/>
            </a:endParaRPr>
          </a:p>
        </p:txBody>
      </p:sp>
      <p:sp>
        <p:nvSpPr>
          <p:cNvPr id="6" name="CuadroTexto 5">
            <a:extLst>
              <a:ext uri="{FF2B5EF4-FFF2-40B4-BE49-F238E27FC236}">
                <a16:creationId xmlns:a16="http://schemas.microsoft.com/office/drawing/2014/main" id="{B4ABF625-BB9D-42F6-AB5F-1BC9D501F2AC}"/>
              </a:ext>
            </a:extLst>
          </p:cNvPr>
          <p:cNvSpPr txBox="1"/>
          <p:nvPr/>
        </p:nvSpPr>
        <p:spPr>
          <a:xfrm>
            <a:off x="663218" y="5319508"/>
            <a:ext cx="5432782" cy="400110"/>
          </a:xfrm>
          <a:prstGeom prst="rect">
            <a:avLst/>
          </a:prstGeom>
          <a:noFill/>
        </p:spPr>
        <p:txBody>
          <a:bodyPr wrap="square">
            <a:spAutoFit/>
          </a:bodyPr>
          <a:lstStyle/>
          <a:p>
            <a:r>
              <a:rPr lang="es-CL" sz="1000" i="1" dirty="0">
                <a:latin typeface="Montserrat" panose="00000500000000000000" pitchFamily="2" charset="0"/>
              </a:rPr>
              <a:t>Status quo: Expresión en latín que se refiere al estado actual de las cosas o la situación existente en un determinado momento. </a:t>
            </a:r>
          </a:p>
        </p:txBody>
      </p:sp>
      <p:sp>
        <p:nvSpPr>
          <p:cNvPr id="7" name="CuadroTexto 6">
            <a:extLst>
              <a:ext uri="{FF2B5EF4-FFF2-40B4-BE49-F238E27FC236}">
                <a16:creationId xmlns:a16="http://schemas.microsoft.com/office/drawing/2014/main" id="{ED98DFD7-6694-4329-AB52-AF4CDA14C38A}"/>
              </a:ext>
            </a:extLst>
          </p:cNvPr>
          <p:cNvSpPr txBox="1"/>
          <p:nvPr/>
        </p:nvSpPr>
        <p:spPr>
          <a:xfrm>
            <a:off x="663218" y="6136070"/>
            <a:ext cx="10865564" cy="246221"/>
          </a:xfrm>
          <a:prstGeom prst="rect">
            <a:avLst/>
          </a:prstGeom>
          <a:noFill/>
        </p:spPr>
        <p:txBody>
          <a:bodyPr wrap="square">
            <a:spAutoFit/>
          </a:bodyPr>
          <a:lstStyle/>
          <a:p>
            <a:r>
              <a:rPr lang="es-CL" sz="1000" dirty="0">
                <a:latin typeface="Montserrat" panose="00000500000000000000" pitchFamily="2" charset="0"/>
              </a:rPr>
              <a:t>Fuente: </a:t>
            </a:r>
            <a:r>
              <a:rPr lang="es-CL" sz="1000" dirty="0" err="1">
                <a:latin typeface="Montserrat" panose="00000500000000000000" pitchFamily="2" charset="0"/>
              </a:rPr>
              <a:t>Blank</a:t>
            </a:r>
            <a:r>
              <a:rPr lang="es-CL" sz="1000" dirty="0">
                <a:latin typeface="Montserrat" panose="00000500000000000000" pitchFamily="2" charset="0"/>
              </a:rPr>
              <a:t>, S. (2016)</a:t>
            </a:r>
          </a:p>
        </p:txBody>
      </p:sp>
      <p:sp>
        <p:nvSpPr>
          <p:cNvPr id="3" name="CuadroTexto 2">
            <a:extLst>
              <a:ext uri="{FF2B5EF4-FFF2-40B4-BE49-F238E27FC236}">
                <a16:creationId xmlns:a16="http://schemas.microsoft.com/office/drawing/2014/main" id="{61081AB3-81E7-CA51-7BC6-6E298B3576FE}"/>
              </a:ext>
            </a:extLst>
          </p:cNvPr>
          <p:cNvSpPr txBox="1"/>
          <p:nvPr/>
        </p:nvSpPr>
        <p:spPr>
          <a:xfrm>
            <a:off x="663218" y="4298703"/>
            <a:ext cx="4991548" cy="461665"/>
          </a:xfrm>
          <a:prstGeom prst="rect">
            <a:avLst/>
          </a:prstGeom>
          <a:noFill/>
        </p:spPr>
        <p:txBody>
          <a:bodyPr wrap="square" rtlCol="0">
            <a:spAutoFit/>
          </a:bodyPr>
          <a:lstStyle/>
          <a:p>
            <a:r>
              <a:rPr lang="es-CL" sz="1200" i="1" dirty="0"/>
              <a:t>“La única forma de subirse y aprovechar oleadas tecnológicas es a través de personas”.</a:t>
            </a:r>
          </a:p>
        </p:txBody>
      </p:sp>
    </p:spTree>
    <p:extLst>
      <p:ext uri="{BB962C8B-B14F-4D97-AF65-F5344CB8AC3E}">
        <p14:creationId xmlns:p14="http://schemas.microsoft.com/office/powerpoint/2010/main" val="27814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556FBE47-5E82-410F-8A6E-EAFC89EF84F8}"/>
              </a:ext>
            </a:extLst>
          </p:cNvPr>
          <p:cNvSpPr txBox="1"/>
          <p:nvPr/>
        </p:nvSpPr>
        <p:spPr>
          <a:xfrm>
            <a:off x="663218" y="1501244"/>
            <a:ext cx="5432782" cy="4770537"/>
          </a:xfrm>
          <a:prstGeom prst="rect">
            <a:avLst/>
          </a:prstGeom>
          <a:noFill/>
        </p:spPr>
        <p:txBody>
          <a:bodyPr wrap="square">
            <a:spAutoFit/>
          </a:bodyPr>
          <a:lstStyle/>
          <a:p>
            <a:pPr algn="just"/>
            <a:r>
              <a:rPr lang="es-CL" sz="1600" dirty="0">
                <a:latin typeface="Montserrat" panose="00000500000000000000" pitchFamily="2" charset="0"/>
              </a:rPr>
              <a:t>Este término en inglés, significaría “inicio de operaciones”, “puesta en marcha” o “activación” pero en el contexto emprendedor, una traducción adecuada sería “empresa emergente” o “nueva empresa”.</a:t>
            </a:r>
          </a:p>
          <a:p>
            <a:pPr algn="just"/>
            <a:endParaRPr lang="es-CL" sz="1600" dirty="0">
              <a:latin typeface="Montserrat" panose="00000500000000000000" pitchFamily="2" charset="0"/>
            </a:endParaRPr>
          </a:p>
          <a:p>
            <a:pPr algn="just"/>
            <a:r>
              <a:rPr lang="es-CL" sz="1600" dirty="0">
                <a:latin typeface="Montserrat" panose="00000500000000000000" pitchFamily="2" charset="0"/>
              </a:rPr>
              <a:t>En particular, startup es una empresa que está en el estándar de emprendimientos tecnológicos que utilizar, juegan, el deporte del crecimiento al estilo de Silicon Valley.</a:t>
            </a:r>
          </a:p>
          <a:p>
            <a:pPr algn="just"/>
            <a:endParaRPr lang="es-CL" sz="1600" dirty="0">
              <a:latin typeface="Montserrat" panose="00000500000000000000" pitchFamily="2" charset="0"/>
            </a:endParaRPr>
          </a:p>
          <a:p>
            <a:pPr algn="just"/>
            <a:r>
              <a:rPr lang="es-CL" sz="1600" dirty="0">
                <a:latin typeface="Montserrat" panose="00000500000000000000" pitchFamily="2" charset="0"/>
              </a:rPr>
              <a:t>De acuerdo con Steve </a:t>
            </a:r>
            <a:r>
              <a:rPr lang="es-CL" sz="1600" dirty="0" err="1">
                <a:latin typeface="Montserrat" panose="00000500000000000000" pitchFamily="2" charset="0"/>
              </a:rPr>
              <a:t>Blank</a:t>
            </a:r>
            <a:r>
              <a:rPr lang="es-CL" sz="1600" dirty="0">
                <a:latin typeface="Montserrat" panose="00000500000000000000" pitchFamily="2" charset="0"/>
              </a:rPr>
              <a:t> (2012), es una organización temporal en busca de conocimiento (aprendizaje) que busca ajustar un modelo de negocios para ser viable, luego repetible y finalmente escalable; y en qué se diferencia de un emprendimiento tradicional, en su ambición, su metodología para lograr crecimiento, sus fuentes de financiamiento, su requerimiento de talento.</a:t>
            </a:r>
          </a:p>
        </p:txBody>
      </p:sp>
      <p:sp>
        <p:nvSpPr>
          <p:cNvPr id="8" name="TextBox 1">
            <a:extLst>
              <a:ext uri="{FF2B5EF4-FFF2-40B4-BE49-F238E27FC236}">
                <a16:creationId xmlns:a16="http://schemas.microsoft.com/office/drawing/2014/main" id="{283A1A3A-2604-4AA1-9BCC-35201E37E25A}"/>
              </a:ext>
            </a:extLst>
          </p:cNvPr>
          <p:cNvSpPr txBox="1"/>
          <p:nvPr/>
        </p:nvSpPr>
        <p:spPr>
          <a:xfrm>
            <a:off x="663218" y="609613"/>
            <a:ext cx="10865564" cy="523220"/>
          </a:xfrm>
          <a:prstGeom prst="rect">
            <a:avLst/>
          </a:prstGeom>
          <a:noFill/>
        </p:spPr>
        <p:txBody>
          <a:bodyPr wrap="square" rtlCol="0">
            <a:spAutoFit/>
          </a:bodyPr>
          <a:lstStyle/>
          <a:p>
            <a:pPr algn="ctr"/>
            <a:r>
              <a:rPr lang="es-CL" sz="2800" dirty="0">
                <a:latin typeface="Montserrat SemiBold" pitchFamily="2" charset="0"/>
              </a:rPr>
              <a:t>¿A qué se hace referencia con el concepto startup?</a:t>
            </a:r>
          </a:p>
        </p:txBody>
      </p:sp>
    </p:spTree>
    <p:extLst>
      <p:ext uri="{BB962C8B-B14F-4D97-AF65-F5344CB8AC3E}">
        <p14:creationId xmlns:p14="http://schemas.microsoft.com/office/powerpoint/2010/main" val="2972435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493492"/>
            <a:ext cx="10865564" cy="523220"/>
          </a:xfrm>
          <a:prstGeom prst="rect">
            <a:avLst/>
          </a:prstGeom>
          <a:noFill/>
        </p:spPr>
        <p:txBody>
          <a:bodyPr wrap="square" rtlCol="0">
            <a:spAutoFit/>
          </a:bodyPr>
          <a:lstStyle/>
          <a:p>
            <a:pPr algn="ctr"/>
            <a:r>
              <a:rPr lang="es-ES" sz="2800" dirty="0">
                <a:latin typeface="Montserrat SemiBold" pitchFamily="2" charset="0"/>
              </a:rPr>
              <a:t>¿Dónde nacen los startups?</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593971"/>
            <a:ext cx="5432782" cy="4770537"/>
          </a:xfrm>
          <a:prstGeom prst="rect">
            <a:avLst/>
          </a:prstGeom>
          <a:noFill/>
        </p:spPr>
        <p:txBody>
          <a:bodyPr wrap="square">
            <a:spAutoFit/>
          </a:bodyPr>
          <a:lstStyle/>
          <a:p>
            <a:pPr algn="just"/>
            <a:r>
              <a:rPr lang="es-CL" sz="1600" dirty="0">
                <a:latin typeface="Montserrat" panose="00000500000000000000" pitchFamily="2" charset="0"/>
              </a:rPr>
              <a:t>Startup se remonta a los años 50 en Silicon Valley, zona sur de San Francisco, en el norte de California, Estados Unidos.  </a:t>
            </a:r>
          </a:p>
          <a:p>
            <a:pPr algn="just"/>
            <a:endParaRPr lang="es-CL" sz="1600" dirty="0">
              <a:latin typeface="Montserrat" panose="00000500000000000000" pitchFamily="2" charset="0"/>
            </a:endParaRPr>
          </a:p>
          <a:p>
            <a:pPr algn="just"/>
            <a:r>
              <a:rPr lang="es-CL" sz="1600" dirty="0">
                <a:latin typeface="Montserrat" panose="00000500000000000000" pitchFamily="2" charset="0"/>
              </a:rPr>
              <a:t>Frederick Terman, rector de la Universidad de Stanford, decidió utilizar una zona de la universidad para desarrollo inmobiliario e intelectual y estableció un programa para estudiantes graduados incentivándolos a quedarse allí proveyéndoles de </a:t>
            </a:r>
            <a:r>
              <a:rPr lang="es-CL" sz="1600" i="1" dirty="0">
                <a:latin typeface="Montserrat" panose="00000500000000000000" pitchFamily="2" charset="0"/>
              </a:rPr>
              <a:t>capital de riesgo</a:t>
            </a:r>
            <a:r>
              <a:rPr lang="es-CL" sz="1600" dirty="0">
                <a:latin typeface="Montserrat" panose="00000500000000000000" pitchFamily="2" charset="0"/>
              </a:rPr>
              <a:t>.</a:t>
            </a:r>
          </a:p>
          <a:p>
            <a:pPr algn="just"/>
            <a:endParaRPr lang="es-CL" sz="1600" dirty="0">
              <a:latin typeface="Montserrat" panose="00000500000000000000" pitchFamily="2" charset="0"/>
            </a:endParaRPr>
          </a:p>
          <a:p>
            <a:pPr algn="just"/>
            <a:r>
              <a:rPr lang="es-CL" sz="1600" dirty="0">
                <a:latin typeface="Montserrat" panose="00000500000000000000" pitchFamily="2" charset="0"/>
              </a:rPr>
              <a:t>En este contexto, el físico William Shockley decide fundar su propia empresa junto a ocho jóvenes ingenieros que luego deciden abandonar su proyecto para ellos crear su propia empresa, Fairchild </a:t>
            </a:r>
            <a:r>
              <a:rPr lang="es-CL" sz="1600" dirty="0" err="1">
                <a:latin typeface="Montserrat" panose="00000500000000000000" pitchFamily="2" charset="0"/>
              </a:rPr>
              <a:t>Semiconductors</a:t>
            </a:r>
            <a:r>
              <a:rPr lang="es-CL" sz="1600" dirty="0">
                <a:latin typeface="Montserrat" panose="00000500000000000000" pitchFamily="2" charset="0"/>
              </a:rPr>
              <a:t>, la cual tuvo un </a:t>
            </a:r>
            <a:r>
              <a:rPr lang="es-CL" sz="1600" b="1" dirty="0">
                <a:latin typeface="Montserrat" panose="00000500000000000000" pitchFamily="2" charset="0"/>
              </a:rPr>
              <a:t>crecimiento exponencial y se convirtió en impulsora del despegue tecnológico e industrial de Silicon Valley</a:t>
            </a:r>
            <a:r>
              <a:rPr lang="es-CL" sz="1600" dirty="0">
                <a:latin typeface="Montserrat" panose="00000500000000000000" pitchFamily="2" charset="0"/>
              </a:rPr>
              <a:t>. </a:t>
            </a:r>
          </a:p>
        </p:txBody>
      </p:sp>
    </p:spTree>
    <p:extLst>
      <p:ext uri="{BB962C8B-B14F-4D97-AF65-F5344CB8AC3E}">
        <p14:creationId xmlns:p14="http://schemas.microsoft.com/office/powerpoint/2010/main" val="3746459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615182"/>
            <a:ext cx="10865562" cy="523220"/>
          </a:xfrm>
          <a:prstGeom prst="rect">
            <a:avLst/>
          </a:prstGeom>
          <a:noFill/>
        </p:spPr>
        <p:txBody>
          <a:bodyPr wrap="square" rtlCol="0">
            <a:spAutoFit/>
          </a:bodyPr>
          <a:lstStyle/>
          <a:p>
            <a:r>
              <a:rPr lang="es-ES" sz="2800" dirty="0">
                <a:latin typeface="Montserrat SemiBold" pitchFamily="2" charset="0"/>
              </a:rPr>
              <a:t>Silicon Valley</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484970"/>
            <a:ext cx="5432782" cy="3108543"/>
          </a:xfrm>
          <a:prstGeom prst="rect">
            <a:avLst/>
          </a:prstGeom>
          <a:noFill/>
        </p:spPr>
        <p:txBody>
          <a:bodyPr wrap="square">
            <a:spAutoFit/>
          </a:bodyPr>
          <a:lstStyle/>
          <a:p>
            <a:pPr algn="just"/>
            <a:r>
              <a:rPr lang="es-CL" sz="1400" dirty="0">
                <a:latin typeface="Montserrat" panose="00000500000000000000" pitchFamily="2" charset="0"/>
              </a:rPr>
              <a:t>El éxito de Fairchild </a:t>
            </a:r>
            <a:r>
              <a:rPr lang="es-CL" sz="1400" dirty="0" err="1">
                <a:latin typeface="Montserrat" panose="00000500000000000000" pitchFamily="2" charset="0"/>
              </a:rPr>
              <a:t>Semiconductors</a:t>
            </a:r>
            <a:r>
              <a:rPr lang="es-CL" sz="1400" dirty="0">
                <a:latin typeface="Montserrat" panose="00000500000000000000" pitchFamily="2" charset="0"/>
              </a:rPr>
              <a:t> siguió impulsando el crecimiento de Silicon Valley. </a:t>
            </a:r>
            <a:r>
              <a:rPr lang="es-CL" sz="1400" b="1" dirty="0">
                <a:latin typeface="Montserrat" panose="00000500000000000000" pitchFamily="2" charset="0"/>
              </a:rPr>
              <a:t>Alrededor de 92 empresas del lugar se remontan directamente a los fundadores y empleados de Fairchild</a:t>
            </a:r>
            <a:r>
              <a:rPr lang="es-CL" sz="1400" dirty="0">
                <a:latin typeface="Montserrat" panose="00000500000000000000" pitchFamily="2" charset="0"/>
              </a:rPr>
              <a:t>, empleando a más de 800.000 personas y alcanzado un valor de más de 2,1 trillones de dólares. </a:t>
            </a:r>
          </a:p>
          <a:p>
            <a:pPr algn="just"/>
            <a:endParaRPr lang="es-CL" sz="1400" dirty="0">
              <a:latin typeface="Montserrat" panose="00000500000000000000" pitchFamily="2" charset="0"/>
            </a:endParaRPr>
          </a:p>
          <a:p>
            <a:pPr algn="just"/>
            <a:r>
              <a:rPr lang="es-CL" sz="1400" dirty="0">
                <a:latin typeface="Montserrat" panose="00000500000000000000" pitchFamily="2" charset="0"/>
              </a:rPr>
              <a:t>Así ha habido distintas generaciones –de acuerdo con las grandes oleadas tecnológicas-, famosas son los piratas de Silicon Valley (generación de Steve Jobs y Bill Gates); y últimamente la mafia de </a:t>
            </a:r>
            <a:r>
              <a:rPr lang="es-CL" sz="1400" dirty="0" err="1">
                <a:latin typeface="Montserrat" panose="00000500000000000000" pitchFamily="2" charset="0"/>
              </a:rPr>
              <a:t>Pay</a:t>
            </a:r>
            <a:r>
              <a:rPr lang="es-CL" sz="1400" dirty="0">
                <a:latin typeface="Montserrat" panose="00000500000000000000" pitchFamily="2" charset="0"/>
              </a:rPr>
              <a:t> pal, desde donde se reconocen a Elon Musk Peter Thiel, y que han generado empresas como: WhatsApp, Instagram, YouTube, Tesla Motors, LinkedIn y otras.</a:t>
            </a:r>
          </a:p>
        </p:txBody>
      </p:sp>
      <p:sp>
        <p:nvSpPr>
          <p:cNvPr id="5" name="CuadroTexto 4">
            <a:extLst>
              <a:ext uri="{FF2B5EF4-FFF2-40B4-BE49-F238E27FC236}">
                <a16:creationId xmlns:a16="http://schemas.microsoft.com/office/drawing/2014/main" id="{C81898FB-22A0-46B1-A533-0BD4462D8DAE}"/>
              </a:ext>
            </a:extLst>
          </p:cNvPr>
          <p:cNvSpPr txBox="1"/>
          <p:nvPr/>
        </p:nvSpPr>
        <p:spPr>
          <a:xfrm>
            <a:off x="663218" y="6136070"/>
            <a:ext cx="10865564" cy="246221"/>
          </a:xfrm>
          <a:prstGeom prst="rect">
            <a:avLst/>
          </a:prstGeom>
          <a:noFill/>
        </p:spPr>
        <p:txBody>
          <a:bodyPr wrap="square">
            <a:spAutoFit/>
          </a:bodyPr>
          <a:lstStyle/>
          <a:p>
            <a:r>
              <a:rPr lang="es-CL" sz="1000" dirty="0">
                <a:latin typeface="Montserrat" panose="00000500000000000000" pitchFamily="2" charset="0"/>
              </a:rPr>
              <a:t>Fuente: Endeavor (2021)</a:t>
            </a:r>
          </a:p>
        </p:txBody>
      </p:sp>
      <p:pic>
        <p:nvPicPr>
          <p:cNvPr id="1026" name="Picture 2" descr="Los hijos de Fairchild Semiconductor: de los 'ocho traidores' al germen de  la actual Silicon Valley">
            <a:extLst>
              <a:ext uri="{FF2B5EF4-FFF2-40B4-BE49-F238E27FC236}">
                <a16:creationId xmlns:a16="http://schemas.microsoft.com/office/drawing/2014/main" id="{C1B08848-5246-4208-9558-7DF3B408C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5101" y="2135433"/>
            <a:ext cx="4853679" cy="344583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1">
            <a:extLst>
              <a:ext uri="{FF2B5EF4-FFF2-40B4-BE49-F238E27FC236}">
                <a16:creationId xmlns:a16="http://schemas.microsoft.com/office/drawing/2014/main" id="{C5F88EFF-C208-4512-8D96-E1AC7CF9EBC6}"/>
              </a:ext>
            </a:extLst>
          </p:cNvPr>
          <p:cNvSpPr txBox="1"/>
          <p:nvPr/>
        </p:nvSpPr>
        <p:spPr>
          <a:xfrm>
            <a:off x="6675101" y="1693206"/>
            <a:ext cx="4853679" cy="307777"/>
          </a:xfrm>
          <a:prstGeom prst="rect">
            <a:avLst/>
          </a:prstGeom>
          <a:noFill/>
        </p:spPr>
        <p:txBody>
          <a:bodyPr wrap="square" rtlCol="0">
            <a:spAutoFit/>
          </a:bodyPr>
          <a:lstStyle/>
          <a:p>
            <a:pPr algn="ctr"/>
            <a:r>
              <a:rPr lang="es-ES" sz="1400" dirty="0">
                <a:latin typeface="Montserrat SemiBold" pitchFamily="2" charset="0"/>
              </a:rPr>
              <a:t>Los 8 traidores de Fairchild </a:t>
            </a:r>
            <a:r>
              <a:rPr lang="es-ES" sz="1400" dirty="0" err="1">
                <a:latin typeface="Montserrat SemiBold" pitchFamily="2" charset="0"/>
              </a:rPr>
              <a:t>Semiconductors</a:t>
            </a:r>
            <a:endParaRPr lang="es-CL" sz="1400" dirty="0">
              <a:latin typeface="Montserrat SemiBold" pitchFamily="2" charset="0"/>
            </a:endParaRPr>
          </a:p>
        </p:txBody>
      </p:sp>
      <p:sp>
        <p:nvSpPr>
          <p:cNvPr id="11" name="Rectángulo: esquinas redondeadas 10">
            <a:extLst>
              <a:ext uri="{FF2B5EF4-FFF2-40B4-BE49-F238E27FC236}">
                <a16:creationId xmlns:a16="http://schemas.microsoft.com/office/drawing/2014/main" id="{904896E2-DBF7-4913-A86A-E99F7614232F}"/>
              </a:ext>
            </a:extLst>
          </p:cNvPr>
          <p:cNvSpPr/>
          <p:nvPr/>
        </p:nvSpPr>
        <p:spPr>
          <a:xfrm>
            <a:off x="663220" y="4778459"/>
            <a:ext cx="5432780" cy="1189142"/>
          </a:xfrm>
          <a:prstGeom prst="roundRect">
            <a:avLst/>
          </a:prstGeom>
          <a:solidFill>
            <a:srgbClr val="ABE9FF"/>
          </a:solidFill>
          <a:ln>
            <a:solidFill>
              <a:srgbClr val="ABE9FF"/>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lstStyle/>
          <a:p>
            <a:r>
              <a:rPr lang="es-CL" sz="1400" dirty="0">
                <a:solidFill>
                  <a:schemeClr val="tx1"/>
                </a:solidFill>
              </a:rPr>
              <a:t>Estar en un </a:t>
            </a:r>
            <a:r>
              <a:rPr lang="es-CL" sz="1400" i="1" dirty="0">
                <a:solidFill>
                  <a:schemeClr val="tx1"/>
                </a:solidFill>
              </a:rPr>
              <a:t>ecosistema</a:t>
            </a:r>
            <a:r>
              <a:rPr lang="es-CL" sz="1400" dirty="0">
                <a:solidFill>
                  <a:schemeClr val="tx1"/>
                </a:solidFill>
              </a:rPr>
              <a:t> como Silicon Valley permite el acceso a talento, capital y recursos, así como oportunidades de aprendizaje, colaboración y crecimiento empresarial. </a:t>
            </a:r>
          </a:p>
        </p:txBody>
      </p:sp>
    </p:spTree>
    <p:extLst>
      <p:ext uri="{BB962C8B-B14F-4D97-AF65-F5344CB8AC3E}">
        <p14:creationId xmlns:p14="http://schemas.microsoft.com/office/powerpoint/2010/main" val="1085572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721930"/>
            <a:ext cx="10865564" cy="430887"/>
          </a:xfrm>
          <a:prstGeom prst="rect">
            <a:avLst/>
          </a:prstGeom>
          <a:noFill/>
        </p:spPr>
        <p:txBody>
          <a:bodyPr wrap="square" rtlCol="0">
            <a:spAutoFit/>
          </a:bodyPr>
          <a:lstStyle/>
          <a:p>
            <a:pPr algn="ctr"/>
            <a:r>
              <a:rPr lang="es-ES" sz="2200" dirty="0">
                <a:latin typeface="Montserrat SemiBold" pitchFamily="2" charset="0"/>
              </a:rPr>
              <a:t>Pero ¿por qué este grupo de empresas alcanzaron un alto nivel de éxito?</a:t>
            </a:r>
            <a:endParaRPr lang="es-CL" sz="2200" dirty="0">
              <a:latin typeface="Montserrat SemiBold" pitchFamily="2" charset="0"/>
            </a:endParaRPr>
          </a:p>
        </p:txBody>
      </p:sp>
      <p:sp>
        <p:nvSpPr>
          <p:cNvPr id="8" name="CuadroTexto 7">
            <a:extLst>
              <a:ext uri="{FF2B5EF4-FFF2-40B4-BE49-F238E27FC236}">
                <a16:creationId xmlns:a16="http://schemas.microsoft.com/office/drawing/2014/main" id="{7C873786-8FDC-4926-9EE5-F8D1217F33FE}"/>
              </a:ext>
            </a:extLst>
          </p:cNvPr>
          <p:cNvSpPr txBox="1"/>
          <p:nvPr/>
        </p:nvSpPr>
        <p:spPr>
          <a:xfrm>
            <a:off x="663218" y="1536118"/>
            <a:ext cx="4736096" cy="4524315"/>
          </a:xfrm>
          <a:prstGeom prst="rect">
            <a:avLst/>
          </a:prstGeom>
          <a:noFill/>
        </p:spPr>
        <p:txBody>
          <a:bodyPr wrap="square">
            <a:spAutoFit/>
          </a:bodyPr>
          <a:lstStyle/>
          <a:p>
            <a:pPr algn="just"/>
            <a:r>
              <a:rPr lang="es-CL" sz="1600" dirty="0">
                <a:latin typeface="Montserrat" panose="00000500000000000000" pitchFamily="2" charset="0"/>
              </a:rPr>
              <a:t>Es acá cuando aparece el concepto de </a:t>
            </a:r>
            <a:r>
              <a:rPr lang="es-CL" sz="1600" b="1" dirty="0">
                <a:latin typeface="Montserrat" panose="00000500000000000000" pitchFamily="2" charset="0"/>
              </a:rPr>
              <a:t>disrupción tecnológica</a:t>
            </a:r>
            <a:r>
              <a:rPr lang="es-CL" sz="1600" dirty="0">
                <a:latin typeface="Montserrat" panose="00000500000000000000" pitchFamily="2" charset="0"/>
              </a:rPr>
              <a:t>. La disrupción tecnológica es la toma de velocidad de un emprendimiento, que empieza a aprender rápidamente una nueva tecnología que genera </a:t>
            </a:r>
            <a:r>
              <a:rPr lang="es-CL" sz="1600" i="1" dirty="0">
                <a:latin typeface="Montserrat" panose="00000500000000000000" pitchFamily="2" charset="0"/>
              </a:rPr>
              <a:t>innovación</a:t>
            </a:r>
            <a:r>
              <a:rPr lang="es-CL" sz="1600" dirty="0">
                <a:latin typeface="Montserrat" panose="00000500000000000000" pitchFamily="2" charset="0"/>
              </a:rPr>
              <a:t> y que hace disrupción en las empresas incumbentes de tecnología antigua.</a:t>
            </a:r>
          </a:p>
          <a:p>
            <a:pPr algn="just"/>
            <a:endParaRPr lang="es-CL" sz="1600" dirty="0">
              <a:latin typeface="Montserrat" panose="00000500000000000000" pitchFamily="2" charset="0"/>
            </a:endParaRPr>
          </a:p>
          <a:p>
            <a:pPr algn="just"/>
            <a:r>
              <a:rPr lang="es-CL" sz="1600" dirty="0">
                <a:latin typeface="Montserrat" panose="00000500000000000000" pitchFamily="2" charset="0"/>
              </a:rPr>
              <a:t>Christensen (1997) “la disrupción tecnológica sucede cuando la mejora constante de productos supera la capacidad de los clientes para adoptar esas mejoras. Entonces una tecnología disruptiva </a:t>
            </a:r>
            <a:r>
              <a:rPr lang="es-CL" sz="1600" b="1" dirty="0">
                <a:latin typeface="Montserrat" panose="00000500000000000000" pitchFamily="2" charset="0"/>
              </a:rPr>
              <a:t>entra ofreciendo un producto con menor rendimiento pero que satisface las necesidades de ciertos segmentos de clientes menos exigentes</a:t>
            </a:r>
            <a:r>
              <a:rPr lang="es-CL" sz="1600" dirty="0">
                <a:latin typeface="Montserrat" panose="00000500000000000000" pitchFamily="2" charset="0"/>
              </a:rPr>
              <a:t>.</a:t>
            </a:r>
          </a:p>
        </p:txBody>
      </p:sp>
      <p:grpSp>
        <p:nvGrpSpPr>
          <p:cNvPr id="4" name="Group 45">
            <a:extLst>
              <a:ext uri="{FF2B5EF4-FFF2-40B4-BE49-F238E27FC236}">
                <a16:creationId xmlns:a16="http://schemas.microsoft.com/office/drawing/2014/main" id="{26E2BCF1-3543-5567-BABC-37BAA72932EB}"/>
              </a:ext>
            </a:extLst>
          </p:cNvPr>
          <p:cNvGrpSpPr/>
          <p:nvPr/>
        </p:nvGrpSpPr>
        <p:grpSpPr>
          <a:xfrm>
            <a:off x="5781524" y="2280592"/>
            <a:ext cx="5635216" cy="3167432"/>
            <a:chOff x="3643928" y="1359068"/>
            <a:chExt cx="6244082" cy="3167432"/>
          </a:xfrm>
        </p:grpSpPr>
        <p:cxnSp>
          <p:nvCxnSpPr>
            <p:cNvPr id="5" name="4 Conector recto de flecha">
              <a:extLst>
                <a:ext uri="{FF2B5EF4-FFF2-40B4-BE49-F238E27FC236}">
                  <a16:creationId xmlns:a16="http://schemas.microsoft.com/office/drawing/2014/main" id="{75D7D152-A939-42F2-4D50-9630005DD969}"/>
                </a:ext>
              </a:extLst>
            </p:cNvPr>
            <p:cNvCxnSpPr>
              <a:cxnSpLocks/>
            </p:cNvCxnSpPr>
            <p:nvPr/>
          </p:nvCxnSpPr>
          <p:spPr>
            <a:xfrm flipV="1">
              <a:off x="4032250" y="1359068"/>
              <a:ext cx="0" cy="2878321"/>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7 Conector recto de flecha">
              <a:extLst>
                <a:ext uri="{FF2B5EF4-FFF2-40B4-BE49-F238E27FC236}">
                  <a16:creationId xmlns:a16="http://schemas.microsoft.com/office/drawing/2014/main" id="{03149AC2-6B7C-21E5-3C3C-8C147874828A}"/>
                </a:ext>
              </a:extLst>
            </p:cNvPr>
            <p:cNvCxnSpPr>
              <a:cxnSpLocks/>
            </p:cNvCxnSpPr>
            <p:nvPr/>
          </p:nvCxnSpPr>
          <p:spPr>
            <a:xfrm>
              <a:off x="4032250" y="4233698"/>
              <a:ext cx="5855760" cy="2462"/>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22 CuadroTexto">
              <a:extLst>
                <a:ext uri="{FF2B5EF4-FFF2-40B4-BE49-F238E27FC236}">
                  <a16:creationId xmlns:a16="http://schemas.microsoft.com/office/drawing/2014/main" id="{3B98A8DE-B823-57E5-68CA-AF648837BA10}"/>
                </a:ext>
              </a:extLst>
            </p:cNvPr>
            <p:cNvSpPr txBox="1">
              <a:spLocks noChangeArrowheads="1"/>
            </p:cNvSpPr>
            <p:nvPr/>
          </p:nvSpPr>
          <p:spPr bwMode="auto">
            <a:xfrm>
              <a:off x="9021207" y="4280281"/>
              <a:ext cx="769118" cy="24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0959" tIns="30479" rIns="60959" bIns="30479">
              <a:spAutoFit/>
            </a:bodyPr>
            <a:lstStyle>
              <a:lvl1pPr>
                <a:spcBef>
                  <a:spcPct val="20000"/>
                </a:spcBef>
                <a:buFont typeface="Arial" panose="020B0604020202020204" pitchFamily="34" charset="0"/>
                <a:buChar char="•"/>
                <a:defRPr sz="57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5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43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36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36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9pPr>
            </a:lstStyle>
            <a:p>
              <a:pPr algn="ctr" eaLnBrk="1" hangingPunct="1">
                <a:spcBef>
                  <a:spcPct val="0"/>
                </a:spcBef>
                <a:buFontTx/>
                <a:buNone/>
              </a:pPr>
              <a:r>
                <a:rPr lang="es-CL" altLang="es-ES" sz="1200" dirty="0">
                  <a:solidFill>
                    <a:schemeClr val="tx1">
                      <a:lumMod val="65000"/>
                      <a:lumOff val="35000"/>
                    </a:schemeClr>
                  </a:solidFill>
                  <a:latin typeface="Montserrat" panose="00000500000000000000" pitchFamily="2" charset="0"/>
                </a:rPr>
                <a:t>TIEMPO</a:t>
              </a:r>
              <a:endParaRPr lang="es-ES" altLang="es-ES" sz="1200" dirty="0">
                <a:solidFill>
                  <a:schemeClr val="tx1">
                    <a:lumMod val="65000"/>
                    <a:lumOff val="35000"/>
                  </a:schemeClr>
                </a:solidFill>
                <a:latin typeface="Montserrat" panose="00000500000000000000" pitchFamily="2" charset="0"/>
              </a:endParaRPr>
            </a:p>
          </p:txBody>
        </p:sp>
        <p:sp>
          <p:nvSpPr>
            <p:cNvPr id="9" name="23 CuadroTexto">
              <a:extLst>
                <a:ext uri="{FF2B5EF4-FFF2-40B4-BE49-F238E27FC236}">
                  <a16:creationId xmlns:a16="http://schemas.microsoft.com/office/drawing/2014/main" id="{CFDFBF81-FD84-2E78-BC52-ED85E5DB8310}"/>
                </a:ext>
              </a:extLst>
            </p:cNvPr>
            <p:cNvSpPr txBox="1">
              <a:spLocks noChangeArrowheads="1"/>
            </p:cNvSpPr>
            <p:nvPr/>
          </p:nvSpPr>
          <p:spPr bwMode="auto">
            <a:xfrm rot="16200000">
              <a:off x="3143306" y="2628502"/>
              <a:ext cx="1274065" cy="272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0959" tIns="30479" rIns="60959" bIns="30479">
              <a:spAutoFit/>
            </a:bodyPr>
            <a:lstStyle>
              <a:lvl1pPr>
                <a:spcBef>
                  <a:spcPct val="20000"/>
                </a:spcBef>
                <a:buFont typeface="Arial" panose="020B0604020202020204" pitchFamily="34" charset="0"/>
                <a:buChar char="•"/>
                <a:defRPr sz="57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5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43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36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36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9pPr>
            </a:lstStyle>
            <a:p>
              <a:pPr algn="ctr" eaLnBrk="1" hangingPunct="1">
                <a:spcBef>
                  <a:spcPct val="0"/>
                </a:spcBef>
                <a:buFontTx/>
                <a:buNone/>
              </a:pPr>
              <a:r>
                <a:rPr lang="es-CL" altLang="es-ES" sz="1200" dirty="0">
                  <a:solidFill>
                    <a:schemeClr val="tx1">
                      <a:lumMod val="65000"/>
                      <a:lumOff val="35000"/>
                    </a:schemeClr>
                  </a:solidFill>
                  <a:latin typeface="Montserrat" panose="00000500000000000000" pitchFamily="2" charset="0"/>
                </a:rPr>
                <a:t>RENDIMIENTO</a:t>
              </a:r>
              <a:endParaRPr lang="es-ES" altLang="es-ES" sz="1200" dirty="0">
                <a:solidFill>
                  <a:schemeClr val="tx1">
                    <a:lumMod val="65000"/>
                    <a:lumOff val="35000"/>
                  </a:schemeClr>
                </a:solidFill>
                <a:latin typeface="Montserrat" panose="00000500000000000000" pitchFamily="2" charset="0"/>
              </a:endParaRPr>
            </a:p>
          </p:txBody>
        </p:sp>
      </p:grpSp>
      <p:cxnSp>
        <p:nvCxnSpPr>
          <p:cNvPr id="10" name="Conector recto de flecha 9">
            <a:extLst>
              <a:ext uri="{FF2B5EF4-FFF2-40B4-BE49-F238E27FC236}">
                <a16:creationId xmlns:a16="http://schemas.microsoft.com/office/drawing/2014/main" id="{A90A8BC0-A9F3-2C18-3F92-7B1FCC201BC2}"/>
              </a:ext>
            </a:extLst>
          </p:cNvPr>
          <p:cNvCxnSpPr>
            <a:cxnSpLocks/>
          </p:cNvCxnSpPr>
          <p:nvPr/>
        </p:nvCxnSpPr>
        <p:spPr>
          <a:xfrm flipV="1">
            <a:off x="6656594" y="2479497"/>
            <a:ext cx="4027054" cy="82560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 name="22 CuadroTexto">
            <a:extLst>
              <a:ext uri="{FF2B5EF4-FFF2-40B4-BE49-F238E27FC236}">
                <a16:creationId xmlns:a16="http://schemas.microsoft.com/office/drawing/2014/main" id="{28D133B5-199D-4AEF-8A46-F3D6DCC7C325}"/>
              </a:ext>
            </a:extLst>
          </p:cNvPr>
          <p:cNvSpPr txBox="1">
            <a:spLocks noChangeArrowheads="1"/>
          </p:cNvSpPr>
          <p:nvPr/>
        </p:nvSpPr>
        <p:spPr bwMode="auto">
          <a:xfrm rot="20892752">
            <a:off x="7155610" y="2852560"/>
            <a:ext cx="1054454" cy="215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0959" tIns="30479" rIns="60959" bIns="30479">
            <a:spAutoFit/>
          </a:bodyPr>
          <a:lstStyle>
            <a:lvl1pPr>
              <a:spcBef>
                <a:spcPct val="20000"/>
              </a:spcBef>
              <a:buFont typeface="Arial" panose="020B0604020202020204" pitchFamily="34" charset="0"/>
              <a:buChar char="•"/>
              <a:defRPr sz="57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5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43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36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36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9pPr>
          </a:lstStyle>
          <a:p>
            <a:pPr algn="ctr" eaLnBrk="1" hangingPunct="1">
              <a:spcBef>
                <a:spcPct val="0"/>
              </a:spcBef>
              <a:buFontTx/>
              <a:buNone/>
            </a:pPr>
            <a:r>
              <a:rPr lang="es-CL" altLang="es-ES" sz="1000" dirty="0">
                <a:solidFill>
                  <a:schemeClr val="tx1">
                    <a:lumMod val="65000"/>
                    <a:lumOff val="35000"/>
                  </a:schemeClr>
                </a:solidFill>
                <a:latin typeface="Montserrat" panose="00000500000000000000" pitchFamily="2" charset="0"/>
              </a:rPr>
              <a:t>Corporaciones</a:t>
            </a:r>
            <a:endParaRPr lang="es-ES" altLang="es-ES" sz="1000" dirty="0">
              <a:solidFill>
                <a:schemeClr val="tx1">
                  <a:lumMod val="65000"/>
                  <a:lumOff val="35000"/>
                </a:schemeClr>
              </a:solidFill>
              <a:highlight>
                <a:srgbClr val="FFFF00"/>
              </a:highlight>
              <a:latin typeface="Montserrat" panose="00000500000000000000" pitchFamily="2" charset="0"/>
            </a:endParaRPr>
          </a:p>
        </p:txBody>
      </p:sp>
      <p:cxnSp>
        <p:nvCxnSpPr>
          <p:cNvPr id="12" name="Conector recto de flecha 11">
            <a:extLst>
              <a:ext uri="{FF2B5EF4-FFF2-40B4-BE49-F238E27FC236}">
                <a16:creationId xmlns:a16="http://schemas.microsoft.com/office/drawing/2014/main" id="{95EF8DF0-7241-FFCD-7D4C-7954AC293C67}"/>
              </a:ext>
            </a:extLst>
          </p:cNvPr>
          <p:cNvCxnSpPr>
            <a:cxnSpLocks/>
          </p:cNvCxnSpPr>
          <p:nvPr/>
        </p:nvCxnSpPr>
        <p:spPr>
          <a:xfrm flipV="1">
            <a:off x="6656594" y="2972669"/>
            <a:ext cx="4027054" cy="825607"/>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3" name="22 CuadroTexto">
            <a:extLst>
              <a:ext uri="{FF2B5EF4-FFF2-40B4-BE49-F238E27FC236}">
                <a16:creationId xmlns:a16="http://schemas.microsoft.com/office/drawing/2014/main" id="{31907FC6-12DA-CF82-05AE-42D05FBC2F4C}"/>
              </a:ext>
            </a:extLst>
          </p:cNvPr>
          <p:cNvSpPr txBox="1">
            <a:spLocks noChangeArrowheads="1"/>
          </p:cNvSpPr>
          <p:nvPr/>
        </p:nvSpPr>
        <p:spPr bwMode="auto">
          <a:xfrm rot="20892752">
            <a:off x="7020951" y="3345732"/>
            <a:ext cx="1323758" cy="215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0959" tIns="30479" rIns="60959" bIns="30479">
            <a:spAutoFit/>
          </a:bodyPr>
          <a:lstStyle>
            <a:lvl1pPr>
              <a:spcBef>
                <a:spcPct val="20000"/>
              </a:spcBef>
              <a:buFont typeface="Arial" panose="020B0604020202020204" pitchFamily="34" charset="0"/>
              <a:buChar char="•"/>
              <a:defRPr sz="57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5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43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36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36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9pPr>
          </a:lstStyle>
          <a:p>
            <a:pPr algn="ctr" eaLnBrk="1" hangingPunct="1">
              <a:spcBef>
                <a:spcPct val="0"/>
              </a:spcBef>
              <a:buFontTx/>
              <a:buNone/>
            </a:pPr>
            <a:r>
              <a:rPr lang="es-CL" altLang="es-ES" sz="1000" dirty="0">
                <a:solidFill>
                  <a:schemeClr val="tx1">
                    <a:lumMod val="65000"/>
                    <a:lumOff val="35000"/>
                  </a:schemeClr>
                </a:solidFill>
                <a:latin typeface="Montserrat" panose="00000500000000000000" pitchFamily="2" charset="0"/>
              </a:rPr>
              <a:t>Grandes empresas</a:t>
            </a:r>
            <a:endParaRPr lang="es-ES" altLang="es-ES" sz="1000" dirty="0">
              <a:solidFill>
                <a:schemeClr val="tx1">
                  <a:lumMod val="65000"/>
                  <a:lumOff val="35000"/>
                </a:schemeClr>
              </a:solidFill>
              <a:latin typeface="Montserrat" panose="00000500000000000000" pitchFamily="2" charset="0"/>
            </a:endParaRPr>
          </a:p>
        </p:txBody>
      </p:sp>
      <p:cxnSp>
        <p:nvCxnSpPr>
          <p:cNvPr id="14" name="Conector recto de flecha 13">
            <a:extLst>
              <a:ext uri="{FF2B5EF4-FFF2-40B4-BE49-F238E27FC236}">
                <a16:creationId xmlns:a16="http://schemas.microsoft.com/office/drawing/2014/main" id="{A8F57AC7-B051-96ED-3278-1DBBE2B8970B}"/>
              </a:ext>
            </a:extLst>
          </p:cNvPr>
          <p:cNvCxnSpPr>
            <a:cxnSpLocks/>
          </p:cNvCxnSpPr>
          <p:nvPr/>
        </p:nvCxnSpPr>
        <p:spPr>
          <a:xfrm flipV="1">
            <a:off x="6656594" y="3543451"/>
            <a:ext cx="4122845" cy="1059245"/>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22 CuadroTexto">
            <a:extLst>
              <a:ext uri="{FF2B5EF4-FFF2-40B4-BE49-F238E27FC236}">
                <a16:creationId xmlns:a16="http://schemas.microsoft.com/office/drawing/2014/main" id="{30D67D50-3387-B34A-4828-9A57CD98A8C4}"/>
              </a:ext>
            </a:extLst>
          </p:cNvPr>
          <p:cNvSpPr txBox="1">
            <a:spLocks noChangeArrowheads="1"/>
          </p:cNvSpPr>
          <p:nvPr/>
        </p:nvSpPr>
        <p:spPr bwMode="auto">
          <a:xfrm rot="20712999">
            <a:off x="8936092" y="3578544"/>
            <a:ext cx="1405512" cy="215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0959" tIns="30479" rIns="60959" bIns="30479">
            <a:spAutoFit/>
          </a:bodyPr>
          <a:lstStyle>
            <a:lvl1pPr>
              <a:spcBef>
                <a:spcPct val="20000"/>
              </a:spcBef>
              <a:buFont typeface="Arial" panose="020B0604020202020204" pitchFamily="34" charset="0"/>
              <a:buChar char="•"/>
              <a:defRPr sz="57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5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43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36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36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9pPr>
          </a:lstStyle>
          <a:p>
            <a:pPr algn="ctr" eaLnBrk="1" hangingPunct="1">
              <a:spcBef>
                <a:spcPct val="0"/>
              </a:spcBef>
              <a:buFontTx/>
              <a:buNone/>
            </a:pPr>
            <a:r>
              <a:rPr lang="es-CL" altLang="es-ES" sz="1000" dirty="0">
                <a:solidFill>
                  <a:schemeClr val="tx1">
                    <a:lumMod val="65000"/>
                    <a:lumOff val="35000"/>
                  </a:schemeClr>
                </a:solidFill>
                <a:latin typeface="Montserrat" panose="00000500000000000000" pitchFamily="2" charset="0"/>
              </a:rPr>
              <a:t>Medianas empresas</a:t>
            </a:r>
            <a:endParaRPr lang="es-ES" altLang="es-ES" sz="1000" dirty="0">
              <a:solidFill>
                <a:schemeClr val="tx1">
                  <a:lumMod val="65000"/>
                  <a:lumOff val="35000"/>
                </a:schemeClr>
              </a:solidFill>
              <a:latin typeface="Montserrat" panose="00000500000000000000" pitchFamily="2" charset="0"/>
            </a:endParaRPr>
          </a:p>
        </p:txBody>
      </p:sp>
      <p:cxnSp>
        <p:nvCxnSpPr>
          <p:cNvPr id="16" name="Conector recto de flecha 15">
            <a:extLst>
              <a:ext uri="{FF2B5EF4-FFF2-40B4-BE49-F238E27FC236}">
                <a16:creationId xmlns:a16="http://schemas.microsoft.com/office/drawing/2014/main" id="{9040B435-E922-531D-F41B-2A4B1E6C6850}"/>
              </a:ext>
            </a:extLst>
          </p:cNvPr>
          <p:cNvCxnSpPr>
            <a:cxnSpLocks/>
          </p:cNvCxnSpPr>
          <p:nvPr/>
        </p:nvCxnSpPr>
        <p:spPr>
          <a:xfrm flipV="1">
            <a:off x="6656594" y="4132383"/>
            <a:ext cx="4122845" cy="689690"/>
          </a:xfrm>
          <a:prstGeom prst="straightConnector1">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7" name="22 CuadroTexto">
            <a:extLst>
              <a:ext uri="{FF2B5EF4-FFF2-40B4-BE49-F238E27FC236}">
                <a16:creationId xmlns:a16="http://schemas.microsoft.com/office/drawing/2014/main" id="{3E842280-17E3-0139-2A71-98CE01F708AA}"/>
              </a:ext>
            </a:extLst>
          </p:cNvPr>
          <p:cNvSpPr txBox="1">
            <a:spLocks noChangeArrowheads="1"/>
          </p:cNvSpPr>
          <p:nvPr/>
        </p:nvSpPr>
        <p:spPr bwMode="auto">
          <a:xfrm rot="21059832">
            <a:off x="8900763" y="4075165"/>
            <a:ext cx="1427954" cy="215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0959" tIns="30479" rIns="60959" bIns="30479">
            <a:spAutoFit/>
          </a:bodyPr>
          <a:lstStyle>
            <a:lvl1pPr>
              <a:spcBef>
                <a:spcPct val="20000"/>
              </a:spcBef>
              <a:buFont typeface="Arial" panose="020B0604020202020204" pitchFamily="34" charset="0"/>
              <a:buChar char="•"/>
              <a:defRPr sz="57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5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43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36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36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9pPr>
          </a:lstStyle>
          <a:p>
            <a:pPr algn="ctr" eaLnBrk="1" hangingPunct="1">
              <a:spcBef>
                <a:spcPct val="0"/>
              </a:spcBef>
              <a:buFontTx/>
              <a:buNone/>
            </a:pPr>
            <a:r>
              <a:rPr lang="es-CL" altLang="es-ES" sz="1000" dirty="0">
                <a:solidFill>
                  <a:schemeClr val="tx1">
                    <a:lumMod val="65000"/>
                    <a:lumOff val="35000"/>
                  </a:schemeClr>
                </a:solidFill>
                <a:latin typeface="Montserrat" panose="00000500000000000000" pitchFamily="2" charset="0"/>
              </a:rPr>
              <a:t>Pequeñas empresas</a:t>
            </a:r>
            <a:endParaRPr lang="es-ES" altLang="es-ES" sz="1000" dirty="0">
              <a:solidFill>
                <a:schemeClr val="tx1">
                  <a:lumMod val="65000"/>
                  <a:lumOff val="35000"/>
                </a:schemeClr>
              </a:solidFill>
              <a:latin typeface="Montserrat" panose="00000500000000000000" pitchFamily="2" charset="0"/>
            </a:endParaRPr>
          </a:p>
        </p:txBody>
      </p:sp>
      <p:sp>
        <p:nvSpPr>
          <p:cNvPr id="18" name="Diagrama de flujo: extraer 34">
            <a:extLst>
              <a:ext uri="{FF2B5EF4-FFF2-40B4-BE49-F238E27FC236}">
                <a16:creationId xmlns:a16="http://schemas.microsoft.com/office/drawing/2014/main" id="{7A011BF6-AD79-FE11-8041-2CF2E37D51FE}"/>
              </a:ext>
            </a:extLst>
          </p:cNvPr>
          <p:cNvSpPr/>
          <p:nvPr/>
        </p:nvSpPr>
        <p:spPr>
          <a:xfrm rot="2349561">
            <a:off x="10244401" y="1992525"/>
            <a:ext cx="96253" cy="108319"/>
          </a:xfrm>
          <a:prstGeom prst="flowChartExtra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22 CuadroTexto">
            <a:extLst>
              <a:ext uri="{FF2B5EF4-FFF2-40B4-BE49-F238E27FC236}">
                <a16:creationId xmlns:a16="http://schemas.microsoft.com/office/drawing/2014/main" id="{A5874707-A77C-F0BC-9131-C931C232D0BD}"/>
              </a:ext>
            </a:extLst>
          </p:cNvPr>
          <p:cNvSpPr txBox="1">
            <a:spLocks noChangeArrowheads="1"/>
          </p:cNvSpPr>
          <p:nvPr/>
        </p:nvSpPr>
        <p:spPr bwMode="auto">
          <a:xfrm rot="18779907">
            <a:off x="8276646" y="2802475"/>
            <a:ext cx="2021065" cy="24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0959" tIns="30479" rIns="60959" bIns="30479">
            <a:spAutoFit/>
          </a:bodyPr>
          <a:lstStyle>
            <a:lvl1pPr>
              <a:spcBef>
                <a:spcPct val="20000"/>
              </a:spcBef>
              <a:buFont typeface="Arial" panose="020B0604020202020204" pitchFamily="34" charset="0"/>
              <a:buChar char="•"/>
              <a:defRPr sz="57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5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43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36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36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3600">
                <a:solidFill>
                  <a:schemeClr val="tx1"/>
                </a:solidFill>
                <a:latin typeface="Calibri" panose="020F0502020204030204" pitchFamily="34" charset="0"/>
              </a:defRPr>
            </a:lvl9pPr>
          </a:lstStyle>
          <a:p>
            <a:pPr algn="ctr" eaLnBrk="1" hangingPunct="1">
              <a:spcBef>
                <a:spcPct val="0"/>
              </a:spcBef>
              <a:buFontTx/>
              <a:buNone/>
            </a:pPr>
            <a:r>
              <a:rPr lang="es-CL" altLang="es-ES" sz="1200" b="1" dirty="0">
                <a:solidFill>
                  <a:schemeClr val="tx1">
                    <a:lumMod val="65000"/>
                    <a:lumOff val="35000"/>
                  </a:schemeClr>
                </a:solidFill>
                <a:latin typeface="Montserrat" panose="00000500000000000000" pitchFamily="2" charset="0"/>
              </a:rPr>
              <a:t>Disrupción Tecnológica</a:t>
            </a:r>
            <a:endParaRPr lang="es-ES" altLang="es-ES" sz="1200" b="1" dirty="0">
              <a:solidFill>
                <a:schemeClr val="tx1">
                  <a:lumMod val="65000"/>
                  <a:lumOff val="35000"/>
                </a:schemeClr>
              </a:solidFill>
              <a:latin typeface="Montserrat" panose="00000500000000000000" pitchFamily="2" charset="0"/>
            </a:endParaRPr>
          </a:p>
        </p:txBody>
      </p:sp>
      <p:sp>
        <p:nvSpPr>
          <p:cNvPr id="20" name="Arco 19">
            <a:extLst>
              <a:ext uri="{FF2B5EF4-FFF2-40B4-BE49-F238E27FC236}">
                <a16:creationId xmlns:a16="http://schemas.microsoft.com/office/drawing/2014/main" id="{CF720F8A-AA8C-BF6E-FE69-4D3F2D3AE491}"/>
              </a:ext>
            </a:extLst>
          </p:cNvPr>
          <p:cNvSpPr/>
          <p:nvPr/>
        </p:nvSpPr>
        <p:spPr>
          <a:xfrm rot="7834768">
            <a:off x="4815631" y="436499"/>
            <a:ext cx="9598207" cy="1887640"/>
          </a:xfrm>
          <a:prstGeom prst="arc">
            <a:avLst>
              <a:gd name="adj1" fmla="val 16472440"/>
              <a:gd name="adj2" fmla="val 21407787"/>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L">
              <a:ln w="28575">
                <a:solidFill>
                  <a:schemeClr val="tx1"/>
                </a:solidFill>
              </a:ln>
            </a:endParaRPr>
          </a:p>
        </p:txBody>
      </p:sp>
    </p:spTree>
    <p:extLst>
      <p:ext uri="{BB962C8B-B14F-4D97-AF65-F5344CB8AC3E}">
        <p14:creationId xmlns:p14="http://schemas.microsoft.com/office/powerpoint/2010/main" val="3377265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590643"/>
            <a:ext cx="10865564" cy="523220"/>
          </a:xfrm>
          <a:prstGeom prst="rect">
            <a:avLst/>
          </a:prstGeom>
          <a:noFill/>
        </p:spPr>
        <p:txBody>
          <a:bodyPr wrap="square" rtlCol="0">
            <a:spAutoFit/>
          </a:bodyPr>
          <a:lstStyle/>
          <a:p>
            <a:pPr algn="ctr"/>
            <a:r>
              <a:rPr lang="es-ES" sz="2800" dirty="0">
                <a:latin typeface="Montserrat SemiBold" pitchFamily="2" charset="0"/>
              </a:rPr>
              <a:t>Ejemplos de disrupción tecnológica</a:t>
            </a:r>
            <a:endParaRPr lang="es-CL" sz="2800" dirty="0">
              <a:latin typeface="Montserrat SemiBold" pitchFamily="2" charset="0"/>
            </a:endParaRPr>
          </a:p>
        </p:txBody>
      </p:sp>
      <p:sp>
        <p:nvSpPr>
          <p:cNvPr id="8" name="CuadroTexto 7">
            <a:extLst>
              <a:ext uri="{FF2B5EF4-FFF2-40B4-BE49-F238E27FC236}">
                <a16:creationId xmlns:a16="http://schemas.microsoft.com/office/drawing/2014/main" id="{7C873786-8FDC-4926-9EE5-F8D1217F33FE}"/>
              </a:ext>
            </a:extLst>
          </p:cNvPr>
          <p:cNvSpPr txBox="1"/>
          <p:nvPr/>
        </p:nvSpPr>
        <p:spPr>
          <a:xfrm>
            <a:off x="663216" y="3945934"/>
            <a:ext cx="4998674" cy="338554"/>
          </a:xfrm>
          <a:prstGeom prst="rect">
            <a:avLst/>
          </a:prstGeom>
          <a:noFill/>
        </p:spPr>
        <p:txBody>
          <a:bodyPr wrap="square">
            <a:spAutoFit/>
          </a:bodyPr>
          <a:lstStyle/>
          <a:p>
            <a:pPr algn="ctr"/>
            <a:r>
              <a:rPr lang="es-CL" sz="1600" b="1" dirty="0">
                <a:latin typeface="Montserrat" panose="00000500000000000000" pitchFamily="2" charset="0"/>
              </a:rPr>
              <a:t>Diario impreso a formato digital</a:t>
            </a:r>
          </a:p>
        </p:txBody>
      </p:sp>
      <p:pic>
        <p:nvPicPr>
          <p:cNvPr id="1026" name="Picture 2" descr="La Transformación del Diario: Del Papel al Digital - Portal Urbano">
            <a:extLst>
              <a:ext uri="{FF2B5EF4-FFF2-40B4-BE49-F238E27FC236}">
                <a16:creationId xmlns:a16="http://schemas.microsoft.com/office/drawing/2014/main" id="{741907AA-75D0-4C15-B4DD-99E287E175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295"/>
          <a:stretch/>
        </p:blipFill>
        <p:spPr bwMode="auto">
          <a:xfrm>
            <a:off x="663216" y="1583704"/>
            <a:ext cx="4257963" cy="2103986"/>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60095CE5-DE88-47A2-8973-9EACFC547F46}"/>
              </a:ext>
            </a:extLst>
          </p:cNvPr>
          <p:cNvSpPr txBox="1"/>
          <p:nvPr/>
        </p:nvSpPr>
        <p:spPr>
          <a:xfrm>
            <a:off x="663217" y="4379874"/>
            <a:ext cx="4998674" cy="1823576"/>
          </a:xfrm>
          <a:prstGeom prst="rect">
            <a:avLst/>
          </a:prstGeom>
          <a:noFill/>
        </p:spPr>
        <p:txBody>
          <a:bodyPr wrap="square">
            <a:spAutoFit/>
          </a:bodyPr>
          <a:lstStyle/>
          <a:p>
            <a:pPr algn="just"/>
            <a:r>
              <a:rPr lang="es-CL" sz="1250" dirty="0">
                <a:latin typeface="Montserrat" panose="00000500000000000000" pitchFamily="2" charset="0"/>
              </a:rPr>
              <a:t>Antes las personas obtenían noticias a través de periódicos impresos, pero con el avance de Internet, surgieron plataformas digitales que ofrecían acceso a noticias en tiempo real y a un costo menor. Esto obligó a las empresas de medios a adaptarse, desarrollando versiones en línea de sus periódicos y cambiando los modelos de negocio. </a:t>
            </a:r>
            <a:r>
              <a:rPr lang="es-CL" sz="1250" b="1" dirty="0">
                <a:latin typeface="Montserrat" panose="00000500000000000000" pitchFamily="2" charset="0"/>
              </a:rPr>
              <a:t>Esta transición afectó significativamente la forma en que se consumen las noticias y la viabilidad de los periódicos tradicionales en el mercado actual.</a:t>
            </a:r>
          </a:p>
        </p:txBody>
      </p:sp>
      <p:pic>
        <p:nvPicPr>
          <p:cNvPr id="1034" name="Picture 10" descr="Mucama-para-hotel-esttrellas-limpieza-en-hoteles - Revista Enfoque">
            <a:extLst>
              <a:ext uri="{FF2B5EF4-FFF2-40B4-BE49-F238E27FC236}">
                <a16:creationId xmlns:a16="http://schemas.microsoft.com/office/drawing/2014/main" id="{77B2FFA4-CB1E-4EE7-AB62-64BC49F26B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801" r="27528"/>
          <a:stretch/>
        </p:blipFill>
        <p:spPr bwMode="auto">
          <a:xfrm>
            <a:off x="6881089" y="1747629"/>
            <a:ext cx="1819563" cy="210291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irbnb abrirá un complejo con 300 apartamentos propios">
            <a:extLst>
              <a:ext uri="{FF2B5EF4-FFF2-40B4-BE49-F238E27FC236}">
                <a16:creationId xmlns:a16="http://schemas.microsoft.com/office/drawing/2014/main" id="{945D9680-0703-4020-9622-4A526D77A1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684" r="24626"/>
          <a:stretch/>
        </p:blipFill>
        <p:spPr bwMode="auto">
          <a:xfrm>
            <a:off x="8700652" y="1747629"/>
            <a:ext cx="1819563" cy="2102919"/>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1BF2C3BB-F34B-4347-B700-92F24A703D8E}"/>
              </a:ext>
            </a:extLst>
          </p:cNvPr>
          <p:cNvSpPr txBox="1"/>
          <p:nvPr/>
        </p:nvSpPr>
        <p:spPr>
          <a:xfrm>
            <a:off x="6262252" y="3945934"/>
            <a:ext cx="4998674" cy="338554"/>
          </a:xfrm>
          <a:prstGeom prst="rect">
            <a:avLst/>
          </a:prstGeom>
          <a:noFill/>
        </p:spPr>
        <p:txBody>
          <a:bodyPr wrap="square">
            <a:spAutoFit/>
          </a:bodyPr>
          <a:lstStyle/>
          <a:p>
            <a:pPr algn="ctr"/>
            <a:r>
              <a:rPr lang="es-CL" sz="1600" b="1" dirty="0">
                <a:latin typeface="Montserrat" panose="00000500000000000000" pitchFamily="2" charset="0"/>
              </a:rPr>
              <a:t>Hoteles y Airbnb</a:t>
            </a:r>
          </a:p>
        </p:txBody>
      </p:sp>
      <p:sp>
        <p:nvSpPr>
          <p:cNvPr id="13" name="CuadroTexto 12">
            <a:extLst>
              <a:ext uri="{FF2B5EF4-FFF2-40B4-BE49-F238E27FC236}">
                <a16:creationId xmlns:a16="http://schemas.microsoft.com/office/drawing/2014/main" id="{49825490-A1F3-4925-8F6D-031005E4FF4B}"/>
              </a:ext>
            </a:extLst>
          </p:cNvPr>
          <p:cNvSpPr txBox="1"/>
          <p:nvPr/>
        </p:nvSpPr>
        <p:spPr>
          <a:xfrm>
            <a:off x="6262253" y="4379874"/>
            <a:ext cx="4998674" cy="1823576"/>
          </a:xfrm>
          <a:prstGeom prst="rect">
            <a:avLst/>
          </a:prstGeom>
          <a:noFill/>
        </p:spPr>
        <p:txBody>
          <a:bodyPr wrap="square">
            <a:spAutoFit/>
          </a:bodyPr>
          <a:lstStyle/>
          <a:p>
            <a:pPr algn="just"/>
            <a:r>
              <a:rPr lang="es-CL" sz="1250" dirty="0">
                <a:latin typeface="Montserrat" panose="00000500000000000000" pitchFamily="2" charset="0"/>
              </a:rPr>
              <a:t>Esta plataforma de alojamiento permite a las personas alquilar sus propiedades o habitaciones a viajeros, ofreciendo una alternativa más económica y personalizada a los hoteles tradicionales. </a:t>
            </a:r>
            <a:r>
              <a:rPr lang="es-CL" sz="1250" b="1" dirty="0">
                <a:latin typeface="Montserrat" panose="00000500000000000000" pitchFamily="2" charset="0"/>
              </a:rPr>
              <a:t>Airbnb transformó la industria hotelera al proporcionar un espacio digital que conecta directamente a los viajeros con una amplia gama de alojamientos. </a:t>
            </a:r>
            <a:r>
              <a:rPr lang="es-CL" sz="1250" dirty="0">
                <a:latin typeface="Montserrat" panose="00000500000000000000" pitchFamily="2" charset="0"/>
              </a:rPr>
              <a:t>Esto desafió el modelo de negocio tradicional de los hoteles y cambió la forma en que las personas viajan y se alojan en todo el mundo.</a:t>
            </a:r>
          </a:p>
        </p:txBody>
      </p:sp>
    </p:spTree>
    <p:extLst>
      <p:ext uri="{BB962C8B-B14F-4D97-AF65-F5344CB8AC3E}">
        <p14:creationId xmlns:p14="http://schemas.microsoft.com/office/powerpoint/2010/main" val="2178029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528293"/>
            <a:ext cx="10865564" cy="430887"/>
          </a:xfrm>
          <a:prstGeom prst="rect">
            <a:avLst/>
          </a:prstGeom>
          <a:noFill/>
        </p:spPr>
        <p:txBody>
          <a:bodyPr wrap="square" rtlCol="0">
            <a:spAutoFit/>
          </a:bodyPr>
          <a:lstStyle/>
          <a:p>
            <a:pPr algn="ctr"/>
            <a:r>
              <a:rPr lang="es-ES" sz="2200" dirty="0">
                <a:latin typeface="Montserrat SemiBold" pitchFamily="2" charset="0"/>
              </a:rPr>
              <a:t>Sumarse a la disrupción tecnológica</a:t>
            </a:r>
            <a:endParaRPr lang="es-CL" sz="2200" dirty="0">
              <a:latin typeface="Montserrat SemiBold" pitchFamily="2" charset="0"/>
            </a:endParaRPr>
          </a:p>
        </p:txBody>
      </p:sp>
      <p:sp>
        <p:nvSpPr>
          <p:cNvPr id="3" name="CuadroTexto 2">
            <a:extLst>
              <a:ext uri="{FF2B5EF4-FFF2-40B4-BE49-F238E27FC236}">
                <a16:creationId xmlns:a16="http://schemas.microsoft.com/office/drawing/2014/main" id="{426E21AB-71AB-D186-620B-BDC1B5502E01}"/>
              </a:ext>
            </a:extLst>
          </p:cNvPr>
          <p:cNvSpPr txBox="1"/>
          <p:nvPr/>
        </p:nvSpPr>
        <p:spPr>
          <a:xfrm>
            <a:off x="663218" y="1305341"/>
            <a:ext cx="5432782" cy="4247317"/>
          </a:xfrm>
          <a:prstGeom prst="rect">
            <a:avLst/>
          </a:prstGeom>
          <a:noFill/>
        </p:spPr>
        <p:txBody>
          <a:bodyPr wrap="square" rtlCol="0">
            <a:spAutoFit/>
          </a:bodyPr>
          <a:lstStyle/>
          <a:p>
            <a:r>
              <a:rPr lang="es-CL" dirty="0"/>
              <a:t>Entonces, es relevante entender que para sumarse a esa velocidad de cambio se necesita un vehículo especial, esos son los startups</a:t>
            </a:r>
          </a:p>
          <a:p>
            <a:endParaRPr lang="es-CL" dirty="0"/>
          </a:p>
          <a:p>
            <a:r>
              <a:rPr lang="es-CL" dirty="0"/>
              <a:t>Organizaciones capaces de aprender en velocidad, que tiene talento especial, cultura de innovación, metodologías, para ir a esa velocidad y con estándares globales que son capaces de incorporar financiamiento especializado para el alto crecimiento.</a:t>
            </a:r>
          </a:p>
          <a:p>
            <a:endParaRPr lang="es-CL" dirty="0"/>
          </a:p>
          <a:p>
            <a:r>
              <a:rPr lang="es-CL" dirty="0"/>
              <a:t>Es un tipo de organización, cumple un estándar, no es sólo una buena idea, es una capacidad de viajar en la dirección y velocidad de la oleada en que se sube.</a:t>
            </a:r>
          </a:p>
        </p:txBody>
      </p:sp>
      <p:pic>
        <p:nvPicPr>
          <p:cNvPr id="1026" name="Picture 2">
            <a:extLst>
              <a:ext uri="{FF2B5EF4-FFF2-40B4-BE49-F238E27FC236}">
                <a16:creationId xmlns:a16="http://schemas.microsoft.com/office/drawing/2014/main" id="{ACA6113B-588D-BB02-DDC1-380654BC5F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1574" y="1305341"/>
            <a:ext cx="4426772" cy="4426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357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DA86F1EB-6A13-4054-90F1-03AC23700ED4}"/>
              </a:ext>
            </a:extLst>
          </p:cNvPr>
          <p:cNvSpPr>
            <a:spLocks/>
          </p:cNvSpPr>
          <p:nvPr/>
        </p:nvSpPr>
        <p:spPr>
          <a:xfrm>
            <a:off x="9575058" y="4423238"/>
            <a:ext cx="1953724" cy="1937739"/>
          </a:xfrm>
          <a:prstGeom prst="rect">
            <a:avLst/>
          </a:prstGeom>
          <a:solidFill>
            <a:srgbClr val="ABE9FF"/>
          </a:solidFill>
          <a:ln>
            <a:solidFill>
              <a:srgbClr val="ABE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dirty="0">
                <a:solidFill>
                  <a:schemeClr val="tx1"/>
                </a:solidFill>
                <a:latin typeface="Montserrat" panose="00000500000000000000" pitchFamily="2" charset="0"/>
              </a:rPr>
              <a:t>Son buenas para cambiar y adaptarse rápidamente. Esto es importante porque los mercados pueden cambiar rápidamente y las empresas que no pueden adaptarse pueden quedarse atrás.</a:t>
            </a:r>
            <a:endParaRPr lang="es-CL" sz="1200" dirty="0">
              <a:solidFill>
                <a:schemeClr val="tx1"/>
              </a:solidFill>
              <a:latin typeface="Montserrat" panose="00000500000000000000" pitchFamily="2" charset="0"/>
            </a:endParaRPr>
          </a:p>
        </p:txBody>
      </p:sp>
      <p:sp>
        <p:nvSpPr>
          <p:cNvPr id="2" name="TextBox 1">
            <a:extLst>
              <a:ext uri="{FF2B5EF4-FFF2-40B4-BE49-F238E27FC236}">
                <a16:creationId xmlns:a16="http://schemas.microsoft.com/office/drawing/2014/main" id="{F8A2E706-AFAB-3EAE-E614-0EB0C8415FA0}"/>
              </a:ext>
            </a:extLst>
          </p:cNvPr>
          <p:cNvSpPr txBox="1"/>
          <p:nvPr/>
        </p:nvSpPr>
        <p:spPr>
          <a:xfrm>
            <a:off x="663218" y="721930"/>
            <a:ext cx="10865564" cy="523220"/>
          </a:xfrm>
          <a:prstGeom prst="rect">
            <a:avLst/>
          </a:prstGeom>
          <a:noFill/>
        </p:spPr>
        <p:txBody>
          <a:bodyPr wrap="square" rtlCol="0">
            <a:spAutoFit/>
          </a:bodyPr>
          <a:lstStyle/>
          <a:p>
            <a:pPr algn="ctr"/>
            <a:r>
              <a:rPr lang="es-ES" sz="2800" dirty="0">
                <a:latin typeface="Montserrat SemiBold" pitchFamily="2" charset="0"/>
              </a:rPr>
              <a:t>Entonces … ¿qué es un startup?</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756976"/>
            <a:ext cx="10865564" cy="1077218"/>
          </a:xfrm>
          <a:prstGeom prst="rect">
            <a:avLst/>
          </a:prstGeom>
          <a:noFill/>
        </p:spPr>
        <p:txBody>
          <a:bodyPr wrap="square">
            <a:spAutoFit/>
          </a:bodyPr>
          <a:lstStyle/>
          <a:p>
            <a:pPr algn="just"/>
            <a:r>
              <a:rPr lang="es-CL" sz="1600" dirty="0">
                <a:latin typeface="Montserrat" panose="00000500000000000000" pitchFamily="2" charset="0"/>
              </a:rPr>
              <a:t>Un startup es una empresa emergente, generalmente con </a:t>
            </a:r>
            <a:r>
              <a:rPr lang="es-CL" sz="1600" b="1" dirty="0">
                <a:latin typeface="Montserrat" panose="00000500000000000000" pitchFamily="2" charset="0"/>
              </a:rPr>
              <a:t>un enfoque en la innovación y el desarrollo de ideas nuevas y disruptivas</a:t>
            </a:r>
            <a:r>
              <a:rPr lang="es-CL" sz="1600" dirty="0">
                <a:latin typeface="Montserrat" panose="00000500000000000000" pitchFamily="2" charset="0"/>
              </a:rPr>
              <a:t>. Tienen un </a:t>
            </a:r>
            <a:r>
              <a:rPr lang="es-CL" sz="1600" b="1" dirty="0">
                <a:latin typeface="Montserrat" panose="00000500000000000000" pitchFamily="2" charset="0"/>
              </a:rPr>
              <a:t>alto potencial de crecimiento y escalabilidad</a:t>
            </a:r>
            <a:r>
              <a:rPr lang="es-CL" sz="1600" dirty="0">
                <a:latin typeface="Montserrat" panose="00000500000000000000" pitchFamily="2" charset="0"/>
              </a:rPr>
              <a:t>, lo que significa que pueden expandirse rápidamente a un costo marginal muy pequeño una vez que su modelo de negocio se ha probado exitosamente.</a:t>
            </a:r>
          </a:p>
        </p:txBody>
      </p:sp>
      <p:sp>
        <p:nvSpPr>
          <p:cNvPr id="15" name="Rectángulo 14">
            <a:extLst>
              <a:ext uri="{FF2B5EF4-FFF2-40B4-BE49-F238E27FC236}">
                <a16:creationId xmlns:a16="http://schemas.microsoft.com/office/drawing/2014/main" id="{13772262-8BA3-4445-B301-5DC28814F720}"/>
              </a:ext>
            </a:extLst>
          </p:cNvPr>
          <p:cNvSpPr>
            <a:spLocks/>
          </p:cNvSpPr>
          <p:nvPr/>
        </p:nvSpPr>
        <p:spPr>
          <a:xfrm>
            <a:off x="760408" y="4423240"/>
            <a:ext cx="1958149" cy="1937739"/>
          </a:xfrm>
          <a:prstGeom prst="rect">
            <a:avLst/>
          </a:prstGeom>
          <a:solidFill>
            <a:srgbClr val="ABE9FF"/>
          </a:solidFill>
          <a:ln>
            <a:solidFill>
              <a:srgbClr val="ABE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dirty="0">
                <a:solidFill>
                  <a:schemeClr val="tx1"/>
                </a:solidFill>
                <a:latin typeface="Montserrat" panose="00000500000000000000" pitchFamily="2" charset="0"/>
              </a:rPr>
              <a:t>Los startups a menudo intentan cosas nuevas y esto puede ser arriesgado. Muchos startups no ganan dinero al principio y necesitan mucha inversión.</a:t>
            </a:r>
            <a:endParaRPr lang="es-CL" sz="1200" dirty="0">
              <a:solidFill>
                <a:schemeClr val="tx1"/>
              </a:solidFill>
              <a:latin typeface="Montserrat" panose="00000500000000000000" pitchFamily="2" charset="0"/>
            </a:endParaRPr>
          </a:p>
        </p:txBody>
      </p:sp>
      <p:sp>
        <p:nvSpPr>
          <p:cNvPr id="16" name="Rectángulo 15">
            <a:extLst>
              <a:ext uri="{FF2B5EF4-FFF2-40B4-BE49-F238E27FC236}">
                <a16:creationId xmlns:a16="http://schemas.microsoft.com/office/drawing/2014/main" id="{47E73994-1E4C-4B1C-9FB7-BCEB311EF523}"/>
              </a:ext>
            </a:extLst>
          </p:cNvPr>
          <p:cNvSpPr>
            <a:spLocks/>
          </p:cNvSpPr>
          <p:nvPr/>
        </p:nvSpPr>
        <p:spPr>
          <a:xfrm>
            <a:off x="2965626" y="4423239"/>
            <a:ext cx="1958150" cy="1937740"/>
          </a:xfrm>
          <a:prstGeom prst="rect">
            <a:avLst/>
          </a:prstGeom>
          <a:solidFill>
            <a:srgbClr val="ABE9FF"/>
          </a:solidFill>
          <a:ln>
            <a:solidFill>
              <a:srgbClr val="ABE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dirty="0">
                <a:solidFill>
                  <a:schemeClr val="tx1"/>
                </a:solidFill>
                <a:latin typeface="Montserrat" panose="00000500000000000000" pitchFamily="2" charset="0"/>
              </a:rPr>
              <a:t> Si un startup tiene éxito, puede crecer rápidamente y hacer mucho dinero para sus fundadores e inversores.</a:t>
            </a:r>
            <a:endParaRPr lang="es-CL" sz="1200" dirty="0">
              <a:solidFill>
                <a:schemeClr val="tx1"/>
              </a:solidFill>
              <a:latin typeface="Montserrat" panose="00000500000000000000" pitchFamily="2" charset="0"/>
            </a:endParaRPr>
          </a:p>
        </p:txBody>
      </p:sp>
      <p:sp>
        <p:nvSpPr>
          <p:cNvPr id="17" name="Rectángulo 16">
            <a:extLst>
              <a:ext uri="{FF2B5EF4-FFF2-40B4-BE49-F238E27FC236}">
                <a16:creationId xmlns:a16="http://schemas.microsoft.com/office/drawing/2014/main" id="{7000CB3B-1BB0-4310-8B25-E57EEF3C538A}"/>
              </a:ext>
            </a:extLst>
          </p:cNvPr>
          <p:cNvSpPr>
            <a:spLocks/>
          </p:cNvSpPr>
          <p:nvPr/>
        </p:nvSpPr>
        <p:spPr>
          <a:xfrm>
            <a:off x="5170846" y="4423239"/>
            <a:ext cx="1958149" cy="1937740"/>
          </a:xfrm>
          <a:prstGeom prst="rect">
            <a:avLst/>
          </a:prstGeom>
          <a:solidFill>
            <a:srgbClr val="ABE9FF"/>
          </a:solidFill>
          <a:ln>
            <a:solidFill>
              <a:srgbClr val="ABE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dirty="0">
                <a:solidFill>
                  <a:schemeClr val="tx1"/>
                </a:solidFill>
                <a:latin typeface="Montserrat" panose="00000500000000000000" pitchFamily="2" charset="0"/>
              </a:rPr>
              <a:t>Los startups siempre están buscando formas nuevas y mejores de hacer las cosas. Esto las ayuda a destacarse y competir en el mercado</a:t>
            </a:r>
            <a:endParaRPr lang="es-CL" sz="1200" dirty="0">
              <a:solidFill>
                <a:schemeClr val="tx1"/>
              </a:solidFill>
              <a:latin typeface="Montserrat" panose="00000500000000000000" pitchFamily="2" charset="0"/>
            </a:endParaRPr>
          </a:p>
        </p:txBody>
      </p:sp>
      <p:sp>
        <p:nvSpPr>
          <p:cNvPr id="18" name="Rectángulo 17">
            <a:extLst>
              <a:ext uri="{FF2B5EF4-FFF2-40B4-BE49-F238E27FC236}">
                <a16:creationId xmlns:a16="http://schemas.microsoft.com/office/drawing/2014/main" id="{1F89A0AD-EEEC-4E32-871D-D62E2EF10DAC}"/>
              </a:ext>
            </a:extLst>
          </p:cNvPr>
          <p:cNvSpPr>
            <a:spLocks/>
          </p:cNvSpPr>
          <p:nvPr/>
        </p:nvSpPr>
        <p:spPr>
          <a:xfrm>
            <a:off x="7376065" y="4423238"/>
            <a:ext cx="1958149" cy="1937740"/>
          </a:xfrm>
          <a:prstGeom prst="rect">
            <a:avLst/>
          </a:prstGeom>
          <a:solidFill>
            <a:srgbClr val="ABE9FF"/>
          </a:solidFill>
          <a:ln>
            <a:solidFill>
              <a:srgbClr val="ABE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dirty="0">
                <a:solidFill>
                  <a:schemeClr val="tx1"/>
                </a:solidFill>
                <a:latin typeface="Montserrat" panose="00000500000000000000" pitchFamily="2" charset="0"/>
              </a:rPr>
              <a:t>Están diseñadas para crecer rápidamente. Pueden hacerse grandes muy rápidamente sin tener que gastar demasiado dinero.</a:t>
            </a:r>
            <a:endParaRPr lang="es-CL" sz="1200" dirty="0">
              <a:solidFill>
                <a:schemeClr val="tx1"/>
              </a:solidFill>
              <a:latin typeface="Montserrat" panose="00000500000000000000" pitchFamily="2" charset="0"/>
            </a:endParaRPr>
          </a:p>
        </p:txBody>
      </p:sp>
      <p:sp>
        <p:nvSpPr>
          <p:cNvPr id="20" name="CuadroTexto 19">
            <a:extLst>
              <a:ext uri="{FF2B5EF4-FFF2-40B4-BE49-F238E27FC236}">
                <a16:creationId xmlns:a16="http://schemas.microsoft.com/office/drawing/2014/main" id="{646B782D-3186-492F-88EB-59191C645B62}"/>
              </a:ext>
            </a:extLst>
          </p:cNvPr>
          <p:cNvSpPr txBox="1"/>
          <p:nvPr/>
        </p:nvSpPr>
        <p:spPr>
          <a:xfrm>
            <a:off x="760408" y="3723545"/>
            <a:ext cx="1958149" cy="523220"/>
          </a:xfrm>
          <a:prstGeom prst="rect">
            <a:avLst/>
          </a:prstGeom>
          <a:noFill/>
        </p:spPr>
        <p:txBody>
          <a:bodyPr wrap="square" rtlCol="0">
            <a:spAutoFit/>
          </a:bodyPr>
          <a:lstStyle/>
          <a:p>
            <a:pPr algn="ctr"/>
            <a:r>
              <a:rPr lang="es-CL" sz="1400" b="1" dirty="0">
                <a:latin typeface="Montserrat SemiBold" panose="00000700000000000000" pitchFamily="2" charset="0"/>
              </a:rPr>
              <a:t> </a:t>
            </a:r>
            <a:r>
              <a:rPr lang="es-CL" sz="1400" b="1" dirty="0">
                <a:latin typeface="Montserrat SemiBold" panose="00000700000000000000" pitchFamily="2" charset="0"/>
                <a:ea typeface="Open Sans SemiBold" panose="020B0706030804020204" pitchFamily="34" charset="0"/>
                <a:cs typeface="Open Sans SemiBold" panose="020B0706030804020204" pitchFamily="34" charset="0"/>
              </a:rPr>
              <a:t>ALTO </a:t>
            </a:r>
          </a:p>
          <a:p>
            <a:pPr algn="ctr"/>
            <a:r>
              <a:rPr lang="es-CL" sz="1400" b="1" dirty="0">
                <a:latin typeface="Montserrat SemiBold" panose="00000700000000000000" pitchFamily="2" charset="0"/>
                <a:ea typeface="Open Sans SemiBold" panose="020B0706030804020204" pitchFamily="34" charset="0"/>
                <a:cs typeface="Open Sans SemiBold" panose="020B0706030804020204" pitchFamily="34" charset="0"/>
              </a:rPr>
              <a:t>RIESGO</a:t>
            </a:r>
          </a:p>
        </p:txBody>
      </p:sp>
      <p:sp>
        <p:nvSpPr>
          <p:cNvPr id="21" name="CuadroTexto 20">
            <a:extLst>
              <a:ext uri="{FF2B5EF4-FFF2-40B4-BE49-F238E27FC236}">
                <a16:creationId xmlns:a16="http://schemas.microsoft.com/office/drawing/2014/main" id="{DE2E4208-7806-40D2-B8BC-8B3717369237}"/>
              </a:ext>
            </a:extLst>
          </p:cNvPr>
          <p:cNvSpPr txBox="1"/>
          <p:nvPr/>
        </p:nvSpPr>
        <p:spPr>
          <a:xfrm>
            <a:off x="2965627" y="3727318"/>
            <a:ext cx="1958149" cy="523220"/>
          </a:xfrm>
          <a:prstGeom prst="rect">
            <a:avLst/>
          </a:prstGeom>
          <a:noFill/>
        </p:spPr>
        <p:txBody>
          <a:bodyPr wrap="square" rtlCol="0">
            <a:spAutoFit/>
          </a:bodyPr>
          <a:lstStyle/>
          <a:p>
            <a:pPr algn="ctr"/>
            <a:r>
              <a:rPr lang="es-CL" sz="1400" b="1" dirty="0">
                <a:latin typeface="Montserrat SemiBold" panose="00000700000000000000" pitchFamily="2" charset="0"/>
              </a:rPr>
              <a:t> </a:t>
            </a:r>
            <a:r>
              <a:rPr lang="es-CL" sz="1400" b="1" dirty="0">
                <a:latin typeface="Montserrat SemiBold" panose="00000700000000000000" pitchFamily="2" charset="0"/>
                <a:ea typeface="Open Sans SemiBold" panose="020B0706030804020204" pitchFamily="34" charset="0"/>
                <a:cs typeface="Open Sans SemiBold" panose="020B0706030804020204" pitchFamily="34" charset="0"/>
              </a:rPr>
              <a:t>ALTO </a:t>
            </a:r>
          </a:p>
          <a:p>
            <a:pPr algn="ctr"/>
            <a:r>
              <a:rPr lang="es-CL" sz="1400" b="1" dirty="0">
                <a:latin typeface="Montserrat SemiBold" panose="00000700000000000000" pitchFamily="2" charset="0"/>
                <a:ea typeface="Open Sans SemiBold" panose="020B0706030804020204" pitchFamily="34" charset="0"/>
                <a:cs typeface="Open Sans SemiBold" panose="020B0706030804020204" pitchFamily="34" charset="0"/>
              </a:rPr>
              <a:t>RETORNO</a:t>
            </a:r>
          </a:p>
        </p:txBody>
      </p:sp>
      <p:sp>
        <p:nvSpPr>
          <p:cNvPr id="22" name="CuadroTexto 21">
            <a:extLst>
              <a:ext uri="{FF2B5EF4-FFF2-40B4-BE49-F238E27FC236}">
                <a16:creationId xmlns:a16="http://schemas.microsoft.com/office/drawing/2014/main" id="{907D306D-AB62-4D87-9AD5-A2E7CCC9C11A}"/>
              </a:ext>
            </a:extLst>
          </p:cNvPr>
          <p:cNvSpPr txBox="1"/>
          <p:nvPr/>
        </p:nvSpPr>
        <p:spPr>
          <a:xfrm>
            <a:off x="5170846" y="3723545"/>
            <a:ext cx="1958149" cy="523220"/>
          </a:xfrm>
          <a:prstGeom prst="rect">
            <a:avLst/>
          </a:prstGeom>
          <a:noFill/>
        </p:spPr>
        <p:txBody>
          <a:bodyPr wrap="square" rtlCol="0">
            <a:spAutoFit/>
          </a:bodyPr>
          <a:lstStyle/>
          <a:p>
            <a:pPr algn="ctr"/>
            <a:r>
              <a:rPr lang="es-CL" sz="1400" b="1" dirty="0">
                <a:latin typeface="Montserrat SemiBold" panose="00000700000000000000" pitchFamily="2" charset="0"/>
                <a:ea typeface="Open Sans SemiBold" panose="020B0706030804020204" pitchFamily="34" charset="0"/>
                <a:cs typeface="Open Sans SemiBold" panose="020B0706030804020204" pitchFamily="34" charset="0"/>
              </a:rPr>
              <a:t>FUERTE CULTURA DE INNOVACIÓN</a:t>
            </a:r>
          </a:p>
        </p:txBody>
      </p:sp>
      <p:sp>
        <p:nvSpPr>
          <p:cNvPr id="23" name="CuadroTexto 22">
            <a:extLst>
              <a:ext uri="{FF2B5EF4-FFF2-40B4-BE49-F238E27FC236}">
                <a16:creationId xmlns:a16="http://schemas.microsoft.com/office/drawing/2014/main" id="{C94DDA7A-9582-47A7-9ED3-2E67B2A9545F}"/>
              </a:ext>
            </a:extLst>
          </p:cNvPr>
          <p:cNvSpPr txBox="1"/>
          <p:nvPr/>
        </p:nvSpPr>
        <p:spPr>
          <a:xfrm>
            <a:off x="7376066" y="3831267"/>
            <a:ext cx="1958148" cy="307777"/>
          </a:xfrm>
          <a:prstGeom prst="rect">
            <a:avLst/>
          </a:prstGeom>
          <a:noFill/>
        </p:spPr>
        <p:txBody>
          <a:bodyPr wrap="square" rtlCol="0">
            <a:spAutoFit/>
          </a:bodyPr>
          <a:lstStyle/>
          <a:p>
            <a:pPr algn="ctr"/>
            <a:r>
              <a:rPr lang="es-CL" sz="1400" b="1" dirty="0">
                <a:latin typeface="Montserrat SemiBold" panose="00000700000000000000" pitchFamily="2" charset="0"/>
                <a:ea typeface="Open Sans SemiBold" panose="020B0706030804020204" pitchFamily="34" charset="0"/>
                <a:cs typeface="Open Sans SemiBold" panose="020B0706030804020204" pitchFamily="34" charset="0"/>
              </a:rPr>
              <a:t>ESCALABILIDAD</a:t>
            </a:r>
          </a:p>
        </p:txBody>
      </p:sp>
      <p:sp>
        <p:nvSpPr>
          <p:cNvPr id="24" name="CuadroTexto 23">
            <a:extLst>
              <a:ext uri="{FF2B5EF4-FFF2-40B4-BE49-F238E27FC236}">
                <a16:creationId xmlns:a16="http://schemas.microsoft.com/office/drawing/2014/main" id="{2AE118A4-E812-403D-9E0D-3D4B045B43B0}"/>
              </a:ext>
            </a:extLst>
          </p:cNvPr>
          <p:cNvSpPr txBox="1"/>
          <p:nvPr/>
        </p:nvSpPr>
        <p:spPr>
          <a:xfrm>
            <a:off x="9575058" y="3723545"/>
            <a:ext cx="1953724" cy="523220"/>
          </a:xfrm>
          <a:prstGeom prst="rect">
            <a:avLst/>
          </a:prstGeom>
          <a:noFill/>
        </p:spPr>
        <p:txBody>
          <a:bodyPr wrap="square" rtlCol="0">
            <a:spAutoFit/>
          </a:bodyPr>
          <a:lstStyle/>
          <a:p>
            <a:pPr algn="ctr"/>
            <a:r>
              <a:rPr lang="es-MX" sz="1400" b="1" dirty="0">
                <a:latin typeface="Montserrat SemiBold" panose="00000700000000000000" pitchFamily="2" charset="0"/>
                <a:ea typeface="Open Sans SemiBold" panose="020B0706030804020204" pitchFamily="34" charset="0"/>
                <a:cs typeface="Open Sans SemiBold" panose="020B0706030804020204" pitchFamily="34" charset="0"/>
              </a:rPr>
              <a:t>Á</a:t>
            </a:r>
            <a:r>
              <a:rPr lang="es-CL" sz="1400" b="1" dirty="0">
                <a:latin typeface="Montserrat SemiBold" panose="00000700000000000000" pitchFamily="2" charset="0"/>
                <a:ea typeface="Open Sans SemiBold" panose="020B0706030804020204" pitchFamily="34" charset="0"/>
                <a:cs typeface="Open Sans SemiBold" panose="020B0706030804020204" pitchFamily="34" charset="0"/>
              </a:rPr>
              <a:t>GIL ADAPTACIÓN A CAMBIOS</a:t>
            </a:r>
          </a:p>
        </p:txBody>
      </p:sp>
    </p:spTree>
    <p:extLst>
      <p:ext uri="{BB962C8B-B14F-4D97-AF65-F5344CB8AC3E}">
        <p14:creationId xmlns:p14="http://schemas.microsoft.com/office/powerpoint/2010/main" val="3917220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7" y="854020"/>
            <a:ext cx="10865563" cy="523220"/>
          </a:xfrm>
          <a:prstGeom prst="rect">
            <a:avLst/>
          </a:prstGeom>
          <a:noFill/>
        </p:spPr>
        <p:txBody>
          <a:bodyPr wrap="square" rtlCol="0">
            <a:spAutoFit/>
          </a:bodyPr>
          <a:lstStyle/>
          <a:p>
            <a:pPr algn="ctr"/>
            <a:r>
              <a:rPr lang="es-ES" sz="2800" dirty="0">
                <a:latin typeface="Montserrat SemiBold" pitchFamily="2" charset="0"/>
              </a:rPr>
              <a:t>¿Y qué NO es un startup?</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6" y="2035091"/>
            <a:ext cx="10865564" cy="2154436"/>
          </a:xfrm>
          <a:prstGeom prst="rect">
            <a:avLst/>
          </a:prstGeom>
          <a:noFill/>
        </p:spPr>
        <p:txBody>
          <a:bodyPr wrap="square">
            <a:spAutoFit/>
          </a:bodyPr>
          <a:lstStyle/>
          <a:p>
            <a:pPr algn="just"/>
            <a:r>
              <a:rPr lang="es-CL" b="1" dirty="0">
                <a:latin typeface="Montserrat" panose="00000500000000000000" pitchFamily="2" charset="0"/>
              </a:rPr>
              <a:t>NO es una empresa nueva</a:t>
            </a:r>
          </a:p>
          <a:p>
            <a:pPr algn="just"/>
            <a:r>
              <a:rPr lang="es-CL" sz="1600" dirty="0">
                <a:latin typeface="Montserrat" panose="00000500000000000000" pitchFamily="2" charset="0"/>
              </a:rPr>
              <a:t>Una empresa es una entidad estructurada para ejecutar un modelo de negocio que ya existe, mientras que un startup es una organización ágil diseñada para buscar su propio modelo de negocio.</a:t>
            </a:r>
          </a:p>
          <a:p>
            <a:pPr algn="just"/>
            <a:endParaRPr lang="es-CL" b="1" dirty="0">
              <a:latin typeface="Montserrat" panose="00000500000000000000" pitchFamily="2" charset="0"/>
            </a:endParaRPr>
          </a:p>
          <a:p>
            <a:pPr algn="just"/>
            <a:r>
              <a:rPr lang="es-CL" b="1" dirty="0">
                <a:latin typeface="Montserrat" panose="00000500000000000000" pitchFamily="2" charset="0"/>
              </a:rPr>
              <a:t>NO es una pyme</a:t>
            </a:r>
          </a:p>
          <a:p>
            <a:pPr algn="just"/>
            <a:r>
              <a:rPr lang="es-CL" sz="1600" dirty="0">
                <a:latin typeface="Montserrat" panose="00000500000000000000" pitchFamily="2" charset="0"/>
              </a:rPr>
              <a:t>Una pyme tiene un enfoque más estable y conservador, ya que busca producir beneficios lo antes posible, mientras que un startup asume que incurrirá en pérdidas en primera instancia.</a:t>
            </a:r>
          </a:p>
          <a:p>
            <a:pPr algn="just"/>
            <a:endParaRPr lang="es-CL" sz="1600" dirty="0">
              <a:latin typeface="Montserrat" panose="00000500000000000000" pitchFamily="2" charset="0"/>
            </a:endParaRPr>
          </a:p>
        </p:txBody>
      </p:sp>
      <p:sp>
        <p:nvSpPr>
          <p:cNvPr id="8" name="CuadroTexto 7">
            <a:extLst>
              <a:ext uri="{FF2B5EF4-FFF2-40B4-BE49-F238E27FC236}">
                <a16:creationId xmlns:a16="http://schemas.microsoft.com/office/drawing/2014/main" id="{51AE3C1A-EA0E-4631-B125-DB936D28020E}"/>
              </a:ext>
            </a:extLst>
          </p:cNvPr>
          <p:cNvSpPr txBox="1"/>
          <p:nvPr/>
        </p:nvSpPr>
        <p:spPr>
          <a:xfrm>
            <a:off x="663218" y="6136070"/>
            <a:ext cx="10865564" cy="246221"/>
          </a:xfrm>
          <a:prstGeom prst="rect">
            <a:avLst/>
          </a:prstGeom>
          <a:noFill/>
        </p:spPr>
        <p:txBody>
          <a:bodyPr wrap="square">
            <a:spAutoFit/>
          </a:bodyPr>
          <a:lstStyle/>
          <a:p>
            <a:r>
              <a:rPr lang="es-CL" sz="1000" dirty="0">
                <a:latin typeface="Montserrat" panose="00000500000000000000" pitchFamily="2" charset="0"/>
              </a:rPr>
              <a:t>Fuente: Escuela de Negocios de la Innovación y los Emprendedores (2023)</a:t>
            </a:r>
          </a:p>
        </p:txBody>
      </p:sp>
      <p:sp>
        <p:nvSpPr>
          <p:cNvPr id="9" name="Rectángulo: esquinas redondeadas 8">
            <a:extLst>
              <a:ext uri="{FF2B5EF4-FFF2-40B4-BE49-F238E27FC236}">
                <a16:creationId xmlns:a16="http://schemas.microsoft.com/office/drawing/2014/main" id="{AAB9F263-5F7C-482A-B63B-63600CC42BDF}"/>
              </a:ext>
            </a:extLst>
          </p:cNvPr>
          <p:cNvSpPr/>
          <p:nvPr/>
        </p:nvSpPr>
        <p:spPr>
          <a:xfrm>
            <a:off x="663216" y="4695517"/>
            <a:ext cx="10865564" cy="1189142"/>
          </a:xfrm>
          <a:prstGeom prst="roundRect">
            <a:avLst/>
          </a:prstGeom>
          <a:solidFill>
            <a:srgbClr val="ABE9FF"/>
          </a:solidFill>
          <a:ln>
            <a:solidFill>
              <a:srgbClr val="ABE9FF"/>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lstStyle/>
          <a:p>
            <a:r>
              <a:rPr lang="es-CL" sz="1600" dirty="0">
                <a:solidFill>
                  <a:schemeClr val="tx1"/>
                </a:solidFill>
              </a:rPr>
              <a:t>Si bien startup, pyme y empresa comparten el objetivo de generar valor en el mercado, difieren en su etapa de desarrollo, sus objetivos, su tolerancia al riesgo, su cultura y más.</a:t>
            </a:r>
          </a:p>
        </p:txBody>
      </p:sp>
    </p:spTree>
    <p:extLst>
      <p:ext uri="{BB962C8B-B14F-4D97-AF65-F5344CB8AC3E}">
        <p14:creationId xmlns:p14="http://schemas.microsoft.com/office/powerpoint/2010/main" val="3327789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721930"/>
            <a:ext cx="9641367" cy="523220"/>
          </a:xfrm>
          <a:prstGeom prst="rect">
            <a:avLst/>
          </a:prstGeom>
          <a:noFill/>
        </p:spPr>
        <p:txBody>
          <a:bodyPr wrap="square" rtlCol="0">
            <a:spAutoFit/>
          </a:bodyPr>
          <a:lstStyle/>
          <a:p>
            <a:r>
              <a:rPr lang="es-ES" sz="2800" dirty="0">
                <a:latin typeface="Montserrat SemiBold" pitchFamily="2" charset="0"/>
              </a:rPr>
              <a:t>Diferencia entre un startup y una empresa</a:t>
            </a:r>
            <a:endParaRPr lang="es-CL" sz="2800" dirty="0">
              <a:latin typeface="Montserrat SemiBold" pitchFamily="2" charset="0"/>
            </a:endParaRPr>
          </a:p>
        </p:txBody>
      </p:sp>
      <p:graphicFrame>
        <p:nvGraphicFramePr>
          <p:cNvPr id="6" name="Tabla 8">
            <a:extLst>
              <a:ext uri="{FF2B5EF4-FFF2-40B4-BE49-F238E27FC236}">
                <a16:creationId xmlns:a16="http://schemas.microsoft.com/office/drawing/2014/main" id="{3AD62A48-35D3-4FC8-B442-F3CED2D86DE5}"/>
              </a:ext>
            </a:extLst>
          </p:cNvPr>
          <p:cNvGraphicFramePr>
            <a:graphicFrameLocks noGrp="1"/>
          </p:cNvGraphicFramePr>
          <p:nvPr/>
        </p:nvGraphicFramePr>
        <p:xfrm>
          <a:off x="663218" y="1896044"/>
          <a:ext cx="10874374" cy="3976314"/>
        </p:xfrm>
        <a:graphic>
          <a:graphicData uri="http://schemas.openxmlformats.org/drawingml/2006/table">
            <a:tbl>
              <a:tblPr firstRow="1" bandRow="1">
                <a:tableStyleId>{21E4AEA4-8DFA-4A89-87EB-49C32662AFE0}</a:tableStyleId>
              </a:tblPr>
              <a:tblGrid>
                <a:gridCol w="2379355">
                  <a:extLst>
                    <a:ext uri="{9D8B030D-6E8A-4147-A177-3AD203B41FA5}">
                      <a16:colId xmlns:a16="http://schemas.microsoft.com/office/drawing/2014/main" val="2265679028"/>
                    </a:ext>
                  </a:extLst>
                </a:gridCol>
                <a:gridCol w="4257368">
                  <a:extLst>
                    <a:ext uri="{9D8B030D-6E8A-4147-A177-3AD203B41FA5}">
                      <a16:colId xmlns:a16="http://schemas.microsoft.com/office/drawing/2014/main" val="2067997314"/>
                    </a:ext>
                  </a:extLst>
                </a:gridCol>
                <a:gridCol w="4237651">
                  <a:extLst>
                    <a:ext uri="{9D8B030D-6E8A-4147-A177-3AD203B41FA5}">
                      <a16:colId xmlns:a16="http://schemas.microsoft.com/office/drawing/2014/main" val="2154511474"/>
                    </a:ext>
                  </a:extLst>
                </a:gridCol>
              </a:tblGrid>
              <a:tr h="342237">
                <a:tc>
                  <a:txBody>
                    <a:bodyPr/>
                    <a:lstStyle/>
                    <a:p>
                      <a:pPr algn="ctr"/>
                      <a:r>
                        <a:rPr lang="es-CL" sz="1500" b="1" dirty="0">
                          <a:solidFill>
                            <a:schemeClr val="tx1"/>
                          </a:solidFill>
                        </a:rPr>
                        <a:t>Categoría</a:t>
                      </a:r>
                    </a:p>
                  </a:txBody>
                  <a:tcPr>
                    <a:solidFill>
                      <a:srgbClr val="ABE9FF"/>
                    </a:solidFill>
                  </a:tcPr>
                </a:tc>
                <a:tc>
                  <a:txBody>
                    <a:bodyPr/>
                    <a:lstStyle/>
                    <a:p>
                      <a:pPr algn="ctr"/>
                      <a:r>
                        <a:rPr lang="es-CL" sz="1500" b="1" dirty="0">
                          <a:solidFill>
                            <a:schemeClr val="tx1"/>
                          </a:solidFill>
                        </a:rPr>
                        <a:t>Startup</a:t>
                      </a:r>
                    </a:p>
                  </a:txBody>
                  <a:tcPr>
                    <a:solidFill>
                      <a:srgbClr val="ABE9FF"/>
                    </a:solidFill>
                  </a:tcPr>
                </a:tc>
                <a:tc>
                  <a:txBody>
                    <a:bodyPr/>
                    <a:lstStyle/>
                    <a:p>
                      <a:pPr algn="ctr"/>
                      <a:r>
                        <a:rPr lang="es-CL" sz="1500" b="1" dirty="0">
                          <a:solidFill>
                            <a:schemeClr val="tx1"/>
                          </a:solidFill>
                        </a:rPr>
                        <a:t>Empresa Tradicional</a:t>
                      </a:r>
                    </a:p>
                  </a:txBody>
                  <a:tcPr>
                    <a:solidFill>
                      <a:srgbClr val="ABE9FF"/>
                    </a:solidFill>
                  </a:tcPr>
                </a:tc>
                <a:extLst>
                  <a:ext uri="{0D108BD9-81ED-4DB2-BD59-A6C34878D82A}">
                    <a16:rowId xmlns:a16="http://schemas.microsoft.com/office/drawing/2014/main" val="1290051274"/>
                  </a:ext>
                </a:extLst>
              </a:tr>
              <a:tr h="342237">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Objetivo principal</a:t>
                      </a:r>
                    </a:p>
                  </a:txBody>
                  <a:tcPr>
                    <a:solidFill>
                      <a:schemeClr val="bg1">
                        <a:lumMod val="95000"/>
                      </a:schemeClr>
                    </a:solidFill>
                  </a:tcPr>
                </a:tc>
                <a:tc>
                  <a:txBody>
                    <a:bodyPr/>
                    <a:lstStyle/>
                    <a:p>
                      <a:pPr algn="l"/>
                      <a:r>
                        <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Innovación y rápido crecimiento.</a:t>
                      </a:r>
                    </a:p>
                  </a:txBody>
                  <a:tcPr>
                    <a:solidFill>
                      <a:schemeClr val="bg1">
                        <a:lumMod val="95000"/>
                      </a:schemeClr>
                    </a:solidFill>
                  </a:tcPr>
                </a:tc>
                <a:tc>
                  <a:txBody>
                    <a:bodyPr/>
                    <a:lstStyle/>
                    <a:p>
                      <a:pPr algn="l"/>
                      <a:r>
                        <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Estabilidad y continuidad operativa.</a:t>
                      </a:r>
                    </a:p>
                  </a:txBody>
                  <a:tcPr>
                    <a:solidFill>
                      <a:schemeClr val="bg1">
                        <a:lumMod val="95000"/>
                      </a:schemeClr>
                    </a:solidFill>
                  </a:tcPr>
                </a:tc>
                <a:extLst>
                  <a:ext uri="{0D108BD9-81ED-4DB2-BD59-A6C34878D82A}">
                    <a16:rowId xmlns:a16="http://schemas.microsoft.com/office/drawing/2014/main" val="120522946"/>
                  </a:ext>
                </a:extLst>
              </a:tr>
              <a:tr h="342237">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Financiamiento</a:t>
                      </a:r>
                    </a:p>
                  </a:txBody>
                  <a:tcPr>
                    <a:solidFill>
                      <a:schemeClr val="bg1">
                        <a:lumMod val="95000"/>
                      </a:schemeClr>
                    </a:solidFill>
                  </a:tcPr>
                </a:tc>
                <a:tc>
                  <a:txBody>
                    <a:bodyPr/>
                    <a:lstStyle/>
                    <a:p>
                      <a:pPr algn="l"/>
                      <a:r>
                        <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Capital externo (Inversionistas ángeles, capital de riesgo, etc.)</a:t>
                      </a:r>
                    </a:p>
                  </a:txBody>
                  <a:tcPr>
                    <a:solidFill>
                      <a:schemeClr val="bg1">
                        <a:lumMod val="95000"/>
                      </a:schemeClr>
                    </a:solidFill>
                  </a:tcPr>
                </a:tc>
                <a:tc>
                  <a:txBody>
                    <a:bodyPr/>
                    <a:lstStyle/>
                    <a:p>
                      <a:pPr algn="l"/>
                      <a:r>
                        <a:rPr kumimoji="0" lang="es-MX" sz="1500" b="0" i="0" u="none" strike="noStrike" kern="1200" cap="none" spc="0" normalizeH="0" baseline="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Préstamos bancarios, emisión de acciones, ingresos operativos.</a:t>
                      </a:r>
                      <a:endParaRPr kumimoji="0" lang="es-CL" sz="1500" b="0" i="0" u="none" strike="noStrike" kern="1200" cap="none" spc="0" normalizeH="0" baseline="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2380859416"/>
                  </a:ext>
                </a:extLst>
              </a:tr>
              <a:tr h="342237">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Tolerancia al Riesgo</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Alta: Enfocadas en la experimentación y adaptabilidad.</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Baja a moderada: Enfocadas en mantener operaciones estables.</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3959247152"/>
                  </a:ext>
                </a:extLst>
              </a:tr>
              <a:tr h="342237">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Estructura Organizativa</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Más flexible y adaptable, estructura plana.</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Jerárquica, con roles y responsabilidades bien definidos.</a:t>
                      </a:r>
                    </a:p>
                  </a:txBody>
                  <a:tcPr>
                    <a:solidFill>
                      <a:schemeClr val="bg1">
                        <a:lumMod val="95000"/>
                      </a:schemeClr>
                    </a:solidFill>
                  </a:tcPr>
                </a:tc>
                <a:extLst>
                  <a:ext uri="{0D108BD9-81ED-4DB2-BD59-A6C34878D82A}">
                    <a16:rowId xmlns:a16="http://schemas.microsoft.com/office/drawing/2014/main" val="2780908401"/>
                  </a:ext>
                </a:extLst>
              </a:tr>
              <a:tr h="342237">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Tiempo en el Mercado</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Corto: buscan establecerse y ganar cuota rápidamente.</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Largo: ya han establecido su presencia y reputación.</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2294128278"/>
                  </a:ext>
                </a:extLst>
              </a:tr>
              <a:tr h="389933">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Madurez del Producto</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MVP (Producto Mínimo Viable) para testear el mercado rápidamente.</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Productos o servicios bien establecidos con historial de ventas.</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1744260794"/>
                  </a:ext>
                </a:extLst>
              </a:tr>
              <a:tr h="389933">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Relación con el Cliente</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Directa y continua, buscando </a:t>
                      </a:r>
                      <a:r>
                        <a:rPr kumimoji="0" lang="es-MX" sz="1500" b="0" i="0" u="none" strike="noStrike" kern="1200" cap="none" spc="0" normalizeH="0" baseline="0" dirty="0" err="1">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feedback</a:t>
                      </a:r>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constante para iterar el producto/servicio.</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Establecida y menos flexible, basada en la confianza a largo plazo.</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653612214"/>
                  </a:ext>
                </a:extLst>
              </a:tr>
            </a:tbl>
          </a:graphicData>
        </a:graphic>
      </p:graphicFrame>
      <p:sp>
        <p:nvSpPr>
          <p:cNvPr id="4" name="CuadroTexto 3">
            <a:extLst>
              <a:ext uri="{FF2B5EF4-FFF2-40B4-BE49-F238E27FC236}">
                <a16:creationId xmlns:a16="http://schemas.microsoft.com/office/drawing/2014/main" id="{D8AAB380-BE15-4FEA-9861-F184D56BEB1D}"/>
              </a:ext>
            </a:extLst>
          </p:cNvPr>
          <p:cNvSpPr txBox="1"/>
          <p:nvPr/>
        </p:nvSpPr>
        <p:spPr>
          <a:xfrm>
            <a:off x="663218" y="1420422"/>
            <a:ext cx="10865564" cy="338554"/>
          </a:xfrm>
          <a:prstGeom prst="rect">
            <a:avLst/>
          </a:prstGeom>
          <a:noFill/>
        </p:spPr>
        <p:txBody>
          <a:bodyPr wrap="square">
            <a:spAutoFit/>
          </a:bodyPr>
          <a:lstStyle/>
          <a:p>
            <a:pPr algn="just"/>
            <a:r>
              <a:rPr lang="es-CL" sz="1600" dirty="0">
                <a:latin typeface="Montserrat" panose="00000500000000000000" pitchFamily="2" charset="0"/>
              </a:rPr>
              <a:t>Un startup y una empresa están lejos de ser lo mismo.</a:t>
            </a:r>
          </a:p>
        </p:txBody>
      </p:sp>
      <p:sp>
        <p:nvSpPr>
          <p:cNvPr id="5" name="CuadroTexto 4">
            <a:extLst>
              <a:ext uri="{FF2B5EF4-FFF2-40B4-BE49-F238E27FC236}">
                <a16:creationId xmlns:a16="http://schemas.microsoft.com/office/drawing/2014/main" id="{7110FC71-3988-4961-A2D0-A69ECD361D62}"/>
              </a:ext>
            </a:extLst>
          </p:cNvPr>
          <p:cNvSpPr txBox="1"/>
          <p:nvPr/>
        </p:nvSpPr>
        <p:spPr>
          <a:xfrm>
            <a:off x="663218" y="6136070"/>
            <a:ext cx="10865564" cy="246221"/>
          </a:xfrm>
          <a:prstGeom prst="rect">
            <a:avLst/>
          </a:prstGeom>
          <a:noFill/>
        </p:spPr>
        <p:txBody>
          <a:bodyPr wrap="square">
            <a:spAutoFit/>
          </a:bodyPr>
          <a:lstStyle/>
          <a:p>
            <a:r>
              <a:rPr lang="es-CL" sz="1000" dirty="0">
                <a:latin typeface="Montserrat" panose="00000500000000000000" pitchFamily="2" charset="0"/>
              </a:rPr>
              <a:t>Fuente: Escuela de Negocios de la Innovación y los Emprendedores (2023)</a:t>
            </a:r>
          </a:p>
        </p:txBody>
      </p:sp>
    </p:spTree>
    <p:extLst>
      <p:ext uri="{BB962C8B-B14F-4D97-AF65-F5344CB8AC3E}">
        <p14:creationId xmlns:p14="http://schemas.microsoft.com/office/powerpoint/2010/main" val="2837572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8">
            <a:extLst>
              <a:ext uri="{FF2B5EF4-FFF2-40B4-BE49-F238E27FC236}">
                <a16:creationId xmlns:a16="http://schemas.microsoft.com/office/drawing/2014/main" id="{109499DE-E715-4F34-8B44-96BBEDF248A8}"/>
              </a:ext>
            </a:extLst>
          </p:cNvPr>
          <p:cNvGraphicFramePr>
            <a:graphicFrameLocks noGrp="1"/>
          </p:cNvGraphicFramePr>
          <p:nvPr/>
        </p:nvGraphicFramePr>
        <p:xfrm>
          <a:off x="654408" y="1556996"/>
          <a:ext cx="10874374" cy="3862677"/>
        </p:xfrm>
        <a:graphic>
          <a:graphicData uri="http://schemas.openxmlformats.org/drawingml/2006/table">
            <a:tbl>
              <a:tblPr firstRow="1" bandRow="1">
                <a:tableStyleId>{21E4AEA4-8DFA-4A89-87EB-49C32662AFE0}</a:tableStyleId>
              </a:tblPr>
              <a:tblGrid>
                <a:gridCol w="2379355">
                  <a:extLst>
                    <a:ext uri="{9D8B030D-6E8A-4147-A177-3AD203B41FA5}">
                      <a16:colId xmlns:a16="http://schemas.microsoft.com/office/drawing/2014/main" val="2265679028"/>
                    </a:ext>
                  </a:extLst>
                </a:gridCol>
                <a:gridCol w="4257368">
                  <a:extLst>
                    <a:ext uri="{9D8B030D-6E8A-4147-A177-3AD203B41FA5}">
                      <a16:colId xmlns:a16="http://schemas.microsoft.com/office/drawing/2014/main" val="2067997314"/>
                    </a:ext>
                  </a:extLst>
                </a:gridCol>
                <a:gridCol w="4237651">
                  <a:extLst>
                    <a:ext uri="{9D8B030D-6E8A-4147-A177-3AD203B41FA5}">
                      <a16:colId xmlns:a16="http://schemas.microsoft.com/office/drawing/2014/main" val="2154511474"/>
                    </a:ext>
                  </a:extLst>
                </a:gridCol>
              </a:tblGrid>
              <a:tr h="342237">
                <a:tc>
                  <a:txBody>
                    <a:bodyPr/>
                    <a:lstStyle/>
                    <a:p>
                      <a:pPr algn="ctr"/>
                      <a:r>
                        <a:rPr lang="es-CL" sz="1500" b="1" dirty="0">
                          <a:solidFill>
                            <a:schemeClr val="tx1"/>
                          </a:solidFill>
                          <a:latin typeface="Montserrat" panose="00000500000000000000" pitchFamily="2" charset="0"/>
                        </a:rPr>
                        <a:t>Categoría</a:t>
                      </a:r>
                    </a:p>
                  </a:txBody>
                  <a:tcPr>
                    <a:solidFill>
                      <a:srgbClr val="ABE9FF"/>
                    </a:solidFill>
                  </a:tcPr>
                </a:tc>
                <a:tc>
                  <a:txBody>
                    <a:bodyPr/>
                    <a:lstStyle/>
                    <a:p>
                      <a:pPr algn="ctr"/>
                      <a:r>
                        <a:rPr lang="es-CL" sz="1500" b="1" dirty="0">
                          <a:solidFill>
                            <a:schemeClr val="tx1"/>
                          </a:solidFill>
                          <a:latin typeface="Montserrat" panose="00000500000000000000" pitchFamily="2" charset="0"/>
                        </a:rPr>
                        <a:t>Startup</a:t>
                      </a:r>
                    </a:p>
                  </a:txBody>
                  <a:tcPr>
                    <a:solidFill>
                      <a:srgbClr val="ABE9FF"/>
                    </a:solidFill>
                  </a:tcPr>
                </a:tc>
                <a:tc>
                  <a:txBody>
                    <a:bodyPr/>
                    <a:lstStyle/>
                    <a:p>
                      <a:pPr algn="ctr"/>
                      <a:r>
                        <a:rPr lang="es-CL" sz="1500" b="1" dirty="0">
                          <a:solidFill>
                            <a:schemeClr val="tx1"/>
                          </a:solidFill>
                          <a:latin typeface="Montserrat" panose="00000500000000000000" pitchFamily="2" charset="0"/>
                        </a:rPr>
                        <a:t>Empresa Tradicional</a:t>
                      </a:r>
                    </a:p>
                  </a:txBody>
                  <a:tcPr>
                    <a:solidFill>
                      <a:srgbClr val="ABE9FF"/>
                    </a:solidFill>
                  </a:tcPr>
                </a:tc>
                <a:extLst>
                  <a:ext uri="{0D108BD9-81ED-4DB2-BD59-A6C34878D82A}">
                    <a16:rowId xmlns:a16="http://schemas.microsoft.com/office/drawing/2014/main" val="1290051274"/>
                  </a:ext>
                </a:extLst>
              </a:tr>
              <a:tr h="342237">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Crecimiento</a:t>
                      </a:r>
                    </a:p>
                  </a:txBody>
                  <a:tcPr>
                    <a:solidFill>
                      <a:schemeClr val="bg1">
                        <a:lumMod val="95000"/>
                      </a:schemeClr>
                    </a:solidFill>
                  </a:tcPr>
                </a:tc>
                <a:tc>
                  <a:txBody>
                    <a:bodyPr/>
                    <a:lstStyle/>
                    <a:p>
                      <a:pPr algn="l"/>
                      <a:r>
                        <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Exponencial: Buscan escalar rápidamente.</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Lineal: Crecimiento constante y predecible a lo largo del tiempo.</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1351648214"/>
                  </a:ext>
                </a:extLst>
              </a:tr>
              <a:tr h="389933">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Cultura Corporativa</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Dinámica, abierta a cambios, ambiente de startup.</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Más formal, establecida, con políticas y procedimientos bien definidos.</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1644363788"/>
                  </a:ext>
                </a:extLst>
              </a:tr>
              <a:tr h="342237">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Base de Clientes</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Variable y en crecimiento, dependiendo de la adopción del mercado.</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Estable y fidelizada, con relaciones comerciales de larga data.</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3622295785"/>
                  </a:ext>
                </a:extLst>
              </a:tr>
              <a:tr h="389933">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Respuesta al Cambio</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Rápida adaptación a cambios del mercado y </a:t>
                      </a:r>
                      <a:r>
                        <a:rPr kumimoji="0" lang="es-MX" sz="1500" b="0" i="0" u="none" strike="noStrike" kern="1200" cap="none" spc="0" normalizeH="0" baseline="0" dirty="0" err="1">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feedback</a:t>
                      </a:r>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Respuesta más lenta debido a procesos establecidos y tamaño de la organización.</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584613412"/>
                  </a:ext>
                </a:extLst>
              </a:tr>
              <a:tr h="389933">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Enfoque Geográfico</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A menudo global o con intenciones de expandirse rápidamente a otros mercados.</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Puede ser local, regional o global, dependiendo de su tamaño y alcance.</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1241548292"/>
                  </a:ext>
                </a:extLst>
              </a:tr>
              <a:tr h="389933">
                <a:tc>
                  <a:txBody>
                    <a:bodyPr/>
                    <a:lstStyle/>
                    <a:p>
                      <a:pPr algn="ctr"/>
                      <a:r>
                        <a:rPr kumimoji="0" lang="es-CL" sz="1500" b="1"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Uso de tecnología</a:t>
                      </a: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Enfoque en soluciones tecnológicas de vanguardia y digitales.</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tc>
                  <a:txBody>
                    <a:bodyPr/>
                    <a:lstStyle/>
                    <a:p>
                      <a:pPr algn="l"/>
                      <a:r>
                        <a:rPr kumimoji="0" lang="es-MX"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Uso de tecnología establecida, con adopción gradual de innovaciones.</a:t>
                      </a:r>
                      <a:endParaRPr kumimoji="0" lang="es-CL" sz="1500" b="0" i="0" u="none" strike="noStrike" kern="1200" cap="none" spc="0" normalizeH="0" baseline="0" dirty="0">
                        <a:ln>
                          <a:noFill/>
                        </a:ln>
                        <a:solidFill>
                          <a:schemeClr val="tx1"/>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solidFill>
                      <a:schemeClr val="bg1">
                        <a:lumMod val="95000"/>
                      </a:schemeClr>
                    </a:solidFill>
                  </a:tcPr>
                </a:tc>
                <a:extLst>
                  <a:ext uri="{0D108BD9-81ED-4DB2-BD59-A6C34878D82A}">
                    <a16:rowId xmlns:a16="http://schemas.microsoft.com/office/drawing/2014/main" val="685492772"/>
                  </a:ext>
                </a:extLst>
              </a:tr>
            </a:tbl>
          </a:graphicData>
        </a:graphic>
      </p:graphicFrame>
      <p:sp>
        <p:nvSpPr>
          <p:cNvPr id="2" name="TextBox 1">
            <a:extLst>
              <a:ext uri="{FF2B5EF4-FFF2-40B4-BE49-F238E27FC236}">
                <a16:creationId xmlns:a16="http://schemas.microsoft.com/office/drawing/2014/main" id="{F8A2E706-AFAB-3EAE-E614-0EB0C8415FA0}"/>
              </a:ext>
            </a:extLst>
          </p:cNvPr>
          <p:cNvSpPr txBox="1"/>
          <p:nvPr/>
        </p:nvSpPr>
        <p:spPr>
          <a:xfrm>
            <a:off x="663218" y="721930"/>
            <a:ext cx="9641367" cy="523220"/>
          </a:xfrm>
          <a:prstGeom prst="rect">
            <a:avLst/>
          </a:prstGeom>
          <a:noFill/>
        </p:spPr>
        <p:txBody>
          <a:bodyPr wrap="square" rtlCol="0">
            <a:spAutoFit/>
          </a:bodyPr>
          <a:lstStyle/>
          <a:p>
            <a:r>
              <a:rPr lang="es-ES" sz="2800" dirty="0">
                <a:latin typeface="Montserrat SemiBold" pitchFamily="2" charset="0"/>
              </a:rPr>
              <a:t>Diferencia entre un startup y una empresa</a:t>
            </a:r>
            <a:endParaRPr lang="es-CL" sz="2800" dirty="0">
              <a:latin typeface="Montserrat SemiBold" pitchFamily="2" charset="0"/>
            </a:endParaRPr>
          </a:p>
        </p:txBody>
      </p:sp>
      <p:sp>
        <p:nvSpPr>
          <p:cNvPr id="5" name="CuadroTexto 4">
            <a:extLst>
              <a:ext uri="{FF2B5EF4-FFF2-40B4-BE49-F238E27FC236}">
                <a16:creationId xmlns:a16="http://schemas.microsoft.com/office/drawing/2014/main" id="{374FE25B-A803-4E21-9EDE-98DBB6F706A9}"/>
              </a:ext>
            </a:extLst>
          </p:cNvPr>
          <p:cNvSpPr txBox="1"/>
          <p:nvPr/>
        </p:nvSpPr>
        <p:spPr>
          <a:xfrm>
            <a:off x="663218" y="6136070"/>
            <a:ext cx="10865564" cy="246221"/>
          </a:xfrm>
          <a:prstGeom prst="rect">
            <a:avLst/>
          </a:prstGeom>
          <a:noFill/>
        </p:spPr>
        <p:txBody>
          <a:bodyPr wrap="square">
            <a:spAutoFit/>
          </a:bodyPr>
          <a:lstStyle/>
          <a:p>
            <a:r>
              <a:rPr lang="es-CL" sz="1000" dirty="0">
                <a:latin typeface="Montserrat" panose="00000500000000000000" pitchFamily="2" charset="0"/>
              </a:rPr>
              <a:t>Fuente: Escuela de Negocios de la Innovación y los Emprendedores (2023)</a:t>
            </a:r>
          </a:p>
        </p:txBody>
      </p:sp>
    </p:spTree>
    <p:extLst>
      <p:ext uri="{BB962C8B-B14F-4D97-AF65-F5344CB8AC3E}">
        <p14:creationId xmlns:p14="http://schemas.microsoft.com/office/powerpoint/2010/main" val="2300857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5">
            <a:extLst>
              <a:ext uri="{FF2B5EF4-FFF2-40B4-BE49-F238E27FC236}">
                <a16:creationId xmlns:a16="http://schemas.microsoft.com/office/drawing/2014/main" id="{6C48C42A-2381-4895-8A26-A2C2021716BF}"/>
              </a:ext>
            </a:extLst>
          </p:cNvPr>
          <p:cNvGraphicFramePr>
            <a:graphicFrameLocks noGrp="1"/>
          </p:cNvGraphicFramePr>
          <p:nvPr/>
        </p:nvGraphicFramePr>
        <p:xfrm>
          <a:off x="663217" y="2555787"/>
          <a:ext cx="10520942" cy="3114040"/>
        </p:xfrm>
        <a:graphic>
          <a:graphicData uri="http://schemas.openxmlformats.org/drawingml/2006/table">
            <a:tbl>
              <a:tblPr firstRow="1" bandRow="1">
                <a:tableStyleId>{21E4AEA4-8DFA-4A89-87EB-49C32662AFE0}</a:tableStyleId>
              </a:tblPr>
              <a:tblGrid>
                <a:gridCol w="2348240">
                  <a:extLst>
                    <a:ext uri="{9D8B030D-6E8A-4147-A177-3AD203B41FA5}">
                      <a16:colId xmlns:a16="http://schemas.microsoft.com/office/drawing/2014/main" val="3645832809"/>
                    </a:ext>
                  </a:extLst>
                </a:gridCol>
                <a:gridCol w="2772656">
                  <a:extLst>
                    <a:ext uri="{9D8B030D-6E8A-4147-A177-3AD203B41FA5}">
                      <a16:colId xmlns:a16="http://schemas.microsoft.com/office/drawing/2014/main" val="3814680684"/>
                    </a:ext>
                  </a:extLst>
                </a:gridCol>
                <a:gridCol w="5400046">
                  <a:extLst>
                    <a:ext uri="{9D8B030D-6E8A-4147-A177-3AD203B41FA5}">
                      <a16:colId xmlns:a16="http://schemas.microsoft.com/office/drawing/2014/main" val="1236902397"/>
                    </a:ext>
                  </a:extLst>
                </a:gridCol>
              </a:tblGrid>
              <a:tr h="370840">
                <a:tc>
                  <a:txBody>
                    <a:bodyPr/>
                    <a:lstStyle/>
                    <a:p>
                      <a:pPr algn="l"/>
                      <a:r>
                        <a:rPr lang="es-CL" sz="1500" dirty="0">
                          <a:solidFill>
                            <a:schemeClr val="tx1"/>
                          </a:solidFill>
                          <a:latin typeface="Montserrat" panose="00000500000000000000" pitchFamily="2" charset="0"/>
                        </a:rPr>
                        <a:t>Denominación</a:t>
                      </a:r>
                    </a:p>
                  </a:txBody>
                  <a:tcPr>
                    <a:solidFill>
                      <a:srgbClr val="ABE9FF"/>
                    </a:solidFill>
                  </a:tcPr>
                </a:tc>
                <a:tc>
                  <a:txBody>
                    <a:bodyPr/>
                    <a:lstStyle/>
                    <a:p>
                      <a:pPr algn="l"/>
                      <a:r>
                        <a:rPr lang="es-CL" sz="1500" dirty="0">
                          <a:solidFill>
                            <a:schemeClr val="tx1"/>
                          </a:solidFill>
                          <a:latin typeface="Montserrat" panose="00000500000000000000" pitchFamily="2" charset="0"/>
                        </a:rPr>
                        <a:t>Valor</a:t>
                      </a:r>
                    </a:p>
                  </a:txBody>
                  <a:tcPr>
                    <a:solidFill>
                      <a:srgbClr val="ABE9FF"/>
                    </a:solidFill>
                  </a:tcPr>
                </a:tc>
                <a:tc>
                  <a:txBody>
                    <a:bodyPr/>
                    <a:lstStyle/>
                    <a:p>
                      <a:pPr algn="l"/>
                      <a:r>
                        <a:rPr lang="es-CL" sz="1500" dirty="0">
                          <a:solidFill>
                            <a:schemeClr val="tx1"/>
                          </a:solidFill>
                          <a:latin typeface="Montserrat" panose="00000500000000000000" pitchFamily="2" charset="0"/>
                        </a:rPr>
                        <a:t>Características</a:t>
                      </a:r>
                    </a:p>
                  </a:txBody>
                  <a:tcPr>
                    <a:solidFill>
                      <a:srgbClr val="ABE9FF"/>
                    </a:solidFill>
                  </a:tcPr>
                </a:tc>
                <a:extLst>
                  <a:ext uri="{0D108BD9-81ED-4DB2-BD59-A6C34878D82A}">
                    <a16:rowId xmlns:a16="http://schemas.microsoft.com/office/drawing/2014/main" val="789265728"/>
                  </a:ext>
                </a:extLst>
              </a:tr>
              <a:tr h="393346">
                <a:tc>
                  <a:txBody>
                    <a:bodyPr/>
                    <a:lstStyle/>
                    <a:p>
                      <a:pPr algn="l"/>
                      <a:r>
                        <a:rPr lang="es-CL" sz="1500" dirty="0" err="1">
                          <a:latin typeface="Montserrat" panose="00000500000000000000" pitchFamily="2" charset="0"/>
                        </a:rPr>
                        <a:t>Ponies</a:t>
                      </a:r>
                      <a:endParaRPr lang="es-CL" sz="1500" dirty="0">
                        <a:latin typeface="Montserrat" panose="00000500000000000000" pitchFamily="2" charset="0"/>
                      </a:endParaRPr>
                    </a:p>
                  </a:txBody>
                  <a:tcPr>
                    <a:solidFill>
                      <a:srgbClr val="F2F2F2"/>
                    </a:solidFill>
                  </a:tcPr>
                </a:tc>
                <a:tc>
                  <a:txBody>
                    <a:bodyPr/>
                    <a:lstStyle/>
                    <a:p>
                      <a:pPr algn="l"/>
                      <a:r>
                        <a:rPr lang="es-CL" sz="1500" dirty="0">
                          <a:latin typeface="Montserrat" panose="00000500000000000000" pitchFamily="2" charset="0"/>
                        </a:rPr>
                        <a:t>$10 millones USD o más</a:t>
                      </a:r>
                    </a:p>
                  </a:txBody>
                  <a:tcPr>
                    <a:solidFill>
                      <a:srgbClr val="F2F2F2"/>
                    </a:solidFill>
                  </a:tcPr>
                </a:tc>
                <a:tc>
                  <a:txBody>
                    <a:bodyPr/>
                    <a:lstStyle/>
                    <a:p>
                      <a:pPr algn="l"/>
                      <a:r>
                        <a:rPr lang="es-MX" sz="1500" dirty="0">
                          <a:latin typeface="Montserrat" panose="00000500000000000000" pitchFamily="2" charset="0"/>
                        </a:rPr>
                        <a:t>Empresas que han mostrado un impacto notable en su nicho de mercado.</a:t>
                      </a:r>
                      <a:endParaRPr lang="es-CL" sz="1500" dirty="0">
                        <a:latin typeface="Montserrat" panose="00000500000000000000" pitchFamily="2" charset="0"/>
                      </a:endParaRPr>
                    </a:p>
                  </a:txBody>
                  <a:tcPr>
                    <a:solidFill>
                      <a:srgbClr val="F2F2F2"/>
                    </a:solidFill>
                  </a:tcPr>
                </a:tc>
                <a:extLst>
                  <a:ext uri="{0D108BD9-81ED-4DB2-BD59-A6C34878D82A}">
                    <a16:rowId xmlns:a16="http://schemas.microsoft.com/office/drawing/2014/main" val="661081620"/>
                  </a:ext>
                </a:extLst>
              </a:tr>
              <a:tr h="370840">
                <a:tc>
                  <a:txBody>
                    <a:bodyPr/>
                    <a:lstStyle/>
                    <a:p>
                      <a:pPr algn="l"/>
                      <a:r>
                        <a:rPr lang="es-CL" sz="1500" dirty="0">
                          <a:latin typeface="Montserrat" panose="00000500000000000000" pitchFamily="2" charset="0"/>
                        </a:rPr>
                        <a:t>Centauro</a:t>
                      </a:r>
                    </a:p>
                  </a:txBody>
                  <a:tcP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500" dirty="0">
                          <a:latin typeface="Montserrat" panose="00000500000000000000" pitchFamily="2" charset="0"/>
                        </a:rPr>
                        <a:t>$100 millones USD o más</a:t>
                      </a:r>
                    </a:p>
                    <a:p>
                      <a:pPr algn="l"/>
                      <a:endParaRPr lang="es-CL" sz="1500" dirty="0">
                        <a:latin typeface="Montserrat" panose="00000500000000000000" pitchFamily="2" charset="0"/>
                      </a:endParaRPr>
                    </a:p>
                  </a:txBody>
                  <a:tcPr>
                    <a:solidFill>
                      <a:srgbClr val="F2F2F2"/>
                    </a:solidFill>
                  </a:tcPr>
                </a:tc>
                <a:tc>
                  <a:txBody>
                    <a:bodyPr/>
                    <a:lstStyle/>
                    <a:p>
                      <a:pPr algn="l"/>
                      <a:r>
                        <a:rPr lang="es-MX" sz="1500" dirty="0">
                          <a:latin typeface="Montserrat" panose="00000500000000000000" pitchFamily="2" charset="0"/>
                        </a:rPr>
                        <a:t>Startups que, además de su alto valor, muestran potencial para llegar a ser unicornios.</a:t>
                      </a:r>
                      <a:endParaRPr lang="es-CL" sz="1500" dirty="0">
                        <a:latin typeface="Montserrat" panose="00000500000000000000" pitchFamily="2" charset="0"/>
                      </a:endParaRPr>
                    </a:p>
                  </a:txBody>
                  <a:tcPr>
                    <a:solidFill>
                      <a:srgbClr val="F2F2F2"/>
                    </a:solidFill>
                  </a:tcPr>
                </a:tc>
                <a:extLst>
                  <a:ext uri="{0D108BD9-81ED-4DB2-BD59-A6C34878D82A}">
                    <a16:rowId xmlns:a16="http://schemas.microsoft.com/office/drawing/2014/main" val="1662438151"/>
                  </a:ext>
                </a:extLst>
              </a:tr>
              <a:tr h="370840">
                <a:tc>
                  <a:txBody>
                    <a:bodyPr/>
                    <a:lstStyle/>
                    <a:p>
                      <a:pPr algn="l"/>
                      <a:r>
                        <a:rPr lang="es-CL" sz="1500" dirty="0">
                          <a:latin typeface="Montserrat" panose="00000500000000000000" pitchFamily="2" charset="0"/>
                        </a:rPr>
                        <a:t>Unicornio </a:t>
                      </a:r>
                    </a:p>
                  </a:txBody>
                  <a:tcP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500" dirty="0">
                          <a:latin typeface="Montserrat" panose="00000500000000000000" pitchFamily="2" charset="0"/>
                        </a:rPr>
                        <a:t>$1.000 millones USD o más (1 billón)</a:t>
                      </a:r>
                    </a:p>
                  </a:txBody>
                  <a:tcPr>
                    <a:solidFill>
                      <a:srgbClr val="F2F2F2"/>
                    </a:solidFill>
                  </a:tcPr>
                </a:tc>
                <a:tc>
                  <a:txBody>
                    <a:bodyPr/>
                    <a:lstStyle/>
                    <a:p>
                      <a:pPr algn="l"/>
                      <a:r>
                        <a:rPr lang="es-MX" sz="1500" dirty="0">
                          <a:latin typeface="Montserrat" panose="00000500000000000000" pitchFamily="2" charset="0"/>
                        </a:rPr>
                        <a:t>Startups valorados en más de mil millones, un hito importante en el mundo del emprendimiento.</a:t>
                      </a:r>
                      <a:endParaRPr lang="es-CL" sz="1500" dirty="0">
                        <a:latin typeface="Montserrat" panose="00000500000000000000" pitchFamily="2" charset="0"/>
                      </a:endParaRPr>
                    </a:p>
                  </a:txBody>
                  <a:tcPr>
                    <a:solidFill>
                      <a:srgbClr val="F2F2F2"/>
                    </a:solidFill>
                  </a:tcPr>
                </a:tc>
                <a:extLst>
                  <a:ext uri="{0D108BD9-81ED-4DB2-BD59-A6C34878D82A}">
                    <a16:rowId xmlns:a16="http://schemas.microsoft.com/office/drawing/2014/main" val="2249762716"/>
                  </a:ext>
                </a:extLst>
              </a:tr>
              <a:tr h="370840">
                <a:tc>
                  <a:txBody>
                    <a:bodyPr/>
                    <a:lstStyle/>
                    <a:p>
                      <a:pPr algn="l"/>
                      <a:r>
                        <a:rPr lang="es-CL" sz="1500">
                          <a:latin typeface="Montserrat" panose="00000500000000000000" pitchFamily="2" charset="0"/>
                        </a:rPr>
                        <a:t>Decacornio</a:t>
                      </a:r>
                    </a:p>
                  </a:txBody>
                  <a:tcP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500" dirty="0">
                          <a:latin typeface="Montserrat" panose="00000500000000000000" pitchFamily="2" charset="0"/>
                        </a:rPr>
                        <a:t>$10.000 millones USD o más (10 billones)</a:t>
                      </a:r>
                    </a:p>
                  </a:txBody>
                  <a:tcPr>
                    <a:solidFill>
                      <a:srgbClr val="F2F2F2"/>
                    </a:solidFill>
                  </a:tcPr>
                </a:tc>
                <a:tc>
                  <a:txBody>
                    <a:bodyPr/>
                    <a:lstStyle/>
                    <a:p>
                      <a:pPr algn="l"/>
                      <a:r>
                        <a:rPr lang="es-MX" sz="1500" dirty="0">
                          <a:latin typeface="Montserrat" panose="00000500000000000000" pitchFamily="2" charset="0"/>
                        </a:rPr>
                        <a:t>Empresas tecnológicas que han superado con creces la barrera del unicornio.</a:t>
                      </a:r>
                      <a:endParaRPr lang="es-CL" sz="1500" dirty="0">
                        <a:latin typeface="Montserrat" panose="00000500000000000000" pitchFamily="2" charset="0"/>
                      </a:endParaRPr>
                    </a:p>
                  </a:txBody>
                  <a:tcPr>
                    <a:solidFill>
                      <a:srgbClr val="F2F2F2"/>
                    </a:solidFill>
                  </a:tcPr>
                </a:tc>
                <a:extLst>
                  <a:ext uri="{0D108BD9-81ED-4DB2-BD59-A6C34878D82A}">
                    <a16:rowId xmlns:a16="http://schemas.microsoft.com/office/drawing/2014/main" val="1778441806"/>
                  </a:ext>
                </a:extLst>
              </a:tr>
              <a:tr h="225158">
                <a:tc>
                  <a:txBody>
                    <a:bodyPr/>
                    <a:lstStyle/>
                    <a:p>
                      <a:pPr algn="l"/>
                      <a:r>
                        <a:rPr lang="es-CL" sz="1500" dirty="0" err="1">
                          <a:latin typeface="Montserrat" panose="00000500000000000000" pitchFamily="2" charset="0"/>
                        </a:rPr>
                        <a:t>Hectocornio</a:t>
                      </a:r>
                      <a:endParaRPr lang="es-CL" sz="1500" dirty="0">
                        <a:latin typeface="Montserrat" panose="00000500000000000000" pitchFamily="2" charset="0"/>
                      </a:endParaRPr>
                    </a:p>
                  </a:txBody>
                  <a:tcPr>
                    <a:solidFill>
                      <a:srgbClr val="F2F2F2"/>
                    </a:solidFill>
                  </a:tcPr>
                </a:tc>
                <a:tc>
                  <a:txBody>
                    <a:bodyPr/>
                    <a:lstStyle/>
                    <a:p>
                      <a:pPr algn="l"/>
                      <a:r>
                        <a:rPr lang="es-MX" sz="1500" dirty="0">
                          <a:latin typeface="Montserrat" panose="00000500000000000000" pitchFamily="2" charset="0"/>
                        </a:rPr>
                        <a:t>$100.000 millones USD o más (100 billones)</a:t>
                      </a:r>
                    </a:p>
                  </a:txBody>
                  <a:tcPr>
                    <a:solidFill>
                      <a:srgbClr val="F2F2F2"/>
                    </a:solidFill>
                  </a:tcPr>
                </a:tc>
                <a:tc>
                  <a:txBody>
                    <a:bodyPr/>
                    <a:lstStyle/>
                    <a:p>
                      <a:pPr algn="l"/>
                      <a:r>
                        <a:rPr lang="es-MX" sz="1500" dirty="0">
                          <a:latin typeface="Montserrat" panose="00000500000000000000" pitchFamily="2" charset="0"/>
                        </a:rPr>
                        <a:t>El epitome de los startups, aquellas valoradas en más de 100 billones.</a:t>
                      </a:r>
                      <a:endParaRPr lang="es-CL" sz="1500" dirty="0">
                        <a:latin typeface="Montserrat" panose="00000500000000000000" pitchFamily="2" charset="0"/>
                      </a:endParaRPr>
                    </a:p>
                  </a:txBody>
                  <a:tcPr>
                    <a:solidFill>
                      <a:srgbClr val="F2F2F2"/>
                    </a:solidFill>
                  </a:tcPr>
                </a:tc>
                <a:extLst>
                  <a:ext uri="{0D108BD9-81ED-4DB2-BD59-A6C34878D82A}">
                    <a16:rowId xmlns:a16="http://schemas.microsoft.com/office/drawing/2014/main" val="1141681723"/>
                  </a:ext>
                </a:extLst>
              </a:tr>
            </a:tbl>
          </a:graphicData>
        </a:graphic>
      </p:graphicFrame>
      <p:sp>
        <p:nvSpPr>
          <p:cNvPr id="3" name="TextBox 1">
            <a:extLst>
              <a:ext uri="{FF2B5EF4-FFF2-40B4-BE49-F238E27FC236}">
                <a16:creationId xmlns:a16="http://schemas.microsoft.com/office/drawing/2014/main" id="{7905A654-5BA0-46DE-BF7F-E506CB2142C4}"/>
              </a:ext>
            </a:extLst>
          </p:cNvPr>
          <p:cNvSpPr txBox="1"/>
          <p:nvPr/>
        </p:nvSpPr>
        <p:spPr>
          <a:xfrm>
            <a:off x="663218" y="721930"/>
            <a:ext cx="10432518" cy="523220"/>
          </a:xfrm>
          <a:prstGeom prst="rect">
            <a:avLst/>
          </a:prstGeom>
          <a:noFill/>
        </p:spPr>
        <p:txBody>
          <a:bodyPr wrap="square" rtlCol="0">
            <a:spAutoFit/>
          </a:bodyPr>
          <a:lstStyle/>
          <a:p>
            <a:r>
              <a:rPr lang="es-ES" sz="2800" dirty="0">
                <a:latin typeface="Montserrat SemiBold" pitchFamily="2" charset="0"/>
              </a:rPr>
              <a:t>Empresas tecnológicas según su valorización</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F4A8E2D7-327A-4330-8689-50207380AF26}"/>
              </a:ext>
            </a:extLst>
          </p:cNvPr>
          <p:cNvSpPr txBox="1"/>
          <p:nvPr/>
        </p:nvSpPr>
        <p:spPr>
          <a:xfrm>
            <a:off x="663216" y="1484970"/>
            <a:ext cx="10520943" cy="830997"/>
          </a:xfrm>
          <a:prstGeom prst="rect">
            <a:avLst/>
          </a:prstGeom>
          <a:noFill/>
        </p:spPr>
        <p:txBody>
          <a:bodyPr wrap="square">
            <a:spAutoFit/>
          </a:bodyPr>
          <a:lstStyle/>
          <a:p>
            <a:pPr algn="just"/>
            <a:r>
              <a:rPr lang="es-CL" sz="1600" dirty="0">
                <a:latin typeface="Montserrat" panose="00000500000000000000" pitchFamily="2" charset="0"/>
              </a:rPr>
              <a:t>Los startups tecnológicos han revolucionado el ecosistema empresarial, y su rápido crecimiento y adopción masiva han dado lugar a una </a:t>
            </a:r>
            <a:r>
              <a:rPr lang="es-CL" sz="1600" b="1" dirty="0">
                <a:latin typeface="Montserrat" panose="00000500000000000000" pitchFamily="2" charset="0"/>
              </a:rPr>
              <a:t>terminología específica para clasificarlas según su valor en el mercado.</a:t>
            </a:r>
          </a:p>
        </p:txBody>
      </p:sp>
    </p:spTree>
    <p:extLst>
      <p:ext uri="{BB962C8B-B14F-4D97-AF65-F5344CB8AC3E}">
        <p14:creationId xmlns:p14="http://schemas.microsoft.com/office/powerpoint/2010/main" val="2186996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80B3CB-3D43-1D8D-9AF8-530F0E961D8F}"/>
              </a:ext>
            </a:extLst>
          </p:cNvPr>
          <p:cNvSpPr>
            <a:spLocks noGrp="1"/>
          </p:cNvSpPr>
          <p:nvPr>
            <p:ph type="title"/>
          </p:nvPr>
        </p:nvSpPr>
        <p:spPr/>
        <p:txBody>
          <a:bodyPr/>
          <a:lstStyle/>
          <a:p>
            <a:r>
              <a:rPr lang="es-CL" dirty="0"/>
              <a:t>La lógica de crecimiento Lean Startup</a:t>
            </a:r>
          </a:p>
        </p:txBody>
      </p:sp>
    </p:spTree>
    <p:extLst>
      <p:ext uri="{BB962C8B-B14F-4D97-AF65-F5344CB8AC3E}">
        <p14:creationId xmlns:p14="http://schemas.microsoft.com/office/powerpoint/2010/main" val="3274325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7" y="425498"/>
            <a:ext cx="1117036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000000"/>
                </a:solidFill>
                <a:effectLst/>
                <a:uLnTx/>
                <a:uFillTx/>
                <a:latin typeface="Montserrat SemiBold" pitchFamily="2" charset="0"/>
                <a:ea typeface="+mn-ea"/>
                <a:cs typeface="+mn-cs"/>
              </a:rPr>
              <a:t>Origen de Lean Startup</a:t>
            </a:r>
            <a:endParaRPr kumimoji="0" lang="es-CL" sz="24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10" name="CuadroTexto 9">
            <a:extLst>
              <a:ext uri="{FF2B5EF4-FFF2-40B4-BE49-F238E27FC236}">
                <a16:creationId xmlns:a16="http://schemas.microsoft.com/office/drawing/2014/main" id="{E01997B5-6D8C-42C6-AAD3-E95B5CCE79E5}"/>
              </a:ext>
            </a:extLst>
          </p:cNvPr>
          <p:cNvSpPr txBox="1"/>
          <p:nvPr/>
        </p:nvSpPr>
        <p:spPr>
          <a:xfrm>
            <a:off x="663218" y="1304895"/>
            <a:ext cx="4148268" cy="4801314"/>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Método basado en los sistemas Lean japoneses, prueba y error, experimentando en pequeño. No salir desde un plan de negocios en grande.</a:t>
            </a:r>
          </a:p>
          <a:p>
            <a:pPr marL="0" marR="0" lvl="0" indent="0" defTabSz="914400" rtl="0" eaLnBrk="1" fontAlgn="auto" latinLnBrk="0" hangingPunct="1">
              <a:lnSpc>
                <a:spcPct val="100000"/>
              </a:lnSpc>
              <a:spcBef>
                <a:spcPts val="0"/>
              </a:spcBef>
              <a:spcAft>
                <a:spcPts val="0"/>
              </a:spcAft>
              <a:buClrTx/>
              <a:buSzTx/>
              <a:buFontTx/>
              <a:buNone/>
              <a:tabLst/>
              <a:defRPr/>
            </a:pPr>
            <a:endParaRPr lang="es-CL" dirty="0">
              <a:solidFill>
                <a:srgbClr val="000000"/>
              </a:solidFill>
              <a:latin typeface="Avenir Next" panose="020B050302020202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Uno de los principios fundamentales de Lean </a:t>
            </a:r>
            <a:r>
              <a:rPr kumimoji="0" lang="es-CL" b="0" i="0" u="none" strike="noStrike" kern="1200" cap="none" spc="0" normalizeH="0" baseline="0" noProof="0" dirty="0" err="1">
                <a:ln>
                  <a:noFill/>
                </a:ln>
                <a:solidFill>
                  <a:srgbClr val="000000"/>
                </a:solidFill>
                <a:effectLst/>
                <a:uLnTx/>
                <a:uFillTx/>
                <a:latin typeface="Avenir Next" panose="020B0503020202020204" pitchFamily="34" charset="0"/>
              </a:rPr>
              <a:t>Manufacturing</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 es la </a:t>
            </a: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identificación y eliminación de actividades que no agregan valor al producto final</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 y también promover la mejora continua a través de la participación activa de los empleados en la resolución de problemas y la implementación de cambios. Se basa en el concepto de </a:t>
            </a:r>
            <a:r>
              <a:rPr kumimoji="0" lang="es-CL" b="1" i="0" u="none" strike="noStrike" kern="1200" cap="none" spc="0" normalizeH="0" baseline="0" noProof="0" dirty="0" err="1">
                <a:ln>
                  <a:noFill/>
                </a:ln>
                <a:solidFill>
                  <a:srgbClr val="000000"/>
                </a:solidFill>
                <a:effectLst/>
                <a:uLnTx/>
                <a:uFillTx/>
                <a:latin typeface="Avenir Next" panose="020B0503020202020204" pitchFamily="34" charset="0"/>
              </a:rPr>
              <a:t>kaizen</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 que significa mejora continua en japonés.</a:t>
            </a:r>
          </a:p>
        </p:txBody>
      </p:sp>
      <p:grpSp>
        <p:nvGrpSpPr>
          <p:cNvPr id="6" name="Grupo 5">
            <a:extLst>
              <a:ext uri="{FF2B5EF4-FFF2-40B4-BE49-F238E27FC236}">
                <a16:creationId xmlns:a16="http://schemas.microsoft.com/office/drawing/2014/main" id="{0BC77C9E-E9BC-7DEB-8EB4-3CB61BB8D25A}"/>
              </a:ext>
            </a:extLst>
          </p:cNvPr>
          <p:cNvGrpSpPr/>
          <p:nvPr/>
        </p:nvGrpSpPr>
        <p:grpSpPr>
          <a:xfrm>
            <a:off x="5106321" y="2146853"/>
            <a:ext cx="6727258" cy="2564292"/>
            <a:chOff x="4801522" y="3044151"/>
            <a:chExt cx="6727258" cy="2564292"/>
          </a:xfrm>
        </p:grpSpPr>
        <p:pic>
          <p:nvPicPr>
            <p:cNvPr id="1026" name="Picture 2" descr="Build. Measure. Learn., with Eric Ries">
              <a:extLst>
                <a:ext uri="{FF2B5EF4-FFF2-40B4-BE49-F238E27FC236}">
                  <a16:creationId xmlns:a16="http://schemas.microsoft.com/office/drawing/2014/main" id="{1803A6A4-ABCE-409B-A6E9-03F37041B81D}"/>
                </a:ext>
              </a:extLst>
            </p:cNvPr>
            <p:cNvPicPr>
              <a:picLocks noChangeAspect="1" noChangeArrowheads="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bwMode="auto">
            <a:xfrm>
              <a:off x="6678737" y="3045041"/>
              <a:ext cx="2908069" cy="256340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descr="Foto en blanco y negro de un hombre con traje y corbata&#10;&#10;Descripción generada automáticamente">
              <a:extLst>
                <a:ext uri="{FF2B5EF4-FFF2-40B4-BE49-F238E27FC236}">
                  <a16:creationId xmlns:a16="http://schemas.microsoft.com/office/drawing/2014/main" id="{20A85D3D-752D-406F-B8E7-A3108CD633F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201692" y="3045041"/>
              <a:ext cx="2327088" cy="2563402"/>
            </a:xfrm>
            <a:prstGeom prst="rect">
              <a:avLst/>
            </a:prstGeom>
          </p:spPr>
        </p:pic>
        <p:pic>
          <p:nvPicPr>
            <p:cNvPr id="3" name="Picture 2" descr="Steve Blank">
              <a:extLst>
                <a:ext uri="{FF2B5EF4-FFF2-40B4-BE49-F238E27FC236}">
                  <a16:creationId xmlns:a16="http://schemas.microsoft.com/office/drawing/2014/main" id="{C6D9C77A-0B09-6BEF-F014-974E006B34D3}"/>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4889" b="99556" l="6667" r="96444">
                          <a14:foregroundMark x1="6667" y1="91556" x2="6667" y2="91556"/>
                          <a14:foregroundMark x1="11111" y1="91556" x2="51556" y2="95111"/>
                          <a14:foregroundMark x1="51556" y1="95111" x2="70222" y2="88000"/>
                          <a14:foregroundMark x1="70222" y1="88000" x2="74222" y2="84889"/>
                          <a14:foregroundMark x1="68000" y1="77333" x2="84889" y2="91556"/>
                          <a14:foregroundMark x1="84889" y1="91556" x2="85333" y2="92444"/>
                          <a14:foregroundMark x1="85333" y1="80889" x2="86222" y2="90222"/>
                          <a14:foregroundMark x1="9333" y1="99556" x2="9333" y2="99556"/>
                          <a14:foregroundMark x1="87556" y1="80889" x2="87556" y2="80889"/>
                          <a14:foregroundMark x1="91556" y1="85778" x2="91556" y2="85778"/>
                          <a14:foregroundMark x1="91556" y1="87111" x2="91556" y2="87111"/>
                          <a14:foregroundMark x1="89778" y1="83556" x2="90222" y2="91556"/>
                          <a14:foregroundMark x1="37778" y1="9778" x2="37778" y2="9778"/>
                          <a14:foregroundMark x1="41333" y1="8444" x2="41333" y2="8444"/>
                          <a14:foregroundMark x1="36889" y1="8444" x2="36889" y2="8444"/>
                          <a14:foregroundMark x1="38222" y1="8444" x2="38222" y2="8444"/>
                          <a14:foregroundMark x1="39111" y1="6222" x2="39111" y2="6222"/>
                          <a14:foregroundMark x1="44000" y1="5333" x2="44000" y2="5333"/>
                          <a14:foregroundMark x1="96444" y1="81778" x2="96444" y2="81778"/>
                          <a14:backgroundMark x1="9333" y1="24889" x2="11111" y2="46667"/>
                          <a14:backgroundMark x1="11111" y1="46667" x2="18222" y2="57778"/>
                          <a14:backgroundMark x1="19111" y1="20444" x2="26222" y2="67556"/>
                        </a14:backgroundRemoval>
                      </a14:imgEffect>
                      <a14:imgEffect>
                        <a14:saturation sat="0"/>
                      </a14:imgEffect>
                    </a14:imgLayer>
                  </a14:imgProps>
                </a:ext>
                <a:ext uri="{28A0092B-C50C-407E-A947-70E740481C1C}">
                  <a14:useLocalDpi xmlns:a14="http://schemas.microsoft.com/office/drawing/2010/main"/>
                </a:ext>
              </a:extLst>
            </a:blip>
            <a:srcRect/>
            <a:stretch>
              <a:fillRect/>
            </a:stretch>
          </p:blipFill>
          <p:spPr bwMode="auto">
            <a:xfrm>
              <a:off x="4801522" y="3044151"/>
              <a:ext cx="2563402" cy="2563402"/>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CuadroTexto 3">
            <a:extLst>
              <a:ext uri="{FF2B5EF4-FFF2-40B4-BE49-F238E27FC236}">
                <a16:creationId xmlns:a16="http://schemas.microsoft.com/office/drawing/2014/main" id="{B47696FB-1C5A-D547-3CB0-B534BECA8965}"/>
              </a:ext>
            </a:extLst>
          </p:cNvPr>
          <p:cNvSpPr txBox="1"/>
          <p:nvPr/>
        </p:nvSpPr>
        <p:spPr>
          <a:xfrm>
            <a:off x="5660900" y="4833257"/>
            <a:ext cx="1454244" cy="369332"/>
          </a:xfrm>
          <a:prstGeom prst="rect">
            <a:avLst/>
          </a:prstGeom>
          <a:noFill/>
        </p:spPr>
        <p:txBody>
          <a:bodyPr wrap="none" rtlCol="0">
            <a:spAutoFit/>
          </a:bodyPr>
          <a:lstStyle/>
          <a:p>
            <a:r>
              <a:rPr lang="es-CL" dirty="0"/>
              <a:t>Steve </a:t>
            </a:r>
            <a:r>
              <a:rPr lang="es-CL" dirty="0" err="1"/>
              <a:t>Blank</a:t>
            </a:r>
            <a:endParaRPr lang="es-CL" dirty="0"/>
          </a:p>
        </p:txBody>
      </p:sp>
      <p:sp>
        <p:nvSpPr>
          <p:cNvPr id="7" name="CuadroTexto 6">
            <a:extLst>
              <a:ext uri="{FF2B5EF4-FFF2-40B4-BE49-F238E27FC236}">
                <a16:creationId xmlns:a16="http://schemas.microsoft.com/office/drawing/2014/main" id="{DE44FD5D-74AB-C1CC-E3CF-7686278547BA}"/>
              </a:ext>
            </a:extLst>
          </p:cNvPr>
          <p:cNvSpPr txBox="1"/>
          <p:nvPr/>
        </p:nvSpPr>
        <p:spPr>
          <a:xfrm>
            <a:off x="7891587" y="4833257"/>
            <a:ext cx="1091966" cy="369332"/>
          </a:xfrm>
          <a:prstGeom prst="rect">
            <a:avLst/>
          </a:prstGeom>
          <a:noFill/>
        </p:spPr>
        <p:txBody>
          <a:bodyPr wrap="none" rtlCol="0">
            <a:spAutoFit/>
          </a:bodyPr>
          <a:lstStyle/>
          <a:p>
            <a:r>
              <a:rPr lang="es-CL" dirty="0"/>
              <a:t>Eric Ries</a:t>
            </a:r>
          </a:p>
        </p:txBody>
      </p:sp>
      <p:sp>
        <p:nvSpPr>
          <p:cNvPr id="8" name="CuadroTexto 7">
            <a:extLst>
              <a:ext uri="{FF2B5EF4-FFF2-40B4-BE49-F238E27FC236}">
                <a16:creationId xmlns:a16="http://schemas.microsoft.com/office/drawing/2014/main" id="{73AA86A9-7126-3439-9DFC-BC9D97E46C92}"/>
              </a:ext>
            </a:extLst>
          </p:cNvPr>
          <p:cNvSpPr txBox="1"/>
          <p:nvPr/>
        </p:nvSpPr>
        <p:spPr>
          <a:xfrm>
            <a:off x="9942913" y="4833257"/>
            <a:ext cx="1504194" cy="369332"/>
          </a:xfrm>
          <a:prstGeom prst="rect">
            <a:avLst/>
          </a:prstGeom>
          <a:noFill/>
        </p:spPr>
        <p:txBody>
          <a:bodyPr wrap="none" rtlCol="0">
            <a:spAutoFit/>
          </a:bodyPr>
          <a:lstStyle/>
          <a:p>
            <a:r>
              <a:rPr kumimoji="0" lang="es-CL" sz="1800" b="0" i="0" u="none" strike="noStrike" kern="1200" cap="none" spc="0" normalizeH="0" baseline="0" noProof="0" dirty="0">
                <a:ln>
                  <a:noFill/>
                </a:ln>
                <a:solidFill>
                  <a:srgbClr val="000000"/>
                </a:solidFill>
                <a:effectLst/>
                <a:uLnTx/>
                <a:uFillTx/>
                <a:latin typeface="Avenir Next" panose="020B0503020202020204" pitchFamily="34" charset="0"/>
              </a:rPr>
              <a:t>Taiichi Ohno</a:t>
            </a:r>
            <a:endParaRPr lang="es-CL" dirty="0"/>
          </a:p>
        </p:txBody>
      </p:sp>
    </p:spTree>
    <p:extLst>
      <p:ext uri="{BB962C8B-B14F-4D97-AF65-F5344CB8AC3E}">
        <p14:creationId xmlns:p14="http://schemas.microsoft.com/office/powerpoint/2010/main" val="1481701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Book Summary — The Four Steps to the Epiphany | by Michael Batko | MBReads  | Medium">
            <a:extLst>
              <a:ext uri="{FF2B5EF4-FFF2-40B4-BE49-F238E27FC236}">
                <a16:creationId xmlns:a16="http://schemas.microsoft.com/office/drawing/2014/main" id="{37BEAC65-74CE-1723-6AF7-74376C75E17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509961" y="1284081"/>
            <a:ext cx="8325971" cy="50518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1">
            <a:extLst>
              <a:ext uri="{FF2B5EF4-FFF2-40B4-BE49-F238E27FC236}">
                <a16:creationId xmlns:a16="http://schemas.microsoft.com/office/drawing/2014/main" id="{07B3A06F-259F-84AC-B571-A5A24F560D06}"/>
              </a:ext>
            </a:extLst>
          </p:cNvPr>
          <p:cNvSpPr txBox="1"/>
          <p:nvPr/>
        </p:nvSpPr>
        <p:spPr>
          <a:xfrm>
            <a:off x="663217" y="425498"/>
            <a:ext cx="1117036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000000"/>
                </a:solidFill>
                <a:effectLst/>
                <a:uLnTx/>
                <a:uFillTx/>
                <a:latin typeface="Montserrat SemiBold" pitchFamily="2" charset="0"/>
                <a:ea typeface="+mn-ea"/>
                <a:cs typeface="+mn-cs"/>
              </a:rPr>
              <a:t>Origen de Lean Startup</a:t>
            </a:r>
            <a:endParaRPr kumimoji="0" lang="es-CL" sz="24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4" name="CuadroTexto 3">
            <a:extLst>
              <a:ext uri="{FF2B5EF4-FFF2-40B4-BE49-F238E27FC236}">
                <a16:creationId xmlns:a16="http://schemas.microsoft.com/office/drawing/2014/main" id="{9620AC4A-A7F8-DB20-4819-9CF60BECD570}"/>
              </a:ext>
            </a:extLst>
          </p:cNvPr>
          <p:cNvSpPr txBox="1"/>
          <p:nvPr/>
        </p:nvSpPr>
        <p:spPr>
          <a:xfrm>
            <a:off x="304800" y="2057399"/>
            <a:ext cx="1628214" cy="523220"/>
          </a:xfrm>
          <a:prstGeom prst="rect">
            <a:avLst/>
          </a:prstGeom>
          <a:noFill/>
        </p:spPr>
        <p:txBody>
          <a:bodyPr wrap="square" rtlCol="0">
            <a:spAutoFit/>
          </a:bodyPr>
          <a:lstStyle/>
          <a:p>
            <a:r>
              <a:rPr lang="es-CL" sz="1400" dirty="0"/>
              <a:t>Fijar la propuesta de valor</a:t>
            </a:r>
          </a:p>
        </p:txBody>
      </p:sp>
      <p:sp>
        <p:nvSpPr>
          <p:cNvPr id="5" name="CuadroTexto 4">
            <a:extLst>
              <a:ext uri="{FF2B5EF4-FFF2-40B4-BE49-F238E27FC236}">
                <a16:creationId xmlns:a16="http://schemas.microsoft.com/office/drawing/2014/main" id="{61C4007A-0270-D0BC-82C7-B74D09D0D870}"/>
              </a:ext>
            </a:extLst>
          </p:cNvPr>
          <p:cNvSpPr txBox="1"/>
          <p:nvPr/>
        </p:nvSpPr>
        <p:spPr>
          <a:xfrm>
            <a:off x="304800" y="3341211"/>
            <a:ext cx="1628214" cy="523220"/>
          </a:xfrm>
          <a:prstGeom prst="rect">
            <a:avLst/>
          </a:prstGeom>
          <a:noFill/>
        </p:spPr>
        <p:txBody>
          <a:bodyPr wrap="square" rtlCol="0">
            <a:spAutoFit/>
          </a:bodyPr>
          <a:lstStyle/>
          <a:p>
            <a:r>
              <a:rPr lang="es-CL" sz="1400" dirty="0"/>
              <a:t>Vender a los primeros clientes</a:t>
            </a:r>
          </a:p>
        </p:txBody>
      </p:sp>
      <p:sp>
        <p:nvSpPr>
          <p:cNvPr id="6" name="CuadroTexto 5">
            <a:extLst>
              <a:ext uri="{FF2B5EF4-FFF2-40B4-BE49-F238E27FC236}">
                <a16:creationId xmlns:a16="http://schemas.microsoft.com/office/drawing/2014/main" id="{FF7D7C29-440F-44FD-9CFF-D286A05AD850}"/>
              </a:ext>
            </a:extLst>
          </p:cNvPr>
          <p:cNvSpPr txBox="1"/>
          <p:nvPr/>
        </p:nvSpPr>
        <p:spPr>
          <a:xfrm>
            <a:off x="304800" y="4603251"/>
            <a:ext cx="1628214" cy="523220"/>
          </a:xfrm>
          <a:prstGeom prst="rect">
            <a:avLst/>
          </a:prstGeom>
          <a:noFill/>
        </p:spPr>
        <p:txBody>
          <a:bodyPr wrap="square" rtlCol="0">
            <a:spAutoFit/>
          </a:bodyPr>
          <a:lstStyle/>
          <a:p>
            <a:r>
              <a:rPr lang="es-CL" sz="1400" dirty="0"/>
              <a:t>Desarrollar la diferenciación</a:t>
            </a:r>
          </a:p>
        </p:txBody>
      </p:sp>
      <p:sp>
        <p:nvSpPr>
          <p:cNvPr id="7" name="CuadroTexto 6">
            <a:extLst>
              <a:ext uri="{FF2B5EF4-FFF2-40B4-BE49-F238E27FC236}">
                <a16:creationId xmlns:a16="http://schemas.microsoft.com/office/drawing/2014/main" id="{7E6D56A7-0CC7-0123-E361-8C345663256E}"/>
              </a:ext>
            </a:extLst>
          </p:cNvPr>
          <p:cNvSpPr txBox="1"/>
          <p:nvPr/>
        </p:nvSpPr>
        <p:spPr>
          <a:xfrm>
            <a:off x="304800" y="5995909"/>
            <a:ext cx="1628214" cy="307777"/>
          </a:xfrm>
          <a:prstGeom prst="rect">
            <a:avLst/>
          </a:prstGeom>
          <a:noFill/>
        </p:spPr>
        <p:txBody>
          <a:bodyPr wrap="square" rtlCol="0">
            <a:spAutoFit/>
          </a:bodyPr>
          <a:lstStyle/>
          <a:p>
            <a:r>
              <a:rPr lang="es-CL" sz="1400" dirty="0"/>
              <a:t>Verificar</a:t>
            </a:r>
          </a:p>
        </p:txBody>
      </p:sp>
      <p:sp>
        <p:nvSpPr>
          <p:cNvPr id="8" name="Elipse 7">
            <a:extLst>
              <a:ext uri="{FF2B5EF4-FFF2-40B4-BE49-F238E27FC236}">
                <a16:creationId xmlns:a16="http://schemas.microsoft.com/office/drawing/2014/main" id="{48257AFD-6AFE-3761-6456-76477CC98BA3}"/>
              </a:ext>
            </a:extLst>
          </p:cNvPr>
          <p:cNvSpPr/>
          <p:nvPr/>
        </p:nvSpPr>
        <p:spPr>
          <a:xfrm>
            <a:off x="663216" y="1331247"/>
            <a:ext cx="720000" cy="720000"/>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2400" dirty="0">
                <a:solidFill>
                  <a:schemeClr val="tx1"/>
                </a:solidFill>
                <a:latin typeface="Avenir Next" panose="020B0503020202020204" pitchFamily="34" charset="0"/>
              </a:rPr>
              <a:t>1</a:t>
            </a:r>
          </a:p>
        </p:txBody>
      </p:sp>
      <p:sp>
        <p:nvSpPr>
          <p:cNvPr id="9" name="Elipse 8">
            <a:extLst>
              <a:ext uri="{FF2B5EF4-FFF2-40B4-BE49-F238E27FC236}">
                <a16:creationId xmlns:a16="http://schemas.microsoft.com/office/drawing/2014/main" id="{FFEDED2A-574D-8526-9FD8-72EAB151C0D8}"/>
              </a:ext>
            </a:extLst>
          </p:cNvPr>
          <p:cNvSpPr/>
          <p:nvPr/>
        </p:nvSpPr>
        <p:spPr>
          <a:xfrm>
            <a:off x="665931" y="2621211"/>
            <a:ext cx="720000" cy="720000"/>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2400" dirty="0">
                <a:solidFill>
                  <a:schemeClr val="tx1"/>
                </a:solidFill>
                <a:latin typeface="Avenir Next" panose="020B0503020202020204" pitchFamily="34" charset="0"/>
              </a:rPr>
              <a:t>2</a:t>
            </a:r>
          </a:p>
        </p:txBody>
      </p:sp>
      <p:sp>
        <p:nvSpPr>
          <p:cNvPr id="10" name="Elipse 9">
            <a:extLst>
              <a:ext uri="{FF2B5EF4-FFF2-40B4-BE49-F238E27FC236}">
                <a16:creationId xmlns:a16="http://schemas.microsoft.com/office/drawing/2014/main" id="{F52DE2BF-D75D-B1F9-CD9F-FAB79CC27AA2}"/>
              </a:ext>
            </a:extLst>
          </p:cNvPr>
          <p:cNvSpPr/>
          <p:nvPr/>
        </p:nvSpPr>
        <p:spPr>
          <a:xfrm>
            <a:off x="663216" y="3888690"/>
            <a:ext cx="720000" cy="720000"/>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2400" dirty="0">
                <a:solidFill>
                  <a:schemeClr val="tx1"/>
                </a:solidFill>
                <a:latin typeface="Avenir Next" panose="020B0503020202020204" pitchFamily="34" charset="0"/>
              </a:rPr>
              <a:t>3</a:t>
            </a:r>
          </a:p>
        </p:txBody>
      </p:sp>
      <p:sp>
        <p:nvSpPr>
          <p:cNvPr id="11" name="Elipse 10">
            <a:extLst>
              <a:ext uri="{FF2B5EF4-FFF2-40B4-BE49-F238E27FC236}">
                <a16:creationId xmlns:a16="http://schemas.microsoft.com/office/drawing/2014/main" id="{D4C0C0CB-C464-DC31-35F3-E815FBB6DE3E}"/>
              </a:ext>
            </a:extLst>
          </p:cNvPr>
          <p:cNvSpPr/>
          <p:nvPr/>
        </p:nvSpPr>
        <p:spPr>
          <a:xfrm>
            <a:off x="663216" y="5199709"/>
            <a:ext cx="720000" cy="720000"/>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2400" dirty="0">
                <a:solidFill>
                  <a:schemeClr val="tx1"/>
                </a:solidFill>
                <a:latin typeface="Avenir Next" panose="020B0503020202020204" pitchFamily="34" charset="0"/>
              </a:rPr>
              <a:t>4</a:t>
            </a:r>
          </a:p>
        </p:txBody>
      </p:sp>
    </p:spTree>
    <p:extLst>
      <p:ext uri="{BB962C8B-B14F-4D97-AF65-F5344CB8AC3E}">
        <p14:creationId xmlns:p14="http://schemas.microsoft.com/office/powerpoint/2010/main" val="3206771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7" y="177823"/>
            <a:ext cx="641249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Lean Startup</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7" y="831675"/>
            <a:ext cx="6412497" cy="507831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i="0" u="none" strike="noStrike" kern="1200" cap="none" spc="0" normalizeH="0" baseline="0" noProof="0" dirty="0">
                <a:ln>
                  <a:noFill/>
                </a:ln>
                <a:solidFill>
                  <a:srgbClr val="000000"/>
                </a:solidFill>
                <a:effectLst/>
                <a:uLnTx/>
                <a:uFillTx/>
                <a:latin typeface="Avenir Next" panose="020B0503020202020204" pitchFamily="34" charset="0"/>
              </a:rPr>
              <a:t>El método Lean Startup va proponiendo trabajar desde la evidencia </a:t>
            </a: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“Los Startups, o empresas pequeñas, no son una división de empresas grandes, o no son empresas grandes pequeñas”</a:t>
            </a:r>
            <a:r>
              <a:rPr lang="es-CL" b="1" dirty="0">
                <a:solidFill>
                  <a:srgbClr val="000000"/>
                </a:solidFill>
                <a:latin typeface="Avenir Next" panose="020B0503020202020204" pitchFamily="34"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CL" dirty="0">
              <a:solidFill>
                <a:srgbClr val="000000"/>
              </a:solidFill>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CL" dirty="0">
                <a:solidFill>
                  <a:srgbClr val="000000"/>
                </a:solidFill>
                <a:latin typeface="Avenir Next" panose="020B0503020202020204" pitchFamily="34" charset="0"/>
              </a:rPr>
              <a:t>Señalando que “</a:t>
            </a: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Un startup es un modelo de negocios que debe ser validado</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 lo más relevante es generar aprendizajes y descubrimientos, centrándose en la ejecución.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b="0" i="0" u="none" strike="noStrike" kern="1200" cap="none" spc="0" normalizeH="0" baseline="0" noProof="0" dirty="0">
              <a:ln>
                <a:noFill/>
              </a:ln>
              <a:solidFill>
                <a:srgbClr val="000000"/>
              </a:solidFill>
              <a:effectLst/>
              <a:uLnTx/>
              <a:uFillTx/>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CL" dirty="0">
                <a:solidFill>
                  <a:srgbClr val="000000"/>
                </a:solidFill>
                <a:latin typeface="Avenir Next" panose="020B0503020202020204" pitchFamily="34" charset="0"/>
              </a:rPr>
              <a:t>El centro del método está en que: </a:t>
            </a: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Lean Startup consiste en comprobar que el modelo de negocios es: viable, repetible y escalable. </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Es una metodología para el desarrollo de servicios y productos, especialmente en entornos de alta incertidumbre, ya que el foco es </a:t>
            </a: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reducir el riesgo al momento de lanzar proyectos innovadores al mercado</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 Es el juego de ajustes del modelo de negocios y se hace con </a:t>
            </a:r>
            <a:r>
              <a:rPr kumimoji="0" lang="es-CL" b="0" i="1" u="none" strike="noStrike" kern="1200" cap="none" spc="0" normalizeH="0" baseline="0" noProof="0" dirty="0">
                <a:ln>
                  <a:noFill/>
                </a:ln>
                <a:solidFill>
                  <a:srgbClr val="000000"/>
                </a:solidFill>
                <a:effectLst/>
                <a:uLnTx/>
                <a:uFillTx/>
                <a:latin typeface="Avenir Next" panose="020B0503020202020204" pitchFamily="34" charset="0"/>
              </a:rPr>
              <a:t>prototipos</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a:t>
            </a:r>
          </a:p>
        </p:txBody>
      </p:sp>
      <p:sp>
        <p:nvSpPr>
          <p:cNvPr id="5" name="CuadroTexto 4">
            <a:extLst>
              <a:ext uri="{FF2B5EF4-FFF2-40B4-BE49-F238E27FC236}">
                <a16:creationId xmlns:a16="http://schemas.microsoft.com/office/drawing/2014/main" id="{5700DF2C-3904-4D6D-B1EC-61165E9E03D4}"/>
              </a:ext>
            </a:extLst>
          </p:cNvPr>
          <p:cNvSpPr txBox="1"/>
          <p:nvPr/>
        </p:nvSpPr>
        <p:spPr>
          <a:xfrm>
            <a:off x="663217" y="5974347"/>
            <a:ext cx="641249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1"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La literatura de innovación que divide la gestión en Explotación vs Exploración, y que da origen a toda la gestión moderna de la innovación.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1"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Prototipo: Versión reducida, pero funcional, de un nuevo o mejorado producto, servicio o proceso, cuyo desarrollo implica resolver uno o más desafíos. </a:t>
            </a:r>
          </a:p>
        </p:txBody>
      </p:sp>
      <p:pic>
        <p:nvPicPr>
          <p:cNvPr id="3" name="Imagen 2">
            <a:extLst>
              <a:ext uri="{FF2B5EF4-FFF2-40B4-BE49-F238E27FC236}">
                <a16:creationId xmlns:a16="http://schemas.microsoft.com/office/drawing/2014/main" id="{08A02E8C-13C5-D3EF-486A-8AE715F2FB5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672388" y="6373"/>
            <a:ext cx="4519612" cy="6851627"/>
          </a:xfrm>
          <a:prstGeom prst="rect">
            <a:avLst/>
          </a:prstGeom>
        </p:spPr>
      </p:pic>
    </p:spTree>
    <p:extLst>
      <p:ext uri="{BB962C8B-B14F-4D97-AF65-F5344CB8AC3E}">
        <p14:creationId xmlns:p14="http://schemas.microsoft.com/office/powerpoint/2010/main" val="3769961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Diagrama&#10;&#10;Descripción generada automáticamente">
            <a:extLst>
              <a:ext uri="{FF2B5EF4-FFF2-40B4-BE49-F238E27FC236}">
                <a16:creationId xmlns:a16="http://schemas.microsoft.com/office/drawing/2014/main" id="{2388B259-FEAD-4CDB-8816-4837B66358A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111430" y="1069540"/>
            <a:ext cx="485401" cy="5452700"/>
          </a:xfrm>
          <a:prstGeom prst="rect">
            <a:avLst/>
          </a:prstGeom>
        </p:spPr>
      </p:pic>
      <p:pic>
        <p:nvPicPr>
          <p:cNvPr id="3" name="Imagen 2" descr="Diagrama&#10;&#10;Descripción generada automáticamente">
            <a:extLst>
              <a:ext uri="{FF2B5EF4-FFF2-40B4-BE49-F238E27FC236}">
                <a16:creationId xmlns:a16="http://schemas.microsoft.com/office/drawing/2014/main" id="{E8DA800B-C51E-405D-AECC-8BC1AE90B2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596837" y="1069540"/>
            <a:ext cx="4859676" cy="4547239"/>
          </a:xfrm>
          <a:prstGeom prst="rect">
            <a:avLst/>
          </a:prstGeom>
        </p:spPr>
      </p:pic>
      <p:sp>
        <p:nvSpPr>
          <p:cNvPr id="2" name="Rectángulo 1">
            <a:extLst>
              <a:ext uri="{FF2B5EF4-FFF2-40B4-BE49-F238E27FC236}">
                <a16:creationId xmlns:a16="http://schemas.microsoft.com/office/drawing/2014/main" id="{7A04AEAC-CDB5-43B8-A160-3C781CBBEF3E}"/>
              </a:ext>
            </a:extLst>
          </p:cNvPr>
          <p:cNvSpPr/>
          <p:nvPr/>
        </p:nvSpPr>
        <p:spPr>
          <a:xfrm>
            <a:off x="6596831" y="4358860"/>
            <a:ext cx="1047964" cy="11404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 name="Rectángulo 4">
            <a:extLst>
              <a:ext uri="{FF2B5EF4-FFF2-40B4-BE49-F238E27FC236}">
                <a16:creationId xmlns:a16="http://schemas.microsoft.com/office/drawing/2014/main" id="{5D3995FE-CE1E-4AA7-9AD1-5A1F65FCDA74}"/>
              </a:ext>
            </a:extLst>
          </p:cNvPr>
          <p:cNvSpPr/>
          <p:nvPr/>
        </p:nvSpPr>
        <p:spPr>
          <a:xfrm>
            <a:off x="6596831" y="2976321"/>
            <a:ext cx="760288" cy="6447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7" name="Rectángulo 6">
            <a:extLst>
              <a:ext uri="{FF2B5EF4-FFF2-40B4-BE49-F238E27FC236}">
                <a16:creationId xmlns:a16="http://schemas.microsoft.com/office/drawing/2014/main" id="{E249D0DF-2B9A-4349-A323-3B0321AE55A0}"/>
              </a:ext>
            </a:extLst>
          </p:cNvPr>
          <p:cNvSpPr/>
          <p:nvPr/>
        </p:nvSpPr>
        <p:spPr>
          <a:xfrm>
            <a:off x="6452993" y="1157795"/>
            <a:ext cx="1993186" cy="4674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4" name="CuadroTexto 3">
            <a:extLst>
              <a:ext uri="{FF2B5EF4-FFF2-40B4-BE49-F238E27FC236}">
                <a16:creationId xmlns:a16="http://schemas.microsoft.com/office/drawing/2014/main" id="{B9DC58DF-A65D-4D12-9305-4B4C9A8005E5}"/>
              </a:ext>
            </a:extLst>
          </p:cNvPr>
          <p:cNvSpPr txBox="1"/>
          <p:nvPr/>
        </p:nvSpPr>
        <p:spPr>
          <a:xfrm>
            <a:off x="7357119" y="1814874"/>
            <a:ext cx="600182"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Montserrat"/>
                <a:ea typeface="+mn-ea"/>
                <a:cs typeface="+mn-cs"/>
              </a:rPr>
              <a:t>Idear</a:t>
            </a:r>
          </a:p>
        </p:txBody>
      </p:sp>
      <p:sp>
        <p:nvSpPr>
          <p:cNvPr id="8" name="CuadroTexto 7">
            <a:extLst>
              <a:ext uri="{FF2B5EF4-FFF2-40B4-BE49-F238E27FC236}">
                <a16:creationId xmlns:a16="http://schemas.microsoft.com/office/drawing/2014/main" id="{C2B9E20C-4C0E-472C-8CBF-33A8592DAFE4}"/>
              </a:ext>
            </a:extLst>
          </p:cNvPr>
          <p:cNvSpPr txBox="1"/>
          <p:nvPr/>
        </p:nvSpPr>
        <p:spPr>
          <a:xfrm>
            <a:off x="9026675" y="2477637"/>
            <a:ext cx="997987" cy="276999"/>
          </a:xfrm>
          <a:prstGeom prst="rect">
            <a:avLst/>
          </a:prstGeom>
          <a:solidFill>
            <a:srgbClr val="F8F8F8"/>
          </a:solidFill>
          <a:ln>
            <a:solidFill>
              <a:srgbClr val="F8F8F8"/>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Montserrat"/>
                <a:ea typeface="+mn-ea"/>
                <a:cs typeface="+mn-cs"/>
              </a:rPr>
              <a:t>Aprender</a:t>
            </a:r>
          </a:p>
        </p:txBody>
      </p:sp>
      <p:sp>
        <p:nvSpPr>
          <p:cNvPr id="9" name="CuadroTexto 8">
            <a:extLst>
              <a:ext uri="{FF2B5EF4-FFF2-40B4-BE49-F238E27FC236}">
                <a16:creationId xmlns:a16="http://schemas.microsoft.com/office/drawing/2014/main" id="{F4FA0081-7D72-4E02-9A26-45D8C502FFFF}"/>
              </a:ext>
            </a:extLst>
          </p:cNvPr>
          <p:cNvSpPr txBox="1"/>
          <p:nvPr/>
        </p:nvSpPr>
        <p:spPr>
          <a:xfrm>
            <a:off x="8342292" y="3885734"/>
            <a:ext cx="1777338" cy="276999"/>
          </a:xfrm>
          <a:prstGeom prst="rect">
            <a:avLst/>
          </a:prstGeom>
          <a:solidFill>
            <a:srgbClr val="F8F8F8"/>
          </a:solidFill>
          <a:ln>
            <a:solidFill>
              <a:srgbClr val="F8F8F8"/>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Montserrat"/>
                <a:ea typeface="+mn-ea"/>
                <a:cs typeface="+mn-cs"/>
              </a:rPr>
              <a:t>Pivotear/Perseverar?</a:t>
            </a:r>
          </a:p>
        </p:txBody>
      </p:sp>
      <p:sp>
        <p:nvSpPr>
          <p:cNvPr id="10" name="CuadroTexto 9">
            <a:extLst>
              <a:ext uri="{FF2B5EF4-FFF2-40B4-BE49-F238E27FC236}">
                <a16:creationId xmlns:a16="http://schemas.microsoft.com/office/drawing/2014/main" id="{C7DE4429-027B-4E04-88AC-0D126E6DC189}"/>
              </a:ext>
            </a:extLst>
          </p:cNvPr>
          <p:cNvSpPr txBox="1"/>
          <p:nvPr/>
        </p:nvSpPr>
        <p:spPr>
          <a:xfrm>
            <a:off x="8281467" y="3356314"/>
            <a:ext cx="1898988" cy="276999"/>
          </a:xfrm>
          <a:prstGeom prst="rect">
            <a:avLst/>
          </a:prstGeom>
          <a:solidFill>
            <a:srgbClr val="F8F8F8"/>
          </a:solidFill>
          <a:ln>
            <a:solidFill>
              <a:srgbClr val="F8F8F8"/>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Montserrat"/>
                <a:ea typeface="+mn-ea"/>
                <a:cs typeface="+mn-cs"/>
              </a:rPr>
              <a:t>Probar experimentos</a:t>
            </a:r>
          </a:p>
        </p:txBody>
      </p:sp>
      <p:sp>
        <p:nvSpPr>
          <p:cNvPr id="12" name="CuadroTexto 11">
            <a:extLst>
              <a:ext uri="{FF2B5EF4-FFF2-40B4-BE49-F238E27FC236}">
                <a16:creationId xmlns:a16="http://schemas.microsoft.com/office/drawing/2014/main" id="{A913ED1C-5089-4015-8C07-58C0A3781B47}"/>
              </a:ext>
            </a:extLst>
          </p:cNvPr>
          <p:cNvSpPr txBox="1"/>
          <p:nvPr/>
        </p:nvSpPr>
        <p:spPr>
          <a:xfrm rot="2713786">
            <a:off x="8143188" y="4548285"/>
            <a:ext cx="997987" cy="276999"/>
          </a:xfrm>
          <a:prstGeom prst="rect">
            <a:avLst/>
          </a:prstGeom>
          <a:solidFill>
            <a:srgbClr val="F8F8F8"/>
          </a:solidFill>
          <a:ln>
            <a:solidFill>
              <a:srgbClr val="F8F8F8"/>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Montserrat"/>
                <a:ea typeface="+mn-ea"/>
                <a:cs typeface="+mn-cs"/>
              </a:rPr>
              <a:t>Medir</a:t>
            </a:r>
          </a:p>
        </p:txBody>
      </p:sp>
      <p:sp>
        <p:nvSpPr>
          <p:cNvPr id="13" name="Rectángulo 12">
            <a:extLst>
              <a:ext uri="{FF2B5EF4-FFF2-40B4-BE49-F238E27FC236}">
                <a16:creationId xmlns:a16="http://schemas.microsoft.com/office/drawing/2014/main" id="{E4FB4056-5540-4B43-A29C-13441563414F}"/>
              </a:ext>
            </a:extLst>
          </p:cNvPr>
          <p:cNvSpPr/>
          <p:nvPr/>
        </p:nvSpPr>
        <p:spPr>
          <a:xfrm>
            <a:off x="9889301" y="4308808"/>
            <a:ext cx="320091" cy="306655"/>
          </a:xfrm>
          <a:prstGeom prst="rect">
            <a:avLst/>
          </a:prstGeom>
          <a:solidFill>
            <a:srgbClr val="F8F8F8"/>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1" name="CuadroTexto 10">
            <a:extLst>
              <a:ext uri="{FF2B5EF4-FFF2-40B4-BE49-F238E27FC236}">
                <a16:creationId xmlns:a16="http://schemas.microsoft.com/office/drawing/2014/main" id="{C1B87E06-8705-4E20-B002-DF0301C91B8D}"/>
              </a:ext>
            </a:extLst>
          </p:cNvPr>
          <p:cNvSpPr txBox="1"/>
          <p:nvPr/>
        </p:nvSpPr>
        <p:spPr>
          <a:xfrm rot="19180568">
            <a:off x="9230384" y="4449045"/>
            <a:ext cx="997987" cy="307777"/>
          </a:xfrm>
          <a:prstGeom prst="rect">
            <a:avLst/>
          </a:prstGeom>
          <a:solidFill>
            <a:srgbClr val="F8F8F8"/>
          </a:solidFill>
          <a:ln>
            <a:solidFill>
              <a:srgbClr val="F8F8F8"/>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dirty="0">
                <a:ln>
                  <a:noFill/>
                </a:ln>
                <a:solidFill>
                  <a:prstClr val="black"/>
                </a:solidFill>
                <a:effectLst/>
                <a:uLnTx/>
                <a:uFillTx/>
                <a:latin typeface="Montserrat"/>
                <a:ea typeface="+mn-ea"/>
                <a:cs typeface="+mn-cs"/>
              </a:rPr>
              <a:t>Iterar</a:t>
            </a:r>
          </a:p>
        </p:txBody>
      </p:sp>
      <p:sp>
        <p:nvSpPr>
          <p:cNvPr id="15" name="Rectángulo 14">
            <a:extLst>
              <a:ext uri="{FF2B5EF4-FFF2-40B4-BE49-F238E27FC236}">
                <a16:creationId xmlns:a16="http://schemas.microsoft.com/office/drawing/2014/main" id="{4FB31A39-68F1-464D-AAF3-53ED72389B0C}"/>
              </a:ext>
            </a:extLst>
          </p:cNvPr>
          <p:cNvSpPr/>
          <p:nvPr/>
        </p:nvSpPr>
        <p:spPr>
          <a:xfrm rot="18048660">
            <a:off x="10405014" y="4178370"/>
            <a:ext cx="383341" cy="306655"/>
          </a:xfrm>
          <a:prstGeom prst="rect">
            <a:avLst/>
          </a:prstGeom>
          <a:solidFill>
            <a:srgbClr val="F8F8F8"/>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4" name="CuadroTexto 13">
            <a:extLst>
              <a:ext uri="{FF2B5EF4-FFF2-40B4-BE49-F238E27FC236}">
                <a16:creationId xmlns:a16="http://schemas.microsoft.com/office/drawing/2014/main" id="{0E28F082-8B7E-4FE5-8B44-29A987961A15}"/>
              </a:ext>
            </a:extLst>
          </p:cNvPr>
          <p:cNvSpPr txBox="1"/>
          <p:nvPr/>
        </p:nvSpPr>
        <p:spPr>
          <a:xfrm rot="17845893">
            <a:off x="10182959" y="4124126"/>
            <a:ext cx="868293" cy="261610"/>
          </a:xfrm>
          <a:prstGeom prst="rect">
            <a:avLst/>
          </a:prstGeom>
          <a:solidFill>
            <a:srgbClr val="F8F8F8"/>
          </a:solidFill>
          <a:ln>
            <a:solidFill>
              <a:srgbClr val="F8F8F8"/>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dirty="0">
                <a:ln>
                  <a:noFill/>
                </a:ln>
                <a:solidFill>
                  <a:prstClr val="black"/>
                </a:solidFill>
                <a:effectLst/>
                <a:uLnTx/>
                <a:uFillTx/>
                <a:latin typeface="Montserrat"/>
                <a:ea typeface="+mn-ea"/>
                <a:cs typeface="+mn-cs"/>
              </a:rPr>
              <a:t>Construir</a:t>
            </a:r>
          </a:p>
        </p:txBody>
      </p:sp>
      <p:sp>
        <p:nvSpPr>
          <p:cNvPr id="16" name="Rectángulo 15">
            <a:extLst>
              <a:ext uri="{FF2B5EF4-FFF2-40B4-BE49-F238E27FC236}">
                <a16:creationId xmlns:a16="http://schemas.microsoft.com/office/drawing/2014/main" id="{467572A7-6D22-4FA0-97EF-517C9FF23EB7}"/>
              </a:ext>
            </a:extLst>
          </p:cNvPr>
          <p:cNvSpPr/>
          <p:nvPr/>
        </p:nvSpPr>
        <p:spPr>
          <a:xfrm>
            <a:off x="11104803" y="1850546"/>
            <a:ext cx="380828" cy="1681533"/>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7" name="Rectángulo 16">
            <a:extLst>
              <a:ext uri="{FF2B5EF4-FFF2-40B4-BE49-F238E27FC236}">
                <a16:creationId xmlns:a16="http://schemas.microsoft.com/office/drawing/2014/main" id="{09142BFB-53AA-4EF5-B696-C6F753B9281A}"/>
              </a:ext>
            </a:extLst>
          </p:cNvPr>
          <p:cNvSpPr/>
          <p:nvPr/>
        </p:nvSpPr>
        <p:spPr>
          <a:xfrm>
            <a:off x="11075685" y="4234990"/>
            <a:ext cx="380828" cy="1264304"/>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8" name="CuadroTexto 17">
            <a:extLst>
              <a:ext uri="{FF2B5EF4-FFF2-40B4-BE49-F238E27FC236}">
                <a16:creationId xmlns:a16="http://schemas.microsoft.com/office/drawing/2014/main" id="{DC18CAAD-067C-4660-8066-7F542EEE4A40}"/>
              </a:ext>
            </a:extLst>
          </p:cNvPr>
          <p:cNvSpPr txBox="1"/>
          <p:nvPr/>
        </p:nvSpPr>
        <p:spPr>
          <a:xfrm rot="16200000">
            <a:off x="5617706" y="2585595"/>
            <a:ext cx="1264439"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Montserrat"/>
                <a:ea typeface="+mn-ea"/>
                <a:cs typeface="+mn-cs"/>
              </a:rPr>
              <a:t>ABSTRACTO</a:t>
            </a:r>
          </a:p>
        </p:txBody>
      </p:sp>
      <p:sp>
        <p:nvSpPr>
          <p:cNvPr id="19" name="CuadroTexto 18">
            <a:extLst>
              <a:ext uri="{FF2B5EF4-FFF2-40B4-BE49-F238E27FC236}">
                <a16:creationId xmlns:a16="http://schemas.microsoft.com/office/drawing/2014/main" id="{7522E052-240C-46BE-8ADF-C10A6BE4E698}"/>
              </a:ext>
            </a:extLst>
          </p:cNvPr>
          <p:cNvSpPr txBox="1"/>
          <p:nvPr/>
        </p:nvSpPr>
        <p:spPr>
          <a:xfrm rot="16200000">
            <a:off x="5679043" y="4678709"/>
            <a:ext cx="1264439"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Montserrat"/>
                <a:ea typeface="+mn-ea"/>
                <a:cs typeface="+mn-cs"/>
              </a:rPr>
              <a:t>CONCRETO</a:t>
            </a:r>
          </a:p>
        </p:txBody>
      </p:sp>
      <p:sp>
        <p:nvSpPr>
          <p:cNvPr id="20" name="Rectángulo 19">
            <a:extLst>
              <a:ext uri="{FF2B5EF4-FFF2-40B4-BE49-F238E27FC236}">
                <a16:creationId xmlns:a16="http://schemas.microsoft.com/office/drawing/2014/main" id="{4CBEAEE3-4C5B-4DB0-96DA-7B9905B0295C}"/>
              </a:ext>
            </a:extLst>
          </p:cNvPr>
          <p:cNvSpPr/>
          <p:nvPr/>
        </p:nvSpPr>
        <p:spPr>
          <a:xfrm>
            <a:off x="11074766" y="4088543"/>
            <a:ext cx="380828" cy="14042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21" name="TextBox 1">
            <a:extLst>
              <a:ext uri="{FF2B5EF4-FFF2-40B4-BE49-F238E27FC236}">
                <a16:creationId xmlns:a16="http://schemas.microsoft.com/office/drawing/2014/main" id="{C6443EFD-C46F-4535-A4B8-0BEA0A5D5302}"/>
              </a:ext>
            </a:extLst>
          </p:cNvPr>
          <p:cNvSpPr txBox="1"/>
          <p:nvPr/>
        </p:nvSpPr>
        <p:spPr>
          <a:xfrm>
            <a:off x="661931" y="510410"/>
            <a:ext cx="1082369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Montserrat SemiBold" pitchFamily="2" charset="0"/>
                <a:ea typeface="+mn-ea"/>
                <a:cs typeface="+mn-cs"/>
              </a:rPr>
              <a:t>El método Lean Startup</a:t>
            </a:r>
            <a:endParaRPr kumimoji="0" lang="es-CL" sz="2800" b="0" i="0" u="none" strike="noStrike" kern="1200" cap="none" spc="0" normalizeH="0" baseline="0" noProof="0" dirty="0">
              <a:ln>
                <a:noFill/>
              </a:ln>
              <a:solidFill>
                <a:prstClr val="black"/>
              </a:solidFill>
              <a:effectLst/>
              <a:uLnTx/>
              <a:uFillTx/>
              <a:latin typeface="Montserrat SemiBold" pitchFamily="2" charset="0"/>
              <a:ea typeface="+mn-ea"/>
              <a:cs typeface="+mn-cs"/>
            </a:endParaRPr>
          </a:p>
        </p:txBody>
      </p:sp>
      <p:grpSp>
        <p:nvGrpSpPr>
          <p:cNvPr id="23" name="Grupo 22">
            <a:extLst>
              <a:ext uri="{FF2B5EF4-FFF2-40B4-BE49-F238E27FC236}">
                <a16:creationId xmlns:a16="http://schemas.microsoft.com/office/drawing/2014/main" id="{CE3B809B-810C-0F3F-EF9B-166A9099E8F1}"/>
              </a:ext>
            </a:extLst>
          </p:cNvPr>
          <p:cNvGrpSpPr/>
          <p:nvPr/>
        </p:nvGrpSpPr>
        <p:grpSpPr>
          <a:xfrm>
            <a:off x="1026604" y="1850546"/>
            <a:ext cx="3650993" cy="3882373"/>
            <a:chOff x="1195507" y="2460128"/>
            <a:chExt cx="3650993" cy="3882373"/>
          </a:xfrm>
        </p:grpSpPr>
        <p:grpSp>
          <p:nvGrpSpPr>
            <p:cNvPr id="40" name="object 2">
              <a:extLst>
                <a:ext uri="{FF2B5EF4-FFF2-40B4-BE49-F238E27FC236}">
                  <a16:creationId xmlns:a16="http://schemas.microsoft.com/office/drawing/2014/main" id="{54832D8A-FEF9-4720-80B5-4E6B821AB914}"/>
                </a:ext>
              </a:extLst>
            </p:cNvPr>
            <p:cNvGrpSpPr/>
            <p:nvPr/>
          </p:nvGrpSpPr>
          <p:grpSpPr>
            <a:xfrm>
              <a:off x="1240335" y="2460128"/>
              <a:ext cx="3606165" cy="3397250"/>
              <a:chOff x="7335011" y="902208"/>
              <a:chExt cx="3606165" cy="3397250"/>
            </a:xfrm>
          </p:grpSpPr>
          <p:sp>
            <p:nvSpPr>
              <p:cNvPr id="41" name="object 3">
                <a:extLst>
                  <a:ext uri="{FF2B5EF4-FFF2-40B4-BE49-F238E27FC236}">
                    <a16:creationId xmlns:a16="http://schemas.microsoft.com/office/drawing/2014/main" id="{B4E968F5-2954-4C3E-BBA0-D521615FEFA8}"/>
                  </a:ext>
                </a:extLst>
              </p:cNvPr>
              <p:cNvSpPr/>
              <p:nvPr/>
            </p:nvSpPr>
            <p:spPr>
              <a:xfrm>
                <a:off x="7696961" y="1460754"/>
                <a:ext cx="2825750" cy="2824480"/>
              </a:xfrm>
              <a:custGeom>
                <a:avLst/>
                <a:gdLst/>
                <a:ahLst/>
                <a:cxnLst/>
                <a:rect l="l" t="t" r="r" b="b"/>
                <a:pathLst>
                  <a:path w="2825750" h="2824479">
                    <a:moveTo>
                      <a:pt x="0" y="1411986"/>
                    </a:moveTo>
                    <a:lnTo>
                      <a:pt x="819" y="1363446"/>
                    </a:lnTo>
                    <a:lnTo>
                      <a:pt x="3259" y="1315317"/>
                    </a:lnTo>
                    <a:lnTo>
                      <a:pt x="7293" y="1267624"/>
                    </a:lnTo>
                    <a:lnTo>
                      <a:pt x="12895" y="1220395"/>
                    </a:lnTo>
                    <a:lnTo>
                      <a:pt x="20040" y="1173656"/>
                    </a:lnTo>
                    <a:lnTo>
                      <a:pt x="28700" y="1127432"/>
                    </a:lnTo>
                    <a:lnTo>
                      <a:pt x="38849" y="1081750"/>
                    </a:lnTo>
                    <a:lnTo>
                      <a:pt x="50461" y="1036637"/>
                    </a:lnTo>
                    <a:lnTo>
                      <a:pt x="63510" y="992118"/>
                    </a:lnTo>
                    <a:lnTo>
                      <a:pt x="77969" y="948221"/>
                    </a:lnTo>
                    <a:lnTo>
                      <a:pt x="93812" y="904970"/>
                    </a:lnTo>
                    <a:lnTo>
                      <a:pt x="111013" y="862393"/>
                    </a:lnTo>
                    <a:lnTo>
                      <a:pt x="129546" y="820516"/>
                    </a:lnTo>
                    <a:lnTo>
                      <a:pt x="149384" y="779365"/>
                    </a:lnTo>
                    <a:lnTo>
                      <a:pt x="170501" y="738966"/>
                    </a:lnTo>
                    <a:lnTo>
                      <a:pt x="192870" y="699346"/>
                    </a:lnTo>
                    <a:lnTo>
                      <a:pt x="216466" y="660531"/>
                    </a:lnTo>
                    <a:lnTo>
                      <a:pt x="241262" y="622548"/>
                    </a:lnTo>
                    <a:lnTo>
                      <a:pt x="267231" y="585421"/>
                    </a:lnTo>
                    <a:lnTo>
                      <a:pt x="294348" y="549179"/>
                    </a:lnTo>
                    <a:lnTo>
                      <a:pt x="322587" y="513847"/>
                    </a:lnTo>
                    <a:lnTo>
                      <a:pt x="351920" y="479452"/>
                    </a:lnTo>
                    <a:lnTo>
                      <a:pt x="382322" y="446019"/>
                    </a:lnTo>
                    <a:lnTo>
                      <a:pt x="413765" y="413575"/>
                    </a:lnTo>
                    <a:lnTo>
                      <a:pt x="446225" y="382147"/>
                    </a:lnTo>
                    <a:lnTo>
                      <a:pt x="479675" y="351760"/>
                    </a:lnTo>
                    <a:lnTo>
                      <a:pt x="514088" y="322441"/>
                    </a:lnTo>
                    <a:lnTo>
                      <a:pt x="549439" y="294216"/>
                    </a:lnTo>
                    <a:lnTo>
                      <a:pt x="585700" y="267112"/>
                    </a:lnTo>
                    <a:lnTo>
                      <a:pt x="622845" y="241155"/>
                    </a:lnTo>
                    <a:lnTo>
                      <a:pt x="660849" y="216370"/>
                    </a:lnTo>
                    <a:lnTo>
                      <a:pt x="699685" y="192785"/>
                    </a:lnTo>
                    <a:lnTo>
                      <a:pt x="739326" y="170426"/>
                    </a:lnTo>
                    <a:lnTo>
                      <a:pt x="779747" y="149319"/>
                    </a:lnTo>
                    <a:lnTo>
                      <a:pt x="820921" y="129490"/>
                    </a:lnTo>
                    <a:lnTo>
                      <a:pt x="862822" y="110966"/>
                    </a:lnTo>
                    <a:lnTo>
                      <a:pt x="905423" y="93772"/>
                    </a:lnTo>
                    <a:lnTo>
                      <a:pt x="948698" y="77936"/>
                    </a:lnTo>
                    <a:lnTo>
                      <a:pt x="992621" y="63483"/>
                    </a:lnTo>
                    <a:lnTo>
                      <a:pt x="1037166" y="50440"/>
                    </a:lnTo>
                    <a:lnTo>
                      <a:pt x="1082306" y="38832"/>
                    </a:lnTo>
                    <a:lnTo>
                      <a:pt x="1128015" y="28688"/>
                    </a:lnTo>
                    <a:lnTo>
                      <a:pt x="1174267" y="20031"/>
                    </a:lnTo>
                    <a:lnTo>
                      <a:pt x="1221036" y="12890"/>
                    </a:lnTo>
                    <a:lnTo>
                      <a:pt x="1268294" y="7290"/>
                    </a:lnTo>
                    <a:lnTo>
                      <a:pt x="1316016" y="3257"/>
                    </a:lnTo>
                    <a:lnTo>
                      <a:pt x="1364176" y="818"/>
                    </a:lnTo>
                    <a:lnTo>
                      <a:pt x="1412748" y="0"/>
                    </a:lnTo>
                    <a:lnTo>
                      <a:pt x="1461319" y="818"/>
                    </a:lnTo>
                    <a:lnTo>
                      <a:pt x="1509479" y="3257"/>
                    </a:lnTo>
                    <a:lnTo>
                      <a:pt x="1557201" y="7290"/>
                    </a:lnTo>
                    <a:lnTo>
                      <a:pt x="1604459" y="12890"/>
                    </a:lnTo>
                    <a:lnTo>
                      <a:pt x="1651228" y="20031"/>
                    </a:lnTo>
                    <a:lnTo>
                      <a:pt x="1697480" y="28688"/>
                    </a:lnTo>
                    <a:lnTo>
                      <a:pt x="1743189" y="38832"/>
                    </a:lnTo>
                    <a:lnTo>
                      <a:pt x="1788329" y="50440"/>
                    </a:lnTo>
                    <a:lnTo>
                      <a:pt x="1832874" y="63483"/>
                    </a:lnTo>
                    <a:lnTo>
                      <a:pt x="1876797" y="77936"/>
                    </a:lnTo>
                    <a:lnTo>
                      <a:pt x="1920072" y="93772"/>
                    </a:lnTo>
                    <a:lnTo>
                      <a:pt x="1962673" y="110966"/>
                    </a:lnTo>
                    <a:lnTo>
                      <a:pt x="2004574" y="129490"/>
                    </a:lnTo>
                    <a:lnTo>
                      <a:pt x="2045748" y="149319"/>
                    </a:lnTo>
                    <a:lnTo>
                      <a:pt x="2086169" y="170426"/>
                    </a:lnTo>
                    <a:lnTo>
                      <a:pt x="2125810" y="192785"/>
                    </a:lnTo>
                    <a:lnTo>
                      <a:pt x="2164646" y="216370"/>
                    </a:lnTo>
                    <a:lnTo>
                      <a:pt x="2202650" y="241155"/>
                    </a:lnTo>
                    <a:lnTo>
                      <a:pt x="2239795" y="267112"/>
                    </a:lnTo>
                    <a:lnTo>
                      <a:pt x="2276056" y="294216"/>
                    </a:lnTo>
                    <a:lnTo>
                      <a:pt x="2311407" y="322441"/>
                    </a:lnTo>
                    <a:lnTo>
                      <a:pt x="2345820" y="351760"/>
                    </a:lnTo>
                    <a:lnTo>
                      <a:pt x="2379270" y="382147"/>
                    </a:lnTo>
                    <a:lnTo>
                      <a:pt x="2411729" y="413575"/>
                    </a:lnTo>
                    <a:lnTo>
                      <a:pt x="2443173" y="446019"/>
                    </a:lnTo>
                    <a:lnTo>
                      <a:pt x="2473575" y="479452"/>
                    </a:lnTo>
                    <a:lnTo>
                      <a:pt x="2502908" y="513847"/>
                    </a:lnTo>
                    <a:lnTo>
                      <a:pt x="2531147" y="549179"/>
                    </a:lnTo>
                    <a:lnTo>
                      <a:pt x="2558264" y="585421"/>
                    </a:lnTo>
                    <a:lnTo>
                      <a:pt x="2584233" y="622548"/>
                    </a:lnTo>
                    <a:lnTo>
                      <a:pt x="2609029" y="660531"/>
                    </a:lnTo>
                    <a:lnTo>
                      <a:pt x="2632625" y="699346"/>
                    </a:lnTo>
                    <a:lnTo>
                      <a:pt x="2654994" y="738966"/>
                    </a:lnTo>
                    <a:lnTo>
                      <a:pt x="2676111" y="779365"/>
                    </a:lnTo>
                    <a:lnTo>
                      <a:pt x="2695949" y="820516"/>
                    </a:lnTo>
                    <a:lnTo>
                      <a:pt x="2714482" y="862393"/>
                    </a:lnTo>
                    <a:lnTo>
                      <a:pt x="2731683" y="904970"/>
                    </a:lnTo>
                    <a:lnTo>
                      <a:pt x="2747526" y="948221"/>
                    </a:lnTo>
                    <a:lnTo>
                      <a:pt x="2761985" y="992118"/>
                    </a:lnTo>
                    <a:lnTo>
                      <a:pt x="2775034" y="1036637"/>
                    </a:lnTo>
                    <a:lnTo>
                      <a:pt x="2786646" y="1081750"/>
                    </a:lnTo>
                    <a:lnTo>
                      <a:pt x="2796795" y="1127432"/>
                    </a:lnTo>
                    <a:lnTo>
                      <a:pt x="2805455" y="1173656"/>
                    </a:lnTo>
                    <a:lnTo>
                      <a:pt x="2812600" y="1220395"/>
                    </a:lnTo>
                    <a:lnTo>
                      <a:pt x="2818202" y="1267624"/>
                    </a:lnTo>
                    <a:lnTo>
                      <a:pt x="2822236" y="1315317"/>
                    </a:lnTo>
                    <a:lnTo>
                      <a:pt x="2824676" y="1363446"/>
                    </a:lnTo>
                    <a:lnTo>
                      <a:pt x="2825496" y="1411986"/>
                    </a:lnTo>
                    <a:lnTo>
                      <a:pt x="2824676" y="1460525"/>
                    </a:lnTo>
                    <a:lnTo>
                      <a:pt x="2822236" y="1508654"/>
                    </a:lnTo>
                    <a:lnTo>
                      <a:pt x="2818202" y="1556347"/>
                    </a:lnTo>
                    <a:lnTo>
                      <a:pt x="2812600" y="1603576"/>
                    </a:lnTo>
                    <a:lnTo>
                      <a:pt x="2805455" y="1650315"/>
                    </a:lnTo>
                    <a:lnTo>
                      <a:pt x="2796795" y="1696539"/>
                    </a:lnTo>
                    <a:lnTo>
                      <a:pt x="2786646" y="1742221"/>
                    </a:lnTo>
                    <a:lnTo>
                      <a:pt x="2775034" y="1787334"/>
                    </a:lnTo>
                    <a:lnTo>
                      <a:pt x="2761985" y="1831853"/>
                    </a:lnTo>
                    <a:lnTo>
                      <a:pt x="2747526" y="1875750"/>
                    </a:lnTo>
                    <a:lnTo>
                      <a:pt x="2731683" y="1919001"/>
                    </a:lnTo>
                    <a:lnTo>
                      <a:pt x="2714482" y="1961578"/>
                    </a:lnTo>
                    <a:lnTo>
                      <a:pt x="2695949" y="2003455"/>
                    </a:lnTo>
                    <a:lnTo>
                      <a:pt x="2676111" y="2044606"/>
                    </a:lnTo>
                    <a:lnTo>
                      <a:pt x="2654994" y="2085005"/>
                    </a:lnTo>
                    <a:lnTo>
                      <a:pt x="2632625" y="2124625"/>
                    </a:lnTo>
                    <a:lnTo>
                      <a:pt x="2609029" y="2163440"/>
                    </a:lnTo>
                    <a:lnTo>
                      <a:pt x="2584233" y="2201423"/>
                    </a:lnTo>
                    <a:lnTo>
                      <a:pt x="2558264" y="2238550"/>
                    </a:lnTo>
                    <a:lnTo>
                      <a:pt x="2531147" y="2274792"/>
                    </a:lnTo>
                    <a:lnTo>
                      <a:pt x="2502908" y="2310124"/>
                    </a:lnTo>
                    <a:lnTo>
                      <a:pt x="2473575" y="2344519"/>
                    </a:lnTo>
                    <a:lnTo>
                      <a:pt x="2443173" y="2377952"/>
                    </a:lnTo>
                    <a:lnTo>
                      <a:pt x="2411730" y="2410396"/>
                    </a:lnTo>
                    <a:lnTo>
                      <a:pt x="2379270" y="2441824"/>
                    </a:lnTo>
                    <a:lnTo>
                      <a:pt x="2345820" y="2472211"/>
                    </a:lnTo>
                    <a:lnTo>
                      <a:pt x="2311407" y="2501530"/>
                    </a:lnTo>
                    <a:lnTo>
                      <a:pt x="2276056" y="2529755"/>
                    </a:lnTo>
                    <a:lnTo>
                      <a:pt x="2239795" y="2556859"/>
                    </a:lnTo>
                    <a:lnTo>
                      <a:pt x="2202650" y="2582816"/>
                    </a:lnTo>
                    <a:lnTo>
                      <a:pt x="2164646" y="2607601"/>
                    </a:lnTo>
                    <a:lnTo>
                      <a:pt x="2125810" y="2631186"/>
                    </a:lnTo>
                    <a:lnTo>
                      <a:pt x="2086169" y="2653545"/>
                    </a:lnTo>
                    <a:lnTo>
                      <a:pt x="2045748" y="2674652"/>
                    </a:lnTo>
                    <a:lnTo>
                      <a:pt x="2004574" y="2694481"/>
                    </a:lnTo>
                    <a:lnTo>
                      <a:pt x="1962673" y="2713005"/>
                    </a:lnTo>
                    <a:lnTo>
                      <a:pt x="1920072" y="2730199"/>
                    </a:lnTo>
                    <a:lnTo>
                      <a:pt x="1876797" y="2746035"/>
                    </a:lnTo>
                    <a:lnTo>
                      <a:pt x="1832874" y="2760488"/>
                    </a:lnTo>
                    <a:lnTo>
                      <a:pt x="1788329" y="2773531"/>
                    </a:lnTo>
                    <a:lnTo>
                      <a:pt x="1743189" y="2785139"/>
                    </a:lnTo>
                    <a:lnTo>
                      <a:pt x="1697480" y="2795283"/>
                    </a:lnTo>
                    <a:lnTo>
                      <a:pt x="1651228" y="2803940"/>
                    </a:lnTo>
                    <a:lnTo>
                      <a:pt x="1604459" y="2811081"/>
                    </a:lnTo>
                    <a:lnTo>
                      <a:pt x="1557201" y="2816681"/>
                    </a:lnTo>
                    <a:lnTo>
                      <a:pt x="1509479" y="2820714"/>
                    </a:lnTo>
                    <a:lnTo>
                      <a:pt x="1461319" y="2823153"/>
                    </a:lnTo>
                    <a:lnTo>
                      <a:pt x="1412748" y="2823972"/>
                    </a:lnTo>
                    <a:lnTo>
                      <a:pt x="1364176" y="2823153"/>
                    </a:lnTo>
                    <a:lnTo>
                      <a:pt x="1316016" y="2820714"/>
                    </a:lnTo>
                    <a:lnTo>
                      <a:pt x="1268294" y="2816681"/>
                    </a:lnTo>
                    <a:lnTo>
                      <a:pt x="1221036" y="2811081"/>
                    </a:lnTo>
                    <a:lnTo>
                      <a:pt x="1174267" y="2803940"/>
                    </a:lnTo>
                    <a:lnTo>
                      <a:pt x="1128015" y="2795283"/>
                    </a:lnTo>
                    <a:lnTo>
                      <a:pt x="1082306" y="2785139"/>
                    </a:lnTo>
                    <a:lnTo>
                      <a:pt x="1037166" y="2773531"/>
                    </a:lnTo>
                    <a:lnTo>
                      <a:pt x="992621" y="2760488"/>
                    </a:lnTo>
                    <a:lnTo>
                      <a:pt x="948698" y="2746035"/>
                    </a:lnTo>
                    <a:lnTo>
                      <a:pt x="905423" y="2730199"/>
                    </a:lnTo>
                    <a:lnTo>
                      <a:pt x="862822" y="2713005"/>
                    </a:lnTo>
                    <a:lnTo>
                      <a:pt x="820921" y="2694481"/>
                    </a:lnTo>
                    <a:lnTo>
                      <a:pt x="779747" y="2674652"/>
                    </a:lnTo>
                    <a:lnTo>
                      <a:pt x="739326" y="2653545"/>
                    </a:lnTo>
                    <a:lnTo>
                      <a:pt x="699685" y="2631186"/>
                    </a:lnTo>
                    <a:lnTo>
                      <a:pt x="660849" y="2607601"/>
                    </a:lnTo>
                    <a:lnTo>
                      <a:pt x="622845" y="2582816"/>
                    </a:lnTo>
                    <a:lnTo>
                      <a:pt x="585700" y="2556859"/>
                    </a:lnTo>
                    <a:lnTo>
                      <a:pt x="549439" y="2529755"/>
                    </a:lnTo>
                    <a:lnTo>
                      <a:pt x="514088" y="2501530"/>
                    </a:lnTo>
                    <a:lnTo>
                      <a:pt x="479675" y="2472211"/>
                    </a:lnTo>
                    <a:lnTo>
                      <a:pt x="446225" y="2441824"/>
                    </a:lnTo>
                    <a:lnTo>
                      <a:pt x="413766" y="2410396"/>
                    </a:lnTo>
                    <a:lnTo>
                      <a:pt x="382322" y="2377952"/>
                    </a:lnTo>
                    <a:lnTo>
                      <a:pt x="351920" y="2344519"/>
                    </a:lnTo>
                    <a:lnTo>
                      <a:pt x="322587" y="2310124"/>
                    </a:lnTo>
                    <a:lnTo>
                      <a:pt x="294348" y="2274792"/>
                    </a:lnTo>
                    <a:lnTo>
                      <a:pt x="267231" y="2238550"/>
                    </a:lnTo>
                    <a:lnTo>
                      <a:pt x="241262" y="2201423"/>
                    </a:lnTo>
                    <a:lnTo>
                      <a:pt x="216466" y="2163440"/>
                    </a:lnTo>
                    <a:lnTo>
                      <a:pt x="192870" y="2124625"/>
                    </a:lnTo>
                    <a:lnTo>
                      <a:pt x="170501" y="2085005"/>
                    </a:lnTo>
                    <a:lnTo>
                      <a:pt x="149384" y="2044606"/>
                    </a:lnTo>
                    <a:lnTo>
                      <a:pt x="129546" y="2003455"/>
                    </a:lnTo>
                    <a:lnTo>
                      <a:pt x="111013" y="1961578"/>
                    </a:lnTo>
                    <a:lnTo>
                      <a:pt x="93812" y="1919001"/>
                    </a:lnTo>
                    <a:lnTo>
                      <a:pt x="77969" y="1875750"/>
                    </a:lnTo>
                    <a:lnTo>
                      <a:pt x="63510" y="1831853"/>
                    </a:lnTo>
                    <a:lnTo>
                      <a:pt x="50461" y="1787334"/>
                    </a:lnTo>
                    <a:lnTo>
                      <a:pt x="38849" y="1742221"/>
                    </a:lnTo>
                    <a:lnTo>
                      <a:pt x="28700" y="1696539"/>
                    </a:lnTo>
                    <a:lnTo>
                      <a:pt x="20040" y="1650315"/>
                    </a:lnTo>
                    <a:lnTo>
                      <a:pt x="12895" y="1603576"/>
                    </a:lnTo>
                    <a:lnTo>
                      <a:pt x="7293" y="1556347"/>
                    </a:lnTo>
                    <a:lnTo>
                      <a:pt x="3259" y="1508654"/>
                    </a:lnTo>
                    <a:lnTo>
                      <a:pt x="819" y="1460525"/>
                    </a:lnTo>
                    <a:lnTo>
                      <a:pt x="0" y="1411986"/>
                    </a:lnTo>
                    <a:close/>
                  </a:path>
                </a:pathLst>
              </a:custGeom>
              <a:ln w="28956">
                <a:solidFill>
                  <a:srgbClr val="40404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Montserrat"/>
                  <a:ea typeface="+mn-ea"/>
                  <a:cs typeface="+mn-cs"/>
                </a:endParaRPr>
              </a:p>
            </p:txBody>
          </p:sp>
          <p:sp>
            <p:nvSpPr>
              <p:cNvPr id="42" name="object 4">
                <a:extLst>
                  <a:ext uri="{FF2B5EF4-FFF2-40B4-BE49-F238E27FC236}">
                    <a16:creationId xmlns:a16="http://schemas.microsoft.com/office/drawing/2014/main" id="{42390C0C-56D9-40C3-AE71-AC1CA6705871}"/>
                  </a:ext>
                </a:extLst>
              </p:cNvPr>
              <p:cNvSpPr/>
              <p:nvPr/>
            </p:nvSpPr>
            <p:spPr>
              <a:xfrm>
                <a:off x="7335012" y="902207"/>
                <a:ext cx="3581400" cy="3213100"/>
              </a:xfrm>
              <a:custGeom>
                <a:avLst/>
                <a:gdLst/>
                <a:ahLst/>
                <a:cxnLst/>
                <a:rect l="l" t="t" r="r" b="b"/>
                <a:pathLst>
                  <a:path w="3581400" h="3213100">
                    <a:moveTo>
                      <a:pt x="1117092" y="2654808"/>
                    </a:moveTo>
                    <a:lnTo>
                      <a:pt x="1115034" y="2606675"/>
                    </a:lnTo>
                    <a:lnTo>
                      <a:pt x="1109002" y="2559685"/>
                    </a:lnTo>
                    <a:lnTo>
                      <a:pt x="1099134" y="2513990"/>
                    </a:lnTo>
                    <a:lnTo>
                      <a:pt x="1085621" y="2469781"/>
                    </a:lnTo>
                    <a:lnTo>
                      <a:pt x="1068628" y="2427198"/>
                    </a:lnTo>
                    <a:lnTo>
                      <a:pt x="1048308" y="2386431"/>
                    </a:lnTo>
                    <a:lnTo>
                      <a:pt x="1024839" y="2347633"/>
                    </a:lnTo>
                    <a:lnTo>
                      <a:pt x="998397" y="2310981"/>
                    </a:lnTo>
                    <a:lnTo>
                      <a:pt x="969124" y="2276640"/>
                    </a:lnTo>
                    <a:lnTo>
                      <a:pt x="937221" y="2244775"/>
                    </a:lnTo>
                    <a:lnTo>
                      <a:pt x="902830" y="2215553"/>
                    </a:lnTo>
                    <a:lnTo>
                      <a:pt x="866127" y="2189137"/>
                    </a:lnTo>
                    <a:lnTo>
                      <a:pt x="827278" y="2165705"/>
                    </a:lnTo>
                    <a:lnTo>
                      <a:pt x="786447" y="2145423"/>
                    </a:lnTo>
                    <a:lnTo>
                      <a:pt x="743813" y="2128443"/>
                    </a:lnTo>
                    <a:lnTo>
                      <a:pt x="699541" y="2114956"/>
                    </a:lnTo>
                    <a:lnTo>
                      <a:pt x="653796" y="2105101"/>
                    </a:lnTo>
                    <a:lnTo>
                      <a:pt x="606729" y="2099081"/>
                    </a:lnTo>
                    <a:lnTo>
                      <a:pt x="558546" y="2097024"/>
                    </a:lnTo>
                    <a:lnTo>
                      <a:pt x="510349" y="2099081"/>
                    </a:lnTo>
                    <a:lnTo>
                      <a:pt x="463283" y="2105101"/>
                    </a:lnTo>
                    <a:lnTo>
                      <a:pt x="417537" y="2114956"/>
                    </a:lnTo>
                    <a:lnTo>
                      <a:pt x="373265" y="2128443"/>
                    </a:lnTo>
                    <a:lnTo>
                      <a:pt x="330631" y="2145423"/>
                    </a:lnTo>
                    <a:lnTo>
                      <a:pt x="289801" y="2165705"/>
                    </a:lnTo>
                    <a:lnTo>
                      <a:pt x="250952" y="2189137"/>
                    </a:lnTo>
                    <a:lnTo>
                      <a:pt x="214249" y="2215553"/>
                    </a:lnTo>
                    <a:lnTo>
                      <a:pt x="179857" y="2244775"/>
                    </a:lnTo>
                    <a:lnTo>
                      <a:pt x="147955" y="2276640"/>
                    </a:lnTo>
                    <a:lnTo>
                      <a:pt x="118681" y="2310981"/>
                    </a:lnTo>
                    <a:lnTo>
                      <a:pt x="92240" y="2347633"/>
                    </a:lnTo>
                    <a:lnTo>
                      <a:pt x="68770" y="2386431"/>
                    </a:lnTo>
                    <a:lnTo>
                      <a:pt x="48450" y="2427198"/>
                    </a:lnTo>
                    <a:lnTo>
                      <a:pt x="31457" y="2469781"/>
                    </a:lnTo>
                    <a:lnTo>
                      <a:pt x="17945" y="2513990"/>
                    </a:lnTo>
                    <a:lnTo>
                      <a:pt x="8077" y="2559685"/>
                    </a:lnTo>
                    <a:lnTo>
                      <a:pt x="2044" y="2606675"/>
                    </a:lnTo>
                    <a:lnTo>
                      <a:pt x="0" y="2654808"/>
                    </a:lnTo>
                    <a:lnTo>
                      <a:pt x="2044" y="2702953"/>
                    </a:lnTo>
                    <a:lnTo>
                      <a:pt x="8077" y="2749943"/>
                    </a:lnTo>
                    <a:lnTo>
                      <a:pt x="17945" y="2795638"/>
                    </a:lnTo>
                    <a:lnTo>
                      <a:pt x="31457" y="2839847"/>
                    </a:lnTo>
                    <a:lnTo>
                      <a:pt x="48450" y="2882430"/>
                    </a:lnTo>
                    <a:lnTo>
                      <a:pt x="68770" y="2923197"/>
                    </a:lnTo>
                    <a:lnTo>
                      <a:pt x="92240" y="2961995"/>
                    </a:lnTo>
                    <a:lnTo>
                      <a:pt x="118681" y="2998647"/>
                    </a:lnTo>
                    <a:lnTo>
                      <a:pt x="147955" y="3032988"/>
                    </a:lnTo>
                    <a:lnTo>
                      <a:pt x="179857" y="3064853"/>
                    </a:lnTo>
                    <a:lnTo>
                      <a:pt x="214249" y="3094075"/>
                    </a:lnTo>
                    <a:lnTo>
                      <a:pt x="250952" y="3120491"/>
                    </a:lnTo>
                    <a:lnTo>
                      <a:pt x="289801" y="3143923"/>
                    </a:lnTo>
                    <a:lnTo>
                      <a:pt x="330631" y="3164205"/>
                    </a:lnTo>
                    <a:lnTo>
                      <a:pt x="373265" y="3181185"/>
                    </a:lnTo>
                    <a:lnTo>
                      <a:pt x="417537" y="3194672"/>
                    </a:lnTo>
                    <a:lnTo>
                      <a:pt x="463283" y="3204527"/>
                    </a:lnTo>
                    <a:lnTo>
                      <a:pt x="510349" y="3210547"/>
                    </a:lnTo>
                    <a:lnTo>
                      <a:pt x="558546" y="3212592"/>
                    </a:lnTo>
                    <a:lnTo>
                      <a:pt x="606729" y="3210547"/>
                    </a:lnTo>
                    <a:lnTo>
                      <a:pt x="653796" y="3204527"/>
                    </a:lnTo>
                    <a:lnTo>
                      <a:pt x="699541" y="3194672"/>
                    </a:lnTo>
                    <a:lnTo>
                      <a:pt x="743813" y="3181185"/>
                    </a:lnTo>
                    <a:lnTo>
                      <a:pt x="786447" y="3164205"/>
                    </a:lnTo>
                    <a:lnTo>
                      <a:pt x="827278" y="3143923"/>
                    </a:lnTo>
                    <a:lnTo>
                      <a:pt x="866127" y="3120491"/>
                    </a:lnTo>
                    <a:lnTo>
                      <a:pt x="902830" y="3094075"/>
                    </a:lnTo>
                    <a:lnTo>
                      <a:pt x="937221" y="3064853"/>
                    </a:lnTo>
                    <a:lnTo>
                      <a:pt x="969124" y="3032988"/>
                    </a:lnTo>
                    <a:lnTo>
                      <a:pt x="998397" y="2998647"/>
                    </a:lnTo>
                    <a:lnTo>
                      <a:pt x="1024839" y="2961995"/>
                    </a:lnTo>
                    <a:lnTo>
                      <a:pt x="1048308" y="2923197"/>
                    </a:lnTo>
                    <a:lnTo>
                      <a:pt x="1068628" y="2882430"/>
                    </a:lnTo>
                    <a:lnTo>
                      <a:pt x="1085621" y="2839847"/>
                    </a:lnTo>
                    <a:lnTo>
                      <a:pt x="1099134" y="2795638"/>
                    </a:lnTo>
                    <a:lnTo>
                      <a:pt x="1109002" y="2749943"/>
                    </a:lnTo>
                    <a:lnTo>
                      <a:pt x="1115034" y="2702953"/>
                    </a:lnTo>
                    <a:lnTo>
                      <a:pt x="1117092" y="2654808"/>
                    </a:lnTo>
                    <a:close/>
                  </a:path>
                  <a:path w="3581400" h="3213100">
                    <a:moveTo>
                      <a:pt x="2293620" y="557784"/>
                    </a:moveTo>
                    <a:lnTo>
                      <a:pt x="2291562" y="509651"/>
                    </a:lnTo>
                    <a:lnTo>
                      <a:pt x="2285542" y="462661"/>
                    </a:lnTo>
                    <a:lnTo>
                      <a:pt x="2275687" y="416966"/>
                    </a:lnTo>
                    <a:lnTo>
                      <a:pt x="2262200" y="372757"/>
                    </a:lnTo>
                    <a:lnTo>
                      <a:pt x="2245220" y="330174"/>
                    </a:lnTo>
                    <a:lnTo>
                      <a:pt x="2224938" y="289407"/>
                    </a:lnTo>
                    <a:lnTo>
                      <a:pt x="2201507" y="250609"/>
                    </a:lnTo>
                    <a:lnTo>
                      <a:pt x="2175091" y="213956"/>
                    </a:lnTo>
                    <a:lnTo>
                      <a:pt x="2145868" y="179616"/>
                    </a:lnTo>
                    <a:lnTo>
                      <a:pt x="2114004" y="147751"/>
                    </a:lnTo>
                    <a:lnTo>
                      <a:pt x="2079663" y="118529"/>
                    </a:lnTo>
                    <a:lnTo>
                      <a:pt x="2043010" y="92113"/>
                    </a:lnTo>
                    <a:lnTo>
                      <a:pt x="2004212" y="68681"/>
                    </a:lnTo>
                    <a:lnTo>
                      <a:pt x="1963445" y="48399"/>
                    </a:lnTo>
                    <a:lnTo>
                      <a:pt x="1920862" y="31419"/>
                    </a:lnTo>
                    <a:lnTo>
                      <a:pt x="1876653" y="17932"/>
                    </a:lnTo>
                    <a:lnTo>
                      <a:pt x="1830959" y="8077"/>
                    </a:lnTo>
                    <a:lnTo>
                      <a:pt x="1783969" y="2057"/>
                    </a:lnTo>
                    <a:lnTo>
                      <a:pt x="1735836" y="0"/>
                    </a:lnTo>
                    <a:lnTo>
                      <a:pt x="1687690" y="2057"/>
                    </a:lnTo>
                    <a:lnTo>
                      <a:pt x="1640700" y="8077"/>
                    </a:lnTo>
                    <a:lnTo>
                      <a:pt x="1595005" y="17932"/>
                    </a:lnTo>
                    <a:lnTo>
                      <a:pt x="1550797" y="31419"/>
                    </a:lnTo>
                    <a:lnTo>
                      <a:pt x="1508213" y="48399"/>
                    </a:lnTo>
                    <a:lnTo>
                      <a:pt x="1467446" y="68681"/>
                    </a:lnTo>
                    <a:lnTo>
                      <a:pt x="1428648" y="92113"/>
                    </a:lnTo>
                    <a:lnTo>
                      <a:pt x="1391996" y="118529"/>
                    </a:lnTo>
                    <a:lnTo>
                      <a:pt x="1357655" y="147751"/>
                    </a:lnTo>
                    <a:lnTo>
                      <a:pt x="1325791" y="179616"/>
                    </a:lnTo>
                    <a:lnTo>
                      <a:pt x="1296568" y="213956"/>
                    </a:lnTo>
                    <a:lnTo>
                      <a:pt x="1270152" y="250609"/>
                    </a:lnTo>
                    <a:lnTo>
                      <a:pt x="1246720" y="289407"/>
                    </a:lnTo>
                    <a:lnTo>
                      <a:pt x="1226439" y="330174"/>
                    </a:lnTo>
                    <a:lnTo>
                      <a:pt x="1209459" y="372757"/>
                    </a:lnTo>
                    <a:lnTo>
                      <a:pt x="1195971" y="416966"/>
                    </a:lnTo>
                    <a:lnTo>
                      <a:pt x="1186116" y="462661"/>
                    </a:lnTo>
                    <a:lnTo>
                      <a:pt x="1180096" y="509651"/>
                    </a:lnTo>
                    <a:lnTo>
                      <a:pt x="1178052" y="557784"/>
                    </a:lnTo>
                    <a:lnTo>
                      <a:pt x="1180096" y="605929"/>
                    </a:lnTo>
                    <a:lnTo>
                      <a:pt x="1186116" y="652919"/>
                    </a:lnTo>
                    <a:lnTo>
                      <a:pt x="1195971" y="698614"/>
                    </a:lnTo>
                    <a:lnTo>
                      <a:pt x="1209459" y="742823"/>
                    </a:lnTo>
                    <a:lnTo>
                      <a:pt x="1226439" y="785406"/>
                    </a:lnTo>
                    <a:lnTo>
                      <a:pt x="1246720" y="826173"/>
                    </a:lnTo>
                    <a:lnTo>
                      <a:pt x="1270152" y="864971"/>
                    </a:lnTo>
                    <a:lnTo>
                      <a:pt x="1296568" y="901623"/>
                    </a:lnTo>
                    <a:lnTo>
                      <a:pt x="1325791" y="935964"/>
                    </a:lnTo>
                    <a:lnTo>
                      <a:pt x="1357655" y="967828"/>
                    </a:lnTo>
                    <a:lnTo>
                      <a:pt x="1391996" y="997051"/>
                    </a:lnTo>
                    <a:lnTo>
                      <a:pt x="1428648" y="1023467"/>
                    </a:lnTo>
                    <a:lnTo>
                      <a:pt x="1467446" y="1046899"/>
                    </a:lnTo>
                    <a:lnTo>
                      <a:pt x="1508213" y="1067181"/>
                    </a:lnTo>
                    <a:lnTo>
                      <a:pt x="1550797" y="1084160"/>
                    </a:lnTo>
                    <a:lnTo>
                      <a:pt x="1595005" y="1097648"/>
                    </a:lnTo>
                    <a:lnTo>
                      <a:pt x="1640700" y="1107503"/>
                    </a:lnTo>
                    <a:lnTo>
                      <a:pt x="1687690" y="1113523"/>
                    </a:lnTo>
                    <a:lnTo>
                      <a:pt x="1735836" y="1115568"/>
                    </a:lnTo>
                    <a:lnTo>
                      <a:pt x="1783969" y="1113523"/>
                    </a:lnTo>
                    <a:lnTo>
                      <a:pt x="1830959" y="1107503"/>
                    </a:lnTo>
                    <a:lnTo>
                      <a:pt x="1876653" y="1097648"/>
                    </a:lnTo>
                    <a:lnTo>
                      <a:pt x="1920862" y="1084160"/>
                    </a:lnTo>
                    <a:lnTo>
                      <a:pt x="1963445" y="1067181"/>
                    </a:lnTo>
                    <a:lnTo>
                      <a:pt x="2004212" y="1046899"/>
                    </a:lnTo>
                    <a:lnTo>
                      <a:pt x="2043010" y="1023467"/>
                    </a:lnTo>
                    <a:lnTo>
                      <a:pt x="2079663" y="997051"/>
                    </a:lnTo>
                    <a:lnTo>
                      <a:pt x="2114004" y="967828"/>
                    </a:lnTo>
                    <a:lnTo>
                      <a:pt x="2145868" y="935964"/>
                    </a:lnTo>
                    <a:lnTo>
                      <a:pt x="2175091" y="901623"/>
                    </a:lnTo>
                    <a:lnTo>
                      <a:pt x="2201507" y="864971"/>
                    </a:lnTo>
                    <a:lnTo>
                      <a:pt x="2224938" y="826173"/>
                    </a:lnTo>
                    <a:lnTo>
                      <a:pt x="2245220" y="785406"/>
                    </a:lnTo>
                    <a:lnTo>
                      <a:pt x="2262200" y="742823"/>
                    </a:lnTo>
                    <a:lnTo>
                      <a:pt x="2275687" y="698614"/>
                    </a:lnTo>
                    <a:lnTo>
                      <a:pt x="2285542" y="652919"/>
                    </a:lnTo>
                    <a:lnTo>
                      <a:pt x="2291562" y="605929"/>
                    </a:lnTo>
                    <a:lnTo>
                      <a:pt x="2293620" y="557784"/>
                    </a:lnTo>
                    <a:close/>
                  </a:path>
                  <a:path w="3581400" h="3213100">
                    <a:moveTo>
                      <a:pt x="3581400" y="2654808"/>
                    </a:moveTo>
                    <a:lnTo>
                      <a:pt x="3579342" y="2606675"/>
                    </a:lnTo>
                    <a:lnTo>
                      <a:pt x="3573322" y="2559685"/>
                    </a:lnTo>
                    <a:lnTo>
                      <a:pt x="3563467" y="2513990"/>
                    </a:lnTo>
                    <a:lnTo>
                      <a:pt x="3549980" y="2469781"/>
                    </a:lnTo>
                    <a:lnTo>
                      <a:pt x="3533000" y="2427198"/>
                    </a:lnTo>
                    <a:lnTo>
                      <a:pt x="3512718" y="2386431"/>
                    </a:lnTo>
                    <a:lnTo>
                      <a:pt x="3489287" y="2347633"/>
                    </a:lnTo>
                    <a:lnTo>
                      <a:pt x="3462871" y="2310981"/>
                    </a:lnTo>
                    <a:lnTo>
                      <a:pt x="3433648" y="2276640"/>
                    </a:lnTo>
                    <a:lnTo>
                      <a:pt x="3401784" y="2244775"/>
                    </a:lnTo>
                    <a:lnTo>
                      <a:pt x="3367443" y="2215553"/>
                    </a:lnTo>
                    <a:lnTo>
                      <a:pt x="3330791" y="2189137"/>
                    </a:lnTo>
                    <a:lnTo>
                      <a:pt x="3291992" y="2165705"/>
                    </a:lnTo>
                    <a:lnTo>
                      <a:pt x="3251225" y="2145423"/>
                    </a:lnTo>
                    <a:lnTo>
                      <a:pt x="3208642" y="2128443"/>
                    </a:lnTo>
                    <a:lnTo>
                      <a:pt x="3164433" y="2114956"/>
                    </a:lnTo>
                    <a:lnTo>
                      <a:pt x="3118739" y="2105101"/>
                    </a:lnTo>
                    <a:lnTo>
                      <a:pt x="3071749" y="2099081"/>
                    </a:lnTo>
                    <a:lnTo>
                      <a:pt x="3023616" y="2097024"/>
                    </a:lnTo>
                    <a:lnTo>
                      <a:pt x="2975470" y="2099081"/>
                    </a:lnTo>
                    <a:lnTo>
                      <a:pt x="2928480" y="2105101"/>
                    </a:lnTo>
                    <a:lnTo>
                      <a:pt x="2882785" y="2114956"/>
                    </a:lnTo>
                    <a:lnTo>
                      <a:pt x="2838577" y="2128443"/>
                    </a:lnTo>
                    <a:lnTo>
                      <a:pt x="2795994" y="2145423"/>
                    </a:lnTo>
                    <a:lnTo>
                      <a:pt x="2755227" y="2165705"/>
                    </a:lnTo>
                    <a:lnTo>
                      <a:pt x="2716428" y="2189137"/>
                    </a:lnTo>
                    <a:lnTo>
                      <a:pt x="2679776" y="2215553"/>
                    </a:lnTo>
                    <a:lnTo>
                      <a:pt x="2645435" y="2244775"/>
                    </a:lnTo>
                    <a:lnTo>
                      <a:pt x="2613571" y="2276640"/>
                    </a:lnTo>
                    <a:lnTo>
                      <a:pt x="2584348" y="2310981"/>
                    </a:lnTo>
                    <a:lnTo>
                      <a:pt x="2557932" y="2347633"/>
                    </a:lnTo>
                    <a:lnTo>
                      <a:pt x="2534501" y="2386431"/>
                    </a:lnTo>
                    <a:lnTo>
                      <a:pt x="2514219" y="2427198"/>
                    </a:lnTo>
                    <a:lnTo>
                      <a:pt x="2497239" y="2469781"/>
                    </a:lnTo>
                    <a:lnTo>
                      <a:pt x="2483751" y="2513990"/>
                    </a:lnTo>
                    <a:lnTo>
                      <a:pt x="2473896" y="2559685"/>
                    </a:lnTo>
                    <a:lnTo>
                      <a:pt x="2467876" y="2606675"/>
                    </a:lnTo>
                    <a:lnTo>
                      <a:pt x="2465832" y="2654808"/>
                    </a:lnTo>
                    <a:lnTo>
                      <a:pt x="2467876" y="2702953"/>
                    </a:lnTo>
                    <a:lnTo>
                      <a:pt x="2473896" y="2749943"/>
                    </a:lnTo>
                    <a:lnTo>
                      <a:pt x="2483751" y="2795638"/>
                    </a:lnTo>
                    <a:lnTo>
                      <a:pt x="2497239" y="2839847"/>
                    </a:lnTo>
                    <a:lnTo>
                      <a:pt x="2514219" y="2882430"/>
                    </a:lnTo>
                    <a:lnTo>
                      <a:pt x="2534501" y="2923197"/>
                    </a:lnTo>
                    <a:lnTo>
                      <a:pt x="2557932" y="2961995"/>
                    </a:lnTo>
                    <a:lnTo>
                      <a:pt x="2584348" y="2998647"/>
                    </a:lnTo>
                    <a:lnTo>
                      <a:pt x="2613571" y="3032988"/>
                    </a:lnTo>
                    <a:lnTo>
                      <a:pt x="2645435" y="3064853"/>
                    </a:lnTo>
                    <a:lnTo>
                      <a:pt x="2679776" y="3094075"/>
                    </a:lnTo>
                    <a:lnTo>
                      <a:pt x="2716428" y="3120491"/>
                    </a:lnTo>
                    <a:lnTo>
                      <a:pt x="2755227" y="3143923"/>
                    </a:lnTo>
                    <a:lnTo>
                      <a:pt x="2795994" y="3164205"/>
                    </a:lnTo>
                    <a:lnTo>
                      <a:pt x="2838577" y="3181185"/>
                    </a:lnTo>
                    <a:lnTo>
                      <a:pt x="2882785" y="3194672"/>
                    </a:lnTo>
                    <a:lnTo>
                      <a:pt x="2928480" y="3204527"/>
                    </a:lnTo>
                    <a:lnTo>
                      <a:pt x="2975470" y="3210547"/>
                    </a:lnTo>
                    <a:lnTo>
                      <a:pt x="3023616" y="3212592"/>
                    </a:lnTo>
                    <a:lnTo>
                      <a:pt x="3071749" y="3210547"/>
                    </a:lnTo>
                    <a:lnTo>
                      <a:pt x="3118739" y="3204527"/>
                    </a:lnTo>
                    <a:lnTo>
                      <a:pt x="3164433" y="3194672"/>
                    </a:lnTo>
                    <a:lnTo>
                      <a:pt x="3208642" y="3181185"/>
                    </a:lnTo>
                    <a:lnTo>
                      <a:pt x="3251225" y="3164205"/>
                    </a:lnTo>
                    <a:lnTo>
                      <a:pt x="3291992" y="3143923"/>
                    </a:lnTo>
                    <a:lnTo>
                      <a:pt x="3330791" y="3120491"/>
                    </a:lnTo>
                    <a:lnTo>
                      <a:pt x="3367443" y="3094075"/>
                    </a:lnTo>
                    <a:lnTo>
                      <a:pt x="3401784" y="3064853"/>
                    </a:lnTo>
                    <a:lnTo>
                      <a:pt x="3433648" y="3032988"/>
                    </a:lnTo>
                    <a:lnTo>
                      <a:pt x="3462871" y="2998647"/>
                    </a:lnTo>
                    <a:lnTo>
                      <a:pt x="3489287" y="2961995"/>
                    </a:lnTo>
                    <a:lnTo>
                      <a:pt x="3512718" y="2923197"/>
                    </a:lnTo>
                    <a:lnTo>
                      <a:pt x="3533000" y="2882430"/>
                    </a:lnTo>
                    <a:lnTo>
                      <a:pt x="3549980" y="2839847"/>
                    </a:lnTo>
                    <a:lnTo>
                      <a:pt x="3563467" y="2795638"/>
                    </a:lnTo>
                    <a:lnTo>
                      <a:pt x="3573322" y="2749943"/>
                    </a:lnTo>
                    <a:lnTo>
                      <a:pt x="3579342" y="2702953"/>
                    </a:lnTo>
                    <a:lnTo>
                      <a:pt x="3581400" y="2654808"/>
                    </a:lnTo>
                    <a:close/>
                  </a:path>
                </a:pathLst>
              </a:custGeom>
              <a:solidFill>
                <a:srgbClr val="40404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Montserrat"/>
                  <a:ea typeface="+mn-ea"/>
                  <a:cs typeface="+mn-cs"/>
                </a:endParaRPr>
              </a:p>
            </p:txBody>
          </p:sp>
          <p:sp>
            <p:nvSpPr>
              <p:cNvPr id="43" name="object 5">
                <a:extLst>
                  <a:ext uri="{FF2B5EF4-FFF2-40B4-BE49-F238E27FC236}">
                    <a16:creationId xmlns:a16="http://schemas.microsoft.com/office/drawing/2014/main" id="{AB670363-5AB7-4BE8-BC93-699EFD73B0E6}"/>
                  </a:ext>
                </a:extLst>
              </p:cNvPr>
              <p:cNvSpPr/>
              <p:nvPr/>
            </p:nvSpPr>
            <p:spPr>
              <a:xfrm>
                <a:off x="9826751" y="1696212"/>
                <a:ext cx="1114425" cy="1112520"/>
              </a:xfrm>
              <a:custGeom>
                <a:avLst/>
                <a:gdLst/>
                <a:ahLst/>
                <a:cxnLst/>
                <a:rect l="l" t="t" r="r" b="b"/>
                <a:pathLst>
                  <a:path w="1114425" h="1112520">
                    <a:moveTo>
                      <a:pt x="557022" y="0"/>
                    </a:moveTo>
                    <a:lnTo>
                      <a:pt x="508965" y="2041"/>
                    </a:lnTo>
                    <a:lnTo>
                      <a:pt x="462043" y="8055"/>
                    </a:lnTo>
                    <a:lnTo>
                      <a:pt x="416422" y="17875"/>
                    </a:lnTo>
                    <a:lnTo>
                      <a:pt x="372270" y="31333"/>
                    </a:lnTo>
                    <a:lnTo>
                      <a:pt x="329754" y="48262"/>
                    </a:lnTo>
                    <a:lnTo>
                      <a:pt x="289041" y="68496"/>
                    </a:lnTo>
                    <a:lnTo>
                      <a:pt x="250299" y="91867"/>
                    </a:lnTo>
                    <a:lnTo>
                      <a:pt x="213695" y="118208"/>
                    </a:lnTo>
                    <a:lnTo>
                      <a:pt x="179396" y="147353"/>
                    </a:lnTo>
                    <a:lnTo>
                      <a:pt x="147569" y="179134"/>
                    </a:lnTo>
                    <a:lnTo>
                      <a:pt x="118382" y="213385"/>
                    </a:lnTo>
                    <a:lnTo>
                      <a:pt x="92003" y="249939"/>
                    </a:lnTo>
                    <a:lnTo>
                      <a:pt x="68597" y="288628"/>
                    </a:lnTo>
                    <a:lnTo>
                      <a:pt x="48334" y="329286"/>
                    </a:lnTo>
                    <a:lnTo>
                      <a:pt x="31380" y="371745"/>
                    </a:lnTo>
                    <a:lnTo>
                      <a:pt x="17902" y="415839"/>
                    </a:lnTo>
                    <a:lnTo>
                      <a:pt x="8068" y="461401"/>
                    </a:lnTo>
                    <a:lnTo>
                      <a:pt x="2044" y="508263"/>
                    </a:lnTo>
                    <a:lnTo>
                      <a:pt x="0" y="556260"/>
                    </a:lnTo>
                    <a:lnTo>
                      <a:pt x="2044" y="604256"/>
                    </a:lnTo>
                    <a:lnTo>
                      <a:pt x="8068" y="651118"/>
                    </a:lnTo>
                    <a:lnTo>
                      <a:pt x="17902" y="696680"/>
                    </a:lnTo>
                    <a:lnTo>
                      <a:pt x="31380" y="740774"/>
                    </a:lnTo>
                    <a:lnTo>
                      <a:pt x="48334" y="783233"/>
                    </a:lnTo>
                    <a:lnTo>
                      <a:pt x="68597" y="823891"/>
                    </a:lnTo>
                    <a:lnTo>
                      <a:pt x="92003" y="862580"/>
                    </a:lnTo>
                    <a:lnTo>
                      <a:pt x="118382" y="899134"/>
                    </a:lnTo>
                    <a:lnTo>
                      <a:pt x="147569" y="933385"/>
                    </a:lnTo>
                    <a:lnTo>
                      <a:pt x="179396" y="965166"/>
                    </a:lnTo>
                    <a:lnTo>
                      <a:pt x="213695" y="994311"/>
                    </a:lnTo>
                    <a:lnTo>
                      <a:pt x="250299" y="1020652"/>
                    </a:lnTo>
                    <a:lnTo>
                      <a:pt x="289041" y="1044023"/>
                    </a:lnTo>
                    <a:lnTo>
                      <a:pt x="329754" y="1064257"/>
                    </a:lnTo>
                    <a:lnTo>
                      <a:pt x="372270" y="1081186"/>
                    </a:lnTo>
                    <a:lnTo>
                      <a:pt x="416422" y="1094644"/>
                    </a:lnTo>
                    <a:lnTo>
                      <a:pt x="462043" y="1104464"/>
                    </a:lnTo>
                    <a:lnTo>
                      <a:pt x="508965" y="1110478"/>
                    </a:lnTo>
                    <a:lnTo>
                      <a:pt x="557022" y="1112520"/>
                    </a:lnTo>
                    <a:lnTo>
                      <a:pt x="605078" y="1110478"/>
                    </a:lnTo>
                    <a:lnTo>
                      <a:pt x="652000" y="1104464"/>
                    </a:lnTo>
                    <a:lnTo>
                      <a:pt x="697621" y="1094644"/>
                    </a:lnTo>
                    <a:lnTo>
                      <a:pt x="741773" y="1081186"/>
                    </a:lnTo>
                    <a:lnTo>
                      <a:pt x="784289" y="1064257"/>
                    </a:lnTo>
                    <a:lnTo>
                      <a:pt x="825002" y="1044023"/>
                    </a:lnTo>
                    <a:lnTo>
                      <a:pt x="863744" y="1020652"/>
                    </a:lnTo>
                    <a:lnTo>
                      <a:pt x="900348" y="994311"/>
                    </a:lnTo>
                    <a:lnTo>
                      <a:pt x="934647" y="965166"/>
                    </a:lnTo>
                    <a:lnTo>
                      <a:pt x="966474" y="933385"/>
                    </a:lnTo>
                    <a:lnTo>
                      <a:pt x="995661" y="899134"/>
                    </a:lnTo>
                    <a:lnTo>
                      <a:pt x="1022040" y="862580"/>
                    </a:lnTo>
                    <a:lnTo>
                      <a:pt x="1045446" y="823891"/>
                    </a:lnTo>
                    <a:lnTo>
                      <a:pt x="1065709" y="783233"/>
                    </a:lnTo>
                    <a:lnTo>
                      <a:pt x="1082663" y="740774"/>
                    </a:lnTo>
                    <a:lnTo>
                      <a:pt x="1096141" y="696680"/>
                    </a:lnTo>
                    <a:lnTo>
                      <a:pt x="1105975" y="651118"/>
                    </a:lnTo>
                    <a:lnTo>
                      <a:pt x="1111999" y="604256"/>
                    </a:lnTo>
                    <a:lnTo>
                      <a:pt x="1114044" y="556260"/>
                    </a:lnTo>
                    <a:lnTo>
                      <a:pt x="1111999" y="508263"/>
                    </a:lnTo>
                    <a:lnTo>
                      <a:pt x="1105975" y="461401"/>
                    </a:lnTo>
                    <a:lnTo>
                      <a:pt x="1096141" y="415839"/>
                    </a:lnTo>
                    <a:lnTo>
                      <a:pt x="1082663" y="371745"/>
                    </a:lnTo>
                    <a:lnTo>
                      <a:pt x="1065709" y="329286"/>
                    </a:lnTo>
                    <a:lnTo>
                      <a:pt x="1045446" y="288628"/>
                    </a:lnTo>
                    <a:lnTo>
                      <a:pt x="1022040" y="249939"/>
                    </a:lnTo>
                    <a:lnTo>
                      <a:pt x="995661" y="213385"/>
                    </a:lnTo>
                    <a:lnTo>
                      <a:pt x="966474" y="179134"/>
                    </a:lnTo>
                    <a:lnTo>
                      <a:pt x="934647" y="147353"/>
                    </a:lnTo>
                    <a:lnTo>
                      <a:pt x="900348" y="118208"/>
                    </a:lnTo>
                    <a:lnTo>
                      <a:pt x="863744" y="91867"/>
                    </a:lnTo>
                    <a:lnTo>
                      <a:pt x="825002" y="68496"/>
                    </a:lnTo>
                    <a:lnTo>
                      <a:pt x="784289" y="48262"/>
                    </a:lnTo>
                    <a:lnTo>
                      <a:pt x="741773" y="31333"/>
                    </a:lnTo>
                    <a:lnTo>
                      <a:pt x="697621" y="17875"/>
                    </a:lnTo>
                    <a:lnTo>
                      <a:pt x="652000" y="8055"/>
                    </a:lnTo>
                    <a:lnTo>
                      <a:pt x="605078" y="2041"/>
                    </a:lnTo>
                    <a:lnTo>
                      <a:pt x="557022" y="0"/>
                    </a:lnTo>
                    <a:close/>
                  </a:path>
                </a:pathLst>
              </a:custGeom>
              <a:solidFill>
                <a:srgbClr val="00AFE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Montserrat"/>
                  <a:ea typeface="+mn-ea"/>
                  <a:cs typeface="+mn-cs"/>
                </a:endParaRPr>
              </a:p>
            </p:txBody>
          </p:sp>
        </p:grpSp>
        <p:sp>
          <p:nvSpPr>
            <p:cNvPr id="44" name="object 6">
              <a:extLst>
                <a:ext uri="{FF2B5EF4-FFF2-40B4-BE49-F238E27FC236}">
                  <a16:creationId xmlns:a16="http://schemas.microsoft.com/office/drawing/2014/main" id="{8F70A63F-90B2-42EA-A69A-744CB767BB39}"/>
                </a:ext>
              </a:extLst>
            </p:cNvPr>
            <p:cNvSpPr txBox="1"/>
            <p:nvPr/>
          </p:nvSpPr>
          <p:spPr>
            <a:xfrm>
              <a:off x="3952169" y="3742302"/>
              <a:ext cx="631190"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1" i="0" u="none" strike="noStrike" kern="1200" cap="none" spc="-5" normalizeH="0" baseline="0" noProof="0" dirty="0">
                  <a:ln>
                    <a:noFill/>
                  </a:ln>
                  <a:solidFill>
                    <a:srgbClr val="001F5F"/>
                  </a:solidFill>
                  <a:effectLst/>
                  <a:uLnTx/>
                  <a:uFillTx/>
                  <a:latin typeface="Trebuchet MS"/>
                  <a:ea typeface="+mn-ea"/>
                  <a:cs typeface="Trebuchet MS"/>
                </a:rPr>
                <a:t>CONSTRUIR</a:t>
              </a:r>
              <a:endParaRPr kumimoji="0" sz="900" b="0" i="0" u="none" strike="noStrike" kern="1200" cap="none" spc="0" normalizeH="0" baseline="0" noProof="0">
                <a:ln>
                  <a:noFill/>
                </a:ln>
                <a:solidFill>
                  <a:prstClr val="black"/>
                </a:solidFill>
                <a:effectLst/>
                <a:uLnTx/>
                <a:uFillTx/>
                <a:latin typeface="Trebuchet MS"/>
                <a:ea typeface="+mn-ea"/>
                <a:cs typeface="Trebuchet MS"/>
              </a:endParaRPr>
            </a:p>
          </p:txBody>
        </p:sp>
        <p:sp>
          <p:nvSpPr>
            <p:cNvPr id="45" name="object 7">
              <a:extLst>
                <a:ext uri="{FF2B5EF4-FFF2-40B4-BE49-F238E27FC236}">
                  <a16:creationId xmlns:a16="http://schemas.microsoft.com/office/drawing/2014/main" id="{8B01A13F-D79A-4D2C-B2DE-5DEE8C66E2D4}"/>
                </a:ext>
              </a:extLst>
            </p:cNvPr>
            <p:cNvSpPr/>
            <p:nvPr/>
          </p:nvSpPr>
          <p:spPr>
            <a:xfrm>
              <a:off x="2399466" y="5229981"/>
              <a:ext cx="1112520" cy="1112520"/>
            </a:xfrm>
            <a:custGeom>
              <a:avLst/>
              <a:gdLst/>
              <a:ahLst/>
              <a:cxnLst/>
              <a:rect l="l" t="t" r="r" b="b"/>
              <a:pathLst>
                <a:path w="1112520" h="1112520">
                  <a:moveTo>
                    <a:pt x="556260" y="0"/>
                  </a:moveTo>
                  <a:lnTo>
                    <a:pt x="508263" y="2041"/>
                  </a:lnTo>
                  <a:lnTo>
                    <a:pt x="461401" y="8055"/>
                  </a:lnTo>
                  <a:lnTo>
                    <a:pt x="415839" y="17875"/>
                  </a:lnTo>
                  <a:lnTo>
                    <a:pt x="371745" y="31333"/>
                  </a:lnTo>
                  <a:lnTo>
                    <a:pt x="329286" y="48262"/>
                  </a:lnTo>
                  <a:lnTo>
                    <a:pt x="288628" y="68496"/>
                  </a:lnTo>
                  <a:lnTo>
                    <a:pt x="249939" y="91867"/>
                  </a:lnTo>
                  <a:lnTo>
                    <a:pt x="213385" y="118208"/>
                  </a:lnTo>
                  <a:lnTo>
                    <a:pt x="179134" y="147353"/>
                  </a:lnTo>
                  <a:lnTo>
                    <a:pt x="147353" y="179134"/>
                  </a:lnTo>
                  <a:lnTo>
                    <a:pt x="118208" y="213385"/>
                  </a:lnTo>
                  <a:lnTo>
                    <a:pt x="91867" y="249939"/>
                  </a:lnTo>
                  <a:lnTo>
                    <a:pt x="68496" y="288628"/>
                  </a:lnTo>
                  <a:lnTo>
                    <a:pt x="48262" y="329286"/>
                  </a:lnTo>
                  <a:lnTo>
                    <a:pt x="31333" y="371745"/>
                  </a:lnTo>
                  <a:lnTo>
                    <a:pt x="17875" y="415839"/>
                  </a:lnTo>
                  <a:lnTo>
                    <a:pt x="8055" y="461401"/>
                  </a:lnTo>
                  <a:lnTo>
                    <a:pt x="2041" y="508263"/>
                  </a:lnTo>
                  <a:lnTo>
                    <a:pt x="0" y="556260"/>
                  </a:lnTo>
                  <a:lnTo>
                    <a:pt x="2041" y="604256"/>
                  </a:lnTo>
                  <a:lnTo>
                    <a:pt x="8055" y="651118"/>
                  </a:lnTo>
                  <a:lnTo>
                    <a:pt x="17875" y="696680"/>
                  </a:lnTo>
                  <a:lnTo>
                    <a:pt x="31333" y="740774"/>
                  </a:lnTo>
                  <a:lnTo>
                    <a:pt x="48262" y="783233"/>
                  </a:lnTo>
                  <a:lnTo>
                    <a:pt x="68496" y="823891"/>
                  </a:lnTo>
                  <a:lnTo>
                    <a:pt x="91867" y="862580"/>
                  </a:lnTo>
                  <a:lnTo>
                    <a:pt x="118208" y="899134"/>
                  </a:lnTo>
                  <a:lnTo>
                    <a:pt x="147353" y="933385"/>
                  </a:lnTo>
                  <a:lnTo>
                    <a:pt x="179134" y="965166"/>
                  </a:lnTo>
                  <a:lnTo>
                    <a:pt x="213385" y="994311"/>
                  </a:lnTo>
                  <a:lnTo>
                    <a:pt x="249939" y="1020652"/>
                  </a:lnTo>
                  <a:lnTo>
                    <a:pt x="288628" y="1044023"/>
                  </a:lnTo>
                  <a:lnTo>
                    <a:pt x="329286" y="1064257"/>
                  </a:lnTo>
                  <a:lnTo>
                    <a:pt x="371745" y="1081186"/>
                  </a:lnTo>
                  <a:lnTo>
                    <a:pt x="415839" y="1094644"/>
                  </a:lnTo>
                  <a:lnTo>
                    <a:pt x="461401" y="1104464"/>
                  </a:lnTo>
                  <a:lnTo>
                    <a:pt x="508263" y="1110478"/>
                  </a:lnTo>
                  <a:lnTo>
                    <a:pt x="556260" y="1112520"/>
                  </a:lnTo>
                  <a:lnTo>
                    <a:pt x="604256" y="1110478"/>
                  </a:lnTo>
                  <a:lnTo>
                    <a:pt x="651118" y="1104464"/>
                  </a:lnTo>
                  <a:lnTo>
                    <a:pt x="696680" y="1094644"/>
                  </a:lnTo>
                  <a:lnTo>
                    <a:pt x="740774" y="1081186"/>
                  </a:lnTo>
                  <a:lnTo>
                    <a:pt x="783233" y="1064257"/>
                  </a:lnTo>
                  <a:lnTo>
                    <a:pt x="823891" y="1044023"/>
                  </a:lnTo>
                  <a:lnTo>
                    <a:pt x="862580" y="1020652"/>
                  </a:lnTo>
                  <a:lnTo>
                    <a:pt x="899134" y="994311"/>
                  </a:lnTo>
                  <a:lnTo>
                    <a:pt x="933385" y="965166"/>
                  </a:lnTo>
                  <a:lnTo>
                    <a:pt x="965166" y="933385"/>
                  </a:lnTo>
                  <a:lnTo>
                    <a:pt x="994311" y="899134"/>
                  </a:lnTo>
                  <a:lnTo>
                    <a:pt x="1020652" y="862580"/>
                  </a:lnTo>
                  <a:lnTo>
                    <a:pt x="1044023" y="823891"/>
                  </a:lnTo>
                  <a:lnTo>
                    <a:pt x="1064257" y="783233"/>
                  </a:lnTo>
                  <a:lnTo>
                    <a:pt x="1081186" y="740774"/>
                  </a:lnTo>
                  <a:lnTo>
                    <a:pt x="1094644" y="696680"/>
                  </a:lnTo>
                  <a:lnTo>
                    <a:pt x="1104464" y="651118"/>
                  </a:lnTo>
                  <a:lnTo>
                    <a:pt x="1110478" y="604256"/>
                  </a:lnTo>
                  <a:lnTo>
                    <a:pt x="1112520" y="556260"/>
                  </a:lnTo>
                  <a:lnTo>
                    <a:pt x="1110478" y="508263"/>
                  </a:lnTo>
                  <a:lnTo>
                    <a:pt x="1104464" y="461401"/>
                  </a:lnTo>
                  <a:lnTo>
                    <a:pt x="1094644" y="415839"/>
                  </a:lnTo>
                  <a:lnTo>
                    <a:pt x="1081186" y="371745"/>
                  </a:lnTo>
                  <a:lnTo>
                    <a:pt x="1064257" y="329286"/>
                  </a:lnTo>
                  <a:lnTo>
                    <a:pt x="1044023" y="288628"/>
                  </a:lnTo>
                  <a:lnTo>
                    <a:pt x="1020652" y="249939"/>
                  </a:lnTo>
                  <a:lnTo>
                    <a:pt x="994311" y="213385"/>
                  </a:lnTo>
                  <a:lnTo>
                    <a:pt x="965166" y="179134"/>
                  </a:lnTo>
                  <a:lnTo>
                    <a:pt x="933385" y="147353"/>
                  </a:lnTo>
                  <a:lnTo>
                    <a:pt x="899134" y="118208"/>
                  </a:lnTo>
                  <a:lnTo>
                    <a:pt x="862580" y="91867"/>
                  </a:lnTo>
                  <a:lnTo>
                    <a:pt x="823891" y="68496"/>
                  </a:lnTo>
                  <a:lnTo>
                    <a:pt x="783233" y="48262"/>
                  </a:lnTo>
                  <a:lnTo>
                    <a:pt x="740774" y="31333"/>
                  </a:lnTo>
                  <a:lnTo>
                    <a:pt x="696680" y="17875"/>
                  </a:lnTo>
                  <a:lnTo>
                    <a:pt x="651118" y="8055"/>
                  </a:lnTo>
                  <a:lnTo>
                    <a:pt x="604256" y="2041"/>
                  </a:lnTo>
                  <a:lnTo>
                    <a:pt x="556260" y="0"/>
                  </a:lnTo>
                  <a:close/>
                </a:path>
              </a:pathLst>
            </a:custGeom>
            <a:solidFill>
              <a:srgbClr val="00AFE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Montserrat"/>
                <a:ea typeface="+mn-ea"/>
                <a:cs typeface="+mn-cs"/>
              </a:endParaRPr>
            </a:p>
          </p:txBody>
        </p:sp>
        <p:sp>
          <p:nvSpPr>
            <p:cNvPr id="46" name="object 8">
              <a:extLst>
                <a:ext uri="{FF2B5EF4-FFF2-40B4-BE49-F238E27FC236}">
                  <a16:creationId xmlns:a16="http://schemas.microsoft.com/office/drawing/2014/main" id="{0C7810DC-CE3F-4399-BCC3-314C7D2C6349}"/>
                </a:ext>
              </a:extLst>
            </p:cNvPr>
            <p:cNvSpPr txBox="1"/>
            <p:nvPr/>
          </p:nvSpPr>
          <p:spPr>
            <a:xfrm>
              <a:off x="2783007" y="5701658"/>
              <a:ext cx="349250"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1" i="0" u="none" strike="noStrike" kern="1200" cap="none" spc="65" normalizeH="0" baseline="0" noProof="0" dirty="0">
                  <a:ln>
                    <a:noFill/>
                  </a:ln>
                  <a:solidFill>
                    <a:srgbClr val="001F5F"/>
                  </a:solidFill>
                  <a:effectLst/>
                  <a:uLnTx/>
                  <a:uFillTx/>
                  <a:latin typeface="Trebuchet MS"/>
                  <a:ea typeface="+mn-ea"/>
                  <a:cs typeface="Trebuchet MS"/>
                </a:rPr>
                <a:t>M</a:t>
              </a:r>
              <a:r>
                <a:rPr kumimoji="0" sz="900" b="1" i="0" u="none" strike="noStrike" kern="1200" cap="none" spc="-25" normalizeH="0" baseline="0" noProof="0" dirty="0">
                  <a:ln>
                    <a:noFill/>
                  </a:ln>
                  <a:solidFill>
                    <a:srgbClr val="001F5F"/>
                  </a:solidFill>
                  <a:effectLst/>
                  <a:uLnTx/>
                  <a:uFillTx/>
                  <a:latin typeface="Trebuchet MS"/>
                  <a:ea typeface="+mn-ea"/>
                  <a:cs typeface="Trebuchet MS"/>
                </a:rPr>
                <a:t>E</a:t>
              </a:r>
              <a:r>
                <a:rPr kumimoji="0" sz="900" b="1" i="0" u="none" strike="noStrike" kern="1200" cap="none" spc="30" normalizeH="0" baseline="0" noProof="0" dirty="0">
                  <a:ln>
                    <a:noFill/>
                  </a:ln>
                  <a:solidFill>
                    <a:srgbClr val="001F5F"/>
                  </a:solidFill>
                  <a:effectLst/>
                  <a:uLnTx/>
                  <a:uFillTx/>
                  <a:latin typeface="Trebuchet MS"/>
                  <a:ea typeface="+mn-ea"/>
                  <a:cs typeface="Trebuchet MS"/>
                </a:rPr>
                <a:t>D</a:t>
              </a:r>
              <a:r>
                <a:rPr kumimoji="0" sz="900" b="1" i="0" u="none" strike="noStrike" kern="1200" cap="none" spc="-50" normalizeH="0" baseline="0" noProof="0" dirty="0">
                  <a:ln>
                    <a:noFill/>
                  </a:ln>
                  <a:solidFill>
                    <a:srgbClr val="001F5F"/>
                  </a:solidFill>
                  <a:effectLst/>
                  <a:uLnTx/>
                  <a:uFillTx/>
                  <a:latin typeface="Trebuchet MS"/>
                  <a:ea typeface="+mn-ea"/>
                  <a:cs typeface="Trebuchet MS"/>
                </a:rPr>
                <a:t>IR</a:t>
              </a:r>
              <a:endParaRPr kumimoji="0" sz="900" b="0" i="0" u="none" strike="noStrike" kern="1200" cap="none" spc="0" normalizeH="0" baseline="0" noProof="0">
                <a:ln>
                  <a:noFill/>
                </a:ln>
                <a:solidFill>
                  <a:prstClr val="black"/>
                </a:solidFill>
                <a:effectLst/>
                <a:uLnTx/>
                <a:uFillTx/>
                <a:latin typeface="Trebuchet MS"/>
                <a:ea typeface="+mn-ea"/>
                <a:cs typeface="Trebuchet MS"/>
              </a:endParaRPr>
            </a:p>
          </p:txBody>
        </p:sp>
        <p:sp>
          <p:nvSpPr>
            <p:cNvPr id="47" name="object 9">
              <a:extLst>
                <a:ext uri="{FF2B5EF4-FFF2-40B4-BE49-F238E27FC236}">
                  <a16:creationId xmlns:a16="http://schemas.microsoft.com/office/drawing/2014/main" id="{E9433FD7-9B78-45CD-8561-7CD1FA32E510}"/>
                </a:ext>
              </a:extLst>
            </p:cNvPr>
            <p:cNvSpPr txBox="1"/>
            <p:nvPr/>
          </p:nvSpPr>
          <p:spPr>
            <a:xfrm>
              <a:off x="2791515" y="2950204"/>
              <a:ext cx="32575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1" i="0" u="none" strike="noStrike" kern="1200" cap="none" spc="-65" normalizeH="0" baseline="0" noProof="0" dirty="0">
                  <a:ln>
                    <a:noFill/>
                  </a:ln>
                  <a:solidFill>
                    <a:srgbClr val="F1F1F1"/>
                  </a:solidFill>
                  <a:effectLst/>
                  <a:uLnTx/>
                  <a:uFillTx/>
                  <a:latin typeface="Trebuchet MS"/>
                  <a:ea typeface="+mn-ea"/>
                  <a:cs typeface="Trebuchet MS"/>
                </a:rPr>
                <a:t>I</a:t>
              </a:r>
              <a:r>
                <a:rPr kumimoji="0" sz="900" b="1" i="0" u="none" strike="noStrike" kern="1200" cap="none" spc="30" normalizeH="0" baseline="0" noProof="0" dirty="0">
                  <a:ln>
                    <a:noFill/>
                  </a:ln>
                  <a:solidFill>
                    <a:srgbClr val="F1F1F1"/>
                  </a:solidFill>
                  <a:effectLst/>
                  <a:uLnTx/>
                  <a:uFillTx/>
                  <a:latin typeface="Trebuchet MS"/>
                  <a:ea typeface="+mn-ea"/>
                  <a:cs typeface="Trebuchet MS"/>
                </a:rPr>
                <a:t>D</a:t>
              </a:r>
              <a:r>
                <a:rPr kumimoji="0" sz="900" b="1" i="0" u="none" strike="noStrike" kern="1200" cap="none" spc="-25" normalizeH="0" baseline="0" noProof="0" dirty="0">
                  <a:ln>
                    <a:noFill/>
                  </a:ln>
                  <a:solidFill>
                    <a:srgbClr val="F1F1F1"/>
                  </a:solidFill>
                  <a:effectLst/>
                  <a:uLnTx/>
                  <a:uFillTx/>
                  <a:latin typeface="Trebuchet MS"/>
                  <a:ea typeface="+mn-ea"/>
                  <a:cs typeface="Trebuchet MS"/>
                </a:rPr>
                <a:t>EA</a:t>
              </a:r>
              <a:r>
                <a:rPr kumimoji="0" sz="900" b="1" i="0" u="none" strike="noStrike" kern="1200" cap="none" spc="55" normalizeH="0" baseline="0" noProof="0" dirty="0">
                  <a:ln>
                    <a:noFill/>
                  </a:ln>
                  <a:solidFill>
                    <a:srgbClr val="F1F1F1"/>
                  </a:solidFill>
                  <a:effectLst/>
                  <a:uLnTx/>
                  <a:uFillTx/>
                  <a:latin typeface="Trebuchet MS"/>
                  <a:ea typeface="+mn-ea"/>
                  <a:cs typeface="Trebuchet MS"/>
                </a:rPr>
                <a:t>S</a:t>
              </a:r>
              <a:endParaRPr kumimoji="0" sz="900" b="0" i="0" u="none" strike="noStrike" kern="1200" cap="none" spc="0" normalizeH="0" baseline="0" noProof="0">
                <a:ln>
                  <a:noFill/>
                </a:ln>
                <a:solidFill>
                  <a:prstClr val="black"/>
                </a:solidFill>
                <a:effectLst/>
                <a:uLnTx/>
                <a:uFillTx/>
                <a:latin typeface="Trebuchet MS"/>
                <a:ea typeface="+mn-ea"/>
                <a:cs typeface="Trebuchet MS"/>
              </a:endParaRPr>
            </a:p>
          </p:txBody>
        </p:sp>
        <p:sp>
          <p:nvSpPr>
            <p:cNvPr id="48" name="object 10">
              <a:extLst>
                <a:ext uri="{FF2B5EF4-FFF2-40B4-BE49-F238E27FC236}">
                  <a16:creationId xmlns:a16="http://schemas.microsoft.com/office/drawing/2014/main" id="{08F81F47-4A9D-4C9F-8AA4-F7ECC15A8AFF}"/>
                </a:ext>
              </a:extLst>
            </p:cNvPr>
            <p:cNvSpPr txBox="1"/>
            <p:nvPr/>
          </p:nvSpPr>
          <p:spPr>
            <a:xfrm>
              <a:off x="3715695" y="2950204"/>
              <a:ext cx="25209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238760" algn="l"/>
                </a:tabLst>
                <a:defRPr/>
              </a:pPr>
              <a:r>
                <a:rPr kumimoji="0" sz="900" b="0" i="0" u="heavy" strike="noStrike" kern="1200" cap="none" spc="0" normalizeH="0" baseline="0" noProof="0" dirty="0">
                  <a:ln>
                    <a:noFill/>
                  </a:ln>
                  <a:solidFill>
                    <a:srgbClr val="F1F1F1"/>
                  </a:solidFill>
                  <a:effectLst/>
                  <a:uLnTx/>
                  <a:uFill>
                    <a:solidFill>
                      <a:srgbClr val="404040"/>
                    </a:solidFill>
                  </a:uFill>
                  <a:latin typeface="Times New Roman"/>
                  <a:ea typeface="+mn-ea"/>
                  <a:cs typeface="Times New Roman"/>
                </a:rPr>
                <a:t> 	</a:t>
              </a:r>
              <a:endParaRPr kumimoji="0" sz="9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49" name="object 11">
              <a:extLst>
                <a:ext uri="{FF2B5EF4-FFF2-40B4-BE49-F238E27FC236}">
                  <a16:creationId xmlns:a16="http://schemas.microsoft.com/office/drawing/2014/main" id="{56D75B63-E0BA-4D82-B661-50BE55DD109C}"/>
                </a:ext>
              </a:extLst>
            </p:cNvPr>
            <p:cNvSpPr txBox="1"/>
            <p:nvPr/>
          </p:nvSpPr>
          <p:spPr>
            <a:xfrm>
              <a:off x="3944930" y="5060562"/>
              <a:ext cx="61912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1" i="0" u="none" strike="noStrike" kern="1200" cap="none" spc="0" normalizeH="0" baseline="0" noProof="0" dirty="0">
                  <a:ln>
                    <a:noFill/>
                  </a:ln>
                  <a:solidFill>
                    <a:srgbClr val="F1F1F1"/>
                  </a:solidFill>
                  <a:effectLst/>
                  <a:uLnTx/>
                  <a:uFillTx/>
                  <a:latin typeface="Trebuchet MS"/>
                  <a:ea typeface="+mn-ea"/>
                  <a:cs typeface="Trebuchet MS"/>
                </a:rPr>
                <a:t>PRODUCTO</a:t>
              </a:r>
              <a:endParaRPr kumimoji="0" sz="900" b="0" i="0" u="none" strike="noStrike" kern="1200" cap="none" spc="0" normalizeH="0" baseline="0" noProof="0">
                <a:ln>
                  <a:noFill/>
                </a:ln>
                <a:solidFill>
                  <a:prstClr val="black"/>
                </a:solidFill>
                <a:effectLst/>
                <a:uLnTx/>
                <a:uFillTx/>
                <a:latin typeface="Trebuchet MS"/>
                <a:ea typeface="+mn-ea"/>
                <a:cs typeface="Trebuchet MS"/>
              </a:endParaRPr>
            </a:p>
          </p:txBody>
        </p:sp>
        <p:sp>
          <p:nvSpPr>
            <p:cNvPr id="50" name="object 12">
              <a:extLst>
                <a:ext uri="{FF2B5EF4-FFF2-40B4-BE49-F238E27FC236}">
                  <a16:creationId xmlns:a16="http://schemas.microsoft.com/office/drawing/2014/main" id="{BA73713F-BDA9-4A47-A762-DF9D8873385B}"/>
                </a:ext>
              </a:extLst>
            </p:cNvPr>
            <p:cNvSpPr txBox="1"/>
            <p:nvPr/>
          </p:nvSpPr>
          <p:spPr>
            <a:xfrm>
              <a:off x="1582730" y="5060562"/>
              <a:ext cx="389890"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1" i="0" u="none" strike="noStrike" kern="1200" cap="none" spc="30" normalizeH="0" baseline="0" noProof="0" dirty="0">
                  <a:ln>
                    <a:noFill/>
                  </a:ln>
                  <a:solidFill>
                    <a:srgbClr val="F1F1F1"/>
                  </a:solidFill>
                  <a:effectLst/>
                  <a:uLnTx/>
                  <a:uFillTx/>
                  <a:latin typeface="Trebuchet MS"/>
                  <a:ea typeface="+mn-ea"/>
                  <a:cs typeface="Trebuchet MS"/>
                </a:rPr>
                <a:t>D</a:t>
              </a:r>
              <a:r>
                <a:rPr kumimoji="0" sz="900" b="1" i="0" u="none" strike="noStrike" kern="1200" cap="none" spc="-15" normalizeH="0" baseline="0" noProof="0" dirty="0">
                  <a:ln>
                    <a:noFill/>
                  </a:ln>
                  <a:solidFill>
                    <a:srgbClr val="F1F1F1"/>
                  </a:solidFill>
                  <a:effectLst/>
                  <a:uLnTx/>
                  <a:uFillTx/>
                  <a:latin typeface="Trebuchet MS"/>
                  <a:ea typeface="+mn-ea"/>
                  <a:cs typeface="Trebuchet MS"/>
                </a:rPr>
                <a:t>A</a:t>
              </a:r>
              <a:r>
                <a:rPr kumimoji="0" sz="900" b="1" i="0" u="none" strike="noStrike" kern="1200" cap="none" spc="-25" normalizeH="0" baseline="0" noProof="0" dirty="0">
                  <a:ln>
                    <a:noFill/>
                  </a:ln>
                  <a:solidFill>
                    <a:srgbClr val="F1F1F1"/>
                  </a:solidFill>
                  <a:effectLst/>
                  <a:uLnTx/>
                  <a:uFillTx/>
                  <a:latin typeface="Trebuchet MS"/>
                  <a:ea typeface="+mn-ea"/>
                  <a:cs typeface="Trebuchet MS"/>
                </a:rPr>
                <a:t>T</a:t>
              </a:r>
              <a:r>
                <a:rPr kumimoji="0" sz="900" b="1" i="0" u="none" strike="noStrike" kern="1200" cap="none" spc="10" normalizeH="0" baseline="0" noProof="0" dirty="0">
                  <a:ln>
                    <a:noFill/>
                  </a:ln>
                  <a:solidFill>
                    <a:srgbClr val="F1F1F1"/>
                  </a:solidFill>
                  <a:effectLst/>
                  <a:uLnTx/>
                  <a:uFillTx/>
                  <a:latin typeface="Trebuchet MS"/>
                  <a:ea typeface="+mn-ea"/>
                  <a:cs typeface="Trebuchet MS"/>
                </a:rPr>
                <a:t>O</a:t>
              </a:r>
              <a:r>
                <a:rPr kumimoji="0" sz="900" b="1" i="0" u="none" strike="noStrike" kern="1200" cap="none" spc="55" normalizeH="0" baseline="0" noProof="0" dirty="0">
                  <a:ln>
                    <a:noFill/>
                  </a:ln>
                  <a:solidFill>
                    <a:srgbClr val="F1F1F1"/>
                  </a:solidFill>
                  <a:effectLst/>
                  <a:uLnTx/>
                  <a:uFillTx/>
                  <a:latin typeface="Trebuchet MS"/>
                  <a:ea typeface="+mn-ea"/>
                  <a:cs typeface="Trebuchet MS"/>
                </a:rPr>
                <a:t>S</a:t>
              </a:r>
              <a:endParaRPr kumimoji="0" sz="900" b="0" i="0" u="none" strike="noStrike" kern="1200" cap="none" spc="0" normalizeH="0" baseline="0" noProof="0">
                <a:ln>
                  <a:noFill/>
                </a:ln>
                <a:solidFill>
                  <a:prstClr val="black"/>
                </a:solidFill>
                <a:effectLst/>
                <a:uLnTx/>
                <a:uFillTx/>
                <a:latin typeface="Trebuchet MS"/>
                <a:ea typeface="+mn-ea"/>
                <a:cs typeface="Trebuchet MS"/>
              </a:endParaRPr>
            </a:p>
          </p:txBody>
        </p:sp>
        <p:grpSp>
          <p:nvGrpSpPr>
            <p:cNvPr id="51" name="object 13">
              <a:extLst>
                <a:ext uri="{FF2B5EF4-FFF2-40B4-BE49-F238E27FC236}">
                  <a16:creationId xmlns:a16="http://schemas.microsoft.com/office/drawing/2014/main" id="{6B2C3EC6-1C04-405F-A44B-6E47735DFE0D}"/>
                </a:ext>
              </a:extLst>
            </p:cNvPr>
            <p:cNvGrpSpPr/>
            <p:nvPr/>
          </p:nvGrpSpPr>
          <p:grpSpPr>
            <a:xfrm>
              <a:off x="1195507" y="3193409"/>
              <a:ext cx="2734310" cy="2593340"/>
              <a:chOff x="7312152" y="1617980"/>
              <a:chExt cx="2734310" cy="2593340"/>
            </a:xfrm>
          </p:grpSpPr>
          <p:sp>
            <p:nvSpPr>
              <p:cNvPr id="52" name="object 14">
                <a:extLst>
                  <a:ext uri="{FF2B5EF4-FFF2-40B4-BE49-F238E27FC236}">
                    <a16:creationId xmlns:a16="http://schemas.microsoft.com/office/drawing/2014/main" id="{AD4F1008-DE44-4648-B099-FF4CFA4C6E0A}"/>
                  </a:ext>
                </a:extLst>
              </p:cNvPr>
              <p:cNvSpPr/>
              <p:nvPr/>
            </p:nvSpPr>
            <p:spPr>
              <a:xfrm>
                <a:off x="7557389" y="1617979"/>
                <a:ext cx="2489200" cy="2593340"/>
              </a:xfrm>
              <a:custGeom>
                <a:avLst/>
                <a:gdLst/>
                <a:ahLst/>
                <a:cxnLst/>
                <a:rect l="l" t="t" r="r" b="b"/>
                <a:pathLst>
                  <a:path w="2489200" h="2593340">
                    <a:moveTo>
                      <a:pt x="285369" y="1294892"/>
                    </a:moveTo>
                    <a:lnTo>
                      <a:pt x="142621" y="1152144"/>
                    </a:lnTo>
                    <a:lnTo>
                      <a:pt x="0" y="1294892"/>
                    </a:lnTo>
                    <a:lnTo>
                      <a:pt x="16383" y="1311275"/>
                    </a:lnTo>
                    <a:lnTo>
                      <a:pt x="140081" y="1187704"/>
                    </a:lnTo>
                    <a:lnTo>
                      <a:pt x="266319" y="1313942"/>
                    </a:lnTo>
                    <a:lnTo>
                      <a:pt x="285369" y="1294892"/>
                    </a:lnTo>
                    <a:close/>
                  </a:path>
                  <a:path w="2489200" h="2593340">
                    <a:moveTo>
                      <a:pt x="2272411" y="2569210"/>
                    </a:moveTo>
                    <a:lnTo>
                      <a:pt x="2096770" y="2569210"/>
                    </a:lnTo>
                    <a:lnTo>
                      <a:pt x="2096770" y="2390140"/>
                    </a:lnTo>
                    <a:lnTo>
                      <a:pt x="2069719" y="2390140"/>
                    </a:lnTo>
                    <a:lnTo>
                      <a:pt x="2069719" y="2569210"/>
                    </a:lnTo>
                    <a:lnTo>
                      <a:pt x="2069719" y="2593340"/>
                    </a:lnTo>
                    <a:lnTo>
                      <a:pt x="2272411" y="2593340"/>
                    </a:lnTo>
                    <a:lnTo>
                      <a:pt x="2272411" y="2569210"/>
                    </a:lnTo>
                    <a:close/>
                  </a:path>
                  <a:path w="2489200" h="2593340">
                    <a:moveTo>
                      <a:pt x="2488819" y="0"/>
                    </a:moveTo>
                    <a:lnTo>
                      <a:pt x="2465578" y="0"/>
                    </a:lnTo>
                    <a:lnTo>
                      <a:pt x="2465578" y="176530"/>
                    </a:lnTo>
                    <a:lnTo>
                      <a:pt x="2488819" y="176530"/>
                    </a:lnTo>
                    <a:lnTo>
                      <a:pt x="2488819" y="0"/>
                    </a:lnTo>
                    <a:close/>
                  </a:path>
                </a:pathLst>
              </a:custGeom>
              <a:solidFill>
                <a:srgbClr val="40404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Montserrat"/>
                  <a:ea typeface="+mn-ea"/>
                  <a:cs typeface="+mn-cs"/>
                </a:endParaRPr>
              </a:p>
            </p:txBody>
          </p:sp>
          <p:sp>
            <p:nvSpPr>
              <p:cNvPr id="53" name="object 15">
                <a:extLst>
                  <a:ext uri="{FF2B5EF4-FFF2-40B4-BE49-F238E27FC236}">
                    <a16:creationId xmlns:a16="http://schemas.microsoft.com/office/drawing/2014/main" id="{B1932615-578D-4DC4-AA80-473C70E2721E}"/>
                  </a:ext>
                </a:extLst>
              </p:cNvPr>
              <p:cNvSpPr/>
              <p:nvPr/>
            </p:nvSpPr>
            <p:spPr>
              <a:xfrm>
                <a:off x="7312152" y="1696212"/>
                <a:ext cx="1112520" cy="1112520"/>
              </a:xfrm>
              <a:custGeom>
                <a:avLst/>
                <a:gdLst/>
                <a:ahLst/>
                <a:cxnLst/>
                <a:rect l="l" t="t" r="r" b="b"/>
                <a:pathLst>
                  <a:path w="1112520" h="1112520">
                    <a:moveTo>
                      <a:pt x="556259" y="0"/>
                    </a:moveTo>
                    <a:lnTo>
                      <a:pt x="508263" y="2041"/>
                    </a:lnTo>
                    <a:lnTo>
                      <a:pt x="461401" y="8055"/>
                    </a:lnTo>
                    <a:lnTo>
                      <a:pt x="415839" y="17875"/>
                    </a:lnTo>
                    <a:lnTo>
                      <a:pt x="371745" y="31333"/>
                    </a:lnTo>
                    <a:lnTo>
                      <a:pt x="329286" y="48262"/>
                    </a:lnTo>
                    <a:lnTo>
                      <a:pt x="288628" y="68496"/>
                    </a:lnTo>
                    <a:lnTo>
                      <a:pt x="249939" y="91867"/>
                    </a:lnTo>
                    <a:lnTo>
                      <a:pt x="213385" y="118208"/>
                    </a:lnTo>
                    <a:lnTo>
                      <a:pt x="179134" y="147353"/>
                    </a:lnTo>
                    <a:lnTo>
                      <a:pt x="147353" y="179134"/>
                    </a:lnTo>
                    <a:lnTo>
                      <a:pt x="118208" y="213385"/>
                    </a:lnTo>
                    <a:lnTo>
                      <a:pt x="91867" y="249939"/>
                    </a:lnTo>
                    <a:lnTo>
                      <a:pt x="68496" y="288628"/>
                    </a:lnTo>
                    <a:lnTo>
                      <a:pt x="48262" y="329286"/>
                    </a:lnTo>
                    <a:lnTo>
                      <a:pt x="31333" y="371745"/>
                    </a:lnTo>
                    <a:lnTo>
                      <a:pt x="17875" y="415839"/>
                    </a:lnTo>
                    <a:lnTo>
                      <a:pt x="8055" y="461401"/>
                    </a:lnTo>
                    <a:lnTo>
                      <a:pt x="2041" y="508263"/>
                    </a:lnTo>
                    <a:lnTo>
                      <a:pt x="0" y="556260"/>
                    </a:lnTo>
                    <a:lnTo>
                      <a:pt x="2041" y="604256"/>
                    </a:lnTo>
                    <a:lnTo>
                      <a:pt x="8055" y="651118"/>
                    </a:lnTo>
                    <a:lnTo>
                      <a:pt x="17875" y="696680"/>
                    </a:lnTo>
                    <a:lnTo>
                      <a:pt x="31333" y="740774"/>
                    </a:lnTo>
                    <a:lnTo>
                      <a:pt x="48262" y="783233"/>
                    </a:lnTo>
                    <a:lnTo>
                      <a:pt x="68496" y="823891"/>
                    </a:lnTo>
                    <a:lnTo>
                      <a:pt x="91867" y="862580"/>
                    </a:lnTo>
                    <a:lnTo>
                      <a:pt x="118208" y="899134"/>
                    </a:lnTo>
                    <a:lnTo>
                      <a:pt x="147353" y="933385"/>
                    </a:lnTo>
                    <a:lnTo>
                      <a:pt x="179134" y="965166"/>
                    </a:lnTo>
                    <a:lnTo>
                      <a:pt x="213385" y="994311"/>
                    </a:lnTo>
                    <a:lnTo>
                      <a:pt x="249939" y="1020652"/>
                    </a:lnTo>
                    <a:lnTo>
                      <a:pt x="288628" y="1044023"/>
                    </a:lnTo>
                    <a:lnTo>
                      <a:pt x="329286" y="1064257"/>
                    </a:lnTo>
                    <a:lnTo>
                      <a:pt x="371745" y="1081186"/>
                    </a:lnTo>
                    <a:lnTo>
                      <a:pt x="415839" y="1094644"/>
                    </a:lnTo>
                    <a:lnTo>
                      <a:pt x="461401" y="1104464"/>
                    </a:lnTo>
                    <a:lnTo>
                      <a:pt x="508263" y="1110478"/>
                    </a:lnTo>
                    <a:lnTo>
                      <a:pt x="556259" y="1112520"/>
                    </a:lnTo>
                    <a:lnTo>
                      <a:pt x="604256" y="1110478"/>
                    </a:lnTo>
                    <a:lnTo>
                      <a:pt x="651118" y="1104464"/>
                    </a:lnTo>
                    <a:lnTo>
                      <a:pt x="696680" y="1094644"/>
                    </a:lnTo>
                    <a:lnTo>
                      <a:pt x="740774" y="1081186"/>
                    </a:lnTo>
                    <a:lnTo>
                      <a:pt x="783233" y="1064257"/>
                    </a:lnTo>
                    <a:lnTo>
                      <a:pt x="823891" y="1044023"/>
                    </a:lnTo>
                    <a:lnTo>
                      <a:pt x="862580" y="1020652"/>
                    </a:lnTo>
                    <a:lnTo>
                      <a:pt x="899134" y="994311"/>
                    </a:lnTo>
                    <a:lnTo>
                      <a:pt x="933385" y="965166"/>
                    </a:lnTo>
                    <a:lnTo>
                      <a:pt x="965166" y="933385"/>
                    </a:lnTo>
                    <a:lnTo>
                      <a:pt x="994311" y="899134"/>
                    </a:lnTo>
                    <a:lnTo>
                      <a:pt x="1020652" y="862580"/>
                    </a:lnTo>
                    <a:lnTo>
                      <a:pt x="1044023" y="823891"/>
                    </a:lnTo>
                    <a:lnTo>
                      <a:pt x="1064257" y="783233"/>
                    </a:lnTo>
                    <a:lnTo>
                      <a:pt x="1081186" y="740774"/>
                    </a:lnTo>
                    <a:lnTo>
                      <a:pt x="1094644" y="696680"/>
                    </a:lnTo>
                    <a:lnTo>
                      <a:pt x="1104464" y="651118"/>
                    </a:lnTo>
                    <a:lnTo>
                      <a:pt x="1110478" y="604256"/>
                    </a:lnTo>
                    <a:lnTo>
                      <a:pt x="1112520" y="556260"/>
                    </a:lnTo>
                    <a:lnTo>
                      <a:pt x="1110478" y="508263"/>
                    </a:lnTo>
                    <a:lnTo>
                      <a:pt x="1104464" y="461401"/>
                    </a:lnTo>
                    <a:lnTo>
                      <a:pt x="1094644" y="415839"/>
                    </a:lnTo>
                    <a:lnTo>
                      <a:pt x="1081186" y="371745"/>
                    </a:lnTo>
                    <a:lnTo>
                      <a:pt x="1064257" y="329286"/>
                    </a:lnTo>
                    <a:lnTo>
                      <a:pt x="1044023" y="288628"/>
                    </a:lnTo>
                    <a:lnTo>
                      <a:pt x="1020652" y="249939"/>
                    </a:lnTo>
                    <a:lnTo>
                      <a:pt x="994311" y="213385"/>
                    </a:lnTo>
                    <a:lnTo>
                      <a:pt x="965166" y="179134"/>
                    </a:lnTo>
                    <a:lnTo>
                      <a:pt x="933385" y="147353"/>
                    </a:lnTo>
                    <a:lnTo>
                      <a:pt x="899134" y="118208"/>
                    </a:lnTo>
                    <a:lnTo>
                      <a:pt x="862580" y="91867"/>
                    </a:lnTo>
                    <a:lnTo>
                      <a:pt x="823891" y="68496"/>
                    </a:lnTo>
                    <a:lnTo>
                      <a:pt x="783233" y="48262"/>
                    </a:lnTo>
                    <a:lnTo>
                      <a:pt x="740774" y="31333"/>
                    </a:lnTo>
                    <a:lnTo>
                      <a:pt x="696680" y="17875"/>
                    </a:lnTo>
                    <a:lnTo>
                      <a:pt x="651118" y="8055"/>
                    </a:lnTo>
                    <a:lnTo>
                      <a:pt x="604256" y="2041"/>
                    </a:lnTo>
                    <a:lnTo>
                      <a:pt x="556259" y="0"/>
                    </a:lnTo>
                    <a:close/>
                  </a:path>
                </a:pathLst>
              </a:custGeom>
              <a:solidFill>
                <a:srgbClr val="00AFE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Montserrat"/>
                  <a:ea typeface="+mn-ea"/>
                  <a:cs typeface="+mn-cs"/>
                </a:endParaRPr>
              </a:p>
            </p:txBody>
          </p:sp>
        </p:grpSp>
        <p:sp>
          <p:nvSpPr>
            <p:cNvPr id="54" name="object 16">
              <a:extLst>
                <a:ext uri="{FF2B5EF4-FFF2-40B4-BE49-F238E27FC236}">
                  <a16:creationId xmlns:a16="http://schemas.microsoft.com/office/drawing/2014/main" id="{0C6EA8B3-AE7D-4718-A0C8-78BCDA6AA4D6}"/>
                </a:ext>
              </a:extLst>
            </p:cNvPr>
            <p:cNvSpPr txBox="1"/>
            <p:nvPr/>
          </p:nvSpPr>
          <p:spPr>
            <a:xfrm>
              <a:off x="1465636" y="3742302"/>
              <a:ext cx="57340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1" i="0" u="none" strike="noStrike" kern="1200" cap="none" spc="-15" normalizeH="0" baseline="0" noProof="0" dirty="0">
                  <a:ln>
                    <a:noFill/>
                  </a:ln>
                  <a:solidFill>
                    <a:srgbClr val="001F5F"/>
                  </a:solidFill>
                  <a:effectLst/>
                  <a:uLnTx/>
                  <a:uFillTx/>
                  <a:latin typeface="Trebuchet MS"/>
                  <a:ea typeface="+mn-ea"/>
                  <a:cs typeface="Trebuchet MS"/>
                </a:rPr>
                <a:t>A</a:t>
              </a:r>
              <a:r>
                <a:rPr kumimoji="0" sz="900" b="1" i="0" u="none" strike="noStrike" kern="1200" cap="none" spc="-20" normalizeH="0" baseline="0" noProof="0" dirty="0">
                  <a:ln>
                    <a:noFill/>
                  </a:ln>
                  <a:solidFill>
                    <a:srgbClr val="001F5F"/>
                  </a:solidFill>
                  <a:effectLst/>
                  <a:uLnTx/>
                  <a:uFillTx/>
                  <a:latin typeface="Trebuchet MS"/>
                  <a:ea typeface="+mn-ea"/>
                  <a:cs typeface="Trebuchet MS"/>
                </a:rPr>
                <a:t>P</a:t>
              </a:r>
              <a:r>
                <a:rPr kumimoji="0" sz="900" b="1" i="0" u="none" strike="noStrike" kern="1200" cap="none" spc="-30" normalizeH="0" baseline="0" noProof="0" dirty="0">
                  <a:ln>
                    <a:noFill/>
                  </a:ln>
                  <a:solidFill>
                    <a:srgbClr val="001F5F"/>
                  </a:solidFill>
                  <a:effectLst/>
                  <a:uLnTx/>
                  <a:uFillTx/>
                  <a:latin typeface="Trebuchet MS"/>
                  <a:ea typeface="+mn-ea"/>
                  <a:cs typeface="Trebuchet MS"/>
                </a:rPr>
                <a:t>R</a:t>
              </a:r>
              <a:r>
                <a:rPr kumimoji="0" sz="900" b="1" i="0" u="none" strike="noStrike" kern="1200" cap="none" spc="-25" normalizeH="0" baseline="0" noProof="0" dirty="0">
                  <a:ln>
                    <a:noFill/>
                  </a:ln>
                  <a:solidFill>
                    <a:srgbClr val="001F5F"/>
                  </a:solidFill>
                  <a:effectLst/>
                  <a:uLnTx/>
                  <a:uFillTx/>
                  <a:latin typeface="Trebuchet MS"/>
                  <a:ea typeface="+mn-ea"/>
                  <a:cs typeface="Trebuchet MS"/>
                </a:rPr>
                <a:t>E</a:t>
              </a:r>
              <a:r>
                <a:rPr kumimoji="0" sz="900" b="1" i="0" u="none" strike="noStrike" kern="1200" cap="none" spc="0" normalizeH="0" baseline="0" noProof="0" dirty="0">
                  <a:ln>
                    <a:noFill/>
                  </a:ln>
                  <a:solidFill>
                    <a:srgbClr val="001F5F"/>
                  </a:solidFill>
                  <a:effectLst/>
                  <a:uLnTx/>
                  <a:uFillTx/>
                  <a:latin typeface="Trebuchet MS"/>
                  <a:ea typeface="+mn-ea"/>
                  <a:cs typeface="Trebuchet MS"/>
                </a:rPr>
                <a:t>ND</a:t>
              </a:r>
              <a:r>
                <a:rPr kumimoji="0" sz="900" b="1" i="0" u="none" strike="noStrike" kern="1200" cap="none" spc="-10" normalizeH="0" baseline="0" noProof="0" dirty="0">
                  <a:ln>
                    <a:noFill/>
                  </a:ln>
                  <a:solidFill>
                    <a:srgbClr val="001F5F"/>
                  </a:solidFill>
                  <a:effectLst/>
                  <a:uLnTx/>
                  <a:uFillTx/>
                  <a:latin typeface="Trebuchet MS"/>
                  <a:ea typeface="+mn-ea"/>
                  <a:cs typeface="Trebuchet MS"/>
                </a:rPr>
                <a:t>E</a:t>
              </a:r>
              <a:r>
                <a:rPr kumimoji="0" sz="900" b="1" i="0" u="none" strike="noStrike" kern="1200" cap="none" spc="-30" normalizeH="0" baseline="0" noProof="0" dirty="0">
                  <a:ln>
                    <a:noFill/>
                  </a:ln>
                  <a:solidFill>
                    <a:srgbClr val="001F5F"/>
                  </a:solidFill>
                  <a:effectLst/>
                  <a:uLnTx/>
                  <a:uFillTx/>
                  <a:latin typeface="Trebuchet MS"/>
                  <a:ea typeface="+mn-ea"/>
                  <a:cs typeface="Trebuchet MS"/>
                </a:rPr>
                <a:t>R</a:t>
              </a:r>
              <a:endParaRPr kumimoji="0" sz="900" b="0" i="0" u="none" strike="noStrike" kern="1200" cap="none" spc="0" normalizeH="0" baseline="0" noProof="0">
                <a:ln>
                  <a:noFill/>
                </a:ln>
                <a:solidFill>
                  <a:prstClr val="black"/>
                </a:solidFill>
                <a:effectLst/>
                <a:uLnTx/>
                <a:uFillTx/>
                <a:latin typeface="Trebuchet MS"/>
                <a:ea typeface="+mn-ea"/>
                <a:cs typeface="Trebuchet MS"/>
              </a:endParaRPr>
            </a:p>
          </p:txBody>
        </p:sp>
      </p:grpSp>
    </p:spTree>
    <p:extLst>
      <p:ext uri="{BB962C8B-B14F-4D97-AF65-F5344CB8AC3E}">
        <p14:creationId xmlns:p14="http://schemas.microsoft.com/office/powerpoint/2010/main" val="191128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00E4B73-8FF8-43FC-AC8D-04EEC21777A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836725" y="1311022"/>
            <a:ext cx="4518549" cy="4957339"/>
          </a:xfrm>
          <a:prstGeom prst="rect">
            <a:avLst/>
          </a:prstGeom>
        </p:spPr>
      </p:pic>
      <p:sp>
        <p:nvSpPr>
          <p:cNvPr id="3" name="CuadroTexto 2">
            <a:extLst>
              <a:ext uri="{FF2B5EF4-FFF2-40B4-BE49-F238E27FC236}">
                <a16:creationId xmlns:a16="http://schemas.microsoft.com/office/drawing/2014/main" id="{D12D8438-A502-FE81-5F54-37BF99153C01}"/>
              </a:ext>
            </a:extLst>
          </p:cNvPr>
          <p:cNvSpPr txBox="1"/>
          <p:nvPr/>
        </p:nvSpPr>
        <p:spPr>
          <a:xfrm>
            <a:off x="663218" y="6268361"/>
            <a:ext cx="2114618" cy="276999"/>
          </a:xfrm>
          <a:prstGeom prst="rect">
            <a:avLst/>
          </a:prstGeom>
          <a:noFill/>
        </p:spPr>
        <p:txBody>
          <a:bodyPr wrap="none" rtlCol="0">
            <a:spAutoFit/>
          </a:bodyPr>
          <a:lstStyle/>
          <a:p>
            <a:r>
              <a:rPr lang="es-CL" sz="1200" dirty="0">
                <a:latin typeface="Avenir Next" panose="020B0503020202020204" pitchFamily="34" charset="0"/>
              </a:rPr>
              <a:t>Fuente: Osterwalder (2018)</a:t>
            </a:r>
          </a:p>
        </p:txBody>
      </p:sp>
      <p:sp>
        <p:nvSpPr>
          <p:cNvPr id="5" name="TextBox 1">
            <a:extLst>
              <a:ext uri="{FF2B5EF4-FFF2-40B4-BE49-F238E27FC236}">
                <a16:creationId xmlns:a16="http://schemas.microsoft.com/office/drawing/2014/main" id="{4F19827C-D452-D487-4449-40A77AD79388}"/>
              </a:ext>
            </a:extLst>
          </p:cNvPr>
          <p:cNvSpPr txBox="1"/>
          <p:nvPr/>
        </p:nvSpPr>
        <p:spPr>
          <a:xfrm>
            <a:off x="663217" y="425498"/>
            <a:ext cx="1089537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000000"/>
                </a:solidFill>
                <a:effectLst/>
                <a:uLnTx/>
                <a:uFillTx/>
                <a:latin typeface="Avenir Next" panose="020B0503020202020204" pitchFamily="34" charset="0"/>
              </a:rPr>
              <a:t>EL PROCESO ITERATIVO</a:t>
            </a:r>
            <a:endParaRPr kumimoji="0" lang="es-CL" sz="2400" b="1" i="0" u="none" strike="noStrike" kern="1200" cap="none" spc="0" normalizeH="0" baseline="0" noProof="0" dirty="0">
              <a:ln>
                <a:noFill/>
              </a:ln>
              <a:solidFill>
                <a:srgbClr val="000000"/>
              </a:solidFill>
              <a:effectLst/>
              <a:uLnTx/>
              <a:uFillTx/>
              <a:latin typeface="Avenir Next" panose="020B0503020202020204" pitchFamily="34" charset="0"/>
            </a:endParaRPr>
          </a:p>
        </p:txBody>
      </p:sp>
      <p:sp>
        <p:nvSpPr>
          <p:cNvPr id="2" name="Elipse 1">
            <a:extLst>
              <a:ext uri="{FF2B5EF4-FFF2-40B4-BE49-F238E27FC236}">
                <a16:creationId xmlns:a16="http://schemas.microsoft.com/office/drawing/2014/main" id="{5FB9E630-A85C-74A7-0A9F-B6EB2C6A9AED}"/>
              </a:ext>
            </a:extLst>
          </p:cNvPr>
          <p:cNvSpPr/>
          <p:nvPr/>
        </p:nvSpPr>
        <p:spPr>
          <a:xfrm>
            <a:off x="2579103" y="4376057"/>
            <a:ext cx="555983" cy="5551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1</a:t>
            </a:r>
          </a:p>
        </p:txBody>
      </p:sp>
      <p:sp>
        <p:nvSpPr>
          <p:cNvPr id="6" name="CuadroTexto 5">
            <a:extLst>
              <a:ext uri="{FF2B5EF4-FFF2-40B4-BE49-F238E27FC236}">
                <a16:creationId xmlns:a16="http://schemas.microsoft.com/office/drawing/2014/main" id="{FB28519E-FE92-1E41-33CE-0DF9F710AB09}"/>
              </a:ext>
            </a:extLst>
          </p:cNvPr>
          <p:cNvSpPr txBox="1"/>
          <p:nvPr/>
        </p:nvSpPr>
        <p:spPr>
          <a:xfrm flipH="1">
            <a:off x="3135085" y="4413582"/>
            <a:ext cx="1058889" cy="461665"/>
          </a:xfrm>
          <a:prstGeom prst="rect">
            <a:avLst/>
          </a:prstGeom>
          <a:noFill/>
        </p:spPr>
        <p:txBody>
          <a:bodyPr wrap="square" rtlCol="0">
            <a:spAutoFit/>
          </a:bodyPr>
          <a:lstStyle/>
          <a:p>
            <a:r>
              <a:rPr lang="es-CL" sz="1200" dirty="0"/>
              <a:t>TENGO UNA IDEA</a:t>
            </a:r>
          </a:p>
        </p:txBody>
      </p:sp>
      <p:sp>
        <p:nvSpPr>
          <p:cNvPr id="7" name="Elipse 6">
            <a:extLst>
              <a:ext uri="{FF2B5EF4-FFF2-40B4-BE49-F238E27FC236}">
                <a16:creationId xmlns:a16="http://schemas.microsoft.com/office/drawing/2014/main" id="{AE35D521-BDA7-559D-299D-3D53DE531CEF}"/>
              </a:ext>
            </a:extLst>
          </p:cNvPr>
          <p:cNvSpPr/>
          <p:nvPr/>
        </p:nvSpPr>
        <p:spPr>
          <a:xfrm>
            <a:off x="6552389" y="2612571"/>
            <a:ext cx="555983" cy="5551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2</a:t>
            </a:r>
          </a:p>
        </p:txBody>
      </p:sp>
      <p:sp>
        <p:nvSpPr>
          <p:cNvPr id="8" name="CuadroTexto 7">
            <a:extLst>
              <a:ext uri="{FF2B5EF4-FFF2-40B4-BE49-F238E27FC236}">
                <a16:creationId xmlns:a16="http://schemas.microsoft.com/office/drawing/2014/main" id="{C956C620-3234-9A69-9090-EBF44097E8FC}"/>
              </a:ext>
            </a:extLst>
          </p:cNvPr>
          <p:cNvSpPr txBox="1"/>
          <p:nvPr/>
        </p:nvSpPr>
        <p:spPr>
          <a:xfrm flipH="1">
            <a:off x="7108369" y="2650096"/>
            <a:ext cx="2504528" cy="461665"/>
          </a:xfrm>
          <a:prstGeom prst="rect">
            <a:avLst/>
          </a:prstGeom>
          <a:noFill/>
        </p:spPr>
        <p:txBody>
          <a:bodyPr wrap="square" rtlCol="0">
            <a:spAutoFit/>
          </a:bodyPr>
          <a:lstStyle/>
          <a:p>
            <a:r>
              <a:rPr lang="es-CL" sz="1200" dirty="0"/>
              <a:t>LA IMAGINO COMO NEGOCIO (Y VALIDO EL PROBLEMA)</a:t>
            </a:r>
          </a:p>
        </p:txBody>
      </p:sp>
      <p:sp>
        <p:nvSpPr>
          <p:cNvPr id="9" name="Elipse 8">
            <a:extLst>
              <a:ext uri="{FF2B5EF4-FFF2-40B4-BE49-F238E27FC236}">
                <a16:creationId xmlns:a16="http://schemas.microsoft.com/office/drawing/2014/main" id="{A748E41B-9561-D8ED-B115-89889E44129B}"/>
              </a:ext>
            </a:extLst>
          </p:cNvPr>
          <p:cNvSpPr/>
          <p:nvPr/>
        </p:nvSpPr>
        <p:spPr>
          <a:xfrm>
            <a:off x="2579103" y="2126325"/>
            <a:ext cx="555983" cy="5551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3</a:t>
            </a:r>
          </a:p>
        </p:txBody>
      </p:sp>
      <p:sp>
        <p:nvSpPr>
          <p:cNvPr id="10" name="CuadroTexto 9">
            <a:extLst>
              <a:ext uri="{FF2B5EF4-FFF2-40B4-BE49-F238E27FC236}">
                <a16:creationId xmlns:a16="http://schemas.microsoft.com/office/drawing/2014/main" id="{7E14AC98-5AC2-CF60-C1B8-46A91FC725EB}"/>
              </a:ext>
            </a:extLst>
          </p:cNvPr>
          <p:cNvSpPr txBox="1"/>
          <p:nvPr/>
        </p:nvSpPr>
        <p:spPr>
          <a:xfrm flipH="1">
            <a:off x="3135084" y="2163850"/>
            <a:ext cx="1175658" cy="430887"/>
          </a:xfrm>
          <a:prstGeom prst="rect">
            <a:avLst/>
          </a:prstGeom>
          <a:noFill/>
        </p:spPr>
        <p:txBody>
          <a:bodyPr wrap="square" rtlCol="0">
            <a:spAutoFit/>
          </a:bodyPr>
          <a:lstStyle/>
          <a:p>
            <a:r>
              <a:rPr lang="es-CL" sz="1100" dirty="0"/>
              <a:t>GENERO UN PROTOTIPO</a:t>
            </a:r>
          </a:p>
        </p:txBody>
      </p:sp>
      <p:sp>
        <p:nvSpPr>
          <p:cNvPr id="11" name="Elipse 10">
            <a:extLst>
              <a:ext uri="{FF2B5EF4-FFF2-40B4-BE49-F238E27FC236}">
                <a16:creationId xmlns:a16="http://schemas.microsoft.com/office/drawing/2014/main" id="{21B56289-547B-F5DB-20F0-C89DD4591D8F}"/>
              </a:ext>
            </a:extLst>
          </p:cNvPr>
          <p:cNvSpPr/>
          <p:nvPr/>
        </p:nvSpPr>
        <p:spPr>
          <a:xfrm>
            <a:off x="7881258" y="3982423"/>
            <a:ext cx="555983" cy="5551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4</a:t>
            </a:r>
          </a:p>
        </p:txBody>
      </p:sp>
      <p:sp>
        <p:nvSpPr>
          <p:cNvPr id="12" name="CuadroTexto 11">
            <a:extLst>
              <a:ext uri="{FF2B5EF4-FFF2-40B4-BE49-F238E27FC236}">
                <a16:creationId xmlns:a16="http://schemas.microsoft.com/office/drawing/2014/main" id="{421B9971-76D2-E1EC-82F9-92626AFF81A5}"/>
              </a:ext>
            </a:extLst>
          </p:cNvPr>
          <p:cNvSpPr txBox="1"/>
          <p:nvPr/>
        </p:nvSpPr>
        <p:spPr>
          <a:xfrm flipH="1">
            <a:off x="8437239" y="4019948"/>
            <a:ext cx="1175658" cy="430887"/>
          </a:xfrm>
          <a:prstGeom prst="rect">
            <a:avLst/>
          </a:prstGeom>
          <a:noFill/>
        </p:spPr>
        <p:txBody>
          <a:bodyPr wrap="square" rtlCol="0">
            <a:spAutoFit/>
          </a:bodyPr>
          <a:lstStyle/>
          <a:p>
            <a:r>
              <a:rPr lang="es-CL" sz="1100" dirty="0"/>
              <a:t>VALIDO EL CLIENTE</a:t>
            </a:r>
          </a:p>
        </p:txBody>
      </p:sp>
      <p:sp>
        <p:nvSpPr>
          <p:cNvPr id="13" name="CuadroTexto 12">
            <a:extLst>
              <a:ext uri="{FF2B5EF4-FFF2-40B4-BE49-F238E27FC236}">
                <a16:creationId xmlns:a16="http://schemas.microsoft.com/office/drawing/2014/main" id="{6B40C6A8-8A0D-8118-EA29-295406E8889E}"/>
              </a:ext>
            </a:extLst>
          </p:cNvPr>
          <p:cNvSpPr txBox="1"/>
          <p:nvPr/>
        </p:nvSpPr>
        <p:spPr>
          <a:xfrm>
            <a:off x="9612897" y="2219244"/>
            <a:ext cx="1066318" cy="369332"/>
          </a:xfrm>
          <a:prstGeom prst="rect">
            <a:avLst/>
          </a:prstGeom>
          <a:noFill/>
        </p:spPr>
        <p:txBody>
          <a:bodyPr wrap="none" rtlCol="0">
            <a:spAutoFit/>
          </a:bodyPr>
          <a:lstStyle/>
          <a:p>
            <a:r>
              <a:rPr lang="es-CL" b="1" dirty="0"/>
              <a:t>DOLOR</a:t>
            </a:r>
          </a:p>
        </p:txBody>
      </p:sp>
      <p:sp>
        <p:nvSpPr>
          <p:cNvPr id="14" name="CuadroTexto 13">
            <a:extLst>
              <a:ext uri="{FF2B5EF4-FFF2-40B4-BE49-F238E27FC236}">
                <a16:creationId xmlns:a16="http://schemas.microsoft.com/office/drawing/2014/main" id="{DA6E38AC-6858-8980-8E6B-E374A62642FC}"/>
              </a:ext>
            </a:extLst>
          </p:cNvPr>
          <p:cNvSpPr txBox="1"/>
          <p:nvPr/>
        </p:nvSpPr>
        <p:spPr>
          <a:xfrm>
            <a:off x="1278507" y="2742134"/>
            <a:ext cx="1568058" cy="369332"/>
          </a:xfrm>
          <a:prstGeom prst="rect">
            <a:avLst/>
          </a:prstGeom>
          <a:noFill/>
        </p:spPr>
        <p:txBody>
          <a:bodyPr wrap="none" rtlCol="0">
            <a:spAutoFit/>
          </a:bodyPr>
          <a:lstStyle/>
          <a:p>
            <a:r>
              <a:rPr lang="es-CL" b="1" dirty="0"/>
              <a:t>CONCEPTO</a:t>
            </a:r>
          </a:p>
        </p:txBody>
      </p:sp>
      <p:sp>
        <p:nvSpPr>
          <p:cNvPr id="15" name="CuadroTexto 14">
            <a:extLst>
              <a:ext uri="{FF2B5EF4-FFF2-40B4-BE49-F238E27FC236}">
                <a16:creationId xmlns:a16="http://schemas.microsoft.com/office/drawing/2014/main" id="{34A682DF-87F1-9D3F-E13E-44DACA0BD1C0}"/>
              </a:ext>
            </a:extLst>
          </p:cNvPr>
          <p:cNvSpPr txBox="1"/>
          <p:nvPr/>
        </p:nvSpPr>
        <p:spPr>
          <a:xfrm>
            <a:off x="9612897" y="4168262"/>
            <a:ext cx="1208985" cy="369332"/>
          </a:xfrm>
          <a:prstGeom prst="rect">
            <a:avLst/>
          </a:prstGeom>
          <a:noFill/>
        </p:spPr>
        <p:txBody>
          <a:bodyPr wrap="none" rtlCol="0">
            <a:spAutoFit/>
          </a:bodyPr>
          <a:lstStyle/>
          <a:p>
            <a:r>
              <a:rPr lang="es-CL" b="1" dirty="0"/>
              <a:t>CLIENTE</a:t>
            </a:r>
          </a:p>
        </p:txBody>
      </p:sp>
      <p:sp>
        <p:nvSpPr>
          <p:cNvPr id="16" name="CuadroTexto 15">
            <a:extLst>
              <a:ext uri="{FF2B5EF4-FFF2-40B4-BE49-F238E27FC236}">
                <a16:creationId xmlns:a16="http://schemas.microsoft.com/office/drawing/2014/main" id="{6FC3D9AE-BE15-56FA-7BD0-DA3E0209857C}"/>
              </a:ext>
            </a:extLst>
          </p:cNvPr>
          <p:cNvSpPr txBox="1"/>
          <p:nvPr/>
        </p:nvSpPr>
        <p:spPr>
          <a:xfrm>
            <a:off x="8355274" y="5177646"/>
            <a:ext cx="3137397" cy="369332"/>
          </a:xfrm>
          <a:prstGeom prst="rect">
            <a:avLst/>
          </a:prstGeom>
          <a:noFill/>
        </p:spPr>
        <p:txBody>
          <a:bodyPr wrap="none" rtlCol="0">
            <a:spAutoFit/>
          </a:bodyPr>
          <a:lstStyle/>
          <a:p>
            <a:r>
              <a:rPr lang="es-CL" b="1" dirty="0">
                <a:solidFill>
                  <a:schemeClr val="tx2"/>
                </a:solidFill>
              </a:rPr>
              <a:t>Experimento controlado</a:t>
            </a:r>
          </a:p>
        </p:txBody>
      </p:sp>
    </p:spTree>
    <p:extLst>
      <p:ext uri="{BB962C8B-B14F-4D97-AF65-F5344CB8AC3E}">
        <p14:creationId xmlns:p14="http://schemas.microsoft.com/office/powerpoint/2010/main" val="2369689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Rectangle 2" hidden="1"/>
          <p:cNvGraphicFramePr>
            <a:graphicFrameLocks/>
          </p:cNvGraphicFramePr>
          <p:nvPr>
            <p:custDataLst>
              <p:tags r:id="rId1"/>
            </p:custDataLst>
          </p:nvPr>
        </p:nvGraphicFramePr>
        <p:xfrm>
          <a:off x="24" y="642"/>
          <a:ext cx="194734" cy="158722"/>
        </p:xfrm>
        <a:graphic>
          <a:graphicData uri="http://schemas.openxmlformats.org/presentationml/2006/ole">
            <mc:AlternateContent xmlns:mc="http://schemas.openxmlformats.org/markup-compatibility/2006">
              <mc:Choice xmlns:v="urn:schemas-microsoft-com:vml" Requires="v">
                <p:oleObj r:id="rId5" imgW="0" imgH="0" progId="">
                  <p:embed/>
                </p:oleObj>
              </mc:Choice>
              <mc:Fallback>
                <p:oleObj r:id="rId5" imgW="0" imgH="0" progId="">
                  <p:embed/>
                  <p:pic>
                    <p:nvPicPr>
                      <p:cNvPr id="26626"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4" y="642"/>
                        <a:ext cx="194734" cy="158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7" name="Rectangle 3"/>
          <p:cNvSpPr>
            <a:spLocks noGrp="1" noChangeArrowheads="1"/>
          </p:cNvSpPr>
          <p:nvPr>
            <p:ph type="title" idx="4294967295"/>
            <p:custDataLst>
              <p:tags r:id="rId2"/>
            </p:custDataLst>
          </p:nvPr>
        </p:nvSpPr>
        <p:spPr>
          <a:xfrm>
            <a:off x="695325" y="549276"/>
            <a:ext cx="10515600" cy="551938"/>
          </a:xfrm>
          <a:prstGeom prst="rect">
            <a:avLst/>
          </a:prstGeom>
        </p:spPr>
        <p:txBody>
          <a:bodyPr vert="horz" lIns="91440" tIns="45720" rIns="91440" bIns="45720" rtlCol="0" anchor="ctr">
            <a:noAutofit/>
          </a:bodyPr>
          <a:lstStyle>
            <a:lvl1pPr algn="l" defTabSz="914446"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pPr algn="ctr" eaLnBrk="1" hangingPunct="1"/>
            <a:r>
              <a:rPr lang="en-US"/>
              <a:t>Click to edit Master title style</a:t>
            </a:r>
            <a:endParaRPr lang="es-AR" sz="2400" dirty="0"/>
          </a:p>
        </p:txBody>
      </p:sp>
      <p:sp>
        <p:nvSpPr>
          <p:cNvPr id="2" name="CuadroTexto 1">
            <a:extLst>
              <a:ext uri="{FF2B5EF4-FFF2-40B4-BE49-F238E27FC236}">
                <a16:creationId xmlns:a16="http://schemas.microsoft.com/office/drawing/2014/main" id="{CDD01D14-F687-4F55-87BC-F47E599B6620}"/>
              </a:ext>
            </a:extLst>
          </p:cNvPr>
          <p:cNvSpPr txBox="1"/>
          <p:nvPr/>
        </p:nvSpPr>
        <p:spPr>
          <a:xfrm>
            <a:off x="2571750" y="1466334"/>
            <a:ext cx="319405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800" b="0" i="0" u="none" strike="noStrike" kern="1200" cap="none" spc="0" normalizeH="0" baseline="0" noProof="0" dirty="0">
                <a:ln>
                  <a:noFill/>
                </a:ln>
                <a:solidFill>
                  <a:srgbClr val="E33B1F"/>
                </a:solidFill>
                <a:effectLst/>
                <a:highlight>
                  <a:srgbClr val="FDC405"/>
                </a:highlight>
                <a:uLnTx/>
                <a:uFillTx/>
                <a:latin typeface="Montserrat ExtraBold"/>
                <a:ea typeface="+mn-ea"/>
                <a:cs typeface="+mn-cs"/>
                <a:sym typeface="Gill Sans" charset="0"/>
              </a:rPr>
              <a:t>Desarrollo de clientes</a:t>
            </a:r>
          </a:p>
        </p:txBody>
      </p:sp>
      <p:sp>
        <p:nvSpPr>
          <p:cNvPr id="7" name="CuadroTexto 6">
            <a:extLst>
              <a:ext uri="{FF2B5EF4-FFF2-40B4-BE49-F238E27FC236}">
                <a16:creationId xmlns:a16="http://schemas.microsoft.com/office/drawing/2014/main" id="{81DB3C42-A952-4618-99F7-0D0EAC108F51}"/>
              </a:ext>
            </a:extLst>
          </p:cNvPr>
          <p:cNvSpPr txBox="1"/>
          <p:nvPr/>
        </p:nvSpPr>
        <p:spPr>
          <a:xfrm>
            <a:off x="6621555" y="3702787"/>
            <a:ext cx="3810000" cy="64633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800" b="0" i="0" u="none" strike="noStrike" kern="1200" cap="none" spc="0" normalizeH="0" baseline="0" noProof="0" dirty="0">
                <a:ln>
                  <a:noFill/>
                </a:ln>
                <a:solidFill>
                  <a:srgbClr val="E33B1F"/>
                </a:solidFill>
                <a:effectLst/>
                <a:highlight>
                  <a:srgbClr val="FDC405"/>
                </a:highlight>
                <a:uLnTx/>
                <a:uFillTx/>
                <a:latin typeface="Montserrat ExtraBold"/>
                <a:ea typeface="+mn-ea"/>
                <a:cs typeface="+mn-cs"/>
                <a:sym typeface="Gill Sans" charset="0"/>
              </a:rPr>
              <a:t>Desarrollo de productos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ExtraBold"/>
                <a:ea typeface="+mn-ea"/>
                <a:cs typeface="+mn-cs"/>
                <a:sym typeface="Gill Sans" charset="0"/>
              </a:rPr>
              <a:t>(prototipos – pilotos rápidos)</a:t>
            </a:r>
          </a:p>
        </p:txBody>
      </p:sp>
      <p:sp>
        <p:nvSpPr>
          <p:cNvPr id="9" name="CuadroTexto 8">
            <a:extLst>
              <a:ext uri="{FF2B5EF4-FFF2-40B4-BE49-F238E27FC236}">
                <a16:creationId xmlns:a16="http://schemas.microsoft.com/office/drawing/2014/main" id="{B04A7AE9-283C-4F8F-9515-C0E6BB3DF4AE}"/>
              </a:ext>
            </a:extLst>
          </p:cNvPr>
          <p:cNvSpPr txBox="1"/>
          <p:nvPr/>
        </p:nvSpPr>
        <p:spPr>
          <a:xfrm>
            <a:off x="2203450" y="4652739"/>
            <a:ext cx="319405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ExtraBold"/>
                <a:ea typeface="+mn-ea"/>
                <a:cs typeface="+mn-cs"/>
                <a:sym typeface="Gill Sans" charset="0"/>
              </a:rPr>
              <a:t>Problema Desconocido</a:t>
            </a:r>
          </a:p>
        </p:txBody>
      </p:sp>
      <p:sp>
        <p:nvSpPr>
          <p:cNvPr id="10" name="CuadroTexto 9">
            <a:extLst>
              <a:ext uri="{FF2B5EF4-FFF2-40B4-BE49-F238E27FC236}">
                <a16:creationId xmlns:a16="http://schemas.microsoft.com/office/drawing/2014/main" id="{BAA7F531-9258-4560-8668-974A0D153F64}"/>
              </a:ext>
            </a:extLst>
          </p:cNvPr>
          <p:cNvSpPr txBox="1"/>
          <p:nvPr/>
        </p:nvSpPr>
        <p:spPr>
          <a:xfrm>
            <a:off x="6629400" y="4660900"/>
            <a:ext cx="319405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ExtraBold"/>
                <a:ea typeface="+mn-ea"/>
                <a:cs typeface="+mn-cs"/>
                <a:sym typeface="Gill Sans" charset="0"/>
              </a:rPr>
              <a:t>Solución Desconocida</a:t>
            </a:r>
          </a:p>
        </p:txBody>
      </p:sp>
      <p:sp>
        <p:nvSpPr>
          <p:cNvPr id="11" name="CuadroTexto 10">
            <a:extLst>
              <a:ext uri="{FF2B5EF4-FFF2-40B4-BE49-F238E27FC236}">
                <a16:creationId xmlns:a16="http://schemas.microsoft.com/office/drawing/2014/main" id="{E73AF3F0-9653-49A2-94B6-E6536B1F6878}"/>
              </a:ext>
            </a:extLst>
          </p:cNvPr>
          <p:cNvSpPr txBox="1"/>
          <p:nvPr/>
        </p:nvSpPr>
        <p:spPr>
          <a:xfrm>
            <a:off x="5543553" y="4861305"/>
            <a:ext cx="1085847"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800" b="0" i="0" u="none" strike="noStrike" kern="1200" cap="none" spc="0" normalizeH="0" baseline="0" noProof="0" dirty="0">
                <a:ln>
                  <a:noFill/>
                </a:ln>
                <a:solidFill>
                  <a:srgbClr val="E33B1F"/>
                </a:solidFill>
                <a:effectLst/>
                <a:uLnTx/>
                <a:uFillTx/>
                <a:latin typeface="Montserrat ExtraBold"/>
                <a:ea typeface="+mn-ea"/>
                <a:cs typeface="+mn-cs"/>
                <a:sym typeface="Gill Sans" charset="0"/>
              </a:rPr>
              <a:t>TAREA</a:t>
            </a:r>
          </a:p>
        </p:txBody>
      </p:sp>
      <p:sp>
        <p:nvSpPr>
          <p:cNvPr id="12" name="CuadroTexto 11">
            <a:extLst>
              <a:ext uri="{FF2B5EF4-FFF2-40B4-BE49-F238E27FC236}">
                <a16:creationId xmlns:a16="http://schemas.microsoft.com/office/drawing/2014/main" id="{35FC83FF-FE37-4653-8C07-0F6CB93D2B36}"/>
              </a:ext>
            </a:extLst>
          </p:cNvPr>
          <p:cNvSpPr txBox="1"/>
          <p:nvPr/>
        </p:nvSpPr>
        <p:spPr>
          <a:xfrm>
            <a:off x="1263697" y="2509619"/>
            <a:ext cx="3194050" cy="646331"/>
          </a:xfrm>
          <a:prstGeom prst="rect">
            <a:avLst/>
          </a:prstGeom>
          <a:noFill/>
        </p:spPr>
        <p:txBody>
          <a:bodyPr wrap="squar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s-CL" sz="1800" b="0" i="1" u="none" strike="noStrike" kern="1200" cap="none" spc="0" normalizeH="0" baseline="0" noProof="0" dirty="0">
                <a:ln>
                  <a:noFill/>
                </a:ln>
                <a:solidFill>
                  <a:srgbClr val="000000"/>
                </a:solidFill>
                <a:effectLst/>
                <a:uLnTx/>
                <a:uFillTx/>
                <a:latin typeface="Montserrat"/>
                <a:ea typeface="+mn-ea"/>
                <a:cs typeface="+mn-cs"/>
                <a:sym typeface="Gill Sans" charset="0"/>
              </a:rPr>
              <a:t>Hipótesis, Experimentos,</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s-CL" sz="1800" b="0" i="1" u="none" strike="noStrike" kern="1200" cap="none" spc="0" normalizeH="0" baseline="0" noProof="0" dirty="0" err="1">
                <a:ln>
                  <a:noFill/>
                </a:ln>
                <a:solidFill>
                  <a:srgbClr val="000000"/>
                </a:solidFill>
                <a:effectLst/>
                <a:uLnTx/>
                <a:uFillTx/>
                <a:latin typeface="Montserrat"/>
                <a:ea typeface="+mn-ea"/>
                <a:cs typeface="+mn-cs"/>
                <a:sym typeface="Gill Sans" charset="0"/>
              </a:rPr>
              <a:t>Insights</a:t>
            </a:r>
            <a:endParaRPr kumimoji="0" lang="es-CL" sz="1800" b="0" i="1" u="none" strike="noStrike" kern="1200" cap="none" spc="0" normalizeH="0" baseline="0" noProof="0" dirty="0">
              <a:ln>
                <a:noFill/>
              </a:ln>
              <a:solidFill>
                <a:srgbClr val="000000"/>
              </a:solidFill>
              <a:effectLst/>
              <a:uLnTx/>
              <a:uFillTx/>
              <a:latin typeface="Montserrat"/>
              <a:ea typeface="+mn-ea"/>
              <a:cs typeface="+mn-cs"/>
              <a:sym typeface="Gill Sans" charset="0"/>
            </a:endParaRPr>
          </a:p>
        </p:txBody>
      </p:sp>
      <p:sp>
        <p:nvSpPr>
          <p:cNvPr id="13" name="CuadroTexto 12">
            <a:extLst>
              <a:ext uri="{FF2B5EF4-FFF2-40B4-BE49-F238E27FC236}">
                <a16:creationId xmlns:a16="http://schemas.microsoft.com/office/drawing/2014/main" id="{BBBBA207-79D9-40FB-A439-B99D518C1449}"/>
              </a:ext>
            </a:extLst>
          </p:cNvPr>
          <p:cNvSpPr txBox="1"/>
          <p:nvPr/>
        </p:nvSpPr>
        <p:spPr>
          <a:xfrm>
            <a:off x="7762875" y="2298940"/>
            <a:ext cx="3194050" cy="64633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800" b="0" i="1" u="none" strike="noStrike" kern="1200" cap="none" spc="0" normalizeH="0" baseline="0" noProof="0" dirty="0">
                <a:ln>
                  <a:noFill/>
                </a:ln>
                <a:solidFill>
                  <a:srgbClr val="000000"/>
                </a:solidFill>
                <a:effectLst/>
                <a:uLnTx/>
                <a:uFillTx/>
                <a:latin typeface="Montserrat"/>
                <a:ea typeface="+mn-ea"/>
                <a:cs typeface="+mn-cs"/>
                <a:sym typeface="Gill Sans" charset="0"/>
              </a:rPr>
              <a:t>Datos, </a:t>
            </a:r>
            <a:r>
              <a:rPr kumimoji="0" lang="es-CL" sz="1800" b="0" i="1" u="none" strike="noStrike" kern="1200" cap="none" spc="0" normalizeH="0" baseline="0" noProof="0" dirty="0" err="1">
                <a:ln>
                  <a:noFill/>
                </a:ln>
                <a:solidFill>
                  <a:srgbClr val="000000"/>
                </a:solidFill>
                <a:effectLst/>
                <a:uLnTx/>
                <a:uFillTx/>
                <a:latin typeface="Montserrat"/>
                <a:ea typeface="+mn-ea"/>
                <a:cs typeface="+mn-cs"/>
                <a:sym typeface="Gill Sans" charset="0"/>
              </a:rPr>
              <a:t>feedback</a:t>
            </a:r>
            <a:r>
              <a:rPr kumimoji="0" lang="es-CL" sz="1800" b="0" i="1" u="none" strike="noStrike" kern="1200" cap="none" spc="0" normalizeH="0" baseline="0" noProof="0" dirty="0">
                <a:ln>
                  <a:noFill/>
                </a:ln>
                <a:solidFill>
                  <a:srgbClr val="000000"/>
                </a:solidFill>
                <a:effectLst/>
                <a:uLnTx/>
                <a:uFillTx/>
                <a:latin typeface="Montserrat"/>
                <a:ea typeface="+mn-ea"/>
                <a:cs typeface="+mn-cs"/>
                <a:sym typeface="Gill Sans"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800" b="0" i="1" u="none" strike="noStrike" kern="1200" cap="none" spc="0" normalizeH="0" baseline="0" noProof="0" dirty="0" err="1">
                <a:ln>
                  <a:noFill/>
                </a:ln>
                <a:solidFill>
                  <a:srgbClr val="000000"/>
                </a:solidFill>
                <a:effectLst/>
                <a:uLnTx/>
                <a:uFillTx/>
                <a:latin typeface="Montserrat"/>
                <a:ea typeface="+mn-ea"/>
                <a:cs typeface="+mn-cs"/>
                <a:sym typeface="Gill Sans" charset="0"/>
              </a:rPr>
              <a:t>Insights</a:t>
            </a:r>
            <a:endParaRPr kumimoji="0" lang="es-CL" sz="1800" b="0" i="1" u="none" strike="noStrike" kern="1200" cap="none" spc="0" normalizeH="0" baseline="0" noProof="0" dirty="0">
              <a:ln>
                <a:noFill/>
              </a:ln>
              <a:solidFill>
                <a:srgbClr val="000000"/>
              </a:solidFill>
              <a:effectLst/>
              <a:uLnTx/>
              <a:uFillTx/>
              <a:latin typeface="Montserrat"/>
              <a:ea typeface="+mn-ea"/>
              <a:cs typeface="+mn-cs"/>
              <a:sym typeface="Gill Sans" charset="0"/>
            </a:endParaRPr>
          </a:p>
        </p:txBody>
      </p:sp>
      <p:sp>
        <p:nvSpPr>
          <p:cNvPr id="3" name="Rectángulo 2">
            <a:extLst>
              <a:ext uri="{FF2B5EF4-FFF2-40B4-BE49-F238E27FC236}">
                <a16:creationId xmlns:a16="http://schemas.microsoft.com/office/drawing/2014/main" id="{5C59FB70-0237-453F-AA0E-82C896BCEB9C}"/>
              </a:ext>
            </a:extLst>
          </p:cNvPr>
          <p:cNvSpPr/>
          <p:nvPr/>
        </p:nvSpPr>
        <p:spPr>
          <a:xfrm>
            <a:off x="2114550" y="5370338"/>
            <a:ext cx="3282950" cy="535851"/>
          </a:xfrm>
          <a:prstGeom prst="rect">
            <a:avLst/>
          </a:prstGeom>
          <a:solidFill>
            <a:srgbClr val="ED6723"/>
          </a:solidFill>
          <a:ln>
            <a:solidFill>
              <a:srgbClr val="ED67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mn-ea"/>
                <a:cs typeface="+mn-cs"/>
                <a:sym typeface="Gill Sans" charset="0"/>
              </a:rPr>
              <a:t>Desarrollo de Clientes</a:t>
            </a:r>
          </a:p>
        </p:txBody>
      </p:sp>
      <p:sp>
        <p:nvSpPr>
          <p:cNvPr id="15" name="Rectángulo 14">
            <a:extLst>
              <a:ext uri="{FF2B5EF4-FFF2-40B4-BE49-F238E27FC236}">
                <a16:creationId xmlns:a16="http://schemas.microsoft.com/office/drawing/2014/main" id="{588EF9DB-7962-45E1-B539-026A594D3939}"/>
              </a:ext>
            </a:extLst>
          </p:cNvPr>
          <p:cNvSpPr/>
          <p:nvPr/>
        </p:nvSpPr>
        <p:spPr>
          <a:xfrm>
            <a:off x="6794502" y="5370337"/>
            <a:ext cx="3282950" cy="535851"/>
          </a:xfrm>
          <a:prstGeom prst="rect">
            <a:avLst/>
          </a:prstGeom>
          <a:solidFill>
            <a:srgbClr val="ED6723"/>
          </a:solidFill>
          <a:ln>
            <a:solidFill>
              <a:srgbClr val="ED67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mn-ea"/>
                <a:cs typeface="+mn-cs"/>
                <a:sym typeface="Gill Sans" charset="0"/>
              </a:rPr>
              <a:t>Desarrollo Ágil</a:t>
            </a:r>
          </a:p>
        </p:txBody>
      </p:sp>
      <p:sp>
        <p:nvSpPr>
          <p:cNvPr id="21" name="Flecha: curvada hacia la derecha 20">
            <a:extLst>
              <a:ext uri="{FF2B5EF4-FFF2-40B4-BE49-F238E27FC236}">
                <a16:creationId xmlns:a16="http://schemas.microsoft.com/office/drawing/2014/main" id="{46DAAF83-6338-4413-B74D-75F88BC9B0CA}"/>
              </a:ext>
            </a:extLst>
          </p:cNvPr>
          <p:cNvSpPr/>
          <p:nvPr/>
        </p:nvSpPr>
        <p:spPr>
          <a:xfrm>
            <a:off x="4524375" y="1954768"/>
            <a:ext cx="787400" cy="2221478"/>
          </a:xfrm>
          <a:prstGeom prst="curvedRightArrow">
            <a:avLst/>
          </a:prstGeom>
          <a:noFill/>
          <a:ln>
            <a:solidFill>
              <a:srgbClr val="ED67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CL" sz="2866" b="0" i="0" u="none" strike="noStrike" kern="1200" cap="none" spc="0" normalizeH="0" baseline="0" noProof="0">
              <a:ln>
                <a:noFill/>
              </a:ln>
              <a:solidFill>
                <a:prstClr val="black"/>
              </a:solidFill>
              <a:effectLst/>
              <a:uLnTx/>
              <a:uFillTx/>
              <a:latin typeface="Montserrat"/>
              <a:ea typeface="+mn-ea"/>
              <a:cs typeface="+mn-cs"/>
              <a:sym typeface="Gill Sans" charset="0"/>
            </a:endParaRPr>
          </a:p>
        </p:txBody>
      </p:sp>
      <p:sp>
        <p:nvSpPr>
          <p:cNvPr id="25" name="Flecha: curvada hacia la derecha 24">
            <a:extLst>
              <a:ext uri="{FF2B5EF4-FFF2-40B4-BE49-F238E27FC236}">
                <a16:creationId xmlns:a16="http://schemas.microsoft.com/office/drawing/2014/main" id="{F5A1BC52-60EB-401D-A8F8-FF098A68308F}"/>
              </a:ext>
            </a:extLst>
          </p:cNvPr>
          <p:cNvSpPr/>
          <p:nvPr/>
        </p:nvSpPr>
        <p:spPr>
          <a:xfrm rot="10800000">
            <a:off x="6754812" y="1466334"/>
            <a:ext cx="787400" cy="2221478"/>
          </a:xfrm>
          <a:prstGeom prst="curvedRightArrow">
            <a:avLst/>
          </a:prstGeom>
          <a:noFill/>
          <a:ln>
            <a:solidFill>
              <a:srgbClr val="ED67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CL" sz="2866" b="0" i="0" u="none" strike="noStrike" kern="1200" cap="none" spc="0" normalizeH="0" baseline="0" noProof="0">
              <a:ln>
                <a:noFill/>
              </a:ln>
              <a:solidFill>
                <a:prstClr val="black"/>
              </a:solidFill>
              <a:effectLst/>
              <a:uLnTx/>
              <a:uFillTx/>
              <a:latin typeface="Montserrat"/>
              <a:ea typeface="+mn-ea"/>
              <a:cs typeface="+mn-cs"/>
              <a:sym typeface="Gill Sans" charset="0"/>
            </a:endParaRPr>
          </a:p>
        </p:txBody>
      </p:sp>
      <p:sp>
        <p:nvSpPr>
          <p:cNvPr id="22" name="Triángulo isósceles 21">
            <a:extLst>
              <a:ext uri="{FF2B5EF4-FFF2-40B4-BE49-F238E27FC236}">
                <a16:creationId xmlns:a16="http://schemas.microsoft.com/office/drawing/2014/main" id="{548CA5E9-59FC-4297-94F8-1BB48D497E3A}"/>
              </a:ext>
            </a:extLst>
          </p:cNvPr>
          <p:cNvSpPr/>
          <p:nvPr/>
        </p:nvSpPr>
        <p:spPr>
          <a:xfrm>
            <a:off x="2158999" y="5104416"/>
            <a:ext cx="3219451" cy="265921"/>
          </a:xfrm>
          <a:prstGeom prst="triangle">
            <a:avLst/>
          </a:prstGeom>
          <a:solidFill>
            <a:srgbClr val="ED6723"/>
          </a:solidFill>
          <a:ln>
            <a:solidFill>
              <a:srgbClr val="ED672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CL" sz="1600" b="1" i="0" u="none" strike="noStrike" kern="1200" cap="none" spc="0" normalizeH="0" baseline="0" noProof="0">
              <a:ln>
                <a:noFill/>
              </a:ln>
              <a:solidFill>
                <a:prstClr val="white"/>
              </a:solidFill>
              <a:effectLst/>
              <a:uLnTx/>
              <a:uFillTx/>
              <a:latin typeface="Montserrat"/>
              <a:ea typeface="+mn-ea"/>
              <a:cs typeface="+mn-cs"/>
              <a:sym typeface="Gill Sans" charset="0"/>
            </a:endParaRPr>
          </a:p>
        </p:txBody>
      </p:sp>
      <p:sp>
        <p:nvSpPr>
          <p:cNvPr id="27" name="Triángulo isósceles 26">
            <a:extLst>
              <a:ext uri="{FF2B5EF4-FFF2-40B4-BE49-F238E27FC236}">
                <a16:creationId xmlns:a16="http://schemas.microsoft.com/office/drawing/2014/main" id="{1021A01A-A230-4CA9-AEE9-FFB3E751016A}"/>
              </a:ext>
            </a:extLst>
          </p:cNvPr>
          <p:cNvSpPr/>
          <p:nvPr/>
        </p:nvSpPr>
        <p:spPr>
          <a:xfrm>
            <a:off x="6826251" y="5104415"/>
            <a:ext cx="3219451" cy="265921"/>
          </a:xfrm>
          <a:prstGeom prst="triangle">
            <a:avLst/>
          </a:prstGeom>
          <a:solidFill>
            <a:srgbClr val="ED6723"/>
          </a:solidFill>
          <a:ln>
            <a:solidFill>
              <a:srgbClr val="ED672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CL" sz="1600" b="1" i="0" u="none" strike="noStrike" kern="1200" cap="none" spc="0" normalizeH="0" baseline="0" noProof="0">
              <a:ln>
                <a:noFill/>
              </a:ln>
              <a:solidFill>
                <a:prstClr val="white"/>
              </a:solidFill>
              <a:effectLst/>
              <a:uLnTx/>
              <a:uFillTx/>
              <a:latin typeface="Montserrat"/>
              <a:ea typeface="+mn-ea"/>
              <a:cs typeface="+mn-cs"/>
              <a:sym typeface="Gill Sans" charset="0"/>
            </a:endParaRPr>
          </a:p>
        </p:txBody>
      </p:sp>
      <p:sp>
        <p:nvSpPr>
          <p:cNvPr id="18" name="CuadroTexto 17">
            <a:extLst>
              <a:ext uri="{FF2B5EF4-FFF2-40B4-BE49-F238E27FC236}">
                <a16:creationId xmlns:a16="http://schemas.microsoft.com/office/drawing/2014/main" id="{B4BF9C3E-164E-47F6-B0CD-E8E01D9931F2}"/>
              </a:ext>
            </a:extLst>
          </p:cNvPr>
          <p:cNvSpPr txBox="1"/>
          <p:nvPr/>
        </p:nvSpPr>
        <p:spPr>
          <a:xfrm>
            <a:off x="663218" y="6254455"/>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Fuente: Ries, E. (2011)</a:t>
            </a:r>
          </a:p>
        </p:txBody>
      </p:sp>
    </p:spTree>
    <p:extLst>
      <p:ext uri="{BB962C8B-B14F-4D97-AF65-F5344CB8AC3E}">
        <p14:creationId xmlns:p14="http://schemas.microsoft.com/office/powerpoint/2010/main" val="2393992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2853" y="2177033"/>
            <a:ext cx="5076109" cy="2655214"/>
          </a:xfrm>
          <a:prstGeom prst="rect">
            <a:avLst/>
          </a:prstGeom>
        </p:spPr>
        <p:txBody>
          <a:bodyPr vert="horz" wrap="square" lIns="0" tIns="13335" rIns="0" bIns="0" rtlCol="0">
            <a:spAutoFit/>
          </a:bodyPr>
          <a:lstStyle/>
          <a:p>
            <a:pPr marL="12700" marR="2469515" lvl="0" indent="0" algn="l" defTabSz="914400" rtl="0" eaLnBrk="1" fontAlgn="auto" latinLnBrk="0" hangingPunct="1">
              <a:lnSpc>
                <a:spcPct val="100000"/>
              </a:lnSpc>
              <a:spcBef>
                <a:spcPts val="105"/>
              </a:spcBef>
              <a:spcAft>
                <a:spcPts val="0"/>
              </a:spcAft>
              <a:buClrTx/>
              <a:buSzTx/>
              <a:buFontTx/>
              <a:buNone/>
              <a:tabLst/>
              <a:defRPr/>
            </a:pPr>
            <a:r>
              <a:rPr kumimoji="0" sz="2000" b="1" i="0" u="none" strike="noStrike" kern="1200" cap="none" spc="70" normalizeH="0" baseline="0" noProof="0" dirty="0">
                <a:ln>
                  <a:noFill/>
                </a:ln>
                <a:solidFill>
                  <a:prstClr val="black"/>
                </a:solidFill>
                <a:effectLst/>
                <a:uLnTx/>
                <a:uFillTx/>
                <a:latin typeface="Montserrat" panose="00000500000000000000" pitchFamily="2" charset="0"/>
                <a:ea typeface="+mn-ea"/>
                <a:cs typeface="Tahoma"/>
              </a:rPr>
              <a:t>VALIDAMOS </a:t>
            </a:r>
            <a:r>
              <a:rPr kumimoji="0" sz="2000" b="1" i="0" u="none" strike="noStrike" kern="1200" cap="none" spc="-575" normalizeH="0" baseline="0" noProof="0" dirty="0">
                <a:ln>
                  <a:noFill/>
                </a:ln>
                <a:solidFill>
                  <a:prstClr val="black"/>
                </a:solidFill>
                <a:effectLst/>
                <a:uLnTx/>
                <a:uFillTx/>
                <a:latin typeface="Montserrat" panose="00000500000000000000" pitchFamily="2" charset="0"/>
                <a:ea typeface="+mn-ea"/>
                <a:cs typeface="Tahoma"/>
              </a:rPr>
              <a:t> </a:t>
            </a:r>
            <a:r>
              <a:rPr kumimoji="0" sz="2000" b="1" i="0" u="none" strike="noStrike" kern="1200" cap="none" spc="105" normalizeH="0" baseline="0" noProof="0" dirty="0">
                <a:ln>
                  <a:noFill/>
                </a:ln>
                <a:solidFill>
                  <a:prstClr val="black"/>
                </a:solidFill>
                <a:effectLst/>
                <a:uLnTx/>
                <a:uFillTx/>
                <a:latin typeface="Montserrat" panose="00000500000000000000" pitchFamily="2" charset="0"/>
                <a:ea typeface="+mn-ea"/>
                <a:cs typeface="Tahoma"/>
              </a:rPr>
              <a:t>PROBLEMAS</a:t>
            </a:r>
            <a:endParaRPr kumimoji="0"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Tahoma"/>
            </a:endParaRPr>
          </a:p>
          <a:p>
            <a:pPr marL="12700" marR="5080" lvl="0" indent="0" algn="l" defTabSz="914400" rtl="0" eaLnBrk="1" fontAlgn="auto" latinLnBrk="0" hangingPunct="1">
              <a:lnSpc>
                <a:spcPct val="100000"/>
              </a:lnSpc>
              <a:spcBef>
                <a:spcPts val="1440"/>
              </a:spcBef>
              <a:spcAft>
                <a:spcPts val="0"/>
              </a:spcAft>
              <a:buClrTx/>
              <a:buSzTx/>
              <a:buFontTx/>
              <a:buNone/>
              <a:tabLst/>
              <a:defRPr/>
            </a:pP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Cree</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m</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q</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ha</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y</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algo</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05" normalizeH="0" baseline="0" noProof="0" dirty="0">
                <a:ln>
                  <a:noFill/>
                </a:ln>
                <a:solidFill>
                  <a:prstClr val="black"/>
                </a:solidFill>
                <a:effectLst/>
                <a:uLnTx/>
                <a:uFillTx/>
                <a:latin typeface="Montserrat" panose="00000500000000000000" pitchFamily="2" charset="0"/>
                <a:ea typeface="+mn-ea"/>
                <a:cs typeface="Trebuchet MS"/>
              </a:rPr>
              <a:t>im</a:t>
            </a:r>
            <a:r>
              <a:rPr kumimoji="0" sz="2000" b="0" i="0" u="none" strike="noStrike" kern="1200" cap="none" spc="-114" normalizeH="0" baseline="0" noProof="0" dirty="0">
                <a:ln>
                  <a:noFill/>
                </a:ln>
                <a:solidFill>
                  <a:prstClr val="black"/>
                </a:solidFill>
                <a:effectLst/>
                <a:uLnTx/>
                <a:uFillTx/>
                <a:latin typeface="Montserrat" panose="00000500000000000000" pitchFamily="2" charset="0"/>
                <a:ea typeface="+mn-ea"/>
                <a:cs typeface="Trebuchet MS"/>
              </a:rPr>
              <a:t>p</a:t>
            </a:r>
            <a:r>
              <a:rPr kumimoji="0" sz="2000" b="0" i="0" u="none" strike="noStrike" kern="1200" cap="none" spc="-155" normalizeH="0" baseline="0" noProof="0" dirty="0">
                <a:ln>
                  <a:noFill/>
                </a:ln>
                <a:solidFill>
                  <a:prstClr val="black"/>
                </a:solidFill>
                <a:effectLst/>
                <a:uLnTx/>
                <a:uFillTx/>
                <a:latin typeface="Montserrat" panose="00000500000000000000" pitchFamily="2" charset="0"/>
                <a:ea typeface="+mn-ea"/>
                <a:cs typeface="Trebuchet MS"/>
              </a:rPr>
              <a:t>or</a:t>
            </a:r>
            <a:r>
              <a:rPr kumimoji="0" sz="2000" b="0" i="0" u="none" strike="noStrike" kern="1200" cap="none" spc="-145" normalizeH="0" baseline="0" noProof="0" dirty="0">
                <a:ln>
                  <a:noFill/>
                </a:ln>
                <a:solidFill>
                  <a:prstClr val="black"/>
                </a:solidFill>
                <a:effectLst/>
                <a:uLnTx/>
                <a:uFillTx/>
                <a:latin typeface="Montserrat" panose="00000500000000000000" pitchFamily="2" charset="0"/>
                <a:ea typeface="+mn-ea"/>
                <a:cs typeface="Trebuchet MS"/>
              </a:rPr>
              <a:t>t</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n</a:t>
            </a:r>
            <a:r>
              <a:rPr kumimoji="0" sz="2000" b="0" i="0" u="none" strike="noStrike" kern="1200" cap="none" spc="-130" normalizeH="0" baseline="0" noProof="0" dirty="0">
                <a:ln>
                  <a:noFill/>
                </a:ln>
                <a:solidFill>
                  <a:prstClr val="black"/>
                </a:solidFill>
                <a:effectLst/>
                <a:uLnTx/>
                <a:uFillTx/>
                <a:latin typeface="Montserrat" panose="00000500000000000000" pitchFamily="2" charset="0"/>
                <a:ea typeface="+mn-ea"/>
                <a:cs typeface="Trebuchet MS"/>
              </a:rPr>
              <a:t>t</a:t>
            </a:r>
            <a:r>
              <a:rPr kumimoji="0" sz="2000" b="0" i="0" u="none" strike="noStrike" kern="1200" cap="none" spc="-1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2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q</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e  </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resolve</a:t>
            </a:r>
            <a:r>
              <a:rPr kumimoji="0" sz="2000" b="0" i="0" u="none" strike="noStrike" kern="1200" cap="none" spc="-85" normalizeH="0" baseline="0" noProof="0" dirty="0">
                <a:ln>
                  <a:noFill/>
                </a:ln>
                <a:solidFill>
                  <a:prstClr val="black"/>
                </a:solidFill>
                <a:effectLst/>
                <a:uLnTx/>
                <a:uFillTx/>
                <a:latin typeface="Montserrat" panose="00000500000000000000" pitchFamily="2" charset="0"/>
                <a:ea typeface="+mn-ea"/>
                <a:cs typeface="Trebuchet MS"/>
              </a:rPr>
              <a:t>r</a:t>
            </a:r>
            <a:r>
              <a:rPr kumimoji="0" sz="2000" b="0" i="0" u="none" strike="noStrike" kern="1200" cap="none" spc="-240" normalizeH="0" baseline="0" noProof="0" dirty="0">
                <a:ln>
                  <a:noFill/>
                </a:ln>
                <a:solidFill>
                  <a:prstClr val="black"/>
                </a:solidFill>
                <a:effectLst/>
                <a:uLnTx/>
                <a:uFillTx/>
                <a:latin typeface="Montserrat" panose="00000500000000000000" pitchFamily="2" charset="0"/>
                <a:ea typeface="+mn-ea"/>
                <a:cs typeface="Trebuchet MS"/>
              </a:rPr>
              <a:t>,</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un</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m</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145" normalizeH="0" baseline="0" noProof="0" dirty="0">
                <a:ln>
                  <a:noFill/>
                </a:ln>
                <a:solidFill>
                  <a:prstClr val="black"/>
                </a:solidFill>
                <a:effectLst/>
                <a:uLnTx/>
                <a:uFillTx/>
                <a:latin typeface="Montserrat" panose="00000500000000000000" pitchFamily="2" charset="0"/>
                <a:ea typeface="+mn-ea"/>
                <a:cs typeface="Trebuchet MS"/>
              </a:rPr>
              <a:t>ti</a:t>
            </a:r>
            <a:r>
              <a:rPr kumimoji="0" sz="2000" b="0" i="0" u="none" strike="noStrike" kern="1200" cap="none" spc="-210" normalizeH="0" baseline="0" noProof="0" dirty="0">
                <a:ln>
                  <a:noFill/>
                </a:ln>
                <a:solidFill>
                  <a:prstClr val="black"/>
                </a:solidFill>
                <a:effectLst/>
                <a:uLnTx/>
                <a:uFillTx/>
                <a:latin typeface="Montserrat" panose="00000500000000000000" pitchFamily="2" charset="0"/>
                <a:ea typeface="+mn-ea"/>
                <a:cs typeface="Trebuchet MS"/>
              </a:rPr>
              <a:t>v</a:t>
            </a:r>
            <a:r>
              <a:rPr kumimoji="0" sz="2000" b="0" i="0" u="none" strike="noStrike" kern="1200" cap="none" spc="-25"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18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d</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0" normalizeH="0" baseline="0" noProof="0" dirty="0">
                <a:ln>
                  <a:noFill/>
                </a:ln>
                <a:solidFill>
                  <a:prstClr val="black"/>
                </a:solidFill>
                <a:effectLst/>
                <a:uLnTx/>
                <a:uFillTx/>
                <a:latin typeface="Montserrat" panose="00000500000000000000" pitchFamily="2" charset="0"/>
                <a:ea typeface="+mn-ea"/>
                <a:cs typeface="Trebuchet MS"/>
              </a:rPr>
              <a:t>peso</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q</a:t>
            </a:r>
            <a:r>
              <a:rPr kumimoji="0" sz="2000" b="0" i="0" u="none" strike="noStrike" kern="1200" cap="none" spc="-35"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50" normalizeH="0" baseline="0" noProof="0" dirty="0">
                <a:ln>
                  <a:noFill/>
                </a:ln>
                <a:solidFill>
                  <a:prstClr val="black"/>
                </a:solidFill>
                <a:effectLst/>
                <a:uLnTx/>
                <a:uFillTx/>
                <a:latin typeface="Montserrat" panose="00000500000000000000" pitchFamily="2" charset="0"/>
                <a:ea typeface="+mn-ea"/>
                <a:cs typeface="Trebuchet MS"/>
              </a:rPr>
              <a:t>le</a:t>
            </a:r>
            <a:r>
              <a:rPr kumimoji="0" sz="2000" b="0" i="0" u="none" strike="noStrike" kern="1200" cap="none" spc="-19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35" normalizeH="0" baseline="0" noProof="0" dirty="0">
                <a:ln>
                  <a:noFill/>
                </a:ln>
                <a:solidFill>
                  <a:prstClr val="black"/>
                </a:solidFill>
                <a:effectLst/>
                <a:uLnTx/>
                <a:uFillTx/>
                <a:latin typeface="Montserrat" panose="00000500000000000000" pitchFamily="2" charset="0"/>
                <a:ea typeface="+mn-ea"/>
                <a:cs typeface="Trebuchet MS"/>
              </a:rPr>
              <a:t>da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sustento</a:t>
            </a:r>
            <a:r>
              <a:rPr kumimoji="0" sz="2000" b="0" i="0" u="none" strike="noStrike" kern="1200" cap="none" spc="-229"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una</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40" normalizeH="0" baseline="0" noProof="0" dirty="0">
                <a:ln>
                  <a:noFill/>
                </a:ln>
                <a:solidFill>
                  <a:prstClr val="black"/>
                </a:solidFill>
                <a:effectLst/>
                <a:uLnTx/>
                <a:uFillTx/>
                <a:latin typeface="Montserrat" panose="00000500000000000000" pitchFamily="2" charset="0"/>
                <a:ea typeface="+mn-ea"/>
                <a:cs typeface="Trebuchet MS"/>
              </a:rPr>
              <a:t>iniciativa,</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que</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20" normalizeH="0" baseline="0" noProof="0" dirty="0">
                <a:ln>
                  <a:noFill/>
                </a:ln>
                <a:solidFill>
                  <a:prstClr val="black"/>
                </a:solidFill>
                <a:effectLst/>
                <a:uLnTx/>
                <a:uFillTx/>
                <a:latin typeface="Montserrat" panose="00000500000000000000" pitchFamily="2" charset="0"/>
                <a:ea typeface="+mn-ea"/>
                <a:cs typeface="Trebuchet MS"/>
              </a:rPr>
              <a:t>hagamos </a:t>
            </a:r>
            <a:r>
              <a:rPr kumimoji="0" sz="2000" b="0" i="0" u="none" strike="noStrike" kern="1200" cap="none" spc="-59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05" normalizeH="0" baseline="0" noProof="0" dirty="0">
                <a:ln>
                  <a:noFill/>
                </a:ln>
                <a:solidFill>
                  <a:prstClr val="black"/>
                </a:solidFill>
                <a:effectLst/>
                <a:uLnTx/>
                <a:uFillTx/>
                <a:latin typeface="Montserrat" panose="00000500000000000000" pitchFamily="2" charset="0"/>
                <a:ea typeface="+mn-ea"/>
                <a:cs typeface="Trebuchet MS"/>
              </a:rPr>
              <a:t>algo</a:t>
            </a:r>
            <a:r>
              <a:rPr kumimoji="0" sz="2000" b="0" i="0" u="none" strike="noStrike" kern="1200" cap="none" spc="-80" normalizeH="0" baseline="0" noProof="0" dirty="0">
                <a:ln>
                  <a:noFill/>
                </a:ln>
                <a:solidFill>
                  <a:prstClr val="black"/>
                </a:solidFill>
                <a:effectLst/>
                <a:uLnTx/>
                <a:uFillTx/>
                <a:latin typeface="Montserrat" panose="00000500000000000000" pitchFamily="2" charset="0"/>
                <a:ea typeface="+mn-ea"/>
                <a:cs typeface="Trebuchet MS"/>
              </a:rPr>
              <a:t>.</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 normalizeH="0" baseline="0" noProof="0" dirty="0">
                <a:ln>
                  <a:noFill/>
                </a:ln>
                <a:solidFill>
                  <a:prstClr val="black"/>
                </a:solidFill>
                <a:effectLst/>
                <a:uLnTx/>
                <a:uFillTx/>
                <a:latin typeface="Montserrat" panose="00000500000000000000" pitchFamily="2" charset="0"/>
                <a:ea typeface="+mn-ea"/>
                <a:cs typeface="Trebuchet MS"/>
              </a:rPr>
              <a:t>Es</a:t>
            </a:r>
            <a:r>
              <a:rPr kumimoji="0" sz="2000" b="0" i="0" u="none" strike="noStrike" kern="1200" cap="none" spc="10"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pr</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100" normalizeH="0" baseline="0" noProof="0" dirty="0">
                <a:ln>
                  <a:noFill/>
                </a:ln>
                <a:solidFill>
                  <a:prstClr val="black"/>
                </a:solidFill>
                <a:effectLst/>
                <a:uLnTx/>
                <a:uFillTx/>
                <a:latin typeface="Montserrat" panose="00000500000000000000" pitchFamily="2" charset="0"/>
                <a:ea typeface="+mn-ea"/>
                <a:cs typeface="Trebuchet MS"/>
              </a:rPr>
              <a:t>blem</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25" normalizeH="0" baseline="0" noProof="0" dirty="0">
                <a:ln>
                  <a:noFill/>
                </a:ln>
                <a:solidFill>
                  <a:prstClr val="black"/>
                </a:solidFill>
                <a:effectLst/>
                <a:uLnTx/>
                <a:uFillTx/>
                <a:latin typeface="Montserrat" panose="00000500000000000000" pitchFamily="2" charset="0"/>
                <a:ea typeface="+mn-ea"/>
                <a:cs typeface="Trebuchet MS"/>
              </a:rPr>
              <a:t>tien</a:t>
            </a:r>
            <a:r>
              <a:rPr kumimoji="0" sz="2000" b="0" i="0" u="none" strike="noStrike" kern="1200" cap="none" spc="-150"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 normalizeH="0" baseline="0" noProof="0" dirty="0">
                <a:ln>
                  <a:noFill/>
                </a:ln>
                <a:solidFill>
                  <a:prstClr val="black"/>
                </a:solidFill>
                <a:effectLst/>
                <a:uLnTx/>
                <a:uFillTx/>
                <a:latin typeface="Montserrat" panose="00000500000000000000" pitchFamily="2" charset="0"/>
                <a:ea typeface="+mn-ea"/>
                <a:cs typeface="Trebuchet MS"/>
              </a:rPr>
              <a:t>ha</a:t>
            </a:r>
            <a:r>
              <a:rPr kumimoji="0"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130" normalizeH="0" baseline="0" noProof="0" dirty="0">
                <a:ln>
                  <a:noFill/>
                </a:ln>
                <a:solidFill>
                  <a:prstClr val="black"/>
                </a:solidFill>
                <a:effectLst/>
                <a:uLnTx/>
                <a:uFillTx/>
                <a:latin typeface="Montserrat" panose="00000500000000000000" pitchFamily="2" charset="0"/>
                <a:ea typeface="+mn-ea"/>
                <a:cs typeface="Trebuchet MS"/>
              </a:rPr>
              <a:t>t</a:t>
            </a:r>
            <a:r>
              <a:rPr kumimoji="0" sz="2000" b="0" i="0" u="none" strike="noStrike" kern="1200" cap="none" spc="-165"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22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5" normalizeH="0" baseline="0" noProof="0" dirty="0">
                <a:ln>
                  <a:noFill/>
                </a:ln>
                <a:solidFill>
                  <a:prstClr val="black"/>
                </a:solidFill>
                <a:effectLst/>
                <a:uLnTx/>
                <a:uFillTx/>
                <a:latin typeface="Montserrat" panose="00000500000000000000" pitchFamily="2" charset="0"/>
                <a:ea typeface="+mn-ea"/>
                <a:cs typeface="Trebuchet MS"/>
              </a:rPr>
              <a:t>algun</a:t>
            </a:r>
            <a:r>
              <a:rPr kumimoji="0" sz="2000" b="0" i="0" u="none" strike="noStrike" kern="1200" cap="none" spc="25" normalizeH="0" baseline="0" noProof="0" dirty="0">
                <a:ln>
                  <a:noFill/>
                </a:ln>
                <a:solidFill>
                  <a:prstClr val="black"/>
                </a:solidFill>
                <a:effectLst/>
                <a:uLnTx/>
                <a:uFillTx/>
                <a:latin typeface="Montserrat" panose="00000500000000000000" pitchFamily="2" charset="0"/>
                <a:ea typeface="+mn-ea"/>
                <a:cs typeface="Trebuchet MS"/>
              </a:rPr>
              <a:t>os  </a:t>
            </a:r>
            <a:r>
              <a:rPr kumimoji="0" sz="2000" b="0" i="0" u="none" strike="noStrike" kern="1200" cap="none" spc="-120" normalizeH="0" baseline="0" noProof="0" dirty="0">
                <a:ln>
                  <a:noFill/>
                </a:ln>
                <a:solidFill>
                  <a:prstClr val="black"/>
                </a:solidFill>
                <a:effectLst/>
                <a:uLnTx/>
                <a:uFillTx/>
                <a:latin typeface="Montserrat" panose="00000500000000000000" pitchFamily="2" charset="0"/>
                <a:ea typeface="+mn-ea"/>
                <a:cs typeface="Trebuchet MS"/>
              </a:rPr>
              <a:t>princ</a:t>
            </a:r>
            <a:r>
              <a:rPr kumimoji="0" sz="2000" b="0" i="0" u="none" strike="noStrike" kern="1200" cap="none" spc="-70" normalizeH="0" baseline="0" noProof="0" dirty="0">
                <a:ln>
                  <a:noFill/>
                </a:ln>
                <a:solidFill>
                  <a:prstClr val="black"/>
                </a:solidFill>
                <a:effectLst/>
                <a:uLnTx/>
                <a:uFillTx/>
                <a:latin typeface="Montserrat" panose="00000500000000000000" pitchFamily="2" charset="0"/>
                <a:ea typeface="+mn-ea"/>
                <a:cs typeface="Trebuchet MS"/>
              </a:rPr>
              <a:t>i</a:t>
            </a:r>
            <a:r>
              <a:rPr kumimoji="0" sz="2000" b="0" i="0" u="none" strike="noStrike" kern="1200" cap="none" spc="-80" normalizeH="0" baseline="0" noProof="0" dirty="0">
                <a:ln>
                  <a:noFill/>
                </a:ln>
                <a:solidFill>
                  <a:prstClr val="black"/>
                </a:solidFill>
                <a:effectLst/>
                <a:uLnTx/>
                <a:uFillTx/>
                <a:latin typeface="Montserrat" panose="00000500000000000000" pitchFamily="2" charset="0"/>
                <a:ea typeface="+mn-ea"/>
                <a:cs typeface="Trebuchet MS"/>
              </a:rPr>
              <a:t>pi</a:t>
            </a:r>
            <a:r>
              <a:rPr kumimoji="0" sz="2000" b="0" i="0" u="none" strike="noStrike" kern="1200" cap="none" spc="-11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q</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Trebuchet MS"/>
              </a:rPr>
              <a:t>c</a:t>
            </a:r>
            <a:r>
              <a:rPr kumimoji="0" sz="2000" b="0" i="0" u="none" strike="noStrike" kern="1200" cap="none" spc="-65" normalizeH="0" baseline="0" noProof="0" dirty="0">
                <a:ln>
                  <a:noFill/>
                </a:ln>
                <a:solidFill>
                  <a:prstClr val="black"/>
                </a:solidFill>
                <a:effectLst/>
                <a:uLnTx/>
                <a:uFillTx/>
                <a:latin typeface="Montserrat" panose="00000500000000000000" pitchFamily="2" charset="0"/>
                <a:ea typeface="+mn-ea"/>
                <a:cs typeface="Trebuchet MS"/>
              </a:rPr>
              <a:t>reemo</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1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q</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prevale</a:t>
            </a:r>
            <a:r>
              <a:rPr kumimoji="0" sz="2000" b="0" i="0" u="none" strike="noStrike" kern="1200" cap="none" spc="-85" normalizeH="0" baseline="0" noProof="0" dirty="0">
                <a:ln>
                  <a:noFill/>
                </a:ln>
                <a:solidFill>
                  <a:prstClr val="black"/>
                </a:solidFill>
                <a:effectLst/>
                <a:uLnTx/>
                <a:uFillTx/>
                <a:latin typeface="Montserrat" panose="00000500000000000000" pitchFamily="2" charset="0"/>
                <a:ea typeface="+mn-ea"/>
                <a:cs typeface="Trebuchet MS"/>
              </a:rPr>
              <a:t>c</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en  </a:t>
            </a:r>
            <a:r>
              <a:rPr kumimoji="0" sz="2000" b="0" i="0" u="none" strike="noStrike" kern="1200" cap="none" spc="-30" normalizeH="0" baseline="0" noProof="0" dirty="0">
                <a:ln>
                  <a:noFill/>
                </a:ln>
                <a:solidFill>
                  <a:prstClr val="black"/>
                </a:solidFill>
                <a:effectLst/>
                <a:uLnTx/>
                <a:uFillTx/>
                <a:latin typeface="Montserrat" panose="00000500000000000000" pitchFamily="2" charset="0"/>
                <a:ea typeface="+mn-ea"/>
                <a:cs typeface="Trebuchet MS"/>
              </a:rPr>
              <a:t>p</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175" normalizeH="0" baseline="0" noProof="0" dirty="0">
                <a:ln>
                  <a:noFill/>
                </a:ln>
                <a:solidFill>
                  <a:prstClr val="black"/>
                </a:solidFill>
                <a:effectLst/>
                <a:uLnTx/>
                <a:uFillTx/>
                <a:latin typeface="Montserrat" panose="00000500000000000000" pitchFamily="2" charset="0"/>
                <a:ea typeface="+mn-ea"/>
                <a:cs typeface="Trebuchet MS"/>
              </a:rPr>
              <a:t>r</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30" normalizeH="0" baseline="0" noProof="0" dirty="0">
                <a:ln>
                  <a:noFill/>
                </a:ln>
                <a:solidFill>
                  <a:prstClr val="black"/>
                </a:solidFill>
                <a:effectLst/>
                <a:uLnTx/>
                <a:uFillTx/>
                <a:latin typeface="Montserrat" panose="00000500000000000000" pitchFamily="2" charset="0"/>
                <a:ea typeface="+mn-ea"/>
                <a:cs typeface="Trebuchet MS"/>
              </a:rPr>
              <a:t>so</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br</a:t>
            </a:r>
            <a:r>
              <a:rPr kumimoji="0" sz="2000" b="0" i="0" u="none" strike="noStrike" kern="1200" cap="none" spc="-100"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5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120" normalizeH="0" baseline="0" noProof="0" dirty="0">
                <a:ln>
                  <a:noFill/>
                </a:ln>
                <a:solidFill>
                  <a:prstClr val="black"/>
                </a:solidFill>
                <a:effectLst/>
                <a:uLnTx/>
                <a:uFillTx/>
                <a:latin typeface="Montserrat" panose="00000500000000000000" pitchFamily="2" charset="0"/>
                <a:ea typeface="+mn-ea"/>
                <a:cs typeface="Trebuchet MS"/>
              </a:rPr>
              <a:t>t</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r</a:t>
            </a:r>
            <a:r>
              <a:rPr kumimoji="0" sz="2000" b="0" i="0" u="none" strike="noStrike" kern="1200" cap="none" spc="-125"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18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y</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que</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 normalizeH="0" baseline="0" noProof="0" dirty="0">
                <a:ln>
                  <a:noFill/>
                </a:ln>
                <a:solidFill>
                  <a:prstClr val="black"/>
                </a:solidFill>
                <a:effectLst/>
                <a:uLnTx/>
                <a:uFillTx/>
                <a:latin typeface="Montserrat" panose="00000500000000000000" pitchFamily="2" charset="0"/>
                <a:ea typeface="+mn-ea"/>
                <a:cs typeface="Trebuchet MS"/>
              </a:rPr>
              <a:t>nos</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da</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n</a:t>
            </a:r>
            <a:r>
              <a:rPr kumimoji="0" sz="2000" b="0" i="0" u="none" strike="noStrike" kern="1200" cap="none" spc="-21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80" normalizeH="0" baseline="0" noProof="0" dirty="0">
                <a:ln>
                  <a:noFill/>
                </a:ln>
                <a:solidFill>
                  <a:prstClr val="black"/>
                </a:solidFill>
                <a:effectLst/>
                <a:uLnTx/>
                <a:uFillTx/>
                <a:latin typeface="Montserrat" panose="00000500000000000000" pitchFamily="2" charset="0"/>
                <a:ea typeface="+mn-ea"/>
                <a:cs typeface="Trebuchet MS"/>
              </a:rPr>
              <a:t>f</a:t>
            </a:r>
            <a:r>
              <a:rPr kumimoji="0" sz="2000" b="0" i="0" u="none" strike="noStrike" kern="1200" cap="none" spc="-13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co.</a:t>
            </a:r>
            <a:endParaRPr kumimoji="0"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Trebuchet MS"/>
            </a:endParaRPr>
          </a:p>
        </p:txBody>
      </p:sp>
      <p:pic>
        <p:nvPicPr>
          <p:cNvPr id="4" name="object 4"/>
          <p:cNvPicPr/>
          <p:nvPr/>
        </p:nvPicPr>
        <p:blipFill>
          <a:blip r:embed="rId2" cstate="email">
            <a:extLst>
              <a:ext uri="{28A0092B-C50C-407E-A947-70E740481C1C}">
                <a14:useLocalDpi xmlns:a14="http://schemas.microsoft.com/office/drawing/2010/main"/>
              </a:ext>
            </a:extLst>
          </a:blip>
          <a:stretch>
            <a:fillRect/>
          </a:stretch>
        </p:blipFill>
        <p:spPr>
          <a:xfrm>
            <a:off x="8134908" y="3661562"/>
            <a:ext cx="3490272" cy="1258214"/>
          </a:xfrm>
          <a:prstGeom prst="rect">
            <a:avLst/>
          </a:prstGeom>
        </p:spPr>
      </p:pic>
      <p:pic>
        <p:nvPicPr>
          <p:cNvPr id="5" name="object 5"/>
          <p:cNvPicPr/>
          <p:nvPr/>
        </p:nvPicPr>
        <p:blipFill>
          <a:blip r:embed="rId3" cstate="email">
            <a:extLst>
              <a:ext uri="{28A0092B-C50C-407E-A947-70E740481C1C}">
                <a14:useLocalDpi xmlns:a14="http://schemas.microsoft.com/office/drawing/2010/main"/>
              </a:ext>
            </a:extLst>
          </a:blip>
          <a:stretch>
            <a:fillRect/>
          </a:stretch>
        </p:blipFill>
        <p:spPr>
          <a:xfrm>
            <a:off x="6106521" y="993699"/>
            <a:ext cx="1265912" cy="2382234"/>
          </a:xfrm>
          <a:prstGeom prst="rect">
            <a:avLst/>
          </a:prstGeom>
        </p:spPr>
      </p:pic>
      <p:pic>
        <p:nvPicPr>
          <p:cNvPr id="6" name="object 6"/>
          <p:cNvPicPr/>
          <p:nvPr/>
        </p:nvPicPr>
        <p:blipFill>
          <a:blip r:embed="rId4" cstate="email">
            <a:extLst>
              <a:ext uri="{28A0092B-C50C-407E-A947-70E740481C1C}">
                <a14:useLocalDpi xmlns:a14="http://schemas.microsoft.com/office/drawing/2010/main"/>
              </a:ext>
            </a:extLst>
          </a:blip>
          <a:stretch>
            <a:fillRect/>
          </a:stretch>
        </p:blipFill>
        <p:spPr>
          <a:xfrm>
            <a:off x="8802623" y="819911"/>
            <a:ext cx="2240279" cy="148742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2852" y="2177033"/>
            <a:ext cx="4680455" cy="2655214"/>
          </a:xfrm>
          <a:prstGeom prst="rect">
            <a:avLst/>
          </a:prstGeom>
        </p:spPr>
        <p:txBody>
          <a:bodyPr vert="horz" wrap="square" lIns="0" tIns="13335" rIns="0" bIns="0" rtlCol="0">
            <a:spAutoFit/>
          </a:bodyPr>
          <a:lstStyle/>
          <a:p>
            <a:pPr marL="12700" marR="2821940" lvl="0" indent="0" algn="l" defTabSz="914400" rtl="0" eaLnBrk="1" fontAlgn="auto" latinLnBrk="0" hangingPunct="1">
              <a:lnSpc>
                <a:spcPct val="100000"/>
              </a:lnSpc>
              <a:spcBef>
                <a:spcPts val="105"/>
              </a:spcBef>
              <a:spcAft>
                <a:spcPts val="0"/>
              </a:spcAft>
              <a:buClrTx/>
              <a:buSzTx/>
              <a:buFontTx/>
              <a:buNone/>
              <a:tabLst/>
              <a:defRPr/>
            </a:pPr>
            <a:r>
              <a:rPr kumimoji="0" sz="2000" b="1" i="0" u="none" strike="noStrike" kern="1200" cap="none" spc="130" normalizeH="0" baseline="0" noProof="0" dirty="0">
                <a:ln>
                  <a:noFill/>
                </a:ln>
                <a:solidFill>
                  <a:prstClr val="black"/>
                </a:solidFill>
                <a:effectLst/>
                <a:uLnTx/>
                <a:uFillTx/>
                <a:latin typeface="Montserrat" panose="00000500000000000000" pitchFamily="2" charset="0"/>
                <a:ea typeface="+mn-ea"/>
                <a:cs typeface="Tahoma"/>
              </a:rPr>
              <a:t>VA</a:t>
            </a:r>
            <a:r>
              <a:rPr kumimoji="0" sz="2000" b="1" i="0" u="none" strike="noStrike" kern="1200" cap="none" spc="114" normalizeH="0" baseline="0" noProof="0" dirty="0">
                <a:ln>
                  <a:noFill/>
                </a:ln>
                <a:solidFill>
                  <a:prstClr val="black"/>
                </a:solidFill>
                <a:effectLst/>
                <a:uLnTx/>
                <a:uFillTx/>
                <a:latin typeface="Montserrat" panose="00000500000000000000" pitchFamily="2" charset="0"/>
                <a:ea typeface="+mn-ea"/>
                <a:cs typeface="Tahoma"/>
              </a:rPr>
              <a:t>L</a:t>
            </a:r>
            <a:r>
              <a:rPr kumimoji="0" sz="2000" b="1" i="0" u="none" strike="noStrike" kern="1200" cap="none" spc="40" normalizeH="0" baseline="0" noProof="0" dirty="0">
                <a:ln>
                  <a:noFill/>
                </a:ln>
                <a:solidFill>
                  <a:prstClr val="black"/>
                </a:solidFill>
                <a:effectLst/>
                <a:uLnTx/>
                <a:uFillTx/>
                <a:latin typeface="Montserrat" panose="00000500000000000000" pitchFamily="2" charset="0"/>
                <a:ea typeface="+mn-ea"/>
                <a:cs typeface="Tahoma"/>
              </a:rPr>
              <a:t>IDAM</a:t>
            </a:r>
            <a:r>
              <a:rPr kumimoji="0" lang="es-CL" sz="2000" b="1" i="0" u="none" strike="noStrike" kern="1200" cap="none" spc="40" normalizeH="0" baseline="0" noProof="0" dirty="0">
                <a:ln>
                  <a:noFill/>
                </a:ln>
                <a:solidFill>
                  <a:prstClr val="black"/>
                </a:solidFill>
                <a:effectLst/>
                <a:uLnTx/>
                <a:uFillTx/>
                <a:latin typeface="Montserrat" panose="00000500000000000000" pitchFamily="2" charset="0"/>
                <a:ea typeface="+mn-ea"/>
                <a:cs typeface="Tahoma"/>
              </a:rPr>
              <a:t>O</a:t>
            </a:r>
            <a:r>
              <a:rPr kumimoji="0" sz="2000" b="1" i="0" u="none" strike="noStrike" kern="1200" cap="none" spc="40" normalizeH="0" baseline="0" noProof="0" dirty="0">
                <a:ln>
                  <a:noFill/>
                </a:ln>
                <a:solidFill>
                  <a:prstClr val="black"/>
                </a:solidFill>
                <a:effectLst/>
                <a:uLnTx/>
                <a:uFillTx/>
                <a:latin typeface="Montserrat" panose="00000500000000000000" pitchFamily="2" charset="0"/>
                <a:ea typeface="+mn-ea"/>
                <a:cs typeface="Tahoma"/>
              </a:rPr>
              <a:t>S  </a:t>
            </a:r>
            <a:r>
              <a:rPr kumimoji="0" sz="2000" b="1" i="0" u="none" strike="noStrike" kern="1200" cap="none" spc="25" normalizeH="0" baseline="0" noProof="0" dirty="0">
                <a:ln>
                  <a:noFill/>
                </a:ln>
                <a:solidFill>
                  <a:prstClr val="black"/>
                </a:solidFill>
                <a:effectLst/>
                <a:uLnTx/>
                <a:uFillTx/>
                <a:latin typeface="Montserrat" panose="00000500000000000000" pitchFamily="2" charset="0"/>
                <a:ea typeface="+mn-ea"/>
                <a:cs typeface="Tahoma"/>
              </a:rPr>
              <a:t>CLIENTES</a:t>
            </a:r>
            <a:endParaRPr kumimoji="0"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Tahoma"/>
            </a:endParaRPr>
          </a:p>
          <a:p>
            <a:pPr marL="12700" marR="5080" lvl="0" indent="0" algn="l" defTabSz="914400" rtl="0" eaLnBrk="1" fontAlgn="auto" latinLnBrk="0" hangingPunct="1">
              <a:lnSpc>
                <a:spcPct val="100000"/>
              </a:lnSpc>
              <a:spcBef>
                <a:spcPts val="1440"/>
              </a:spcBef>
              <a:spcAft>
                <a:spcPts val="0"/>
              </a:spcAft>
              <a:buClrTx/>
              <a:buSzTx/>
              <a:buFontTx/>
              <a:buNone/>
              <a:tabLst/>
              <a:defRPr/>
            </a:pP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Establecemo</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1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5" normalizeH="0" baseline="0" noProof="0" dirty="0">
                <a:ln>
                  <a:noFill/>
                </a:ln>
                <a:solidFill>
                  <a:prstClr val="black"/>
                </a:solidFill>
                <a:effectLst/>
                <a:uLnTx/>
                <a:uFillTx/>
                <a:latin typeface="Montserrat" panose="00000500000000000000" pitchFamily="2" charset="0"/>
                <a:ea typeface="+mn-ea"/>
                <a:cs typeface="Trebuchet MS"/>
              </a:rPr>
              <a:t>cara</a:t>
            </a:r>
            <a:r>
              <a:rPr kumimoji="0" sz="2000" b="0" i="0" u="none" strike="noStrike" kern="1200" cap="none" spc="-70" normalizeH="0" baseline="0" noProof="0" dirty="0">
                <a:ln>
                  <a:noFill/>
                </a:ln>
                <a:solidFill>
                  <a:prstClr val="black"/>
                </a:solidFill>
                <a:effectLst/>
                <a:uLnTx/>
                <a:uFillTx/>
                <a:latin typeface="Montserrat" panose="00000500000000000000" pitchFamily="2" charset="0"/>
                <a:ea typeface="+mn-ea"/>
                <a:cs typeface="Trebuchet MS"/>
              </a:rPr>
              <a:t>c</a:t>
            </a:r>
            <a:r>
              <a:rPr kumimoji="0" sz="2000" b="0" i="0" u="none" strike="noStrike" kern="1200" cap="none" spc="-130" normalizeH="0" baseline="0" noProof="0" dirty="0">
                <a:ln>
                  <a:noFill/>
                </a:ln>
                <a:solidFill>
                  <a:prstClr val="black"/>
                </a:solidFill>
                <a:effectLst/>
                <a:uLnTx/>
                <a:uFillTx/>
                <a:latin typeface="Montserrat" panose="00000500000000000000" pitchFamily="2" charset="0"/>
                <a:ea typeface="+mn-ea"/>
                <a:cs typeface="Trebuchet MS"/>
              </a:rPr>
              <a:t>t</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80" normalizeH="0" baseline="0" noProof="0" dirty="0">
                <a:ln>
                  <a:noFill/>
                </a:ln>
                <a:solidFill>
                  <a:prstClr val="black"/>
                </a:solidFill>
                <a:effectLst/>
                <a:uLnTx/>
                <a:uFillTx/>
                <a:latin typeface="Montserrat" panose="00000500000000000000" pitchFamily="2" charset="0"/>
                <a:ea typeface="+mn-ea"/>
                <a:cs typeface="Trebuchet MS"/>
              </a:rPr>
              <a:t>rizacione</a:t>
            </a:r>
            <a:r>
              <a:rPr kumimoji="0" sz="2000" b="0" i="0" u="none" strike="noStrike" kern="1200" cap="none" spc="-70"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4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y  </a:t>
            </a:r>
            <a:r>
              <a:rPr kumimoji="0" sz="2000" b="0" i="0" u="none" strike="noStrike" kern="1200" cap="none" spc="-105" normalizeH="0" baseline="0" noProof="0" dirty="0">
                <a:ln>
                  <a:noFill/>
                </a:ln>
                <a:solidFill>
                  <a:prstClr val="black"/>
                </a:solidFill>
                <a:effectLst/>
                <a:uLnTx/>
                <a:uFillTx/>
                <a:latin typeface="Montserrat" panose="00000500000000000000" pitchFamily="2" charset="0"/>
                <a:ea typeface="+mn-ea"/>
                <a:cs typeface="Trebuchet MS"/>
              </a:rPr>
              <a:t>pe</a:t>
            </a:r>
            <a:r>
              <a:rPr kumimoji="0" sz="2000" b="0" i="0" u="none" strike="noStrike" kern="1200" cap="none" spc="-85" normalizeH="0" baseline="0" noProof="0" dirty="0">
                <a:ln>
                  <a:noFill/>
                </a:ln>
                <a:solidFill>
                  <a:prstClr val="black"/>
                </a:solidFill>
                <a:effectLst/>
                <a:uLnTx/>
                <a:uFillTx/>
                <a:latin typeface="Montserrat" panose="00000500000000000000" pitchFamily="2" charset="0"/>
                <a:ea typeface="+mn-ea"/>
                <a:cs typeface="Trebuchet MS"/>
              </a:rPr>
              <a:t>r</a:t>
            </a:r>
            <a:r>
              <a:rPr kumimoji="0" sz="2000" b="0" i="0" u="none" strike="noStrike" kern="1200" cap="none" spc="-114" normalizeH="0" baseline="0" noProof="0" dirty="0">
                <a:ln>
                  <a:noFill/>
                </a:ln>
                <a:solidFill>
                  <a:prstClr val="black"/>
                </a:solidFill>
                <a:effectLst/>
                <a:uLnTx/>
                <a:uFillTx/>
                <a:latin typeface="Montserrat" panose="00000500000000000000" pitchFamily="2" charset="0"/>
                <a:ea typeface="+mn-ea"/>
                <a:cs typeface="Trebuchet MS"/>
              </a:rPr>
              <a:t>fila</a:t>
            </a:r>
            <a:r>
              <a:rPr kumimoji="0" sz="2000" b="0" i="0" u="none" strike="noStrike" kern="1200" cap="none" spc="-270" normalizeH="0" baseline="0" noProof="0" dirty="0">
                <a:ln>
                  <a:noFill/>
                </a:ln>
                <a:solidFill>
                  <a:prstClr val="black"/>
                </a:solidFill>
                <a:effectLst/>
                <a:uLnTx/>
                <a:uFillTx/>
                <a:latin typeface="Montserrat" panose="00000500000000000000" pitchFamily="2" charset="0"/>
                <a:ea typeface="+mn-ea"/>
                <a:cs typeface="Trebuchet MS"/>
              </a:rPr>
              <a:t>m</a:t>
            </a:r>
            <a:r>
              <a:rPr kumimoji="0" sz="2000" b="0" i="0" u="none" strike="noStrike" kern="1200" cap="none" spc="35"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30"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un</a:t>
            </a:r>
            <a:r>
              <a:rPr kumimoji="0" sz="2000" b="0" i="0" u="none" strike="noStrike" kern="1200" cap="none" spc="-19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individuo</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25"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un</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30" normalizeH="0" baseline="0" noProof="0" dirty="0">
                <a:ln>
                  <a:noFill/>
                </a:ln>
                <a:solidFill>
                  <a:prstClr val="black"/>
                </a:solidFill>
                <a:effectLst/>
                <a:uLnTx/>
                <a:uFillTx/>
                <a:latin typeface="Montserrat" panose="00000500000000000000" pitchFamily="2" charset="0"/>
                <a:ea typeface="+mn-ea"/>
                <a:cs typeface="Trebuchet MS"/>
              </a:rPr>
              <a:t>ti</a:t>
            </a:r>
            <a:r>
              <a:rPr kumimoji="0" sz="2000" b="0" i="0" u="none" strike="noStrike" kern="1200" cap="none" spc="-220" normalizeH="0" baseline="0" noProof="0" dirty="0">
                <a:ln>
                  <a:noFill/>
                </a:ln>
                <a:solidFill>
                  <a:prstClr val="black"/>
                </a:solidFill>
                <a:effectLst/>
                <a:uLnTx/>
                <a:uFillTx/>
                <a:latin typeface="Montserrat" panose="00000500000000000000" pitchFamily="2" charset="0"/>
                <a:ea typeface="+mn-ea"/>
                <a:cs typeface="Trebuchet MS"/>
              </a:rPr>
              <a:t>p</a:t>
            </a:r>
            <a:r>
              <a:rPr kumimoji="0" sz="2000" b="0" i="0" u="none" strike="noStrike" kern="1200" cap="none" spc="-25"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de  </a:t>
            </a:r>
            <a:r>
              <a:rPr kumimoji="0" sz="2000" b="0" i="0" u="none" strike="noStrike" kern="1200" cap="none" spc="-100" normalizeH="0" baseline="0" noProof="0" dirty="0">
                <a:ln>
                  <a:noFill/>
                </a:ln>
                <a:solidFill>
                  <a:prstClr val="black"/>
                </a:solidFill>
                <a:effectLst/>
                <a:uLnTx/>
                <a:uFillTx/>
                <a:latin typeface="Montserrat" panose="00000500000000000000" pitchFamily="2" charset="0"/>
                <a:ea typeface="+mn-ea"/>
                <a:cs typeface="Trebuchet MS"/>
              </a:rPr>
              <a:t>emp</a:t>
            </a:r>
            <a:r>
              <a:rPr kumimoji="0" sz="2000" b="0" i="0" u="none" strike="noStrike" kern="1200" cap="none" spc="-70" normalizeH="0" baseline="0" noProof="0" dirty="0">
                <a:ln>
                  <a:noFill/>
                </a:ln>
                <a:solidFill>
                  <a:prstClr val="black"/>
                </a:solidFill>
                <a:effectLst/>
                <a:uLnTx/>
                <a:uFillTx/>
                <a:latin typeface="Montserrat" panose="00000500000000000000" pitchFamily="2" charset="0"/>
                <a:ea typeface="+mn-ea"/>
                <a:cs typeface="Trebuchet MS"/>
              </a:rPr>
              <a:t>r</a:t>
            </a:r>
            <a:r>
              <a:rPr kumimoji="0" sz="2000" b="0" i="0" u="none" strike="noStrike" kern="1200" cap="none" spc="10" normalizeH="0" baseline="0" noProof="0" dirty="0">
                <a:ln>
                  <a:noFill/>
                </a:ln>
                <a:solidFill>
                  <a:prstClr val="black"/>
                </a:solidFill>
                <a:effectLst/>
                <a:uLnTx/>
                <a:uFillTx/>
                <a:latin typeface="Montserrat" panose="00000500000000000000" pitchFamily="2" charset="0"/>
                <a:ea typeface="+mn-ea"/>
                <a:cs typeface="Trebuchet MS"/>
              </a:rPr>
              <a:t>es</a:t>
            </a:r>
            <a:r>
              <a:rPr kumimoji="0" sz="2000" b="0" i="0" u="none" strike="noStrike" kern="1200" cap="none" spc="-180"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125" normalizeH="0" baseline="0" noProof="0" dirty="0">
                <a:ln>
                  <a:noFill/>
                </a:ln>
                <a:solidFill>
                  <a:prstClr val="black"/>
                </a:solidFill>
                <a:effectLst/>
                <a:uLnTx/>
                <a:uFillTx/>
                <a:latin typeface="Montserrat" panose="00000500000000000000" pitchFamily="2" charset="0"/>
                <a:ea typeface="+mn-ea"/>
                <a:cs typeface="Trebuchet MS"/>
              </a:rPr>
              <a:t>,</a:t>
            </a:r>
            <a:r>
              <a:rPr kumimoji="0" sz="2000" b="0" i="0" u="none" strike="noStrike" kern="1200" cap="none" spc="-22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10" normalizeH="0" baseline="0" noProof="0" dirty="0">
                <a:ln>
                  <a:noFill/>
                </a:ln>
                <a:solidFill>
                  <a:prstClr val="black"/>
                </a:solidFill>
                <a:effectLst/>
                <a:uLnTx/>
                <a:uFillTx/>
                <a:latin typeface="Montserrat" panose="00000500000000000000" pitchFamily="2" charset="0"/>
                <a:ea typeface="+mn-ea"/>
                <a:cs typeface="Trebuchet MS"/>
              </a:rPr>
              <a:t>simplifica</a:t>
            </a:r>
            <a:r>
              <a:rPr kumimoji="0" sz="2000" b="0" i="0" u="none" strike="noStrike" kern="1200" cap="none" spc="-35" normalizeH="0" baseline="0" noProof="0" dirty="0">
                <a:ln>
                  <a:noFill/>
                </a:ln>
                <a:solidFill>
                  <a:prstClr val="black"/>
                </a:solidFill>
                <a:effectLst/>
                <a:uLnTx/>
                <a:uFillTx/>
                <a:latin typeface="Montserrat" panose="00000500000000000000" pitchFamily="2" charset="0"/>
                <a:ea typeface="+mn-ea"/>
                <a:cs typeface="Trebuchet MS"/>
              </a:rPr>
              <a:t>ndo</a:t>
            </a:r>
            <a:r>
              <a:rPr kumimoji="0" sz="2000" b="0" i="0" u="none" strike="noStrike" kern="1200" cap="none" spc="-22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20" normalizeH="0" baseline="0" noProof="0" dirty="0">
                <a:ln>
                  <a:noFill/>
                </a:ln>
                <a:solidFill>
                  <a:prstClr val="black"/>
                </a:solidFill>
                <a:effectLst/>
                <a:uLnTx/>
                <a:uFillTx/>
                <a:latin typeface="Montserrat" panose="00000500000000000000" pitchFamily="2" charset="0"/>
                <a:ea typeface="+mn-ea"/>
                <a:cs typeface="Trebuchet MS"/>
              </a:rPr>
              <a:t>su</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Trebuchet MS"/>
              </a:rPr>
              <a:t>c</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70" normalizeH="0" baseline="0" noProof="0" dirty="0">
                <a:ln>
                  <a:noFill/>
                </a:ln>
                <a:solidFill>
                  <a:prstClr val="black"/>
                </a:solidFill>
                <a:effectLst/>
                <a:uLnTx/>
                <a:uFillTx/>
                <a:latin typeface="Montserrat" panose="00000500000000000000" pitchFamily="2" charset="0"/>
                <a:ea typeface="+mn-ea"/>
                <a:cs typeface="Trebuchet MS"/>
              </a:rPr>
              <a:t>m</a:t>
            </a:r>
            <a:r>
              <a:rPr kumimoji="0" sz="2000" b="0" i="0" u="none" strike="noStrike" kern="1200" cap="none" spc="-30" normalizeH="0" baseline="0" noProof="0" dirty="0">
                <a:ln>
                  <a:noFill/>
                </a:ln>
                <a:solidFill>
                  <a:prstClr val="black"/>
                </a:solidFill>
                <a:effectLst/>
                <a:uLnTx/>
                <a:uFillTx/>
                <a:latin typeface="Montserrat" panose="00000500000000000000" pitchFamily="2" charset="0"/>
                <a:ea typeface="+mn-ea"/>
                <a:cs typeface="Trebuchet MS"/>
              </a:rPr>
              <a:t>p</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r</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t</a:t>
            </a:r>
            <a:r>
              <a:rPr kumimoji="0" sz="2000" b="0" i="0" u="none" strike="noStrike" kern="1200" cap="none" spc="-100" normalizeH="0" baseline="0" noProof="0" dirty="0">
                <a:ln>
                  <a:noFill/>
                </a:ln>
                <a:solidFill>
                  <a:prstClr val="black"/>
                </a:solidFill>
                <a:effectLst/>
                <a:uLnTx/>
                <a:uFillTx/>
                <a:latin typeface="Montserrat" panose="00000500000000000000" pitchFamily="2" charset="0"/>
                <a:ea typeface="+mn-ea"/>
                <a:cs typeface="Trebuchet MS"/>
              </a:rPr>
              <a:t>amie</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n</a:t>
            </a:r>
            <a:r>
              <a:rPr kumimoji="0" sz="2000" b="0" i="0" u="none" strike="noStrike" kern="1200" cap="none" spc="-110" normalizeH="0" baseline="0" noProof="0" dirty="0">
                <a:ln>
                  <a:noFill/>
                </a:ln>
                <a:solidFill>
                  <a:prstClr val="black"/>
                </a:solidFill>
                <a:effectLst/>
                <a:uLnTx/>
                <a:uFillTx/>
                <a:latin typeface="Montserrat" panose="00000500000000000000" pitchFamily="2" charset="0"/>
                <a:ea typeface="+mn-ea"/>
                <a:cs typeface="Trebuchet MS"/>
              </a:rPr>
              <a:t>to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n</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0" normalizeH="0" baseline="0" noProof="0" dirty="0">
                <a:ln>
                  <a:noFill/>
                </a:ln>
                <a:solidFill>
                  <a:prstClr val="black"/>
                </a:solidFill>
                <a:effectLst/>
                <a:uLnTx/>
                <a:uFillTx/>
                <a:latin typeface="Montserrat" panose="00000500000000000000" pitchFamily="2" charset="0"/>
                <a:ea typeface="+mn-ea"/>
                <a:cs typeface="Trebuchet MS"/>
              </a:rPr>
              <a:t>se</a:t>
            </a:r>
            <a:r>
              <a:rPr kumimoji="0" sz="2000" b="0" i="0" u="none" strike="noStrike" kern="1200" cap="none" spc="-130" normalizeH="0" baseline="0" noProof="0" dirty="0">
                <a:ln>
                  <a:noFill/>
                </a:ln>
                <a:solidFill>
                  <a:prstClr val="black"/>
                </a:solidFill>
                <a:effectLst/>
                <a:uLnTx/>
                <a:uFillTx/>
                <a:latin typeface="Montserrat" panose="00000500000000000000" pitchFamily="2" charset="0"/>
                <a:ea typeface="+mn-ea"/>
                <a:cs typeface="Trebuchet MS"/>
              </a:rPr>
              <a:t>ri</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e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d</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1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20" normalizeH="0" baseline="0" noProof="0" dirty="0">
                <a:ln>
                  <a:noFill/>
                </a:ln>
                <a:solidFill>
                  <a:prstClr val="black"/>
                </a:solidFill>
                <a:effectLst/>
                <a:uLnTx/>
                <a:uFillTx/>
                <a:latin typeface="Montserrat" panose="00000500000000000000" pitchFamily="2" charset="0"/>
                <a:ea typeface="+mn-ea"/>
                <a:cs typeface="Trebuchet MS"/>
              </a:rPr>
              <a:t>princ</a:t>
            </a:r>
            <a:r>
              <a:rPr kumimoji="0" sz="2000" b="0" i="0" u="none" strike="noStrike" kern="1200" cap="none" spc="-70" normalizeH="0" baseline="0" noProof="0" dirty="0">
                <a:ln>
                  <a:noFill/>
                </a:ln>
                <a:solidFill>
                  <a:prstClr val="black"/>
                </a:solidFill>
                <a:effectLst/>
                <a:uLnTx/>
                <a:uFillTx/>
                <a:latin typeface="Montserrat" panose="00000500000000000000" pitchFamily="2" charset="0"/>
                <a:ea typeface="+mn-ea"/>
                <a:cs typeface="Trebuchet MS"/>
              </a:rPr>
              <a:t>i</a:t>
            </a:r>
            <a:r>
              <a:rPr kumimoji="0" sz="2000" b="0" i="0" u="none" strike="noStrike" kern="1200" cap="none" spc="-80" normalizeH="0" baseline="0" noProof="0" dirty="0">
                <a:ln>
                  <a:noFill/>
                </a:ln>
                <a:solidFill>
                  <a:prstClr val="black"/>
                </a:solidFill>
                <a:effectLst/>
                <a:uLnTx/>
                <a:uFillTx/>
                <a:latin typeface="Montserrat" panose="00000500000000000000" pitchFamily="2" charset="0"/>
                <a:ea typeface="+mn-ea"/>
                <a:cs typeface="Trebuchet MS"/>
              </a:rPr>
              <a:t>pi</a:t>
            </a:r>
            <a:r>
              <a:rPr kumimoji="0" sz="2000" b="0" i="0" u="none" strike="noStrike" kern="1200" cap="none" spc="-11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q</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Trebuchet MS"/>
              </a:rPr>
              <a:t>c</a:t>
            </a:r>
            <a:r>
              <a:rPr kumimoji="0" sz="2000" b="0" i="0" u="none" strike="noStrike" kern="1200" cap="none" spc="-65" normalizeH="0" baseline="0" noProof="0" dirty="0">
                <a:ln>
                  <a:noFill/>
                </a:ln>
                <a:solidFill>
                  <a:prstClr val="black"/>
                </a:solidFill>
                <a:effectLst/>
                <a:uLnTx/>
                <a:uFillTx/>
                <a:latin typeface="Montserrat" panose="00000500000000000000" pitchFamily="2" charset="0"/>
                <a:ea typeface="+mn-ea"/>
                <a:cs typeface="Trebuchet MS"/>
              </a:rPr>
              <a:t>reemo</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1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q</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e  </a:t>
            </a:r>
            <a:r>
              <a:rPr kumimoji="0" sz="2000" b="0" i="0" u="none" strike="noStrike" kern="1200" cap="none" spc="-85" normalizeH="0" baseline="0" noProof="0" dirty="0">
                <a:ln>
                  <a:noFill/>
                </a:ln>
                <a:solidFill>
                  <a:prstClr val="black"/>
                </a:solidFill>
                <a:effectLst/>
                <a:uLnTx/>
                <a:uFillTx/>
                <a:latin typeface="Montserrat" panose="00000500000000000000" pitchFamily="2" charset="0"/>
                <a:ea typeface="+mn-ea"/>
                <a:cs typeface="Trebuchet MS"/>
              </a:rPr>
              <a:t>para</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 normalizeH="0" baseline="0" noProof="0" dirty="0">
                <a:ln>
                  <a:noFill/>
                </a:ln>
                <a:solidFill>
                  <a:prstClr val="black"/>
                </a:solidFill>
                <a:effectLst/>
                <a:uLnTx/>
                <a:uFillTx/>
                <a:latin typeface="Montserrat" panose="00000500000000000000" pitchFamily="2" charset="0"/>
                <a:ea typeface="+mn-ea"/>
                <a:cs typeface="Trebuchet MS"/>
              </a:rPr>
              <a:t>son</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30" normalizeH="0" baseline="0" noProof="0" dirty="0">
                <a:ln>
                  <a:noFill/>
                </a:ln>
                <a:solidFill>
                  <a:prstClr val="black"/>
                </a:solidFill>
                <a:effectLst/>
                <a:uLnTx/>
                <a:uFillTx/>
                <a:latin typeface="Montserrat" panose="00000500000000000000" pitchFamily="2" charset="0"/>
                <a:ea typeface="+mn-ea"/>
                <a:cs typeface="Trebuchet MS"/>
              </a:rPr>
              <a:t>intran</a:t>
            </a:r>
            <a:r>
              <a:rPr kumimoji="0" sz="2000" b="0" i="0" u="none" strike="noStrike" kern="1200" cap="none" spc="1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5"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b</a:t>
            </a:r>
            <a:r>
              <a:rPr kumimoji="0" sz="2000" b="0" i="0" u="none" strike="noStrike" kern="1200" cap="none" spc="-70" normalizeH="0" baseline="0" noProof="0" dirty="0">
                <a:ln>
                  <a:noFill/>
                </a:ln>
                <a:solidFill>
                  <a:prstClr val="black"/>
                </a:solidFill>
                <a:effectLst/>
                <a:uLnTx/>
                <a:uFillTx/>
                <a:latin typeface="Montserrat" panose="00000500000000000000" pitchFamily="2" charset="0"/>
                <a:ea typeface="+mn-ea"/>
                <a:cs typeface="Trebuchet MS"/>
              </a:rPr>
              <a:t>les</a:t>
            </a:r>
            <a:r>
              <a:rPr kumimoji="0" sz="2000" b="0" i="0" u="none" strike="noStrike" kern="1200" cap="none" spc="-23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y</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 normalizeH="0" baseline="0" noProof="0" dirty="0">
                <a:ln>
                  <a:noFill/>
                </a:ln>
                <a:solidFill>
                  <a:prstClr val="black"/>
                </a:solidFill>
                <a:effectLst/>
                <a:uLnTx/>
                <a:uFillTx/>
                <a:latin typeface="Montserrat" panose="00000500000000000000" pitchFamily="2" charset="0"/>
                <a:ea typeface="+mn-ea"/>
                <a:cs typeface="Trebuchet MS"/>
              </a:rPr>
              <a:t>ha</a:t>
            </a:r>
            <a:r>
              <a:rPr kumimoji="0" sz="2000" b="0" i="0" u="none" strike="noStrike" kern="1200" cap="none" spc="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130" normalizeH="0" baseline="0" noProof="0" dirty="0">
                <a:ln>
                  <a:noFill/>
                </a:ln>
                <a:solidFill>
                  <a:prstClr val="black"/>
                </a:solidFill>
                <a:effectLst/>
                <a:uLnTx/>
                <a:uFillTx/>
                <a:latin typeface="Montserrat" panose="00000500000000000000" pitchFamily="2" charset="0"/>
                <a:ea typeface="+mn-ea"/>
                <a:cs typeface="Trebuchet MS"/>
              </a:rPr>
              <a:t>t</a:t>
            </a:r>
            <a:r>
              <a:rPr kumimoji="0" sz="2000" b="0" i="0" u="none" strike="noStrike" kern="1200" cap="none" spc="-165"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22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predecibl</a:t>
            </a:r>
            <a:r>
              <a:rPr kumimoji="0" sz="2000" b="0" i="0" u="none" strike="noStrike" kern="1200" cap="none" spc="-100"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8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40" normalizeH="0" baseline="0" noProof="0" dirty="0">
                <a:ln>
                  <a:noFill/>
                </a:ln>
                <a:solidFill>
                  <a:prstClr val="black"/>
                </a:solidFill>
                <a:effectLst/>
                <a:uLnTx/>
                <a:uFillTx/>
                <a:latin typeface="Montserrat" panose="00000500000000000000" pitchFamily="2" charset="0"/>
                <a:ea typeface="+mn-ea"/>
                <a:cs typeface="Trebuchet MS"/>
              </a:rPr>
              <a:t>.</a:t>
            </a:r>
            <a:endParaRPr kumimoji="0"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Trebuchet MS"/>
            </a:endParaRPr>
          </a:p>
        </p:txBody>
      </p:sp>
      <p:pic>
        <p:nvPicPr>
          <p:cNvPr id="4" name="object 4"/>
          <p:cNvPicPr/>
          <p:nvPr/>
        </p:nvPicPr>
        <p:blipFill>
          <a:blip r:embed="rId2" cstate="email">
            <a:extLst>
              <a:ext uri="{28A0092B-C50C-407E-A947-70E740481C1C}">
                <a14:useLocalDpi xmlns:a14="http://schemas.microsoft.com/office/drawing/2010/main"/>
              </a:ext>
            </a:extLst>
          </a:blip>
          <a:stretch>
            <a:fillRect/>
          </a:stretch>
        </p:blipFill>
        <p:spPr>
          <a:xfrm>
            <a:off x="6925056" y="681227"/>
            <a:ext cx="3357372" cy="2135124"/>
          </a:xfrm>
          <a:prstGeom prst="rect">
            <a:avLst/>
          </a:prstGeom>
        </p:spPr>
      </p:pic>
      <p:pic>
        <p:nvPicPr>
          <p:cNvPr id="5" name="object 5"/>
          <p:cNvPicPr/>
          <p:nvPr/>
        </p:nvPicPr>
        <p:blipFill>
          <a:blip r:embed="rId3" cstate="email">
            <a:extLst>
              <a:ext uri="{28A0092B-C50C-407E-A947-70E740481C1C}">
                <a14:useLocalDpi xmlns:a14="http://schemas.microsoft.com/office/drawing/2010/main"/>
              </a:ext>
            </a:extLst>
          </a:blip>
          <a:stretch>
            <a:fillRect/>
          </a:stretch>
        </p:blipFill>
        <p:spPr>
          <a:xfrm>
            <a:off x="8820911" y="3182111"/>
            <a:ext cx="2676144" cy="2007108"/>
          </a:xfrm>
          <a:prstGeom prst="rect">
            <a:avLst/>
          </a:prstGeom>
        </p:spPr>
      </p:pic>
      <p:pic>
        <p:nvPicPr>
          <p:cNvPr id="6" name="object 6"/>
          <p:cNvPicPr/>
          <p:nvPr/>
        </p:nvPicPr>
        <p:blipFill>
          <a:blip r:embed="rId4" cstate="email">
            <a:extLst>
              <a:ext uri="{28A0092B-C50C-407E-A947-70E740481C1C}">
                <a14:useLocalDpi xmlns:a14="http://schemas.microsoft.com/office/drawing/2010/main"/>
              </a:ext>
            </a:extLst>
          </a:blip>
          <a:stretch>
            <a:fillRect/>
          </a:stretch>
        </p:blipFill>
        <p:spPr>
          <a:xfrm>
            <a:off x="5766815" y="3182111"/>
            <a:ext cx="2584704" cy="172364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296495" y="608076"/>
            <a:ext cx="6200775" cy="5006340"/>
            <a:chOff x="5296495" y="608076"/>
            <a:chExt cx="6200775" cy="5006340"/>
          </a:xfrm>
        </p:grpSpPr>
        <p:pic>
          <p:nvPicPr>
            <p:cNvPr id="3" name="object 3"/>
            <p:cNvPicPr/>
            <p:nvPr/>
          </p:nvPicPr>
          <p:blipFill>
            <a:blip r:embed="rId2" cstate="email">
              <a:extLst>
                <a:ext uri="{28A0092B-C50C-407E-A947-70E740481C1C}">
                  <a14:useLocalDpi xmlns:a14="http://schemas.microsoft.com/office/drawing/2010/main"/>
                </a:ext>
              </a:extLst>
            </a:blip>
            <a:stretch>
              <a:fillRect/>
            </a:stretch>
          </p:blipFill>
          <p:spPr>
            <a:xfrm>
              <a:off x="5296495" y="2201290"/>
              <a:ext cx="3410370" cy="3412617"/>
            </a:xfrm>
            <a:prstGeom prst="rect">
              <a:avLst/>
            </a:prstGeom>
          </p:spPr>
        </p:pic>
        <p:pic>
          <p:nvPicPr>
            <p:cNvPr id="4" name="object 4"/>
            <p:cNvPicPr/>
            <p:nvPr/>
          </p:nvPicPr>
          <p:blipFill>
            <a:blip r:embed="rId3" cstate="email">
              <a:extLst>
                <a:ext uri="{28A0092B-C50C-407E-A947-70E740481C1C}">
                  <a14:useLocalDpi xmlns:a14="http://schemas.microsoft.com/office/drawing/2010/main"/>
                </a:ext>
              </a:extLst>
            </a:blip>
            <a:stretch>
              <a:fillRect/>
            </a:stretch>
          </p:blipFill>
          <p:spPr>
            <a:xfrm>
              <a:off x="7696200" y="608076"/>
              <a:ext cx="3800855" cy="2208276"/>
            </a:xfrm>
            <a:prstGeom prst="rect">
              <a:avLst/>
            </a:prstGeom>
          </p:spPr>
        </p:pic>
        <p:pic>
          <p:nvPicPr>
            <p:cNvPr id="5" name="object 5"/>
            <p:cNvPicPr/>
            <p:nvPr/>
          </p:nvPicPr>
          <p:blipFill>
            <a:blip r:embed="rId4" cstate="email">
              <a:extLst>
                <a:ext uri="{28A0092B-C50C-407E-A947-70E740481C1C}">
                  <a14:useLocalDpi xmlns:a14="http://schemas.microsoft.com/office/drawing/2010/main"/>
                </a:ext>
              </a:extLst>
            </a:blip>
            <a:stretch>
              <a:fillRect/>
            </a:stretch>
          </p:blipFill>
          <p:spPr>
            <a:xfrm>
              <a:off x="8868155" y="3340608"/>
              <a:ext cx="2628900" cy="1965960"/>
            </a:xfrm>
            <a:prstGeom prst="rect">
              <a:avLst/>
            </a:prstGeom>
          </p:spPr>
        </p:pic>
      </p:grpSp>
      <p:sp>
        <p:nvSpPr>
          <p:cNvPr id="6" name="object 6"/>
          <p:cNvSpPr txBox="1"/>
          <p:nvPr/>
        </p:nvSpPr>
        <p:spPr>
          <a:xfrm>
            <a:off x="682853" y="2177033"/>
            <a:ext cx="5023355" cy="2655214"/>
          </a:xfrm>
          <a:prstGeom prst="rect">
            <a:avLst/>
          </a:prstGeom>
        </p:spPr>
        <p:txBody>
          <a:bodyPr vert="horz" wrap="square" lIns="0" tIns="13335" rIns="0" bIns="0" rtlCol="0">
            <a:spAutoFit/>
          </a:bodyPr>
          <a:lstStyle/>
          <a:p>
            <a:pPr marL="12700" marR="2693035" lvl="0" indent="0" algn="l" defTabSz="914400" rtl="0" eaLnBrk="1" fontAlgn="auto" latinLnBrk="0" hangingPunct="1">
              <a:lnSpc>
                <a:spcPct val="100000"/>
              </a:lnSpc>
              <a:spcBef>
                <a:spcPts val="105"/>
              </a:spcBef>
              <a:spcAft>
                <a:spcPts val="0"/>
              </a:spcAft>
              <a:buClrTx/>
              <a:buSzTx/>
              <a:buFontTx/>
              <a:buNone/>
              <a:tabLst/>
              <a:defRPr/>
            </a:pPr>
            <a:r>
              <a:rPr kumimoji="0" sz="2000" b="1" i="0" u="none" strike="noStrike" kern="1200" cap="none" spc="70" normalizeH="0" baseline="0" noProof="0" dirty="0">
                <a:ln>
                  <a:noFill/>
                </a:ln>
                <a:solidFill>
                  <a:prstClr val="black"/>
                </a:solidFill>
                <a:effectLst/>
                <a:uLnTx/>
                <a:uFillTx/>
                <a:latin typeface="Montserrat" panose="00000500000000000000" pitchFamily="2" charset="0"/>
                <a:ea typeface="+mn-ea"/>
                <a:cs typeface="Tahoma"/>
              </a:rPr>
              <a:t>VALIDAMOS </a:t>
            </a:r>
            <a:r>
              <a:rPr kumimoji="0" sz="2000" b="1" i="0" u="none" strike="noStrike" kern="1200" cap="none" spc="75" normalizeH="0" baseline="0" noProof="0" dirty="0">
                <a:ln>
                  <a:noFill/>
                </a:ln>
                <a:solidFill>
                  <a:prstClr val="black"/>
                </a:solidFill>
                <a:effectLst/>
                <a:uLnTx/>
                <a:uFillTx/>
                <a:latin typeface="Montserrat" panose="00000500000000000000" pitchFamily="2" charset="0"/>
                <a:ea typeface="+mn-ea"/>
                <a:cs typeface="Tahoma"/>
              </a:rPr>
              <a:t> </a:t>
            </a:r>
            <a:r>
              <a:rPr kumimoji="0" sz="2000" b="1" i="0" u="none" strike="noStrike" kern="1200" cap="none" spc="80" normalizeH="0" baseline="0" noProof="0" dirty="0">
                <a:ln>
                  <a:noFill/>
                </a:ln>
                <a:solidFill>
                  <a:prstClr val="black"/>
                </a:solidFill>
                <a:effectLst/>
                <a:uLnTx/>
                <a:uFillTx/>
                <a:latin typeface="Montserrat" panose="00000500000000000000" pitchFamily="2" charset="0"/>
                <a:ea typeface="+mn-ea"/>
                <a:cs typeface="Tahoma"/>
              </a:rPr>
              <a:t>SOLU</a:t>
            </a:r>
            <a:r>
              <a:rPr kumimoji="0" sz="2000" b="1" i="0" u="none" strike="noStrike" kern="1200" cap="none" spc="10" normalizeH="0" baseline="0" noProof="0" dirty="0">
                <a:ln>
                  <a:noFill/>
                </a:ln>
                <a:solidFill>
                  <a:prstClr val="black"/>
                </a:solidFill>
                <a:effectLst/>
                <a:uLnTx/>
                <a:uFillTx/>
                <a:latin typeface="Montserrat" panose="00000500000000000000" pitchFamily="2" charset="0"/>
                <a:ea typeface="+mn-ea"/>
                <a:cs typeface="Tahoma"/>
              </a:rPr>
              <a:t>CIO</a:t>
            </a:r>
            <a:r>
              <a:rPr kumimoji="0" sz="2000" b="1" i="0" u="none" strike="noStrike" kern="1200" cap="none" spc="0" normalizeH="0" baseline="0" noProof="0" dirty="0">
                <a:ln>
                  <a:noFill/>
                </a:ln>
                <a:solidFill>
                  <a:prstClr val="black"/>
                </a:solidFill>
                <a:effectLst/>
                <a:uLnTx/>
                <a:uFillTx/>
                <a:latin typeface="Montserrat" panose="00000500000000000000" pitchFamily="2" charset="0"/>
                <a:ea typeface="+mn-ea"/>
                <a:cs typeface="Tahoma"/>
              </a:rPr>
              <a:t>N</a:t>
            </a:r>
            <a:r>
              <a:rPr kumimoji="0" sz="2000" b="1" i="0" u="none" strike="noStrike" kern="1200" cap="none" spc="60" normalizeH="0" baseline="0" noProof="0" dirty="0">
                <a:ln>
                  <a:noFill/>
                </a:ln>
                <a:solidFill>
                  <a:prstClr val="black"/>
                </a:solidFill>
                <a:effectLst/>
                <a:uLnTx/>
                <a:uFillTx/>
                <a:latin typeface="Montserrat" panose="00000500000000000000" pitchFamily="2" charset="0"/>
                <a:ea typeface="+mn-ea"/>
                <a:cs typeface="Tahoma"/>
              </a:rPr>
              <a:t>ES</a:t>
            </a:r>
            <a:endParaRPr kumimoji="0" sz="2000" b="0" i="0" u="none" strike="noStrike" kern="1200" cap="none" spc="0" normalizeH="0" baseline="0" noProof="0">
              <a:ln>
                <a:noFill/>
              </a:ln>
              <a:solidFill>
                <a:prstClr val="black"/>
              </a:solidFill>
              <a:effectLst/>
              <a:uLnTx/>
              <a:uFillTx/>
              <a:latin typeface="Montserrat" panose="00000500000000000000" pitchFamily="2" charset="0"/>
              <a:ea typeface="+mn-ea"/>
              <a:cs typeface="Tahoma"/>
            </a:endParaRPr>
          </a:p>
          <a:p>
            <a:pPr marL="12700" marR="5080" lvl="0" indent="0" algn="l" defTabSz="914400" rtl="0" eaLnBrk="1" fontAlgn="auto" latinLnBrk="0" hangingPunct="1">
              <a:lnSpc>
                <a:spcPct val="100000"/>
              </a:lnSpc>
              <a:spcBef>
                <a:spcPts val="1440"/>
              </a:spcBef>
              <a:spcAft>
                <a:spcPts val="0"/>
              </a:spcAft>
              <a:buClrTx/>
              <a:buSzTx/>
              <a:buFontTx/>
              <a:buNone/>
              <a:tabLst/>
              <a:defRPr/>
            </a:pP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Cree</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m</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q</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ha</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y</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na</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80" normalizeH="0" baseline="0" noProof="0" dirty="0">
                <a:ln>
                  <a:noFill/>
                </a:ln>
                <a:solidFill>
                  <a:prstClr val="black"/>
                </a:solidFill>
                <a:effectLst/>
                <a:uLnTx/>
                <a:uFillTx/>
                <a:latin typeface="Montserrat" panose="00000500000000000000" pitchFamily="2" charset="0"/>
                <a:ea typeface="+mn-ea"/>
                <a:cs typeface="Trebuchet MS"/>
              </a:rPr>
              <a:t>f</a:t>
            </a:r>
            <a:r>
              <a:rPr kumimoji="0" sz="2000" b="0" i="0" u="none" strike="noStrike" kern="1200" cap="none" spc="-13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114" normalizeH="0" baseline="0" noProof="0" dirty="0">
                <a:ln>
                  <a:noFill/>
                </a:ln>
                <a:solidFill>
                  <a:prstClr val="black"/>
                </a:solidFill>
                <a:effectLst/>
                <a:uLnTx/>
                <a:uFillTx/>
                <a:latin typeface="Montserrat" panose="00000500000000000000" pitchFamily="2" charset="0"/>
                <a:ea typeface="+mn-ea"/>
                <a:cs typeface="Trebuchet MS"/>
              </a:rPr>
              <a:t>rm</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d</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resolve</a:t>
            </a:r>
            <a:r>
              <a:rPr kumimoji="0" sz="2000" b="0" i="0" u="none" strike="noStrike" kern="1200" cap="none" spc="-80" normalizeH="0" baseline="0" noProof="0" dirty="0">
                <a:ln>
                  <a:noFill/>
                </a:ln>
                <a:solidFill>
                  <a:prstClr val="black"/>
                </a:solidFill>
                <a:effectLst/>
                <a:uLnTx/>
                <a:uFillTx/>
                <a:latin typeface="Montserrat" panose="00000500000000000000" pitchFamily="2" charset="0"/>
                <a:ea typeface="+mn-ea"/>
                <a:cs typeface="Trebuchet MS"/>
              </a:rPr>
              <a:t>r</a:t>
            </a:r>
            <a:r>
              <a:rPr kumimoji="0" sz="2000" b="0" i="0" u="none" strike="noStrike" kern="1200" cap="none" spc="-21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un  </a:t>
            </a:r>
            <a:r>
              <a:rPr kumimoji="0" sz="2000" b="0" i="0" u="none" strike="noStrike" kern="1200" cap="none" spc="-125" normalizeH="0" baseline="0" noProof="0" dirty="0">
                <a:ln>
                  <a:noFill/>
                </a:ln>
                <a:solidFill>
                  <a:prstClr val="black"/>
                </a:solidFill>
                <a:effectLst/>
                <a:uLnTx/>
                <a:uFillTx/>
                <a:latin typeface="Montserrat" panose="00000500000000000000" pitchFamily="2" charset="0"/>
                <a:ea typeface="+mn-ea"/>
                <a:cs typeface="Trebuchet MS"/>
              </a:rPr>
              <a:t>p</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r</a:t>
            </a:r>
            <a:r>
              <a:rPr kumimoji="0" sz="2000" b="0" i="0" u="none" strike="noStrike" kern="1200" cap="none" spc="-3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35" normalizeH="0" baseline="0" noProof="0" dirty="0">
                <a:ln>
                  <a:noFill/>
                </a:ln>
                <a:solidFill>
                  <a:prstClr val="black"/>
                </a:solidFill>
                <a:effectLst/>
                <a:uLnTx/>
                <a:uFillTx/>
                <a:latin typeface="Montserrat" panose="00000500000000000000" pitchFamily="2" charset="0"/>
                <a:ea typeface="+mn-ea"/>
                <a:cs typeface="Trebuchet MS"/>
              </a:rPr>
              <a:t>b</a:t>
            </a:r>
            <a:r>
              <a:rPr kumimoji="0" sz="2000" b="0" i="0" u="none" strike="noStrike" kern="1200" cap="none" spc="-110" normalizeH="0" baseline="0" noProof="0" dirty="0">
                <a:ln>
                  <a:noFill/>
                </a:ln>
                <a:solidFill>
                  <a:prstClr val="black"/>
                </a:solidFill>
                <a:effectLst/>
                <a:uLnTx/>
                <a:uFillTx/>
                <a:latin typeface="Montserrat" panose="00000500000000000000" pitchFamily="2" charset="0"/>
                <a:ea typeface="+mn-ea"/>
                <a:cs typeface="Trebuchet MS"/>
              </a:rPr>
              <a:t>lema</a:t>
            </a:r>
            <a:r>
              <a:rPr kumimoji="0" sz="2000" b="0" i="0" u="none" strike="noStrike" kern="1200" cap="none" spc="-21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q</a:t>
            </a:r>
            <a:r>
              <a:rPr kumimoji="0" sz="2000" b="0" i="0" u="none" strike="noStrike" kern="1200" cap="none" spc="-35"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debería</a:t>
            </a:r>
            <a:r>
              <a:rPr kumimoji="0" sz="2000" b="0" i="0" u="none" strike="noStrike" kern="1200" cap="none" spc="-22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25" normalizeH="0" baseline="0" noProof="0" dirty="0">
                <a:ln>
                  <a:noFill/>
                </a:ln>
                <a:solidFill>
                  <a:prstClr val="black"/>
                </a:solidFill>
                <a:effectLst/>
                <a:uLnTx/>
                <a:uFillTx/>
                <a:latin typeface="Montserrat" panose="00000500000000000000" pitchFamily="2" charset="0"/>
                <a:ea typeface="+mn-ea"/>
                <a:cs typeface="Trebuchet MS"/>
              </a:rPr>
              <a:t>p</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r</a:t>
            </a:r>
            <a:r>
              <a:rPr kumimoji="0" sz="2000" b="0" i="0" u="none" strike="noStrike" kern="1200" cap="none" spc="-80" normalizeH="0" baseline="0" noProof="0" dirty="0">
                <a:ln>
                  <a:noFill/>
                </a:ln>
                <a:solidFill>
                  <a:prstClr val="black"/>
                </a:solidFill>
                <a:effectLst/>
                <a:uLnTx/>
                <a:uFillTx/>
                <a:latin typeface="Montserrat" panose="00000500000000000000" pitchFamily="2" charset="0"/>
                <a:ea typeface="+mn-ea"/>
                <a:cs typeface="Trebuchet MS"/>
              </a:rPr>
              <a:t>evalec</a:t>
            </a:r>
            <a:r>
              <a:rPr kumimoji="0" sz="2000" b="0" i="0" u="none" strike="noStrike" kern="1200" cap="none" spc="-125" normalizeH="0" baseline="0" noProof="0" dirty="0">
                <a:ln>
                  <a:noFill/>
                </a:ln>
                <a:solidFill>
                  <a:prstClr val="black"/>
                </a:solidFill>
                <a:effectLst/>
                <a:uLnTx/>
                <a:uFillTx/>
                <a:latin typeface="Montserrat" panose="00000500000000000000" pitchFamily="2" charset="0"/>
                <a:ea typeface="+mn-ea"/>
                <a:cs typeface="Trebuchet MS"/>
              </a:rPr>
              <a:t>er</a:t>
            </a:r>
            <a:r>
              <a:rPr kumimoji="0" sz="2000" b="0" i="0" u="none" strike="noStrike" kern="1200" cap="none" spc="-23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y</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0" normalizeH="0" baseline="0" noProof="0" dirty="0">
                <a:ln>
                  <a:noFill/>
                </a:ln>
                <a:solidFill>
                  <a:prstClr val="black"/>
                </a:solidFill>
                <a:effectLst/>
                <a:uLnTx/>
                <a:uFillTx/>
                <a:latin typeface="Montserrat" panose="00000500000000000000" pitchFamily="2" charset="0"/>
                <a:ea typeface="+mn-ea"/>
                <a:cs typeface="Trebuchet MS"/>
              </a:rPr>
              <a:t>q</a:t>
            </a:r>
            <a:r>
              <a:rPr kumimoji="0" sz="2000" b="0" i="0" u="none" strike="noStrike" kern="1200" cap="none" spc="-35" normalizeH="0" baseline="0" noProof="0" dirty="0">
                <a:ln>
                  <a:noFill/>
                </a:ln>
                <a:solidFill>
                  <a:prstClr val="black"/>
                </a:solidFill>
                <a:effectLst/>
                <a:uLnTx/>
                <a:uFillTx/>
                <a:latin typeface="Montserrat" panose="00000500000000000000" pitchFamily="2" charset="0"/>
                <a:ea typeface="+mn-ea"/>
                <a:cs typeface="Trebuchet MS"/>
              </a:rPr>
              <a:t>u</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2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25" normalizeH="0" baseline="0" noProof="0" dirty="0">
                <a:ln>
                  <a:noFill/>
                </a:ln>
                <a:solidFill>
                  <a:prstClr val="black"/>
                </a:solidFill>
                <a:effectLst/>
                <a:uLnTx/>
                <a:uFillTx/>
                <a:latin typeface="Montserrat" panose="00000500000000000000" pitchFamily="2" charset="0"/>
                <a:ea typeface="+mn-ea"/>
                <a:cs typeface="Trebuchet MS"/>
              </a:rPr>
              <a:t>la  materializ</a:t>
            </a:r>
            <a:r>
              <a:rPr kumimoji="0" sz="2000" b="0" i="0" u="none" strike="noStrike" kern="1200" cap="none" spc="-140"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m</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travé</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2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d</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1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tec</a:t>
            </a:r>
            <a:r>
              <a:rPr kumimoji="0" sz="2000" b="0" i="0" u="none" strike="noStrike" kern="1200" cap="none" spc="-100" normalizeH="0" baseline="0" noProof="0" dirty="0">
                <a:ln>
                  <a:noFill/>
                </a:ln>
                <a:solidFill>
                  <a:prstClr val="black"/>
                </a:solidFill>
                <a:effectLst/>
                <a:uLnTx/>
                <a:uFillTx/>
                <a:latin typeface="Montserrat" panose="00000500000000000000" pitchFamily="2" charset="0"/>
                <a:ea typeface="+mn-ea"/>
                <a:cs typeface="Trebuchet MS"/>
              </a:rPr>
              <a:t>n</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ol</a:t>
            </a:r>
            <a:r>
              <a:rPr kumimoji="0" sz="2000" b="0" i="0" u="none" strike="noStrike" kern="1200" cap="none" spc="-120"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20" normalizeH="0" baseline="0" noProof="0" dirty="0">
                <a:ln>
                  <a:noFill/>
                </a:ln>
                <a:solidFill>
                  <a:prstClr val="black"/>
                </a:solidFill>
                <a:effectLst/>
                <a:uLnTx/>
                <a:uFillTx/>
                <a:latin typeface="Montserrat" panose="00000500000000000000" pitchFamily="2" charset="0"/>
                <a:ea typeface="+mn-ea"/>
                <a:cs typeface="Trebuchet MS"/>
              </a:rPr>
              <a:t>gías  </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físi</a:t>
            </a:r>
            <a:r>
              <a:rPr kumimoji="0" sz="2000" b="0" i="0" u="none" strike="noStrike" kern="1200" cap="none" spc="-125" normalizeH="0" baseline="0" noProof="0" dirty="0">
                <a:ln>
                  <a:noFill/>
                </a:ln>
                <a:solidFill>
                  <a:prstClr val="black"/>
                </a:solidFill>
                <a:effectLst/>
                <a:uLnTx/>
                <a:uFillTx/>
                <a:latin typeface="Montserrat" panose="00000500000000000000" pitchFamily="2" charset="0"/>
                <a:ea typeface="+mn-ea"/>
                <a:cs typeface="Trebuchet MS"/>
              </a:rPr>
              <a:t>c</a:t>
            </a:r>
            <a:r>
              <a:rPr kumimoji="0" sz="2000" b="0" i="0" u="none" strike="noStrike" kern="1200" cap="none" spc="15" normalizeH="0" baseline="0" noProof="0" dirty="0">
                <a:ln>
                  <a:noFill/>
                </a:ln>
                <a:solidFill>
                  <a:prstClr val="black"/>
                </a:solidFill>
                <a:effectLst/>
                <a:uLnTx/>
                <a:uFillTx/>
                <a:latin typeface="Montserrat" panose="00000500000000000000" pitchFamily="2" charset="0"/>
                <a:ea typeface="+mn-ea"/>
                <a:cs typeface="Trebuchet MS"/>
              </a:rPr>
              <a:t>a</a:t>
            </a:r>
            <a:r>
              <a:rPr kumimoji="0" sz="2000" b="0" i="0" u="none" strike="noStrike" kern="1200" cap="none" spc="20"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40" normalizeH="0" baseline="0" noProof="0" dirty="0">
                <a:ln>
                  <a:noFill/>
                </a:ln>
                <a:solidFill>
                  <a:prstClr val="black"/>
                </a:solidFill>
                <a:effectLst/>
                <a:uLnTx/>
                <a:uFillTx/>
                <a:latin typeface="Montserrat" panose="00000500000000000000" pitchFamily="2" charset="0"/>
                <a:ea typeface="+mn-ea"/>
                <a:cs typeface="Trebuchet MS"/>
              </a:rPr>
              <a:t>,</a:t>
            </a:r>
            <a:r>
              <a:rPr kumimoji="0" sz="2000" b="0" i="0" u="none" strike="noStrike" kern="1200" cap="none" spc="-22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20" normalizeH="0" baseline="0" noProof="0" dirty="0">
                <a:ln>
                  <a:noFill/>
                </a:ln>
                <a:solidFill>
                  <a:prstClr val="black"/>
                </a:solidFill>
                <a:effectLst/>
                <a:uLnTx/>
                <a:uFillTx/>
                <a:latin typeface="Montserrat" panose="00000500000000000000" pitchFamily="2" charset="0"/>
                <a:ea typeface="+mn-ea"/>
                <a:cs typeface="Trebuchet MS"/>
              </a:rPr>
              <a:t>digi</a:t>
            </a:r>
            <a:r>
              <a:rPr kumimoji="0" sz="2000" b="0" i="0" u="none" strike="noStrike" kern="1200" cap="none" spc="-125" normalizeH="0" baseline="0" noProof="0" dirty="0">
                <a:ln>
                  <a:noFill/>
                </a:ln>
                <a:solidFill>
                  <a:prstClr val="black"/>
                </a:solidFill>
                <a:effectLst/>
                <a:uLnTx/>
                <a:uFillTx/>
                <a:latin typeface="Montserrat" panose="00000500000000000000" pitchFamily="2" charset="0"/>
                <a:ea typeface="+mn-ea"/>
                <a:cs typeface="Trebuchet MS"/>
              </a:rPr>
              <a:t>t</a:t>
            </a:r>
            <a:r>
              <a:rPr kumimoji="0" sz="2000" b="0" i="0" u="none" strike="noStrike" kern="1200" cap="none" spc="-114" normalizeH="0" baseline="0" noProof="0" dirty="0">
                <a:ln>
                  <a:noFill/>
                </a:ln>
                <a:solidFill>
                  <a:prstClr val="black"/>
                </a:solidFill>
                <a:effectLst/>
                <a:uLnTx/>
                <a:uFillTx/>
                <a:latin typeface="Montserrat" panose="00000500000000000000" pitchFamily="2" charset="0"/>
                <a:ea typeface="+mn-ea"/>
                <a:cs typeface="Trebuchet MS"/>
              </a:rPr>
              <a:t>al</a:t>
            </a:r>
            <a:r>
              <a:rPr kumimoji="0" sz="2000" b="0" i="0" u="none" strike="noStrike" kern="1200" cap="none" spc="-140"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14" normalizeH="0" baseline="0" noProof="0" dirty="0">
                <a:ln>
                  <a:noFill/>
                </a:ln>
                <a:solidFill>
                  <a:prstClr val="black"/>
                </a:solidFill>
                <a:effectLst/>
                <a:uLnTx/>
                <a:uFillTx/>
                <a:latin typeface="Montserrat" panose="00000500000000000000" pitchFamily="2" charset="0"/>
                <a:ea typeface="+mn-ea"/>
                <a:cs typeface="Trebuchet MS"/>
              </a:rPr>
              <a:t>inta</a:t>
            </a:r>
            <a:r>
              <a:rPr kumimoji="0" sz="2000" b="0" i="0" u="none" strike="noStrike" kern="1200" cap="none" spc="-140" normalizeH="0" baseline="0" noProof="0" dirty="0">
                <a:ln>
                  <a:noFill/>
                </a:ln>
                <a:solidFill>
                  <a:prstClr val="black"/>
                </a:solidFill>
                <a:effectLst/>
                <a:uLnTx/>
                <a:uFillTx/>
                <a:latin typeface="Montserrat" panose="00000500000000000000" pitchFamily="2" charset="0"/>
                <a:ea typeface="+mn-ea"/>
                <a:cs typeface="Trebuchet MS"/>
              </a:rPr>
              <a:t>n</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gible</a:t>
            </a:r>
            <a:r>
              <a:rPr kumimoji="0" sz="2000" b="0" i="0" u="none" strike="noStrike" kern="1200" cap="none" spc="-65" normalizeH="0" baseline="0" noProof="0" dirty="0">
                <a:ln>
                  <a:noFill/>
                </a:ln>
                <a:solidFill>
                  <a:prstClr val="black"/>
                </a:solidFill>
                <a:effectLst/>
                <a:uLnTx/>
                <a:uFillTx/>
                <a:latin typeface="Montserrat" panose="00000500000000000000" pitchFamily="2" charset="0"/>
                <a:ea typeface="+mn-ea"/>
                <a:cs typeface="Trebuchet MS"/>
              </a:rPr>
              <a:t>s</a:t>
            </a:r>
            <a:r>
              <a:rPr kumimoji="0" sz="2000" b="0" i="0" u="none" strike="noStrike" kern="1200" cap="none" spc="-240" normalizeH="0" baseline="0" noProof="0" dirty="0">
                <a:ln>
                  <a:noFill/>
                </a:ln>
                <a:solidFill>
                  <a:prstClr val="black"/>
                </a:solidFill>
                <a:effectLst/>
                <a:uLnTx/>
                <a:uFillTx/>
                <a:latin typeface="Montserrat" panose="00000500000000000000" pitchFamily="2" charset="0"/>
                <a:ea typeface="+mn-ea"/>
                <a:cs typeface="Trebuchet MS"/>
              </a:rPr>
              <a:t>.</a:t>
            </a:r>
            <a:endParaRPr kumimoji="0" sz="2000" b="0" i="0" u="none" strike="noStrike" kern="1200" cap="none" spc="0" normalizeH="0" baseline="0" noProof="0">
              <a:ln>
                <a:noFill/>
              </a:ln>
              <a:solidFill>
                <a:prstClr val="black"/>
              </a:solidFill>
              <a:effectLst/>
              <a:uLnTx/>
              <a:uFillTx/>
              <a:latin typeface="Montserrat" panose="00000500000000000000" pitchFamily="2" charset="0"/>
              <a:ea typeface="+mn-ea"/>
              <a:cs typeface="Trebuchet MS"/>
            </a:endParaRPr>
          </a:p>
          <a:p>
            <a:pPr marL="12700" marR="0" lvl="0" indent="0" algn="l" defTabSz="914400" rtl="0" eaLnBrk="1" fontAlgn="auto" latinLnBrk="0" hangingPunct="1">
              <a:lnSpc>
                <a:spcPct val="100000"/>
              </a:lnSpc>
              <a:spcBef>
                <a:spcPts val="5"/>
              </a:spcBef>
              <a:spcAft>
                <a:spcPts val="0"/>
              </a:spcAft>
              <a:buClrTx/>
              <a:buSzTx/>
              <a:buFontTx/>
              <a:buNone/>
              <a:tabLst/>
              <a:defRPr/>
            </a:pP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Tien</a:t>
            </a:r>
            <a:r>
              <a:rPr kumimoji="0" sz="2000" b="0" i="0" u="none" strike="noStrike" kern="1200" cap="none" spc="-65" normalizeH="0" baseline="0" noProof="0" dirty="0">
                <a:ln>
                  <a:noFill/>
                </a:ln>
                <a:solidFill>
                  <a:prstClr val="black"/>
                </a:solidFill>
                <a:effectLst/>
                <a:uLnTx/>
                <a:uFillTx/>
                <a:latin typeface="Montserrat" panose="00000500000000000000" pitchFamily="2" charset="0"/>
                <a:ea typeface="+mn-ea"/>
                <a:cs typeface="Trebuchet MS"/>
              </a:rPr>
              <a:t>en</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pr</a:t>
            </a:r>
            <a:r>
              <a:rPr kumimoji="0" sz="2000" b="0" i="0" u="none" strike="noStrike" kern="1200" cap="none" spc="-95" normalizeH="0" baseline="0" noProof="0" dirty="0">
                <a:ln>
                  <a:noFill/>
                </a:ln>
                <a:solidFill>
                  <a:prstClr val="black"/>
                </a:solidFill>
                <a:effectLst/>
                <a:uLnTx/>
                <a:uFillTx/>
                <a:latin typeface="Montserrat" panose="00000500000000000000" pitchFamily="2" charset="0"/>
                <a:ea typeface="+mn-ea"/>
                <a:cs typeface="Trebuchet MS"/>
              </a:rPr>
              <a:t>o</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piedades</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45" normalizeH="0" baseline="0" noProof="0" dirty="0">
                <a:ln>
                  <a:noFill/>
                </a:ln>
                <a:solidFill>
                  <a:prstClr val="black"/>
                </a:solidFill>
                <a:effectLst/>
                <a:uLnTx/>
                <a:uFillTx/>
                <a:latin typeface="Montserrat" panose="00000500000000000000" pitchFamily="2" charset="0"/>
                <a:ea typeface="+mn-ea"/>
                <a:cs typeface="Trebuchet MS"/>
              </a:rPr>
              <a:t>qu</a:t>
            </a:r>
            <a:r>
              <a:rPr kumimoji="0" sz="2000" b="0" i="0" u="none" strike="noStrike" kern="1200" cap="none" spc="-75" normalizeH="0" baseline="0" noProof="0" dirty="0">
                <a:ln>
                  <a:noFill/>
                </a:ln>
                <a:solidFill>
                  <a:prstClr val="black"/>
                </a:solidFill>
                <a:effectLst/>
                <a:uLnTx/>
                <a:uFillTx/>
                <a:latin typeface="Montserrat" panose="00000500000000000000" pitchFamily="2" charset="0"/>
                <a:ea typeface="+mn-ea"/>
                <a:cs typeface="Trebuchet MS"/>
              </a:rPr>
              <a:t>e</a:t>
            </a:r>
            <a:r>
              <a:rPr kumimoji="0" sz="2000" b="0" i="0" u="none" strike="noStrike" kern="1200" cap="none" spc="-204"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80" normalizeH="0" baseline="0" noProof="0" dirty="0">
                <a:ln>
                  <a:noFill/>
                </a:ln>
                <a:solidFill>
                  <a:prstClr val="black"/>
                </a:solidFill>
                <a:effectLst/>
                <a:uLnTx/>
                <a:uFillTx/>
                <a:latin typeface="Montserrat" panose="00000500000000000000" pitchFamily="2" charset="0"/>
                <a:ea typeface="+mn-ea"/>
                <a:cs typeface="Trebuchet MS"/>
              </a:rPr>
              <a:t>marc</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an</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5" normalizeH="0" baseline="0" noProof="0" dirty="0">
                <a:ln>
                  <a:noFill/>
                </a:ln>
                <a:solidFill>
                  <a:prstClr val="black"/>
                </a:solidFill>
                <a:effectLst/>
                <a:uLnTx/>
                <a:uFillTx/>
                <a:latin typeface="Montserrat" panose="00000500000000000000" pitchFamily="2" charset="0"/>
                <a:ea typeface="+mn-ea"/>
                <a:cs typeface="Trebuchet MS"/>
              </a:rPr>
              <a:t>un</a:t>
            </a:r>
            <a:r>
              <a:rPr kumimoji="0" sz="2000" b="0" i="0" u="none" strike="noStrike" kern="1200" cap="none" spc="-20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pu</a:t>
            </a:r>
            <a:r>
              <a:rPr kumimoji="0" sz="2000" b="0" i="0" u="none" strike="noStrike" kern="1200" cap="none" spc="-60" normalizeH="0" baseline="0" noProof="0" dirty="0">
                <a:ln>
                  <a:noFill/>
                </a:ln>
                <a:solidFill>
                  <a:prstClr val="black"/>
                </a:solidFill>
                <a:effectLst/>
                <a:uLnTx/>
                <a:uFillTx/>
                <a:latin typeface="Montserrat" panose="00000500000000000000" pitchFamily="2" charset="0"/>
                <a:ea typeface="+mn-ea"/>
                <a:cs typeface="Trebuchet MS"/>
              </a:rPr>
              <a:t>n</a:t>
            </a:r>
            <a:r>
              <a:rPr kumimoji="0" sz="2000" b="0" i="0" u="none" strike="noStrike" kern="1200" cap="none" spc="-130" normalizeH="0" baseline="0" noProof="0" dirty="0">
                <a:ln>
                  <a:noFill/>
                </a:ln>
                <a:solidFill>
                  <a:prstClr val="black"/>
                </a:solidFill>
                <a:effectLst/>
                <a:uLnTx/>
                <a:uFillTx/>
                <a:latin typeface="Montserrat" panose="00000500000000000000" pitchFamily="2" charset="0"/>
                <a:ea typeface="+mn-ea"/>
                <a:cs typeface="Trebuchet MS"/>
              </a:rPr>
              <a:t>to</a:t>
            </a:r>
            <a:endParaRPr kumimoji="0" sz="2000" b="0" i="0" u="none" strike="noStrike" kern="1200" cap="none" spc="0" normalizeH="0" baseline="0" noProof="0">
              <a:ln>
                <a:noFill/>
              </a:ln>
              <a:solidFill>
                <a:prstClr val="black"/>
              </a:solidFill>
              <a:effectLst/>
              <a:uLnTx/>
              <a:uFillTx/>
              <a:latin typeface="Montserrat" panose="00000500000000000000" pitchFamily="2" charset="0"/>
              <a:ea typeface="+mn-ea"/>
              <a:cs typeface="Trebuchet MS"/>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50" normalizeH="0" baseline="0" noProof="0" dirty="0">
                <a:ln>
                  <a:noFill/>
                </a:ln>
                <a:solidFill>
                  <a:prstClr val="black"/>
                </a:solidFill>
                <a:effectLst/>
                <a:uLnTx/>
                <a:uFillTx/>
                <a:latin typeface="Montserrat" panose="00000500000000000000" pitchFamily="2" charset="0"/>
                <a:ea typeface="+mn-ea"/>
                <a:cs typeface="Trebuchet MS"/>
              </a:rPr>
              <a:t>de</a:t>
            </a:r>
            <a:r>
              <a:rPr kumimoji="0" sz="2000" b="0" i="0" u="none" strike="noStrike" kern="1200" cap="none" spc="-21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90" normalizeH="0" baseline="0" noProof="0" dirty="0">
                <a:ln>
                  <a:noFill/>
                </a:ln>
                <a:solidFill>
                  <a:prstClr val="black"/>
                </a:solidFill>
                <a:effectLst/>
                <a:uLnTx/>
                <a:uFillTx/>
                <a:latin typeface="Montserrat" panose="00000500000000000000" pitchFamily="2" charset="0"/>
                <a:ea typeface="+mn-ea"/>
                <a:cs typeface="Trebuchet MS"/>
              </a:rPr>
              <a:t>vista</a:t>
            </a:r>
            <a:r>
              <a:rPr kumimoji="0" sz="2000" b="0" i="0" u="none" strike="noStrike" kern="1200" cap="none" spc="-210"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70" normalizeH="0" baseline="0" noProof="0" dirty="0">
                <a:ln>
                  <a:noFill/>
                </a:ln>
                <a:solidFill>
                  <a:prstClr val="black"/>
                </a:solidFill>
                <a:effectLst/>
                <a:uLnTx/>
                <a:uFillTx/>
                <a:latin typeface="Montserrat" panose="00000500000000000000" pitchFamily="2" charset="0"/>
                <a:ea typeface="+mn-ea"/>
                <a:cs typeface="Trebuchet MS"/>
              </a:rPr>
              <a:t>respecto</a:t>
            </a:r>
            <a:r>
              <a:rPr kumimoji="0" sz="2000" b="0" i="0" u="none" strike="noStrike" kern="1200" cap="none" spc="-229"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145" normalizeH="0" baseline="0" noProof="0" dirty="0">
                <a:ln>
                  <a:noFill/>
                </a:ln>
                <a:solidFill>
                  <a:prstClr val="black"/>
                </a:solidFill>
                <a:effectLst/>
                <a:uLnTx/>
                <a:uFillTx/>
                <a:latin typeface="Montserrat" panose="00000500000000000000" pitchFamily="2" charset="0"/>
                <a:ea typeface="+mn-ea"/>
                <a:cs typeface="Trebuchet MS"/>
              </a:rPr>
              <a:t>al</a:t>
            </a:r>
            <a:r>
              <a:rPr kumimoji="0" sz="2000" b="0" i="0" u="none" strike="noStrike" kern="1200" cap="none" spc="-195" normalizeH="0" baseline="0" noProof="0" dirty="0">
                <a:ln>
                  <a:noFill/>
                </a:ln>
                <a:solidFill>
                  <a:prstClr val="black"/>
                </a:solidFill>
                <a:effectLst/>
                <a:uLnTx/>
                <a:uFillTx/>
                <a:latin typeface="Montserrat" panose="00000500000000000000" pitchFamily="2" charset="0"/>
                <a:ea typeface="+mn-ea"/>
                <a:cs typeface="Trebuchet MS"/>
              </a:rPr>
              <a:t> </a:t>
            </a:r>
            <a:r>
              <a:rPr kumimoji="0" sz="2000" b="0" i="0" u="none" strike="noStrike" kern="1200" cap="none" spc="-65" normalizeH="0" baseline="0" noProof="0" dirty="0">
                <a:ln>
                  <a:noFill/>
                </a:ln>
                <a:solidFill>
                  <a:prstClr val="black"/>
                </a:solidFill>
                <a:effectLst/>
                <a:uLnTx/>
                <a:uFillTx/>
                <a:latin typeface="Montserrat" panose="00000500000000000000" pitchFamily="2" charset="0"/>
                <a:ea typeface="+mn-ea"/>
                <a:cs typeface="Trebuchet MS"/>
              </a:rPr>
              <a:t>desempeño.</a:t>
            </a:r>
            <a:endParaRPr kumimoji="0" sz="2000" b="0" i="0" u="none" strike="noStrike" kern="1200" cap="none" spc="0" normalizeH="0" baseline="0" noProof="0">
              <a:ln>
                <a:noFill/>
              </a:ln>
              <a:solidFill>
                <a:prstClr val="black"/>
              </a:solidFill>
              <a:effectLst/>
              <a:uLnTx/>
              <a:uFillTx/>
              <a:latin typeface="Montserrat" panose="00000500000000000000" pitchFamily="2" charset="0"/>
              <a:ea typeface="+mn-ea"/>
              <a:cs typeface="Trebuchet M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1A4CCDA-F51C-4F1F-AAA4-7EEB1E05228B}"/>
              </a:ext>
            </a:extLst>
          </p:cNvPr>
          <p:cNvSpPr txBox="1"/>
          <p:nvPr/>
        </p:nvSpPr>
        <p:spPr>
          <a:xfrm>
            <a:off x="663217" y="1878670"/>
            <a:ext cx="10865563" cy="369331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Ries propuso esta metodología en su libro “</a:t>
            </a:r>
            <a:r>
              <a:rPr kumimoji="0" lang="es-CL" sz="1800" b="0" i="0"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The</a:t>
            </a: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Lean Startup” en el año 2011, </a:t>
            </a:r>
            <a:r>
              <a:rPr kumimoji="0" lang="es-CL" sz="180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basándose en los principios de eficiencia, calidad y mejora continua de Lean </a:t>
            </a:r>
            <a:r>
              <a:rPr kumimoji="0" lang="es-CL" sz="1800" b="1" i="0"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Manufacturing</a:t>
            </a: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que se originaron en la industria manufacturera, para ofrecer un enfoque ágil, centrado en el cliente y adaptado al contexto de la creación de empresas, emprendimientos e innovación.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Para ello, el método Lean Startup utiliza 5 principios fundamentales: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Los emprendedores están en todas partes</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El espíritu emprendedor es </a:t>
            </a:r>
            <a:r>
              <a:rPr kumimoji="0" lang="es-CL" sz="1800" b="0" i="1"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management</a:t>
            </a: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(gestión)</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Aprendizaje validado</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Crear – Medir – Aprender</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Contabilidad de la innovación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p:txBody>
      </p:sp>
      <p:sp>
        <p:nvSpPr>
          <p:cNvPr id="6" name="CuadroTexto 5">
            <a:extLst>
              <a:ext uri="{FF2B5EF4-FFF2-40B4-BE49-F238E27FC236}">
                <a16:creationId xmlns:a16="http://schemas.microsoft.com/office/drawing/2014/main" id="{8F40882E-2A6E-4FDF-A3D9-DD14CBAE4D12}"/>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Fuente: Ries, E. (2011)</a:t>
            </a:r>
          </a:p>
        </p:txBody>
      </p:sp>
      <p:sp>
        <p:nvSpPr>
          <p:cNvPr id="7" name="TextBox 1">
            <a:extLst>
              <a:ext uri="{FF2B5EF4-FFF2-40B4-BE49-F238E27FC236}">
                <a16:creationId xmlns:a16="http://schemas.microsoft.com/office/drawing/2014/main" id="{DB481270-81FB-4A83-B072-30136B36DA98}"/>
              </a:ext>
            </a:extLst>
          </p:cNvPr>
          <p:cNvSpPr txBox="1"/>
          <p:nvPr/>
        </p:nvSpPr>
        <p:spPr>
          <a:xfrm>
            <a:off x="663218" y="1018449"/>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Lean Startup y sus principios fundamentales</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Tree>
    <p:extLst>
      <p:ext uri="{BB962C8B-B14F-4D97-AF65-F5344CB8AC3E}">
        <p14:creationId xmlns:p14="http://schemas.microsoft.com/office/powerpoint/2010/main" val="1492314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ropbox Logo - símbolo, significado logotipo, historia, PNG">
            <a:extLst>
              <a:ext uri="{FF2B5EF4-FFF2-40B4-BE49-F238E27FC236}">
                <a16:creationId xmlns:a16="http://schemas.microsoft.com/office/drawing/2014/main" id="{D6A7E2C1-8F55-4B08-B8F3-633C254EC5D0}"/>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907569" y="3605009"/>
            <a:ext cx="3216585" cy="182357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D1A4CCDA-F51C-4F1F-AAA4-7EEB1E05228B}"/>
              </a:ext>
            </a:extLst>
          </p:cNvPr>
          <p:cNvSpPr txBox="1"/>
          <p:nvPr/>
        </p:nvSpPr>
        <p:spPr>
          <a:xfrm>
            <a:off x="663217" y="1745108"/>
            <a:ext cx="10865563" cy="120032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La capacidad para innovar y emprender no está limitada por la ubicación geográfica, el tipo de industria, sector, actividad o contexto empresarial.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El método Lean Startup puede funcionar con empresas de cualquier tamaño. </a:t>
            </a:r>
          </a:p>
        </p:txBody>
      </p:sp>
      <p:sp>
        <p:nvSpPr>
          <p:cNvPr id="6" name="CuadroTexto 5">
            <a:extLst>
              <a:ext uri="{FF2B5EF4-FFF2-40B4-BE49-F238E27FC236}">
                <a16:creationId xmlns:a16="http://schemas.microsoft.com/office/drawing/2014/main" id="{8F40882E-2A6E-4FDF-A3D9-DD14CBAE4D12}"/>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Fuente: Ries, E. (2011)</a:t>
            </a:r>
          </a:p>
        </p:txBody>
      </p:sp>
      <p:sp>
        <p:nvSpPr>
          <p:cNvPr id="7" name="TextBox 1">
            <a:extLst>
              <a:ext uri="{FF2B5EF4-FFF2-40B4-BE49-F238E27FC236}">
                <a16:creationId xmlns:a16="http://schemas.microsoft.com/office/drawing/2014/main" id="{DB481270-81FB-4A83-B072-30136B36DA98}"/>
              </a:ext>
            </a:extLst>
          </p:cNvPr>
          <p:cNvSpPr txBox="1"/>
          <p:nvPr/>
        </p:nvSpPr>
        <p:spPr>
          <a:xfrm>
            <a:off x="663218" y="884887"/>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1. Los emprendedores están en todas partes</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9" name="CuadroTexto 8">
            <a:extLst>
              <a:ext uri="{FF2B5EF4-FFF2-40B4-BE49-F238E27FC236}">
                <a16:creationId xmlns:a16="http://schemas.microsoft.com/office/drawing/2014/main" id="{809410D3-3749-4721-827C-23E16852E871}"/>
              </a:ext>
            </a:extLst>
          </p:cNvPr>
          <p:cNvSpPr txBox="1"/>
          <p:nvPr/>
        </p:nvSpPr>
        <p:spPr>
          <a:xfrm>
            <a:off x="5619964" y="3605009"/>
            <a:ext cx="4664467" cy="1823576"/>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Dropbox comenzó en 2007 cuando la demanda por el “intercambio de archivos” era baja, por lo que crearon un video explicando las características de su plataforma de almacenamiento en la nube y lo que su tecnología prometía logrando atraer miles de interesados. Es decir, </a:t>
            </a:r>
            <a:r>
              <a:rPr kumimoji="0" lang="es-CL" sz="125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testeó la respuesta de los usuarios antes de lanzar el producto al mercado. </a:t>
            </a: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Finalmente, logró una salida a bolsa de la compañía que valoró la startup en más de 12.000 millones de dólares</a:t>
            </a:r>
          </a:p>
        </p:txBody>
      </p:sp>
    </p:spTree>
    <p:extLst>
      <p:ext uri="{BB962C8B-B14F-4D97-AF65-F5344CB8AC3E}">
        <p14:creationId xmlns:p14="http://schemas.microsoft.com/office/powerpoint/2010/main" val="2320790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1A4CCDA-F51C-4F1F-AAA4-7EEB1E05228B}"/>
              </a:ext>
            </a:extLst>
          </p:cNvPr>
          <p:cNvSpPr txBox="1"/>
          <p:nvPr/>
        </p:nvSpPr>
        <p:spPr>
          <a:xfrm>
            <a:off x="663217" y="1379264"/>
            <a:ext cx="10865563" cy="258532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Se hace referencia a la idea de que los principios y prácticas del emprendimiento pueden aplicarse no solo en la creación de startups, sino también en la gestión y dirección de organizaciones establecidas, independientemente de su tamaño o industria.</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Al integrar el espíritu emprendedor en la gestión, las empresas pueden desarrollar una cultura organizacional más ágil, flexible y orientada al cliente, lo que les permite responder de manera efectiva a los cambios del mercado y mantenerse competitivas en un entorno empresarial en constante evolución.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p:txBody>
      </p:sp>
      <p:sp>
        <p:nvSpPr>
          <p:cNvPr id="6" name="CuadroTexto 5">
            <a:extLst>
              <a:ext uri="{FF2B5EF4-FFF2-40B4-BE49-F238E27FC236}">
                <a16:creationId xmlns:a16="http://schemas.microsoft.com/office/drawing/2014/main" id="{8F40882E-2A6E-4FDF-A3D9-DD14CBAE4D12}"/>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Fuente: Ries, E. (2011)</a:t>
            </a:r>
          </a:p>
        </p:txBody>
      </p:sp>
      <p:sp>
        <p:nvSpPr>
          <p:cNvPr id="8" name="TextBox 1">
            <a:extLst>
              <a:ext uri="{FF2B5EF4-FFF2-40B4-BE49-F238E27FC236}">
                <a16:creationId xmlns:a16="http://schemas.microsoft.com/office/drawing/2014/main" id="{6BFDD8EE-6456-4A85-A2F5-0F437243002E}"/>
              </a:ext>
            </a:extLst>
          </p:cNvPr>
          <p:cNvSpPr txBox="1"/>
          <p:nvPr/>
        </p:nvSpPr>
        <p:spPr>
          <a:xfrm>
            <a:off x="663218" y="519043"/>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2. El espíritu emprendedor es </a:t>
            </a:r>
            <a:r>
              <a:rPr kumimoji="0" lang="es-ES" sz="2800" b="0" i="1" u="none" strike="noStrike" kern="1200" cap="none" spc="0" normalizeH="0" baseline="0" noProof="0" dirty="0" err="1">
                <a:ln>
                  <a:noFill/>
                </a:ln>
                <a:solidFill>
                  <a:srgbClr val="000000"/>
                </a:solidFill>
                <a:effectLst/>
                <a:uLnTx/>
                <a:uFillTx/>
                <a:latin typeface="Montserrat SemiBold" pitchFamily="2" charset="0"/>
                <a:ea typeface="+mn-ea"/>
                <a:cs typeface="+mn-cs"/>
              </a:rPr>
              <a:t>management</a:t>
            </a:r>
            <a:endParaRPr kumimoji="0" lang="es-CL" sz="2800" b="0" i="1"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9" name="CuadroTexto 8">
            <a:extLst>
              <a:ext uri="{FF2B5EF4-FFF2-40B4-BE49-F238E27FC236}">
                <a16:creationId xmlns:a16="http://schemas.microsoft.com/office/drawing/2014/main" id="{62F40631-CD78-4869-AF85-EB4B46C4A6FB}"/>
              </a:ext>
            </a:extLst>
          </p:cNvPr>
          <p:cNvSpPr txBox="1"/>
          <p:nvPr/>
        </p:nvSpPr>
        <p:spPr>
          <a:xfrm>
            <a:off x="5589409" y="3937424"/>
            <a:ext cx="4664467" cy="191590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Toyota, famosa por ser pionera en el enfoque Lean </a:t>
            </a:r>
            <a:r>
              <a:rPr kumimoji="0" lang="es-CL" sz="1250" b="0" i="0"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Manufacturing</a:t>
            </a: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adoptó los principios de Ries en el desarrollo de sus sistemas de navegación basados en Android. El equipo de desarrollo interactuó estrechamente con los clientes para desarrollar iterativamente un prototipo.</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6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Ellos declaran que </a:t>
            </a:r>
            <a:r>
              <a:rPr kumimoji="0" lang="es-CL" sz="125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sus líderes rara vez dan instrucciones, si no que lideran y </a:t>
            </a:r>
            <a:r>
              <a:rPr kumimoji="0" lang="es-CL" sz="1250" b="1" i="0"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mentorizan</a:t>
            </a:r>
            <a:r>
              <a:rPr kumimoji="0" lang="es-CL" sz="125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haciendo preguntas</a:t>
            </a: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a:t>
            </a:r>
          </a:p>
        </p:txBody>
      </p:sp>
      <p:pic>
        <p:nvPicPr>
          <p:cNvPr id="5122" name="Picture 2" descr="Toyota estrena imagen, con nuevo logo y nuevo eslogan — Brandemia">
            <a:extLst>
              <a:ext uri="{FF2B5EF4-FFF2-40B4-BE49-F238E27FC236}">
                <a16:creationId xmlns:a16="http://schemas.microsoft.com/office/drawing/2014/main" id="{9C4C3DB7-66C3-49B8-8BFA-9799CDE7C5A5}"/>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3369923" y="3857146"/>
            <a:ext cx="1736334" cy="1982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085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1A4CCDA-F51C-4F1F-AAA4-7EEB1E05228B}"/>
              </a:ext>
            </a:extLst>
          </p:cNvPr>
          <p:cNvSpPr txBox="1"/>
          <p:nvPr/>
        </p:nvSpPr>
        <p:spPr>
          <a:xfrm>
            <a:off x="663217" y="1745108"/>
            <a:ext cx="10865563" cy="120032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Los startups también existen para aprender cómo crear negocios sostenibles, no solamente para obtener dinero. El aprendizaje validado implica llevar a cabo experimentos controlados y recopilar datos reales del mercado para tomar decisiones informadas.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p:txBody>
      </p:sp>
      <p:sp>
        <p:nvSpPr>
          <p:cNvPr id="6" name="CuadroTexto 5">
            <a:extLst>
              <a:ext uri="{FF2B5EF4-FFF2-40B4-BE49-F238E27FC236}">
                <a16:creationId xmlns:a16="http://schemas.microsoft.com/office/drawing/2014/main" id="{8F40882E-2A6E-4FDF-A3D9-DD14CBAE4D12}"/>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Fuente: Ries, E. (2011)</a:t>
            </a:r>
          </a:p>
        </p:txBody>
      </p:sp>
      <p:sp>
        <p:nvSpPr>
          <p:cNvPr id="7" name="TextBox 1">
            <a:extLst>
              <a:ext uri="{FF2B5EF4-FFF2-40B4-BE49-F238E27FC236}">
                <a16:creationId xmlns:a16="http://schemas.microsoft.com/office/drawing/2014/main" id="{DB481270-81FB-4A83-B072-30136B36DA98}"/>
              </a:ext>
            </a:extLst>
          </p:cNvPr>
          <p:cNvSpPr txBox="1"/>
          <p:nvPr/>
        </p:nvSpPr>
        <p:spPr>
          <a:xfrm>
            <a:off x="663218" y="884887"/>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3. Aprendizaje validado</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9" name="CuadroTexto 8">
            <a:extLst>
              <a:ext uri="{FF2B5EF4-FFF2-40B4-BE49-F238E27FC236}">
                <a16:creationId xmlns:a16="http://schemas.microsoft.com/office/drawing/2014/main" id="{809410D3-3749-4721-827C-23E16852E871}"/>
              </a:ext>
            </a:extLst>
          </p:cNvPr>
          <p:cNvSpPr txBox="1"/>
          <p:nvPr/>
        </p:nvSpPr>
        <p:spPr>
          <a:xfrm>
            <a:off x="5619964" y="3605009"/>
            <a:ext cx="4664467" cy="1823576"/>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250" b="0" i="0"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Slack</a:t>
            </a: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comenzó como una herramienta de mensajería interna en la empresa </a:t>
            </a:r>
            <a:r>
              <a:rPr kumimoji="0" lang="es-CL" sz="1250" b="0" i="0"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TinySpeck</a:t>
            </a: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especializada en videojuegos. Al no tener el éxito esperado, optaron por aplicar la metodología Lean Startup y decidieron pivotear y centrarse en un chat de mensajería instantánea corporativo. </a:t>
            </a:r>
            <a:r>
              <a:rPr kumimoji="0" lang="es-CL" sz="125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Se probó en el mercado en modelo </a:t>
            </a:r>
            <a:r>
              <a:rPr kumimoji="0" lang="es-CL" sz="1250" b="1" i="1"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freemium</a:t>
            </a:r>
            <a:r>
              <a:rPr kumimoji="0" lang="es-CL" sz="125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se evaluó su demanda y viabilidad obteniendo bastante popularidad</a:t>
            </a: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llegando en 2023 a más de 10 millones de usuarios activos.</a:t>
            </a:r>
          </a:p>
        </p:txBody>
      </p:sp>
      <p:pic>
        <p:nvPicPr>
          <p:cNvPr id="6146" name="Picture 2" descr="Slack Review | PCMag">
            <a:extLst>
              <a:ext uri="{FF2B5EF4-FFF2-40B4-BE49-F238E27FC236}">
                <a16:creationId xmlns:a16="http://schemas.microsoft.com/office/drawing/2014/main" id="{F2B4CAE6-D657-473D-A49D-5B7B9C2EADE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143244" y="3736821"/>
            <a:ext cx="2847975"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922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go Verde Spotify PNG transparente - StickPNG">
            <a:extLst>
              <a:ext uri="{FF2B5EF4-FFF2-40B4-BE49-F238E27FC236}">
                <a16:creationId xmlns:a16="http://schemas.microsoft.com/office/drawing/2014/main" id="{CD9FC980-B244-4C4A-B56E-A43E9DE264A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014730" y="3857721"/>
            <a:ext cx="3151276" cy="945383"/>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D1A4CCDA-F51C-4F1F-AAA4-7EEB1E05228B}"/>
              </a:ext>
            </a:extLst>
          </p:cNvPr>
          <p:cNvSpPr txBox="1"/>
          <p:nvPr/>
        </p:nvSpPr>
        <p:spPr>
          <a:xfrm>
            <a:off x="663217" y="1878670"/>
            <a:ext cx="10865563" cy="120032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Un startup debe lograr convertir ideas en productos, medir cómo responden los consumidores y aprender cuándo pivotear. Este principio es el centro del modelo de Lean Startup y todos los startups deberían orientarse a acelerar este circuito.</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p:txBody>
      </p:sp>
      <p:sp>
        <p:nvSpPr>
          <p:cNvPr id="6" name="CuadroTexto 5">
            <a:extLst>
              <a:ext uri="{FF2B5EF4-FFF2-40B4-BE49-F238E27FC236}">
                <a16:creationId xmlns:a16="http://schemas.microsoft.com/office/drawing/2014/main" id="{8F40882E-2A6E-4FDF-A3D9-DD14CBAE4D12}"/>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Fuente: Ries, E. (2011)</a:t>
            </a:r>
          </a:p>
        </p:txBody>
      </p:sp>
      <p:sp>
        <p:nvSpPr>
          <p:cNvPr id="7" name="TextBox 1">
            <a:extLst>
              <a:ext uri="{FF2B5EF4-FFF2-40B4-BE49-F238E27FC236}">
                <a16:creationId xmlns:a16="http://schemas.microsoft.com/office/drawing/2014/main" id="{DB481270-81FB-4A83-B072-30136B36DA98}"/>
              </a:ext>
            </a:extLst>
          </p:cNvPr>
          <p:cNvSpPr txBox="1"/>
          <p:nvPr/>
        </p:nvSpPr>
        <p:spPr>
          <a:xfrm>
            <a:off x="663218" y="1018449"/>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4. Crear – Medir – Aprender </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pic>
        <p:nvPicPr>
          <p:cNvPr id="3" name="Imagen 2">
            <a:extLst>
              <a:ext uri="{FF2B5EF4-FFF2-40B4-BE49-F238E27FC236}">
                <a16:creationId xmlns:a16="http://schemas.microsoft.com/office/drawing/2014/main" id="{45B3F632-56BE-47B9-AAC3-0182E2E3F60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6650" y="184020"/>
            <a:ext cx="1542130" cy="1526149"/>
          </a:xfrm>
          <a:prstGeom prst="rect">
            <a:avLst/>
          </a:prstGeom>
        </p:spPr>
      </p:pic>
      <p:sp>
        <p:nvSpPr>
          <p:cNvPr id="11" name="CuadroTexto 10">
            <a:extLst>
              <a:ext uri="{FF2B5EF4-FFF2-40B4-BE49-F238E27FC236}">
                <a16:creationId xmlns:a16="http://schemas.microsoft.com/office/drawing/2014/main" id="{47FF793A-A67F-4EBB-AFF3-5C92F2199B63}"/>
              </a:ext>
            </a:extLst>
          </p:cNvPr>
          <p:cNvSpPr txBox="1"/>
          <p:nvPr/>
        </p:nvSpPr>
        <p:spPr>
          <a:xfrm>
            <a:off x="5619964" y="3605009"/>
            <a:ext cx="4664467" cy="1823576"/>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Los creadores de Spotify querían solucionar el problema de la piratería en la industria musical. Lanzaron una plataforma para testear si un modelo </a:t>
            </a:r>
            <a:r>
              <a:rPr kumimoji="0" lang="es-CL" sz="1250" b="0" i="1"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freemium</a:t>
            </a: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tendría éxito, lanzándolo en un mercado reducido donde solo se podría acceder por invitación.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25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Crearon una plataforma, midieron la respuesta del mercado y aprendieron de la experiencia de los usuarios </a:t>
            </a: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para adaptarse a sus preferencias.</a:t>
            </a:r>
          </a:p>
        </p:txBody>
      </p:sp>
    </p:spTree>
    <p:extLst>
      <p:ext uri="{BB962C8B-B14F-4D97-AF65-F5344CB8AC3E}">
        <p14:creationId xmlns:p14="http://schemas.microsoft.com/office/powerpoint/2010/main" val="265727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E se divide en tres empresas y solo conservará el nombre la dedicada a  aviación - Actualidad Aeroespacial">
            <a:extLst>
              <a:ext uri="{FF2B5EF4-FFF2-40B4-BE49-F238E27FC236}">
                <a16:creationId xmlns:a16="http://schemas.microsoft.com/office/drawing/2014/main" id="{84A02BE4-AB11-4247-9773-10671806772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57592" y="3736821"/>
            <a:ext cx="3048000" cy="150495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D1A4CCDA-F51C-4F1F-AAA4-7EEB1E05228B}"/>
              </a:ext>
            </a:extLst>
          </p:cNvPr>
          <p:cNvSpPr txBox="1"/>
          <p:nvPr/>
        </p:nvSpPr>
        <p:spPr>
          <a:xfrm>
            <a:off x="663217" y="1878670"/>
            <a:ext cx="10865563" cy="120032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También es necesario encargarse de aspectos que no son tan entretenidos: cómo medir el progreso, cómo establecer hitos, cómo priorizar tareas, lo que requiere un tipo de contabilidad diseñada para startups.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p:txBody>
      </p:sp>
      <p:sp>
        <p:nvSpPr>
          <p:cNvPr id="6" name="CuadroTexto 5">
            <a:extLst>
              <a:ext uri="{FF2B5EF4-FFF2-40B4-BE49-F238E27FC236}">
                <a16:creationId xmlns:a16="http://schemas.microsoft.com/office/drawing/2014/main" id="{8F40882E-2A6E-4FDF-A3D9-DD14CBAE4D12}"/>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Fuente: Ries, E. (2011)</a:t>
            </a:r>
          </a:p>
        </p:txBody>
      </p:sp>
      <p:sp>
        <p:nvSpPr>
          <p:cNvPr id="7" name="TextBox 1">
            <a:extLst>
              <a:ext uri="{FF2B5EF4-FFF2-40B4-BE49-F238E27FC236}">
                <a16:creationId xmlns:a16="http://schemas.microsoft.com/office/drawing/2014/main" id="{DB481270-81FB-4A83-B072-30136B36DA98}"/>
              </a:ext>
            </a:extLst>
          </p:cNvPr>
          <p:cNvSpPr txBox="1"/>
          <p:nvPr/>
        </p:nvSpPr>
        <p:spPr>
          <a:xfrm>
            <a:off x="663218" y="1018449"/>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5. Contabilidad de la innovación</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9" name="CuadroTexto 8">
            <a:extLst>
              <a:ext uri="{FF2B5EF4-FFF2-40B4-BE49-F238E27FC236}">
                <a16:creationId xmlns:a16="http://schemas.microsoft.com/office/drawing/2014/main" id="{FDD3770E-CAF2-4201-BCA1-17E73D597462}"/>
              </a:ext>
            </a:extLst>
          </p:cNvPr>
          <p:cNvSpPr txBox="1"/>
          <p:nvPr/>
        </p:nvSpPr>
        <p:spPr>
          <a:xfrm>
            <a:off x="5699095" y="3769868"/>
            <a:ext cx="4664467" cy="1631216"/>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La empresa GE contrató los servicios de Ries como consultor para aplicar su teoría dentro de la organización. Formaron a más de 5.000 directivos en los principios de "lean" y establecieron divisiones autónomas. Esto condujo al desarrollo de un nuevo producto, un frigorífico, que </a:t>
            </a:r>
            <a:r>
              <a:rPr kumimoji="0" lang="es-CL" sz="125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logró un ahorro de costos y tiempo del 50%</a:t>
            </a:r>
            <a:r>
              <a:rPr kumimoji="0" lang="es-CL" sz="125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A partir de aquí, GE siguió utilizando esta metodología.</a:t>
            </a:r>
          </a:p>
        </p:txBody>
      </p:sp>
    </p:spTree>
    <p:extLst>
      <p:ext uri="{BB962C8B-B14F-4D97-AF65-F5344CB8AC3E}">
        <p14:creationId xmlns:p14="http://schemas.microsoft.com/office/powerpoint/2010/main" val="2514364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641932"/>
            <a:ext cx="1086556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Lean Startup y su primera etapa, desarrollar al cliente</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7" y="1582340"/>
            <a:ext cx="6532239" cy="480131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El método Lean Startup está diseñado para que un startup encuentre su modelo de negocios, esto lo logra buscando bajo su principio de Crear – Medir – Aprender. En este ciclo uno de los ejes de aprendizaje es el desarrollo de clientes.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b="0" i="0" u="none" strike="noStrike" kern="1200" cap="none" spc="0" normalizeH="0" baseline="0" noProof="0" dirty="0">
              <a:ln>
                <a:noFill/>
              </a:ln>
              <a:solidFill>
                <a:srgbClr val="000000"/>
              </a:solidFill>
              <a:effectLst/>
              <a:uLnTx/>
              <a:uFillTx/>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El Desarrollo de Clientes, es un descubrimiento del segmento de usuarios frente a los distintos prototipos, productos, </a:t>
            </a:r>
            <a:r>
              <a:rPr lang="es-CL" dirty="0">
                <a:solidFill>
                  <a:srgbClr val="000000"/>
                </a:solidFill>
                <a:latin typeface="Avenir Next" panose="020B0503020202020204" pitchFamily="34" charset="0"/>
              </a:rPr>
              <a:t>donde </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se centra en la </a:t>
            </a: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búsqueda y validación del modelo de negocio correcto a través de la interacción directa con los clientes</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 </a:t>
            </a: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y ajustar continuamente el modelo de negocio en función de la retroalimentación</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 del mercado.</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CL" dirty="0">
              <a:solidFill>
                <a:srgbClr val="000000"/>
              </a:solidFill>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La primera tarea de un startup es descubrir el cliente, y lo hace desarrollando el producto, y con pruebas que permiten el encaje producto – mercado (</a:t>
            </a:r>
            <a:r>
              <a:rPr kumimoji="0" lang="en-US" b="0" i="1" u="none" strike="noStrike" kern="1200" cap="none" spc="0" normalizeH="0" baseline="0" dirty="0">
                <a:ln>
                  <a:noFill/>
                </a:ln>
                <a:solidFill>
                  <a:srgbClr val="000000"/>
                </a:solidFill>
                <a:effectLst/>
                <a:uLnTx/>
                <a:uFillTx/>
                <a:latin typeface="Avenir Next" panose="020B0503020202020204" pitchFamily="34" charset="0"/>
              </a:rPr>
              <a:t>product - market fit</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 para luego pasar a las otras etapas del método.</a:t>
            </a:r>
          </a:p>
        </p:txBody>
      </p:sp>
    </p:spTree>
    <p:extLst>
      <p:ext uri="{BB962C8B-B14F-4D97-AF65-F5344CB8AC3E}">
        <p14:creationId xmlns:p14="http://schemas.microsoft.com/office/powerpoint/2010/main" val="19565865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521549"/>
            <a:ext cx="1086556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¿Cómo avanza el proceso de desarrollo de clientes?</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582340"/>
            <a:ext cx="6194782" cy="369331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A nivel abstracto, es cuestionar las suposiciones  fundamentales de tu negocio. En concreto, es un proceso de cuatro etapas para:</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b="0" i="0" u="none" strike="noStrike" kern="1200" cap="none" spc="0" normalizeH="0" baseline="0" noProof="0" dirty="0">
              <a:ln>
                <a:noFill/>
              </a:ln>
              <a:solidFill>
                <a:srgbClr val="000000"/>
              </a:solidFill>
              <a:effectLst/>
              <a:uLnTx/>
              <a:uFillTx/>
              <a:latin typeface="Avenir Next" panose="020B0503020202020204" pitchFamily="34"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Descubrir y validar </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el mercado que tienes definido  para tu producto (modelo de negocios).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Construir los atributos correctos </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para el producto, que resuelvan las necesidades del cliente (prototipo).</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Testear</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 los métodos correctos para adquirir y  convertir clientes (experimentos que determinan el </a:t>
            </a:r>
            <a:r>
              <a:rPr kumimoji="0" lang="es-CL" b="0" i="1" u="none" strike="noStrike" kern="1200" cap="none" spc="0" normalizeH="0" baseline="0" noProof="0" dirty="0" err="1">
                <a:ln>
                  <a:noFill/>
                </a:ln>
                <a:solidFill>
                  <a:srgbClr val="000000"/>
                </a:solidFill>
                <a:effectLst/>
                <a:uLnTx/>
                <a:uFillTx/>
                <a:latin typeface="Avenir Next" panose="020B0503020202020204" pitchFamily="34" charset="0"/>
              </a:rPr>
              <a:t>product</a:t>
            </a:r>
            <a:r>
              <a:rPr kumimoji="0" lang="es-CL" b="0" i="1" u="none" strike="noStrike" kern="1200" cap="none" spc="0" normalizeH="0" baseline="0" noProof="0" dirty="0">
                <a:ln>
                  <a:noFill/>
                </a:ln>
                <a:solidFill>
                  <a:srgbClr val="000000"/>
                </a:solidFill>
                <a:effectLst/>
                <a:uLnTx/>
                <a:uFillTx/>
                <a:latin typeface="Avenir Next" panose="020B0503020202020204" pitchFamily="34" charset="0"/>
              </a:rPr>
              <a:t> </a:t>
            </a:r>
            <a:r>
              <a:rPr kumimoji="0" lang="es-CL" b="0" i="1" u="none" strike="noStrike" kern="1200" cap="none" spc="0" normalizeH="0" baseline="0" noProof="0" dirty="0" err="1">
                <a:ln>
                  <a:noFill/>
                </a:ln>
                <a:solidFill>
                  <a:srgbClr val="000000"/>
                </a:solidFill>
                <a:effectLst/>
                <a:uLnTx/>
                <a:uFillTx/>
                <a:latin typeface="Avenir Next" panose="020B0503020202020204" pitchFamily="34" charset="0"/>
              </a:rPr>
              <a:t>market</a:t>
            </a:r>
            <a:r>
              <a:rPr kumimoji="0" lang="es-CL" b="0" i="1" u="none" strike="noStrike" kern="1200" cap="none" spc="0" normalizeH="0" baseline="0" noProof="0" dirty="0">
                <a:ln>
                  <a:noFill/>
                </a:ln>
                <a:solidFill>
                  <a:srgbClr val="000000"/>
                </a:solidFill>
                <a:effectLst/>
                <a:uLnTx/>
                <a:uFillTx/>
                <a:latin typeface="Avenir Next" panose="020B0503020202020204" pitchFamily="34" charset="0"/>
              </a:rPr>
              <a:t> </a:t>
            </a:r>
            <a:r>
              <a:rPr kumimoji="0" lang="es-CL" b="0" i="1" u="none" strike="noStrike" kern="1200" cap="none" spc="0" normalizeH="0" baseline="0" noProof="0" dirty="0" err="1">
                <a:ln>
                  <a:noFill/>
                </a:ln>
                <a:solidFill>
                  <a:srgbClr val="000000"/>
                </a:solidFill>
                <a:effectLst/>
                <a:uLnTx/>
                <a:uFillTx/>
                <a:latin typeface="Avenir Next" panose="020B0503020202020204" pitchFamily="34" charset="0"/>
              </a:rPr>
              <a:t>fit</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Desplegar</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 los recursos adecuados para escalar el negocio.</a:t>
            </a:r>
          </a:p>
        </p:txBody>
      </p:sp>
    </p:spTree>
    <p:extLst>
      <p:ext uri="{BB962C8B-B14F-4D97-AF65-F5344CB8AC3E}">
        <p14:creationId xmlns:p14="http://schemas.microsoft.com/office/powerpoint/2010/main" val="2553489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ipse 1">
            <a:extLst>
              <a:ext uri="{FF2B5EF4-FFF2-40B4-BE49-F238E27FC236}">
                <a16:creationId xmlns:a16="http://schemas.microsoft.com/office/drawing/2014/main" id="{F82B50DF-BE42-4C09-A307-5DDA7E062FEE}"/>
              </a:ext>
            </a:extLst>
          </p:cNvPr>
          <p:cNvSpPr/>
          <p:nvPr/>
        </p:nvSpPr>
        <p:spPr>
          <a:xfrm>
            <a:off x="1629668" y="2026433"/>
            <a:ext cx="1327150" cy="973138"/>
          </a:xfrm>
          <a:prstGeom prst="ellipse">
            <a:avLst/>
          </a:prstGeom>
          <a:solidFill>
            <a:srgbClr val="FDC4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CL" sz="2866" b="0" i="0" u="none" strike="noStrike" kern="1200" cap="none" spc="0" normalizeH="0" baseline="0" noProof="0">
              <a:ln>
                <a:noFill/>
              </a:ln>
              <a:solidFill>
                <a:prstClr val="white"/>
              </a:solidFill>
              <a:effectLst/>
              <a:uLnTx/>
              <a:uFillTx/>
              <a:latin typeface="Montserrat"/>
              <a:ea typeface="+mn-ea"/>
              <a:cs typeface="+mn-cs"/>
              <a:sym typeface="Gill Sans" charset="0"/>
            </a:endParaRPr>
          </a:p>
        </p:txBody>
      </p:sp>
      <p:sp>
        <p:nvSpPr>
          <p:cNvPr id="3" name="Elipse 2">
            <a:extLst>
              <a:ext uri="{FF2B5EF4-FFF2-40B4-BE49-F238E27FC236}">
                <a16:creationId xmlns:a16="http://schemas.microsoft.com/office/drawing/2014/main" id="{F7716B33-DA92-4ADB-AF42-37C02170A3AD}"/>
              </a:ext>
            </a:extLst>
          </p:cNvPr>
          <p:cNvSpPr/>
          <p:nvPr/>
        </p:nvSpPr>
        <p:spPr>
          <a:xfrm>
            <a:off x="8760716" y="2070883"/>
            <a:ext cx="1327150" cy="973138"/>
          </a:xfrm>
          <a:prstGeom prst="ellipse">
            <a:avLst/>
          </a:prstGeom>
          <a:solidFill>
            <a:srgbClr val="FDC4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CL" sz="2866" b="0" i="0" u="none" strike="noStrike" kern="1200" cap="none" spc="0" normalizeH="0" baseline="0" noProof="0">
              <a:ln>
                <a:noFill/>
              </a:ln>
              <a:solidFill>
                <a:prstClr val="white"/>
              </a:solidFill>
              <a:effectLst/>
              <a:uLnTx/>
              <a:uFillTx/>
              <a:latin typeface="Montserrat"/>
              <a:ea typeface="+mn-ea"/>
              <a:cs typeface="+mn-cs"/>
              <a:sym typeface="Gill Sans" charset="0"/>
            </a:endParaRPr>
          </a:p>
        </p:txBody>
      </p:sp>
      <p:sp>
        <p:nvSpPr>
          <p:cNvPr id="4" name="Elipse 3">
            <a:extLst>
              <a:ext uri="{FF2B5EF4-FFF2-40B4-BE49-F238E27FC236}">
                <a16:creationId xmlns:a16="http://schemas.microsoft.com/office/drawing/2014/main" id="{11E72BED-CAE6-44FB-835F-B657507F3C7E}"/>
              </a:ext>
            </a:extLst>
          </p:cNvPr>
          <p:cNvSpPr/>
          <p:nvPr/>
        </p:nvSpPr>
        <p:spPr>
          <a:xfrm>
            <a:off x="7058918" y="4468802"/>
            <a:ext cx="1327150" cy="973138"/>
          </a:xfrm>
          <a:prstGeom prst="ellipse">
            <a:avLst/>
          </a:prstGeom>
          <a:solidFill>
            <a:srgbClr val="FDC4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CL" sz="2866" b="0" i="0" u="none" strike="noStrike" kern="1200" cap="none" spc="0" normalizeH="0" baseline="0" noProof="0">
              <a:ln>
                <a:noFill/>
              </a:ln>
              <a:solidFill>
                <a:prstClr val="white"/>
              </a:solidFill>
              <a:effectLst/>
              <a:uLnTx/>
              <a:uFillTx/>
              <a:latin typeface="Montserrat"/>
              <a:ea typeface="+mn-ea"/>
              <a:cs typeface="+mn-cs"/>
              <a:sym typeface="Gill Sans" charset="0"/>
            </a:endParaRPr>
          </a:p>
        </p:txBody>
      </p:sp>
      <p:sp>
        <p:nvSpPr>
          <p:cNvPr id="5" name="Elipse 4">
            <a:extLst>
              <a:ext uri="{FF2B5EF4-FFF2-40B4-BE49-F238E27FC236}">
                <a16:creationId xmlns:a16="http://schemas.microsoft.com/office/drawing/2014/main" id="{426934DA-2387-4824-B0CE-A951DF5756DD}"/>
              </a:ext>
            </a:extLst>
          </p:cNvPr>
          <p:cNvSpPr/>
          <p:nvPr/>
        </p:nvSpPr>
        <p:spPr>
          <a:xfrm>
            <a:off x="3394967" y="4468802"/>
            <a:ext cx="1327150" cy="973138"/>
          </a:xfrm>
          <a:prstGeom prst="ellipse">
            <a:avLst/>
          </a:prstGeom>
          <a:solidFill>
            <a:srgbClr val="FDC4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CL" sz="2866" b="0" i="0" u="none" strike="noStrike" kern="1200" cap="none" spc="0" normalizeH="0" baseline="0" noProof="0">
              <a:ln>
                <a:noFill/>
              </a:ln>
              <a:solidFill>
                <a:prstClr val="white"/>
              </a:solidFill>
              <a:effectLst/>
              <a:uLnTx/>
              <a:uFillTx/>
              <a:latin typeface="Montserrat"/>
              <a:ea typeface="+mn-ea"/>
              <a:cs typeface="+mn-cs"/>
              <a:sym typeface="Gill Sans" charset="0"/>
            </a:endParaRPr>
          </a:p>
        </p:txBody>
      </p:sp>
      <p:sp>
        <p:nvSpPr>
          <p:cNvPr id="6" name="CuadroTexto 5">
            <a:extLst>
              <a:ext uri="{FF2B5EF4-FFF2-40B4-BE49-F238E27FC236}">
                <a16:creationId xmlns:a16="http://schemas.microsoft.com/office/drawing/2014/main" id="{AA7D0015-843F-4BE4-A69C-48D6EB5DF53B}"/>
              </a:ext>
            </a:extLst>
          </p:cNvPr>
          <p:cNvSpPr txBox="1"/>
          <p:nvPr/>
        </p:nvSpPr>
        <p:spPr>
          <a:xfrm>
            <a:off x="2144017" y="2357048"/>
            <a:ext cx="28448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black"/>
                </a:solidFill>
                <a:effectLst/>
                <a:uLnTx/>
                <a:uFillTx/>
                <a:latin typeface="Montserrat"/>
                <a:ea typeface="+mn-ea"/>
                <a:cs typeface="+mn-cs"/>
                <a:sym typeface="Gill Sans" charset="0"/>
              </a:rPr>
              <a:t>PROBLEMA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rPr>
              <a:t>Supuestos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rPr>
              <a:t>Principales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rPr>
              <a:t>CPS (Cliente-Problema-Solución)</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endParaRPr>
          </a:p>
        </p:txBody>
      </p:sp>
      <p:sp>
        <p:nvSpPr>
          <p:cNvPr id="7" name="CuadroTexto 6">
            <a:extLst>
              <a:ext uri="{FF2B5EF4-FFF2-40B4-BE49-F238E27FC236}">
                <a16:creationId xmlns:a16="http://schemas.microsoft.com/office/drawing/2014/main" id="{7F94DEF1-E74D-492D-9EEB-4B14BA942211}"/>
              </a:ext>
            </a:extLst>
          </p:cNvPr>
          <p:cNvSpPr txBox="1"/>
          <p:nvPr/>
        </p:nvSpPr>
        <p:spPr>
          <a:xfrm>
            <a:off x="8220967" y="2357048"/>
            <a:ext cx="2844800" cy="132343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black"/>
                </a:solidFill>
                <a:effectLst/>
                <a:uLnTx/>
                <a:uFillTx/>
                <a:latin typeface="Montserrat"/>
                <a:ea typeface="+mn-ea"/>
                <a:cs typeface="+mn-cs"/>
                <a:sym typeface="Gill Sans" charset="0"/>
              </a:rPr>
              <a:t>SOLUCIÓN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rPr>
              <a:t>Plataforma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rPr>
              <a:t>Arquitectura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rPr>
              <a:t>Características/ Atributos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endParaRPr>
          </a:p>
        </p:txBody>
      </p:sp>
      <p:sp>
        <p:nvSpPr>
          <p:cNvPr id="8" name="Elipse 7">
            <a:extLst>
              <a:ext uri="{FF2B5EF4-FFF2-40B4-BE49-F238E27FC236}">
                <a16:creationId xmlns:a16="http://schemas.microsoft.com/office/drawing/2014/main" id="{1CB7EF97-2B7C-4E49-8E83-2D7E0C9BF649}"/>
              </a:ext>
            </a:extLst>
          </p:cNvPr>
          <p:cNvSpPr/>
          <p:nvPr/>
        </p:nvSpPr>
        <p:spPr>
          <a:xfrm>
            <a:off x="3969641" y="2553612"/>
            <a:ext cx="1663700" cy="300831"/>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100" b="1" i="0" u="none" strike="noStrike" kern="1200" cap="none" spc="0" normalizeH="0" baseline="0" noProof="0" dirty="0">
                <a:ln>
                  <a:noFill/>
                </a:ln>
                <a:solidFill>
                  <a:prstClr val="black"/>
                </a:solidFill>
                <a:effectLst/>
                <a:uLnTx/>
                <a:uFillTx/>
                <a:latin typeface="Montserrat"/>
                <a:ea typeface="+mn-ea"/>
                <a:cs typeface="+mn-cs"/>
                <a:sym typeface="Gill Sans" charset="0"/>
              </a:rPr>
              <a:t>Clientes</a:t>
            </a:r>
          </a:p>
        </p:txBody>
      </p:sp>
      <p:sp>
        <p:nvSpPr>
          <p:cNvPr id="9" name="Elipse 8">
            <a:extLst>
              <a:ext uri="{FF2B5EF4-FFF2-40B4-BE49-F238E27FC236}">
                <a16:creationId xmlns:a16="http://schemas.microsoft.com/office/drawing/2014/main" id="{993C2DA7-24DA-4AE3-8AB0-9598E4C68559}"/>
              </a:ext>
            </a:extLst>
          </p:cNvPr>
          <p:cNvSpPr/>
          <p:nvPr/>
        </p:nvSpPr>
        <p:spPr>
          <a:xfrm>
            <a:off x="6042916" y="2553612"/>
            <a:ext cx="1663700" cy="300831"/>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100" b="1" i="0" u="none" strike="noStrike" kern="1200" cap="none" spc="0" normalizeH="0" baseline="0" noProof="0" dirty="0">
                <a:ln>
                  <a:noFill/>
                </a:ln>
                <a:solidFill>
                  <a:prstClr val="black"/>
                </a:solidFill>
                <a:effectLst/>
                <a:uLnTx/>
                <a:uFillTx/>
                <a:latin typeface="Montserrat"/>
                <a:ea typeface="+mn-ea"/>
                <a:cs typeface="+mn-cs"/>
                <a:sym typeface="Gill Sans" charset="0"/>
              </a:rPr>
              <a:t>Productos</a:t>
            </a:r>
          </a:p>
        </p:txBody>
      </p:sp>
      <p:sp>
        <p:nvSpPr>
          <p:cNvPr id="10" name="CuadroTexto 9">
            <a:extLst>
              <a:ext uri="{FF2B5EF4-FFF2-40B4-BE49-F238E27FC236}">
                <a16:creationId xmlns:a16="http://schemas.microsoft.com/office/drawing/2014/main" id="{8AB2675C-ABE8-4C0A-9CB0-D025450450DE}"/>
              </a:ext>
            </a:extLst>
          </p:cNvPr>
          <p:cNvSpPr txBox="1"/>
          <p:nvPr/>
        </p:nvSpPr>
        <p:spPr>
          <a:xfrm>
            <a:off x="2704404" y="4857165"/>
            <a:ext cx="1724026"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black"/>
                </a:solidFill>
                <a:effectLst/>
                <a:uLnTx/>
                <a:uFillTx/>
                <a:latin typeface="Montserrat"/>
                <a:ea typeface="+mn-ea"/>
                <a:cs typeface="+mn-cs"/>
                <a:sym typeface="Gill Sans" charset="0"/>
              </a:rPr>
              <a:t>Descubrimiento de Clientes</a:t>
            </a:r>
            <a:endPar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endParaRPr>
          </a:p>
        </p:txBody>
      </p:sp>
      <p:sp>
        <p:nvSpPr>
          <p:cNvPr id="11" name="CuadroTexto 10">
            <a:extLst>
              <a:ext uri="{FF2B5EF4-FFF2-40B4-BE49-F238E27FC236}">
                <a16:creationId xmlns:a16="http://schemas.microsoft.com/office/drawing/2014/main" id="{7F7D86D6-2158-4601-9D7C-475094BD1E48}"/>
              </a:ext>
            </a:extLst>
          </p:cNvPr>
          <p:cNvSpPr txBox="1"/>
          <p:nvPr/>
        </p:nvSpPr>
        <p:spPr>
          <a:xfrm>
            <a:off x="7474842" y="4857164"/>
            <a:ext cx="1724026"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black"/>
                </a:solidFill>
                <a:effectLst/>
                <a:uLnTx/>
                <a:uFillTx/>
                <a:latin typeface="Montserrat"/>
                <a:ea typeface="+mn-ea"/>
                <a:cs typeface="+mn-cs"/>
                <a:sym typeface="Gill Sans" charset="0"/>
              </a:rPr>
              <a:t>Desarrollo de Productos</a:t>
            </a:r>
            <a:endPar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endParaRPr>
          </a:p>
        </p:txBody>
      </p:sp>
      <p:sp>
        <p:nvSpPr>
          <p:cNvPr id="12" name="CuadroTexto 11">
            <a:extLst>
              <a:ext uri="{FF2B5EF4-FFF2-40B4-BE49-F238E27FC236}">
                <a16:creationId xmlns:a16="http://schemas.microsoft.com/office/drawing/2014/main" id="{15F1761E-C286-4EEE-B481-8DE864E5504C}"/>
              </a:ext>
            </a:extLst>
          </p:cNvPr>
          <p:cNvSpPr txBox="1"/>
          <p:nvPr/>
        </p:nvSpPr>
        <p:spPr>
          <a:xfrm>
            <a:off x="5305523" y="5441939"/>
            <a:ext cx="1352552" cy="83099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black"/>
                </a:solidFill>
                <a:effectLst/>
                <a:uLnTx/>
                <a:uFillTx/>
                <a:latin typeface="Montserrat"/>
                <a:ea typeface="+mn-ea"/>
                <a:cs typeface="+mn-cs"/>
                <a:sym typeface="Gill Sans" charset="0"/>
              </a:rPr>
              <a:t>Validación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black"/>
                </a:solidFill>
                <a:effectLst/>
                <a:uLnTx/>
                <a:uFillTx/>
                <a:latin typeface="Montserrat"/>
                <a:ea typeface="+mn-ea"/>
                <a:cs typeface="+mn-cs"/>
                <a:sym typeface="Gill Sans" charset="0"/>
              </a:rPr>
              <a:t>Problema/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black"/>
                </a:solidFill>
                <a:effectLst/>
                <a:uLnTx/>
                <a:uFillTx/>
                <a:latin typeface="Montserrat"/>
                <a:ea typeface="+mn-ea"/>
                <a:cs typeface="+mn-cs"/>
                <a:sym typeface="Gill Sans" charset="0"/>
              </a:rPr>
              <a:t>Solución</a:t>
            </a:r>
            <a:endParaRPr kumimoji="0" lang="es-CL" sz="1600" b="0" i="0" u="none" strike="noStrike" kern="1200" cap="none" spc="0" normalizeH="0" baseline="0" noProof="0" dirty="0">
              <a:ln>
                <a:noFill/>
              </a:ln>
              <a:solidFill>
                <a:prstClr val="black"/>
              </a:solidFill>
              <a:effectLst/>
              <a:uLnTx/>
              <a:uFillTx/>
              <a:latin typeface="Montserrat"/>
              <a:ea typeface="+mn-ea"/>
              <a:cs typeface="+mn-cs"/>
              <a:sym typeface="Gill Sans" charset="0"/>
            </a:endParaRPr>
          </a:p>
        </p:txBody>
      </p:sp>
      <p:sp>
        <p:nvSpPr>
          <p:cNvPr id="13" name="CuadroTexto 12">
            <a:extLst>
              <a:ext uri="{FF2B5EF4-FFF2-40B4-BE49-F238E27FC236}">
                <a16:creationId xmlns:a16="http://schemas.microsoft.com/office/drawing/2014/main" id="{F3AAD212-3DED-45B1-B723-C5FC2CB34423}"/>
              </a:ext>
            </a:extLst>
          </p:cNvPr>
          <p:cNvSpPr txBox="1"/>
          <p:nvPr/>
        </p:nvSpPr>
        <p:spPr>
          <a:xfrm>
            <a:off x="5225354" y="3757431"/>
            <a:ext cx="1327150" cy="3385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CL" sz="1600" b="1" i="1" u="none" strike="noStrike" kern="1200" cap="none" spc="0" normalizeH="0" baseline="0" noProof="0" dirty="0" err="1">
                <a:ln>
                  <a:noFill/>
                </a:ln>
                <a:solidFill>
                  <a:prstClr val="black"/>
                </a:solidFill>
                <a:effectLst/>
                <a:uLnTx/>
                <a:uFillTx/>
                <a:latin typeface="Montserrat"/>
                <a:ea typeface="+mn-ea"/>
                <a:cs typeface="+mn-cs"/>
                <a:sym typeface="Gill Sans" charset="0"/>
              </a:rPr>
              <a:t>Feedback</a:t>
            </a:r>
            <a:endParaRPr kumimoji="0" lang="es-CL" sz="1600" b="0" i="1" u="none" strike="noStrike" kern="1200" cap="none" spc="0" normalizeH="0" baseline="0" noProof="0" dirty="0">
              <a:ln>
                <a:noFill/>
              </a:ln>
              <a:solidFill>
                <a:prstClr val="black"/>
              </a:solidFill>
              <a:effectLst/>
              <a:uLnTx/>
              <a:uFillTx/>
              <a:latin typeface="Montserrat"/>
              <a:ea typeface="+mn-ea"/>
              <a:cs typeface="+mn-cs"/>
              <a:sym typeface="Gill Sans" charset="0"/>
            </a:endParaRPr>
          </a:p>
        </p:txBody>
      </p:sp>
      <p:cxnSp>
        <p:nvCxnSpPr>
          <p:cNvPr id="14" name="Conector: curvado 13">
            <a:extLst>
              <a:ext uri="{FF2B5EF4-FFF2-40B4-BE49-F238E27FC236}">
                <a16:creationId xmlns:a16="http://schemas.microsoft.com/office/drawing/2014/main" id="{DD63FE1F-7B43-401F-967C-59E2D13B23BA}"/>
              </a:ext>
            </a:extLst>
          </p:cNvPr>
          <p:cNvCxnSpPr>
            <a:cxnSpLocks/>
            <a:stCxn id="12" idx="1"/>
            <a:endCxn id="10" idx="2"/>
          </p:cNvCxnSpPr>
          <p:nvPr/>
        </p:nvCxnSpPr>
        <p:spPr>
          <a:xfrm rot="10800000">
            <a:off x="3566417" y="5441940"/>
            <a:ext cx="1739106" cy="415498"/>
          </a:xfrm>
          <a:prstGeom prst="curvedConnector2">
            <a:avLst/>
          </a:prstGeom>
          <a:ln w="12700">
            <a:solidFill>
              <a:srgbClr val="ED6723"/>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curvado 14">
            <a:extLst>
              <a:ext uri="{FF2B5EF4-FFF2-40B4-BE49-F238E27FC236}">
                <a16:creationId xmlns:a16="http://schemas.microsoft.com/office/drawing/2014/main" id="{C254C6DB-E3E1-42B5-8BB4-1FCD3F7A1BF5}"/>
              </a:ext>
            </a:extLst>
          </p:cNvPr>
          <p:cNvCxnSpPr>
            <a:cxnSpLocks/>
            <a:stCxn id="12" idx="3"/>
            <a:endCxn id="11" idx="2"/>
          </p:cNvCxnSpPr>
          <p:nvPr/>
        </p:nvCxnSpPr>
        <p:spPr>
          <a:xfrm flipV="1">
            <a:off x="6658075" y="5441939"/>
            <a:ext cx="1678780" cy="415499"/>
          </a:xfrm>
          <a:prstGeom prst="curvedConnector2">
            <a:avLst/>
          </a:prstGeom>
          <a:ln w="12700">
            <a:solidFill>
              <a:srgbClr val="ED6723"/>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curvado 15">
            <a:extLst>
              <a:ext uri="{FF2B5EF4-FFF2-40B4-BE49-F238E27FC236}">
                <a16:creationId xmlns:a16="http://schemas.microsoft.com/office/drawing/2014/main" id="{1A7285C2-E230-41C5-941F-C51741D6AA98}"/>
              </a:ext>
            </a:extLst>
          </p:cNvPr>
          <p:cNvCxnSpPr>
            <a:stCxn id="13" idx="2"/>
            <a:endCxn id="5" idx="6"/>
          </p:cNvCxnSpPr>
          <p:nvPr/>
        </p:nvCxnSpPr>
        <p:spPr>
          <a:xfrm rot="5400000">
            <a:off x="4875830" y="3942272"/>
            <a:ext cx="859386" cy="1166812"/>
          </a:xfrm>
          <a:prstGeom prst="curvedConnector2">
            <a:avLst/>
          </a:prstGeom>
          <a:ln w="12700">
            <a:solidFill>
              <a:srgbClr val="ED6723"/>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curvado 16">
            <a:extLst>
              <a:ext uri="{FF2B5EF4-FFF2-40B4-BE49-F238E27FC236}">
                <a16:creationId xmlns:a16="http://schemas.microsoft.com/office/drawing/2014/main" id="{6FDEC253-A865-4839-A19D-EFA34CFE9A1A}"/>
              </a:ext>
            </a:extLst>
          </p:cNvPr>
          <p:cNvCxnSpPr>
            <a:stCxn id="13" idx="2"/>
            <a:endCxn id="4" idx="2"/>
          </p:cNvCxnSpPr>
          <p:nvPr/>
        </p:nvCxnSpPr>
        <p:spPr>
          <a:xfrm rot="16200000" flipH="1">
            <a:off x="6044230" y="3940683"/>
            <a:ext cx="859386" cy="1169989"/>
          </a:xfrm>
          <a:prstGeom prst="curvedConnector2">
            <a:avLst/>
          </a:prstGeom>
          <a:ln w="12700">
            <a:solidFill>
              <a:srgbClr val="ED6723"/>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curvado 17">
            <a:extLst>
              <a:ext uri="{FF2B5EF4-FFF2-40B4-BE49-F238E27FC236}">
                <a16:creationId xmlns:a16="http://schemas.microsoft.com/office/drawing/2014/main" id="{F932E75F-D62D-4C69-BBC1-38916FFA2A2B}"/>
              </a:ext>
            </a:extLst>
          </p:cNvPr>
          <p:cNvCxnSpPr>
            <a:cxnSpLocks/>
            <a:stCxn id="10" idx="1"/>
            <a:endCxn id="2" idx="2"/>
          </p:cNvCxnSpPr>
          <p:nvPr/>
        </p:nvCxnSpPr>
        <p:spPr>
          <a:xfrm rot="10800000">
            <a:off x="1629668" y="2513003"/>
            <a:ext cx="1074736" cy="2636551"/>
          </a:xfrm>
          <a:prstGeom prst="curvedConnector3">
            <a:avLst>
              <a:gd name="adj1" fmla="val 121270"/>
            </a:avLst>
          </a:prstGeom>
          <a:ln w="12700">
            <a:solidFill>
              <a:srgbClr val="ED6723"/>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curvado 18">
            <a:extLst>
              <a:ext uri="{FF2B5EF4-FFF2-40B4-BE49-F238E27FC236}">
                <a16:creationId xmlns:a16="http://schemas.microsoft.com/office/drawing/2014/main" id="{6D41AB22-324F-4848-B433-2C11BE7FC71F}"/>
              </a:ext>
            </a:extLst>
          </p:cNvPr>
          <p:cNvCxnSpPr>
            <a:cxnSpLocks/>
            <a:stCxn id="11" idx="3"/>
            <a:endCxn id="3" idx="6"/>
          </p:cNvCxnSpPr>
          <p:nvPr/>
        </p:nvCxnSpPr>
        <p:spPr>
          <a:xfrm flipV="1">
            <a:off x="9198868" y="2557452"/>
            <a:ext cx="888998" cy="2592100"/>
          </a:xfrm>
          <a:prstGeom prst="curvedConnector3">
            <a:avLst>
              <a:gd name="adj1" fmla="val 152857"/>
            </a:avLst>
          </a:prstGeom>
          <a:ln w="12700">
            <a:solidFill>
              <a:srgbClr val="ED6723"/>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curvado 19">
            <a:extLst>
              <a:ext uri="{FF2B5EF4-FFF2-40B4-BE49-F238E27FC236}">
                <a16:creationId xmlns:a16="http://schemas.microsoft.com/office/drawing/2014/main" id="{E3379E79-47AC-476F-89B1-895C970B8288}"/>
              </a:ext>
            </a:extLst>
          </p:cNvPr>
          <p:cNvCxnSpPr>
            <a:stCxn id="2" idx="7"/>
            <a:endCxn id="8" idx="0"/>
          </p:cNvCxnSpPr>
          <p:nvPr/>
        </p:nvCxnSpPr>
        <p:spPr>
          <a:xfrm rot="16200000" flipH="1">
            <a:off x="3589643" y="1341764"/>
            <a:ext cx="384666" cy="2039030"/>
          </a:xfrm>
          <a:prstGeom prst="curvedConnector3">
            <a:avLst>
              <a:gd name="adj1" fmla="val -96477"/>
            </a:avLst>
          </a:prstGeom>
          <a:ln w="12700">
            <a:solidFill>
              <a:srgbClr val="ED6723"/>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curvado 20">
            <a:extLst>
              <a:ext uri="{FF2B5EF4-FFF2-40B4-BE49-F238E27FC236}">
                <a16:creationId xmlns:a16="http://schemas.microsoft.com/office/drawing/2014/main" id="{A076482E-C784-489B-8BB6-EEE4876370F6}"/>
              </a:ext>
            </a:extLst>
          </p:cNvPr>
          <p:cNvCxnSpPr>
            <a:stCxn id="3" idx="1"/>
            <a:endCxn id="9" idx="0"/>
          </p:cNvCxnSpPr>
          <p:nvPr/>
        </p:nvCxnSpPr>
        <p:spPr>
          <a:xfrm rot="16200000" flipH="1" flipV="1">
            <a:off x="7744812" y="1343350"/>
            <a:ext cx="340216" cy="2080307"/>
          </a:xfrm>
          <a:prstGeom prst="curvedConnector3">
            <a:avLst>
              <a:gd name="adj1" fmla="val -109082"/>
            </a:avLst>
          </a:prstGeom>
          <a:ln w="12700">
            <a:solidFill>
              <a:srgbClr val="ED6723"/>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1">
            <a:extLst>
              <a:ext uri="{FF2B5EF4-FFF2-40B4-BE49-F238E27FC236}">
                <a16:creationId xmlns:a16="http://schemas.microsoft.com/office/drawing/2014/main" id="{66552D35-F35E-4F22-BEB5-2900DE3A8693}"/>
              </a:ext>
            </a:extLst>
          </p:cNvPr>
          <p:cNvSpPr txBox="1"/>
          <p:nvPr/>
        </p:nvSpPr>
        <p:spPr>
          <a:xfrm>
            <a:off x="641545" y="417152"/>
            <a:ext cx="1080274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Acoplamiento oportunidad – solución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cliente – producto/servicio</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Tree>
    <p:extLst>
      <p:ext uri="{BB962C8B-B14F-4D97-AF65-F5344CB8AC3E}">
        <p14:creationId xmlns:p14="http://schemas.microsoft.com/office/powerpoint/2010/main" val="8348877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Título"/>
          <p:cNvSpPr>
            <a:spLocks noGrp="1"/>
          </p:cNvSpPr>
          <p:nvPr>
            <p:ph type="title" idx="4294967295"/>
          </p:nvPr>
        </p:nvSpPr>
        <p:spPr>
          <a:xfrm>
            <a:off x="695325" y="549276"/>
            <a:ext cx="10515600" cy="551938"/>
          </a:xfrm>
          <a:prstGeom prst="rect">
            <a:avLst/>
          </a:prstGeom>
        </p:spPr>
        <p:txBody>
          <a:bodyPr vert="horz" lIns="91440" tIns="45720" rIns="91440" bIns="45720" rtlCol="0" anchor="ctr">
            <a:noAutofit/>
          </a:bodyPr>
          <a:lstStyle>
            <a:lvl1pPr algn="l" defTabSz="914446"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n-US"/>
              <a:t>Click to edit Master title style</a:t>
            </a:r>
            <a:endParaRPr lang="es-CL" sz="2400" dirty="0"/>
          </a:p>
        </p:txBody>
      </p:sp>
      <p:sp>
        <p:nvSpPr>
          <p:cNvPr id="21515" name="Rectangle 3"/>
          <p:cNvSpPr>
            <a:spLocks noChangeArrowheads="1"/>
          </p:cNvSpPr>
          <p:nvPr/>
        </p:nvSpPr>
        <p:spPr bwMode="auto">
          <a:xfrm>
            <a:off x="762000" y="3961333"/>
            <a:ext cx="10668000" cy="182848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7446" tIns="53723" rIns="107446" bIns="53723"/>
          <a:lstStyle/>
          <a:p>
            <a:pPr marL="264882" marR="0" lvl="0" indent="-264882" algn="l" defTabSz="1074534" rtl="0" eaLnBrk="1" fontAlgn="auto" latinLnBrk="0" hangingPunct="1">
              <a:lnSpc>
                <a:spcPct val="100000"/>
              </a:lnSpc>
              <a:spcBef>
                <a:spcPct val="20000"/>
              </a:spcBef>
              <a:spcAft>
                <a:spcPts val="0"/>
              </a:spcAft>
              <a:buClrTx/>
              <a:buSzTx/>
              <a:buFontTx/>
              <a:buNone/>
              <a:tabLst/>
              <a:defRPr/>
            </a:pPr>
            <a:r>
              <a:rPr kumimoji="0" lang="es-ES" sz="1800" b="1" i="1" u="none" strike="noStrike" kern="1200" cap="none" spc="0" normalizeH="0" baseline="0" noProof="0" dirty="0">
                <a:ln>
                  <a:noFill/>
                </a:ln>
                <a:solidFill>
                  <a:prstClr val="black"/>
                </a:solidFill>
                <a:effectLst/>
                <a:uLnTx/>
                <a:uFillTx/>
                <a:latin typeface="Montserrat"/>
                <a:ea typeface="+mn-ea"/>
                <a:cs typeface="+mn-cs"/>
                <a:sym typeface="Gill Sans" charset="0"/>
              </a:rPr>
              <a:t>¿Cuáles son algunas de las fallas potenciales de este modelo para una </a:t>
            </a:r>
            <a:r>
              <a:rPr kumimoji="0" lang="es-ES" sz="1800" b="1" i="1" u="none" strike="noStrike" kern="1200" cap="none" spc="0" normalizeH="0" baseline="0" noProof="0" dirty="0" err="1">
                <a:ln>
                  <a:noFill/>
                </a:ln>
                <a:solidFill>
                  <a:prstClr val="black"/>
                </a:solidFill>
                <a:effectLst/>
                <a:uLnTx/>
                <a:uFillTx/>
                <a:latin typeface="Montserrat"/>
                <a:ea typeface="+mn-ea"/>
                <a:cs typeface="+mn-cs"/>
                <a:sym typeface="Gill Sans" charset="0"/>
              </a:rPr>
              <a:t>start</a:t>
            </a:r>
            <a:r>
              <a:rPr kumimoji="0" lang="es-ES" sz="1800" b="1" i="1" u="none" strike="noStrike" kern="1200" cap="none" spc="0" normalizeH="0" baseline="0" noProof="0" dirty="0">
                <a:ln>
                  <a:noFill/>
                </a:ln>
                <a:solidFill>
                  <a:prstClr val="black"/>
                </a:solidFill>
                <a:effectLst/>
                <a:uLnTx/>
                <a:uFillTx/>
                <a:latin typeface="Montserrat"/>
                <a:ea typeface="+mn-ea"/>
                <a:cs typeface="+mn-cs"/>
                <a:sym typeface="Gill Sans" charset="0"/>
              </a:rPr>
              <a:t>-up?</a:t>
            </a:r>
          </a:p>
          <a:p>
            <a:pPr marL="264882" marR="0" lvl="0" indent="-264882" algn="l" defTabSz="1074534" rtl="0" eaLnBrk="1" fontAlgn="auto" latinLnBrk="0" hangingPunct="1">
              <a:lnSpc>
                <a:spcPct val="100000"/>
              </a:lnSpc>
              <a:spcBef>
                <a:spcPct val="20000"/>
              </a:spcBef>
              <a:spcAft>
                <a:spcPts val="0"/>
              </a:spcAft>
              <a:buClrTx/>
              <a:buSzTx/>
              <a:buFont typeface="Arial" pitchFamily="34" charset="0"/>
              <a:buChar char="•"/>
              <a:tabLst/>
              <a:defRPr/>
            </a:pPr>
            <a:r>
              <a:rPr kumimoji="0" lang="es-ES" sz="1800" b="0" i="0" u="none" strike="noStrike" kern="1200" cap="none" spc="0" normalizeH="0" baseline="0" noProof="0" dirty="0">
                <a:ln>
                  <a:noFill/>
                </a:ln>
                <a:solidFill>
                  <a:prstClr val="black"/>
                </a:solidFill>
                <a:effectLst/>
                <a:uLnTx/>
                <a:uFillTx/>
                <a:latin typeface="Montserrat"/>
                <a:ea typeface="+mn-ea"/>
                <a:cs typeface="+mn-cs"/>
                <a:sym typeface="Gill Sans" charset="0"/>
              </a:rPr>
              <a:t>La falta de entendimiento del cliente:</a:t>
            </a:r>
          </a:p>
          <a:p>
            <a:pPr marL="802166" marR="0" lvl="1" indent="-264882" algn="l" defTabSz="1074534" rtl="0" eaLnBrk="1" fontAlgn="auto" latinLnBrk="0" hangingPunct="1">
              <a:lnSpc>
                <a:spcPct val="100000"/>
              </a:lnSpc>
              <a:spcBef>
                <a:spcPct val="20000"/>
              </a:spcBef>
              <a:spcAft>
                <a:spcPts val="0"/>
              </a:spcAft>
              <a:buClrTx/>
              <a:buSzTx/>
              <a:buFont typeface="Wingdings" pitchFamily="2" charset="2"/>
              <a:buChar char="ü"/>
              <a:tabLst/>
              <a:defRPr/>
            </a:pPr>
            <a:r>
              <a:rPr kumimoji="0" lang="es-ES" sz="1800" b="0" i="0" u="none" strike="noStrike" kern="1200" cap="none" spc="0" normalizeH="0" baseline="0" noProof="0" dirty="0">
                <a:ln>
                  <a:noFill/>
                </a:ln>
                <a:solidFill>
                  <a:prstClr val="black"/>
                </a:solidFill>
                <a:effectLst/>
                <a:uLnTx/>
                <a:uFillTx/>
                <a:latin typeface="Montserrat"/>
                <a:ea typeface="+mn-ea"/>
                <a:cs typeface="+mn-cs"/>
                <a:sym typeface="Gill Sans" charset="0"/>
              </a:rPr>
              <a:t>¿Quiénes son ellos?</a:t>
            </a:r>
          </a:p>
          <a:p>
            <a:pPr marL="802166" marR="0" lvl="1" indent="-264882" algn="l" defTabSz="1074534" rtl="0" eaLnBrk="1" fontAlgn="auto" latinLnBrk="0" hangingPunct="1">
              <a:lnSpc>
                <a:spcPct val="100000"/>
              </a:lnSpc>
              <a:spcBef>
                <a:spcPct val="20000"/>
              </a:spcBef>
              <a:spcAft>
                <a:spcPts val="0"/>
              </a:spcAft>
              <a:buClrTx/>
              <a:buSzTx/>
              <a:buFont typeface="Wingdings" pitchFamily="2" charset="2"/>
              <a:buChar char="ü"/>
              <a:tabLst/>
              <a:defRPr/>
            </a:pPr>
            <a:r>
              <a:rPr kumimoji="0" lang="es-ES" sz="1800" b="0" i="0" u="none" strike="noStrike" kern="1200" cap="none" spc="0" normalizeH="0" baseline="0" noProof="0" dirty="0">
                <a:ln>
                  <a:noFill/>
                </a:ln>
                <a:solidFill>
                  <a:prstClr val="black"/>
                </a:solidFill>
                <a:effectLst/>
                <a:uLnTx/>
                <a:uFillTx/>
                <a:latin typeface="Montserrat"/>
                <a:ea typeface="+mn-ea"/>
                <a:cs typeface="+mn-cs"/>
                <a:sym typeface="Gill Sans" charset="0"/>
              </a:rPr>
              <a:t>¿Por qué quieren el producto?</a:t>
            </a:r>
          </a:p>
          <a:p>
            <a:pPr marL="264882" marR="0" lvl="0" indent="-264882" algn="l" defTabSz="1074534" rtl="0" eaLnBrk="1" fontAlgn="auto" latinLnBrk="0" hangingPunct="1">
              <a:lnSpc>
                <a:spcPct val="100000"/>
              </a:lnSpc>
              <a:spcBef>
                <a:spcPct val="20000"/>
              </a:spcBef>
              <a:spcAft>
                <a:spcPts val="0"/>
              </a:spcAft>
              <a:buClrTx/>
              <a:buSzTx/>
              <a:buFont typeface="Arial" pitchFamily="34" charset="0"/>
              <a:buChar char="•"/>
              <a:tabLst/>
              <a:defRPr/>
            </a:pPr>
            <a:r>
              <a:rPr kumimoji="0" lang="es-ES" sz="1800" b="0" i="0" u="none" strike="noStrike" kern="1200" cap="none" spc="0" normalizeH="0" baseline="0" noProof="0" dirty="0">
                <a:ln>
                  <a:noFill/>
                </a:ln>
                <a:solidFill>
                  <a:prstClr val="black"/>
                </a:solidFill>
                <a:effectLst/>
                <a:uLnTx/>
                <a:uFillTx/>
                <a:latin typeface="Montserrat"/>
                <a:ea typeface="+mn-ea"/>
                <a:cs typeface="+mn-cs"/>
                <a:sym typeface="Gill Sans" charset="0"/>
              </a:rPr>
              <a:t>La falta de un modelo viable, financieramente sostenible</a:t>
            </a:r>
            <a:endParaRPr kumimoji="0" lang="en-US" sz="1800" b="0" i="0" u="none" strike="noStrike" kern="1200" cap="none" spc="0" normalizeH="0" baseline="0" noProof="0" dirty="0">
              <a:ln>
                <a:noFill/>
              </a:ln>
              <a:solidFill>
                <a:prstClr val="black"/>
              </a:solidFill>
              <a:effectLst/>
              <a:uLnTx/>
              <a:uFillTx/>
              <a:latin typeface="Montserrat"/>
              <a:ea typeface="+mn-ea"/>
              <a:cs typeface="+mn-cs"/>
              <a:sym typeface="Gill Sans" charset="0"/>
            </a:endParaRPr>
          </a:p>
        </p:txBody>
      </p:sp>
      <p:sp>
        <p:nvSpPr>
          <p:cNvPr id="7" name="Rectángulo: esquinas redondeadas 6">
            <a:extLst>
              <a:ext uri="{FF2B5EF4-FFF2-40B4-BE49-F238E27FC236}">
                <a16:creationId xmlns:a16="http://schemas.microsoft.com/office/drawing/2014/main" id="{229E47F3-77BD-4BE6-9A87-8996B6AF1567}"/>
              </a:ext>
            </a:extLst>
          </p:cNvPr>
          <p:cNvSpPr/>
          <p:nvPr/>
        </p:nvSpPr>
        <p:spPr>
          <a:xfrm>
            <a:off x="1516409" y="1715896"/>
            <a:ext cx="2041545" cy="600544"/>
          </a:xfrm>
          <a:prstGeom prst="roundRect">
            <a:avLst/>
          </a:prstGeom>
          <a:solidFill>
            <a:srgbClr val="158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white"/>
                </a:solidFill>
                <a:effectLst/>
                <a:uLnTx/>
                <a:uFillTx/>
                <a:latin typeface="Montserrat"/>
                <a:ea typeface="+mn-ea"/>
                <a:cs typeface="+mn-cs"/>
                <a:sym typeface="Gill Sans" charset="0"/>
              </a:rPr>
              <a:t>Concepto / Semilla</a:t>
            </a:r>
          </a:p>
        </p:txBody>
      </p:sp>
      <p:sp>
        <p:nvSpPr>
          <p:cNvPr id="8" name="Rectángulo: esquinas redondeadas 7">
            <a:extLst>
              <a:ext uri="{FF2B5EF4-FFF2-40B4-BE49-F238E27FC236}">
                <a16:creationId xmlns:a16="http://schemas.microsoft.com/office/drawing/2014/main" id="{E7D7B824-7FF1-4251-A7EB-D469F1D5C982}"/>
              </a:ext>
            </a:extLst>
          </p:cNvPr>
          <p:cNvSpPr/>
          <p:nvPr/>
        </p:nvSpPr>
        <p:spPr>
          <a:xfrm>
            <a:off x="3874721" y="2523308"/>
            <a:ext cx="2041545" cy="600544"/>
          </a:xfrm>
          <a:prstGeom prst="roundRect">
            <a:avLst/>
          </a:prstGeom>
          <a:solidFill>
            <a:srgbClr val="158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white"/>
                </a:solidFill>
                <a:effectLst/>
                <a:uLnTx/>
                <a:uFillTx/>
                <a:latin typeface="Montserrat"/>
                <a:ea typeface="+mn-ea"/>
                <a:cs typeface="+mn-cs"/>
                <a:sym typeface="Gill Sans" charset="0"/>
              </a:rPr>
              <a:t>Desarrollo de Producto</a:t>
            </a:r>
          </a:p>
        </p:txBody>
      </p:sp>
      <p:sp>
        <p:nvSpPr>
          <p:cNvPr id="9" name="Rectángulo: esquinas redondeadas 8">
            <a:extLst>
              <a:ext uri="{FF2B5EF4-FFF2-40B4-BE49-F238E27FC236}">
                <a16:creationId xmlns:a16="http://schemas.microsoft.com/office/drawing/2014/main" id="{A0D9CB55-AEB9-4B54-9579-5396761B3996}"/>
              </a:ext>
            </a:extLst>
          </p:cNvPr>
          <p:cNvSpPr/>
          <p:nvPr/>
        </p:nvSpPr>
        <p:spPr>
          <a:xfrm>
            <a:off x="6182195" y="1715896"/>
            <a:ext cx="2041545" cy="600544"/>
          </a:xfrm>
          <a:prstGeom prst="roundRect">
            <a:avLst/>
          </a:prstGeom>
          <a:solidFill>
            <a:srgbClr val="158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white"/>
                </a:solidFill>
                <a:effectLst/>
                <a:uLnTx/>
                <a:uFillTx/>
                <a:latin typeface="Montserrat"/>
                <a:ea typeface="+mn-ea"/>
                <a:cs typeface="+mn-cs"/>
                <a:sym typeface="Gill Sans" charset="0"/>
              </a:rPr>
              <a:t>Alfa / Beta Test</a:t>
            </a:r>
          </a:p>
        </p:txBody>
      </p:sp>
      <p:sp>
        <p:nvSpPr>
          <p:cNvPr id="10" name="Rectángulo: esquinas redondeadas 9">
            <a:extLst>
              <a:ext uri="{FF2B5EF4-FFF2-40B4-BE49-F238E27FC236}">
                <a16:creationId xmlns:a16="http://schemas.microsoft.com/office/drawing/2014/main" id="{F6CA1640-3B1A-4D70-A2AB-4D17FE708238}"/>
              </a:ext>
            </a:extLst>
          </p:cNvPr>
          <p:cNvSpPr/>
          <p:nvPr/>
        </p:nvSpPr>
        <p:spPr>
          <a:xfrm>
            <a:off x="8558100" y="2523308"/>
            <a:ext cx="2041545" cy="600544"/>
          </a:xfrm>
          <a:prstGeom prst="roundRect">
            <a:avLst/>
          </a:prstGeom>
          <a:solidFill>
            <a:srgbClr val="158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white"/>
                </a:solidFill>
                <a:effectLst/>
                <a:uLnTx/>
                <a:uFillTx/>
                <a:latin typeface="Montserrat"/>
                <a:ea typeface="+mn-ea"/>
                <a:cs typeface="+mn-cs"/>
                <a:sym typeface="Gill Sans" charset="0"/>
              </a:rPr>
              <a:t>Lanzamiento / 1er Embarque</a:t>
            </a:r>
          </a:p>
        </p:txBody>
      </p:sp>
      <p:cxnSp>
        <p:nvCxnSpPr>
          <p:cNvPr id="11" name="Conector recto de flecha 10">
            <a:extLst>
              <a:ext uri="{FF2B5EF4-FFF2-40B4-BE49-F238E27FC236}">
                <a16:creationId xmlns:a16="http://schemas.microsoft.com/office/drawing/2014/main" id="{E90DFF38-D5AB-43C3-BD6C-571BC46C9E86}"/>
              </a:ext>
            </a:extLst>
          </p:cNvPr>
          <p:cNvCxnSpPr>
            <a:stCxn id="7" idx="2"/>
            <a:endCxn id="8" idx="1"/>
          </p:cNvCxnSpPr>
          <p:nvPr/>
        </p:nvCxnSpPr>
        <p:spPr>
          <a:xfrm>
            <a:off x="2537182" y="2316440"/>
            <a:ext cx="1337539" cy="507140"/>
          </a:xfrm>
          <a:prstGeom prst="straightConnector1">
            <a:avLst/>
          </a:prstGeom>
          <a:ln>
            <a:solidFill>
              <a:srgbClr val="0070AA"/>
            </a:solidFill>
            <a:tailEnd type="triangle"/>
          </a:ln>
        </p:spPr>
        <p:style>
          <a:lnRef idx="1">
            <a:schemeClr val="accent2"/>
          </a:lnRef>
          <a:fillRef idx="0">
            <a:schemeClr val="accent2"/>
          </a:fillRef>
          <a:effectRef idx="0">
            <a:schemeClr val="accent2"/>
          </a:effectRef>
          <a:fontRef idx="minor">
            <a:schemeClr val="tx1"/>
          </a:fontRef>
        </p:style>
      </p:cxnSp>
      <p:cxnSp>
        <p:nvCxnSpPr>
          <p:cNvPr id="12" name="Conector recto de flecha 11">
            <a:extLst>
              <a:ext uri="{FF2B5EF4-FFF2-40B4-BE49-F238E27FC236}">
                <a16:creationId xmlns:a16="http://schemas.microsoft.com/office/drawing/2014/main" id="{9E7DF3B2-465B-4060-8E1D-6074573CE8D9}"/>
              </a:ext>
            </a:extLst>
          </p:cNvPr>
          <p:cNvCxnSpPr>
            <a:stCxn id="8" idx="0"/>
            <a:endCxn id="9" idx="1"/>
          </p:cNvCxnSpPr>
          <p:nvPr/>
        </p:nvCxnSpPr>
        <p:spPr>
          <a:xfrm flipV="1">
            <a:off x="4895494" y="2016168"/>
            <a:ext cx="1286701" cy="507140"/>
          </a:xfrm>
          <a:prstGeom prst="straightConnector1">
            <a:avLst/>
          </a:prstGeom>
          <a:ln>
            <a:solidFill>
              <a:srgbClr val="0070AA"/>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9A66B91F-69B3-41D7-8DD0-44AC5BC976DB}"/>
              </a:ext>
            </a:extLst>
          </p:cNvPr>
          <p:cNvCxnSpPr>
            <a:cxnSpLocks/>
            <a:stCxn id="9" idx="2"/>
            <a:endCxn id="10" idx="1"/>
          </p:cNvCxnSpPr>
          <p:nvPr/>
        </p:nvCxnSpPr>
        <p:spPr>
          <a:xfrm>
            <a:off x="7202968" y="2316440"/>
            <a:ext cx="1355132" cy="507140"/>
          </a:xfrm>
          <a:prstGeom prst="straightConnector1">
            <a:avLst/>
          </a:prstGeom>
          <a:ln>
            <a:solidFill>
              <a:srgbClr val="0070AA"/>
            </a:solidFill>
            <a:tailEnd type="triangle"/>
          </a:ln>
        </p:spPr>
        <p:style>
          <a:lnRef idx="1">
            <a:schemeClr val="accent2"/>
          </a:lnRef>
          <a:fillRef idx="0">
            <a:schemeClr val="accent2"/>
          </a:fillRef>
          <a:effectRef idx="0">
            <a:schemeClr val="accent2"/>
          </a:effectRef>
          <a:fontRef idx="minor">
            <a:schemeClr val="tx1"/>
          </a:fontRef>
        </p:style>
      </p:cxnSp>
      <p:sp>
        <p:nvSpPr>
          <p:cNvPr id="14" name="CuadroTexto 13">
            <a:extLst>
              <a:ext uri="{FF2B5EF4-FFF2-40B4-BE49-F238E27FC236}">
                <a16:creationId xmlns:a16="http://schemas.microsoft.com/office/drawing/2014/main" id="{CA7BA408-7D4F-4883-A34E-96B9509D9A2D}"/>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Fuente: </a:t>
            </a:r>
            <a:r>
              <a:rPr kumimoji="0" lang="es-CL" sz="1000" b="0" i="0" u="none" strike="noStrike" kern="1200" cap="none" spc="0" normalizeH="0" baseline="0" noProof="0" dirty="0" err="1">
                <a:ln>
                  <a:noFill/>
                </a:ln>
                <a:solidFill>
                  <a:prstClr val="black"/>
                </a:solidFill>
                <a:effectLst/>
                <a:uLnTx/>
                <a:uFillTx/>
                <a:latin typeface="Montserrat" panose="00000500000000000000" pitchFamily="2" charset="0"/>
                <a:ea typeface="+mn-ea"/>
                <a:cs typeface="+mn-cs"/>
              </a:rPr>
              <a:t>Blank</a:t>
            </a:r>
            <a:r>
              <a:rPr kumimoji="0" lang="es-CL" sz="10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S. (2006)</a:t>
            </a:r>
          </a:p>
        </p:txBody>
      </p:sp>
    </p:spTree>
    <p:extLst>
      <p:ext uri="{BB962C8B-B14F-4D97-AF65-F5344CB8AC3E}">
        <p14:creationId xmlns:p14="http://schemas.microsoft.com/office/powerpoint/2010/main" val="1788729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9" name="Rectangle 3"/>
          <p:cNvSpPr>
            <a:spLocks noChangeArrowheads="1"/>
          </p:cNvSpPr>
          <p:nvPr/>
        </p:nvSpPr>
        <p:spPr bwMode="auto">
          <a:xfrm>
            <a:off x="663218" y="3568325"/>
            <a:ext cx="10668000" cy="182848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7446" tIns="53723" rIns="107446" bIns="53723"/>
          <a:lstStyle/>
          <a:p>
            <a:pPr marL="264882" marR="0" lvl="0" indent="-264882" algn="l" defTabSz="1074534" rtl="0" eaLnBrk="1" fontAlgn="auto" latinLnBrk="0" hangingPunct="1">
              <a:lnSpc>
                <a:spcPct val="114000"/>
              </a:lnSpc>
              <a:spcBef>
                <a:spcPct val="20000"/>
              </a:spcBef>
              <a:spcAft>
                <a:spcPts val="0"/>
              </a:spcAft>
              <a:buClrTx/>
              <a:buSzTx/>
              <a:buFontTx/>
              <a:buNone/>
              <a:tabLst/>
              <a:defRPr/>
            </a:pPr>
            <a:r>
              <a:rPr kumimoji="0" lang="es-ES" sz="1800" b="1" i="1" u="none" strike="noStrike" kern="1200" cap="none" spc="0" normalizeH="0" baseline="0" noProof="0" dirty="0">
                <a:ln>
                  <a:noFill/>
                </a:ln>
                <a:solidFill>
                  <a:prstClr val="black"/>
                </a:solidFill>
                <a:effectLst/>
                <a:uLnTx/>
                <a:uFillTx/>
                <a:latin typeface="Montserrat"/>
                <a:ea typeface="+mn-ea"/>
                <a:cs typeface="+mn-cs"/>
                <a:sym typeface="Gill Sans" charset="0"/>
              </a:rPr>
              <a:t>¿Cuáles son algunos de los puntos fuertes del </a:t>
            </a:r>
            <a:r>
              <a:rPr kumimoji="0" lang="es-ES" sz="1800" b="1" i="1" u="none" strike="noStrike" kern="1200" cap="none" spc="0" normalizeH="0" baseline="0" noProof="0" dirty="0">
                <a:ln>
                  <a:noFill/>
                </a:ln>
                <a:solidFill>
                  <a:srgbClr val="E33B1F"/>
                </a:solidFill>
                <a:effectLst/>
                <a:uLnTx/>
                <a:uFillTx/>
                <a:latin typeface="Montserrat"/>
                <a:ea typeface="+mn-ea"/>
                <a:cs typeface="+mn-cs"/>
                <a:sym typeface="Gill Sans" charset="0"/>
              </a:rPr>
              <a:t>modelo de desarrollo del cliente</a:t>
            </a:r>
            <a:r>
              <a:rPr kumimoji="0" lang="es-ES" sz="1800" b="1" i="1" u="none" strike="noStrike" kern="1200" cap="none" spc="0" normalizeH="0" baseline="0" noProof="0" dirty="0">
                <a:ln>
                  <a:noFill/>
                </a:ln>
                <a:solidFill>
                  <a:prstClr val="black"/>
                </a:solidFill>
                <a:effectLst/>
                <a:uLnTx/>
                <a:uFillTx/>
                <a:latin typeface="Montserrat"/>
                <a:ea typeface="+mn-ea"/>
                <a:cs typeface="+mn-cs"/>
                <a:sym typeface="Gill Sans" charset="0"/>
              </a:rPr>
              <a:t>?</a:t>
            </a:r>
          </a:p>
          <a:p>
            <a:pPr marL="264882" marR="0" lvl="0" indent="-264882" algn="l" defTabSz="1074534" rtl="0" eaLnBrk="1" fontAlgn="auto" latinLnBrk="0" hangingPunct="1">
              <a:lnSpc>
                <a:spcPct val="114000"/>
              </a:lnSpc>
              <a:spcBef>
                <a:spcPct val="20000"/>
              </a:spcBef>
              <a:spcAft>
                <a:spcPts val="0"/>
              </a:spcAft>
              <a:buClrTx/>
              <a:buSzTx/>
              <a:buFont typeface="Arial" pitchFamily="34" charset="0"/>
              <a:buChar char="•"/>
              <a:tabLst/>
              <a:defRPr/>
            </a:pPr>
            <a:r>
              <a:rPr kumimoji="0" lang="es-ES" sz="1800" b="0" i="0" u="none" strike="noStrike" kern="1200" cap="none" spc="0" normalizeH="0" baseline="0" noProof="0" dirty="0">
                <a:ln>
                  <a:noFill/>
                </a:ln>
                <a:solidFill>
                  <a:prstClr val="black"/>
                </a:solidFill>
                <a:effectLst/>
                <a:uLnTx/>
                <a:uFillTx/>
                <a:latin typeface="Montserrat"/>
                <a:ea typeface="+mn-ea"/>
                <a:cs typeface="+mn-cs"/>
                <a:sym typeface="Gill Sans" charset="0"/>
              </a:rPr>
              <a:t>Reconoce y se basa en la realidad de un proceso iterativo (centrado en el descubrimiento y entendimiento)</a:t>
            </a:r>
          </a:p>
          <a:p>
            <a:pPr marL="264882" marR="0" lvl="0" indent="-264882" algn="l" defTabSz="1074534" rtl="0" eaLnBrk="1" fontAlgn="auto" latinLnBrk="0" hangingPunct="1">
              <a:lnSpc>
                <a:spcPct val="114000"/>
              </a:lnSpc>
              <a:spcBef>
                <a:spcPct val="20000"/>
              </a:spcBef>
              <a:spcAft>
                <a:spcPts val="0"/>
              </a:spcAft>
              <a:buClrTx/>
              <a:buSzTx/>
              <a:buFont typeface="Arial" pitchFamily="34" charset="0"/>
              <a:buChar char="•"/>
              <a:tabLst/>
              <a:defRPr/>
            </a:pPr>
            <a:r>
              <a:rPr kumimoji="0" lang="es-ES" sz="1800" b="0" i="0" u="none" strike="noStrike" kern="1200" cap="none" spc="0" normalizeH="0" baseline="0" noProof="0" dirty="0">
                <a:ln>
                  <a:noFill/>
                </a:ln>
                <a:solidFill>
                  <a:prstClr val="black"/>
                </a:solidFill>
                <a:effectLst/>
                <a:uLnTx/>
                <a:uFillTx/>
                <a:latin typeface="Montserrat"/>
                <a:ea typeface="+mn-ea"/>
                <a:cs typeface="+mn-cs"/>
                <a:sym typeface="Gill Sans" charset="0"/>
              </a:rPr>
              <a:t>Minimiza la velocidad de combustión del efectivo (hasta que la compañía tiene un modelo de negocio validado)</a:t>
            </a:r>
            <a:endParaRPr kumimoji="0" lang="en-US" sz="1600" b="0" i="0" u="none" strike="noStrike" kern="1200" cap="none" spc="0" normalizeH="0" baseline="0" noProof="0" dirty="0">
              <a:ln>
                <a:noFill/>
              </a:ln>
              <a:solidFill>
                <a:srgbClr val="595959"/>
              </a:solidFill>
              <a:effectLst/>
              <a:uLnTx/>
              <a:uFillTx/>
              <a:latin typeface="Montserrat"/>
              <a:ea typeface="+mn-ea"/>
              <a:cs typeface="+mn-cs"/>
              <a:sym typeface="Gill Sans" charset="0"/>
            </a:endParaRPr>
          </a:p>
        </p:txBody>
      </p:sp>
      <p:sp>
        <p:nvSpPr>
          <p:cNvPr id="19" name="Rectangle 3"/>
          <p:cNvSpPr>
            <a:spLocks noChangeArrowheads="1"/>
          </p:cNvSpPr>
          <p:nvPr/>
        </p:nvSpPr>
        <p:spPr bwMode="auto">
          <a:xfrm>
            <a:off x="695325" y="628002"/>
            <a:ext cx="10668000" cy="53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446" tIns="53723" rIns="107446" bIns="53723"/>
          <a:lstStyle/>
          <a:p>
            <a:pPr marL="264882" marR="0" lvl="0" indent="-264882" algn="l" defTabSz="1074534" rtl="0" eaLnBrk="1" fontAlgn="auto" latinLnBrk="0" hangingPunct="1">
              <a:lnSpc>
                <a:spcPct val="100000"/>
              </a:lnSpc>
              <a:spcBef>
                <a:spcPct val="20000"/>
              </a:spcBef>
              <a:spcAft>
                <a:spcPts val="0"/>
              </a:spcAft>
              <a:buClrTx/>
              <a:buSzTx/>
              <a:buFontTx/>
              <a:buNone/>
              <a:tabLst/>
              <a:defRPr/>
            </a:pPr>
            <a:r>
              <a:rPr kumimoji="0" lang="en-US" sz="2400" b="1" i="0" u="none" strike="noStrike" kern="1200" cap="none" spc="0" normalizeH="0" baseline="0" noProof="0" dirty="0">
                <a:ln>
                  <a:noFill/>
                </a:ln>
                <a:solidFill>
                  <a:srgbClr val="E33B1F"/>
                </a:solidFill>
                <a:effectLst/>
                <a:uLnTx/>
                <a:uFillTx/>
                <a:latin typeface="Montserrat ExtraBold"/>
                <a:ea typeface="+mn-ea"/>
                <a:cs typeface="+mn-cs"/>
                <a:sym typeface="Gill Sans" charset="0"/>
              </a:rPr>
              <a:t>MODELO DE DESARROLLO DE CLIENTES</a:t>
            </a:r>
            <a:r>
              <a:rPr kumimoji="0" lang="en-US" sz="2400" b="0" i="0" u="none" strike="noStrike" kern="1200" cap="none" spc="0" normalizeH="0" baseline="0" noProof="0" dirty="0">
                <a:ln>
                  <a:noFill/>
                </a:ln>
                <a:solidFill>
                  <a:srgbClr val="E33B1F"/>
                </a:solidFill>
                <a:effectLst/>
                <a:uLnTx/>
                <a:uFillTx/>
                <a:latin typeface="Montserrat ExtraBold"/>
                <a:ea typeface="+mn-ea"/>
                <a:cs typeface="+mn-cs"/>
                <a:sym typeface="Gill Sans" charset="0"/>
              </a:rPr>
              <a:t> </a:t>
            </a:r>
          </a:p>
        </p:txBody>
      </p:sp>
      <p:sp>
        <p:nvSpPr>
          <p:cNvPr id="3" name="Rectángulo: esquinas redondeadas 2">
            <a:extLst>
              <a:ext uri="{FF2B5EF4-FFF2-40B4-BE49-F238E27FC236}">
                <a16:creationId xmlns:a16="http://schemas.microsoft.com/office/drawing/2014/main" id="{44DF4D11-87C3-4B10-AA37-432099E19FC0}"/>
              </a:ext>
            </a:extLst>
          </p:cNvPr>
          <p:cNvSpPr/>
          <p:nvPr/>
        </p:nvSpPr>
        <p:spPr>
          <a:xfrm>
            <a:off x="1689456" y="1900571"/>
            <a:ext cx="2041545" cy="600544"/>
          </a:xfrm>
          <a:prstGeom prst="roundRect">
            <a:avLst/>
          </a:prstGeom>
          <a:solidFill>
            <a:srgbClr val="ED6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white"/>
                </a:solidFill>
                <a:effectLst/>
                <a:uLnTx/>
                <a:uFillTx/>
                <a:latin typeface="Montserrat"/>
                <a:ea typeface="+mn-ea"/>
                <a:cs typeface="+mn-cs"/>
                <a:sym typeface="Gill Sans" charset="0"/>
              </a:rPr>
              <a:t>Descubrimiento del cliente</a:t>
            </a:r>
          </a:p>
        </p:txBody>
      </p:sp>
      <p:sp>
        <p:nvSpPr>
          <p:cNvPr id="9" name="Rectángulo: esquinas redondeadas 8">
            <a:extLst>
              <a:ext uri="{FF2B5EF4-FFF2-40B4-BE49-F238E27FC236}">
                <a16:creationId xmlns:a16="http://schemas.microsoft.com/office/drawing/2014/main" id="{95C634EE-DB9C-48B7-AB73-82E817F9FF11}"/>
              </a:ext>
            </a:extLst>
          </p:cNvPr>
          <p:cNvSpPr/>
          <p:nvPr/>
        </p:nvSpPr>
        <p:spPr>
          <a:xfrm>
            <a:off x="4047768" y="2707983"/>
            <a:ext cx="2041545" cy="600544"/>
          </a:xfrm>
          <a:prstGeom prst="roundRect">
            <a:avLst/>
          </a:prstGeom>
          <a:solidFill>
            <a:srgbClr val="ED6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white"/>
                </a:solidFill>
                <a:effectLst/>
                <a:uLnTx/>
                <a:uFillTx/>
                <a:latin typeface="Montserrat"/>
                <a:ea typeface="+mn-ea"/>
                <a:cs typeface="+mn-cs"/>
                <a:sym typeface="Gill Sans" charset="0"/>
              </a:rPr>
              <a:t>Validación del cliente</a:t>
            </a:r>
          </a:p>
        </p:txBody>
      </p:sp>
      <p:sp>
        <p:nvSpPr>
          <p:cNvPr id="10" name="Rectángulo: esquinas redondeadas 9">
            <a:extLst>
              <a:ext uri="{FF2B5EF4-FFF2-40B4-BE49-F238E27FC236}">
                <a16:creationId xmlns:a16="http://schemas.microsoft.com/office/drawing/2014/main" id="{52DDBAF2-0F8C-4620-B0BD-1A2D9DF3D5AE}"/>
              </a:ext>
            </a:extLst>
          </p:cNvPr>
          <p:cNvSpPr/>
          <p:nvPr/>
        </p:nvSpPr>
        <p:spPr>
          <a:xfrm>
            <a:off x="6355242" y="1900571"/>
            <a:ext cx="2041545" cy="600544"/>
          </a:xfrm>
          <a:prstGeom prst="roundRect">
            <a:avLst/>
          </a:prstGeom>
          <a:solidFill>
            <a:srgbClr val="ED6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white"/>
                </a:solidFill>
                <a:effectLst/>
                <a:uLnTx/>
                <a:uFillTx/>
                <a:latin typeface="Montserrat"/>
                <a:ea typeface="+mn-ea"/>
                <a:cs typeface="+mn-cs"/>
                <a:sym typeface="Gill Sans" charset="0"/>
              </a:rPr>
              <a:t>Creación del cliente</a:t>
            </a:r>
          </a:p>
        </p:txBody>
      </p:sp>
      <p:sp>
        <p:nvSpPr>
          <p:cNvPr id="11" name="Rectángulo: esquinas redondeadas 10">
            <a:extLst>
              <a:ext uri="{FF2B5EF4-FFF2-40B4-BE49-F238E27FC236}">
                <a16:creationId xmlns:a16="http://schemas.microsoft.com/office/drawing/2014/main" id="{759F36EC-681C-4F71-8BE1-1AE09CDC349E}"/>
              </a:ext>
            </a:extLst>
          </p:cNvPr>
          <p:cNvSpPr/>
          <p:nvPr/>
        </p:nvSpPr>
        <p:spPr>
          <a:xfrm>
            <a:off x="8731147" y="2707983"/>
            <a:ext cx="2041545" cy="600544"/>
          </a:xfrm>
          <a:prstGeom prst="roundRect">
            <a:avLst/>
          </a:prstGeom>
          <a:solidFill>
            <a:srgbClr val="ED6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CL" sz="1600" b="0" i="0" u="none" strike="noStrike" kern="1200" cap="none" spc="0" normalizeH="0" baseline="0" noProof="0" dirty="0">
                <a:ln>
                  <a:noFill/>
                </a:ln>
                <a:solidFill>
                  <a:prstClr val="white"/>
                </a:solidFill>
                <a:effectLst/>
                <a:uLnTx/>
                <a:uFillTx/>
                <a:latin typeface="Montserrat"/>
                <a:ea typeface="+mn-ea"/>
                <a:cs typeface="+mn-cs"/>
                <a:sym typeface="Gill Sans" charset="0"/>
              </a:rPr>
              <a:t>Formación de la empresa</a:t>
            </a:r>
          </a:p>
        </p:txBody>
      </p:sp>
      <p:cxnSp>
        <p:nvCxnSpPr>
          <p:cNvPr id="5" name="Conector recto de flecha 4">
            <a:extLst>
              <a:ext uri="{FF2B5EF4-FFF2-40B4-BE49-F238E27FC236}">
                <a16:creationId xmlns:a16="http://schemas.microsoft.com/office/drawing/2014/main" id="{A22CC1AA-4CF4-4697-9E1C-67D795713E63}"/>
              </a:ext>
            </a:extLst>
          </p:cNvPr>
          <p:cNvCxnSpPr>
            <a:stCxn id="3" idx="2"/>
            <a:endCxn id="9" idx="1"/>
          </p:cNvCxnSpPr>
          <p:nvPr/>
        </p:nvCxnSpPr>
        <p:spPr>
          <a:xfrm>
            <a:off x="2710229" y="2501115"/>
            <a:ext cx="1337539" cy="5071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 name="Conector recto de flecha 6">
            <a:extLst>
              <a:ext uri="{FF2B5EF4-FFF2-40B4-BE49-F238E27FC236}">
                <a16:creationId xmlns:a16="http://schemas.microsoft.com/office/drawing/2014/main" id="{17AA167B-DE28-4FE9-8DBF-4B394E764BF5}"/>
              </a:ext>
            </a:extLst>
          </p:cNvPr>
          <p:cNvCxnSpPr>
            <a:stCxn id="9" idx="0"/>
            <a:endCxn id="10" idx="1"/>
          </p:cNvCxnSpPr>
          <p:nvPr/>
        </p:nvCxnSpPr>
        <p:spPr>
          <a:xfrm flipV="1">
            <a:off x="5068541" y="2200843"/>
            <a:ext cx="1286701" cy="507140"/>
          </a:xfrm>
          <a:prstGeom prst="straightConnector1">
            <a:avLst/>
          </a:prstGeom>
          <a:ln>
            <a:solidFill>
              <a:srgbClr val="ED6723"/>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6D86FC49-ECC7-4EA4-AF82-D9D03F67307E}"/>
              </a:ext>
            </a:extLst>
          </p:cNvPr>
          <p:cNvCxnSpPr>
            <a:cxnSpLocks/>
            <a:stCxn id="10" idx="2"/>
            <a:endCxn id="11" idx="1"/>
          </p:cNvCxnSpPr>
          <p:nvPr/>
        </p:nvCxnSpPr>
        <p:spPr>
          <a:xfrm>
            <a:off x="7376015" y="2501115"/>
            <a:ext cx="1355132" cy="5071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 name="CuadroTexto 12">
            <a:extLst>
              <a:ext uri="{FF2B5EF4-FFF2-40B4-BE49-F238E27FC236}">
                <a16:creationId xmlns:a16="http://schemas.microsoft.com/office/drawing/2014/main" id="{8B792E5D-F4AF-4A32-BABC-EB82981DF980}"/>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Fuente: </a:t>
            </a:r>
            <a:r>
              <a:rPr kumimoji="0" lang="es-CL" sz="1000" b="0" i="0" u="none" strike="noStrike" kern="1200" cap="none" spc="0" normalizeH="0" baseline="0" noProof="0" dirty="0" err="1">
                <a:ln>
                  <a:noFill/>
                </a:ln>
                <a:solidFill>
                  <a:prstClr val="black"/>
                </a:solidFill>
                <a:effectLst/>
                <a:uLnTx/>
                <a:uFillTx/>
                <a:latin typeface="Montserrat" panose="00000500000000000000" pitchFamily="2" charset="0"/>
                <a:ea typeface="+mn-ea"/>
                <a:cs typeface="+mn-cs"/>
              </a:rPr>
              <a:t>Blank</a:t>
            </a:r>
            <a:r>
              <a:rPr kumimoji="0" lang="es-CL" sz="10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S. (2006)</a:t>
            </a:r>
          </a:p>
        </p:txBody>
      </p:sp>
    </p:spTree>
    <p:extLst>
      <p:ext uri="{BB962C8B-B14F-4D97-AF65-F5344CB8AC3E}">
        <p14:creationId xmlns:p14="http://schemas.microsoft.com/office/powerpoint/2010/main" val="31467945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7" y="482960"/>
            <a:ext cx="1101715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¿Qué es viable, repetible, escalable?</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7" y="1744444"/>
            <a:ext cx="4953001" cy="3785652"/>
          </a:xfrm>
          <a:prstGeom prst="rect">
            <a:avLst/>
          </a:prstGeom>
          <a:noFill/>
        </p:spPr>
        <p:txBody>
          <a:bodyPr wrap="square">
            <a:spAutoFit/>
          </a:bodyPr>
          <a:lstStyle/>
          <a:p>
            <a:pPr marR="0" lvl="0" algn="just" defTabSz="914400" rtl="0" eaLnBrk="1" fontAlgn="auto" latinLnBrk="0" hangingPunct="1">
              <a:lnSpc>
                <a:spcPct val="100000"/>
              </a:lnSpc>
              <a:spcBef>
                <a:spcPts val="0"/>
              </a:spcBef>
              <a:spcAft>
                <a:spcPts val="0"/>
              </a:spcAft>
              <a:buClrTx/>
              <a:buSzTx/>
              <a:tabLst/>
              <a:defRPr/>
            </a:pP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¿Cuáles son las grandes ventajas de este método? </a:t>
            </a:r>
            <a:r>
              <a:rPr lang="es-CL" sz="1600" dirty="0">
                <a:solidFill>
                  <a:srgbClr val="000000"/>
                </a:solidFill>
                <a:latin typeface="Avenir Next" panose="020B0503020202020204" pitchFamily="34" charset="0"/>
              </a:rPr>
              <a:t>Reconoce</a:t>
            </a: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 que el viaje de emprender es exploración, no existen certezas, y que las pruebas a baja escala pueden evitar grandes pérdidas.</a:t>
            </a:r>
          </a:p>
          <a:p>
            <a:pPr marR="0" lvl="0" algn="just" defTabSz="914400" rtl="0" eaLnBrk="1" fontAlgn="auto" latinLnBrk="0" hangingPunct="1">
              <a:lnSpc>
                <a:spcPct val="100000"/>
              </a:lnSpc>
              <a:spcBef>
                <a:spcPts val="0"/>
              </a:spcBef>
              <a:spcAft>
                <a:spcPts val="0"/>
              </a:spcAft>
              <a:buClrTx/>
              <a:buSzTx/>
              <a:tabLst/>
              <a:defRPr/>
            </a:pPr>
            <a:endPar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lang="es-CL" sz="1600" dirty="0">
                <a:solidFill>
                  <a:srgbClr val="000000"/>
                </a:solidFill>
                <a:latin typeface="Avenir Next" panose="020B0503020202020204" pitchFamily="34" charset="0"/>
              </a:rPr>
              <a:t>B</a:t>
            </a: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rinda aprendizajes (</a:t>
            </a:r>
            <a:r>
              <a:rPr kumimoji="0" lang="es-CL" sz="1600" b="0" i="0" u="none" strike="noStrike" kern="1200" cap="none" spc="0" normalizeH="0" baseline="0" noProof="0" dirty="0" err="1">
                <a:ln>
                  <a:noFill/>
                </a:ln>
                <a:solidFill>
                  <a:srgbClr val="000000"/>
                </a:solidFill>
                <a:effectLst/>
                <a:uLnTx/>
                <a:uFillTx/>
                <a:latin typeface="Avenir Next" panose="020B0503020202020204" pitchFamily="34" charset="0"/>
              </a:rPr>
              <a:t>insights</a:t>
            </a: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 y conocimientos para </a:t>
            </a:r>
            <a:r>
              <a:rPr kumimoji="0" lang="es-CL" sz="1600" b="1" i="0" u="none" strike="noStrike" kern="1200" cap="none" spc="0" normalizeH="0" baseline="0" noProof="0" dirty="0">
                <a:ln>
                  <a:noFill/>
                </a:ln>
                <a:solidFill>
                  <a:srgbClr val="000000"/>
                </a:solidFill>
                <a:effectLst/>
                <a:uLnTx/>
                <a:uFillTx/>
                <a:latin typeface="Avenir Next" panose="020B0503020202020204" pitchFamily="34" charset="0"/>
              </a:rPr>
              <a:t>entender  las necesidades de nuestros clientes</a:t>
            </a: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lang="es-CL" sz="1600" dirty="0">
                <a:solidFill>
                  <a:srgbClr val="000000"/>
                </a:solidFill>
                <a:latin typeface="Avenir Next" panose="020B0503020202020204" pitchFamily="34" charset="0"/>
              </a:rPr>
              <a:t>N</a:t>
            </a: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os ayuda a </a:t>
            </a:r>
            <a:r>
              <a:rPr kumimoji="0" lang="es-CL" sz="1600" b="1" i="0" u="none" strike="noStrike" kern="1200" cap="none" spc="0" normalizeH="0" baseline="0" noProof="0" dirty="0">
                <a:ln>
                  <a:noFill/>
                </a:ln>
                <a:solidFill>
                  <a:srgbClr val="000000"/>
                </a:solidFill>
                <a:effectLst/>
                <a:uLnTx/>
                <a:uFillTx/>
                <a:latin typeface="Avenir Next" panose="020B0503020202020204" pitchFamily="34" charset="0"/>
              </a:rPr>
              <a:t>mejorar las soluciones </a:t>
            </a: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que ofrecemos.</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lang="es-CL" sz="1600" dirty="0">
                <a:solidFill>
                  <a:srgbClr val="000000"/>
                </a:solidFill>
                <a:latin typeface="Avenir Next" panose="020B0503020202020204" pitchFamily="34" charset="0"/>
              </a:rPr>
              <a:t>N</a:t>
            </a: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os permite ver </a:t>
            </a:r>
            <a:r>
              <a:rPr kumimoji="0" lang="es-CL" sz="1600" b="1" i="0" u="none" strike="noStrike" kern="1200" cap="none" spc="0" normalizeH="0" baseline="0" noProof="0" dirty="0">
                <a:ln>
                  <a:noFill/>
                </a:ln>
                <a:solidFill>
                  <a:srgbClr val="000000"/>
                </a:solidFill>
                <a:effectLst/>
                <a:uLnTx/>
                <a:uFillTx/>
                <a:latin typeface="Avenir Next" panose="020B0503020202020204" pitchFamily="34" charset="0"/>
              </a:rPr>
              <a:t>si es que una idea es viable como negocio</a:t>
            </a: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 Si funciona en el mundo real.</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Porque permite </a:t>
            </a:r>
            <a:r>
              <a:rPr kumimoji="0" lang="es-CL" sz="1600" b="1" i="0" u="none" strike="noStrike" kern="1200" cap="none" spc="0" normalizeH="0" baseline="0" noProof="0" dirty="0">
                <a:ln>
                  <a:noFill/>
                </a:ln>
                <a:solidFill>
                  <a:srgbClr val="000000"/>
                </a:solidFill>
                <a:effectLst/>
                <a:uLnTx/>
                <a:uFillTx/>
                <a:latin typeface="Avenir Next" panose="020B0503020202020204" pitchFamily="34" charset="0"/>
              </a:rPr>
              <a:t>ahorrar dinero y recursos </a:t>
            </a: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al evitar que  desarrollemos productos que los clientes no  quieren.</a:t>
            </a:r>
          </a:p>
        </p:txBody>
      </p:sp>
      <p:sp>
        <p:nvSpPr>
          <p:cNvPr id="5" name="CuadroTexto 4">
            <a:extLst>
              <a:ext uri="{FF2B5EF4-FFF2-40B4-BE49-F238E27FC236}">
                <a16:creationId xmlns:a16="http://schemas.microsoft.com/office/drawing/2014/main" id="{1EC92EDC-4287-2780-E96B-D9E7C37D2AF8}"/>
              </a:ext>
            </a:extLst>
          </p:cNvPr>
          <p:cNvSpPr txBox="1"/>
          <p:nvPr/>
        </p:nvSpPr>
        <p:spPr>
          <a:xfrm>
            <a:off x="663218" y="6268361"/>
            <a:ext cx="2114618" cy="276999"/>
          </a:xfrm>
          <a:prstGeom prst="rect">
            <a:avLst/>
          </a:prstGeom>
          <a:noFill/>
        </p:spPr>
        <p:txBody>
          <a:bodyPr wrap="none" rtlCol="0">
            <a:spAutoFit/>
          </a:bodyPr>
          <a:lstStyle/>
          <a:p>
            <a:r>
              <a:rPr lang="es-CL" sz="1200" dirty="0">
                <a:latin typeface="Avenir Next" panose="020B0503020202020204" pitchFamily="34" charset="0"/>
              </a:rPr>
              <a:t>Fuente: Osterwalder (2018)</a:t>
            </a:r>
          </a:p>
        </p:txBody>
      </p:sp>
    </p:spTree>
    <p:extLst>
      <p:ext uri="{BB962C8B-B14F-4D97-AF65-F5344CB8AC3E}">
        <p14:creationId xmlns:p14="http://schemas.microsoft.com/office/powerpoint/2010/main" val="26915404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Rectangle 2" hidden="1"/>
          <p:cNvGraphicFramePr>
            <a:graphicFrameLocks/>
          </p:cNvGraphicFramePr>
          <p:nvPr>
            <p:custDataLst>
              <p:tags r:id="rId1"/>
            </p:custDataLst>
          </p:nvPr>
        </p:nvGraphicFramePr>
        <p:xfrm>
          <a:off x="24" y="642"/>
          <a:ext cx="194734" cy="158722"/>
        </p:xfrm>
        <a:graphic>
          <a:graphicData uri="http://schemas.openxmlformats.org/presentationml/2006/ole">
            <mc:AlternateContent xmlns:mc="http://schemas.openxmlformats.org/markup-compatibility/2006">
              <mc:Choice xmlns:v="urn:schemas-microsoft-com:vml" Requires="v">
                <p:oleObj r:id="rId4" imgW="0" imgH="0" progId="">
                  <p:embed/>
                </p:oleObj>
              </mc:Choice>
              <mc:Fallback>
                <p:oleObj r:id="rId4" imgW="0" imgH="0" progId="">
                  <p:embed/>
                  <p:pic>
                    <p:nvPicPr>
                      <p:cNvPr id="2867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4" y="642"/>
                        <a:ext cx="194734" cy="158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8 CuadroTexto"/>
          <p:cNvSpPr txBox="1"/>
          <p:nvPr/>
        </p:nvSpPr>
        <p:spPr>
          <a:xfrm>
            <a:off x="609757" y="1900416"/>
            <a:ext cx="2209523" cy="600938"/>
          </a:xfrm>
          <a:prstGeom prst="rect">
            <a:avLst/>
          </a:prstGeom>
          <a:solidFill>
            <a:srgbClr val="ED6723"/>
          </a:solidFill>
          <a:ln>
            <a:noFill/>
          </a:ln>
        </p:spPr>
        <p:style>
          <a:lnRef idx="1">
            <a:schemeClr val="accent1"/>
          </a:lnRef>
          <a:fillRef idx="3">
            <a:schemeClr val="accent1"/>
          </a:fillRef>
          <a:effectRef idx="2">
            <a:schemeClr val="accent1"/>
          </a:effectRef>
          <a:fontRef idx="minor">
            <a:schemeClr val="lt1"/>
          </a:fontRef>
        </p:style>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Montserrat"/>
                <a:ea typeface="+mn-ea"/>
                <a:cs typeface="+mn-cs"/>
                <a:sym typeface="Gill Sans" charset="0"/>
              </a:rPr>
              <a:t>DESCUBRIMIENTO</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Montserrat"/>
                <a:ea typeface="+mn-ea"/>
                <a:cs typeface="+mn-cs"/>
                <a:sym typeface="Gill Sans" charset="0"/>
              </a:rPr>
              <a:t>DEL CLIENTE</a:t>
            </a:r>
          </a:p>
        </p:txBody>
      </p:sp>
      <p:sp>
        <p:nvSpPr>
          <p:cNvPr id="10" name="9 CuadroTexto"/>
          <p:cNvSpPr txBox="1"/>
          <p:nvPr/>
        </p:nvSpPr>
        <p:spPr>
          <a:xfrm>
            <a:off x="3859853" y="1900416"/>
            <a:ext cx="1614809" cy="600938"/>
          </a:xfrm>
          <a:prstGeom prst="rect">
            <a:avLst/>
          </a:prstGeom>
          <a:solidFill>
            <a:srgbClr val="ED6723"/>
          </a:solidFill>
          <a:ln>
            <a:noFill/>
          </a:ln>
        </p:spPr>
        <p:style>
          <a:lnRef idx="1">
            <a:schemeClr val="accent1"/>
          </a:lnRef>
          <a:fillRef idx="3">
            <a:schemeClr val="accent1"/>
          </a:fillRef>
          <a:effectRef idx="2">
            <a:schemeClr val="accent1"/>
          </a:effectRef>
          <a:fontRef idx="minor">
            <a:schemeClr val="lt1"/>
          </a:fontRef>
        </p:style>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Montserrat"/>
                <a:ea typeface="+mn-ea"/>
                <a:cs typeface="+mn-cs"/>
                <a:sym typeface="Gill Sans" charset="0"/>
              </a:rPr>
              <a:t>VALIDACIÓN</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Montserrat"/>
                <a:ea typeface="+mn-ea"/>
                <a:cs typeface="+mn-cs"/>
                <a:sym typeface="Gill Sans" charset="0"/>
              </a:rPr>
              <a:t>DEL CLIENTE</a:t>
            </a:r>
          </a:p>
        </p:txBody>
      </p:sp>
      <p:sp>
        <p:nvSpPr>
          <p:cNvPr id="11" name="10 CuadroTexto"/>
          <p:cNvSpPr txBox="1"/>
          <p:nvPr/>
        </p:nvSpPr>
        <p:spPr>
          <a:xfrm>
            <a:off x="6812773" y="1900416"/>
            <a:ext cx="1614809" cy="600938"/>
          </a:xfrm>
          <a:prstGeom prst="rect">
            <a:avLst/>
          </a:prstGeom>
          <a:solidFill>
            <a:srgbClr val="ED6723"/>
          </a:solidFill>
          <a:ln>
            <a:noFill/>
          </a:ln>
        </p:spPr>
        <p:style>
          <a:lnRef idx="1">
            <a:schemeClr val="accent1"/>
          </a:lnRef>
          <a:fillRef idx="3">
            <a:schemeClr val="accent1"/>
          </a:fillRef>
          <a:effectRef idx="2">
            <a:schemeClr val="accent1"/>
          </a:effectRef>
          <a:fontRef idx="minor">
            <a:schemeClr val="lt1"/>
          </a:fontRef>
        </p:style>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Montserrat"/>
                <a:ea typeface="+mn-ea"/>
                <a:cs typeface="+mn-cs"/>
                <a:sym typeface="Gill Sans" charset="0"/>
              </a:rPr>
              <a:t>CREACIÓN</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Montserrat"/>
                <a:ea typeface="+mn-ea"/>
                <a:cs typeface="+mn-cs"/>
                <a:sym typeface="Gill Sans" charset="0"/>
              </a:rPr>
              <a:t>DEL CLIENTE</a:t>
            </a:r>
          </a:p>
        </p:txBody>
      </p:sp>
      <p:sp>
        <p:nvSpPr>
          <p:cNvPr id="12" name="11 CuadroTexto"/>
          <p:cNvSpPr txBox="1"/>
          <p:nvPr/>
        </p:nvSpPr>
        <p:spPr>
          <a:xfrm>
            <a:off x="9581830" y="1900416"/>
            <a:ext cx="1981897" cy="600938"/>
          </a:xfrm>
          <a:prstGeom prst="rect">
            <a:avLst/>
          </a:prstGeom>
          <a:solidFill>
            <a:srgbClr val="ED6723"/>
          </a:solidFill>
          <a:ln>
            <a:noFill/>
          </a:ln>
        </p:spPr>
        <p:style>
          <a:lnRef idx="1">
            <a:schemeClr val="accent1"/>
          </a:lnRef>
          <a:fillRef idx="3">
            <a:schemeClr val="accent1"/>
          </a:fillRef>
          <a:effectRef idx="2">
            <a:schemeClr val="accent1"/>
          </a:effectRef>
          <a:fontRef idx="minor">
            <a:schemeClr val="lt1"/>
          </a:fontRef>
        </p:style>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Montserrat"/>
                <a:ea typeface="+mn-ea"/>
                <a:cs typeface="+mn-cs"/>
                <a:sym typeface="Gill Sans" charset="0"/>
              </a:rPr>
              <a:t>FORMACIÓN </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Montserrat"/>
                <a:ea typeface="+mn-ea"/>
                <a:cs typeface="+mn-cs"/>
                <a:sym typeface="Gill Sans" charset="0"/>
              </a:rPr>
              <a:t>DE LA EMPRESA</a:t>
            </a:r>
          </a:p>
        </p:txBody>
      </p:sp>
      <p:sp>
        <p:nvSpPr>
          <p:cNvPr id="14" name="13 CuadroTexto"/>
          <p:cNvSpPr txBox="1"/>
          <p:nvPr/>
        </p:nvSpPr>
        <p:spPr>
          <a:xfrm>
            <a:off x="545655" y="2828946"/>
            <a:ext cx="2337764" cy="621584"/>
          </a:xfrm>
          <a:prstGeom prst="rect">
            <a:avLst/>
          </a:prstGeom>
          <a:noFill/>
        </p:spPr>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Ajuste (preliminar)</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Problema -Solución</a:t>
            </a:r>
          </a:p>
        </p:txBody>
      </p:sp>
      <p:sp>
        <p:nvSpPr>
          <p:cNvPr id="15" name="14 CuadroTexto"/>
          <p:cNvSpPr txBox="1"/>
          <p:nvPr/>
        </p:nvSpPr>
        <p:spPr>
          <a:xfrm>
            <a:off x="173743" y="3686039"/>
            <a:ext cx="3081557" cy="621584"/>
          </a:xfrm>
          <a:prstGeom prst="rect">
            <a:avLst/>
          </a:prstGeom>
          <a:noFill/>
        </p:spPr>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Propuesta  final de MVP </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1" u="none" strike="noStrike" kern="1200" cap="none" spc="0" normalizeH="0" baseline="0" noProof="0" dirty="0">
                <a:ln>
                  <a:noFill/>
                </a:ln>
                <a:solidFill>
                  <a:prstClr val="black"/>
                </a:solidFill>
                <a:effectLst/>
                <a:uLnTx/>
                <a:uFillTx/>
                <a:latin typeface="Montserrat"/>
                <a:ea typeface="+mn-ea"/>
                <a:cs typeface="+mn-cs"/>
                <a:sym typeface="Gill Sans" charset="0"/>
              </a:rPr>
              <a:t>(</a:t>
            </a:r>
            <a:r>
              <a:rPr kumimoji="0" lang="es-ES" sz="1600" b="0" i="1" u="none" strike="noStrike" kern="1200" cap="none" spc="0" normalizeH="0" baseline="0" noProof="0" dirty="0" err="1">
                <a:ln>
                  <a:noFill/>
                </a:ln>
                <a:solidFill>
                  <a:prstClr val="black"/>
                </a:solidFill>
                <a:effectLst/>
                <a:uLnTx/>
                <a:uFillTx/>
                <a:latin typeface="Montserrat"/>
                <a:ea typeface="+mn-ea"/>
                <a:cs typeface="+mn-cs"/>
                <a:sym typeface="Gill Sans" charset="0"/>
              </a:rPr>
              <a:t>Minimum</a:t>
            </a:r>
            <a:r>
              <a:rPr kumimoji="0" lang="es-ES" sz="1600" b="0" i="1" u="none" strike="noStrike" kern="1200" cap="none" spc="0" normalizeH="0" baseline="0" noProof="0" dirty="0">
                <a:ln>
                  <a:noFill/>
                </a:ln>
                <a:solidFill>
                  <a:prstClr val="black"/>
                </a:solidFill>
                <a:effectLst/>
                <a:uLnTx/>
                <a:uFillTx/>
                <a:latin typeface="Montserrat"/>
                <a:ea typeface="+mn-ea"/>
                <a:cs typeface="+mn-cs"/>
                <a:sym typeface="Gill Sans" charset="0"/>
              </a:rPr>
              <a:t> Viable </a:t>
            </a:r>
            <a:r>
              <a:rPr kumimoji="0" lang="es-ES" sz="1600" b="0" i="1" u="none" strike="noStrike" kern="1200" cap="none" spc="0" normalizeH="0" baseline="0" noProof="0" dirty="0" err="1">
                <a:ln>
                  <a:noFill/>
                </a:ln>
                <a:solidFill>
                  <a:prstClr val="black"/>
                </a:solidFill>
                <a:effectLst/>
                <a:uLnTx/>
                <a:uFillTx/>
                <a:latin typeface="Montserrat"/>
                <a:ea typeface="+mn-ea"/>
                <a:cs typeface="+mn-cs"/>
                <a:sym typeface="Gill Sans" charset="0"/>
              </a:rPr>
              <a:t>Product</a:t>
            </a:r>
            <a:r>
              <a:rPr kumimoji="0" lang="es-ES" sz="1600" b="0" i="1" u="none" strike="noStrike" kern="1200" cap="none" spc="0" normalizeH="0" baseline="0" noProof="0" dirty="0">
                <a:ln>
                  <a:noFill/>
                </a:ln>
                <a:solidFill>
                  <a:prstClr val="black"/>
                </a:solidFill>
                <a:effectLst/>
                <a:uLnTx/>
                <a:uFillTx/>
                <a:latin typeface="Montserrat"/>
                <a:ea typeface="+mn-ea"/>
                <a:cs typeface="+mn-cs"/>
                <a:sym typeface="Gill Sans" charset="0"/>
              </a:rPr>
              <a:t>)</a:t>
            </a:r>
          </a:p>
        </p:txBody>
      </p:sp>
      <p:sp>
        <p:nvSpPr>
          <p:cNvPr id="16" name="15 CuadroTexto"/>
          <p:cNvSpPr txBox="1"/>
          <p:nvPr/>
        </p:nvSpPr>
        <p:spPr>
          <a:xfrm>
            <a:off x="858223" y="4724085"/>
            <a:ext cx="1712593" cy="621584"/>
          </a:xfrm>
          <a:prstGeom prst="rect">
            <a:avLst/>
          </a:prstGeom>
          <a:noFill/>
        </p:spPr>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Propuesta de </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Embudo</a:t>
            </a:r>
          </a:p>
        </p:txBody>
      </p:sp>
      <p:sp>
        <p:nvSpPr>
          <p:cNvPr id="17" name="16 CuadroTexto"/>
          <p:cNvSpPr txBox="1"/>
          <p:nvPr/>
        </p:nvSpPr>
        <p:spPr>
          <a:xfrm>
            <a:off x="3544079" y="2828946"/>
            <a:ext cx="2246393" cy="621584"/>
          </a:xfrm>
          <a:prstGeom prst="rect">
            <a:avLst/>
          </a:prstGeom>
          <a:noFill/>
        </p:spPr>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Ajuste</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Producto-Mercado</a:t>
            </a:r>
          </a:p>
        </p:txBody>
      </p:sp>
      <p:sp>
        <p:nvSpPr>
          <p:cNvPr id="18" name="17 CuadroTexto"/>
          <p:cNvSpPr txBox="1"/>
          <p:nvPr/>
        </p:nvSpPr>
        <p:spPr>
          <a:xfrm>
            <a:off x="3463113" y="3686036"/>
            <a:ext cx="2408296" cy="365040"/>
          </a:xfrm>
          <a:prstGeom prst="rect">
            <a:avLst/>
          </a:prstGeom>
          <a:noFill/>
        </p:spPr>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Modelo de Negocios</a:t>
            </a:r>
            <a:endParaRPr kumimoji="0" lang="es-ES" sz="1600" b="0" i="1" u="none" strike="noStrike" kern="1200" cap="none" spc="0" normalizeH="0" baseline="0" noProof="0" dirty="0">
              <a:ln>
                <a:noFill/>
              </a:ln>
              <a:solidFill>
                <a:prstClr val="black"/>
              </a:solidFill>
              <a:effectLst/>
              <a:uLnTx/>
              <a:uFillTx/>
              <a:latin typeface="Montserrat"/>
              <a:ea typeface="+mn-ea"/>
              <a:cs typeface="+mn-cs"/>
              <a:sym typeface="Gill Sans" charset="0"/>
            </a:endParaRPr>
          </a:p>
        </p:txBody>
      </p:sp>
      <p:sp>
        <p:nvSpPr>
          <p:cNvPr id="19" name="18 CuadroTexto"/>
          <p:cNvSpPr txBox="1"/>
          <p:nvPr/>
        </p:nvSpPr>
        <p:spPr>
          <a:xfrm>
            <a:off x="3499358" y="4724085"/>
            <a:ext cx="2336160" cy="621584"/>
          </a:xfrm>
          <a:prstGeom prst="rect">
            <a:avLst/>
          </a:prstGeom>
          <a:noFill/>
        </p:spPr>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Hoja de ruta </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1" u="none" strike="noStrike" kern="1200" cap="none" spc="0" normalizeH="0" baseline="0" noProof="0" dirty="0">
                <a:ln>
                  <a:noFill/>
                </a:ln>
                <a:solidFill>
                  <a:prstClr val="black"/>
                </a:solidFill>
                <a:effectLst/>
                <a:uLnTx/>
                <a:uFillTx/>
                <a:latin typeface="Montserrat"/>
                <a:ea typeface="+mn-ea"/>
                <a:cs typeface="+mn-cs"/>
                <a:sym typeface="Gill Sans" charset="0"/>
              </a:rPr>
              <a:t>Marketing</a:t>
            </a: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 &amp; Ventas</a:t>
            </a:r>
          </a:p>
        </p:txBody>
      </p:sp>
      <p:sp>
        <p:nvSpPr>
          <p:cNvPr id="20" name="19 CuadroTexto"/>
          <p:cNvSpPr txBox="1"/>
          <p:nvPr/>
        </p:nvSpPr>
        <p:spPr>
          <a:xfrm>
            <a:off x="6783122" y="3601912"/>
            <a:ext cx="1674121" cy="621584"/>
          </a:xfrm>
          <a:prstGeom prst="rect">
            <a:avLst/>
          </a:prstGeom>
          <a:noFill/>
        </p:spPr>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Escalamiento</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 de Ejecución</a:t>
            </a:r>
          </a:p>
        </p:txBody>
      </p:sp>
      <p:sp>
        <p:nvSpPr>
          <p:cNvPr id="21" name="20 CuadroTexto"/>
          <p:cNvSpPr txBox="1"/>
          <p:nvPr/>
        </p:nvSpPr>
        <p:spPr>
          <a:xfrm>
            <a:off x="9485645" y="2909882"/>
            <a:ext cx="2174258" cy="621584"/>
          </a:xfrm>
          <a:prstGeom prst="rect">
            <a:avLst/>
          </a:prstGeom>
          <a:noFill/>
        </p:spPr>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Escalamiento </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de la organización</a:t>
            </a:r>
            <a:endParaRPr kumimoji="0" lang="es-ES" sz="1600" b="0" i="1" u="none" strike="noStrike" kern="1200" cap="none" spc="0" normalizeH="0" baseline="0" noProof="0" dirty="0">
              <a:ln>
                <a:noFill/>
              </a:ln>
              <a:solidFill>
                <a:prstClr val="black"/>
              </a:solidFill>
              <a:effectLst/>
              <a:uLnTx/>
              <a:uFillTx/>
              <a:latin typeface="Montserrat"/>
              <a:ea typeface="+mn-ea"/>
              <a:cs typeface="+mn-cs"/>
              <a:sym typeface="Gill Sans" charset="0"/>
            </a:endParaRPr>
          </a:p>
        </p:txBody>
      </p:sp>
      <p:sp>
        <p:nvSpPr>
          <p:cNvPr id="22" name="21 CuadroTexto"/>
          <p:cNvSpPr txBox="1"/>
          <p:nvPr/>
        </p:nvSpPr>
        <p:spPr>
          <a:xfrm>
            <a:off x="9471377" y="4400291"/>
            <a:ext cx="2203112" cy="621584"/>
          </a:xfrm>
          <a:prstGeom prst="rect">
            <a:avLst/>
          </a:prstGeom>
          <a:noFill/>
        </p:spPr>
        <p:txBody>
          <a:bodyPr wrap="none" lIns="107446" tIns="53723" rIns="107446" bIns="53723">
            <a:spAutoFit/>
          </a:bodyPr>
          <a:lstStyle/>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Escalamiento </a:t>
            </a:r>
          </a:p>
          <a:p>
            <a:pPr marL="0" marR="0" lvl="0" indent="0" algn="ctr" defTabSz="1074534"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ontserrat"/>
                <a:ea typeface="+mn-ea"/>
                <a:cs typeface="+mn-cs"/>
                <a:sym typeface="Gill Sans" charset="0"/>
              </a:rPr>
              <a:t>de las operaciones</a:t>
            </a:r>
            <a:endParaRPr kumimoji="0" lang="es-ES" sz="1600" b="0" i="1" u="none" strike="noStrike" kern="1200" cap="none" spc="0" normalizeH="0" baseline="0" noProof="0" dirty="0">
              <a:ln>
                <a:noFill/>
              </a:ln>
              <a:solidFill>
                <a:prstClr val="black"/>
              </a:solidFill>
              <a:effectLst/>
              <a:uLnTx/>
              <a:uFillTx/>
              <a:latin typeface="Montserrat"/>
              <a:ea typeface="+mn-ea"/>
              <a:cs typeface="+mn-cs"/>
              <a:sym typeface="Gill Sans" charset="0"/>
            </a:endParaRPr>
          </a:p>
        </p:txBody>
      </p:sp>
      <p:sp>
        <p:nvSpPr>
          <p:cNvPr id="23" name="22 Flecha curvada hacia abajo"/>
          <p:cNvSpPr/>
          <p:nvPr/>
        </p:nvSpPr>
        <p:spPr>
          <a:xfrm rot="10800000">
            <a:off x="2476656" y="5543121"/>
            <a:ext cx="1714500" cy="428526"/>
          </a:xfrm>
          <a:prstGeom prst="curvedDownArrow">
            <a:avLst/>
          </a:prstGeom>
          <a:solidFill>
            <a:srgbClr val="E33B1F"/>
          </a:solidFill>
          <a:ln>
            <a:solidFill>
              <a:srgbClr val="E33B1F"/>
            </a:solidFill>
          </a:ln>
        </p:spPr>
        <p:style>
          <a:lnRef idx="2">
            <a:schemeClr val="accent1">
              <a:shade val="50000"/>
            </a:schemeClr>
          </a:lnRef>
          <a:fillRef idx="1">
            <a:schemeClr val="accent1"/>
          </a:fillRef>
          <a:effectRef idx="0">
            <a:schemeClr val="accent1"/>
          </a:effectRef>
          <a:fontRef idx="minor">
            <a:schemeClr val="lt1"/>
          </a:fontRef>
        </p:style>
        <p:txBody>
          <a:bodyPr lIns="107446" tIns="53723" rIns="107446" bIns="53723" anchor="ctr"/>
          <a:lstStyle/>
          <a:p>
            <a:pPr marL="0" marR="0" lvl="0" indent="0" algn="ctr" defTabSz="1074534"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Montserrat"/>
              <a:ea typeface="+mn-ea"/>
              <a:cs typeface="+mn-cs"/>
              <a:sym typeface="Gill Sans" charset="0"/>
            </a:endParaRPr>
          </a:p>
        </p:txBody>
      </p:sp>
      <p:sp>
        <p:nvSpPr>
          <p:cNvPr id="24" name="23 Rectángulo redondeado"/>
          <p:cNvSpPr/>
          <p:nvPr/>
        </p:nvSpPr>
        <p:spPr>
          <a:xfrm>
            <a:off x="285753" y="1329005"/>
            <a:ext cx="2857500" cy="4071231"/>
          </a:xfrm>
          <a:prstGeom prst="round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lIns="107446" tIns="53723" rIns="107446" bIns="53723" anchor="ctr"/>
          <a:lstStyle/>
          <a:p>
            <a:pPr marL="0" marR="0" lvl="0" indent="0" algn="ctr" defTabSz="1074534"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Montserrat"/>
              <a:ea typeface="+mn-ea"/>
              <a:cs typeface="+mn-cs"/>
              <a:sym typeface="Gill Sans" charset="0"/>
            </a:endParaRPr>
          </a:p>
        </p:txBody>
      </p:sp>
      <p:sp>
        <p:nvSpPr>
          <p:cNvPr id="29" name="28 Rectángulo redondeado"/>
          <p:cNvSpPr/>
          <p:nvPr/>
        </p:nvSpPr>
        <p:spPr>
          <a:xfrm>
            <a:off x="3238502" y="1329005"/>
            <a:ext cx="2857500" cy="4071231"/>
          </a:xfrm>
          <a:prstGeom prst="round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lIns="107446" tIns="53723" rIns="107446" bIns="53723" anchor="ctr"/>
          <a:lstStyle/>
          <a:p>
            <a:pPr marL="0" marR="0" lvl="0" indent="0" algn="ctr" defTabSz="1074534"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Montserrat"/>
              <a:ea typeface="+mn-ea"/>
              <a:cs typeface="+mn-cs"/>
              <a:sym typeface="Gill Sans" charset="0"/>
            </a:endParaRPr>
          </a:p>
        </p:txBody>
      </p:sp>
      <p:sp>
        <p:nvSpPr>
          <p:cNvPr id="30" name="29 Rectángulo redondeado"/>
          <p:cNvSpPr/>
          <p:nvPr/>
        </p:nvSpPr>
        <p:spPr>
          <a:xfrm>
            <a:off x="6191253" y="1329005"/>
            <a:ext cx="2857500" cy="4071231"/>
          </a:xfrm>
          <a:prstGeom prst="round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lIns="107446" tIns="53723" rIns="107446" bIns="53723" anchor="ctr"/>
          <a:lstStyle/>
          <a:p>
            <a:pPr marL="0" marR="0" lvl="0" indent="0" algn="ctr" defTabSz="1074534"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Montserrat"/>
              <a:ea typeface="+mn-ea"/>
              <a:cs typeface="+mn-cs"/>
              <a:sym typeface="Gill Sans" charset="0"/>
            </a:endParaRPr>
          </a:p>
        </p:txBody>
      </p:sp>
      <p:sp>
        <p:nvSpPr>
          <p:cNvPr id="31" name="30 Rectángulo redondeado"/>
          <p:cNvSpPr/>
          <p:nvPr/>
        </p:nvSpPr>
        <p:spPr>
          <a:xfrm>
            <a:off x="9144001" y="1329005"/>
            <a:ext cx="2857500" cy="4071231"/>
          </a:xfrm>
          <a:prstGeom prst="round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lIns="107446" tIns="53723" rIns="107446" bIns="53723" anchor="ctr"/>
          <a:lstStyle/>
          <a:p>
            <a:pPr marL="0" marR="0" lvl="0" indent="0" algn="ctr" defTabSz="1074534"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Montserrat"/>
              <a:ea typeface="+mn-ea"/>
              <a:cs typeface="+mn-cs"/>
              <a:sym typeface="Gill Sans" charset="0"/>
            </a:endParaRPr>
          </a:p>
        </p:txBody>
      </p:sp>
      <p:sp>
        <p:nvSpPr>
          <p:cNvPr id="25" name="CuadroTexto 24">
            <a:extLst>
              <a:ext uri="{FF2B5EF4-FFF2-40B4-BE49-F238E27FC236}">
                <a16:creationId xmlns:a16="http://schemas.microsoft.com/office/drawing/2014/main" id="{D2DD1E27-8F7B-48D6-8BFE-13575EEBD8D8}"/>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Fuente: </a:t>
            </a:r>
            <a:r>
              <a:rPr kumimoji="0" lang="es-CL" sz="1000" b="0" i="0" u="none" strike="noStrike" kern="1200" cap="none" spc="0" normalizeH="0" baseline="0" noProof="0" dirty="0" err="1">
                <a:ln>
                  <a:noFill/>
                </a:ln>
                <a:solidFill>
                  <a:prstClr val="black"/>
                </a:solidFill>
                <a:effectLst/>
                <a:uLnTx/>
                <a:uFillTx/>
                <a:latin typeface="Montserrat" panose="00000500000000000000" pitchFamily="2" charset="0"/>
                <a:ea typeface="+mn-ea"/>
                <a:cs typeface="+mn-cs"/>
              </a:rPr>
              <a:t>Blank</a:t>
            </a:r>
            <a:r>
              <a:rPr kumimoji="0" lang="es-CL" sz="10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S. (2006)</a:t>
            </a:r>
          </a:p>
        </p:txBody>
      </p:sp>
    </p:spTree>
    <p:extLst>
      <p:ext uri="{BB962C8B-B14F-4D97-AF65-F5344CB8AC3E}">
        <p14:creationId xmlns:p14="http://schemas.microsoft.com/office/powerpoint/2010/main" val="31122814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7" y="374101"/>
            <a:ext cx="1101715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¿Qué es viable, repetible, escalable?</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grpSp>
        <p:nvGrpSpPr>
          <p:cNvPr id="9" name="Grupo 8">
            <a:extLst>
              <a:ext uri="{FF2B5EF4-FFF2-40B4-BE49-F238E27FC236}">
                <a16:creationId xmlns:a16="http://schemas.microsoft.com/office/drawing/2014/main" id="{02FF4463-C20E-91A4-253C-5025D81698D8}"/>
              </a:ext>
            </a:extLst>
          </p:cNvPr>
          <p:cNvGrpSpPr/>
          <p:nvPr/>
        </p:nvGrpSpPr>
        <p:grpSpPr>
          <a:xfrm>
            <a:off x="2511857" y="1176895"/>
            <a:ext cx="7168286" cy="4093429"/>
            <a:chOff x="4744122" y="1443841"/>
            <a:chExt cx="7168286" cy="4093429"/>
          </a:xfrm>
        </p:grpSpPr>
        <p:pic>
          <p:nvPicPr>
            <p:cNvPr id="3" name="Imagen 2">
              <a:extLst>
                <a:ext uri="{FF2B5EF4-FFF2-40B4-BE49-F238E27FC236}">
                  <a16:creationId xmlns:a16="http://schemas.microsoft.com/office/drawing/2014/main" id="{DF784EFF-5E98-C4A7-D36F-27429A3F7CF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744122" y="1443841"/>
              <a:ext cx="7168286" cy="3587438"/>
            </a:xfrm>
            <a:prstGeom prst="rect">
              <a:avLst/>
            </a:prstGeom>
          </p:spPr>
        </p:pic>
        <p:sp>
          <p:nvSpPr>
            <p:cNvPr id="6" name="CuadroTexto 5">
              <a:extLst>
                <a:ext uri="{FF2B5EF4-FFF2-40B4-BE49-F238E27FC236}">
                  <a16:creationId xmlns:a16="http://schemas.microsoft.com/office/drawing/2014/main" id="{52BA6909-A601-3B3E-798E-0FDF2E980AF8}"/>
                </a:ext>
              </a:extLst>
            </p:cNvPr>
            <p:cNvSpPr txBox="1"/>
            <p:nvPr/>
          </p:nvSpPr>
          <p:spPr>
            <a:xfrm>
              <a:off x="5667036" y="5229493"/>
              <a:ext cx="696024" cy="307777"/>
            </a:xfrm>
            <a:prstGeom prst="rect">
              <a:avLst/>
            </a:prstGeom>
            <a:noFill/>
          </p:spPr>
          <p:txBody>
            <a:bodyPr wrap="none" rtlCol="0">
              <a:spAutoFit/>
            </a:bodyPr>
            <a:lstStyle/>
            <a:p>
              <a:r>
                <a:rPr lang="es-CL" sz="1400" dirty="0">
                  <a:latin typeface="Avenir Next" panose="020B0503020202020204" pitchFamily="34" charset="0"/>
                </a:rPr>
                <a:t>Viable</a:t>
              </a:r>
            </a:p>
          </p:txBody>
        </p:sp>
        <p:sp>
          <p:nvSpPr>
            <p:cNvPr id="7" name="CuadroTexto 6">
              <a:extLst>
                <a:ext uri="{FF2B5EF4-FFF2-40B4-BE49-F238E27FC236}">
                  <a16:creationId xmlns:a16="http://schemas.microsoft.com/office/drawing/2014/main" id="{7009B809-4C98-EE78-2B8F-29B2A0F7404D}"/>
                </a:ext>
              </a:extLst>
            </p:cNvPr>
            <p:cNvSpPr txBox="1"/>
            <p:nvPr/>
          </p:nvSpPr>
          <p:spPr>
            <a:xfrm>
              <a:off x="7271449" y="5229493"/>
              <a:ext cx="972767" cy="307777"/>
            </a:xfrm>
            <a:prstGeom prst="rect">
              <a:avLst/>
            </a:prstGeom>
            <a:noFill/>
          </p:spPr>
          <p:txBody>
            <a:bodyPr wrap="none" rtlCol="0">
              <a:spAutoFit/>
            </a:bodyPr>
            <a:lstStyle/>
            <a:p>
              <a:r>
                <a:rPr lang="es-CL" sz="1400" dirty="0">
                  <a:latin typeface="Avenir Next" panose="020B0503020202020204" pitchFamily="34" charset="0"/>
                </a:rPr>
                <a:t>Repetible</a:t>
              </a:r>
            </a:p>
          </p:txBody>
        </p:sp>
        <p:sp>
          <p:nvSpPr>
            <p:cNvPr id="8" name="CuadroTexto 7">
              <a:extLst>
                <a:ext uri="{FF2B5EF4-FFF2-40B4-BE49-F238E27FC236}">
                  <a16:creationId xmlns:a16="http://schemas.microsoft.com/office/drawing/2014/main" id="{324FB279-169C-0726-7D7B-9097E6A50015}"/>
                </a:ext>
              </a:extLst>
            </p:cNvPr>
            <p:cNvSpPr txBox="1"/>
            <p:nvPr/>
          </p:nvSpPr>
          <p:spPr>
            <a:xfrm>
              <a:off x="9152605" y="5229492"/>
              <a:ext cx="958917" cy="307777"/>
            </a:xfrm>
            <a:prstGeom prst="rect">
              <a:avLst/>
            </a:prstGeom>
            <a:noFill/>
          </p:spPr>
          <p:txBody>
            <a:bodyPr wrap="none" rtlCol="0">
              <a:spAutoFit/>
            </a:bodyPr>
            <a:lstStyle/>
            <a:p>
              <a:r>
                <a:rPr lang="es-CL" sz="1400" dirty="0">
                  <a:latin typeface="Avenir Next" panose="020B0503020202020204" pitchFamily="34" charset="0"/>
                </a:rPr>
                <a:t>Escalable</a:t>
              </a:r>
            </a:p>
          </p:txBody>
        </p:sp>
        <p:cxnSp>
          <p:nvCxnSpPr>
            <p:cNvPr id="10" name="Conector recto de flecha 9">
              <a:extLst>
                <a:ext uri="{FF2B5EF4-FFF2-40B4-BE49-F238E27FC236}">
                  <a16:creationId xmlns:a16="http://schemas.microsoft.com/office/drawing/2014/main" id="{B56F5286-B449-F492-39F2-92754DB5E750}"/>
                </a:ext>
              </a:extLst>
            </p:cNvPr>
            <p:cNvCxnSpPr>
              <a:stCxn id="6" idx="3"/>
              <a:endCxn id="7" idx="1"/>
            </p:cNvCxnSpPr>
            <p:nvPr/>
          </p:nvCxnSpPr>
          <p:spPr>
            <a:xfrm>
              <a:off x="6363060" y="5383382"/>
              <a:ext cx="90838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3112CA05-1CA0-E257-DCA3-11691EBE2E47}"/>
                </a:ext>
              </a:extLst>
            </p:cNvPr>
            <p:cNvCxnSpPr>
              <a:stCxn id="7" idx="3"/>
              <a:endCxn id="8" idx="1"/>
            </p:cNvCxnSpPr>
            <p:nvPr/>
          </p:nvCxnSpPr>
          <p:spPr>
            <a:xfrm flipV="1">
              <a:off x="8244216" y="5383381"/>
              <a:ext cx="90838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CuadroTexto 10">
            <a:extLst>
              <a:ext uri="{FF2B5EF4-FFF2-40B4-BE49-F238E27FC236}">
                <a16:creationId xmlns:a16="http://schemas.microsoft.com/office/drawing/2014/main" id="{25E8DFD8-5228-982C-5CBD-EA478B8D1D7A}"/>
              </a:ext>
            </a:extLst>
          </p:cNvPr>
          <p:cNvSpPr txBox="1"/>
          <p:nvPr/>
        </p:nvSpPr>
        <p:spPr>
          <a:xfrm>
            <a:off x="400028" y="1722677"/>
            <a:ext cx="2111829" cy="2585323"/>
          </a:xfrm>
          <a:prstGeom prst="rect">
            <a:avLst/>
          </a:prstGeom>
          <a:noFill/>
        </p:spPr>
        <p:txBody>
          <a:bodyPr wrap="square" rtlCol="0">
            <a:spAutoFit/>
          </a:bodyPr>
          <a:lstStyle/>
          <a:p>
            <a:r>
              <a:rPr lang="es-CL" dirty="0"/>
              <a:t>Se propone un viaje en 3 etapas:</a:t>
            </a:r>
          </a:p>
          <a:p>
            <a:endParaRPr lang="es-CL" dirty="0"/>
          </a:p>
          <a:p>
            <a:pPr marL="285750" indent="-285750">
              <a:buFont typeface="Arial" panose="020B0604020202020204" pitchFamily="34" charset="0"/>
              <a:buChar char="•"/>
            </a:pPr>
            <a:r>
              <a:rPr lang="es-CL" dirty="0"/>
              <a:t>Viable</a:t>
            </a:r>
          </a:p>
          <a:p>
            <a:pPr marL="285750" indent="-285750">
              <a:buFont typeface="Arial" panose="020B0604020202020204" pitchFamily="34" charset="0"/>
              <a:buChar char="•"/>
            </a:pPr>
            <a:endParaRPr lang="es-CL" dirty="0"/>
          </a:p>
          <a:p>
            <a:pPr marL="285750" indent="-285750">
              <a:buFont typeface="Arial" panose="020B0604020202020204" pitchFamily="34" charset="0"/>
              <a:buChar char="•"/>
            </a:pPr>
            <a:r>
              <a:rPr lang="es-CL" dirty="0"/>
              <a:t>Repetible</a:t>
            </a:r>
          </a:p>
          <a:p>
            <a:pPr marL="285750" indent="-285750">
              <a:buFont typeface="Arial" panose="020B0604020202020204" pitchFamily="34" charset="0"/>
              <a:buChar char="•"/>
            </a:pPr>
            <a:endParaRPr lang="es-CL" dirty="0"/>
          </a:p>
          <a:p>
            <a:pPr marL="285750" indent="-285750">
              <a:buFont typeface="Arial" panose="020B0604020202020204" pitchFamily="34" charset="0"/>
              <a:buChar char="•"/>
            </a:pPr>
            <a:r>
              <a:rPr lang="es-CL" dirty="0"/>
              <a:t>Escalable</a:t>
            </a:r>
          </a:p>
        </p:txBody>
      </p:sp>
      <p:sp>
        <p:nvSpPr>
          <p:cNvPr id="4" name="CuadroTexto 3">
            <a:extLst>
              <a:ext uri="{FF2B5EF4-FFF2-40B4-BE49-F238E27FC236}">
                <a16:creationId xmlns:a16="http://schemas.microsoft.com/office/drawing/2014/main" id="{2449C228-86BE-2CFD-98B3-7D88C915C728}"/>
              </a:ext>
            </a:extLst>
          </p:cNvPr>
          <p:cNvSpPr txBox="1"/>
          <p:nvPr/>
        </p:nvSpPr>
        <p:spPr>
          <a:xfrm>
            <a:off x="1357971" y="5954489"/>
            <a:ext cx="2307771" cy="523220"/>
          </a:xfrm>
          <a:prstGeom prst="rect">
            <a:avLst/>
          </a:prstGeom>
          <a:solidFill>
            <a:schemeClr val="bg2"/>
          </a:solidFill>
        </p:spPr>
        <p:txBody>
          <a:bodyPr wrap="square" rtlCol="0">
            <a:spAutoFit/>
          </a:bodyPr>
          <a:lstStyle/>
          <a:p>
            <a:r>
              <a:rPr lang="es-CL" sz="1400" dirty="0"/>
              <a:t>Lo que propongo, ¿es valioso para el cliente?</a:t>
            </a:r>
          </a:p>
        </p:txBody>
      </p:sp>
      <p:sp>
        <p:nvSpPr>
          <p:cNvPr id="5" name="CuadroTexto 4">
            <a:extLst>
              <a:ext uri="{FF2B5EF4-FFF2-40B4-BE49-F238E27FC236}">
                <a16:creationId xmlns:a16="http://schemas.microsoft.com/office/drawing/2014/main" id="{D906F35A-5110-C798-594B-6930BC10D77C}"/>
              </a:ext>
            </a:extLst>
          </p:cNvPr>
          <p:cNvSpPr txBox="1"/>
          <p:nvPr/>
        </p:nvSpPr>
        <p:spPr>
          <a:xfrm>
            <a:off x="4584989" y="5954489"/>
            <a:ext cx="2871725" cy="738664"/>
          </a:xfrm>
          <a:prstGeom prst="rect">
            <a:avLst/>
          </a:prstGeom>
          <a:solidFill>
            <a:schemeClr val="bg2"/>
          </a:solidFill>
        </p:spPr>
        <p:txBody>
          <a:bodyPr wrap="square" rtlCol="0">
            <a:spAutoFit/>
          </a:bodyPr>
          <a:lstStyle/>
          <a:p>
            <a:r>
              <a:rPr lang="es-CL" sz="1400" dirty="0"/>
              <a:t>¿Puedo distribuir ese valor con consistencia?, Mismo valor en todas partes.</a:t>
            </a:r>
          </a:p>
        </p:txBody>
      </p:sp>
      <p:sp>
        <p:nvSpPr>
          <p:cNvPr id="13" name="CuadroTexto 12">
            <a:extLst>
              <a:ext uri="{FF2B5EF4-FFF2-40B4-BE49-F238E27FC236}">
                <a16:creationId xmlns:a16="http://schemas.microsoft.com/office/drawing/2014/main" id="{3B5197FC-F30C-278F-15B5-632D9F3F770E}"/>
              </a:ext>
            </a:extLst>
          </p:cNvPr>
          <p:cNvSpPr txBox="1"/>
          <p:nvPr/>
        </p:nvSpPr>
        <p:spPr>
          <a:xfrm>
            <a:off x="8375962" y="5954489"/>
            <a:ext cx="2458068" cy="738664"/>
          </a:xfrm>
          <a:prstGeom prst="rect">
            <a:avLst/>
          </a:prstGeom>
          <a:solidFill>
            <a:schemeClr val="bg2"/>
          </a:solidFill>
        </p:spPr>
        <p:txBody>
          <a:bodyPr wrap="square" rtlCol="0">
            <a:spAutoFit/>
          </a:bodyPr>
          <a:lstStyle/>
          <a:p>
            <a:r>
              <a:rPr lang="es-CL" sz="1400" dirty="0"/>
              <a:t>¿Se puede escalar fuertemente?, multiplicar.</a:t>
            </a:r>
          </a:p>
        </p:txBody>
      </p:sp>
      <p:sp>
        <p:nvSpPr>
          <p:cNvPr id="14" name="Rectángulo 13">
            <a:extLst>
              <a:ext uri="{FF2B5EF4-FFF2-40B4-BE49-F238E27FC236}">
                <a16:creationId xmlns:a16="http://schemas.microsoft.com/office/drawing/2014/main" id="{C8695431-0B2E-CA96-2F82-A681519F0938}"/>
              </a:ext>
            </a:extLst>
          </p:cNvPr>
          <p:cNvSpPr/>
          <p:nvPr/>
        </p:nvSpPr>
        <p:spPr>
          <a:xfrm>
            <a:off x="1357971" y="5411994"/>
            <a:ext cx="500743" cy="504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1</a:t>
            </a:r>
          </a:p>
        </p:txBody>
      </p:sp>
      <p:sp>
        <p:nvSpPr>
          <p:cNvPr id="15" name="Rectángulo 14">
            <a:extLst>
              <a:ext uri="{FF2B5EF4-FFF2-40B4-BE49-F238E27FC236}">
                <a16:creationId xmlns:a16="http://schemas.microsoft.com/office/drawing/2014/main" id="{4FDC0C6B-72D1-0E07-A7BF-48D98DEA3DA8}"/>
              </a:ext>
            </a:extLst>
          </p:cNvPr>
          <p:cNvSpPr/>
          <p:nvPr/>
        </p:nvSpPr>
        <p:spPr>
          <a:xfrm>
            <a:off x="4584989" y="5406628"/>
            <a:ext cx="500743" cy="504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2</a:t>
            </a:r>
          </a:p>
        </p:txBody>
      </p:sp>
      <p:sp>
        <p:nvSpPr>
          <p:cNvPr id="16" name="Rectángulo 15">
            <a:extLst>
              <a:ext uri="{FF2B5EF4-FFF2-40B4-BE49-F238E27FC236}">
                <a16:creationId xmlns:a16="http://schemas.microsoft.com/office/drawing/2014/main" id="{667989E4-5603-6499-0B3F-82E6FCB8398D}"/>
              </a:ext>
            </a:extLst>
          </p:cNvPr>
          <p:cNvSpPr/>
          <p:nvPr/>
        </p:nvSpPr>
        <p:spPr>
          <a:xfrm>
            <a:off x="8375962" y="5406628"/>
            <a:ext cx="500743" cy="504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3</a:t>
            </a:r>
          </a:p>
        </p:txBody>
      </p:sp>
    </p:spTree>
    <p:extLst>
      <p:ext uri="{BB962C8B-B14F-4D97-AF65-F5344CB8AC3E}">
        <p14:creationId xmlns:p14="http://schemas.microsoft.com/office/powerpoint/2010/main" val="35100457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7" y="395871"/>
            <a:ext cx="1101715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¿Qué es viable, repetible, escalable?</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grpSp>
        <p:nvGrpSpPr>
          <p:cNvPr id="13" name="Grupo 12">
            <a:extLst>
              <a:ext uri="{FF2B5EF4-FFF2-40B4-BE49-F238E27FC236}">
                <a16:creationId xmlns:a16="http://schemas.microsoft.com/office/drawing/2014/main" id="{E9082DDA-AACA-673B-59B6-D0275A53CD9A}"/>
              </a:ext>
            </a:extLst>
          </p:cNvPr>
          <p:cNvGrpSpPr/>
          <p:nvPr/>
        </p:nvGrpSpPr>
        <p:grpSpPr>
          <a:xfrm>
            <a:off x="337457" y="1523198"/>
            <a:ext cx="11342913" cy="1905802"/>
            <a:chOff x="663217" y="1523198"/>
            <a:chExt cx="11798216" cy="1905802"/>
          </a:xfrm>
        </p:grpSpPr>
        <p:pic>
          <p:nvPicPr>
            <p:cNvPr id="3" name="Imagen 2">
              <a:extLst>
                <a:ext uri="{FF2B5EF4-FFF2-40B4-BE49-F238E27FC236}">
                  <a16:creationId xmlns:a16="http://schemas.microsoft.com/office/drawing/2014/main" id="{DF784EFF-5E98-C4A7-D36F-27429A3F7CF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63217" y="1523198"/>
              <a:ext cx="3808102" cy="1905802"/>
            </a:xfrm>
            <a:prstGeom prst="rect">
              <a:avLst/>
            </a:prstGeom>
          </p:spPr>
        </p:pic>
        <p:pic>
          <p:nvPicPr>
            <p:cNvPr id="4" name="Imagen 3">
              <a:extLst>
                <a:ext uri="{FF2B5EF4-FFF2-40B4-BE49-F238E27FC236}">
                  <a16:creationId xmlns:a16="http://schemas.microsoft.com/office/drawing/2014/main" id="{DA332C56-E3A4-8592-D398-D4EDEF407D0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658274" y="1523198"/>
              <a:ext cx="3808102" cy="1905802"/>
            </a:xfrm>
            <a:prstGeom prst="rect">
              <a:avLst/>
            </a:prstGeom>
          </p:spPr>
        </p:pic>
        <p:pic>
          <p:nvPicPr>
            <p:cNvPr id="5" name="Imagen 4">
              <a:extLst>
                <a:ext uri="{FF2B5EF4-FFF2-40B4-BE49-F238E27FC236}">
                  <a16:creationId xmlns:a16="http://schemas.microsoft.com/office/drawing/2014/main" id="{1BEF51BF-7269-2108-E28E-0F384D75E7A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653331" y="1523198"/>
              <a:ext cx="3808102" cy="1905802"/>
            </a:xfrm>
            <a:prstGeom prst="rect">
              <a:avLst/>
            </a:prstGeom>
          </p:spPr>
        </p:pic>
      </p:grpSp>
      <p:sp>
        <p:nvSpPr>
          <p:cNvPr id="14" name="Rectángulo 13">
            <a:extLst>
              <a:ext uri="{FF2B5EF4-FFF2-40B4-BE49-F238E27FC236}">
                <a16:creationId xmlns:a16="http://schemas.microsoft.com/office/drawing/2014/main" id="{8D93D077-6F05-4300-0BF2-E5C68D9D9E27}"/>
              </a:ext>
            </a:extLst>
          </p:cNvPr>
          <p:cNvSpPr/>
          <p:nvPr/>
        </p:nvSpPr>
        <p:spPr>
          <a:xfrm>
            <a:off x="1436914" y="1393371"/>
            <a:ext cx="2122715" cy="2111829"/>
          </a:xfrm>
          <a:prstGeom prst="rect">
            <a:avLst/>
          </a:prstGeom>
          <a:solidFill>
            <a:srgbClr val="E7E6E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1B53040C-108A-918A-4C55-8583E8AED5F2}"/>
              </a:ext>
            </a:extLst>
          </p:cNvPr>
          <p:cNvSpPr/>
          <p:nvPr/>
        </p:nvSpPr>
        <p:spPr>
          <a:xfrm>
            <a:off x="4506686" y="1420184"/>
            <a:ext cx="772885" cy="2111829"/>
          </a:xfrm>
          <a:prstGeom prst="rect">
            <a:avLst/>
          </a:prstGeom>
          <a:solidFill>
            <a:srgbClr val="E7E6E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6" name="Rectángulo 15">
            <a:extLst>
              <a:ext uri="{FF2B5EF4-FFF2-40B4-BE49-F238E27FC236}">
                <a16:creationId xmlns:a16="http://schemas.microsoft.com/office/drawing/2014/main" id="{A9A42CD7-D681-9EB4-8DCA-E26862000550}"/>
              </a:ext>
            </a:extLst>
          </p:cNvPr>
          <p:cNvSpPr/>
          <p:nvPr/>
        </p:nvSpPr>
        <p:spPr>
          <a:xfrm>
            <a:off x="5896511" y="1420184"/>
            <a:ext cx="1200976" cy="2111829"/>
          </a:xfrm>
          <a:prstGeom prst="rect">
            <a:avLst/>
          </a:prstGeom>
          <a:solidFill>
            <a:srgbClr val="E7E6E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F6DE4FE0-7BAF-7E8D-FE12-26B20D4BE681}"/>
              </a:ext>
            </a:extLst>
          </p:cNvPr>
          <p:cNvSpPr/>
          <p:nvPr/>
        </p:nvSpPr>
        <p:spPr>
          <a:xfrm>
            <a:off x="8456425" y="1420184"/>
            <a:ext cx="1297175" cy="2111829"/>
          </a:xfrm>
          <a:prstGeom prst="rect">
            <a:avLst/>
          </a:prstGeom>
          <a:solidFill>
            <a:srgbClr val="E7E6E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CuadroTexto 17">
            <a:extLst>
              <a:ext uri="{FF2B5EF4-FFF2-40B4-BE49-F238E27FC236}">
                <a16:creationId xmlns:a16="http://schemas.microsoft.com/office/drawing/2014/main" id="{10C7D54B-B4CB-D97B-DD5A-310B45FFA91F}"/>
              </a:ext>
            </a:extLst>
          </p:cNvPr>
          <p:cNvSpPr txBox="1"/>
          <p:nvPr/>
        </p:nvSpPr>
        <p:spPr>
          <a:xfrm>
            <a:off x="663217" y="3635027"/>
            <a:ext cx="3335384" cy="2462213"/>
          </a:xfrm>
          <a:prstGeom prst="rect">
            <a:avLst/>
          </a:prstGeom>
          <a:noFill/>
        </p:spPr>
        <p:txBody>
          <a:bodyPr wrap="square" rtlCol="0">
            <a:spAutoFit/>
          </a:bodyPr>
          <a:lstStyle/>
          <a:p>
            <a:r>
              <a:rPr lang="es-CL" sz="1400" b="1" dirty="0"/>
              <a:t>VIABLE</a:t>
            </a:r>
          </a:p>
          <a:p>
            <a:endParaRPr lang="es-CL" sz="1400" dirty="0"/>
          </a:p>
          <a:p>
            <a:r>
              <a:rPr lang="es-CL" sz="1400" dirty="0"/>
              <a:t>Se tiene un modelo de negocios que interpreta la idea, pero son hipótesis.</a:t>
            </a:r>
          </a:p>
          <a:p>
            <a:r>
              <a:rPr lang="es-CL" sz="1400" dirty="0"/>
              <a:t>Se busca fijar el centro del modelo de negocios, el eje “propuesta de valor – cliente”, a través del encaje producto / mercado.</a:t>
            </a:r>
          </a:p>
          <a:p>
            <a:r>
              <a:rPr lang="es-CL" sz="1400" dirty="0"/>
              <a:t>Se termina cuando se </a:t>
            </a:r>
            <a:r>
              <a:rPr lang="es-CL" sz="1400" b="1" dirty="0"/>
              <a:t>descubre el cliente</a:t>
            </a:r>
            <a:r>
              <a:rPr lang="es-CL" sz="1400" dirty="0"/>
              <a:t> que hace viable el negocio.</a:t>
            </a:r>
          </a:p>
        </p:txBody>
      </p:sp>
      <p:sp>
        <p:nvSpPr>
          <p:cNvPr id="19" name="CuadroTexto 18">
            <a:extLst>
              <a:ext uri="{FF2B5EF4-FFF2-40B4-BE49-F238E27FC236}">
                <a16:creationId xmlns:a16="http://schemas.microsoft.com/office/drawing/2014/main" id="{D6688443-76EC-E920-6F6A-01AD071A3460}"/>
              </a:ext>
            </a:extLst>
          </p:cNvPr>
          <p:cNvSpPr txBox="1"/>
          <p:nvPr/>
        </p:nvSpPr>
        <p:spPr>
          <a:xfrm>
            <a:off x="4506686" y="3635027"/>
            <a:ext cx="3335384" cy="2462213"/>
          </a:xfrm>
          <a:prstGeom prst="rect">
            <a:avLst/>
          </a:prstGeom>
          <a:noFill/>
        </p:spPr>
        <p:txBody>
          <a:bodyPr wrap="square" rtlCol="0">
            <a:spAutoFit/>
          </a:bodyPr>
          <a:lstStyle/>
          <a:p>
            <a:r>
              <a:rPr lang="es-CL" sz="1400" b="1" dirty="0"/>
              <a:t>REPETIBLE</a:t>
            </a:r>
          </a:p>
          <a:p>
            <a:endParaRPr lang="es-CL" sz="1400" dirty="0"/>
          </a:p>
          <a:p>
            <a:r>
              <a:rPr lang="es-CL" sz="1400" dirty="0"/>
              <a:t>Se busca </a:t>
            </a:r>
            <a:r>
              <a:rPr lang="es-CL" sz="1400" b="1" dirty="0"/>
              <a:t>validar al cliente y la solución</a:t>
            </a:r>
            <a:r>
              <a:rPr lang="es-CL" sz="1400" dirty="0"/>
              <a:t>, a través de repetir el negocio contra otro grupo de clientes (multiplicador).</a:t>
            </a:r>
          </a:p>
          <a:p>
            <a:r>
              <a:rPr lang="es-CL" sz="1400" dirty="0"/>
              <a:t>Demostrando que se puede repetir el modelo de negocios.</a:t>
            </a:r>
          </a:p>
          <a:p>
            <a:r>
              <a:rPr lang="es-CL" sz="1400" dirty="0"/>
              <a:t>En esta tarea se </a:t>
            </a:r>
            <a:r>
              <a:rPr lang="es-CL" sz="1400" b="1" dirty="0"/>
              <a:t>ajusta el modelo de negocios</a:t>
            </a:r>
            <a:r>
              <a:rPr lang="es-CL" sz="1400" dirty="0"/>
              <a:t>, para darle replicabilidad.</a:t>
            </a:r>
          </a:p>
        </p:txBody>
      </p:sp>
      <p:sp>
        <p:nvSpPr>
          <p:cNvPr id="20" name="CuadroTexto 19">
            <a:extLst>
              <a:ext uri="{FF2B5EF4-FFF2-40B4-BE49-F238E27FC236}">
                <a16:creationId xmlns:a16="http://schemas.microsoft.com/office/drawing/2014/main" id="{E3AD7E61-4DBE-EDBE-3F78-03C15A18B3EE}"/>
              </a:ext>
            </a:extLst>
          </p:cNvPr>
          <p:cNvSpPr txBox="1"/>
          <p:nvPr/>
        </p:nvSpPr>
        <p:spPr>
          <a:xfrm>
            <a:off x="8456425" y="3635027"/>
            <a:ext cx="3335384" cy="2462213"/>
          </a:xfrm>
          <a:prstGeom prst="rect">
            <a:avLst/>
          </a:prstGeom>
          <a:noFill/>
        </p:spPr>
        <p:txBody>
          <a:bodyPr wrap="square" rtlCol="0">
            <a:spAutoFit/>
          </a:bodyPr>
          <a:lstStyle/>
          <a:p>
            <a:r>
              <a:rPr lang="es-CL" sz="1400" b="1" dirty="0"/>
              <a:t>ESCALABLE</a:t>
            </a:r>
          </a:p>
          <a:p>
            <a:endParaRPr lang="es-CL" sz="1400" dirty="0"/>
          </a:p>
          <a:p>
            <a:r>
              <a:rPr lang="es-CL" sz="1400" dirty="0"/>
              <a:t>Se trabaja en la </a:t>
            </a:r>
            <a:r>
              <a:rPr lang="es-CL" sz="1400" b="1" dirty="0"/>
              <a:t>empresa que es capaz de ejecutar </a:t>
            </a:r>
            <a:r>
              <a:rPr lang="es-CL" sz="1400" dirty="0"/>
              <a:t>el modelo a alta velocidad.</a:t>
            </a:r>
          </a:p>
          <a:p>
            <a:r>
              <a:rPr lang="es-CL" sz="1400" dirty="0"/>
              <a:t>Fase de crecimiento, en base a un modelo de negocios que es conocido, corriendo sobre condiciones de escalamiento, donde la ejecución es lo central, la </a:t>
            </a:r>
            <a:r>
              <a:rPr lang="es-CL" sz="1400" b="1" dirty="0"/>
              <a:t>operación del modelo</a:t>
            </a:r>
            <a:r>
              <a:rPr lang="es-CL" sz="1400" dirty="0"/>
              <a:t>.</a:t>
            </a:r>
          </a:p>
        </p:txBody>
      </p:sp>
      <p:sp>
        <p:nvSpPr>
          <p:cNvPr id="21" name="CuadroTexto 20">
            <a:extLst>
              <a:ext uri="{FF2B5EF4-FFF2-40B4-BE49-F238E27FC236}">
                <a16:creationId xmlns:a16="http://schemas.microsoft.com/office/drawing/2014/main" id="{09FB01BA-1A6C-7F3F-CB16-7250F3794867}"/>
              </a:ext>
            </a:extLst>
          </p:cNvPr>
          <p:cNvSpPr txBox="1"/>
          <p:nvPr/>
        </p:nvSpPr>
        <p:spPr>
          <a:xfrm>
            <a:off x="1112291" y="6227067"/>
            <a:ext cx="2111475" cy="276999"/>
          </a:xfrm>
          <a:prstGeom prst="rect">
            <a:avLst/>
          </a:prstGeom>
          <a:noFill/>
        </p:spPr>
        <p:txBody>
          <a:bodyPr wrap="none" rtlCol="0">
            <a:spAutoFit/>
          </a:bodyPr>
          <a:lstStyle/>
          <a:p>
            <a:r>
              <a:rPr lang="es-CL" sz="1200" b="1" dirty="0"/>
              <a:t>Innovación de producto</a:t>
            </a:r>
          </a:p>
        </p:txBody>
      </p:sp>
      <p:sp>
        <p:nvSpPr>
          <p:cNvPr id="22" name="CuadroTexto 21">
            <a:extLst>
              <a:ext uri="{FF2B5EF4-FFF2-40B4-BE49-F238E27FC236}">
                <a16:creationId xmlns:a16="http://schemas.microsoft.com/office/drawing/2014/main" id="{83528EF6-D0D5-08DD-3899-44CE517B4096}"/>
              </a:ext>
            </a:extLst>
          </p:cNvPr>
          <p:cNvSpPr txBox="1"/>
          <p:nvPr/>
        </p:nvSpPr>
        <p:spPr>
          <a:xfrm>
            <a:off x="8968236" y="6224490"/>
            <a:ext cx="2012089" cy="276999"/>
          </a:xfrm>
          <a:prstGeom prst="rect">
            <a:avLst/>
          </a:prstGeom>
          <a:noFill/>
        </p:spPr>
        <p:txBody>
          <a:bodyPr wrap="none" rtlCol="0">
            <a:spAutoFit/>
          </a:bodyPr>
          <a:lstStyle/>
          <a:p>
            <a:r>
              <a:rPr lang="es-CL" sz="1200" b="1" dirty="0"/>
              <a:t>Innovación de proceso</a:t>
            </a:r>
          </a:p>
        </p:txBody>
      </p:sp>
    </p:spTree>
    <p:extLst>
      <p:ext uri="{BB962C8B-B14F-4D97-AF65-F5344CB8AC3E}">
        <p14:creationId xmlns:p14="http://schemas.microsoft.com/office/powerpoint/2010/main" val="25109283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9EAF68B-4B3E-311F-AF9D-644ED72F367F}"/>
              </a:ext>
            </a:extLst>
          </p:cNvPr>
          <p:cNvSpPr txBox="1"/>
          <p:nvPr/>
        </p:nvSpPr>
        <p:spPr>
          <a:xfrm>
            <a:off x="478971" y="428178"/>
            <a:ext cx="5083629" cy="600164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L" sz="1600" b="1" dirty="0">
                <a:solidFill>
                  <a:srgbClr val="000000"/>
                </a:solidFill>
                <a:latin typeface="Avenir Next" panose="020B0503020202020204" pitchFamily="34" charset="0"/>
              </a:rPr>
              <a:t>Un ejemplo </a:t>
            </a:r>
            <a:r>
              <a:rPr lang="es-CL" sz="1600" dirty="0">
                <a:solidFill>
                  <a:srgbClr val="000000"/>
                </a:solidFill>
                <a:latin typeface="Avenir Next" panose="020B0503020202020204" pitchFamily="34" charset="0"/>
              </a:rPr>
              <a:t>de esto sería:</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CL" sz="1600" dirty="0">
                <a:solidFill>
                  <a:srgbClr val="000000"/>
                </a:solidFill>
                <a:latin typeface="Avenir Next" panose="020B0503020202020204" pitchFamily="34" charset="0"/>
              </a:rPr>
              <a:t>Se me ocurre hacer un quiosco de esquina nuevo. Veo que los diarios y revisar de papel desaparecen, pero que la posición de los quioscos sigue siendo valiosa. Defino un producto mínimo viable inicial de mi quiosco 2.0, este lo comienza a exponer a clientes y voy realizando experimentos para ver horario de funcionamiento, tipos de productos, y busco a los clientes que hagan viable un primer quiosco, cuando lo encuentro tengo ajustado “el quiosco 2.0” y he encontrado su “cliente modelo para quiosco moderno”.</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CL" sz="1600" dirty="0">
                <a:solidFill>
                  <a:srgbClr val="000000"/>
                </a:solidFill>
                <a:latin typeface="Avenir Next" panose="020B0503020202020204" pitchFamily="34" charset="0"/>
              </a:rPr>
              <a:t>En una segunda etapa, pruebo el modelo de negocio en un experimento de repetición controlado, es decir, repito en 4 o 5 esquinas. Nuevamente, realizo experimentos y voy ajustando la repetición. De esta etapa obtengo un modelo repetible y por lo tanto escalable en velocidad.</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CL" sz="1600" dirty="0">
                <a:solidFill>
                  <a:srgbClr val="000000"/>
                </a:solidFill>
                <a:latin typeface="Avenir Next" panose="020B0503020202020204" pitchFamily="34" charset="0"/>
              </a:rPr>
              <a:t>La tercera etapa, es el escalamiento del modelo, veo las condiciones y voy adaptando este modelo y startup a una migración controlada hacia empresa.</a:t>
            </a:r>
            <a:endPar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endParaRPr>
          </a:p>
        </p:txBody>
      </p:sp>
      <p:pic>
        <p:nvPicPr>
          <p:cNvPr id="4" name="Imagen 3">
            <a:extLst>
              <a:ext uri="{FF2B5EF4-FFF2-40B4-BE49-F238E27FC236}">
                <a16:creationId xmlns:a16="http://schemas.microsoft.com/office/drawing/2014/main" id="{E4B9DEE5-2879-23EF-F5D5-CF4B1198E2D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88681" y="3589522"/>
            <a:ext cx="3803319" cy="2840299"/>
          </a:xfrm>
          <a:prstGeom prst="rect">
            <a:avLst/>
          </a:prstGeom>
        </p:spPr>
      </p:pic>
      <p:pic>
        <p:nvPicPr>
          <p:cNvPr id="2" name="Imagen 1">
            <a:extLst>
              <a:ext uri="{FF2B5EF4-FFF2-40B4-BE49-F238E27FC236}">
                <a16:creationId xmlns:a16="http://schemas.microsoft.com/office/drawing/2014/main" id="{D4BD6AF2-3D6E-72FD-58E5-179B0A4E5F4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95554" y="255815"/>
            <a:ext cx="3315832" cy="4152901"/>
          </a:xfrm>
          <a:prstGeom prst="rect">
            <a:avLst/>
          </a:prstGeom>
        </p:spPr>
      </p:pic>
    </p:spTree>
    <p:extLst>
      <p:ext uri="{BB962C8B-B14F-4D97-AF65-F5344CB8AC3E}">
        <p14:creationId xmlns:p14="http://schemas.microsoft.com/office/powerpoint/2010/main" val="13222589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685A30F-7007-77CF-0E2A-66EE8C8387F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15685" y="377453"/>
            <a:ext cx="5863023" cy="4423147"/>
          </a:xfrm>
          <a:prstGeom prst="rect">
            <a:avLst/>
          </a:prstGeom>
        </p:spPr>
      </p:pic>
      <p:pic>
        <p:nvPicPr>
          <p:cNvPr id="4" name="Imagen 3">
            <a:extLst>
              <a:ext uri="{FF2B5EF4-FFF2-40B4-BE49-F238E27FC236}">
                <a16:creationId xmlns:a16="http://schemas.microsoft.com/office/drawing/2014/main" id="{C1B42B06-D86D-B4C9-6B4D-B627FE76D63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78708" y="1741714"/>
            <a:ext cx="5838925" cy="4423147"/>
          </a:xfrm>
          <a:prstGeom prst="rect">
            <a:avLst/>
          </a:prstGeom>
        </p:spPr>
      </p:pic>
    </p:spTree>
    <p:extLst>
      <p:ext uri="{BB962C8B-B14F-4D97-AF65-F5344CB8AC3E}">
        <p14:creationId xmlns:p14="http://schemas.microsoft.com/office/powerpoint/2010/main" val="9924425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0DCF66-16FB-2158-887A-13D0EB0DAC35}"/>
              </a:ext>
            </a:extLst>
          </p:cNvPr>
          <p:cNvSpPr>
            <a:spLocks noGrp="1"/>
          </p:cNvSpPr>
          <p:nvPr>
            <p:ph type="title"/>
          </p:nvPr>
        </p:nvSpPr>
        <p:spPr/>
        <p:txBody>
          <a:bodyPr/>
          <a:lstStyle/>
          <a:p>
            <a:r>
              <a:rPr lang="es-CL" dirty="0"/>
              <a:t>Las finanzas en la lógica de crecimiento</a:t>
            </a:r>
          </a:p>
        </p:txBody>
      </p:sp>
    </p:spTree>
    <p:extLst>
      <p:ext uri="{BB962C8B-B14F-4D97-AF65-F5344CB8AC3E}">
        <p14:creationId xmlns:p14="http://schemas.microsoft.com/office/powerpoint/2010/main" val="3896982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
            <a:extLst>
              <a:ext uri="{FF2B5EF4-FFF2-40B4-BE49-F238E27FC236}">
                <a16:creationId xmlns:a16="http://schemas.microsoft.com/office/drawing/2014/main" id="{E91732BE-73F4-4521-9F17-F065D41E02E3}"/>
              </a:ext>
            </a:extLst>
          </p:cNvPr>
          <p:cNvSpPr txBox="1"/>
          <p:nvPr/>
        </p:nvSpPr>
        <p:spPr>
          <a:xfrm>
            <a:off x="663218" y="394365"/>
            <a:ext cx="10865564" cy="523220"/>
          </a:xfrm>
          <a:prstGeom prst="rect">
            <a:avLst/>
          </a:prstGeom>
          <a:noFill/>
        </p:spPr>
        <p:txBody>
          <a:bodyPr wrap="square" rtlCol="0">
            <a:spAutoFit/>
          </a:bodyPr>
          <a:lstStyle/>
          <a:p>
            <a:pPr algn="ctr"/>
            <a:r>
              <a:rPr lang="es-ES" sz="2800" dirty="0">
                <a:latin typeface="Montserrat SemiBold" pitchFamily="2" charset="0"/>
              </a:rPr>
              <a:t>Valle de la muerte</a:t>
            </a:r>
            <a:endParaRPr lang="es-CL" sz="2800" dirty="0">
              <a:latin typeface="Montserrat SemiBold" pitchFamily="2" charset="0"/>
            </a:endParaRPr>
          </a:p>
        </p:txBody>
      </p:sp>
      <p:sp>
        <p:nvSpPr>
          <p:cNvPr id="20" name="CuadroTexto 19">
            <a:extLst>
              <a:ext uri="{FF2B5EF4-FFF2-40B4-BE49-F238E27FC236}">
                <a16:creationId xmlns:a16="http://schemas.microsoft.com/office/drawing/2014/main" id="{C253386D-A0D3-4E0C-9C30-56137326FDDD}"/>
              </a:ext>
            </a:extLst>
          </p:cNvPr>
          <p:cNvSpPr txBox="1"/>
          <p:nvPr/>
        </p:nvSpPr>
        <p:spPr>
          <a:xfrm>
            <a:off x="663218" y="6136070"/>
            <a:ext cx="10865564" cy="246221"/>
          </a:xfrm>
          <a:prstGeom prst="rect">
            <a:avLst/>
          </a:prstGeom>
          <a:noFill/>
        </p:spPr>
        <p:txBody>
          <a:bodyPr wrap="square">
            <a:spAutoFit/>
          </a:bodyPr>
          <a:lstStyle/>
          <a:p>
            <a:r>
              <a:rPr lang="es-CL" sz="1000" dirty="0">
                <a:latin typeface="Montserrat" panose="00000500000000000000" pitchFamily="2" charset="0"/>
              </a:rPr>
              <a:t>Fuente: </a:t>
            </a:r>
            <a:r>
              <a:rPr lang="pt-BR" sz="1000" dirty="0">
                <a:latin typeface="Montserrat" panose="00000500000000000000" pitchFamily="2" charset="0"/>
              </a:rPr>
              <a:t>Germán </a:t>
            </a:r>
            <a:r>
              <a:rPr lang="pt-BR" sz="1000" dirty="0" err="1">
                <a:latin typeface="Montserrat" panose="00000500000000000000" pitchFamily="2" charset="0"/>
              </a:rPr>
              <a:t>Echecopar</a:t>
            </a:r>
            <a:r>
              <a:rPr lang="pt-BR" sz="1000" dirty="0">
                <a:latin typeface="Montserrat" panose="00000500000000000000" pitchFamily="2" charset="0"/>
              </a:rPr>
              <a:t> &amp; Roberto </a:t>
            </a:r>
            <a:r>
              <a:rPr lang="pt-BR" sz="1000" dirty="0" err="1">
                <a:latin typeface="Montserrat" panose="00000500000000000000" pitchFamily="2" charset="0"/>
              </a:rPr>
              <a:t>Musso</a:t>
            </a:r>
            <a:r>
              <a:rPr lang="pt-BR" sz="1000" dirty="0">
                <a:latin typeface="Montserrat" panose="00000500000000000000" pitchFamily="2" charset="0"/>
              </a:rPr>
              <a:t> (2012)</a:t>
            </a:r>
            <a:endParaRPr lang="es-CL" sz="1000" dirty="0">
              <a:latin typeface="Montserrat" panose="00000500000000000000" pitchFamily="2" charset="0"/>
            </a:endParaRPr>
          </a:p>
        </p:txBody>
      </p:sp>
      <p:grpSp>
        <p:nvGrpSpPr>
          <p:cNvPr id="2" name="Grupo 1">
            <a:extLst>
              <a:ext uri="{FF2B5EF4-FFF2-40B4-BE49-F238E27FC236}">
                <a16:creationId xmlns:a16="http://schemas.microsoft.com/office/drawing/2014/main" id="{7985896E-A052-AB0E-795E-7B3487E47386}"/>
              </a:ext>
            </a:extLst>
          </p:cNvPr>
          <p:cNvGrpSpPr/>
          <p:nvPr/>
        </p:nvGrpSpPr>
        <p:grpSpPr>
          <a:xfrm>
            <a:off x="3337111" y="1310299"/>
            <a:ext cx="5517777" cy="4433057"/>
            <a:chOff x="5819888" y="1261713"/>
            <a:chExt cx="5517777" cy="4433057"/>
          </a:xfrm>
        </p:grpSpPr>
        <p:pic>
          <p:nvPicPr>
            <p:cNvPr id="3" name="Gráfico 2">
              <a:extLst>
                <a:ext uri="{FF2B5EF4-FFF2-40B4-BE49-F238E27FC236}">
                  <a16:creationId xmlns:a16="http://schemas.microsoft.com/office/drawing/2014/main" id="{9C7B818A-FCD8-3409-AB5F-D72DC58466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19888" y="1261713"/>
              <a:ext cx="5517776" cy="2822206"/>
            </a:xfrm>
            <a:prstGeom prst="rect">
              <a:avLst/>
            </a:prstGeom>
          </p:spPr>
        </p:pic>
        <p:sp>
          <p:nvSpPr>
            <p:cNvPr id="4" name="CuadroTexto 3">
              <a:extLst>
                <a:ext uri="{FF2B5EF4-FFF2-40B4-BE49-F238E27FC236}">
                  <a16:creationId xmlns:a16="http://schemas.microsoft.com/office/drawing/2014/main" id="{3424B26E-D6BC-407B-C262-209643C9DCB3}"/>
                </a:ext>
              </a:extLst>
            </p:cNvPr>
            <p:cNvSpPr txBox="1"/>
            <p:nvPr/>
          </p:nvSpPr>
          <p:spPr>
            <a:xfrm>
              <a:off x="6228678" y="4083919"/>
              <a:ext cx="705642" cy="307777"/>
            </a:xfrm>
            <a:prstGeom prst="rect">
              <a:avLst/>
            </a:prstGeom>
            <a:noFill/>
          </p:spPr>
          <p:txBody>
            <a:bodyPr wrap="none" rtlCol="0">
              <a:spAutoFit/>
            </a:bodyPr>
            <a:lstStyle/>
            <a:p>
              <a:r>
                <a:rPr lang="es-CL" sz="1400" dirty="0"/>
                <a:t>IDEAR</a:t>
              </a:r>
            </a:p>
          </p:txBody>
        </p:sp>
        <p:sp>
          <p:nvSpPr>
            <p:cNvPr id="6" name="CuadroTexto 5">
              <a:extLst>
                <a:ext uri="{FF2B5EF4-FFF2-40B4-BE49-F238E27FC236}">
                  <a16:creationId xmlns:a16="http://schemas.microsoft.com/office/drawing/2014/main" id="{A046F48D-9BE7-7621-3CDC-B362BDDDDD7E}"/>
                </a:ext>
              </a:extLst>
            </p:cNvPr>
            <p:cNvSpPr txBox="1"/>
            <p:nvPr/>
          </p:nvSpPr>
          <p:spPr>
            <a:xfrm>
              <a:off x="7913985" y="4083919"/>
              <a:ext cx="899605" cy="307777"/>
            </a:xfrm>
            <a:prstGeom prst="rect">
              <a:avLst/>
            </a:prstGeom>
            <a:noFill/>
          </p:spPr>
          <p:txBody>
            <a:bodyPr wrap="none" rtlCol="0">
              <a:spAutoFit/>
            </a:bodyPr>
            <a:lstStyle/>
            <a:p>
              <a:r>
                <a:rPr lang="es-CL" sz="1400" dirty="0"/>
                <a:t>LANZAR</a:t>
              </a:r>
            </a:p>
          </p:txBody>
        </p:sp>
        <p:sp>
          <p:nvSpPr>
            <p:cNvPr id="25" name="CuadroTexto 24">
              <a:extLst>
                <a:ext uri="{FF2B5EF4-FFF2-40B4-BE49-F238E27FC236}">
                  <a16:creationId xmlns:a16="http://schemas.microsoft.com/office/drawing/2014/main" id="{E269335B-166D-F282-5165-483D762010CB}"/>
                </a:ext>
              </a:extLst>
            </p:cNvPr>
            <p:cNvSpPr txBox="1"/>
            <p:nvPr/>
          </p:nvSpPr>
          <p:spPr>
            <a:xfrm>
              <a:off x="9793255" y="4083919"/>
              <a:ext cx="883575" cy="307777"/>
            </a:xfrm>
            <a:prstGeom prst="rect">
              <a:avLst/>
            </a:prstGeom>
            <a:noFill/>
          </p:spPr>
          <p:txBody>
            <a:bodyPr wrap="none" rtlCol="0">
              <a:spAutoFit/>
            </a:bodyPr>
            <a:lstStyle/>
            <a:p>
              <a:r>
                <a:rPr lang="es-CL" sz="1400" dirty="0"/>
                <a:t>CRECER</a:t>
              </a:r>
            </a:p>
          </p:txBody>
        </p:sp>
        <p:sp>
          <p:nvSpPr>
            <p:cNvPr id="26" name="CuadroTexto 25">
              <a:extLst>
                <a:ext uri="{FF2B5EF4-FFF2-40B4-BE49-F238E27FC236}">
                  <a16:creationId xmlns:a16="http://schemas.microsoft.com/office/drawing/2014/main" id="{DCF2FACA-E7D5-2A85-C758-9CD54AD6B9E0}"/>
                </a:ext>
              </a:extLst>
            </p:cNvPr>
            <p:cNvSpPr txBox="1"/>
            <p:nvPr/>
          </p:nvSpPr>
          <p:spPr>
            <a:xfrm>
              <a:off x="5819889" y="4771440"/>
              <a:ext cx="5517776" cy="923330"/>
            </a:xfrm>
            <a:prstGeom prst="rect">
              <a:avLst/>
            </a:prstGeom>
            <a:noFill/>
          </p:spPr>
          <p:txBody>
            <a:bodyPr wrap="square" rtlCol="0">
              <a:spAutoFit/>
            </a:bodyPr>
            <a:lstStyle/>
            <a:p>
              <a:r>
                <a:rPr lang="es-CL" dirty="0"/>
                <a:t>Las metodologías, apoyos al emprendimiento, mentorías, se concentran en esta fase pues es donde existe el mayor riesgo de fracasar.</a:t>
              </a:r>
            </a:p>
          </p:txBody>
        </p:sp>
      </p:grpSp>
    </p:spTree>
    <p:extLst>
      <p:ext uri="{BB962C8B-B14F-4D97-AF65-F5344CB8AC3E}">
        <p14:creationId xmlns:p14="http://schemas.microsoft.com/office/powerpoint/2010/main" val="25303329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579699"/>
            <a:ext cx="10865564" cy="523220"/>
          </a:xfrm>
          <a:prstGeom prst="rect">
            <a:avLst/>
          </a:prstGeom>
          <a:noFill/>
        </p:spPr>
        <p:txBody>
          <a:bodyPr wrap="square" rtlCol="0">
            <a:spAutoFit/>
          </a:bodyPr>
          <a:lstStyle/>
          <a:p>
            <a:pPr algn="ctr"/>
            <a:r>
              <a:rPr lang="es-ES" sz="2800" dirty="0">
                <a:latin typeface="Montserrat SemiBold" pitchFamily="2" charset="0"/>
              </a:rPr>
              <a:t>Valle de la muerte</a:t>
            </a:r>
            <a:endParaRPr lang="es-CL" sz="2800" dirty="0">
              <a:latin typeface="Montserrat SemiBold" pitchFamily="2" charset="0"/>
            </a:endParaRPr>
          </a:p>
        </p:txBody>
      </p:sp>
      <p:sp>
        <p:nvSpPr>
          <p:cNvPr id="8" name="CuadroTexto 7">
            <a:extLst>
              <a:ext uri="{FF2B5EF4-FFF2-40B4-BE49-F238E27FC236}">
                <a16:creationId xmlns:a16="http://schemas.microsoft.com/office/drawing/2014/main" id="{7C873786-8FDC-4926-9EE5-F8D1217F33FE}"/>
              </a:ext>
            </a:extLst>
          </p:cNvPr>
          <p:cNvSpPr txBox="1"/>
          <p:nvPr/>
        </p:nvSpPr>
        <p:spPr>
          <a:xfrm>
            <a:off x="663218" y="1484970"/>
            <a:ext cx="5145911" cy="2031325"/>
          </a:xfrm>
          <a:prstGeom prst="rect">
            <a:avLst/>
          </a:prstGeom>
          <a:noFill/>
        </p:spPr>
        <p:txBody>
          <a:bodyPr wrap="square">
            <a:spAutoFit/>
          </a:bodyPr>
          <a:lstStyle/>
          <a:p>
            <a:pPr algn="just"/>
            <a:r>
              <a:rPr lang="es-CL" dirty="0">
                <a:latin typeface="Montserrat" panose="00000500000000000000" pitchFamily="2" charset="0"/>
              </a:rPr>
              <a:t>El valle de la muerte recibe este nombre por ser la fase en que la mayor parte de los emprendimientos fracasa y muere.</a:t>
            </a:r>
          </a:p>
          <a:p>
            <a:pPr algn="just"/>
            <a:endParaRPr lang="es-CL" dirty="0">
              <a:latin typeface="Montserrat" panose="00000500000000000000" pitchFamily="2" charset="0"/>
            </a:endParaRPr>
          </a:p>
          <a:p>
            <a:pPr algn="just"/>
            <a:r>
              <a:rPr lang="es-CL" b="1" dirty="0">
                <a:latin typeface="Montserrat" panose="00000500000000000000" pitchFamily="2" charset="0"/>
              </a:rPr>
              <a:t>¿Cuándo sucede?</a:t>
            </a:r>
          </a:p>
          <a:p>
            <a:pPr algn="just"/>
            <a:endParaRPr lang="es-CL" b="1" dirty="0">
              <a:latin typeface="Montserrat" panose="00000500000000000000" pitchFamily="2" charset="0"/>
            </a:endParaRPr>
          </a:p>
          <a:p>
            <a:pPr algn="just"/>
            <a:r>
              <a:rPr lang="es-CL" b="1" dirty="0">
                <a:latin typeface="Montserrat" panose="00000500000000000000" pitchFamily="2" charset="0"/>
              </a:rPr>
              <a:t>¿Cuánto dura?</a:t>
            </a:r>
          </a:p>
        </p:txBody>
      </p:sp>
      <p:sp>
        <p:nvSpPr>
          <p:cNvPr id="5" name="CuadroTexto 4">
            <a:extLst>
              <a:ext uri="{FF2B5EF4-FFF2-40B4-BE49-F238E27FC236}">
                <a16:creationId xmlns:a16="http://schemas.microsoft.com/office/drawing/2014/main" id="{59272E9A-C110-4F7F-96D6-A1116464727A}"/>
              </a:ext>
            </a:extLst>
          </p:cNvPr>
          <p:cNvSpPr txBox="1"/>
          <p:nvPr/>
        </p:nvSpPr>
        <p:spPr>
          <a:xfrm>
            <a:off x="663218" y="6136070"/>
            <a:ext cx="10865564" cy="246221"/>
          </a:xfrm>
          <a:prstGeom prst="rect">
            <a:avLst/>
          </a:prstGeom>
          <a:noFill/>
        </p:spPr>
        <p:txBody>
          <a:bodyPr wrap="square">
            <a:spAutoFit/>
          </a:bodyPr>
          <a:lstStyle/>
          <a:p>
            <a:r>
              <a:rPr lang="es-CL" sz="1000" dirty="0">
                <a:latin typeface="Montserrat" panose="00000500000000000000" pitchFamily="2" charset="0"/>
              </a:rPr>
              <a:t>Fuente: </a:t>
            </a:r>
            <a:r>
              <a:rPr lang="pt-BR" sz="1000" dirty="0">
                <a:latin typeface="Montserrat" panose="00000500000000000000" pitchFamily="2" charset="0"/>
              </a:rPr>
              <a:t>Germán </a:t>
            </a:r>
            <a:r>
              <a:rPr lang="pt-BR" sz="1000" dirty="0" err="1">
                <a:latin typeface="Montserrat" panose="00000500000000000000" pitchFamily="2" charset="0"/>
              </a:rPr>
              <a:t>Echecopar</a:t>
            </a:r>
            <a:r>
              <a:rPr lang="pt-BR" sz="1000" dirty="0">
                <a:latin typeface="Montserrat" panose="00000500000000000000" pitchFamily="2" charset="0"/>
              </a:rPr>
              <a:t> &amp; Roberto </a:t>
            </a:r>
            <a:r>
              <a:rPr lang="pt-BR" sz="1000" dirty="0" err="1">
                <a:latin typeface="Montserrat" panose="00000500000000000000" pitchFamily="2" charset="0"/>
              </a:rPr>
              <a:t>Musso</a:t>
            </a:r>
            <a:r>
              <a:rPr lang="pt-BR" sz="1000" dirty="0">
                <a:latin typeface="Montserrat" panose="00000500000000000000" pitchFamily="2" charset="0"/>
              </a:rPr>
              <a:t> (2012)</a:t>
            </a:r>
            <a:endParaRPr lang="es-CL" sz="1000" dirty="0">
              <a:latin typeface="Montserrat" panose="00000500000000000000" pitchFamily="2" charset="0"/>
            </a:endParaRPr>
          </a:p>
        </p:txBody>
      </p:sp>
      <p:sp>
        <p:nvSpPr>
          <p:cNvPr id="3" name="Rectángulo 2">
            <a:extLst>
              <a:ext uri="{FF2B5EF4-FFF2-40B4-BE49-F238E27FC236}">
                <a16:creationId xmlns:a16="http://schemas.microsoft.com/office/drawing/2014/main" id="{307CCD68-ADA9-7FA8-3B1C-1B600D57886F}"/>
              </a:ext>
            </a:extLst>
          </p:cNvPr>
          <p:cNvSpPr/>
          <p:nvPr/>
        </p:nvSpPr>
        <p:spPr>
          <a:xfrm>
            <a:off x="6483446" y="1484969"/>
            <a:ext cx="5045336" cy="4410221"/>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lang="es-CL" sz="800" b="1" i="0" u="none" strike="noStrike" kern="1200" cap="none" spc="0" normalizeH="0" baseline="0" noProof="0" dirty="0">
              <a:ln>
                <a:noFill/>
              </a:ln>
              <a:solidFill>
                <a:prstClr val="black"/>
              </a:solidFill>
              <a:effectLst/>
              <a:uLnTx/>
              <a:uFillTx/>
              <a:latin typeface="Avenir Next" panose="020B0503020202020204" pitchFamily="34" charset="0"/>
              <a:sym typeface="Gill Sans" charset="0"/>
            </a:endParaRPr>
          </a:p>
          <a:p>
            <a:pPr marL="0" marR="0" lvl="0" indent="0" algn="l" defTabSz="914446"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¿Cuándo sucede?</a:t>
            </a:r>
          </a:p>
          <a:p>
            <a:pPr marL="0" marR="0" lvl="0" indent="0" algn="l" defTabSz="914446" rtl="0" eaLnBrk="1" fontAlgn="auto" latinLnBrk="0" hangingPunct="1">
              <a:lnSpc>
                <a:spcPct val="100000"/>
              </a:lnSpc>
              <a:spcBef>
                <a:spcPts val="0"/>
              </a:spcBef>
              <a:spcAft>
                <a:spcPts val="0"/>
              </a:spcAft>
              <a:buClrTx/>
              <a:buSzTx/>
              <a:buFontTx/>
              <a:buNone/>
              <a:tabLst/>
              <a:defRPr/>
            </a:pPr>
            <a:endParaRPr lang="es-CL" sz="1200" dirty="0">
              <a:solidFill>
                <a:prstClr val="black"/>
              </a:solidFill>
              <a:latin typeface="Avenir Next" panose="020B0503020202020204" pitchFamily="34" charset="0"/>
              <a:sym typeface="Gill Sans" charset="0"/>
            </a:endParaRPr>
          </a:p>
          <a:p>
            <a:pPr marL="171450" marR="0" lvl="0" indent="-171450" algn="l" defTabSz="91444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En el momento en que decidimos hacer el emprendimiento “en serio”, invertimos en forma real y comenzamos a enfrentar clientes, o hacer inversiones en el MVP1 con riesgo cierto (no es un juego).</a:t>
            </a:r>
          </a:p>
          <a:p>
            <a:pPr marL="171450" indent="-171450" defTabSz="914446">
              <a:buFont typeface="Arial" panose="020B0604020202020204" pitchFamily="34" charset="0"/>
              <a:buChar char="•"/>
              <a:defRPr/>
            </a:pP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Se prolonga cuando vamos pivoteando MVP1,2,3… y tratando de obtener los números que nos indiquen que vamos por buen camino.</a:t>
            </a:r>
          </a:p>
          <a:p>
            <a:pPr marL="171450" indent="-171450" defTabSz="914446">
              <a:buFont typeface="Arial" panose="020B0604020202020204" pitchFamily="34" charset="0"/>
              <a:buChar char="•"/>
              <a:defRPr/>
            </a:pP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Hasta que creemos que estamos cercanos al modelo de  negocios ajustado, viable, que es capaz de prometernos </a:t>
            </a:r>
            <a:r>
              <a:rPr kumimoji="0" lang="es-CL" sz="1200" b="0" i="1"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break </a:t>
            </a:r>
            <a:r>
              <a:rPr kumimoji="0" lang="es-CL" sz="1200" b="0" i="1" u="none" strike="noStrike" kern="1200" cap="none" spc="0" normalizeH="0" baseline="0" noProof="0" dirty="0" err="1">
                <a:ln>
                  <a:noFill/>
                </a:ln>
                <a:solidFill>
                  <a:prstClr val="black"/>
                </a:solidFill>
                <a:effectLst/>
                <a:uLnTx/>
                <a:uFillTx/>
                <a:latin typeface="Avenir Next" panose="020B0503020202020204" pitchFamily="34" charset="0"/>
                <a:sym typeface="Gill Sans" charset="0"/>
              </a:rPr>
              <a:t>even</a:t>
            </a:r>
            <a:r>
              <a:rPr kumimoji="0" lang="es-CL" sz="1200" b="0" i="1"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 </a:t>
            </a: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operacional.</a:t>
            </a:r>
          </a:p>
          <a:p>
            <a:pPr marL="0" marR="0" lvl="0" indent="0" algn="l" defTabSz="914446"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Avenir Next" panose="020B0503020202020204" pitchFamily="34" charset="0"/>
              <a:sym typeface="Gill Sans" charset="0"/>
            </a:endParaRPr>
          </a:p>
          <a:p>
            <a:pPr marL="0" marR="0" lvl="0" indent="0" algn="l" defTabSz="914446" rtl="0" eaLnBrk="1" fontAlgn="auto" latinLnBrk="0" hangingPunct="1">
              <a:lnSpc>
                <a:spcPct val="100000"/>
              </a:lnSpc>
              <a:spcBef>
                <a:spcPts val="0"/>
              </a:spcBef>
              <a:spcAft>
                <a:spcPts val="0"/>
              </a:spcAft>
              <a:buClrTx/>
              <a:buSzTx/>
              <a:buFontTx/>
              <a:buNone/>
              <a:tabLst/>
              <a:defRPr/>
            </a:pPr>
            <a:r>
              <a:rPr lang="es-CL" sz="1200" b="1" dirty="0">
                <a:solidFill>
                  <a:prstClr val="black"/>
                </a:solidFill>
                <a:latin typeface="Avenir Next" panose="020B0503020202020204" pitchFamily="34" charset="0"/>
                <a:sym typeface="Gill Sans" charset="0"/>
              </a:rPr>
              <a:t>¿Cuánto dura?</a:t>
            </a:r>
          </a:p>
          <a:p>
            <a:pPr marL="0" marR="0" lvl="0" indent="0" algn="l" defTabSz="914446"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Avenir Next" panose="020B0503020202020204" pitchFamily="34" charset="0"/>
              <a:sym typeface="Gill Sans" charset="0"/>
            </a:endParaRPr>
          </a:p>
          <a:p>
            <a:pPr marL="171450" indent="-171450" defTabSz="914446">
              <a:buFont typeface="Arial" panose="020B0604020202020204" pitchFamily="34" charset="0"/>
              <a:buChar char="•"/>
              <a:defRPr/>
            </a:pP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Si es </a:t>
            </a:r>
            <a:r>
              <a:rPr kumimoji="0" lang="es-CL" sz="1200" b="1"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rápido 2 años</a:t>
            </a: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 con una estación entre los 10 y 12 meses, y luego para los que van bien, otros 18 a 24 meses. En este viaje hay que probar el modelo de negocios, encontrar clientes, ajustar el equipo, revisar aliados, conseguir $.</a:t>
            </a:r>
          </a:p>
          <a:p>
            <a:pPr marL="171450" indent="-171450" defTabSz="914446">
              <a:buFont typeface="Arial" panose="020B0604020202020204" pitchFamily="34" charset="0"/>
              <a:buChar char="•"/>
              <a:defRPr/>
            </a:pP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Pero en general pueden ser 3 años, en llegar al azul. No es tema si lo están haciendo bien y probando buenas hipótesis y avanzando.</a:t>
            </a:r>
          </a:p>
          <a:p>
            <a:pPr marL="171450" indent="-171450" defTabSz="914446">
              <a:buFont typeface="Arial" panose="020B0604020202020204" pitchFamily="34" charset="0"/>
              <a:buChar char="•"/>
              <a:defRPr/>
            </a:pP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De todas formas, este es un tema, los equipos emprendedores siempre creen que todo será más rápido.</a:t>
            </a:r>
          </a:p>
        </p:txBody>
      </p:sp>
      <p:sp>
        <p:nvSpPr>
          <p:cNvPr id="4" name="Rectángulo 3">
            <a:extLst>
              <a:ext uri="{FF2B5EF4-FFF2-40B4-BE49-F238E27FC236}">
                <a16:creationId xmlns:a16="http://schemas.microsoft.com/office/drawing/2014/main" id="{6913DE1A-4DDD-5599-5EE7-BA63DD8DCDBE}"/>
              </a:ext>
            </a:extLst>
          </p:cNvPr>
          <p:cNvSpPr/>
          <p:nvPr/>
        </p:nvSpPr>
        <p:spPr>
          <a:xfrm>
            <a:off x="663217" y="5248548"/>
            <a:ext cx="5145911" cy="646642"/>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s-CL" sz="1800" b="1" i="0" u="none" strike="noStrike" kern="1200" cap="none" spc="0" normalizeH="0" baseline="0" noProof="0" dirty="0">
                <a:ln>
                  <a:noFill/>
                </a:ln>
                <a:solidFill>
                  <a:prstClr val="black"/>
                </a:solidFill>
                <a:effectLst/>
                <a:uLnTx/>
                <a:uFillTx/>
                <a:latin typeface="Avenir Next" panose="020B0503020202020204" pitchFamily="34" charset="0"/>
                <a:sym typeface="Gill Sans" charset="0"/>
              </a:rPr>
              <a:t>Lleva tiempo, y paciencia, y recursos…</a:t>
            </a:r>
          </a:p>
        </p:txBody>
      </p:sp>
    </p:spTree>
    <p:extLst>
      <p:ext uri="{BB962C8B-B14F-4D97-AF65-F5344CB8AC3E}">
        <p14:creationId xmlns:p14="http://schemas.microsoft.com/office/powerpoint/2010/main" val="25925202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6F1E617-2E61-CF2F-886A-816E46A33D24}"/>
              </a:ext>
            </a:extLst>
          </p:cNvPr>
          <p:cNvSpPr txBox="1"/>
          <p:nvPr/>
        </p:nvSpPr>
        <p:spPr>
          <a:xfrm>
            <a:off x="802217" y="717550"/>
            <a:ext cx="10587567" cy="523220"/>
          </a:xfrm>
          <a:prstGeom prst="rect">
            <a:avLst/>
          </a:prstGeom>
          <a:noFill/>
        </p:spPr>
        <p:txBody>
          <a:bodyPr wrap="square">
            <a:spAutoFit/>
          </a:bodyPr>
          <a:lstStyle/>
          <a:p>
            <a:pPr algn="ctr" defTabSz="914446">
              <a:defRPr/>
            </a:pPr>
            <a:r>
              <a:rPr lang="es-CL" sz="2800" dirty="0">
                <a:solidFill>
                  <a:prstClr val="black"/>
                </a:solidFill>
                <a:latin typeface="Avenir Next" panose="020B0503020202020204" pitchFamily="34" charset="0"/>
                <a:sym typeface="Gill Sans" charset="0"/>
              </a:rPr>
              <a:t>¿Qué SE SIENTE?</a:t>
            </a:r>
          </a:p>
        </p:txBody>
      </p:sp>
      <p:sp>
        <p:nvSpPr>
          <p:cNvPr id="3" name="Rectángulo 2">
            <a:extLst>
              <a:ext uri="{FF2B5EF4-FFF2-40B4-BE49-F238E27FC236}">
                <a16:creationId xmlns:a16="http://schemas.microsoft.com/office/drawing/2014/main" id="{D56FA6B3-FD4E-5423-B500-6499F9E50F64}"/>
              </a:ext>
            </a:extLst>
          </p:cNvPr>
          <p:cNvSpPr/>
          <p:nvPr/>
        </p:nvSpPr>
        <p:spPr>
          <a:xfrm>
            <a:off x="802217" y="1927377"/>
            <a:ext cx="4595283" cy="717550"/>
          </a:xfrm>
          <a:prstGeom prst="rect">
            <a:avLst/>
          </a:prstGeom>
          <a:solidFill>
            <a:srgbClr val="40A29F"/>
          </a:solidFill>
          <a:ln>
            <a:solidFill>
              <a:srgbClr val="40A29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914446">
              <a:defRPr/>
            </a:pPr>
            <a:r>
              <a:rPr lang="es-CL" b="1" dirty="0">
                <a:solidFill>
                  <a:prstClr val="black"/>
                </a:solidFill>
                <a:latin typeface="Avenir Next" panose="020B0503020202020204" pitchFamily="34" charset="0"/>
                <a:sym typeface="Gill Sans" charset="0"/>
              </a:rPr>
              <a:t>La fase de la incredulidad</a:t>
            </a:r>
          </a:p>
          <a:p>
            <a:pPr algn="ctr" defTabSz="914446">
              <a:defRPr/>
            </a:pPr>
            <a:r>
              <a:rPr lang="es-CL" dirty="0">
                <a:solidFill>
                  <a:prstClr val="black"/>
                </a:solidFill>
                <a:latin typeface="Avenir Next" panose="020B0503020202020204" pitchFamily="34" charset="0"/>
                <a:sym typeface="Gill Sans" charset="0"/>
              </a:rPr>
              <a:t>(descenso)</a:t>
            </a:r>
          </a:p>
        </p:txBody>
      </p:sp>
      <p:sp>
        <p:nvSpPr>
          <p:cNvPr id="4" name="Rectángulo 3">
            <a:extLst>
              <a:ext uri="{FF2B5EF4-FFF2-40B4-BE49-F238E27FC236}">
                <a16:creationId xmlns:a16="http://schemas.microsoft.com/office/drawing/2014/main" id="{3B530524-FEA6-BE2B-B869-68B8A2960B7A}"/>
              </a:ext>
            </a:extLst>
          </p:cNvPr>
          <p:cNvSpPr/>
          <p:nvPr/>
        </p:nvSpPr>
        <p:spPr>
          <a:xfrm>
            <a:off x="6794501" y="1927377"/>
            <a:ext cx="4595283" cy="717550"/>
          </a:xfrm>
          <a:prstGeom prst="rect">
            <a:avLst/>
          </a:prstGeom>
          <a:solidFill>
            <a:srgbClr val="40A29F"/>
          </a:solidFill>
          <a:ln>
            <a:solidFill>
              <a:srgbClr val="40A29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914446">
              <a:defRPr/>
            </a:pPr>
            <a:r>
              <a:rPr lang="es-CL" b="1" dirty="0">
                <a:solidFill>
                  <a:prstClr val="black"/>
                </a:solidFill>
                <a:latin typeface="Avenir Next" panose="020B0503020202020204" pitchFamily="34" charset="0"/>
                <a:sym typeface="Gill Sans" charset="0"/>
              </a:rPr>
              <a:t>Resistir el fuego cruzado</a:t>
            </a:r>
          </a:p>
          <a:p>
            <a:pPr algn="ctr" defTabSz="914446">
              <a:defRPr/>
            </a:pPr>
            <a:r>
              <a:rPr lang="es-CL" dirty="0">
                <a:solidFill>
                  <a:prstClr val="black"/>
                </a:solidFill>
                <a:latin typeface="Avenir Next" panose="020B0503020202020204" pitchFamily="34" charset="0"/>
                <a:sym typeface="Gill Sans" charset="0"/>
              </a:rPr>
              <a:t>(ascenso)</a:t>
            </a:r>
          </a:p>
        </p:txBody>
      </p:sp>
      <p:sp>
        <p:nvSpPr>
          <p:cNvPr id="5" name="CuadroTexto 4">
            <a:extLst>
              <a:ext uri="{FF2B5EF4-FFF2-40B4-BE49-F238E27FC236}">
                <a16:creationId xmlns:a16="http://schemas.microsoft.com/office/drawing/2014/main" id="{AF506E2A-526C-43AA-0660-29CB629E2FA0}"/>
              </a:ext>
            </a:extLst>
          </p:cNvPr>
          <p:cNvSpPr txBox="1"/>
          <p:nvPr/>
        </p:nvSpPr>
        <p:spPr>
          <a:xfrm>
            <a:off x="795867" y="2907393"/>
            <a:ext cx="4596342" cy="2862322"/>
          </a:xfrm>
          <a:prstGeom prst="rect">
            <a:avLst/>
          </a:prstGeom>
          <a:noFill/>
        </p:spPr>
        <p:txBody>
          <a:bodyPr>
            <a:spAutoFit/>
          </a:bodyPr>
          <a:lstStyle/>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Todo el mundo piensa que se está perdiendo el tiempo</a:t>
            </a:r>
          </a:p>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Cuestionamiento constante a todos los supuestos</a:t>
            </a:r>
          </a:p>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Presentación de alternativas</a:t>
            </a:r>
          </a:p>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Riesgo claro de perdida de la empresa por liquidez, falta de capital</a:t>
            </a:r>
          </a:p>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Aparecen muchos imponderables (señales divinas de que no es el camino)</a:t>
            </a:r>
          </a:p>
        </p:txBody>
      </p:sp>
      <p:sp>
        <p:nvSpPr>
          <p:cNvPr id="6" name="CuadroTexto 5">
            <a:extLst>
              <a:ext uri="{FF2B5EF4-FFF2-40B4-BE49-F238E27FC236}">
                <a16:creationId xmlns:a16="http://schemas.microsoft.com/office/drawing/2014/main" id="{D72E05F5-EE5D-5531-2C40-EBDFBA5BA6DB}"/>
              </a:ext>
            </a:extLst>
          </p:cNvPr>
          <p:cNvSpPr txBox="1"/>
          <p:nvPr/>
        </p:nvSpPr>
        <p:spPr>
          <a:xfrm>
            <a:off x="6794501" y="2907393"/>
            <a:ext cx="4595283" cy="2585323"/>
          </a:xfrm>
          <a:prstGeom prst="rect">
            <a:avLst/>
          </a:prstGeom>
          <a:noFill/>
        </p:spPr>
        <p:txBody>
          <a:bodyPr>
            <a:spAutoFit/>
          </a:bodyPr>
          <a:lstStyle/>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A muchos se les había ocurrido antes</a:t>
            </a:r>
          </a:p>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Revisión de los derechos de los “pseudo” socios</a:t>
            </a:r>
          </a:p>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Cuestionamientos del liderazgo, aparecen asesores</a:t>
            </a:r>
          </a:p>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¿Quién es el </a:t>
            </a:r>
            <a:r>
              <a:rPr lang="es-CL" i="1" dirty="0" err="1">
                <a:solidFill>
                  <a:prstClr val="black"/>
                </a:solidFill>
                <a:latin typeface="Avenir Next" panose="020B0503020202020204" pitchFamily="34" charset="0"/>
                <a:sym typeface="Gill Sans" charset="0"/>
              </a:rPr>
              <a:t>founder</a:t>
            </a:r>
            <a:r>
              <a:rPr lang="es-CL" dirty="0">
                <a:solidFill>
                  <a:prstClr val="black"/>
                </a:solidFill>
                <a:latin typeface="Avenir Next" panose="020B0503020202020204" pitchFamily="34" charset="0"/>
                <a:sym typeface="Gill Sans" charset="0"/>
              </a:rPr>
              <a:t>?</a:t>
            </a:r>
          </a:p>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Hay roces constantes por liderazgo y participación</a:t>
            </a:r>
          </a:p>
          <a:p>
            <a:pPr marL="285764" indent="-285764" defTabSz="914446">
              <a:buFont typeface="Arial" panose="020B0604020202020204" pitchFamily="34" charset="0"/>
              <a:buChar char="•"/>
              <a:defRPr/>
            </a:pPr>
            <a:r>
              <a:rPr lang="es-CL" dirty="0">
                <a:solidFill>
                  <a:prstClr val="black"/>
                </a:solidFill>
                <a:latin typeface="Avenir Next" panose="020B0503020202020204" pitchFamily="34" charset="0"/>
                <a:sym typeface="Gill Sans" charset="0"/>
              </a:rPr>
              <a:t>¿Cuándo y cómo ingresa capital?</a:t>
            </a:r>
          </a:p>
        </p:txBody>
      </p:sp>
      <p:sp>
        <p:nvSpPr>
          <p:cNvPr id="7" name="CuadroTexto 6">
            <a:extLst>
              <a:ext uri="{FF2B5EF4-FFF2-40B4-BE49-F238E27FC236}">
                <a16:creationId xmlns:a16="http://schemas.microsoft.com/office/drawing/2014/main" id="{8C9F6348-ED13-362C-FA3B-1CFDF8127740}"/>
              </a:ext>
            </a:extLst>
          </p:cNvPr>
          <p:cNvSpPr txBox="1"/>
          <p:nvPr/>
        </p:nvSpPr>
        <p:spPr>
          <a:xfrm rot="16200000">
            <a:off x="4386391" y="4200648"/>
            <a:ext cx="3419221" cy="307777"/>
          </a:xfrm>
          <a:prstGeom prst="rect">
            <a:avLst/>
          </a:prstGeom>
          <a:noFill/>
        </p:spPr>
        <p:txBody>
          <a:bodyPr wrap="square">
            <a:spAutoFit/>
          </a:bodyPr>
          <a:lstStyle/>
          <a:p>
            <a:pPr defTabSz="914446">
              <a:defRPr/>
            </a:pPr>
            <a:r>
              <a:rPr lang="es-CL" sz="1400" dirty="0">
                <a:solidFill>
                  <a:prstClr val="black"/>
                </a:solidFill>
                <a:latin typeface="Avenir Next" panose="020B0503020202020204" pitchFamily="34" charset="0"/>
                <a:sym typeface="Gill Sans" charset="0"/>
              </a:rPr>
              <a:t>SE GANA MÁS DE LO QUE SE GASTA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descr="Steve Ballmer, exCEO de Microsoft">
            <a:extLst>
              <a:ext uri="{FF2B5EF4-FFF2-40B4-BE49-F238E27FC236}">
                <a16:creationId xmlns:a16="http://schemas.microsoft.com/office/drawing/2014/main" id="{2B67254D-F67F-C4F9-5DEE-C976FCDB0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uadroTexto 2">
            <a:extLst>
              <a:ext uri="{FF2B5EF4-FFF2-40B4-BE49-F238E27FC236}">
                <a16:creationId xmlns:a16="http://schemas.microsoft.com/office/drawing/2014/main" id="{491ACB93-5627-7E7A-9470-813E4A0D5CB8}"/>
              </a:ext>
            </a:extLst>
          </p:cNvPr>
          <p:cNvSpPr txBox="1"/>
          <p:nvPr/>
        </p:nvSpPr>
        <p:spPr>
          <a:xfrm>
            <a:off x="6096000" y="0"/>
            <a:ext cx="5312833" cy="6858000"/>
          </a:xfrm>
          <a:prstGeom prst="rect">
            <a:avLst/>
          </a:prstGeom>
          <a:solidFill>
            <a:srgbClr val="40A29F"/>
          </a:solidFill>
          <a:ln>
            <a:solidFill>
              <a:srgbClr val="40A29F"/>
            </a:solidFill>
          </a:ln>
        </p:spPr>
        <p:style>
          <a:lnRef idx="2">
            <a:schemeClr val="dk1">
              <a:shade val="50000"/>
            </a:schemeClr>
          </a:lnRef>
          <a:fillRef idx="1">
            <a:schemeClr val="dk1"/>
          </a:fillRef>
          <a:effectRef idx="0">
            <a:schemeClr val="dk1"/>
          </a:effectRef>
          <a:fontRef idx="minor">
            <a:schemeClr val="lt1"/>
          </a:fontRef>
        </p:style>
        <p:txBody>
          <a:bodyPr anchor="ctr"/>
          <a:lstStyle>
            <a:defPPr>
              <a:defRPr lang="es-CL"/>
            </a:defPPr>
            <a:lvl1pPr algn="ctr">
              <a:defRPr b="1">
                <a:latin typeface="Gotham" panose="02000604030000020004" pitchFamily="50"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0873" algn="l" defTabSz="868407">
              <a:tabLst>
                <a:tab pos="5205674" algn="l"/>
              </a:tabLst>
              <a:defRPr/>
            </a:pPr>
            <a:r>
              <a:rPr lang="es-CL" sz="2000" b="0" dirty="0">
                <a:solidFill>
                  <a:prstClr val="black"/>
                </a:solidFill>
                <a:latin typeface="Avenir Next" panose="020B0503020202020204" pitchFamily="34" charset="0"/>
                <a:sym typeface="Gill Sans" charset="0"/>
              </a:rPr>
              <a:t>“No hay oportunidad que el iPhone tome alguna participación importante en el mercado. No hay oportunidad”</a:t>
            </a:r>
          </a:p>
          <a:p>
            <a:pPr marL="450873" algn="l" defTabSz="868407">
              <a:tabLst>
                <a:tab pos="5205674" algn="l"/>
              </a:tabLst>
              <a:defRPr/>
            </a:pPr>
            <a:endParaRPr lang="es-CL" sz="2000" b="0" dirty="0">
              <a:solidFill>
                <a:prstClr val="black"/>
              </a:solidFill>
              <a:latin typeface="Avenir Next" panose="020B0503020202020204" pitchFamily="34" charset="0"/>
              <a:sym typeface="Gill Sans" charset="0"/>
            </a:endParaRPr>
          </a:p>
          <a:p>
            <a:pPr marL="450873" algn="l" defTabSz="868407">
              <a:tabLst>
                <a:tab pos="5205674" algn="l"/>
              </a:tabLst>
              <a:defRPr/>
            </a:pPr>
            <a:r>
              <a:rPr lang="es-CL" sz="2000" b="0" dirty="0">
                <a:solidFill>
                  <a:prstClr val="black"/>
                </a:solidFill>
                <a:latin typeface="Avenir Next" panose="020B0503020202020204" pitchFamily="34" charset="0"/>
                <a:sym typeface="Gill Sans" charset="0"/>
              </a:rPr>
              <a:t>“Es un equipo de 500 dólares. Quizá Apple haga mucho dinero. Pero si le echas un vistazo a los 1,300 millones de teléfonos que se venden, yo preferiría tener nuestro software en 60, 70 u 80% de ellos que al tenerlo en el 2 o 3%, que es lo que quizá obtenga Apple”</a:t>
            </a:r>
          </a:p>
          <a:p>
            <a:pPr marL="450873" algn="l" defTabSz="868407">
              <a:tabLst>
                <a:tab pos="5205674" algn="l"/>
              </a:tabLst>
              <a:defRPr/>
            </a:pPr>
            <a:endParaRPr lang="es-CL" sz="2000" b="0" dirty="0">
              <a:solidFill>
                <a:prstClr val="black"/>
              </a:solidFill>
              <a:latin typeface="Avenir Next" panose="020B0503020202020204" pitchFamily="34" charset="0"/>
              <a:sym typeface="Gill Sans" charset="0"/>
            </a:endParaRPr>
          </a:p>
          <a:p>
            <a:pPr marL="450873" algn="l" defTabSz="868407">
              <a:tabLst>
                <a:tab pos="5205674" algn="l"/>
              </a:tabLst>
              <a:defRPr/>
            </a:pPr>
            <a:r>
              <a:rPr lang="es-CL" sz="2000" dirty="0">
                <a:solidFill>
                  <a:prstClr val="black"/>
                </a:solidFill>
                <a:latin typeface="Avenir Next" panose="020B0503020202020204" pitchFamily="34" charset="0"/>
                <a:sym typeface="Gill Sans" charset="0"/>
              </a:rPr>
              <a:t>Steve Ballmer, CEO de Microsoft</a:t>
            </a:r>
            <a:r>
              <a:rPr lang="es-CL" sz="2000" b="0" dirty="0">
                <a:solidFill>
                  <a:prstClr val="black"/>
                </a:solidFill>
                <a:latin typeface="Avenir Next" panose="020B0503020202020204" pitchFamily="34" charset="0"/>
                <a:sym typeface="Gill Sans" charset="0"/>
              </a:rPr>
              <a:t>, durante una entrevista con USA </a:t>
            </a:r>
            <a:r>
              <a:rPr lang="es-CL" sz="2000" b="0" dirty="0" err="1">
                <a:solidFill>
                  <a:prstClr val="black"/>
                </a:solidFill>
                <a:latin typeface="Avenir Next" panose="020B0503020202020204" pitchFamily="34" charset="0"/>
                <a:sym typeface="Gill Sans" charset="0"/>
              </a:rPr>
              <a:t>Today</a:t>
            </a:r>
            <a:r>
              <a:rPr lang="es-CL" sz="2000" b="0" dirty="0">
                <a:solidFill>
                  <a:prstClr val="black"/>
                </a:solidFill>
                <a:latin typeface="Avenir Next" panose="020B0503020202020204" pitchFamily="34" charset="0"/>
                <a:sym typeface="Gill Sans" charset="0"/>
              </a:rPr>
              <a:t> casi dos meses después del lanzamiento del iPhone.</a:t>
            </a:r>
          </a:p>
        </p:txBody>
      </p:sp>
      <p:sp>
        <p:nvSpPr>
          <p:cNvPr id="4" name="Rectángulo 3">
            <a:extLst>
              <a:ext uri="{FF2B5EF4-FFF2-40B4-BE49-F238E27FC236}">
                <a16:creationId xmlns:a16="http://schemas.microsoft.com/office/drawing/2014/main" id="{6B18F613-2EBE-A6AD-F8B3-B1EB6956CE5C}"/>
              </a:ext>
            </a:extLst>
          </p:cNvPr>
          <p:cNvSpPr/>
          <p:nvPr/>
        </p:nvSpPr>
        <p:spPr>
          <a:xfrm>
            <a:off x="11408833" y="0"/>
            <a:ext cx="783167" cy="6858000"/>
          </a:xfrm>
          <a:prstGeom prst="rect">
            <a:avLst/>
          </a:prstGeom>
          <a:solidFill>
            <a:srgbClr val="40A29F"/>
          </a:solidFill>
          <a:ln>
            <a:solidFill>
              <a:srgbClr val="40A29F"/>
            </a:solidFill>
          </a:ln>
        </p:spPr>
        <p:style>
          <a:lnRef idx="2">
            <a:schemeClr val="dk1">
              <a:shade val="50000"/>
            </a:schemeClr>
          </a:lnRef>
          <a:fillRef idx="1">
            <a:schemeClr val="dk1"/>
          </a:fillRef>
          <a:effectRef idx="0">
            <a:schemeClr val="dk1"/>
          </a:effectRef>
          <a:fontRef idx="minor">
            <a:schemeClr val="lt1"/>
          </a:fontRef>
        </p:style>
        <p:txBody>
          <a:bodyPr anchor="ctr"/>
          <a:lstStyle/>
          <a:p>
            <a:pPr marL="450873" defTabSz="868407">
              <a:tabLst>
                <a:tab pos="5205674" algn="l"/>
              </a:tabLst>
              <a:defRPr/>
            </a:pPr>
            <a:endParaRPr lang="es-CL" sz="2000">
              <a:solidFill>
                <a:prstClr val="black"/>
              </a:solidFill>
              <a:latin typeface="Gotham" panose="02000604030000020004" pitchFamily="50" charset="0"/>
              <a:sym typeface="Gill Sans"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B7409-2288-5753-5282-D41F420B7119}"/>
              </a:ext>
            </a:extLst>
          </p:cNvPr>
          <p:cNvSpPr>
            <a:spLocks noGrp="1"/>
          </p:cNvSpPr>
          <p:nvPr>
            <p:ph type="title"/>
          </p:nvPr>
        </p:nvSpPr>
        <p:spPr/>
        <p:txBody>
          <a:bodyPr/>
          <a:lstStyle/>
          <a:p>
            <a:r>
              <a:rPr lang="es-CL" dirty="0"/>
              <a:t>Casos en Lean Startup</a:t>
            </a:r>
          </a:p>
        </p:txBody>
      </p:sp>
    </p:spTree>
    <p:extLst>
      <p:ext uri="{BB962C8B-B14F-4D97-AF65-F5344CB8AC3E}">
        <p14:creationId xmlns:p14="http://schemas.microsoft.com/office/powerpoint/2010/main" val="25038184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D369E4B-A13E-5E35-96F1-236AA12F6437}"/>
              </a:ext>
            </a:extLst>
          </p:cNvPr>
          <p:cNvSpPr txBox="1"/>
          <p:nvPr/>
        </p:nvSpPr>
        <p:spPr>
          <a:xfrm>
            <a:off x="821634" y="1012954"/>
            <a:ext cx="4719294" cy="5262979"/>
          </a:xfrm>
          <a:prstGeom prst="rect">
            <a:avLst/>
          </a:prstGeom>
          <a:noFill/>
        </p:spPr>
        <p:txBody>
          <a:bodyPr wrap="square">
            <a:spAutoFit/>
          </a:bodyPr>
          <a:lstStyle/>
          <a:p>
            <a:pPr algn="l">
              <a:buNone/>
            </a:pPr>
            <a:r>
              <a:rPr lang="es-CL" sz="1200" b="0" i="0" u="none" strike="noStrike" dirty="0">
                <a:solidFill>
                  <a:srgbClr val="202122"/>
                </a:solidFill>
                <a:effectLst/>
                <a:latin typeface="Raleway" pitchFamily="2" charset="77"/>
              </a:rPr>
              <a:t>Ford fue fundada el 16 de junio de 1903 con US$28 000 (equivalente a $949 511 en 2023) aportados por once inversores, entre los que se incluía el socio que le dio nombre a la compañía, Henry Ford, que por aquel entonces contaba con 40 años de edad. En sus primeros años, Ford producía unos pocos coches por día en su fábrica en la avenida Mack en Detroit, Míchigan. </a:t>
            </a:r>
          </a:p>
          <a:p>
            <a:pPr algn="l">
              <a:buNone/>
            </a:pPr>
            <a:endParaRPr lang="es-CL" sz="1200" dirty="0">
              <a:solidFill>
                <a:srgbClr val="202122"/>
              </a:solidFill>
              <a:latin typeface="Raleway" pitchFamily="2" charset="77"/>
            </a:endParaRPr>
          </a:p>
          <a:p>
            <a:pPr algn="l">
              <a:buNone/>
            </a:pPr>
            <a:r>
              <a:rPr lang="es-CL" sz="1200" b="0" i="0" u="none" strike="noStrike" dirty="0">
                <a:solidFill>
                  <a:srgbClr val="202122"/>
                </a:solidFill>
                <a:effectLst/>
                <a:latin typeface="Raleway" pitchFamily="2" charset="77"/>
              </a:rPr>
              <a:t>En 1908, la compañía lanzó el modelo</a:t>
            </a:r>
            <a:r>
              <a:rPr lang="es-CL" sz="1200" b="0" i="0" u="none" strike="noStrike" dirty="0">
                <a:solidFill>
                  <a:srgbClr val="202122"/>
                </a:solidFill>
                <a:effectLst/>
                <a:latin typeface="Raleway" pitchFamily="2" charset="77"/>
                <a:hlinkClick r:id="rId2" tooltip="Ford T"/>
              </a:rPr>
              <a:t> </a:t>
            </a:r>
            <a:r>
              <a:rPr lang="es-CL" sz="1200" b="0" i="0" u="none" strike="noStrike" dirty="0">
                <a:solidFill>
                  <a:srgbClr val="202122"/>
                </a:solidFill>
                <a:effectLst/>
                <a:latin typeface="Raleway" pitchFamily="2" charset="77"/>
              </a:rPr>
              <a:t>T (</a:t>
            </a:r>
            <a:r>
              <a:rPr lang="en-US" sz="1200" b="1" i="1" u="none" strike="noStrike" noProof="0" dirty="0">
                <a:solidFill>
                  <a:srgbClr val="202122"/>
                </a:solidFill>
                <a:effectLst/>
                <a:latin typeface="Raleway" pitchFamily="2" charset="77"/>
              </a:rPr>
              <a:t>Product Market Fit</a:t>
            </a:r>
            <a:r>
              <a:rPr lang="es-CL" sz="1200" b="0" i="0" u="none" strike="noStrike" dirty="0">
                <a:solidFill>
                  <a:srgbClr val="202122"/>
                </a:solidFill>
                <a:effectLst/>
                <a:latin typeface="Raleway" pitchFamily="2" charset="77"/>
              </a:rPr>
              <a:t>), cuya primera unidad fue fabricada en la planta manufacturera de </a:t>
            </a:r>
            <a:r>
              <a:rPr lang="es-CL" sz="1200" b="0" i="0" u="none" strike="noStrike" dirty="0" err="1">
                <a:solidFill>
                  <a:srgbClr val="202122"/>
                </a:solidFill>
                <a:effectLst/>
                <a:latin typeface="Raleway" pitchFamily="2" charset="77"/>
              </a:rPr>
              <a:t>Piquette</a:t>
            </a:r>
            <a:r>
              <a:rPr lang="es-CL" sz="1200" b="0" i="0" u="none" strike="noStrike" dirty="0">
                <a:solidFill>
                  <a:srgbClr val="202122"/>
                </a:solidFill>
                <a:effectLst/>
                <a:latin typeface="Raleway" pitchFamily="2" charset="77"/>
              </a:rPr>
              <a:t>. El modelo T apareció en el mercado el 1 de octubre de 1908 y presentaba una gran cantidad de innovaciones. Por ejemplo, tenía el volante a la izquierda, siendo esto algo que la gran mayoría de las otras compañías pronto copiaron. Todo el motor y la transmisión iban cerrados, los cuatro cilindros estaban encajados en un bloque sólido y la suspensión funcionaba mediante dos muelles semi-elípticos. El automóvil era muy sencillo de conducir y, más importante, muy barato y fácil de reparar. Era tan barato que, con un precio de US$825 (equivalente a $27 977 en 2023) en 1908 (el precio caía cada año), para 1920 la gran mayoría de conductores habían aprendido a manejar en ese modelo (</a:t>
            </a:r>
            <a:r>
              <a:rPr lang="es-CL" sz="1200" b="1" i="0" u="none" strike="noStrike" dirty="0">
                <a:solidFill>
                  <a:srgbClr val="202122"/>
                </a:solidFill>
                <a:effectLst/>
                <a:latin typeface="Raleway" pitchFamily="2" charset="77"/>
              </a:rPr>
              <a:t>estándar de la industria</a:t>
            </a:r>
            <a:r>
              <a:rPr lang="es-CL" sz="1200" b="0" i="0" u="none" strike="noStrike" dirty="0">
                <a:solidFill>
                  <a:srgbClr val="202122"/>
                </a:solidFill>
                <a:effectLst/>
                <a:latin typeface="Raleway" pitchFamily="2" charset="77"/>
              </a:rPr>
              <a:t>).</a:t>
            </a:r>
          </a:p>
          <a:p>
            <a:pPr algn="l">
              <a:buNone/>
            </a:pPr>
            <a:endParaRPr lang="es-CL" sz="1200" dirty="0">
              <a:solidFill>
                <a:srgbClr val="202122"/>
              </a:solidFill>
              <a:latin typeface="Raleway" pitchFamily="2" charset="77"/>
            </a:endParaRPr>
          </a:p>
          <a:p>
            <a:pPr algn="l">
              <a:buNone/>
            </a:pPr>
            <a:r>
              <a:rPr lang="es-CL" sz="1200" b="0" i="0" u="none" strike="noStrike" dirty="0">
                <a:solidFill>
                  <a:srgbClr val="202122"/>
                </a:solidFill>
                <a:effectLst/>
                <a:latin typeface="Raleway" pitchFamily="2" charset="77"/>
              </a:rPr>
              <a:t>Hacia 1913, la compañía había desarrollado todas las técnicas básicas de línea de producción y producción en masa. Ford creó la primera línea de producción móvil del mundo ese año, la cual redujo el tiempo de ensamblaje del chasis de 12 horas y media a 100 minutos (</a:t>
            </a:r>
            <a:r>
              <a:rPr lang="es-CL" sz="1200" b="1" i="0" u="none" strike="noStrike" dirty="0">
                <a:solidFill>
                  <a:srgbClr val="202122"/>
                </a:solidFill>
                <a:effectLst/>
                <a:latin typeface="Raleway" pitchFamily="2" charset="77"/>
              </a:rPr>
              <a:t>ajuste del modelo de negocios</a:t>
            </a:r>
            <a:r>
              <a:rPr lang="es-CL" sz="1200" b="0" i="0" u="none" strike="noStrike" dirty="0">
                <a:solidFill>
                  <a:srgbClr val="202122"/>
                </a:solidFill>
                <a:effectLst/>
                <a:latin typeface="Raleway" pitchFamily="2" charset="77"/>
              </a:rPr>
              <a:t>).</a:t>
            </a:r>
          </a:p>
        </p:txBody>
      </p:sp>
      <p:pic>
        <p:nvPicPr>
          <p:cNvPr id="3074" name="Picture 2" descr="Prices and Sales of Model T Ford Chart, 1908-1916 | Richmond Fed">
            <a:extLst>
              <a:ext uri="{FF2B5EF4-FFF2-40B4-BE49-F238E27FC236}">
                <a16:creationId xmlns:a16="http://schemas.microsoft.com/office/drawing/2014/main" id="{1083DB59-3BD9-B8DF-2D8F-CB80AC71A8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1108" y="1384011"/>
            <a:ext cx="5570084" cy="483209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BB0D61AA-8CAB-5D5E-EDD2-C69CE28B2505}"/>
              </a:ext>
            </a:extLst>
          </p:cNvPr>
          <p:cNvSpPr txBox="1"/>
          <p:nvPr/>
        </p:nvSpPr>
        <p:spPr>
          <a:xfrm>
            <a:off x="5931108" y="842620"/>
            <a:ext cx="1245704" cy="523220"/>
          </a:xfrm>
          <a:prstGeom prst="rect">
            <a:avLst/>
          </a:prstGeom>
          <a:noFill/>
        </p:spPr>
        <p:txBody>
          <a:bodyPr wrap="square" rtlCol="0">
            <a:spAutoFit/>
          </a:bodyPr>
          <a:lstStyle/>
          <a:p>
            <a:r>
              <a:rPr lang="es-CL" sz="1400" b="1" dirty="0" err="1">
                <a:highlight>
                  <a:srgbClr val="00FFFF"/>
                </a:highlight>
                <a:latin typeface="Raleway" pitchFamily="2" charset="77"/>
              </a:rPr>
              <a:t>Product</a:t>
            </a:r>
            <a:r>
              <a:rPr lang="es-CL" sz="1400" b="1" dirty="0">
                <a:highlight>
                  <a:srgbClr val="00FFFF"/>
                </a:highlight>
                <a:latin typeface="Raleway" pitchFamily="2" charset="77"/>
              </a:rPr>
              <a:t> </a:t>
            </a:r>
            <a:r>
              <a:rPr lang="es-CL" sz="1400" b="1" dirty="0" err="1">
                <a:highlight>
                  <a:srgbClr val="00FFFF"/>
                </a:highlight>
                <a:latin typeface="Raleway" pitchFamily="2" charset="77"/>
              </a:rPr>
              <a:t>market</a:t>
            </a:r>
            <a:r>
              <a:rPr lang="es-CL" sz="1400" b="1" dirty="0">
                <a:highlight>
                  <a:srgbClr val="00FFFF"/>
                </a:highlight>
                <a:latin typeface="Raleway" pitchFamily="2" charset="77"/>
              </a:rPr>
              <a:t> </a:t>
            </a:r>
            <a:r>
              <a:rPr lang="es-CL" sz="1400" b="1" dirty="0" err="1">
                <a:highlight>
                  <a:srgbClr val="00FFFF"/>
                </a:highlight>
                <a:latin typeface="Raleway" pitchFamily="2" charset="77"/>
              </a:rPr>
              <a:t>fit</a:t>
            </a:r>
            <a:endParaRPr lang="es-CL" sz="1400" b="1" dirty="0">
              <a:highlight>
                <a:srgbClr val="00FFFF"/>
              </a:highlight>
              <a:latin typeface="Raleway" pitchFamily="2" charset="77"/>
            </a:endParaRPr>
          </a:p>
        </p:txBody>
      </p:sp>
      <p:sp>
        <p:nvSpPr>
          <p:cNvPr id="5" name="CuadroTexto 4">
            <a:extLst>
              <a:ext uri="{FF2B5EF4-FFF2-40B4-BE49-F238E27FC236}">
                <a16:creationId xmlns:a16="http://schemas.microsoft.com/office/drawing/2014/main" id="{42DE9C95-2D0C-7EE4-BAB0-4A0227AC6FD1}"/>
              </a:ext>
            </a:extLst>
          </p:cNvPr>
          <p:cNvSpPr txBox="1"/>
          <p:nvPr/>
        </p:nvSpPr>
        <p:spPr>
          <a:xfrm>
            <a:off x="7176812" y="627176"/>
            <a:ext cx="1245704" cy="738664"/>
          </a:xfrm>
          <a:prstGeom prst="rect">
            <a:avLst/>
          </a:prstGeom>
          <a:noFill/>
        </p:spPr>
        <p:txBody>
          <a:bodyPr wrap="square" rtlCol="0">
            <a:spAutoFit/>
          </a:bodyPr>
          <a:lstStyle/>
          <a:p>
            <a:r>
              <a:rPr lang="es-CL" sz="1400" b="1" dirty="0">
                <a:highlight>
                  <a:srgbClr val="00FFFF"/>
                </a:highlight>
                <a:latin typeface="Raleway" pitchFamily="2" charset="77"/>
              </a:rPr>
              <a:t>Ajuste del modelo de negocios</a:t>
            </a:r>
          </a:p>
        </p:txBody>
      </p:sp>
      <p:cxnSp>
        <p:nvCxnSpPr>
          <p:cNvPr id="7" name="Conector recto de flecha 6">
            <a:extLst>
              <a:ext uri="{FF2B5EF4-FFF2-40B4-BE49-F238E27FC236}">
                <a16:creationId xmlns:a16="http://schemas.microsoft.com/office/drawing/2014/main" id="{B8C06A3D-E35E-80F7-A247-2B73FA9B7F1A}"/>
              </a:ext>
            </a:extLst>
          </p:cNvPr>
          <p:cNvCxnSpPr>
            <a:stCxn id="5" idx="3"/>
          </p:cNvCxnSpPr>
          <p:nvPr/>
        </p:nvCxnSpPr>
        <p:spPr>
          <a:xfrm>
            <a:off x="8422516" y="996508"/>
            <a:ext cx="1635884" cy="10653"/>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4F46B6B7-4861-E325-B673-7796F337A445}"/>
              </a:ext>
            </a:extLst>
          </p:cNvPr>
          <p:cNvSpPr txBox="1"/>
          <p:nvPr/>
        </p:nvSpPr>
        <p:spPr>
          <a:xfrm>
            <a:off x="821634" y="271508"/>
            <a:ext cx="2919389" cy="461665"/>
          </a:xfrm>
          <a:prstGeom prst="rect">
            <a:avLst/>
          </a:prstGeom>
          <a:noFill/>
        </p:spPr>
        <p:txBody>
          <a:bodyPr wrap="none" rtlCol="0">
            <a:spAutoFit/>
          </a:bodyPr>
          <a:lstStyle/>
          <a:p>
            <a:r>
              <a:rPr lang="es-CL" sz="2400" b="1" dirty="0">
                <a:latin typeface="Raleway" pitchFamily="2" charset="77"/>
              </a:rPr>
              <a:t>La historia de Ford</a:t>
            </a:r>
          </a:p>
        </p:txBody>
      </p:sp>
    </p:spTree>
    <p:extLst>
      <p:ext uri="{BB962C8B-B14F-4D97-AF65-F5344CB8AC3E}">
        <p14:creationId xmlns:p14="http://schemas.microsoft.com/office/powerpoint/2010/main" val="18003934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Conector angular 18">
            <a:extLst>
              <a:ext uri="{FF2B5EF4-FFF2-40B4-BE49-F238E27FC236}">
                <a16:creationId xmlns:a16="http://schemas.microsoft.com/office/drawing/2014/main" id="{93F0EB7A-75E9-275A-A9CF-10A586CBCF44}"/>
              </a:ext>
            </a:extLst>
          </p:cNvPr>
          <p:cNvCxnSpPr>
            <a:stCxn id="12" idx="2"/>
            <a:endCxn id="15" idx="2"/>
          </p:cNvCxnSpPr>
          <p:nvPr/>
        </p:nvCxnSpPr>
        <p:spPr>
          <a:xfrm rot="16200000" flipH="1">
            <a:off x="3926471" y="3306626"/>
            <a:ext cx="1119906" cy="3537205"/>
          </a:xfrm>
          <a:prstGeom prst="bentConnector3">
            <a:avLst>
              <a:gd name="adj1" fmla="val 120412"/>
            </a:avLst>
          </a:prstGeom>
          <a:ln w="57150"/>
        </p:spPr>
        <p:style>
          <a:lnRef idx="2">
            <a:schemeClr val="dk1"/>
          </a:lnRef>
          <a:fillRef idx="0">
            <a:schemeClr val="dk1"/>
          </a:fillRef>
          <a:effectRef idx="1">
            <a:schemeClr val="dk1"/>
          </a:effectRef>
          <a:fontRef idx="minor">
            <a:schemeClr val="tx1"/>
          </a:fontRef>
        </p:style>
      </p:cxnSp>
      <p:grpSp>
        <p:nvGrpSpPr>
          <p:cNvPr id="3" name="Grupo 2">
            <a:extLst>
              <a:ext uri="{FF2B5EF4-FFF2-40B4-BE49-F238E27FC236}">
                <a16:creationId xmlns:a16="http://schemas.microsoft.com/office/drawing/2014/main" id="{3C827940-2925-11D9-D670-E0FB5B47235E}"/>
              </a:ext>
            </a:extLst>
          </p:cNvPr>
          <p:cNvGrpSpPr/>
          <p:nvPr/>
        </p:nvGrpSpPr>
        <p:grpSpPr>
          <a:xfrm>
            <a:off x="0" y="715003"/>
            <a:ext cx="12192000" cy="1591933"/>
            <a:chOff x="0" y="1494572"/>
            <a:chExt cx="12192000" cy="1591933"/>
          </a:xfrm>
        </p:grpSpPr>
        <p:pic>
          <p:nvPicPr>
            <p:cNvPr id="1028" name="Picture 4" descr="The Model T">
              <a:extLst>
                <a:ext uri="{FF2B5EF4-FFF2-40B4-BE49-F238E27FC236}">
                  <a16:creationId xmlns:a16="http://schemas.microsoft.com/office/drawing/2014/main" id="{B442C43F-452E-7775-31A3-F610F02A1F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94572"/>
              <a:ext cx="6255027" cy="159193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9E482AB1-341E-439B-84E6-DF2E3B7B153F}"/>
                </a:ext>
              </a:extLst>
            </p:cNvPr>
            <p:cNvSpPr/>
            <p:nvPr/>
          </p:nvSpPr>
          <p:spPr>
            <a:xfrm>
              <a:off x="6255027" y="1494572"/>
              <a:ext cx="5936973" cy="1591933"/>
            </a:xfrm>
            <a:prstGeom prst="rect">
              <a:avLst/>
            </a:prstGeom>
            <a:solidFill>
              <a:srgbClr val="E4E4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pic>
        <p:nvPicPr>
          <p:cNvPr id="1030" name="Picture 6" descr="Henry Ford's First Car - Historical Pix">
            <a:extLst>
              <a:ext uri="{FF2B5EF4-FFF2-40B4-BE49-F238E27FC236}">
                <a16:creationId xmlns:a16="http://schemas.microsoft.com/office/drawing/2014/main" id="{6C0E048E-44A5-DCD0-7EB2-7CB1C58CD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9288" y="2612314"/>
            <a:ext cx="1773637" cy="121733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he First Ford Model A » Lisa Rivero">
            <a:extLst>
              <a:ext uri="{FF2B5EF4-FFF2-40B4-BE49-F238E27FC236}">
                <a16:creationId xmlns:a16="http://schemas.microsoft.com/office/drawing/2014/main" id="{C6D41AAF-D16D-3952-BD57-475CC59C1D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7915" y="2604400"/>
            <a:ext cx="1773637" cy="118027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1904 Ford Model B | The Model B was introduced by Ford in 19… | Flickr">
            <a:extLst>
              <a:ext uri="{FF2B5EF4-FFF2-40B4-BE49-F238E27FC236}">
                <a16:creationId xmlns:a16="http://schemas.microsoft.com/office/drawing/2014/main" id="{99778721-72FC-9686-2D04-7B78B5048A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944" y="2644478"/>
            <a:ext cx="1773637" cy="114019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odel T | Description &amp; Facts | Britannica">
            <a:extLst>
              <a:ext uri="{FF2B5EF4-FFF2-40B4-BE49-F238E27FC236}">
                <a16:creationId xmlns:a16="http://schemas.microsoft.com/office/drawing/2014/main" id="{755B5F8C-59ED-2F82-65E5-83B7726800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4581" y="2644477"/>
            <a:ext cx="1806377" cy="1140195"/>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9A8A3683-34A2-9003-418D-1CA3A2A7479F}"/>
              </a:ext>
            </a:extLst>
          </p:cNvPr>
          <p:cNvSpPr txBox="1"/>
          <p:nvPr/>
        </p:nvSpPr>
        <p:spPr>
          <a:xfrm>
            <a:off x="490331" y="176619"/>
            <a:ext cx="2919389" cy="461665"/>
          </a:xfrm>
          <a:prstGeom prst="rect">
            <a:avLst/>
          </a:prstGeom>
          <a:noFill/>
        </p:spPr>
        <p:txBody>
          <a:bodyPr wrap="none" rtlCol="0">
            <a:spAutoFit/>
          </a:bodyPr>
          <a:lstStyle/>
          <a:p>
            <a:r>
              <a:rPr lang="es-CL" sz="2400" b="1" dirty="0">
                <a:latin typeface="Raleway" pitchFamily="2" charset="77"/>
              </a:rPr>
              <a:t>La historia de Ford</a:t>
            </a:r>
          </a:p>
        </p:txBody>
      </p:sp>
      <p:sp>
        <p:nvSpPr>
          <p:cNvPr id="5" name="CuadroTexto 4">
            <a:extLst>
              <a:ext uri="{FF2B5EF4-FFF2-40B4-BE49-F238E27FC236}">
                <a16:creationId xmlns:a16="http://schemas.microsoft.com/office/drawing/2014/main" id="{D7AB09A1-1075-310B-3554-D242AC769C5A}"/>
              </a:ext>
            </a:extLst>
          </p:cNvPr>
          <p:cNvSpPr txBox="1"/>
          <p:nvPr/>
        </p:nvSpPr>
        <p:spPr>
          <a:xfrm>
            <a:off x="2387645" y="5221853"/>
            <a:ext cx="688009" cy="369332"/>
          </a:xfrm>
          <a:prstGeom prst="rect">
            <a:avLst/>
          </a:prstGeom>
          <a:noFill/>
        </p:spPr>
        <p:txBody>
          <a:bodyPr wrap="none" rtlCol="0">
            <a:spAutoFit/>
          </a:bodyPr>
          <a:lstStyle/>
          <a:p>
            <a:r>
              <a:rPr lang="es-CL" b="1" dirty="0">
                <a:highlight>
                  <a:srgbClr val="00FFFF"/>
                </a:highlight>
                <a:latin typeface="Raleway" pitchFamily="2" charset="77"/>
              </a:rPr>
              <a:t>MVP</a:t>
            </a:r>
          </a:p>
        </p:txBody>
      </p:sp>
      <p:sp>
        <p:nvSpPr>
          <p:cNvPr id="6" name="CuadroTexto 5">
            <a:extLst>
              <a:ext uri="{FF2B5EF4-FFF2-40B4-BE49-F238E27FC236}">
                <a16:creationId xmlns:a16="http://schemas.microsoft.com/office/drawing/2014/main" id="{9D9EBF1E-9B70-76C7-6C93-5DD7DF4C3E4C}"/>
              </a:ext>
            </a:extLst>
          </p:cNvPr>
          <p:cNvSpPr txBox="1"/>
          <p:nvPr/>
        </p:nvSpPr>
        <p:spPr>
          <a:xfrm>
            <a:off x="7288697" y="5221853"/>
            <a:ext cx="1245704" cy="523220"/>
          </a:xfrm>
          <a:prstGeom prst="rect">
            <a:avLst/>
          </a:prstGeom>
          <a:noFill/>
        </p:spPr>
        <p:txBody>
          <a:bodyPr wrap="square" rtlCol="0">
            <a:spAutoFit/>
          </a:bodyPr>
          <a:lstStyle/>
          <a:p>
            <a:r>
              <a:rPr lang="es-CL" sz="1400" b="1" dirty="0" err="1">
                <a:highlight>
                  <a:srgbClr val="00FFFF"/>
                </a:highlight>
                <a:latin typeface="Raleway" pitchFamily="2" charset="77"/>
              </a:rPr>
              <a:t>Product</a:t>
            </a:r>
            <a:r>
              <a:rPr lang="es-CL" sz="1400" b="1" dirty="0">
                <a:highlight>
                  <a:srgbClr val="00FFFF"/>
                </a:highlight>
                <a:latin typeface="Raleway" pitchFamily="2" charset="77"/>
              </a:rPr>
              <a:t> </a:t>
            </a:r>
            <a:r>
              <a:rPr lang="es-CL" sz="1400" b="1" dirty="0" err="1">
                <a:highlight>
                  <a:srgbClr val="00FFFF"/>
                </a:highlight>
                <a:latin typeface="Raleway" pitchFamily="2" charset="77"/>
              </a:rPr>
              <a:t>market</a:t>
            </a:r>
            <a:r>
              <a:rPr lang="es-CL" sz="1400" b="1" dirty="0">
                <a:highlight>
                  <a:srgbClr val="00FFFF"/>
                </a:highlight>
                <a:latin typeface="Raleway" pitchFamily="2" charset="77"/>
              </a:rPr>
              <a:t> </a:t>
            </a:r>
            <a:r>
              <a:rPr lang="es-CL" sz="1400" b="1" dirty="0" err="1">
                <a:highlight>
                  <a:srgbClr val="00FFFF"/>
                </a:highlight>
                <a:latin typeface="Raleway" pitchFamily="2" charset="77"/>
              </a:rPr>
              <a:t>fit</a:t>
            </a:r>
            <a:endParaRPr lang="es-CL" sz="1400" b="1" dirty="0">
              <a:highlight>
                <a:srgbClr val="00FFFF"/>
              </a:highlight>
              <a:latin typeface="Raleway" pitchFamily="2" charset="77"/>
            </a:endParaRPr>
          </a:p>
        </p:txBody>
      </p:sp>
      <p:sp>
        <p:nvSpPr>
          <p:cNvPr id="7" name="CuadroTexto 6">
            <a:extLst>
              <a:ext uri="{FF2B5EF4-FFF2-40B4-BE49-F238E27FC236}">
                <a16:creationId xmlns:a16="http://schemas.microsoft.com/office/drawing/2014/main" id="{0AF69068-0175-2F85-C068-6EC6F058EB18}"/>
              </a:ext>
            </a:extLst>
          </p:cNvPr>
          <p:cNvSpPr txBox="1"/>
          <p:nvPr/>
        </p:nvSpPr>
        <p:spPr>
          <a:xfrm>
            <a:off x="9997609" y="5210364"/>
            <a:ext cx="1245704" cy="738664"/>
          </a:xfrm>
          <a:prstGeom prst="rect">
            <a:avLst/>
          </a:prstGeom>
          <a:noFill/>
        </p:spPr>
        <p:txBody>
          <a:bodyPr wrap="square" rtlCol="0">
            <a:spAutoFit/>
          </a:bodyPr>
          <a:lstStyle/>
          <a:p>
            <a:r>
              <a:rPr lang="es-CL" sz="1400" b="1" dirty="0">
                <a:highlight>
                  <a:srgbClr val="00FFFF"/>
                </a:highlight>
                <a:latin typeface="Raleway" pitchFamily="2" charset="77"/>
              </a:rPr>
              <a:t>Ajuste del modelo de negocios</a:t>
            </a:r>
          </a:p>
        </p:txBody>
      </p:sp>
      <p:sp>
        <p:nvSpPr>
          <p:cNvPr id="9" name="CuadroTexto 8">
            <a:extLst>
              <a:ext uri="{FF2B5EF4-FFF2-40B4-BE49-F238E27FC236}">
                <a16:creationId xmlns:a16="http://schemas.microsoft.com/office/drawing/2014/main" id="{5D47F0E5-E9AA-3C4E-2489-E18BC045E960}"/>
              </a:ext>
            </a:extLst>
          </p:cNvPr>
          <p:cNvSpPr txBox="1"/>
          <p:nvPr/>
        </p:nvSpPr>
        <p:spPr>
          <a:xfrm>
            <a:off x="6096000" y="821019"/>
            <a:ext cx="5618922" cy="1384995"/>
          </a:xfrm>
          <a:prstGeom prst="rect">
            <a:avLst/>
          </a:prstGeom>
          <a:noFill/>
        </p:spPr>
        <p:txBody>
          <a:bodyPr wrap="square">
            <a:spAutoFit/>
          </a:bodyPr>
          <a:lstStyle/>
          <a:p>
            <a:pPr algn="l" rtl="0">
              <a:buNone/>
            </a:pPr>
            <a:r>
              <a:rPr lang="es-CL" sz="1400" i="0" u="none" strike="noStrike" dirty="0">
                <a:effectLst/>
                <a:latin typeface="Raleway" pitchFamily="2" charset="77"/>
              </a:rPr>
              <a:t>La visión de Henry Ford era hacer el automóvil un producto práctico y asequible para la gente común, no solo para ricos. Implementó el sistema de producción en cadena y la estandarización de piezas para aumentar la eficiencia y bajar los costos, democratizando así la movilidad y transformando la sociedad y la economía.</a:t>
            </a:r>
            <a:endParaRPr lang="es-CL" sz="1400" dirty="0">
              <a:latin typeface="Raleway" pitchFamily="2" charset="77"/>
            </a:endParaRPr>
          </a:p>
        </p:txBody>
      </p:sp>
      <p:cxnSp>
        <p:nvCxnSpPr>
          <p:cNvPr id="11" name="Conector recto de flecha 10">
            <a:extLst>
              <a:ext uri="{FF2B5EF4-FFF2-40B4-BE49-F238E27FC236}">
                <a16:creationId xmlns:a16="http://schemas.microsoft.com/office/drawing/2014/main" id="{80276CDF-9626-0CF1-9734-AC804519F8D5}"/>
              </a:ext>
            </a:extLst>
          </p:cNvPr>
          <p:cNvCxnSpPr/>
          <p:nvPr/>
        </p:nvCxnSpPr>
        <p:spPr>
          <a:xfrm>
            <a:off x="1389288" y="3905844"/>
            <a:ext cx="9177112"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2" name="CuadroTexto 11">
            <a:extLst>
              <a:ext uri="{FF2B5EF4-FFF2-40B4-BE49-F238E27FC236}">
                <a16:creationId xmlns:a16="http://schemas.microsoft.com/office/drawing/2014/main" id="{954D92B7-3C79-F08E-0CF9-5DD0E7EBC421}"/>
              </a:ext>
            </a:extLst>
          </p:cNvPr>
          <p:cNvSpPr txBox="1"/>
          <p:nvPr/>
        </p:nvSpPr>
        <p:spPr>
          <a:xfrm>
            <a:off x="2260644" y="4007445"/>
            <a:ext cx="914355" cy="507831"/>
          </a:xfrm>
          <a:prstGeom prst="rect">
            <a:avLst/>
          </a:prstGeom>
          <a:solidFill>
            <a:schemeClr val="bg1"/>
          </a:solidFill>
        </p:spPr>
        <p:txBody>
          <a:bodyPr wrap="square" rtlCol="0">
            <a:spAutoFit/>
          </a:bodyPr>
          <a:lstStyle/>
          <a:p>
            <a:pPr algn="ctr"/>
            <a:r>
              <a:rPr lang="es-CL" sz="1100" b="1" dirty="0">
                <a:latin typeface="Raleway" pitchFamily="2" charset="77"/>
              </a:rPr>
              <a:t>1896</a:t>
            </a:r>
          </a:p>
          <a:p>
            <a:pPr algn="ctr"/>
            <a:r>
              <a:rPr lang="es-CL" sz="800" dirty="0">
                <a:latin typeface="Raleway" pitchFamily="2" charset="77"/>
              </a:rPr>
              <a:t>Cuatriciclo de Henry Ford</a:t>
            </a:r>
          </a:p>
        </p:txBody>
      </p:sp>
      <p:sp>
        <p:nvSpPr>
          <p:cNvPr id="13" name="CuadroTexto 12">
            <a:extLst>
              <a:ext uri="{FF2B5EF4-FFF2-40B4-BE49-F238E27FC236}">
                <a16:creationId xmlns:a16="http://schemas.microsoft.com/office/drawing/2014/main" id="{E461DB9D-F71D-5C76-117D-4BD13FF34BA4}"/>
              </a:ext>
            </a:extLst>
          </p:cNvPr>
          <p:cNvSpPr txBox="1"/>
          <p:nvPr/>
        </p:nvSpPr>
        <p:spPr>
          <a:xfrm>
            <a:off x="3673052" y="4050133"/>
            <a:ext cx="914355" cy="1123384"/>
          </a:xfrm>
          <a:prstGeom prst="rect">
            <a:avLst/>
          </a:prstGeom>
          <a:solidFill>
            <a:schemeClr val="bg1"/>
          </a:solidFill>
        </p:spPr>
        <p:txBody>
          <a:bodyPr wrap="square" rtlCol="0">
            <a:spAutoFit/>
          </a:bodyPr>
          <a:lstStyle/>
          <a:p>
            <a:pPr algn="ctr"/>
            <a:r>
              <a:rPr lang="es-CL" sz="1100" b="1" dirty="0">
                <a:latin typeface="Raleway" pitchFamily="2" charset="77"/>
              </a:rPr>
              <a:t>1903</a:t>
            </a:r>
          </a:p>
          <a:p>
            <a:pPr algn="ctr"/>
            <a:r>
              <a:rPr lang="es-CL" sz="800" dirty="0">
                <a:latin typeface="Raleway" pitchFamily="2" charset="77"/>
              </a:rPr>
              <a:t>Fundación de Ford Motor Company</a:t>
            </a:r>
          </a:p>
          <a:p>
            <a:pPr algn="ctr"/>
            <a:r>
              <a:rPr lang="es-CL" sz="800" dirty="0">
                <a:latin typeface="Raleway" pitchFamily="2" charset="77"/>
              </a:rPr>
              <a:t>Modelo Ford A</a:t>
            </a:r>
          </a:p>
          <a:p>
            <a:pPr algn="ctr"/>
            <a:r>
              <a:rPr lang="es-CL" sz="800" dirty="0">
                <a:latin typeface="Raleway" pitchFamily="2" charset="77"/>
              </a:rPr>
              <a:t>Diseño de carruaje sin caballos</a:t>
            </a:r>
          </a:p>
        </p:txBody>
      </p:sp>
      <p:sp>
        <p:nvSpPr>
          <p:cNvPr id="14" name="CuadroTexto 13">
            <a:extLst>
              <a:ext uri="{FF2B5EF4-FFF2-40B4-BE49-F238E27FC236}">
                <a16:creationId xmlns:a16="http://schemas.microsoft.com/office/drawing/2014/main" id="{646D0B8B-9C45-CE58-3CB6-B4D92B49E302}"/>
              </a:ext>
            </a:extLst>
          </p:cNvPr>
          <p:cNvSpPr txBox="1"/>
          <p:nvPr/>
        </p:nvSpPr>
        <p:spPr>
          <a:xfrm>
            <a:off x="4587407" y="4050133"/>
            <a:ext cx="914355" cy="877163"/>
          </a:xfrm>
          <a:prstGeom prst="rect">
            <a:avLst/>
          </a:prstGeom>
          <a:solidFill>
            <a:schemeClr val="bg1"/>
          </a:solidFill>
        </p:spPr>
        <p:txBody>
          <a:bodyPr wrap="square" rtlCol="0">
            <a:spAutoFit/>
          </a:bodyPr>
          <a:lstStyle/>
          <a:p>
            <a:pPr algn="ctr"/>
            <a:r>
              <a:rPr lang="es-CL" sz="1100" b="1" dirty="0">
                <a:latin typeface="Raleway" pitchFamily="2" charset="77"/>
              </a:rPr>
              <a:t>1904</a:t>
            </a:r>
          </a:p>
          <a:p>
            <a:pPr algn="ctr"/>
            <a:r>
              <a:rPr lang="es-CL" sz="800" dirty="0">
                <a:latin typeface="Raleway" pitchFamily="2" charset="77"/>
              </a:rPr>
              <a:t>Modelo Ford B</a:t>
            </a:r>
          </a:p>
          <a:p>
            <a:pPr algn="ctr"/>
            <a:r>
              <a:rPr lang="es-CL" sz="800" dirty="0">
                <a:latin typeface="Raleway" pitchFamily="2" charset="77"/>
              </a:rPr>
              <a:t>Primer Ford con arquitectura Panhard*</a:t>
            </a:r>
          </a:p>
        </p:txBody>
      </p:sp>
      <p:sp>
        <p:nvSpPr>
          <p:cNvPr id="15" name="CuadroTexto 14">
            <a:extLst>
              <a:ext uri="{FF2B5EF4-FFF2-40B4-BE49-F238E27FC236}">
                <a16:creationId xmlns:a16="http://schemas.microsoft.com/office/drawing/2014/main" id="{BA734FE7-B852-3876-A5FB-0375FEECF3CB}"/>
              </a:ext>
            </a:extLst>
          </p:cNvPr>
          <p:cNvSpPr txBox="1"/>
          <p:nvPr/>
        </p:nvSpPr>
        <p:spPr>
          <a:xfrm>
            <a:off x="5562647" y="4050133"/>
            <a:ext cx="1384760" cy="1585049"/>
          </a:xfrm>
          <a:prstGeom prst="rect">
            <a:avLst/>
          </a:prstGeom>
          <a:solidFill>
            <a:schemeClr val="bg1"/>
          </a:solidFill>
        </p:spPr>
        <p:txBody>
          <a:bodyPr wrap="square" rtlCol="0">
            <a:spAutoFit/>
          </a:bodyPr>
          <a:lstStyle/>
          <a:p>
            <a:pPr algn="ctr"/>
            <a:r>
              <a:rPr lang="es-CL" sz="1100" b="1" dirty="0">
                <a:latin typeface="Raleway" pitchFamily="2" charset="77"/>
              </a:rPr>
              <a:t>1906</a:t>
            </a:r>
          </a:p>
          <a:p>
            <a:pPr algn="ctr"/>
            <a:r>
              <a:rPr lang="es-CL" sz="1100" b="1" dirty="0">
                <a:latin typeface="Raleway" pitchFamily="2" charset="77"/>
              </a:rPr>
              <a:t>Diseño dominante</a:t>
            </a:r>
          </a:p>
          <a:p>
            <a:pPr algn="ctr"/>
            <a:r>
              <a:rPr lang="es-CL" sz="800" dirty="0">
                <a:latin typeface="Raleway" pitchFamily="2" charset="77"/>
              </a:rPr>
              <a:t>Motor de combustión</a:t>
            </a:r>
          </a:p>
          <a:p>
            <a:pPr algn="ctr"/>
            <a:r>
              <a:rPr lang="es-CL" sz="800" dirty="0">
                <a:latin typeface="Raleway" pitchFamily="2" charset="77"/>
              </a:rPr>
              <a:t>Arquitectura Panhard</a:t>
            </a:r>
          </a:p>
          <a:p>
            <a:pPr algn="ctr"/>
            <a:endParaRPr lang="es-CL" sz="800" dirty="0">
              <a:latin typeface="Raleway" pitchFamily="2" charset="77"/>
            </a:endParaRPr>
          </a:p>
          <a:p>
            <a:pPr algn="ctr"/>
            <a:r>
              <a:rPr lang="es-CL" sz="800" dirty="0">
                <a:latin typeface="Raleway" pitchFamily="2" charset="77"/>
              </a:rPr>
              <a:t>Ford abandona el diseño tipo carruaje…</a:t>
            </a:r>
          </a:p>
          <a:p>
            <a:pPr algn="ctr"/>
            <a:r>
              <a:rPr lang="es-CL" sz="800" dirty="0">
                <a:latin typeface="Raleway" pitchFamily="2" charset="77"/>
              </a:rPr>
              <a:t>El modelo N es el primero en fijar el diseño dominante</a:t>
            </a:r>
          </a:p>
        </p:txBody>
      </p:sp>
      <p:sp>
        <p:nvSpPr>
          <p:cNvPr id="16" name="CuadroTexto 15">
            <a:extLst>
              <a:ext uri="{FF2B5EF4-FFF2-40B4-BE49-F238E27FC236}">
                <a16:creationId xmlns:a16="http://schemas.microsoft.com/office/drawing/2014/main" id="{4531BB41-3682-642E-8392-60493D2B453A}"/>
              </a:ext>
            </a:extLst>
          </p:cNvPr>
          <p:cNvSpPr txBox="1"/>
          <p:nvPr/>
        </p:nvSpPr>
        <p:spPr>
          <a:xfrm>
            <a:off x="6871207" y="4050273"/>
            <a:ext cx="1041348" cy="507831"/>
          </a:xfrm>
          <a:prstGeom prst="rect">
            <a:avLst/>
          </a:prstGeom>
          <a:solidFill>
            <a:schemeClr val="bg1"/>
          </a:solidFill>
        </p:spPr>
        <p:txBody>
          <a:bodyPr wrap="square" rtlCol="0">
            <a:spAutoFit/>
          </a:bodyPr>
          <a:lstStyle/>
          <a:p>
            <a:pPr algn="ctr"/>
            <a:r>
              <a:rPr lang="es-CL" sz="1100" b="1" dirty="0">
                <a:latin typeface="Raleway" pitchFamily="2" charset="77"/>
              </a:rPr>
              <a:t>1908</a:t>
            </a:r>
          </a:p>
          <a:p>
            <a:pPr algn="ctr"/>
            <a:r>
              <a:rPr lang="es-CL" sz="800" dirty="0">
                <a:latin typeface="Raleway" pitchFamily="2" charset="77"/>
              </a:rPr>
              <a:t>Modelo Ford T</a:t>
            </a:r>
          </a:p>
          <a:p>
            <a:pPr algn="ctr"/>
            <a:r>
              <a:rPr lang="en-US" sz="800" noProof="0" dirty="0">
                <a:latin typeface="Raleway" pitchFamily="2" charset="77"/>
              </a:rPr>
              <a:t>Product market fit</a:t>
            </a:r>
          </a:p>
        </p:txBody>
      </p:sp>
      <p:sp>
        <p:nvSpPr>
          <p:cNvPr id="17" name="CuadroTexto 16">
            <a:extLst>
              <a:ext uri="{FF2B5EF4-FFF2-40B4-BE49-F238E27FC236}">
                <a16:creationId xmlns:a16="http://schemas.microsoft.com/office/drawing/2014/main" id="{172D24A9-03ED-B68D-E8F7-7FD0BA8E161D}"/>
              </a:ext>
            </a:extLst>
          </p:cNvPr>
          <p:cNvSpPr txBox="1"/>
          <p:nvPr/>
        </p:nvSpPr>
        <p:spPr>
          <a:xfrm>
            <a:off x="9789625" y="4050133"/>
            <a:ext cx="1289030" cy="630942"/>
          </a:xfrm>
          <a:prstGeom prst="rect">
            <a:avLst/>
          </a:prstGeom>
          <a:solidFill>
            <a:schemeClr val="bg1"/>
          </a:solidFill>
        </p:spPr>
        <p:txBody>
          <a:bodyPr wrap="square" rtlCol="0">
            <a:spAutoFit/>
          </a:bodyPr>
          <a:lstStyle/>
          <a:p>
            <a:pPr algn="ctr"/>
            <a:r>
              <a:rPr lang="es-CL" sz="1100" b="1" dirty="0">
                <a:latin typeface="Raleway" pitchFamily="2" charset="77"/>
              </a:rPr>
              <a:t>1914</a:t>
            </a:r>
          </a:p>
          <a:p>
            <a:pPr algn="ctr"/>
            <a:r>
              <a:rPr lang="es-419" sz="800" dirty="0">
                <a:latin typeface="Raleway" pitchFamily="2" charset="77"/>
              </a:rPr>
              <a:t>Producción en cadena lineal hasta completa implementación</a:t>
            </a:r>
            <a:endParaRPr lang="en-US" sz="800" noProof="0" dirty="0">
              <a:latin typeface="Raleway" pitchFamily="2" charset="77"/>
            </a:endParaRPr>
          </a:p>
        </p:txBody>
      </p:sp>
      <p:sp>
        <p:nvSpPr>
          <p:cNvPr id="20" name="CuadroTexto 19">
            <a:extLst>
              <a:ext uri="{FF2B5EF4-FFF2-40B4-BE49-F238E27FC236}">
                <a16:creationId xmlns:a16="http://schemas.microsoft.com/office/drawing/2014/main" id="{EE174EEE-63E3-07E9-A99D-005124EB3D20}"/>
              </a:ext>
            </a:extLst>
          </p:cNvPr>
          <p:cNvSpPr txBox="1"/>
          <p:nvPr/>
        </p:nvSpPr>
        <p:spPr>
          <a:xfrm>
            <a:off x="3038624" y="5929366"/>
            <a:ext cx="2650976" cy="523220"/>
          </a:xfrm>
          <a:prstGeom prst="rect">
            <a:avLst/>
          </a:prstGeom>
          <a:noFill/>
        </p:spPr>
        <p:txBody>
          <a:bodyPr wrap="square" rtlCol="0">
            <a:spAutoFit/>
          </a:bodyPr>
          <a:lstStyle/>
          <a:p>
            <a:pPr algn="ctr"/>
            <a:r>
              <a:rPr lang="es-CL" sz="1400" b="1" dirty="0">
                <a:latin typeface="Raleway" pitchFamily="2" charset="77"/>
              </a:rPr>
              <a:t>Etapa de experimentación de FORD</a:t>
            </a:r>
          </a:p>
        </p:txBody>
      </p:sp>
      <p:sp>
        <p:nvSpPr>
          <p:cNvPr id="22" name="CuadroTexto 21">
            <a:extLst>
              <a:ext uri="{FF2B5EF4-FFF2-40B4-BE49-F238E27FC236}">
                <a16:creationId xmlns:a16="http://schemas.microsoft.com/office/drawing/2014/main" id="{FA025053-B69C-4E8E-A15B-B78E03382888}"/>
              </a:ext>
            </a:extLst>
          </p:cNvPr>
          <p:cNvSpPr txBox="1"/>
          <p:nvPr/>
        </p:nvSpPr>
        <p:spPr>
          <a:xfrm>
            <a:off x="490330" y="6532259"/>
            <a:ext cx="11224591" cy="246221"/>
          </a:xfrm>
          <a:prstGeom prst="rect">
            <a:avLst/>
          </a:prstGeom>
          <a:noFill/>
        </p:spPr>
        <p:txBody>
          <a:bodyPr wrap="square">
            <a:spAutoFit/>
          </a:bodyPr>
          <a:lstStyle/>
          <a:p>
            <a:pPr algn="l" rtl="0">
              <a:buNone/>
            </a:pPr>
            <a:r>
              <a:rPr lang="es-ES" sz="1000" dirty="0">
                <a:solidFill>
                  <a:srgbClr val="1F1F1F"/>
                </a:solidFill>
                <a:latin typeface="Raleway" pitchFamily="2" charset="77"/>
              </a:rPr>
              <a:t>*D</a:t>
            </a:r>
            <a:r>
              <a:rPr lang="es-ES" sz="1000" b="0" i="0" u="none" strike="noStrike" dirty="0">
                <a:solidFill>
                  <a:srgbClr val="1F1F1F"/>
                </a:solidFill>
                <a:effectLst/>
                <a:latin typeface="Raleway" pitchFamily="2" charset="77"/>
              </a:rPr>
              <a:t>iseño Panhard &amp; </a:t>
            </a:r>
            <a:r>
              <a:rPr lang="es-ES" sz="1000" b="0" i="0" u="none" strike="noStrike" dirty="0" err="1">
                <a:solidFill>
                  <a:srgbClr val="1F1F1F"/>
                </a:solidFill>
                <a:effectLst/>
                <a:latin typeface="Raleway" pitchFamily="2" charset="77"/>
              </a:rPr>
              <a:t>Levassor</a:t>
            </a:r>
            <a:r>
              <a:rPr lang="es-ES" sz="1000" b="0" i="0" u="none" strike="noStrike" dirty="0">
                <a:solidFill>
                  <a:srgbClr val="1F1F1F"/>
                </a:solidFill>
                <a:effectLst/>
                <a:latin typeface="Raleway" pitchFamily="2" charset="77"/>
              </a:rPr>
              <a:t>, con un motor montado en la parte delantera del chasis, una caja de cambios y una transmisión por cardán a un eje trasero rígido.</a:t>
            </a:r>
          </a:p>
        </p:txBody>
      </p:sp>
    </p:spTree>
    <p:extLst>
      <p:ext uri="{BB962C8B-B14F-4D97-AF65-F5344CB8AC3E}">
        <p14:creationId xmlns:p14="http://schemas.microsoft.com/office/powerpoint/2010/main" val="20981000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7bLwN0HlfEmDq7Cap.zRF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5702</Words>
  <Application>Microsoft Macintosh PowerPoint</Application>
  <PresentationFormat>Panorámica</PresentationFormat>
  <Paragraphs>527</Paragraphs>
  <Slides>54</Slides>
  <Notes>4</Notes>
  <HiddenSlides>0</HiddenSlides>
  <MMClips>0</MMClips>
  <ScaleCrop>false</ScaleCrop>
  <HeadingPairs>
    <vt:vector size="8" baseType="variant">
      <vt:variant>
        <vt:lpstr>Fuentes usadas</vt:lpstr>
      </vt:variant>
      <vt:variant>
        <vt:i4>13</vt:i4>
      </vt:variant>
      <vt:variant>
        <vt:lpstr>Tema</vt:lpstr>
      </vt:variant>
      <vt:variant>
        <vt:i4>2</vt:i4>
      </vt:variant>
      <vt:variant>
        <vt:lpstr>Servidores OLE incrustados</vt:lpstr>
      </vt:variant>
      <vt:variant>
        <vt:i4>0</vt:i4>
      </vt:variant>
      <vt:variant>
        <vt:lpstr>Títulos de diapositiva</vt:lpstr>
      </vt:variant>
      <vt:variant>
        <vt:i4>54</vt:i4>
      </vt:variant>
    </vt:vector>
  </HeadingPairs>
  <TitlesOfParts>
    <vt:vector size="69" baseType="lpstr">
      <vt:lpstr>Aptos</vt:lpstr>
      <vt:lpstr>Arial</vt:lpstr>
      <vt:lpstr>Avenir Next</vt:lpstr>
      <vt:lpstr>Calibri</vt:lpstr>
      <vt:lpstr>Gotham</vt:lpstr>
      <vt:lpstr>Lao Sangam MN</vt:lpstr>
      <vt:lpstr>Montserrat</vt:lpstr>
      <vt:lpstr>Montserrat ExtraBold</vt:lpstr>
      <vt:lpstr>Montserrat SemiBold</vt:lpstr>
      <vt:lpstr>Raleway</vt:lpstr>
      <vt:lpstr>Times New Roman</vt:lpstr>
      <vt:lpstr>Trebuchet MS</vt:lpstr>
      <vt:lpstr>Wingdings</vt:lpstr>
      <vt:lpstr>Tema de Office</vt:lpstr>
      <vt:lpstr>1_Tema de Office</vt:lpstr>
      <vt:lpstr>VIRALIZA VENTURE STUDIO UINN Programa de financiamiento especializado para startups. </vt:lpstr>
      <vt:lpstr>Presentación de PowerPoint</vt:lpstr>
      <vt:lpstr>¿Qué es una Startup?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La lógica de crecimiento Lean Startup</vt:lpstr>
      <vt:lpstr>Presentación de PowerPoint</vt:lpstr>
      <vt:lpstr>Presentación de PowerPoint</vt:lpstr>
      <vt:lpstr>Presentación de PowerPoint</vt:lpstr>
      <vt:lpstr>Presentación de PowerPoint</vt:lpstr>
      <vt:lpstr>Presentación de PowerPoint</vt:lpstr>
      <vt:lpstr>Click to edit Master title style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Click to edit Master title style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Las finanzas en la lógica de crecimiento</vt:lpstr>
      <vt:lpstr>Presentación de PowerPoint</vt:lpstr>
      <vt:lpstr>Presentación de PowerPoint</vt:lpstr>
      <vt:lpstr>Presentación de PowerPoint</vt:lpstr>
      <vt:lpstr>Presentación de PowerPoint</vt:lpstr>
      <vt:lpstr>Casos en Lean Startup</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Inti Nuñez</dc:creator>
  <cp:lastModifiedBy>Inti Nuñez</cp:lastModifiedBy>
  <cp:revision>1</cp:revision>
  <dcterms:created xsi:type="dcterms:W3CDTF">2026-01-06T18:18:06Z</dcterms:created>
  <dcterms:modified xsi:type="dcterms:W3CDTF">2026-03-03T13:17:40Z</dcterms:modified>
</cp:coreProperties>
</file>