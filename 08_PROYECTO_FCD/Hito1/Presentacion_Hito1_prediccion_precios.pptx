
<file path=[Content_Types].xml><?xml version="1.0" encoding="utf-8"?>
<Types xmlns="http://schemas.openxmlformats.org/package/2006/content-types">
  <Default ContentType="application/vnd.openxmlformats-officedocument.spreadsheetml.sheet" Extension="xlsx"/>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3.xml"/>
  <Override ContentType="application/vnd.openxmlformats-officedocument.drawingml.chart+xml" PartName="/ppt/charts/chart2.xml"/>
  <Override ContentType="application/vnd.openxmlformats-officedocument.drawingml.chart+xml" PartName="/ppt/charts/chart5.xml"/>
  <Override ContentType="application/vnd.openxmlformats-officedocument.drawingml.chart+xml" PartName="/ppt/charts/chart4.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gorO3UAhZI6z83uar16BLGKUj71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FD97FC7-F411-43DF-BFE1-4147D78720D9}">
  <a:tblStyle styleId="{FFD97FC7-F411-43DF-BFE1-4147D78720D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customschemas.google.com/relationships/presentationmetadata" Target="metadata"/><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Tipo</c:v>
                </c:pt>
              </c:strCache>
            </c:strRef>
          </c:tx>
          <c:spPr>
            <a:solidFill>
              <a:schemeClr val="accent1"/>
            </a:solidFill>
            <a:ln w="9525" cap="flat">
              <a:solidFill>
                <a:srgbClr val="F9F9F9"/>
              </a:solidFill>
              <a:prstDash val="solid"/>
              <a:round/>
            </a:ln>
            <a:effectLst/>
          </c:spPr>
          <c:dPt>
            <c:idx val="0"/>
            <c:bubble3D val="0"/>
            <c:spPr>
              <a:solidFill>
                <a:srgbClr val="536A81"/>
              </a:solidFill>
              <a:effectLst/>
            </c:spPr>
          </c:dPt>
          <c:dPt>
            <c:idx val="1"/>
            <c:bubble3D val="0"/>
            <c:spPr>
              <a:solidFill>
                <a:srgbClr val="976D30"/>
              </a:solidFill>
              <a:effectLst/>
            </c:spPr>
          </c:dPt>
          <c:dPt>
            <c:idx val="2"/>
            <c:bubble3D val="0"/>
            <c:spPr>
              <a:solidFill>
                <a:srgbClr val="424549"/>
              </a:solidFill>
              <a:effectLst/>
            </c:spPr>
          </c:dPt>
          <c:dLbls>
            <c:dLbl>
              <c:idx val="0"/>
              <c:numFmt formatCode="General" sourceLinked="0"/>
              <c:spPr/>
              <c:txPr>
                <a:bodyPr/>
                <a:lstStyle/>
                <a:p>
                  <a:pPr>
                    <a:defRPr sz="1100" b="1" i="0" u="none" strike="noStrike">
                      <a:solidFill>
                        <a:srgbClr val="EBECED"/>
                      </a:solidFill>
                      <a:latin typeface="Arial"/>
                    </a:defRPr>
                  </a:pPr>
                </a:p>
              </c:txPr>
              <c:showLegendKey val="0"/>
              <c:showVal val="1"/>
              <c:showCatName val="0"/>
              <c:showSerName val="0"/>
              <c:showPercent val="0"/>
              <c:showBubbleSize val="0"/>
            </c:dLbl>
            <c:dLbl>
              <c:idx val="1"/>
              <c:numFmt formatCode="General" sourceLinked="0"/>
              <c:spPr/>
              <c:txPr>
                <a:bodyPr/>
                <a:lstStyle/>
                <a:p>
                  <a:pPr>
                    <a:defRPr sz="1100" b="1" i="0" u="none" strike="noStrike">
                      <a:solidFill>
                        <a:srgbClr val="EBECED"/>
                      </a:solidFill>
                      <a:latin typeface="Arial"/>
                    </a:defRPr>
                  </a:pPr>
                </a:p>
              </c:txPr>
              <c:showLegendKey val="0"/>
              <c:showVal val="1"/>
              <c:showCatName val="0"/>
              <c:showSerName val="0"/>
              <c:showPercent val="0"/>
              <c:showBubbleSize val="0"/>
            </c:dLbl>
            <c:dLbl>
              <c:idx val="2"/>
              <c:numFmt formatCode="General" sourceLinked="0"/>
              <c:spPr/>
              <c:txPr>
                <a:bodyPr/>
                <a:lstStyle/>
                <a:p>
                  <a:pPr>
                    <a:defRPr sz="1100" b="1" i="0" u="none" strike="noStrike">
                      <a:solidFill>
                        <a:srgbClr val="EBECED"/>
                      </a:solidFill>
                      <a:latin typeface="Arial"/>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Casa (h)</c:v>
                </c:pt>
                <c:pt idx="1">
                  <c:v>Departamento (u)</c:v>
                </c:pt>
                <c:pt idx="2">
                  <c:v>Pareada (t)</c:v>
                </c:pt>
              </c:strCache>
            </c:strRef>
          </c:cat>
          <c:val>
            <c:numRef>
              <c:f>Sheet1!$B$2:$B$4</c:f>
              <c:numCache>
                <c:ptCount val="3"/>
                <c:pt idx="0">
                  <c:v>9449</c:v>
                </c:pt>
                <c:pt idx="1">
                  <c:v>3017</c:v>
                </c:pt>
                <c:pt idx="2">
                  <c:v>1114</c:v>
                </c:pt>
              </c:numCache>
            </c:numRef>
          </c:val>
        </c:ser>
        <c:firstSliceAng val="0"/>
        <c:holeSize val="55"/>
      </c:doughnutChart>
      <c:spPr>
        <a:solidFill>
          <a:srgbClr val="12161B"/>
        </a:solidFill>
        <a:ln>
          <a:noFill/>
        </a:ln>
        <a:effectLst/>
      </c:spPr>
    </c:plotArea>
    <c:legend>
      <c:legendPos val="b"/>
      <c:overlay val="0"/>
      <c:txPr>
        <a:bodyPr/>
        <a:lstStyle/>
        <a:p>
          <a:pPr>
            <a:defRPr sz="1100">
              <a:solidFill>
                <a:srgbClr val="EBECED"/>
              </a:solidFill>
            </a:defRPr>
          </a:pPr>
          <a:endParaRPr lang="en-US"/>
        </a:p>
      </c:txPr>
    </c:legend>
    <c:plotVisOnly val="1"/>
    <c:dispBlanksAs val="span"/>
  </c:chart>
  <c:spPr>
    <a:solidFill>
      <a:srgbClr val="12161B"/>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Filas</c:v>
                </c:pt>
              </c:strCache>
            </c:strRef>
          </c:tx>
          <c:spPr>
            <a:solidFill>
              <a:srgbClr val="E8A33D"/>
            </a:solidFill>
            <a:effectLst/>
          </c:spPr>
          <c:invertIfNegative val="0"/>
          <c:dLbls>
            <c:numFmt formatCode="#,##0" sourceLinked="0"/>
            <c:txPr>
              <a:bodyPr/>
              <a:lstStyle/>
              <a:p>
                <a:pPr>
                  <a:defRPr b="1" i="0" strike="noStrike" sz="1100" u="none">
                    <a:solidFill>
                      <a:srgbClr val="EBECED"/>
                    </a:solidFill>
                    <a:latin typeface="Arial"/>
                  </a:defRPr>
                </a:pPr>
              </a:p>
            </c:txPr>
            <c:showLegendKey val="0"/>
            <c:showVal val="1"/>
            <c:showCatName val="0"/>
            <c:showSerName val="0"/>
            <c:showPercent val="0"/>
            <c:showBubbleSize val="0"/>
            <c:showLeaderLines val="0"/>
          </c:dLbls>
          <c:dPt>
            <c:idx val="0"/>
            <c:invertIfNegative val="0"/>
            <c:bubble3D val="0"/>
            <c:spPr>
              <a:solidFill>
                <a:srgbClr val="E8A33D"/>
              </a:solidFill>
              <a:effectLst/>
            </c:spPr>
          </c:dPt>
          <c:dPt>
            <c:idx val="1"/>
            <c:invertIfNegative val="0"/>
            <c:bubble3D val="0"/>
            <c:spPr>
              <a:solidFill>
                <a:srgbClr val="976D30"/>
              </a:solidFill>
              <a:effectLst/>
            </c:spPr>
          </c:dPt>
          <c:dPt>
            <c:idx val="2"/>
            <c:invertIfNegative val="0"/>
            <c:bubble3D val="0"/>
            <c:spPr>
              <a:solidFill>
                <a:srgbClr val="536A81"/>
              </a:solidFill>
              <a:effectLst/>
            </c:spPr>
          </c:dPt>
          <c:dPt>
            <c:idx val="3"/>
            <c:invertIfNegative val="0"/>
            <c:bubble3D val="0"/>
            <c:spPr>
              <a:solidFill>
                <a:srgbClr val="424549"/>
              </a:solidFill>
              <a:effectLst/>
            </c:spPr>
          </c:dPt>
          <c:dPt>
            <c:idx val="4"/>
            <c:invertIfNegative val="0"/>
            <c:bubble3D val="0"/>
            <c:spPr>
              <a:solidFill>
                <a:srgbClr val="424549"/>
              </a:solidFill>
              <a:effectLst/>
            </c:spPr>
          </c:dPt>
          <c:dPt>
            <c:idx val="5"/>
            <c:invertIfNegative val="0"/>
            <c:bubble3D val="0"/>
            <c:spPr>
              <a:solidFill>
                <a:srgbClr val="424549"/>
              </a:solidFill>
              <a:effectLst/>
            </c:spPr>
          </c:dPt>
          <c:dPt>
            <c:idx val="6"/>
            <c:invertIfNegative val="0"/>
            <c:bubble3D val="0"/>
            <c:spPr>
              <a:solidFill>
                <a:srgbClr val="424549"/>
              </a:solidFill>
              <a:effectLst/>
            </c:spPr>
          </c:dPt>
          <c:cat>
            <c:multiLvlStrRef>
              <c:f>Sheet1!$A$2:$A$8</c:f>
              <c:multiLvlStrCache>
                <c:ptCount val="7"/>
                <c:lvl>
                  <c:pt idx="0">
                    <c:v>Landsize = 0</c:v>
                  </c:pt>
                  <c:pt idx="1">
                    <c:v>BuildingArea &gt; Landsize</c:v>
                  </c:pt>
                  <c:pt idx="2">
                    <c:v>Rooms ≠ Bedroom2</c:v>
                  </c:pt>
                  <c:pt idx="3">
                    <c:v>Bathroom = 0</c:v>
                  </c:pt>
                  <c:pt idx="4">
                    <c:v>BuildingArea = 0</c:v>
                  </c:pt>
                  <c:pt idx="5">
                    <c:v>YearBuilt posterior a la venta</c:v>
                  </c:pt>
                  <c:pt idx="6">
                    <c:v>YearBuilt anterior a 1850</c:v>
                  </c:pt>
                </c:lvl>
              </c:multiLvlStrCache>
            </c:multiLvlStrRef>
          </c:cat>
          <c:val>
            <c:numRef>
              <c:f>Sheet1!$B$2:$B$8</c:f>
              <c:numCache>
                <c:formatCode>General</c:formatCode>
                <c:ptCount val="7"/>
                <c:pt idx="0">
                  <c:v>1939</c:v>
                </c:pt>
                <c:pt idx="1">
                  <c:v>1323</c:v>
                </c:pt>
                <c:pt idx="2">
                  <c:v>676</c:v>
                </c:pt>
                <c:pt idx="3">
                  <c:v>34</c:v>
                </c:pt>
                <c:pt idx="4">
                  <c:v>17</c:v>
                </c:pt>
                <c:pt idx="5">
                  <c:v>6</c:v>
                </c:pt>
                <c:pt idx="6">
                  <c:v>2</c:v>
                </c:pt>
              </c:numCache>
            </c:numRef>
          </c:val>
        </c:ser>
        <c:dLbls>
          <c:numFmt formatCode="#,##0" sourceLinked="0"/>
          <c:txPr>
            <a:bodyPr/>
            <a:lstStyle/>
            <a:p>
              <a:pPr>
                <a:defRPr b="1" i="0" strike="noStrike" sz="1100" u="none">
                  <a:solidFill>
                    <a:srgbClr val="EBECED"/>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AEB0B2"/>
                </a:solidFill>
                <a:latin typeface="Arial"/>
              </a:defRPr>
            </a:pPr>
            <a:endParaRPr lang="en-US"/>
          </a:p>
        </c:txPr>
        <c:crossAx val="2094734552"/>
        <c:crosses val="autoZero"/>
        <c:auto val="1"/>
        <c:lblAlgn val="ctr"/>
        <c:noMultiLvlLbl val="1"/>
      </c:catAx>
      <c:valAx>
        <c:axId val="2094734552"/>
        <c:scaling>
          <c:orientation val="minMax"/>
          <c:max val="2300"/>
          <c:min val="0"/>
        </c:scaling>
        <c:delete val="0"/>
        <c:axPos val="b"/>
        <c:majorGridlines>
          <c:spPr>
            <a:ln w="12700" cap="flat">
              <a:solidFill>
                <a:srgbClr val="3D4145"/>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838588"/>
                </a:solidFill>
                <a:latin typeface="Arial"/>
              </a:defRPr>
            </a:pPr>
            <a:endParaRPr lang="en-US"/>
          </a:p>
        </c:txPr>
        <c:crossAx val="2094734554"/>
        <c:crosses val="autoZero"/>
        <c:crossBetween val="between"/>
      </c:valAx>
      <c:spPr>
        <a:solidFill>
          <a:srgbClr val="12161B"/>
        </a:solidFill>
        <a:ln>
          <a:noFill/>
        </a:ln>
        <a:effectLst/>
      </c:spPr>
    </c:plotArea>
    <c:plotVisOnly val="1"/>
    <c:dispBlanksAs val="span"/>
  </c:chart>
  <c:spPr>
    <a:solidFill>
      <a:srgbClr val="12161B"/>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Mediana mensual</c:v>
                </c:pt>
              </c:strCache>
            </c:strRef>
          </c:tx>
          <c:spPr>
            <a:solidFill>
              <a:srgbClr val="E8A33D"/>
            </a:solidFill>
            <a:ln w="38100" cap="flat">
              <a:solidFill>
                <a:srgbClr val="E8A33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8A33D"/>
              </a:solidFill>
              <a:ln w="9525" cap="flat">
                <a:solidFill>
                  <a:srgbClr val="E8A33D"/>
                </a:solidFill>
                <a:prstDash val="solid"/>
                <a:round/>
              </a:ln>
              <a:effectLst/>
            </c:spPr>
          </c:marker>
          <c:cat>
            <c:multiLvlStrRef>
              <c:f>Sheet1!$A$2:$A$20</c:f>
              <c:multiLvlStrCache>
                <c:ptCount val="19"/>
                <c:lvl>
                  <c:pt idx="0">
                    <c:v>16-01</c:v>
                  </c:pt>
                  <c:pt idx="1">
                    <c:v>16-02</c:v>
                  </c:pt>
                  <c:pt idx="2">
                    <c:v>16-04</c:v>
                  </c:pt>
                  <c:pt idx="3">
                    <c:v>16-05</c:v>
                  </c:pt>
                  <c:pt idx="4">
                    <c:v>16-06</c:v>
                  </c:pt>
                  <c:pt idx="5">
                    <c:v>16-07</c:v>
                  </c:pt>
                  <c:pt idx="6">
                    <c:v>16-08</c:v>
                  </c:pt>
                  <c:pt idx="7">
                    <c:v>16-09</c:v>
                  </c:pt>
                  <c:pt idx="8">
                    <c:v>16-10</c:v>
                  </c:pt>
                  <c:pt idx="9">
                    <c:v>16-11</c:v>
                  </c:pt>
                  <c:pt idx="10">
                    <c:v>16-12</c:v>
                  </c:pt>
                  <c:pt idx="11">
                    <c:v>17-02</c:v>
                  </c:pt>
                  <c:pt idx="12">
                    <c:v>17-03</c:v>
                  </c:pt>
                  <c:pt idx="13">
                    <c:v>17-04</c:v>
                  </c:pt>
                  <c:pt idx="14">
                    <c:v>17-05</c:v>
                  </c:pt>
                  <c:pt idx="15">
                    <c:v>17-06</c:v>
                  </c:pt>
                  <c:pt idx="16">
                    <c:v>17-07</c:v>
                  </c:pt>
                  <c:pt idx="17">
                    <c:v>17-08</c:v>
                  </c:pt>
                  <c:pt idx="18">
                    <c:v>17-09</c:v>
                  </c:pt>
                </c:lvl>
              </c:multiLvlStrCache>
            </c:multiLvlStrRef>
          </c:cat>
          <c:val>
            <c:numRef>
              <c:f>Sheet1!$B$2:$B$20</c:f>
              <c:numCache>
                <c:formatCode>General</c:formatCode>
                <c:ptCount val="19"/>
                <c:pt idx="0">
                  <c:v>1009</c:v>
                </c:pt>
                <c:pt idx="1">
                  <c:v>890</c:v>
                </c:pt>
                <c:pt idx="2">
                  <c:v>840</c:v>
                </c:pt>
                <c:pt idx="3">
                  <c:v>880</c:v>
                </c:pt>
                <c:pt idx="4">
                  <c:v>856</c:v>
                </c:pt>
                <c:pt idx="5">
                  <c:v>830</c:v>
                </c:pt>
                <c:pt idx="6">
                  <c:v>883</c:v>
                </c:pt>
                <c:pt idx="7">
                  <c:v>930</c:v>
                </c:pt>
                <c:pt idx="8">
                  <c:v>920</c:v>
                </c:pt>
                <c:pt idx="9">
                  <c:v>923</c:v>
                </c:pt>
                <c:pt idx="10">
                  <c:v>960</c:v>
                </c:pt>
                <c:pt idx="11">
                  <c:v>967</c:v>
                </c:pt>
                <c:pt idx="12">
                  <c:v>946</c:v>
                </c:pt>
                <c:pt idx="13">
                  <c:v>918</c:v>
                </c:pt>
                <c:pt idx="14">
                  <c:v>960</c:v>
                </c:pt>
                <c:pt idx="15">
                  <c:v>917</c:v>
                </c:pt>
                <c:pt idx="16">
                  <c:v>755</c:v>
                </c:pt>
                <c:pt idx="17">
                  <c:v>1017</c:v>
                </c:pt>
                <c:pt idx="18">
                  <c:v>1000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8900000"/>
          <a:lstStyle/>
          <a:p>
            <a:pPr>
              <a:defRPr sz="900" b="0" i="0" u="none" strike="noStrike">
                <a:solidFill>
                  <a:srgbClr val="838588"/>
                </a:solidFill>
                <a:latin typeface="Arial"/>
              </a:defRPr>
            </a:pPr>
            <a:endParaRPr lang="en-US"/>
          </a:p>
        </c:txPr>
        <c:crossAx val="2094734552"/>
        <c:crosses val="autoZero"/>
        <c:auto val="1"/>
        <c:lblAlgn val="ctr"/>
        <c:noMultiLvlLbl val="1"/>
      </c:catAx>
      <c:valAx>
        <c:axId val="2094734552"/>
        <c:scaling>
          <c:orientation val="minMax"/>
          <c:max val="1250"/>
          <c:min val="600"/>
        </c:scaling>
        <c:delete val="0"/>
        <c:axPos val="l"/>
        <c:majorGridlines>
          <c:spPr>
            <a:ln w="12700" cap="flat">
              <a:solidFill>
                <a:srgbClr val="3D4145"/>
              </a:solidFill>
              <a:prstDash val="solid"/>
              <a:round/>
            </a:ln>
          </c:spPr>
        </c:majorGridlines>
        <c:title>
          <c:tx>
            <c:rich>
              <a:bodyPr/>
              <a:lstStyle/>
              <a:p>
                <a:pPr>
                  <a:defRPr sz="1100" b="0" i="0" u="none" strike="noStrike">
                    <a:solidFill>
                      <a:srgbClr val="838588"/>
                    </a:solidFill>
                    <a:latin typeface="Arial"/>
                  </a:defRPr>
                </a:pPr>
                <a:r>
                  <a:rPr sz="1100" b="0" i="0" u="none" strike="noStrike">
                    <a:solidFill>
                      <a:srgbClr val="838588"/>
                    </a:solidFill>
                    <a:latin typeface="Arial"/>
                  </a:rPr>
                  <a:t>Mediana de Price (miles)</a:t>
                </a:r>
              </a:p>
            </c:rich>
          </c:tx>
          <c:layout/>
          <c:overlay val="0"/>
        </c:title>
        <c:numFmt formatCode="General" sourceLinked="0"/>
        <c:majorTickMark val="out"/>
        <c:minorTickMark val="none"/>
        <c:tickLblPos val="nextTo"/>
        <c:spPr>
          <a:ln w="12700" cap="flat">
            <a:noFill/>
            <a:prstDash val="solid"/>
            <a:round/>
          </a:ln>
        </c:spPr>
        <c:txPr>
          <a:bodyPr/>
          <a:lstStyle/>
          <a:p>
            <a:pPr>
              <a:defRPr sz="1100" b="0" i="0" u="none" strike="noStrike">
                <a:solidFill>
                  <a:srgbClr val="838588"/>
                </a:solidFill>
                <a:latin typeface="Arial"/>
              </a:defRPr>
            </a:pPr>
            <a:endParaRPr lang="en-US"/>
          </a:p>
        </c:txPr>
        <c:crossAx val="2094734554"/>
        <c:crosses val="autoZero"/>
        <c:crossBetween val="between"/>
        <c:majorUnit val="150"/>
      </c:valAx>
      <c:spPr>
        <a:solidFill>
          <a:srgbClr val="12161B"/>
        </a:solidFill>
        <a:ln>
          <a:noFill/>
        </a:ln>
        <a:effectLst/>
      </c:spPr>
    </c:plotArea>
    <c:plotVisOnly val="1"/>
    <c:dispBlanksAs val="span"/>
  </c:chart>
  <c:spPr>
    <a:solidFill>
      <a:srgbClr val="12161B"/>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de filas de 2017</c:v>
                </c:pt>
              </c:strCache>
            </c:strRef>
          </c:tx>
          <c:spPr>
            <a:solidFill>
              <a:srgbClr val="424549"/>
            </a:solidFill>
            <a:effectLst/>
          </c:spPr>
          <c:invertIfNegative val="0"/>
          <c:dLbls>
            <c:numFmt formatCode="0.0&quot;%&quot;" sourceLinked="0"/>
            <c:txPr>
              <a:bodyPr/>
              <a:lstStyle/>
              <a:p>
                <a:pPr>
                  <a:defRPr b="1" i="0" strike="noStrike" sz="1100" u="none">
                    <a:solidFill>
                      <a:srgbClr val="EBECED"/>
                    </a:solidFill>
                    <a:latin typeface="Arial"/>
                  </a:defRPr>
                </a:pPr>
              </a:p>
            </c:txPr>
            <c:showLegendKey val="0"/>
            <c:showVal val="1"/>
            <c:showCatName val="0"/>
            <c:showSerName val="0"/>
            <c:showPercent val="0"/>
            <c:showBubbleSize val="0"/>
            <c:showLeaderLines val="0"/>
          </c:dLbls>
          <c:dPt>
            <c:idx val="0"/>
            <c:invertIfNegative val="0"/>
            <c:bubble3D val="0"/>
            <c:spPr>
              <a:solidFill>
                <a:srgbClr val="424549"/>
              </a:solidFill>
              <a:effectLst/>
            </c:spPr>
          </c:dPt>
          <c:dPt>
            <c:idx val="1"/>
            <c:invertIfNegative val="0"/>
            <c:bubble3D val="0"/>
            <c:spPr>
              <a:solidFill>
                <a:srgbClr val="536A81"/>
              </a:solidFill>
              <a:effectLst/>
            </c:spPr>
          </c:dPt>
          <c:dPt>
            <c:idx val="2"/>
            <c:invertIfNegative val="0"/>
            <c:bubble3D val="0"/>
            <c:spPr>
              <a:solidFill>
                <a:srgbClr val="536A81"/>
              </a:solidFill>
              <a:effectLst/>
            </c:spPr>
          </c:dPt>
          <c:dPt>
            <c:idx val="3"/>
            <c:invertIfNegative val="0"/>
            <c:bubble3D val="0"/>
            <c:spPr>
              <a:solidFill>
                <a:srgbClr val="976D30"/>
              </a:solidFill>
              <a:effectLst/>
            </c:spPr>
          </c:dPt>
          <c:dPt>
            <c:idx val="4"/>
            <c:invertIfNegative val="0"/>
            <c:bubble3D val="0"/>
            <c:spPr>
              <a:solidFill>
                <a:srgbClr val="E8A33D"/>
              </a:solidFill>
              <a:effectLst/>
            </c:spPr>
          </c:dPt>
          <c:dPt>
            <c:idx val="5"/>
            <c:invertIfNegative val="0"/>
            <c:bubble3D val="0"/>
            <c:spPr>
              <a:solidFill>
                <a:srgbClr val="E8A33D"/>
              </a:solidFill>
              <a:effectLst/>
            </c:spPr>
          </c:dPt>
          <c:cat>
            <c:multiLvlStrRef>
              <c:f>Sheet1!$A$2:$A$7</c:f>
              <c:multiLvlStrCache>
                <c:ptCount val="6"/>
                <c:lvl>
                  <c:pt idx="0">
                    <c:v>Type</c:v>
                  </c:pt>
                  <c:pt idx="1">
                    <c:v>Regionname</c:v>
                  </c:pt>
                  <c:pt idx="2">
                    <c:v>SellerG</c:v>
                  </c:pt>
                  <c:pt idx="3">
                    <c:v>CouncilArea</c:v>
                  </c:pt>
                  <c:pt idx="4">
                    <c:v>Postcode</c:v>
                  </c:pt>
                  <c:pt idx="5">
                    <c:v>Suburb</c:v>
                  </c:pt>
                </c:lvl>
              </c:multiLvlStrCache>
            </c:multiLvlStrRef>
          </c:cat>
          <c:val>
            <c:numRef>
              <c:f>Sheet1!$B$2:$B$7</c:f>
              <c:numCache>
                <c:formatCode>General</c:formatCode>
                <c:ptCount val="6"/>
                <c:pt idx="0">
                  <c:v>0</c:v>
                </c:pt>
                <c:pt idx="1">
                  <c:v>1.7</c:v>
                </c:pt>
                <c:pt idx="2">
                  <c:v>3.2</c:v>
                </c:pt>
                <c:pt idx="3">
                  <c:v>9.6</c:v>
                </c:pt>
                <c:pt idx="4">
                  <c:v>26.7</c:v>
                </c:pt>
                <c:pt idx="5">
                  <c:v>29.1</c:v>
                </c:pt>
              </c:numCache>
            </c:numRef>
          </c:val>
        </c:ser>
        <c:dLbls>
          <c:numFmt formatCode="0.0&quot;%&quot;" sourceLinked="0"/>
          <c:txPr>
            <a:bodyPr/>
            <a:lstStyle/>
            <a:p>
              <a:pPr>
                <a:defRPr b="1" i="0" strike="noStrike" sz="1100" u="none">
                  <a:solidFill>
                    <a:srgbClr val="EBECED"/>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AEB0B2"/>
                </a:solidFill>
                <a:latin typeface="Arial"/>
              </a:defRPr>
            </a:pPr>
            <a:endParaRPr lang="en-US"/>
          </a:p>
        </c:txPr>
        <c:crossAx val="2094734552"/>
        <c:crosses val="autoZero"/>
        <c:auto val="1"/>
        <c:lblAlgn val="ctr"/>
        <c:noMultiLvlLbl val="1"/>
      </c:catAx>
      <c:valAx>
        <c:axId val="2094734552"/>
        <c:scaling>
          <c:orientation val="minMax"/>
          <c:max val="35"/>
          <c:min val="0"/>
        </c:scaling>
        <c:delete val="0"/>
        <c:axPos val="b"/>
        <c:majorGridlines>
          <c:spPr>
            <a:ln w="12700" cap="flat">
              <a:solidFill>
                <a:srgbClr val="3D4145"/>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838588"/>
                </a:solidFill>
                <a:latin typeface="Arial"/>
              </a:defRPr>
            </a:pPr>
            <a:endParaRPr lang="en-US"/>
          </a:p>
        </c:txPr>
        <c:crossAx val="2094734554"/>
        <c:crosses val="autoZero"/>
        <c:crossBetween val="between"/>
      </c:valAx>
      <c:spPr>
        <a:solidFill>
          <a:srgbClr val="12161B"/>
        </a:solidFill>
        <a:ln>
          <a:noFill/>
        </a:ln>
        <a:effectLst/>
      </c:spPr>
    </c:plotArea>
    <c:plotVisOnly val="1"/>
    <c:dispBlanksAs val="span"/>
  </c:chart>
  <c:spPr>
    <a:solidFill>
      <a:srgbClr val="12161B"/>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Filas retenidas</c:v>
                </c:pt>
              </c:strCache>
            </c:strRef>
          </c:tx>
          <c:spPr>
            <a:solidFill>
              <a:srgbClr val="424549"/>
            </a:solidFill>
            <a:effectLst/>
          </c:spPr>
          <c:invertIfNegative val="0"/>
          <c:dLbls>
            <c:numFmt formatCode="#,##0" sourceLinked="0"/>
            <c:txPr>
              <a:bodyPr/>
              <a:lstStyle/>
              <a:p>
                <a:pPr>
                  <a:defRPr b="1" i="0" strike="noStrike" sz="1100" u="none">
                    <a:solidFill>
                      <a:srgbClr val="EBECED"/>
                    </a:solidFill>
                    <a:latin typeface="Arial"/>
                  </a:defRPr>
                </a:pPr>
              </a:p>
            </c:txPr>
            <c:showLegendKey val="0"/>
            <c:showVal val="1"/>
            <c:showCatName val="0"/>
            <c:showSerName val="0"/>
            <c:showPercent val="0"/>
            <c:showBubbleSize val="0"/>
            <c:showLeaderLines val="0"/>
          </c:dLbls>
          <c:dPt>
            <c:idx val="0"/>
            <c:invertIfNegative val="0"/>
            <c:bubble3D val="0"/>
            <c:spPr>
              <a:solidFill>
                <a:srgbClr val="424549"/>
              </a:solidFill>
              <a:effectLst/>
            </c:spPr>
          </c:dPt>
          <c:dPt>
            <c:idx val="1"/>
            <c:invertIfNegative val="0"/>
            <c:bubble3D val="0"/>
            <c:spPr>
              <a:solidFill>
                <a:srgbClr val="424549"/>
              </a:solidFill>
              <a:effectLst/>
            </c:spPr>
          </c:dPt>
          <c:dPt>
            <c:idx val="2"/>
            <c:invertIfNegative val="0"/>
            <c:bubble3D val="0"/>
            <c:spPr>
              <a:solidFill>
                <a:srgbClr val="424549"/>
              </a:solidFill>
              <a:effectLst/>
            </c:spPr>
          </c:dPt>
          <c:dPt>
            <c:idx val="3"/>
            <c:invertIfNegative val="0"/>
            <c:bubble3D val="0"/>
            <c:spPr>
              <a:solidFill>
                <a:srgbClr val="536A81"/>
              </a:solidFill>
              <a:effectLst/>
            </c:spPr>
          </c:dPt>
          <c:dPt>
            <c:idx val="4"/>
            <c:invertIfNegative val="0"/>
            <c:bubble3D val="0"/>
            <c:spPr>
              <a:solidFill>
                <a:srgbClr val="976D30"/>
              </a:solidFill>
              <a:effectLst/>
            </c:spPr>
          </c:dPt>
          <c:dPt>
            <c:idx val="5"/>
            <c:invertIfNegative val="0"/>
            <c:bubble3D val="0"/>
            <c:spPr>
              <a:solidFill>
                <a:srgbClr val="E8A33D"/>
              </a:solidFill>
              <a:effectLst/>
            </c:spPr>
          </c:dPt>
          <c:cat>
            <c:multiLvlStrRef>
              <c:f>Sheet1!$A$2:$A$7</c:f>
              <c:multiLvlStrCache>
                <c:ptCount val="6"/>
                <c:lvl>
                  <c:pt idx="0">
                    <c:v>Sin política</c:v>
                  </c:pt>
                  <c:pt idx="1">
                    <c:v>Subset geo</c:v>
                  </c:pt>
                  <c:pt idx="2">
                    <c:v>+ Car</c:v>
                  </c:pt>
                  <c:pt idx="3">
                    <c:v>+ CouncilArea</c:v>
                  </c:pt>
                  <c:pt idx="4">
                    <c:v>+ YearBuilt</c:v>
                  </c:pt>
                  <c:pt idx="5">
                    <c:v>Descarte global</c:v>
                  </c:pt>
                </c:lvl>
              </c:multiLvlStrCache>
            </c:multiLvlStrRef>
          </c:cat>
          <c:val>
            <c:numRef>
              <c:f>Sheet1!$B$2:$B$7</c:f>
              <c:numCache>
                <c:formatCode>General</c:formatCode>
                <c:ptCount val="6"/>
                <c:pt idx="0">
                  <c:v>13580</c:v>
                </c:pt>
                <c:pt idx="1">
                  <c:v>13580</c:v>
                </c:pt>
                <c:pt idx="2">
                  <c:v>13518</c:v>
                </c:pt>
                <c:pt idx="3">
                  <c:v>12211</c:v>
                </c:pt>
                <c:pt idx="4">
                  <c:v>7448</c:v>
                </c:pt>
                <c:pt idx="5">
                  <c:v>6196</c:v>
                </c:pt>
              </c:numCache>
            </c:numRef>
          </c:val>
        </c:ser>
        <c:dLbls>
          <c:numFmt formatCode="#,##0" sourceLinked="0"/>
          <c:txPr>
            <a:bodyPr/>
            <a:lstStyle/>
            <a:p>
              <a:pPr>
                <a:defRPr b="1" i="0" strike="noStrike" sz="1100" u="none">
                  <a:solidFill>
                    <a:srgbClr val="EBECED"/>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AEB0B2"/>
                </a:solidFill>
                <a:latin typeface="Arial"/>
              </a:defRPr>
            </a:pPr>
            <a:endParaRPr lang="en-US"/>
          </a:p>
        </c:txPr>
        <c:crossAx val="2094734552"/>
        <c:crosses val="autoZero"/>
        <c:auto val="1"/>
        <c:lblAlgn val="ctr"/>
        <c:noMultiLvlLbl val="1"/>
      </c:catAx>
      <c:valAx>
        <c:axId val="2094734552"/>
        <c:scaling>
          <c:orientation val="minMax"/>
          <c:max val="16000"/>
          <c:min val="0"/>
        </c:scaling>
        <c:delete val="0"/>
        <c:axPos val="l"/>
        <c:majorGridlines>
          <c:spPr>
            <a:ln w="12700" cap="flat">
              <a:solidFill>
                <a:srgbClr val="3D4145"/>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838588"/>
                </a:solidFill>
                <a:latin typeface="Arial"/>
              </a:defRPr>
            </a:pPr>
            <a:endParaRPr lang="en-US"/>
          </a:p>
        </c:txPr>
        <c:crossAx val="2094734554"/>
        <c:crosses val="autoZero"/>
        <c:crossBetween val="between"/>
      </c:valAx>
      <c:spPr>
        <a:solidFill>
          <a:srgbClr val="12161B"/>
        </a:solidFill>
        <a:ln>
          <a:noFill/>
        </a:ln>
        <a:effectLst/>
      </c:spPr>
    </c:plotArea>
    <c:plotVisOnly val="1"/>
    <c:dispBlanksAs val="span"/>
  </c:chart>
  <c:spPr>
    <a:solidFill>
      <a:srgbClr val="12161B"/>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Encuadre en una frase: el enunciado pide entrenar con 2016 y predecir 2017. Lo primero que hicimos fue verificar que el archivo que tenemos es el que dice ser; el hash está en la portada a propósito, porque hay cuadernos públicos sobre este dataset que trabajan con 18.396 filas y no son comparables con nada de lo que sigue.</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Los tres números miden lo mismo con distinta severidad. Si alguien pregunta por qué no partimos por un modelo: porque el 1,11% habría hecho creer que la cota trivial es casi imbatible, y la tercera cifra dice que el problema real es otro. Este es el argumento de la introducción.</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 name="Google Shape;4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Esta lámina existe para responder la pregunta de si sabemos con qué estamos trabajando. Los dos recuadros de la derecha son los que valen: la discrepancia con el enunciado y el hecho de que los cuadernos públicos de referencia operan sobre otro archivo. La caja de la fecha es un error real que casi cometimos.</a:t>
            </a:r>
            <a:endParaRPr/>
          </a:p>
        </p:txBody>
      </p:sp>
      <p:sp>
        <p:nvSpPr>
          <p:cNvPr id="50" name="Google Shape;5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pregunta que suele venir acá es por qué no limpiamos ya. Respuesta: porque cada exclusión cambia la mezcla 2016/2017, y eso lo mostramos dos láminas más adelante. Primero se cuantifica el daño, después se decide. El cero de Landsize es el hallazgo más peligroso porque no se distingue de un dato válido.</a:t>
            </a:r>
            <a:endParaRPr/>
          </a:p>
        </p:txBody>
      </p:sp>
      <p:sp>
        <p:nvSpPr>
          <p:cNvPr id="69" name="Google Shape;6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 name="Google Shape;8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Esta lámina prepara la trampa: si uno se queda acá, concluye que el mercado estuvo plano y que la cota trivial es difícil de superar. La siguiente lámina desarma esa lectura. No adelantar el desenlace acá: dejar que el 1,11% se instale primero.</a:t>
            </a:r>
            <a:endParaRPr/>
          </a:p>
        </p:txBody>
      </p:sp>
      <p:sp>
        <p:nvSpPr>
          <p:cNvPr id="85" name="Google Shape;8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Esta es la lámina del hito. El signo se invierte: casas caen 5,9% mirando el agregado y suben 12,2% mirando propiedades del mismo suburbio. Es una reversión de Simpson y explica por qué el 1,11% de la lámina anterior no se puede usar como argumento. Si hay una sola pregunta que van a hacer, es esta; la respuesta está en la lámina siguiente.</a:t>
            </a:r>
            <a:endParaRPr/>
          </a:p>
        </p:txBody>
      </p:sp>
      <p:sp>
        <p:nvSpPr>
          <p:cNvPr id="106" name="Google Shape;10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Acá está la explicación de la lámina anterior. La muestra de 2017 se expandió hacia afuera: más lejos del centro y más barato. Por eso el agregado baja aunque los precios suban. Y por eso Regionname, con solo 1,7% de filas nuevas, es una alternativa razonable a Suburb para el Hito 2.</a:t>
            </a:r>
            <a:endParaRPr/>
          </a:p>
        </p:txBody>
      </p:sp>
      <p:sp>
        <p:nvSpPr>
          <p:cNvPr id="132" name="Google Shape;13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decisión adoptada es retención total con indicadores de ausencia: cero filas eliminadas, y fue_nulo_CouncilArea se conserva como variable porque su tasa salta de 0% a 18,9% entre años, o sea que codifica un cambio en el proceso de registro. Lo que esta política difiere y no resuelve es la imputación de BuildingArea, con 51,3% de nulos en 2017.</a:t>
            </a:r>
            <a:endParaRPr/>
          </a:p>
        </p:txBody>
      </p:sp>
      <p:sp>
        <p:nvSpPr>
          <p:cNvPr id="154" name="Google Shape;15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punto de método: la llave de identidad se eligió midiendo, no suponiendo. Con Address suelto habríamos reportado 85 propiedades con fuga; son 36. Adoptamos reportar como estrato porque en un hito donde la defensa vale 30%, decir «las identificamos, son 37, y sabemos que n=37 no permite concluir» rinde más que excluirlas en silencio.</a:t>
            </a:r>
            <a:endParaRPr/>
          </a:p>
        </p:txBody>
      </p:sp>
      <p:sp>
        <p:nvSpPr>
          <p:cNvPr id="170" name="Google Shape;17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Dos cosas que defender acá. Primera: la cota se calcula con información disponible al momento de entrenar, por eso la mediana de 2016 y no la de 2017. Segunda: la fila del oráculo no es un modelo candidato, es un experimento mental que demuestra que la deriva temporal aporta 0,02% del error. La fila por Type ya es un modelo de tres parámetros y por eso queda fuera del alcance del Hito 1.</a:t>
            </a:r>
            <a:endParaRPr/>
          </a:p>
        </p:txBody>
      </p:sp>
      <p:sp>
        <p:nvSpPr>
          <p:cNvPr id="193" name="Google Shape;19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Cerrar reconociendo el límite, no pidiendo disculpas. La lista de la derecha es lo que hace creíble todo lo anterior: sabemos qué no podemos afirmar. Si preguntan por qué no hay modelo todavía, la respuesta es que el Hito 1 evalúa análisis exploratorio, y un modelo ajustado antes de decidir la política de ausencias habría tenido que rehacerse.</a:t>
            </a:r>
            <a:endParaRPr/>
          </a:p>
        </p:txBody>
      </p:sp>
      <p:sp>
        <p:nvSpPr>
          <p:cNvPr id="211" name="Google Shape;21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chart" Target="../charts/char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chart" Target="../charts/char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chart" Target="../charts/char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61B"/>
        </a:solidFill>
      </p:bgPr>
    </p:bg>
    <p:spTree>
      <p:nvGrpSpPr>
        <p:cNvPr id="15" name="Shape 15"/>
        <p:cNvGrpSpPr/>
        <p:nvPr/>
      </p:nvGrpSpPr>
      <p:grpSpPr>
        <a:xfrm>
          <a:off x="0" y="0"/>
          <a:ext cx="0" cy="0"/>
          <a:chOff x="0" y="0"/>
          <a:chExt cx="0" cy="0"/>
        </a:xfrm>
      </p:grpSpPr>
      <p:sp>
        <p:nvSpPr>
          <p:cNvPr id="16" name="Google Shape;16;p1"/>
          <p:cNvSpPr/>
          <p:nvPr/>
        </p:nvSpPr>
        <p:spPr>
          <a:xfrm>
            <a:off x="9509760" y="-1371600"/>
            <a:ext cx="4754880" cy="4754880"/>
          </a:xfrm>
          <a:prstGeom prst="ellipse">
            <a:avLst/>
          </a:prstGeom>
          <a:solidFill>
            <a:srgbClr val="242E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10881360" y="4937760"/>
            <a:ext cx="2377440" cy="2377440"/>
          </a:xfrm>
          <a:prstGeom prst="ellipse">
            <a:avLst/>
          </a:prstGeom>
          <a:solidFill>
            <a:srgbClr val="3341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594360" y="16916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1200"/>
              <a:buFont typeface="Calibri"/>
              <a:buNone/>
            </a:pPr>
            <a:r>
              <a:rPr b="1" i="0" lang="en-US" sz="1200" u="none" cap="none" strike="noStrike">
                <a:solidFill>
                  <a:srgbClr val="E8A33D"/>
                </a:solidFill>
                <a:latin typeface="Calibri"/>
                <a:ea typeface="Calibri"/>
                <a:cs typeface="Calibri"/>
                <a:sym typeface="Calibri"/>
              </a:rPr>
              <a:t>HITO 1 · ANÁLISIS EXPLORATORIO</a:t>
            </a:r>
            <a:endParaRPr b="0" i="0" sz="1200" u="none" cap="none" strike="noStrike">
              <a:solidFill>
                <a:schemeClr val="dk1"/>
              </a:solidFill>
              <a:latin typeface="Calibri"/>
              <a:ea typeface="Calibri"/>
              <a:cs typeface="Calibri"/>
              <a:sym typeface="Calibri"/>
            </a:endParaRPr>
          </a:p>
        </p:txBody>
      </p:sp>
      <p:sp>
        <p:nvSpPr>
          <p:cNvPr id="19" name="Google Shape;19;p1"/>
          <p:cNvSpPr/>
          <p:nvPr/>
        </p:nvSpPr>
        <p:spPr>
          <a:xfrm>
            <a:off x="594360" y="2103120"/>
            <a:ext cx="87782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BECED"/>
              </a:buClr>
              <a:buSzPts val="4400"/>
              <a:buFont typeface="Cambria"/>
              <a:buNone/>
            </a:pPr>
            <a:r>
              <a:rPr b="1" i="0" lang="en-US" sz="4400" u="none" cap="none" strike="noStrike">
                <a:solidFill>
                  <a:srgbClr val="EBECED"/>
                </a:solidFill>
                <a:latin typeface="Cambria"/>
                <a:ea typeface="Cambria"/>
                <a:cs typeface="Cambria"/>
                <a:sym typeface="Cambria"/>
              </a:rPr>
              <a:t>Predicción del valor de propiedades</a:t>
            </a:r>
            <a:endParaRPr b="0" i="0" sz="4400" u="none" cap="none" strike="noStrike">
              <a:solidFill>
                <a:schemeClr val="dk1"/>
              </a:solidFill>
              <a:latin typeface="Calibri"/>
              <a:ea typeface="Calibri"/>
              <a:cs typeface="Calibri"/>
              <a:sym typeface="Calibri"/>
            </a:endParaRPr>
          </a:p>
        </p:txBody>
      </p:sp>
      <p:sp>
        <p:nvSpPr>
          <p:cNvPr id="20" name="Google Shape;20;p1"/>
          <p:cNvSpPr/>
          <p:nvPr/>
        </p:nvSpPr>
        <p:spPr>
          <a:xfrm>
            <a:off x="594360" y="3063240"/>
            <a:ext cx="8686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EB0B2"/>
              </a:buClr>
              <a:buSzPts val="2300"/>
              <a:buFont typeface="Calibri"/>
              <a:buNone/>
            </a:pPr>
            <a:r>
              <a:rPr b="0" i="0" lang="en-US" sz="2300" u="none" cap="none" strike="noStrike">
                <a:solidFill>
                  <a:srgbClr val="AEB0B2"/>
                </a:solidFill>
                <a:latin typeface="Calibri"/>
                <a:ea typeface="Calibri"/>
                <a:cs typeface="Calibri"/>
                <a:sym typeface="Calibri"/>
              </a:rPr>
              <a:t>Entrenar en 2016, evaluar en 2017</a:t>
            </a:r>
            <a:endParaRPr b="0" i="0" sz="2300" u="none" cap="none" strike="noStrike">
              <a:solidFill>
                <a:schemeClr val="dk1"/>
              </a:solidFill>
              <a:latin typeface="Calibri"/>
              <a:ea typeface="Calibri"/>
              <a:cs typeface="Calibri"/>
              <a:sym typeface="Calibri"/>
            </a:endParaRPr>
          </a:p>
        </p:txBody>
      </p:sp>
      <p:cxnSp>
        <p:nvCxnSpPr>
          <p:cNvPr id="21" name="Google Shape;21;p1"/>
          <p:cNvCxnSpPr/>
          <p:nvPr/>
        </p:nvCxnSpPr>
        <p:spPr>
          <a:xfrm>
            <a:off x="594360" y="3840480"/>
            <a:ext cx="2926080" cy="0"/>
          </a:xfrm>
          <a:prstGeom prst="straightConnector1">
            <a:avLst/>
          </a:prstGeom>
          <a:noFill/>
          <a:ln cap="flat" cmpd="sng" w="31750">
            <a:solidFill>
              <a:srgbClr val="E8A33D"/>
            </a:solidFill>
            <a:prstDash val="solid"/>
            <a:round/>
            <a:headEnd len="sm" w="sm" type="none"/>
            <a:tailEnd len="sm" w="sm" type="none"/>
          </a:ln>
        </p:spPr>
      </p:cxnSp>
      <p:sp>
        <p:nvSpPr>
          <p:cNvPr id="22" name="Google Shape;22;p1"/>
          <p:cNvSpPr/>
          <p:nvPr/>
        </p:nvSpPr>
        <p:spPr>
          <a:xfrm>
            <a:off x="594360" y="4114800"/>
            <a:ext cx="8229600" cy="1097280"/>
          </a:xfrm>
          <a:prstGeom prst="rect">
            <a:avLst/>
          </a:prstGeom>
          <a:noFill/>
          <a:ln>
            <a:noFill/>
          </a:ln>
        </p:spPr>
        <p:txBody>
          <a:bodyPr anchorCtr="0" anchor="ctr" bIns="0" lIns="0" spcFirstLastPara="1" rIns="0" wrap="square" tIns="0">
            <a:noAutofit/>
          </a:bodyPr>
          <a:lstStyle/>
          <a:p>
            <a:pPr indent="0" lvl="0" marL="0" marR="0" rtl="0" algn="l">
              <a:lnSpc>
                <a:spcPct val="162962"/>
              </a:lnSpc>
              <a:spcBef>
                <a:spcPts val="0"/>
              </a:spcBef>
              <a:spcAft>
                <a:spcPts val="0"/>
              </a:spcAft>
              <a:buClr>
                <a:srgbClr val="838588"/>
              </a:buClr>
              <a:buSzPts val="1350"/>
              <a:buFont typeface="Calibri"/>
              <a:buNone/>
            </a:pPr>
            <a:r>
              <a:rPr b="0" i="0" lang="en-US" sz="1350" u="none" cap="none" strike="noStrike">
                <a:solidFill>
                  <a:srgbClr val="838588"/>
                </a:solidFill>
                <a:latin typeface="Calibri"/>
                <a:ea typeface="Calibri"/>
                <a:cs typeface="Calibri"/>
                <a:sym typeface="Calibri"/>
              </a:rPr>
              <a:t>Mercado inmobiliario de Melbourne · 13.580 transacciones · 21 atributos</a:t>
            </a:r>
            <a:endParaRPr b="0" i="0" sz="1350" u="none" cap="none" strike="noStrike">
              <a:solidFill>
                <a:schemeClr val="dk1"/>
              </a:solidFill>
              <a:latin typeface="Calibri"/>
              <a:ea typeface="Calibri"/>
              <a:cs typeface="Calibri"/>
              <a:sym typeface="Calibri"/>
            </a:endParaRPr>
          </a:p>
          <a:p>
            <a:pPr indent="0" lvl="0" marL="0" marR="0" rtl="0" algn="l">
              <a:lnSpc>
                <a:spcPct val="162962"/>
              </a:lnSpc>
              <a:spcBef>
                <a:spcPts val="0"/>
              </a:spcBef>
              <a:spcAft>
                <a:spcPts val="0"/>
              </a:spcAft>
              <a:buClr>
                <a:srgbClr val="838588"/>
              </a:buClr>
              <a:buSzPts val="1350"/>
              <a:buFont typeface="Calibri"/>
              <a:buNone/>
            </a:pPr>
            <a:r>
              <a:rPr b="0" i="0" lang="en-US" sz="1350" u="none" cap="none" strike="noStrike">
                <a:solidFill>
                  <a:srgbClr val="838588"/>
                </a:solidFill>
                <a:latin typeface="Calibri"/>
                <a:ea typeface="Calibri"/>
                <a:cs typeface="Calibri"/>
                <a:sym typeface="Calibri"/>
              </a:rPr>
              <a:t>Ventana 2016-01-28 a 2017-09-23 · Precios en unidades monetarias del archivo</a:t>
            </a:r>
            <a:endParaRPr b="0" i="0" sz="1350" u="none" cap="none" strike="noStrike">
              <a:solidFill>
                <a:schemeClr val="dk1"/>
              </a:solidFill>
              <a:latin typeface="Calibri"/>
              <a:ea typeface="Calibri"/>
              <a:cs typeface="Calibri"/>
              <a:sym typeface="Calibri"/>
            </a:endParaRPr>
          </a:p>
          <a:p>
            <a:pPr indent="0" lvl="0" marL="0" marR="0" rtl="0" algn="l">
              <a:lnSpc>
                <a:spcPct val="162962"/>
              </a:lnSpc>
              <a:spcBef>
                <a:spcPts val="0"/>
              </a:spcBef>
              <a:spcAft>
                <a:spcPts val="0"/>
              </a:spcAft>
              <a:buClr>
                <a:srgbClr val="838588"/>
              </a:buClr>
              <a:buSzPts val="1350"/>
              <a:buFont typeface="Calibri"/>
              <a:buNone/>
            </a:pPr>
            <a:r>
              <a:rPr b="0" i="0" lang="en-US" sz="1350" u="none" cap="none" strike="noStrike">
                <a:solidFill>
                  <a:srgbClr val="838588"/>
                </a:solidFill>
                <a:latin typeface="Calibri"/>
                <a:ea typeface="Calibri"/>
                <a:cs typeface="Calibri"/>
                <a:sym typeface="Calibri"/>
              </a:rPr>
              <a:t>Insumo housing_data.csv · SHA-256 3e449c3e9508…d9f8</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61B"/>
        </a:solidFill>
      </p:bgPr>
    </p:bg>
    <p:spTree>
      <p:nvGrpSpPr>
        <p:cNvPr id="27" name="Shape 27"/>
        <p:cNvGrpSpPr/>
        <p:nvPr/>
      </p:nvGrpSpPr>
      <p:grpSpPr>
        <a:xfrm>
          <a:off x="0" y="0"/>
          <a:ext cx="0" cy="0"/>
          <a:chOff x="0" y="0"/>
          <a:chExt cx="0" cy="0"/>
        </a:xfrm>
      </p:grpSpPr>
      <p:sp>
        <p:nvSpPr>
          <p:cNvPr id="28" name="Google Shape;28;p2"/>
          <p:cNvSpPr/>
          <p:nvPr/>
        </p:nvSpPr>
        <p:spPr>
          <a:xfrm>
            <a:off x="594360" y="384048"/>
            <a:ext cx="106070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1100"/>
              <a:buFont typeface="Calibri"/>
              <a:buNone/>
            </a:pPr>
            <a:r>
              <a:rPr b="1" lang="en-US" sz="1100">
                <a:solidFill>
                  <a:srgbClr val="E8A33D"/>
                </a:solidFill>
                <a:latin typeface="Calibri"/>
                <a:ea typeface="Calibri"/>
                <a:cs typeface="Calibri"/>
                <a:sym typeface="Calibri"/>
              </a:rPr>
              <a:t>PREGUNTA DE ANÁLISIS Y </a:t>
            </a:r>
            <a:endParaRPr b="0" i="0" sz="1100" u="none" cap="none" strike="noStrike">
              <a:solidFill>
                <a:schemeClr val="dk1"/>
              </a:solidFill>
              <a:latin typeface="Calibri"/>
              <a:ea typeface="Calibri"/>
              <a:cs typeface="Calibri"/>
              <a:sym typeface="Calibri"/>
            </a:endParaRPr>
          </a:p>
        </p:txBody>
      </p:sp>
      <p:sp>
        <p:nvSpPr>
          <p:cNvPr id="29" name="Google Shape;29;p2"/>
          <p:cNvSpPr/>
          <p:nvPr/>
        </p:nvSpPr>
        <p:spPr>
          <a:xfrm>
            <a:off x="594360" y="658368"/>
            <a:ext cx="10881360"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BECED"/>
              </a:buClr>
              <a:buSzPts val="3000"/>
              <a:buFont typeface="Cambria"/>
              <a:buNone/>
            </a:pPr>
            <a:r>
              <a:t/>
            </a:r>
            <a:endParaRPr b="0" i="0" sz="3000" u="none" cap="none" strike="noStrike">
              <a:solidFill>
                <a:schemeClr val="dk1"/>
              </a:solidFill>
              <a:latin typeface="Calibri"/>
              <a:ea typeface="Calibri"/>
              <a:cs typeface="Calibri"/>
              <a:sym typeface="Calibri"/>
            </a:endParaRPr>
          </a:p>
        </p:txBody>
      </p:sp>
      <p:sp>
        <p:nvSpPr>
          <p:cNvPr id="30" name="Google Shape;30;p2"/>
          <p:cNvSpPr/>
          <p:nvPr/>
        </p:nvSpPr>
        <p:spPr>
          <a:xfrm>
            <a:off x="594360" y="1783080"/>
            <a:ext cx="3429000" cy="2286000"/>
          </a:xfrm>
          <a:prstGeom prst="roundRect">
            <a:avLst>
              <a:gd fmla="val 3200" name="adj"/>
            </a:avLst>
          </a:prstGeom>
          <a:solidFill>
            <a:srgbClr val="1B22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850392" y="1938528"/>
            <a:ext cx="292608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A81"/>
              </a:buClr>
              <a:buSzPts val="4000"/>
              <a:buFont typeface="Cambria"/>
              <a:buNone/>
            </a:pPr>
            <a:r>
              <a:rPr b="1" i="0" lang="en-US" sz="4000" u="none" cap="none" strike="noStrike">
                <a:solidFill>
                  <a:srgbClr val="536A81"/>
                </a:solidFill>
                <a:latin typeface="Cambria"/>
                <a:ea typeface="Cambria"/>
                <a:cs typeface="Cambria"/>
                <a:sym typeface="Cambria"/>
              </a:rPr>
              <a:t>1,11%</a:t>
            </a:r>
            <a:endParaRPr b="0" i="0" sz="4000" u="none" cap="none" strike="noStrike">
              <a:solidFill>
                <a:schemeClr val="dk1"/>
              </a:solidFill>
              <a:latin typeface="Calibri"/>
              <a:ea typeface="Calibri"/>
              <a:cs typeface="Calibri"/>
              <a:sym typeface="Calibri"/>
            </a:endParaRPr>
          </a:p>
        </p:txBody>
      </p:sp>
      <p:sp>
        <p:nvSpPr>
          <p:cNvPr id="32" name="Google Shape;32;p2"/>
          <p:cNvSpPr/>
          <p:nvPr/>
        </p:nvSpPr>
        <p:spPr>
          <a:xfrm>
            <a:off x="850392" y="2798064"/>
            <a:ext cx="2971800" cy="457200"/>
          </a:xfrm>
          <a:prstGeom prst="rect">
            <a:avLst/>
          </a:prstGeom>
          <a:noFill/>
          <a:ln>
            <a:noFill/>
          </a:ln>
        </p:spPr>
        <p:txBody>
          <a:bodyPr anchorCtr="0" anchor="ctr" bIns="0" lIns="0" spcFirstLastPara="1" rIns="0" wrap="square" tIns="0">
            <a:noAutofit/>
          </a:bodyPr>
          <a:lstStyle/>
          <a:p>
            <a:pPr indent="0" lvl="0" marL="0" marR="0" rtl="0" algn="l">
              <a:lnSpc>
                <a:spcPct val="118518"/>
              </a:lnSpc>
              <a:spcBef>
                <a:spcPts val="0"/>
              </a:spcBef>
              <a:spcAft>
                <a:spcPts val="0"/>
              </a:spcAft>
              <a:buClr>
                <a:srgbClr val="EBECED"/>
              </a:buClr>
              <a:buSzPts val="1350"/>
              <a:buFont typeface="Calibri"/>
              <a:buNone/>
            </a:pPr>
            <a:r>
              <a:rPr b="1" i="0" lang="en-US" sz="1350" u="none" cap="none" strike="noStrike">
                <a:solidFill>
                  <a:srgbClr val="EBECED"/>
                </a:solidFill>
                <a:latin typeface="Calibri"/>
                <a:ea typeface="Calibri"/>
                <a:cs typeface="Calibri"/>
                <a:sym typeface="Calibri"/>
              </a:rPr>
              <a:t>movió la mediana entre 2016 y 2017</a:t>
            </a:r>
            <a:endParaRPr b="0" i="0" sz="1350" u="none" cap="none" strike="noStrike">
              <a:solidFill>
                <a:schemeClr val="dk1"/>
              </a:solidFill>
              <a:latin typeface="Calibri"/>
              <a:ea typeface="Calibri"/>
              <a:cs typeface="Calibri"/>
              <a:sym typeface="Calibri"/>
            </a:endParaRPr>
          </a:p>
        </p:txBody>
      </p:sp>
      <p:sp>
        <p:nvSpPr>
          <p:cNvPr id="33" name="Google Shape;33;p2"/>
          <p:cNvSpPr/>
          <p:nvPr/>
        </p:nvSpPr>
        <p:spPr>
          <a:xfrm>
            <a:off x="850392" y="3273552"/>
            <a:ext cx="2971800" cy="73152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AEB0B2"/>
              </a:buClr>
              <a:buSzPts val="1150"/>
              <a:buFont typeface="Calibri"/>
              <a:buNone/>
            </a:pPr>
            <a:r>
              <a:rPr b="0" i="0" lang="en-US" sz="1150" u="none" cap="none" strike="noStrike">
                <a:solidFill>
                  <a:srgbClr val="AEB0B2"/>
                </a:solidFill>
                <a:latin typeface="Calibri"/>
                <a:ea typeface="Calibri"/>
                <a:cs typeface="Calibri"/>
                <a:sym typeface="Calibri"/>
              </a:rPr>
              <a:t>De 900.000 a 910.000. El nivel agregado casi no cambia.</a:t>
            </a:r>
            <a:endParaRPr b="0" i="0" sz="1150" u="none" cap="none" strike="noStrike">
              <a:solidFill>
                <a:schemeClr val="dk1"/>
              </a:solidFill>
              <a:latin typeface="Calibri"/>
              <a:ea typeface="Calibri"/>
              <a:cs typeface="Calibri"/>
              <a:sym typeface="Calibri"/>
            </a:endParaRPr>
          </a:p>
        </p:txBody>
      </p:sp>
      <p:sp>
        <p:nvSpPr>
          <p:cNvPr id="34" name="Google Shape;34;p2"/>
          <p:cNvSpPr/>
          <p:nvPr/>
        </p:nvSpPr>
        <p:spPr>
          <a:xfrm>
            <a:off x="4297680" y="1783080"/>
            <a:ext cx="3429000" cy="2286000"/>
          </a:xfrm>
          <a:prstGeom prst="roundRect">
            <a:avLst>
              <a:gd fmla="val 3200" name="adj"/>
            </a:avLst>
          </a:prstGeom>
          <a:solidFill>
            <a:srgbClr val="1B22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4553712" y="1938528"/>
            <a:ext cx="292608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76D30"/>
              </a:buClr>
              <a:buSzPts val="4000"/>
              <a:buFont typeface="Cambria"/>
              <a:buNone/>
            </a:pPr>
            <a:r>
              <a:rPr b="1" i="0" lang="en-US" sz="4000" u="none" cap="none" strike="noStrike">
                <a:solidFill>
                  <a:srgbClr val="976D30"/>
                </a:solidFill>
                <a:latin typeface="Cambria"/>
                <a:ea typeface="Cambria"/>
                <a:cs typeface="Cambria"/>
                <a:sym typeface="Cambria"/>
              </a:rPr>
              <a:t>11,0%</a:t>
            </a:r>
            <a:endParaRPr b="0" i="0" sz="4000" u="none" cap="none" strike="noStrike">
              <a:solidFill>
                <a:schemeClr val="dk1"/>
              </a:solidFill>
              <a:latin typeface="Calibri"/>
              <a:ea typeface="Calibri"/>
              <a:cs typeface="Calibri"/>
              <a:sym typeface="Calibri"/>
            </a:endParaRPr>
          </a:p>
        </p:txBody>
      </p:sp>
      <p:sp>
        <p:nvSpPr>
          <p:cNvPr id="36" name="Google Shape;36;p2"/>
          <p:cNvSpPr/>
          <p:nvPr/>
        </p:nvSpPr>
        <p:spPr>
          <a:xfrm>
            <a:off x="4553712" y="2798064"/>
            <a:ext cx="2971800" cy="457200"/>
          </a:xfrm>
          <a:prstGeom prst="rect">
            <a:avLst/>
          </a:prstGeom>
          <a:noFill/>
          <a:ln>
            <a:noFill/>
          </a:ln>
        </p:spPr>
        <p:txBody>
          <a:bodyPr anchorCtr="0" anchor="ctr" bIns="0" lIns="0" spcFirstLastPara="1" rIns="0" wrap="square" tIns="0">
            <a:noAutofit/>
          </a:bodyPr>
          <a:lstStyle/>
          <a:p>
            <a:pPr indent="0" lvl="0" marL="0" marR="0" rtl="0" algn="l">
              <a:lnSpc>
                <a:spcPct val="118518"/>
              </a:lnSpc>
              <a:spcBef>
                <a:spcPts val="0"/>
              </a:spcBef>
              <a:spcAft>
                <a:spcPts val="0"/>
              </a:spcAft>
              <a:buClr>
                <a:srgbClr val="EBECED"/>
              </a:buClr>
              <a:buSzPts val="1350"/>
              <a:buFont typeface="Calibri"/>
              <a:buNone/>
            </a:pPr>
            <a:r>
              <a:rPr b="1" i="0" lang="en-US" sz="1350" u="none" cap="none" strike="noStrike">
                <a:solidFill>
                  <a:srgbClr val="EBECED"/>
                </a:solidFill>
                <a:latin typeface="Calibri"/>
                <a:ea typeface="Calibri"/>
                <a:cs typeface="Calibri"/>
                <a:sym typeface="Calibri"/>
              </a:rPr>
              <a:t>movió la mediana a igualdad de suburbio</a:t>
            </a:r>
            <a:endParaRPr b="0" i="0" sz="1350" u="none" cap="none" strike="noStrike">
              <a:solidFill>
                <a:schemeClr val="dk1"/>
              </a:solidFill>
              <a:latin typeface="Calibri"/>
              <a:ea typeface="Calibri"/>
              <a:cs typeface="Calibri"/>
              <a:sym typeface="Calibri"/>
            </a:endParaRPr>
          </a:p>
        </p:txBody>
      </p:sp>
      <p:sp>
        <p:nvSpPr>
          <p:cNvPr id="37" name="Google Shape;37;p2"/>
          <p:cNvSpPr/>
          <p:nvPr/>
        </p:nvSpPr>
        <p:spPr>
          <a:xfrm>
            <a:off x="4553712" y="3273552"/>
            <a:ext cx="2971800" cy="73152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AEB0B2"/>
              </a:buClr>
              <a:buSzPts val="1150"/>
              <a:buFont typeface="Calibri"/>
              <a:buNone/>
            </a:pPr>
            <a:r>
              <a:rPr b="0" i="0" lang="en-US" sz="1150" u="none" cap="none" strike="noStrike">
                <a:solidFill>
                  <a:srgbClr val="AEB0B2"/>
                </a:solidFill>
                <a:latin typeface="Calibri"/>
                <a:ea typeface="Calibri"/>
                <a:cs typeface="Calibri"/>
                <a:sym typeface="Calibri"/>
              </a:rPr>
              <a:t>Restringido a los 142 suburbios que 2016 contiene, 2017 cierra en 999.000.</a:t>
            </a:r>
            <a:endParaRPr b="0" i="0" sz="1150" u="none" cap="none" strike="noStrike">
              <a:solidFill>
                <a:schemeClr val="dk1"/>
              </a:solidFill>
              <a:latin typeface="Calibri"/>
              <a:ea typeface="Calibri"/>
              <a:cs typeface="Calibri"/>
              <a:sym typeface="Calibri"/>
            </a:endParaRPr>
          </a:p>
        </p:txBody>
      </p:sp>
      <p:sp>
        <p:nvSpPr>
          <p:cNvPr id="38" name="Google Shape;38;p2"/>
          <p:cNvSpPr/>
          <p:nvPr/>
        </p:nvSpPr>
        <p:spPr>
          <a:xfrm>
            <a:off x="8001000" y="1783080"/>
            <a:ext cx="3429000" cy="2286000"/>
          </a:xfrm>
          <a:prstGeom prst="roundRect">
            <a:avLst>
              <a:gd fmla="val 3200" name="adj"/>
            </a:avLst>
          </a:prstGeom>
          <a:solidFill>
            <a:srgbClr val="1B22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8257032" y="1938528"/>
            <a:ext cx="292608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4000"/>
              <a:buFont typeface="Cambria"/>
              <a:buNone/>
            </a:pPr>
            <a:r>
              <a:rPr b="1" i="0" lang="en-US" sz="4000" u="none" cap="none" strike="noStrike">
                <a:solidFill>
                  <a:srgbClr val="E8A33D"/>
                </a:solidFill>
                <a:latin typeface="Cambria"/>
                <a:ea typeface="Cambria"/>
                <a:cs typeface="Cambria"/>
                <a:sym typeface="Cambria"/>
              </a:rPr>
              <a:t>29,1%</a:t>
            </a:r>
            <a:endParaRPr b="0" i="0" sz="4000" u="none" cap="none" strike="noStrike">
              <a:solidFill>
                <a:schemeClr val="dk1"/>
              </a:solidFill>
              <a:latin typeface="Calibri"/>
              <a:ea typeface="Calibri"/>
              <a:cs typeface="Calibri"/>
              <a:sym typeface="Calibri"/>
            </a:endParaRPr>
          </a:p>
        </p:txBody>
      </p:sp>
      <p:sp>
        <p:nvSpPr>
          <p:cNvPr id="40" name="Google Shape;40;p2"/>
          <p:cNvSpPr/>
          <p:nvPr/>
        </p:nvSpPr>
        <p:spPr>
          <a:xfrm>
            <a:off x="8257032" y="2798064"/>
            <a:ext cx="2971800" cy="457200"/>
          </a:xfrm>
          <a:prstGeom prst="rect">
            <a:avLst/>
          </a:prstGeom>
          <a:noFill/>
          <a:ln>
            <a:noFill/>
          </a:ln>
        </p:spPr>
        <p:txBody>
          <a:bodyPr anchorCtr="0" anchor="ctr" bIns="0" lIns="0" spcFirstLastPara="1" rIns="0" wrap="square" tIns="0">
            <a:noAutofit/>
          </a:bodyPr>
          <a:lstStyle/>
          <a:p>
            <a:pPr indent="0" lvl="0" marL="0" marR="0" rtl="0" algn="l">
              <a:lnSpc>
                <a:spcPct val="118518"/>
              </a:lnSpc>
              <a:spcBef>
                <a:spcPts val="0"/>
              </a:spcBef>
              <a:spcAft>
                <a:spcPts val="0"/>
              </a:spcAft>
              <a:buClr>
                <a:srgbClr val="EBECED"/>
              </a:buClr>
              <a:buSzPts val="1350"/>
              <a:buFont typeface="Calibri"/>
              <a:buNone/>
            </a:pPr>
            <a:r>
              <a:rPr b="1" i="0" lang="en-US" sz="1350" u="none" cap="none" strike="noStrike">
                <a:solidFill>
                  <a:srgbClr val="EBECED"/>
                </a:solidFill>
                <a:latin typeface="Calibri"/>
                <a:ea typeface="Calibri"/>
                <a:cs typeface="Calibri"/>
                <a:sym typeface="Calibri"/>
              </a:rPr>
              <a:t>de 2017 ocurre donde 2016 no llega</a:t>
            </a:r>
            <a:endParaRPr b="0" i="0" sz="1350" u="none" cap="none" strike="noStrike">
              <a:solidFill>
                <a:schemeClr val="dk1"/>
              </a:solidFill>
              <a:latin typeface="Calibri"/>
              <a:ea typeface="Calibri"/>
              <a:cs typeface="Calibri"/>
              <a:sym typeface="Calibri"/>
            </a:endParaRPr>
          </a:p>
        </p:txBody>
      </p:sp>
      <p:sp>
        <p:nvSpPr>
          <p:cNvPr id="41" name="Google Shape;41;p2"/>
          <p:cNvSpPr/>
          <p:nvPr/>
        </p:nvSpPr>
        <p:spPr>
          <a:xfrm>
            <a:off x="8257032" y="3273552"/>
            <a:ext cx="2971800" cy="73152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AEB0B2"/>
              </a:buClr>
              <a:buSzPts val="1150"/>
              <a:buFont typeface="Calibri"/>
              <a:buNone/>
            </a:pPr>
            <a:r>
              <a:rPr b="0" i="0" lang="en-US" sz="1150" u="none" cap="none" strike="noStrike">
                <a:solidFill>
                  <a:srgbClr val="AEB0B2"/>
                </a:solidFill>
                <a:latin typeface="Calibri"/>
                <a:ea typeface="Calibri"/>
                <a:cs typeface="Calibri"/>
                <a:sym typeface="Calibri"/>
              </a:rPr>
              <a:t>2.109 de 7.244 filas están en suburbios que el entrenamiento nunca vio.</a:t>
            </a:r>
            <a:endParaRPr b="0" i="0" sz="1150" u="none" cap="none" strike="noStrike">
              <a:solidFill>
                <a:schemeClr val="dk1"/>
              </a:solidFill>
              <a:latin typeface="Calibri"/>
              <a:ea typeface="Calibri"/>
              <a:cs typeface="Calibri"/>
              <a:sym typeface="Calibri"/>
            </a:endParaRPr>
          </a:p>
        </p:txBody>
      </p:sp>
      <p:sp>
        <p:nvSpPr>
          <p:cNvPr id="42" name="Google Shape;42;p2"/>
          <p:cNvSpPr/>
          <p:nvPr/>
        </p:nvSpPr>
        <p:spPr>
          <a:xfrm>
            <a:off x="594360" y="4343400"/>
            <a:ext cx="10881360" cy="1645920"/>
          </a:xfrm>
          <a:prstGeom prst="roundRect">
            <a:avLst>
              <a:gd fmla="val 4444" name="adj"/>
            </a:avLst>
          </a:prstGeom>
          <a:solidFill>
            <a:srgbClr val="3341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960120" y="4553712"/>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1200"/>
              <a:buFont typeface="Calibri"/>
              <a:buNone/>
            </a:pPr>
            <a:r>
              <a:rPr b="1" i="0" lang="en-US" sz="1200" u="none" cap="none" strike="noStrike">
                <a:solidFill>
                  <a:srgbClr val="E8A33D"/>
                </a:solidFill>
                <a:latin typeface="Calibri"/>
                <a:ea typeface="Calibri"/>
                <a:cs typeface="Calibri"/>
                <a:sym typeface="Calibri"/>
              </a:rPr>
              <a:t>La lectura</a:t>
            </a:r>
            <a:endParaRPr b="0" i="0" sz="1200" u="none" cap="none" strike="noStrike">
              <a:solidFill>
                <a:schemeClr val="dk1"/>
              </a:solidFill>
              <a:latin typeface="Calibri"/>
              <a:ea typeface="Calibri"/>
              <a:cs typeface="Calibri"/>
              <a:sym typeface="Calibri"/>
            </a:endParaRPr>
          </a:p>
        </p:txBody>
      </p:sp>
      <p:sp>
        <p:nvSpPr>
          <p:cNvPr id="44" name="Google Shape;44;p2"/>
          <p:cNvSpPr/>
          <p:nvPr/>
        </p:nvSpPr>
        <p:spPr>
          <a:xfrm>
            <a:off x="960120" y="4864608"/>
            <a:ext cx="10149840" cy="960120"/>
          </a:xfrm>
          <a:prstGeom prst="rect">
            <a:avLst/>
          </a:prstGeom>
          <a:noFill/>
          <a:ln>
            <a:noFill/>
          </a:ln>
        </p:spPr>
        <p:txBody>
          <a:bodyPr anchorCtr="0" anchor="ctr" bIns="0" lIns="0" spcFirstLastPara="1" rIns="0" wrap="square" tIns="0">
            <a:noAutofit/>
          </a:bodyPr>
          <a:lstStyle/>
          <a:p>
            <a:pPr indent="0" lvl="0" marL="0" marR="0" rtl="0" algn="l">
              <a:lnSpc>
                <a:spcPct val="144827"/>
              </a:lnSpc>
              <a:spcBef>
                <a:spcPts val="0"/>
              </a:spcBef>
              <a:spcAft>
                <a:spcPts val="0"/>
              </a:spcAft>
              <a:buClr>
                <a:srgbClr val="EBECED"/>
              </a:buClr>
              <a:buSzPts val="1450"/>
              <a:buFont typeface="Calibri"/>
              <a:buNone/>
            </a:pPr>
            <a:r>
              <a:rPr b="0" i="0" lang="en-US" sz="1450" u="none" cap="none" strike="noStrike">
                <a:solidFill>
                  <a:srgbClr val="EBECED"/>
                </a:solidFill>
                <a:latin typeface="Calibri"/>
                <a:ea typeface="Calibri"/>
                <a:cs typeface="Calibri"/>
                <a:sym typeface="Calibri"/>
              </a:rPr>
              <a:t>La primera cifra invita a concluir que el mercado estuvo quieto y que predecir 2017 con 2016 es casi trivial. Las otras dos lo desmienten: el nivel se ve plano porque la muestra de 2017 se corrió hacia suburbios más baratos y más lejanos. Lo que el proyecto pone a prueba no es una tendencia temporal, es si la relación atributos → precio estimada en 2016 sigue siendo válida sobre una geografía que cambió.</a:t>
            </a:r>
            <a:endParaRPr b="0" i="0" sz="1450" u="none" cap="none" strike="noStrike">
              <a:solidFill>
                <a:schemeClr val="dk1"/>
              </a:solidFill>
              <a:latin typeface="Calibri"/>
              <a:ea typeface="Calibri"/>
              <a:cs typeface="Calibri"/>
              <a:sym typeface="Calibri"/>
            </a:endParaRPr>
          </a:p>
        </p:txBody>
      </p:sp>
      <p:sp>
        <p:nvSpPr>
          <p:cNvPr id="45" name="Google Shape;45;p2"/>
          <p:cNvSpPr/>
          <p:nvPr/>
        </p:nvSpPr>
        <p:spPr>
          <a:xfrm>
            <a:off x="594360" y="6144768"/>
            <a:ext cx="10881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38588"/>
              </a:buClr>
              <a:buSzPts val="1000"/>
              <a:buFont typeface="Calibri"/>
              <a:buNone/>
            </a:pPr>
            <a:r>
              <a:rPr b="0" i="1" lang="en-US" sz="1000" u="none" cap="none" strike="noStrike">
                <a:solidFill>
                  <a:srgbClr val="838588"/>
                </a:solidFill>
                <a:latin typeface="Calibri"/>
                <a:ea typeface="Calibri"/>
                <a:cs typeface="Calibri"/>
                <a:sym typeface="Calibri"/>
              </a:rPr>
              <a:t>Fuente: anclaje.json · claves cota.deriva_agregada_pct, composicion.deriva_comparable_pct, no_vistos.Suburb.pct_2017.</a:t>
            </a:r>
            <a:endParaRPr b="0" i="0" sz="1000" u="none" cap="none" strike="noStrike">
              <a:solidFill>
                <a:schemeClr val="dk1"/>
              </a:solidFill>
              <a:latin typeface="Calibri"/>
              <a:ea typeface="Calibri"/>
              <a:cs typeface="Calibri"/>
              <a:sym typeface="Calibri"/>
            </a:endParaRPr>
          </a:p>
        </p:txBody>
      </p:sp>
      <p:sp>
        <p:nvSpPr>
          <p:cNvPr id="46" name="Google Shape;46;p2"/>
          <p:cNvSpPr/>
          <p:nvPr/>
        </p:nvSpPr>
        <p:spPr>
          <a:xfrm>
            <a:off x="594360" y="658368"/>
            <a:ext cx="10881300" cy="71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BECED"/>
              </a:buClr>
              <a:buSzPts val="3000"/>
              <a:buFont typeface="Cambria"/>
              <a:buNone/>
            </a:pPr>
            <a:r>
              <a:rPr b="1" lang="en-US" sz="3000">
                <a:solidFill>
                  <a:srgbClr val="EBECED"/>
                </a:solidFill>
                <a:latin typeface="Cambria"/>
                <a:ea typeface="Cambria"/>
                <a:cs typeface="Cambria"/>
                <a:sym typeface="Cambria"/>
              </a:rPr>
              <a:t>¿Cuáles son los precios de las viviendas en Melbourne en 2017?</a:t>
            </a:r>
            <a:endParaRPr b="0" i="0" sz="3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61B"/>
        </a:solidFill>
      </p:bgPr>
    </p:bg>
    <p:spTree>
      <p:nvGrpSpPr>
        <p:cNvPr id="51" name="Shape 51"/>
        <p:cNvGrpSpPr/>
        <p:nvPr/>
      </p:nvGrpSpPr>
      <p:grpSpPr>
        <a:xfrm>
          <a:off x="0" y="0"/>
          <a:ext cx="0" cy="0"/>
          <a:chOff x="0" y="0"/>
          <a:chExt cx="0" cy="0"/>
        </a:xfrm>
      </p:grpSpPr>
      <p:sp>
        <p:nvSpPr>
          <p:cNvPr id="52" name="Google Shape;52;p3"/>
          <p:cNvSpPr/>
          <p:nvPr/>
        </p:nvSpPr>
        <p:spPr>
          <a:xfrm>
            <a:off x="594360" y="384048"/>
            <a:ext cx="106070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1100"/>
              <a:buFont typeface="Calibri"/>
              <a:buNone/>
            </a:pPr>
            <a:r>
              <a:rPr b="1" i="0" lang="en-US" sz="1100" u="none" cap="none" strike="noStrike">
                <a:solidFill>
                  <a:srgbClr val="E8A33D"/>
                </a:solidFill>
                <a:latin typeface="Calibri"/>
                <a:ea typeface="Calibri"/>
                <a:cs typeface="Calibri"/>
                <a:sym typeface="Calibri"/>
              </a:rPr>
              <a:t>DESCRIPCIÓN DE LOS DATOS</a:t>
            </a:r>
            <a:endParaRPr b="0" i="0" sz="1100" u="none" cap="none" strike="noStrike">
              <a:solidFill>
                <a:schemeClr val="dk1"/>
              </a:solidFill>
              <a:latin typeface="Calibri"/>
              <a:ea typeface="Calibri"/>
              <a:cs typeface="Calibri"/>
              <a:sym typeface="Calibri"/>
            </a:endParaRPr>
          </a:p>
        </p:txBody>
      </p:sp>
      <p:sp>
        <p:nvSpPr>
          <p:cNvPr id="53" name="Google Shape;53;p3"/>
          <p:cNvSpPr/>
          <p:nvPr/>
        </p:nvSpPr>
        <p:spPr>
          <a:xfrm>
            <a:off x="594360" y="658368"/>
            <a:ext cx="10881360"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BECED"/>
              </a:buClr>
              <a:buSzPts val="3000"/>
              <a:buFont typeface="Cambria"/>
              <a:buNone/>
            </a:pPr>
            <a:r>
              <a:rPr b="1" i="0" lang="en-US" sz="3000" u="none" cap="none" strike="noStrike">
                <a:solidFill>
                  <a:srgbClr val="EBECED"/>
                </a:solidFill>
                <a:latin typeface="Cambria"/>
                <a:ea typeface="Cambria"/>
                <a:cs typeface="Cambria"/>
                <a:sym typeface="Cambria"/>
              </a:rPr>
              <a:t>Qué es el archivo, y qué no es</a:t>
            </a:r>
            <a:endParaRPr b="0" i="0" sz="3000" u="none" cap="none" strike="noStrike">
              <a:solidFill>
                <a:schemeClr val="dk1"/>
              </a:solidFill>
              <a:latin typeface="Calibri"/>
              <a:ea typeface="Calibri"/>
              <a:cs typeface="Calibri"/>
              <a:sym typeface="Calibri"/>
            </a:endParaRPr>
          </a:p>
        </p:txBody>
      </p:sp>
      <p:graphicFrame>
        <p:nvGraphicFramePr>
          <p:cNvPr id="54" name="Google Shape;54;p3"/>
          <p:cNvGraphicFramePr/>
          <p:nvPr/>
        </p:nvGraphicFramePr>
        <p:xfrm>
          <a:off x="594360" y="1600200"/>
          <a:ext cx="3000000" cy="3000000"/>
        </p:xfrm>
        <a:graphic>
          <a:graphicData uri="http://schemas.openxmlformats.org/drawingml/2006/table">
            <a:tbl>
              <a:tblPr>
                <a:noFill/>
                <a:tableStyleId>{FFD97FC7-F411-43DF-BFE1-4147D78720D9}</a:tableStyleId>
              </a:tblPr>
              <a:tblGrid>
                <a:gridCol w="2606050"/>
                <a:gridCol w="1965950"/>
              </a:tblGrid>
              <a:tr h="329175">
                <a:tc>
                  <a:txBody>
                    <a:bodyPr/>
                    <a:lstStyle/>
                    <a:p>
                      <a:pPr indent="0" lvl="0" marL="0" marR="0" rtl="0" algn="l">
                        <a:spcBef>
                          <a:spcPts val="0"/>
                        </a:spcBef>
                        <a:spcAft>
                          <a:spcPts val="0"/>
                        </a:spcAft>
                        <a:buClr>
                          <a:srgbClr val="EBECED"/>
                        </a:buClr>
                        <a:buSzPts val="1150"/>
                        <a:buFont typeface="Calibri"/>
                        <a:buNone/>
                      </a:pPr>
                      <a:r>
                        <a:rPr b="1" lang="en-US" sz="1150" u="none" cap="none" strike="noStrike">
                          <a:solidFill>
                            <a:srgbClr val="EBECED"/>
                          </a:solidFill>
                          <a:latin typeface="Calibri"/>
                          <a:ea typeface="Calibri"/>
                          <a:cs typeface="Calibri"/>
                          <a:sym typeface="Calibri"/>
                        </a:rPr>
                        <a:t>Verificación</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33414F"/>
                    </a:solidFill>
                  </a:tcPr>
                </a:tc>
                <a:tc>
                  <a:txBody>
                    <a:bodyPr/>
                    <a:lstStyle/>
                    <a:p>
                      <a:pPr indent="0" lvl="0" marL="0" marR="0" rtl="0" algn="r">
                        <a:spcBef>
                          <a:spcPts val="0"/>
                        </a:spcBef>
                        <a:spcAft>
                          <a:spcPts val="0"/>
                        </a:spcAft>
                        <a:buClr>
                          <a:srgbClr val="EBECED"/>
                        </a:buClr>
                        <a:buSzPts val="1150"/>
                        <a:buFont typeface="Calibri"/>
                        <a:buNone/>
                      </a:pPr>
                      <a:r>
                        <a:rPr b="1" lang="en-US" sz="1150" u="none" cap="none" strike="noStrike">
                          <a:solidFill>
                            <a:srgbClr val="EBECED"/>
                          </a:solidFill>
                          <a:latin typeface="Calibri"/>
                          <a:ea typeface="Calibri"/>
                          <a:cs typeface="Calibri"/>
                          <a:sym typeface="Calibri"/>
                        </a:rPr>
                        <a:t>Observado</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33414F"/>
                    </a:solidFill>
                  </a:tcPr>
                </a:tc>
              </a:tr>
              <a:tr h="329175">
                <a:tc>
                  <a:txBody>
                    <a:bodyPr/>
                    <a:lstStyle/>
                    <a:p>
                      <a:pPr indent="0" lvl="0" marL="0" marR="0" rtl="0" algn="l">
                        <a:spcBef>
                          <a:spcPts val="0"/>
                        </a:spcBef>
                        <a:spcAft>
                          <a:spcPts val="0"/>
                        </a:spcAft>
                        <a:buClr>
                          <a:srgbClr val="AEB0B2"/>
                        </a:buClr>
                        <a:buSzPts val="1150"/>
                        <a:buFont typeface="Calibri"/>
                        <a:buNone/>
                      </a:pPr>
                      <a:r>
                        <a:rPr lang="en-US" sz="1150" u="none" cap="none" strike="noStrike">
                          <a:solidFill>
                            <a:srgbClr val="AEB0B2"/>
                          </a:solidFill>
                          <a:latin typeface="Calibri"/>
                          <a:ea typeface="Calibri"/>
                          <a:cs typeface="Calibri"/>
                          <a:sym typeface="Calibri"/>
                        </a:rPr>
                        <a:t>Filas × columnas</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12161B"/>
                    </a:solidFill>
                  </a:tcPr>
                </a:tc>
                <a:tc>
                  <a:txBody>
                    <a:bodyPr/>
                    <a:lstStyle/>
                    <a:p>
                      <a:pPr indent="0" lvl="0" marL="0" marR="0" rtl="0" algn="r">
                        <a:spcBef>
                          <a:spcPts val="0"/>
                        </a:spcBef>
                        <a:spcAft>
                          <a:spcPts val="0"/>
                        </a:spcAft>
                        <a:buClr>
                          <a:srgbClr val="EBECED"/>
                        </a:buClr>
                        <a:buSzPts val="1150"/>
                        <a:buFont typeface="Calibri"/>
                        <a:buNone/>
                      </a:pPr>
                      <a:r>
                        <a:rPr b="1" lang="en-US" sz="1150" u="none" cap="none" strike="noStrike">
                          <a:solidFill>
                            <a:srgbClr val="EBECED"/>
                          </a:solidFill>
                          <a:latin typeface="Calibri"/>
                          <a:ea typeface="Calibri"/>
                          <a:cs typeface="Calibri"/>
                          <a:sym typeface="Calibri"/>
                        </a:rPr>
                        <a:t>13.580 × 21</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12161B"/>
                    </a:solidFill>
                  </a:tcPr>
                </a:tc>
              </a:tr>
              <a:tr h="329175">
                <a:tc>
                  <a:txBody>
                    <a:bodyPr/>
                    <a:lstStyle/>
                    <a:p>
                      <a:pPr indent="0" lvl="0" marL="0" marR="0" rtl="0" algn="l">
                        <a:spcBef>
                          <a:spcPts val="0"/>
                        </a:spcBef>
                        <a:spcAft>
                          <a:spcPts val="0"/>
                        </a:spcAft>
                        <a:buClr>
                          <a:srgbClr val="AEB0B2"/>
                        </a:buClr>
                        <a:buSzPts val="1150"/>
                        <a:buFont typeface="Calibri"/>
                        <a:buNone/>
                      </a:pPr>
                      <a:r>
                        <a:rPr lang="en-US" sz="1150" u="none" cap="none" strike="noStrike">
                          <a:solidFill>
                            <a:srgbClr val="AEB0B2"/>
                          </a:solidFill>
                          <a:latin typeface="Calibri"/>
                          <a:ea typeface="Calibri"/>
                          <a:cs typeface="Calibri"/>
                          <a:sym typeface="Calibri"/>
                        </a:rPr>
                        <a:t>Ventana temporal</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1B222B"/>
                    </a:solidFill>
                  </a:tcPr>
                </a:tc>
                <a:tc>
                  <a:txBody>
                    <a:bodyPr/>
                    <a:lstStyle/>
                    <a:p>
                      <a:pPr indent="0" lvl="0" marL="0" marR="0" rtl="0" algn="r">
                        <a:spcBef>
                          <a:spcPts val="0"/>
                        </a:spcBef>
                        <a:spcAft>
                          <a:spcPts val="0"/>
                        </a:spcAft>
                        <a:buClr>
                          <a:srgbClr val="EBECED"/>
                        </a:buClr>
                        <a:buSzPts val="1150"/>
                        <a:buFont typeface="Calibri"/>
                        <a:buNone/>
                      </a:pPr>
                      <a:r>
                        <a:rPr b="1" lang="en-US" sz="1150" u="none" cap="none" strike="noStrike">
                          <a:solidFill>
                            <a:srgbClr val="EBECED"/>
                          </a:solidFill>
                          <a:latin typeface="Calibri"/>
                          <a:ea typeface="Calibri"/>
                          <a:cs typeface="Calibri"/>
                          <a:sym typeface="Calibri"/>
                        </a:rPr>
                        <a:t>2016-01-28 → 2017-09-23</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1B222B"/>
                    </a:solidFill>
                  </a:tcPr>
                </a:tc>
              </a:tr>
              <a:tr h="329175">
                <a:tc>
                  <a:txBody>
                    <a:bodyPr/>
                    <a:lstStyle/>
                    <a:p>
                      <a:pPr indent="0" lvl="0" marL="0" marR="0" rtl="0" algn="l">
                        <a:spcBef>
                          <a:spcPts val="0"/>
                        </a:spcBef>
                        <a:spcAft>
                          <a:spcPts val="0"/>
                        </a:spcAft>
                        <a:buClr>
                          <a:srgbClr val="AEB0B2"/>
                        </a:buClr>
                        <a:buSzPts val="1150"/>
                        <a:buFont typeface="Calibri"/>
                        <a:buNone/>
                      </a:pPr>
                      <a:r>
                        <a:rPr lang="en-US" sz="1150" u="none" cap="none" strike="noStrike">
                          <a:solidFill>
                            <a:srgbClr val="AEB0B2"/>
                          </a:solidFill>
                          <a:latin typeface="Calibri"/>
                          <a:ea typeface="Calibri"/>
                          <a:cs typeface="Calibri"/>
                          <a:sym typeface="Calibri"/>
                        </a:rPr>
                        <a:t>Duplicados de fila completa</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12161B"/>
                    </a:solidFill>
                  </a:tcPr>
                </a:tc>
                <a:tc>
                  <a:txBody>
                    <a:bodyPr/>
                    <a:lstStyle/>
                    <a:p>
                      <a:pPr indent="0" lvl="0" marL="0" marR="0" rtl="0" algn="r">
                        <a:spcBef>
                          <a:spcPts val="0"/>
                        </a:spcBef>
                        <a:spcAft>
                          <a:spcPts val="0"/>
                        </a:spcAft>
                        <a:buClr>
                          <a:srgbClr val="EBECED"/>
                        </a:buClr>
                        <a:buSzPts val="1150"/>
                        <a:buFont typeface="Calibri"/>
                        <a:buNone/>
                      </a:pPr>
                      <a:r>
                        <a:rPr b="1" lang="en-US" sz="1150" u="none" cap="none" strike="noStrike">
                          <a:solidFill>
                            <a:srgbClr val="EBECED"/>
                          </a:solidFill>
                          <a:latin typeface="Calibri"/>
                          <a:ea typeface="Calibri"/>
                          <a:cs typeface="Calibri"/>
                          <a:sym typeface="Calibri"/>
                        </a:rPr>
                        <a:t>0</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12161B"/>
                    </a:solidFill>
                  </a:tcPr>
                </a:tc>
              </a:tr>
              <a:tr h="329175">
                <a:tc>
                  <a:txBody>
                    <a:bodyPr/>
                    <a:lstStyle/>
                    <a:p>
                      <a:pPr indent="0" lvl="0" marL="0" marR="0" rtl="0" algn="l">
                        <a:spcBef>
                          <a:spcPts val="0"/>
                        </a:spcBef>
                        <a:spcAft>
                          <a:spcPts val="0"/>
                        </a:spcAft>
                        <a:buClr>
                          <a:srgbClr val="AEB0B2"/>
                        </a:buClr>
                        <a:buSzPts val="1150"/>
                        <a:buFont typeface="Calibri"/>
                        <a:buNone/>
                      </a:pPr>
                      <a:r>
                        <a:rPr lang="en-US" sz="1150" u="none" cap="none" strike="noStrike">
                          <a:solidFill>
                            <a:srgbClr val="AEB0B2"/>
                          </a:solidFill>
                          <a:latin typeface="Calibri"/>
                          <a:ea typeface="Calibri"/>
                          <a:cs typeface="Calibri"/>
                          <a:sym typeface="Calibri"/>
                        </a:rPr>
                        <a:t>Columnas sin ningún nulo</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1B222B"/>
                    </a:solidFill>
                  </a:tcPr>
                </a:tc>
                <a:tc>
                  <a:txBody>
                    <a:bodyPr/>
                    <a:lstStyle/>
                    <a:p>
                      <a:pPr indent="0" lvl="0" marL="0" marR="0" rtl="0" algn="r">
                        <a:spcBef>
                          <a:spcPts val="0"/>
                        </a:spcBef>
                        <a:spcAft>
                          <a:spcPts val="0"/>
                        </a:spcAft>
                        <a:buClr>
                          <a:srgbClr val="EBECED"/>
                        </a:buClr>
                        <a:buSzPts val="1150"/>
                        <a:buFont typeface="Calibri"/>
                        <a:buNone/>
                      </a:pPr>
                      <a:r>
                        <a:rPr b="1" lang="en-US" sz="1150" u="none" cap="none" strike="noStrike">
                          <a:solidFill>
                            <a:srgbClr val="EBECED"/>
                          </a:solidFill>
                          <a:latin typeface="Calibri"/>
                          <a:ea typeface="Calibri"/>
                          <a:cs typeface="Calibri"/>
                          <a:sym typeface="Calibri"/>
                        </a:rPr>
                        <a:t>17 de 21</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1B222B"/>
                    </a:solidFill>
                  </a:tcPr>
                </a:tc>
              </a:tr>
              <a:tr h="329175">
                <a:tc>
                  <a:txBody>
                    <a:bodyPr/>
                    <a:lstStyle/>
                    <a:p>
                      <a:pPr indent="0" lvl="0" marL="0" marR="0" rtl="0" algn="l">
                        <a:spcBef>
                          <a:spcPts val="0"/>
                        </a:spcBef>
                        <a:spcAft>
                          <a:spcPts val="0"/>
                        </a:spcAft>
                        <a:buClr>
                          <a:srgbClr val="AEB0B2"/>
                        </a:buClr>
                        <a:buSzPts val="1150"/>
                        <a:buFont typeface="Calibri"/>
                        <a:buNone/>
                      </a:pPr>
                      <a:r>
                        <a:rPr lang="en-US" sz="1150" u="none" cap="none" strike="noStrike">
                          <a:solidFill>
                            <a:srgbClr val="AEB0B2"/>
                          </a:solidFill>
                          <a:latin typeface="Calibri"/>
                          <a:ea typeface="Calibri"/>
                          <a:cs typeface="Calibri"/>
                          <a:sym typeface="Calibri"/>
                        </a:rPr>
                        <a:t>Nulos en Price</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12161B"/>
                    </a:solidFill>
                  </a:tcPr>
                </a:tc>
                <a:tc>
                  <a:txBody>
                    <a:bodyPr/>
                    <a:lstStyle/>
                    <a:p>
                      <a:pPr indent="0" lvl="0" marL="0" marR="0" rtl="0" algn="r">
                        <a:spcBef>
                          <a:spcPts val="0"/>
                        </a:spcBef>
                        <a:spcAft>
                          <a:spcPts val="0"/>
                        </a:spcAft>
                        <a:buClr>
                          <a:srgbClr val="EBECED"/>
                        </a:buClr>
                        <a:buSzPts val="1150"/>
                        <a:buFont typeface="Calibri"/>
                        <a:buNone/>
                      </a:pPr>
                      <a:r>
                        <a:rPr b="1" lang="en-US" sz="1150" u="none" cap="none" strike="noStrike">
                          <a:solidFill>
                            <a:srgbClr val="EBECED"/>
                          </a:solidFill>
                          <a:latin typeface="Calibri"/>
                          <a:ea typeface="Calibri"/>
                          <a:cs typeface="Calibri"/>
                          <a:sym typeface="Calibri"/>
                        </a:rPr>
                        <a:t>0</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12161B"/>
                    </a:solidFill>
                  </a:tcPr>
                </a:tc>
              </a:tr>
              <a:tr h="329175">
                <a:tc>
                  <a:txBody>
                    <a:bodyPr/>
                    <a:lstStyle/>
                    <a:p>
                      <a:pPr indent="0" lvl="0" marL="0" marR="0" rtl="0" algn="l">
                        <a:spcBef>
                          <a:spcPts val="0"/>
                        </a:spcBef>
                        <a:spcAft>
                          <a:spcPts val="0"/>
                        </a:spcAft>
                        <a:buClr>
                          <a:srgbClr val="AEB0B2"/>
                        </a:buClr>
                        <a:buSzPts val="1150"/>
                        <a:buFont typeface="Calibri"/>
                        <a:buNone/>
                      </a:pPr>
                      <a:r>
                        <a:rPr lang="en-US" sz="1150" u="none" cap="none" strike="noStrike">
                          <a:solidFill>
                            <a:srgbClr val="AEB0B2"/>
                          </a:solidFill>
                          <a:latin typeface="Calibri"/>
                          <a:ea typeface="Calibri"/>
                          <a:cs typeface="Calibri"/>
                          <a:sym typeface="Calibri"/>
                        </a:rPr>
                        <a:t>Rango de Price</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1B222B"/>
                    </a:solidFill>
                  </a:tcPr>
                </a:tc>
                <a:tc>
                  <a:txBody>
                    <a:bodyPr/>
                    <a:lstStyle/>
                    <a:p>
                      <a:pPr indent="0" lvl="0" marL="0" marR="0" rtl="0" algn="r">
                        <a:spcBef>
                          <a:spcPts val="0"/>
                        </a:spcBef>
                        <a:spcAft>
                          <a:spcPts val="0"/>
                        </a:spcAft>
                        <a:buClr>
                          <a:srgbClr val="EBECED"/>
                        </a:buClr>
                        <a:buSzPts val="1150"/>
                        <a:buFont typeface="Calibri"/>
                        <a:buNone/>
                      </a:pPr>
                      <a:r>
                        <a:rPr b="1" lang="en-US" sz="1150" u="none" cap="none" strike="noStrike">
                          <a:solidFill>
                            <a:srgbClr val="EBECED"/>
                          </a:solidFill>
                          <a:latin typeface="Calibri"/>
                          <a:ea typeface="Calibri"/>
                          <a:cs typeface="Calibri"/>
                          <a:sym typeface="Calibri"/>
                        </a:rPr>
                        <a:t>85.000 — 9.000.000</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1B222B"/>
                    </a:solidFill>
                  </a:tcPr>
                </a:tc>
              </a:tr>
              <a:tr h="329175">
                <a:tc>
                  <a:txBody>
                    <a:bodyPr/>
                    <a:lstStyle/>
                    <a:p>
                      <a:pPr indent="0" lvl="0" marL="0" marR="0" rtl="0" algn="l">
                        <a:spcBef>
                          <a:spcPts val="0"/>
                        </a:spcBef>
                        <a:spcAft>
                          <a:spcPts val="0"/>
                        </a:spcAft>
                        <a:buClr>
                          <a:srgbClr val="AEB0B2"/>
                        </a:buClr>
                        <a:buSzPts val="1150"/>
                        <a:buFont typeface="Calibri"/>
                        <a:buNone/>
                      </a:pPr>
                      <a:r>
                        <a:rPr lang="en-US" sz="1150" u="none" cap="none" strike="noStrike">
                          <a:solidFill>
                            <a:srgbClr val="AEB0B2"/>
                          </a:solidFill>
                          <a:latin typeface="Calibri"/>
                          <a:ea typeface="Calibri"/>
                          <a:cs typeface="Calibri"/>
                          <a:sym typeface="Calibri"/>
                        </a:rPr>
                        <a:t>Suburbios / regiones</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12161B"/>
                    </a:solidFill>
                  </a:tcPr>
                </a:tc>
                <a:tc>
                  <a:txBody>
                    <a:bodyPr/>
                    <a:lstStyle/>
                    <a:p>
                      <a:pPr indent="0" lvl="0" marL="0" marR="0" rtl="0" algn="r">
                        <a:spcBef>
                          <a:spcPts val="0"/>
                        </a:spcBef>
                        <a:spcAft>
                          <a:spcPts val="0"/>
                        </a:spcAft>
                        <a:buClr>
                          <a:srgbClr val="EBECED"/>
                        </a:buClr>
                        <a:buSzPts val="1150"/>
                        <a:buFont typeface="Calibri"/>
                        <a:buNone/>
                      </a:pPr>
                      <a:r>
                        <a:rPr b="1" lang="en-US" sz="1150" u="none" cap="none" strike="noStrike">
                          <a:solidFill>
                            <a:srgbClr val="EBECED"/>
                          </a:solidFill>
                          <a:latin typeface="Calibri"/>
                          <a:ea typeface="Calibri"/>
                          <a:cs typeface="Calibri"/>
                          <a:sym typeface="Calibri"/>
                        </a:rPr>
                        <a:t>314 / 8</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12161B"/>
                    </a:solidFill>
                  </a:tcPr>
                </a:tc>
              </a:tr>
              <a:tr h="329175">
                <a:tc>
                  <a:txBody>
                    <a:bodyPr/>
                    <a:lstStyle/>
                    <a:p>
                      <a:pPr indent="0" lvl="0" marL="0" marR="0" rtl="0" algn="l">
                        <a:spcBef>
                          <a:spcPts val="0"/>
                        </a:spcBef>
                        <a:spcAft>
                          <a:spcPts val="0"/>
                        </a:spcAft>
                        <a:buClr>
                          <a:srgbClr val="AEB0B2"/>
                        </a:buClr>
                        <a:buSzPts val="1150"/>
                        <a:buFont typeface="Calibri"/>
                        <a:buNone/>
                      </a:pPr>
                      <a:r>
                        <a:rPr lang="en-US" sz="1150" u="none" cap="none" strike="noStrike">
                          <a:solidFill>
                            <a:srgbClr val="AEB0B2"/>
                          </a:solidFill>
                          <a:latin typeface="Calibri"/>
                          <a:ea typeface="Calibri"/>
                          <a:cs typeface="Calibri"/>
                          <a:sym typeface="Calibri"/>
                        </a:rPr>
                        <a:t>Vendedores distintos</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1B222B"/>
                    </a:solidFill>
                  </a:tcPr>
                </a:tc>
                <a:tc>
                  <a:txBody>
                    <a:bodyPr/>
                    <a:lstStyle/>
                    <a:p>
                      <a:pPr indent="0" lvl="0" marL="0" marR="0" rtl="0" algn="r">
                        <a:spcBef>
                          <a:spcPts val="0"/>
                        </a:spcBef>
                        <a:spcAft>
                          <a:spcPts val="0"/>
                        </a:spcAft>
                        <a:buClr>
                          <a:srgbClr val="EBECED"/>
                        </a:buClr>
                        <a:buSzPts val="1150"/>
                        <a:buFont typeface="Calibri"/>
                        <a:buNone/>
                      </a:pPr>
                      <a:r>
                        <a:rPr b="1" lang="en-US" sz="1150" u="none" cap="none" strike="noStrike">
                          <a:solidFill>
                            <a:srgbClr val="EBECED"/>
                          </a:solidFill>
                          <a:latin typeface="Calibri"/>
                          <a:ea typeface="Calibri"/>
                          <a:cs typeface="Calibri"/>
                          <a:sym typeface="Calibri"/>
                        </a:rPr>
                        <a:t>268</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1B222B"/>
                    </a:solidFill>
                  </a:tcPr>
                </a:tc>
              </a:tr>
            </a:tbl>
          </a:graphicData>
        </a:graphic>
      </p:graphicFrame>
      <p:graphicFrame>
        <p:nvGraphicFramePr>
          <p:cNvPr id="55" name="Google Shape;55;p3"/>
          <p:cNvGraphicFramePr/>
          <p:nvPr/>
        </p:nvGraphicFramePr>
        <p:xfrm>
          <a:off x="5440680" y="1554480"/>
          <a:ext cx="3200400" cy="2743200"/>
        </p:xfrm>
        <a:graphic>
          <a:graphicData uri="http://schemas.openxmlformats.org/drawingml/2006/chart">
            <c:chart r:id="rId3"/>
          </a:graphicData>
        </a:graphic>
      </p:graphicFrame>
      <p:sp>
        <p:nvSpPr>
          <p:cNvPr id="56" name="Google Shape;56;p3"/>
          <p:cNvSpPr/>
          <p:nvPr/>
        </p:nvSpPr>
        <p:spPr>
          <a:xfrm>
            <a:off x="5440680" y="4224528"/>
            <a:ext cx="32004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38588"/>
              </a:buClr>
              <a:buSzPts val="1100"/>
              <a:buFont typeface="Calibri"/>
              <a:buNone/>
            </a:pPr>
            <a:r>
              <a:rPr b="0" i="1" lang="en-US" sz="1100" u="none" cap="none" strike="noStrike">
                <a:solidFill>
                  <a:srgbClr val="838588"/>
                </a:solidFill>
                <a:latin typeface="Calibri"/>
                <a:ea typeface="Calibri"/>
                <a:cs typeface="Calibri"/>
                <a:sym typeface="Calibri"/>
              </a:rPr>
              <a:t>Composición por tipo de propiedad</a:t>
            </a:r>
            <a:endParaRPr b="0" i="0" sz="1100" u="none" cap="none" strike="noStrike">
              <a:solidFill>
                <a:schemeClr val="dk1"/>
              </a:solidFill>
              <a:latin typeface="Calibri"/>
              <a:ea typeface="Calibri"/>
              <a:cs typeface="Calibri"/>
              <a:sym typeface="Calibri"/>
            </a:endParaRPr>
          </a:p>
        </p:txBody>
      </p:sp>
      <p:sp>
        <p:nvSpPr>
          <p:cNvPr id="57" name="Google Shape;57;p3"/>
          <p:cNvSpPr/>
          <p:nvPr/>
        </p:nvSpPr>
        <p:spPr>
          <a:xfrm>
            <a:off x="8915400" y="1554480"/>
            <a:ext cx="2651760" cy="1965960"/>
          </a:xfrm>
          <a:prstGeom prst="roundRect">
            <a:avLst>
              <a:gd fmla="val 3721" name="adj"/>
            </a:avLst>
          </a:prstGeom>
          <a:solidFill>
            <a:srgbClr val="242E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
          <p:cNvSpPr/>
          <p:nvPr/>
        </p:nvSpPr>
        <p:spPr>
          <a:xfrm>
            <a:off x="9125712" y="1737360"/>
            <a:ext cx="2286000" cy="411480"/>
          </a:xfrm>
          <a:prstGeom prst="rect">
            <a:avLst/>
          </a:prstGeom>
          <a:noFill/>
          <a:ln>
            <a:noFill/>
          </a:ln>
        </p:spPr>
        <p:txBody>
          <a:bodyPr anchorCtr="0" anchor="ctr" bIns="0" lIns="0" spcFirstLastPara="1" rIns="0" wrap="square" tIns="0">
            <a:noAutofit/>
          </a:bodyPr>
          <a:lstStyle/>
          <a:p>
            <a:pPr indent="0" lvl="0" marL="0" marR="0" rtl="0" algn="l">
              <a:lnSpc>
                <a:spcPct val="123809"/>
              </a:lnSpc>
              <a:spcBef>
                <a:spcPts val="0"/>
              </a:spcBef>
              <a:spcAft>
                <a:spcPts val="0"/>
              </a:spcAft>
              <a:buClr>
                <a:srgbClr val="E8A33D"/>
              </a:buClr>
              <a:buSzPts val="1050"/>
              <a:buFont typeface="Calibri"/>
              <a:buNone/>
            </a:pPr>
            <a:r>
              <a:rPr b="1" i="0" lang="en-US" sz="1050" u="none" cap="none" strike="noStrike">
                <a:solidFill>
                  <a:srgbClr val="E8A33D"/>
                </a:solidFill>
                <a:latin typeface="Calibri"/>
                <a:ea typeface="Calibri"/>
                <a:cs typeface="Calibri"/>
                <a:sym typeface="Calibri"/>
              </a:rPr>
              <a:t>DISCREPANCIA CON EL ENUNCIADO</a:t>
            </a:r>
            <a:endParaRPr b="0" i="0" sz="1050" u="none" cap="none" strike="noStrike">
              <a:solidFill>
                <a:schemeClr val="dk1"/>
              </a:solidFill>
              <a:latin typeface="Calibri"/>
              <a:ea typeface="Calibri"/>
              <a:cs typeface="Calibri"/>
              <a:sym typeface="Calibri"/>
            </a:endParaRPr>
          </a:p>
        </p:txBody>
      </p:sp>
      <p:sp>
        <p:nvSpPr>
          <p:cNvPr id="59" name="Google Shape;59;p3"/>
          <p:cNvSpPr/>
          <p:nvPr/>
        </p:nvSpPr>
        <p:spPr>
          <a:xfrm>
            <a:off x="9125712" y="2212848"/>
            <a:ext cx="2286000" cy="1188720"/>
          </a:xfrm>
          <a:prstGeom prst="rect">
            <a:avLst/>
          </a:prstGeom>
          <a:noFill/>
          <a:ln>
            <a:noFill/>
          </a:ln>
        </p:spPr>
        <p:txBody>
          <a:bodyPr anchorCtr="0" anchor="ctr" bIns="0" lIns="0" spcFirstLastPara="1" rIns="0" wrap="square" tIns="0">
            <a:noAutofit/>
          </a:bodyPr>
          <a:lstStyle/>
          <a:p>
            <a:pPr indent="0" lvl="0" marL="0" marR="0" rtl="0" algn="l">
              <a:lnSpc>
                <a:spcPct val="136363"/>
              </a:lnSpc>
              <a:spcBef>
                <a:spcPts val="0"/>
              </a:spcBef>
              <a:spcAft>
                <a:spcPts val="0"/>
              </a:spcAft>
              <a:buClr>
                <a:srgbClr val="AEB0B2"/>
              </a:buClr>
              <a:buSzPts val="1100"/>
              <a:buFont typeface="Calibri"/>
              <a:buNone/>
            </a:pPr>
            <a:r>
              <a:rPr b="0" i="0" lang="en-US" sz="1100" u="none" cap="none" strike="noStrike">
                <a:solidFill>
                  <a:srgbClr val="AEB0B2"/>
                </a:solidFill>
                <a:latin typeface="Calibri"/>
                <a:ea typeface="Calibri"/>
                <a:cs typeface="Calibri"/>
                <a:sym typeface="Calibri"/>
              </a:rPr>
              <a:t>El enunciado declara 21 atributos pero enumera 15. YearBuilt no aparece en la enumeración y sí en el archivo. Trabajamos sobre el archivo y lo declaramos.</a:t>
            </a:r>
            <a:endParaRPr b="0" i="0" sz="1100" u="none" cap="none" strike="noStrike">
              <a:solidFill>
                <a:schemeClr val="dk1"/>
              </a:solidFill>
              <a:latin typeface="Calibri"/>
              <a:ea typeface="Calibri"/>
              <a:cs typeface="Calibri"/>
              <a:sym typeface="Calibri"/>
            </a:endParaRPr>
          </a:p>
        </p:txBody>
      </p:sp>
      <p:sp>
        <p:nvSpPr>
          <p:cNvPr id="60" name="Google Shape;60;p3"/>
          <p:cNvSpPr/>
          <p:nvPr/>
        </p:nvSpPr>
        <p:spPr>
          <a:xfrm>
            <a:off x="8915400" y="3639312"/>
            <a:ext cx="2651760" cy="2148840"/>
          </a:xfrm>
          <a:prstGeom prst="roundRect">
            <a:avLst>
              <a:gd fmla="val 3404" name="adj"/>
            </a:avLst>
          </a:prstGeom>
          <a:solidFill>
            <a:srgbClr val="3341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a:off x="9125712" y="3822192"/>
            <a:ext cx="2286000" cy="411480"/>
          </a:xfrm>
          <a:prstGeom prst="rect">
            <a:avLst/>
          </a:prstGeom>
          <a:noFill/>
          <a:ln>
            <a:noFill/>
          </a:ln>
        </p:spPr>
        <p:txBody>
          <a:bodyPr anchorCtr="0" anchor="ctr" bIns="0" lIns="0" spcFirstLastPara="1" rIns="0" wrap="square" tIns="0">
            <a:noAutofit/>
          </a:bodyPr>
          <a:lstStyle/>
          <a:p>
            <a:pPr indent="0" lvl="0" marL="0" marR="0" rtl="0" algn="l">
              <a:lnSpc>
                <a:spcPct val="123809"/>
              </a:lnSpc>
              <a:spcBef>
                <a:spcPts val="0"/>
              </a:spcBef>
              <a:spcAft>
                <a:spcPts val="0"/>
              </a:spcAft>
              <a:buClr>
                <a:srgbClr val="E8A33D"/>
              </a:buClr>
              <a:buSzPts val="1050"/>
              <a:buFont typeface="Calibri"/>
              <a:buNone/>
            </a:pPr>
            <a:r>
              <a:rPr b="1" i="0" lang="en-US" sz="1050" u="none" cap="none" strike="noStrike">
                <a:solidFill>
                  <a:srgbClr val="E8A33D"/>
                </a:solidFill>
                <a:latin typeface="Calibri"/>
                <a:ea typeface="Calibri"/>
                <a:cs typeface="Calibri"/>
                <a:sym typeface="Calibri"/>
              </a:rPr>
              <a:t>NO ES EL SNAPSHOT PÚBLICO</a:t>
            </a:r>
            <a:endParaRPr b="0" i="0" sz="1050" u="none" cap="none" strike="noStrike">
              <a:solidFill>
                <a:schemeClr val="dk1"/>
              </a:solidFill>
              <a:latin typeface="Calibri"/>
              <a:ea typeface="Calibri"/>
              <a:cs typeface="Calibri"/>
              <a:sym typeface="Calibri"/>
            </a:endParaRPr>
          </a:p>
        </p:txBody>
      </p:sp>
      <p:sp>
        <p:nvSpPr>
          <p:cNvPr id="62" name="Google Shape;62;p3"/>
          <p:cNvSpPr/>
          <p:nvPr/>
        </p:nvSpPr>
        <p:spPr>
          <a:xfrm>
            <a:off x="9125712" y="4297680"/>
            <a:ext cx="2286000" cy="1371600"/>
          </a:xfrm>
          <a:prstGeom prst="rect">
            <a:avLst/>
          </a:prstGeom>
          <a:noFill/>
          <a:ln>
            <a:noFill/>
          </a:ln>
        </p:spPr>
        <p:txBody>
          <a:bodyPr anchorCtr="0" anchor="ctr" bIns="0" lIns="0" spcFirstLastPara="1" rIns="0" wrap="square" tIns="0">
            <a:noAutofit/>
          </a:bodyPr>
          <a:lstStyle/>
          <a:p>
            <a:pPr indent="0" lvl="0" marL="0" marR="0" rtl="0" algn="l">
              <a:lnSpc>
                <a:spcPct val="136363"/>
              </a:lnSpc>
              <a:spcBef>
                <a:spcPts val="0"/>
              </a:spcBef>
              <a:spcAft>
                <a:spcPts val="0"/>
              </a:spcAft>
              <a:buClr>
                <a:srgbClr val="EBECED"/>
              </a:buClr>
              <a:buSzPts val="1100"/>
              <a:buFont typeface="Calibri"/>
              <a:buNone/>
            </a:pPr>
            <a:r>
              <a:rPr b="0" i="0" lang="en-US" sz="1100" u="none" cap="none" strike="noStrike">
                <a:solidFill>
                  <a:srgbClr val="EBECED"/>
                </a:solidFill>
                <a:latin typeface="Calibri"/>
                <a:ea typeface="Calibri"/>
                <a:cs typeface="Calibri"/>
                <a:sym typeface="Calibri"/>
              </a:rPr>
              <a:t>Los cuadernos que descargan el dataset por kagglehub trabajan sobre 18.396 filas, con columna índice y nulos en Distance. Ninguna métrica publicada sobre ese archivo es comparable con esta.</a:t>
            </a:r>
            <a:endParaRPr b="0" i="0" sz="1100" u="none" cap="none" strike="noStrike">
              <a:solidFill>
                <a:schemeClr val="dk1"/>
              </a:solidFill>
              <a:latin typeface="Calibri"/>
              <a:ea typeface="Calibri"/>
              <a:cs typeface="Calibri"/>
              <a:sym typeface="Calibri"/>
            </a:endParaRPr>
          </a:p>
        </p:txBody>
      </p:sp>
      <p:sp>
        <p:nvSpPr>
          <p:cNvPr id="63" name="Google Shape;63;p3"/>
          <p:cNvSpPr/>
          <p:nvPr/>
        </p:nvSpPr>
        <p:spPr>
          <a:xfrm>
            <a:off x="594360" y="4663440"/>
            <a:ext cx="4572000" cy="1143000"/>
          </a:xfrm>
          <a:prstGeom prst="roundRect">
            <a:avLst>
              <a:gd fmla="val 6400" name="adj"/>
            </a:avLst>
          </a:prstGeom>
          <a:solidFill>
            <a:srgbClr val="242E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3"/>
          <p:cNvSpPr/>
          <p:nvPr/>
        </p:nvSpPr>
        <p:spPr>
          <a:xfrm>
            <a:off x="850392" y="4828032"/>
            <a:ext cx="4114800" cy="86868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E8A33D"/>
              </a:buClr>
              <a:buSzPts val="1150"/>
              <a:buFont typeface="Calibri"/>
              <a:buNone/>
            </a:pPr>
            <a:r>
              <a:rPr b="1" i="0" lang="en-US" sz="1150" u="none" cap="none" strike="noStrike">
                <a:solidFill>
                  <a:srgbClr val="E8A33D"/>
                </a:solidFill>
                <a:latin typeface="Calibri"/>
                <a:ea typeface="Calibri"/>
                <a:cs typeface="Calibri"/>
                <a:sym typeface="Calibri"/>
              </a:rPr>
              <a:t>Date viene en formato d/m/Y.  </a:t>
            </a:r>
            <a:r>
              <a:rPr b="0" i="0" lang="en-US" sz="1150" u="none" cap="none" strike="noStrike">
                <a:solidFill>
                  <a:srgbClr val="AEB0B2"/>
                </a:solidFill>
                <a:latin typeface="Calibri"/>
                <a:ea typeface="Calibri"/>
                <a:cs typeface="Calibri"/>
                <a:sym typeface="Calibri"/>
              </a:rPr>
              <a:t>8.442 filas tienen día mayor que 12. Con la inferencia por defecto de pandas el corte 2016/2017 se rompe sin avisar.</a:t>
            </a:r>
            <a:endParaRPr b="0" i="0" sz="1150" u="none" cap="none" strike="noStrike">
              <a:solidFill>
                <a:schemeClr val="dk1"/>
              </a:solidFill>
              <a:latin typeface="Calibri"/>
              <a:ea typeface="Calibri"/>
              <a:cs typeface="Calibri"/>
              <a:sym typeface="Calibri"/>
            </a:endParaRPr>
          </a:p>
        </p:txBody>
      </p:sp>
      <p:sp>
        <p:nvSpPr>
          <p:cNvPr id="65" name="Google Shape;65;p3"/>
          <p:cNvSpPr/>
          <p:nvPr/>
        </p:nvSpPr>
        <p:spPr>
          <a:xfrm>
            <a:off x="594360" y="6144768"/>
            <a:ext cx="10881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38588"/>
              </a:buClr>
              <a:buSzPts val="1000"/>
              <a:buFont typeface="Calibri"/>
              <a:buNone/>
            </a:pPr>
            <a:r>
              <a:rPr b="0" i="1" lang="en-US" sz="1000" u="none" cap="none" strike="noStrike">
                <a:solidFill>
                  <a:srgbClr val="838588"/>
                </a:solidFill>
                <a:latin typeface="Calibri"/>
                <a:ea typeface="Calibri"/>
                <a:cs typeface="Calibri"/>
                <a:sym typeface="Calibri"/>
              </a:rPr>
              <a:t>Fuente: anclaje.json · claves procedencia, datos, L10_fecha. El archivo se verifica por SHA-256 antes de leerse.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61B"/>
        </a:solidFill>
      </p:bgPr>
    </p:bg>
    <p:spTree>
      <p:nvGrpSpPr>
        <p:cNvPr id="70" name="Shape 70"/>
        <p:cNvGrpSpPr/>
        <p:nvPr/>
      </p:nvGrpSpPr>
      <p:grpSpPr>
        <a:xfrm>
          <a:off x="0" y="0"/>
          <a:ext cx="0" cy="0"/>
          <a:chOff x="0" y="0"/>
          <a:chExt cx="0" cy="0"/>
        </a:xfrm>
      </p:grpSpPr>
      <p:sp>
        <p:nvSpPr>
          <p:cNvPr id="71" name="Google Shape;71;p4"/>
          <p:cNvSpPr/>
          <p:nvPr/>
        </p:nvSpPr>
        <p:spPr>
          <a:xfrm>
            <a:off x="594360" y="384048"/>
            <a:ext cx="106070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1100"/>
              <a:buFont typeface="Calibri"/>
              <a:buNone/>
            </a:pPr>
            <a:r>
              <a:rPr b="1" i="0" lang="en-US" sz="1100" u="none" cap="none" strike="noStrike">
                <a:solidFill>
                  <a:srgbClr val="E8A33D"/>
                </a:solidFill>
                <a:latin typeface="Calibri"/>
                <a:ea typeface="Calibri"/>
                <a:cs typeface="Calibri"/>
                <a:sym typeface="Calibri"/>
              </a:rPr>
              <a:t>CALIDAD DE LOS VALORES</a:t>
            </a:r>
            <a:endParaRPr b="0" i="0" sz="1100" u="none" cap="none" strike="noStrike">
              <a:solidFill>
                <a:schemeClr val="dk1"/>
              </a:solidFill>
              <a:latin typeface="Calibri"/>
              <a:ea typeface="Calibri"/>
              <a:cs typeface="Calibri"/>
              <a:sym typeface="Calibri"/>
            </a:endParaRPr>
          </a:p>
        </p:txBody>
      </p:sp>
      <p:sp>
        <p:nvSpPr>
          <p:cNvPr id="72" name="Google Shape;72;p4"/>
          <p:cNvSpPr/>
          <p:nvPr/>
        </p:nvSpPr>
        <p:spPr>
          <a:xfrm>
            <a:off x="594360" y="658368"/>
            <a:ext cx="10881360"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BECED"/>
              </a:buClr>
              <a:buSzPts val="3000"/>
              <a:buFont typeface="Cambria"/>
              <a:buNone/>
            </a:pPr>
            <a:r>
              <a:rPr b="1" i="0" lang="en-US" sz="3000" u="none" cap="none" strike="noStrike">
                <a:solidFill>
                  <a:srgbClr val="EBECED"/>
                </a:solidFill>
                <a:latin typeface="Cambria"/>
                <a:ea typeface="Cambria"/>
                <a:cs typeface="Cambria"/>
                <a:sym typeface="Cambria"/>
              </a:rPr>
              <a:t>Ningún nulo en Price, pero sí valores que no pueden ser ciertos</a:t>
            </a:r>
            <a:endParaRPr b="0" i="0" sz="3000" u="none" cap="none" strike="noStrike">
              <a:solidFill>
                <a:schemeClr val="dk1"/>
              </a:solidFill>
              <a:latin typeface="Calibri"/>
              <a:ea typeface="Calibri"/>
              <a:cs typeface="Calibri"/>
              <a:sym typeface="Calibri"/>
            </a:endParaRPr>
          </a:p>
        </p:txBody>
      </p:sp>
      <p:graphicFrame>
        <p:nvGraphicFramePr>
          <p:cNvPr id="73" name="Google Shape;73;p4"/>
          <p:cNvGraphicFramePr/>
          <p:nvPr/>
        </p:nvGraphicFramePr>
        <p:xfrm>
          <a:off x="594360" y="1600200"/>
          <a:ext cx="7406640" cy="4160520"/>
        </p:xfrm>
        <a:graphic>
          <a:graphicData uri="http://schemas.openxmlformats.org/drawingml/2006/chart">
            <c:chart r:id="rId3"/>
          </a:graphicData>
        </a:graphic>
      </p:graphicFrame>
      <p:sp>
        <p:nvSpPr>
          <p:cNvPr id="74" name="Google Shape;74;p4"/>
          <p:cNvSpPr/>
          <p:nvPr/>
        </p:nvSpPr>
        <p:spPr>
          <a:xfrm>
            <a:off x="8229600" y="1600200"/>
            <a:ext cx="3337560" cy="2103120"/>
          </a:xfrm>
          <a:prstGeom prst="roundRect">
            <a:avLst>
              <a:gd fmla="val 3478" name="adj"/>
            </a:avLst>
          </a:prstGeom>
          <a:solidFill>
            <a:srgbClr val="1B22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4"/>
          <p:cNvSpPr/>
          <p:nvPr/>
        </p:nvSpPr>
        <p:spPr>
          <a:xfrm>
            <a:off x="8485632" y="1783080"/>
            <a:ext cx="29260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1100"/>
              <a:buFont typeface="Calibri"/>
              <a:buNone/>
            </a:pPr>
            <a:r>
              <a:rPr b="1" i="0" lang="en-US" sz="1100" u="none" cap="none" strike="noStrike">
                <a:solidFill>
                  <a:srgbClr val="E8A33D"/>
                </a:solidFill>
                <a:latin typeface="Calibri"/>
                <a:ea typeface="Calibri"/>
                <a:cs typeface="Calibri"/>
                <a:sym typeface="Calibri"/>
              </a:rPr>
              <a:t>EL CASO EXTREMO</a:t>
            </a:r>
            <a:endParaRPr b="0" i="0" sz="1100" u="none" cap="none" strike="noStrike">
              <a:solidFill>
                <a:schemeClr val="dk1"/>
              </a:solidFill>
              <a:latin typeface="Calibri"/>
              <a:ea typeface="Calibri"/>
              <a:cs typeface="Calibri"/>
              <a:sym typeface="Calibri"/>
            </a:endParaRPr>
          </a:p>
        </p:txBody>
      </p:sp>
      <p:sp>
        <p:nvSpPr>
          <p:cNvPr id="76" name="Google Shape;76;p4"/>
          <p:cNvSpPr/>
          <p:nvPr/>
        </p:nvSpPr>
        <p:spPr>
          <a:xfrm>
            <a:off x="8485632" y="2103120"/>
            <a:ext cx="2926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BECED"/>
              </a:buClr>
              <a:buSzPts val="2000"/>
              <a:buFont typeface="Cambria"/>
              <a:buNone/>
            </a:pPr>
            <a:r>
              <a:rPr b="1" i="0" lang="en-US" sz="2000" u="none" cap="none" strike="noStrike">
                <a:solidFill>
                  <a:srgbClr val="EBECED"/>
                </a:solidFill>
                <a:latin typeface="Cambria"/>
                <a:ea typeface="Cambria"/>
                <a:cs typeface="Cambria"/>
                <a:sym typeface="Cambria"/>
              </a:rPr>
              <a:t>YearBuilt mínimo: 1196</a:t>
            </a:r>
            <a:endParaRPr b="0" i="0" sz="2000" u="none" cap="none" strike="noStrike">
              <a:solidFill>
                <a:schemeClr val="dk1"/>
              </a:solidFill>
              <a:latin typeface="Calibri"/>
              <a:ea typeface="Calibri"/>
              <a:cs typeface="Calibri"/>
              <a:sym typeface="Calibri"/>
            </a:endParaRPr>
          </a:p>
        </p:txBody>
      </p:sp>
      <p:sp>
        <p:nvSpPr>
          <p:cNvPr id="77" name="Google Shape;77;p4"/>
          <p:cNvSpPr/>
          <p:nvPr/>
        </p:nvSpPr>
        <p:spPr>
          <a:xfrm>
            <a:off x="8485632" y="2542032"/>
            <a:ext cx="2926080" cy="1051560"/>
          </a:xfrm>
          <a:prstGeom prst="rect">
            <a:avLst/>
          </a:prstGeom>
          <a:noFill/>
          <a:ln>
            <a:noFill/>
          </a:ln>
        </p:spPr>
        <p:txBody>
          <a:bodyPr anchorCtr="0" anchor="ctr" bIns="0" lIns="0" spcFirstLastPara="1" rIns="0" wrap="square" tIns="0">
            <a:noAutofit/>
          </a:bodyPr>
          <a:lstStyle/>
          <a:p>
            <a:pPr indent="0" lvl="0" marL="0" marR="0" rtl="0" algn="l">
              <a:lnSpc>
                <a:spcPct val="139130"/>
              </a:lnSpc>
              <a:spcBef>
                <a:spcPts val="0"/>
              </a:spcBef>
              <a:spcAft>
                <a:spcPts val="0"/>
              </a:spcAft>
              <a:buClr>
                <a:srgbClr val="AEB0B2"/>
              </a:buClr>
              <a:buSzPts val="1150"/>
              <a:buFont typeface="Calibri"/>
              <a:buNone/>
            </a:pPr>
            <a:r>
              <a:rPr b="0" i="0" lang="en-US" sz="1150" u="none" cap="none" strike="noStrike">
                <a:solidFill>
                  <a:srgbClr val="AEB0B2"/>
                </a:solidFill>
                <a:latin typeface="Calibri"/>
                <a:ea typeface="Calibri"/>
                <a:cs typeface="Calibri"/>
                <a:sym typeface="Calibri"/>
              </a:rPr>
              <a:t>Y un Landsize máximo de 433.014. Son errores de captura evidentes, no propiedades exóticas. Se detectan, se declaran y se tratan en el Hito 2; no se borran en silencio.</a:t>
            </a:r>
            <a:endParaRPr b="0" i="0" sz="1150" u="none" cap="none" strike="noStrike">
              <a:solidFill>
                <a:schemeClr val="dk1"/>
              </a:solidFill>
              <a:latin typeface="Calibri"/>
              <a:ea typeface="Calibri"/>
              <a:cs typeface="Calibri"/>
              <a:sym typeface="Calibri"/>
            </a:endParaRPr>
          </a:p>
        </p:txBody>
      </p:sp>
      <p:sp>
        <p:nvSpPr>
          <p:cNvPr id="78" name="Google Shape;78;p4"/>
          <p:cNvSpPr/>
          <p:nvPr/>
        </p:nvSpPr>
        <p:spPr>
          <a:xfrm>
            <a:off x="8229600" y="3840480"/>
            <a:ext cx="3337560" cy="1920240"/>
          </a:xfrm>
          <a:prstGeom prst="roundRect">
            <a:avLst>
              <a:gd fmla="val 3810" name="adj"/>
            </a:avLst>
          </a:prstGeom>
          <a:solidFill>
            <a:srgbClr val="3341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4"/>
          <p:cNvSpPr/>
          <p:nvPr/>
        </p:nvSpPr>
        <p:spPr>
          <a:xfrm>
            <a:off x="8485632" y="4023360"/>
            <a:ext cx="29260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1100"/>
              <a:buFont typeface="Calibri"/>
              <a:buNone/>
            </a:pPr>
            <a:r>
              <a:rPr b="1" i="0" lang="en-US" sz="1100" u="none" cap="none" strike="noStrike">
                <a:solidFill>
                  <a:srgbClr val="E8A33D"/>
                </a:solidFill>
                <a:latin typeface="Calibri"/>
                <a:ea typeface="Calibri"/>
                <a:cs typeface="Calibri"/>
                <a:sym typeface="Calibri"/>
              </a:rPr>
              <a:t>POR QUÉ IMPORTA AHORA</a:t>
            </a:r>
            <a:endParaRPr b="0" i="0" sz="1100" u="none" cap="none" strike="noStrike">
              <a:solidFill>
                <a:schemeClr val="dk1"/>
              </a:solidFill>
              <a:latin typeface="Calibri"/>
              <a:ea typeface="Calibri"/>
              <a:cs typeface="Calibri"/>
              <a:sym typeface="Calibri"/>
            </a:endParaRPr>
          </a:p>
        </p:txBody>
      </p:sp>
      <p:sp>
        <p:nvSpPr>
          <p:cNvPr id="80" name="Google Shape;80;p4"/>
          <p:cNvSpPr/>
          <p:nvPr/>
        </p:nvSpPr>
        <p:spPr>
          <a:xfrm>
            <a:off x="8485632" y="4343400"/>
            <a:ext cx="2926080" cy="1280160"/>
          </a:xfrm>
          <a:prstGeom prst="rect">
            <a:avLst/>
          </a:prstGeom>
          <a:noFill/>
          <a:ln>
            <a:noFill/>
          </a:ln>
        </p:spPr>
        <p:txBody>
          <a:bodyPr anchorCtr="0" anchor="ctr" bIns="0" lIns="0" spcFirstLastPara="1" rIns="0" wrap="square" tIns="0">
            <a:noAutofit/>
          </a:bodyPr>
          <a:lstStyle/>
          <a:p>
            <a:pPr indent="0" lvl="0" marL="0" marR="0" rtl="0" algn="l">
              <a:lnSpc>
                <a:spcPct val="139130"/>
              </a:lnSpc>
              <a:spcBef>
                <a:spcPts val="0"/>
              </a:spcBef>
              <a:spcAft>
                <a:spcPts val="0"/>
              </a:spcAft>
              <a:buClr>
                <a:srgbClr val="EBECED"/>
              </a:buClr>
              <a:buSzPts val="1150"/>
              <a:buFont typeface="Calibri"/>
              <a:buNone/>
            </a:pPr>
            <a:r>
              <a:rPr b="0" i="0" lang="en-US" sz="1150" u="none" cap="none" strike="noStrike">
                <a:solidFill>
                  <a:srgbClr val="EBECED"/>
                </a:solidFill>
                <a:latin typeface="Calibri"/>
                <a:ea typeface="Calibri"/>
                <a:cs typeface="Calibri"/>
                <a:sym typeface="Calibri"/>
              </a:rPr>
              <a:t>Landsize = 0 en 14,3% de las filas no es un dato faltante declarado: es un cero que cualquier modelo tomará como superficie real. Un nulo se ve; un cero falso no.</a:t>
            </a:r>
            <a:endParaRPr b="0" i="0" sz="1150" u="none" cap="none" strike="noStrike">
              <a:solidFill>
                <a:schemeClr val="dk1"/>
              </a:solidFill>
              <a:latin typeface="Calibri"/>
              <a:ea typeface="Calibri"/>
              <a:cs typeface="Calibri"/>
              <a:sym typeface="Calibri"/>
            </a:endParaRPr>
          </a:p>
        </p:txBody>
      </p:sp>
      <p:sp>
        <p:nvSpPr>
          <p:cNvPr id="81" name="Google Shape;81;p4"/>
          <p:cNvSpPr/>
          <p:nvPr/>
        </p:nvSpPr>
        <p:spPr>
          <a:xfrm>
            <a:off x="594360" y="6144768"/>
            <a:ext cx="10881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38588"/>
              </a:buClr>
              <a:buSzPts val="1000"/>
              <a:buFont typeface="Calibri"/>
              <a:buNone/>
            </a:pPr>
            <a:r>
              <a:rPr b="0" i="1" lang="en-US" sz="1000" u="none" cap="none" strike="noStrike">
                <a:solidFill>
                  <a:srgbClr val="838588"/>
                </a:solidFill>
                <a:latin typeface="Calibri"/>
                <a:ea typeface="Calibri"/>
                <a:cs typeface="Calibri"/>
                <a:sym typeface="Calibri"/>
              </a:rPr>
              <a:t>Fuente: anclaje.json · clave plausibilidad. Conteos sobre las 13.580 filas, sin ninguna exclusión previa.</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61B"/>
        </a:solidFill>
      </p:bgPr>
    </p:bg>
    <p:spTree>
      <p:nvGrpSpPr>
        <p:cNvPr id="86" name="Shape 86"/>
        <p:cNvGrpSpPr/>
        <p:nvPr/>
      </p:nvGrpSpPr>
      <p:grpSpPr>
        <a:xfrm>
          <a:off x="0" y="0"/>
          <a:ext cx="0" cy="0"/>
          <a:chOff x="0" y="0"/>
          <a:chExt cx="0" cy="0"/>
        </a:xfrm>
      </p:grpSpPr>
      <p:sp>
        <p:nvSpPr>
          <p:cNvPr id="87" name="Google Shape;87;p5"/>
          <p:cNvSpPr/>
          <p:nvPr/>
        </p:nvSpPr>
        <p:spPr>
          <a:xfrm>
            <a:off x="594360" y="384048"/>
            <a:ext cx="106070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1100"/>
              <a:buFont typeface="Calibri"/>
              <a:buNone/>
            </a:pPr>
            <a:r>
              <a:rPr b="1" i="0" lang="en-US" sz="1100" u="none" cap="none" strike="noStrike">
                <a:solidFill>
                  <a:srgbClr val="E8A33D"/>
                </a:solidFill>
                <a:latin typeface="Calibri"/>
                <a:ea typeface="Calibri"/>
                <a:cs typeface="Calibri"/>
                <a:sym typeface="Calibri"/>
              </a:rPr>
              <a:t>EL NIVEL AGREGADO DE PRECIOS</a:t>
            </a:r>
            <a:endParaRPr b="0" i="0" sz="1100" u="none" cap="none" strike="noStrike">
              <a:solidFill>
                <a:schemeClr val="dk1"/>
              </a:solidFill>
              <a:latin typeface="Calibri"/>
              <a:ea typeface="Calibri"/>
              <a:cs typeface="Calibri"/>
              <a:sym typeface="Calibri"/>
            </a:endParaRPr>
          </a:p>
        </p:txBody>
      </p:sp>
      <p:sp>
        <p:nvSpPr>
          <p:cNvPr id="88" name="Google Shape;88;p5"/>
          <p:cNvSpPr/>
          <p:nvPr/>
        </p:nvSpPr>
        <p:spPr>
          <a:xfrm>
            <a:off x="594360" y="658368"/>
            <a:ext cx="10881360"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BECED"/>
              </a:buClr>
              <a:buSzPts val="3000"/>
              <a:buFont typeface="Cambria"/>
              <a:buNone/>
            </a:pPr>
            <a:r>
              <a:rPr b="1" i="0" lang="en-US" sz="3000" u="none" cap="none" strike="noStrike">
                <a:solidFill>
                  <a:srgbClr val="EBECED"/>
                </a:solidFill>
                <a:latin typeface="Cambria"/>
                <a:ea typeface="Cambria"/>
                <a:cs typeface="Cambria"/>
                <a:sym typeface="Cambria"/>
              </a:rPr>
              <a:t>Entre los dos años la mediana se movió 1,11%</a:t>
            </a:r>
            <a:endParaRPr b="0" i="0" sz="3000" u="none" cap="none" strike="noStrike">
              <a:solidFill>
                <a:schemeClr val="dk1"/>
              </a:solidFill>
              <a:latin typeface="Calibri"/>
              <a:ea typeface="Calibri"/>
              <a:cs typeface="Calibri"/>
              <a:sym typeface="Calibri"/>
            </a:endParaRPr>
          </a:p>
        </p:txBody>
      </p:sp>
      <p:graphicFrame>
        <p:nvGraphicFramePr>
          <p:cNvPr id="89" name="Google Shape;89;p5"/>
          <p:cNvGraphicFramePr/>
          <p:nvPr/>
        </p:nvGraphicFramePr>
        <p:xfrm>
          <a:off x="594360" y="1600200"/>
          <a:ext cx="7498080" cy="4023360"/>
        </p:xfrm>
        <a:graphic>
          <a:graphicData uri="http://schemas.openxmlformats.org/drawingml/2006/chart">
            <c:chart r:id="rId3"/>
          </a:graphicData>
        </a:graphic>
      </p:graphicFrame>
      <p:sp>
        <p:nvSpPr>
          <p:cNvPr id="90" name="Google Shape;90;p5"/>
          <p:cNvSpPr/>
          <p:nvPr/>
        </p:nvSpPr>
        <p:spPr>
          <a:xfrm>
            <a:off x="8275320" y="1874520"/>
            <a:ext cx="384048" cy="384048"/>
          </a:xfrm>
          <a:prstGeom prst="ellipse">
            <a:avLst/>
          </a:prstGeom>
          <a:solidFill>
            <a:srgbClr val="E8A3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5"/>
          <p:cNvSpPr/>
          <p:nvPr/>
        </p:nvSpPr>
        <p:spPr>
          <a:xfrm>
            <a:off x="8275320" y="187452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2161B"/>
              </a:buClr>
              <a:buSzPts val="1300"/>
              <a:buFont typeface="Calibri"/>
              <a:buNone/>
            </a:pPr>
            <a:r>
              <a:rPr b="1" i="0" lang="en-US" sz="1300" u="none" cap="none" strike="noStrike">
                <a:solidFill>
                  <a:srgbClr val="12161B"/>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92" name="Google Shape;92;p5"/>
          <p:cNvSpPr/>
          <p:nvPr/>
        </p:nvSpPr>
        <p:spPr>
          <a:xfrm>
            <a:off x="8778240" y="1856232"/>
            <a:ext cx="3017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BECED"/>
              </a:buClr>
              <a:buSzPts val="1400"/>
              <a:buFont typeface="Calibri"/>
              <a:buNone/>
            </a:pPr>
            <a:r>
              <a:rPr b="1" i="0" lang="en-US" sz="1400" u="none" cap="none" strike="noStrike">
                <a:solidFill>
                  <a:srgbClr val="EBECED"/>
                </a:solidFill>
                <a:latin typeface="Calibri"/>
                <a:ea typeface="Calibri"/>
                <a:cs typeface="Calibri"/>
                <a:sym typeface="Calibri"/>
              </a:rPr>
              <a:t>6.336 / 7.244</a:t>
            </a:r>
            <a:endParaRPr b="0" i="0" sz="1400" u="none" cap="none" strike="noStrike">
              <a:solidFill>
                <a:schemeClr val="dk1"/>
              </a:solidFill>
              <a:latin typeface="Calibri"/>
              <a:ea typeface="Calibri"/>
              <a:cs typeface="Calibri"/>
              <a:sym typeface="Calibri"/>
            </a:endParaRPr>
          </a:p>
        </p:txBody>
      </p:sp>
      <p:sp>
        <p:nvSpPr>
          <p:cNvPr id="93" name="Google Shape;93;p5"/>
          <p:cNvSpPr/>
          <p:nvPr/>
        </p:nvSpPr>
        <p:spPr>
          <a:xfrm>
            <a:off x="8778240" y="2148840"/>
            <a:ext cx="2880360" cy="91440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AEB0B2"/>
              </a:buClr>
              <a:buSzPts val="1150"/>
              <a:buFont typeface="Calibri"/>
              <a:buNone/>
            </a:pPr>
            <a:r>
              <a:rPr b="0" i="0" lang="en-US" sz="1150" u="none" cap="none" strike="noStrike">
                <a:solidFill>
                  <a:srgbClr val="AEB0B2"/>
                </a:solidFill>
                <a:latin typeface="Calibri"/>
                <a:ea typeface="Calibri"/>
                <a:cs typeface="Calibri"/>
                <a:sym typeface="Calibri"/>
              </a:rPr>
              <a:t>La partición temporal ya está en el archivo: 46,7% de las filas son de 2016 y 53,3% de 2017. No hay que inventarla, hay que respetarla.</a:t>
            </a:r>
            <a:endParaRPr b="0" i="0" sz="1150" u="none" cap="none" strike="noStrike">
              <a:solidFill>
                <a:schemeClr val="dk1"/>
              </a:solidFill>
              <a:latin typeface="Calibri"/>
              <a:ea typeface="Calibri"/>
              <a:cs typeface="Calibri"/>
              <a:sym typeface="Calibri"/>
            </a:endParaRPr>
          </a:p>
        </p:txBody>
      </p:sp>
      <p:sp>
        <p:nvSpPr>
          <p:cNvPr id="94" name="Google Shape;94;p5"/>
          <p:cNvSpPr/>
          <p:nvPr/>
        </p:nvSpPr>
        <p:spPr>
          <a:xfrm>
            <a:off x="8275320" y="3172968"/>
            <a:ext cx="384048" cy="384048"/>
          </a:xfrm>
          <a:prstGeom prst="ellipse">
            <a:avLst/>
          </a:prstGeom>
          <a:solidFill>
            <a:srgbClr val="E8A3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5"/>
          <p:cNvSpPr/>
          <p:nvPr/>
        </p:nvSpPr>
        <p:spPr>
          <a:xfrm>
            <a:off x="8275320" y="317296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2161B"/>
              </a:buClr>
              <a:buSzPts val="1300"/>
              <a:buFont typeface="Calibri"/>
              <a:buNone/>
            </a:pPr>
            <a:r>
              <a:rPr b="1" i="0" lang="en-US" sz="1300" u="none" cap="none" strike="noStrike">
                <a:solidFill>
                  <a:srgbClr val="12161B"/>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96" name="Google Shape;96;p5"/>
          <p:cNvSpPr/>
          <p:nvPr/>
        </p:nvSpPr>
        <p:spPr>
          <a:xfrm>
            <a:off x="8778240" y="3154680"/>
            <a:ext cx="3017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BECED"/>
              </a:buClr>
              <a:buSzPts val="1400"/>
              <a:buFont typeface="Calibri"/>
              <a:buNone/>
            </a:pPr>
            <a:r>
              <a:rPr b="1" i="0" lang="en-US" sz="1400" u="none" cap="none" strike="noStrike">
                <a:solidFill>
                  <a:srgbClr val="EBECED"/>
                </a:solidFill>
                <a:latin typeface="Calibri"/>
                <a:ea typeface="Calibri"/>
                <a:cs typeface="Calibri"/>
                <a:sym typeface="Calibri"/>
              </a:rPr>
              <a:t>Enero 2016: 2 filas</a:t>
            </a:r>
            <a:endParaRPr b="0" i="0" sz="1400" u="none" cap="none" strike="noStrike">
              <a:solidFill>
                <a:schemeClr val="dk1"/>
              </a:solidFill>
              <a:latin typeface="Calibri"/>
              <a:ea typeface="Calibri"/>
              <a:cs typeface="Calibri"/>
              <a:sym typeface="Calibri"/>
            </a:endParaRPr>
          </a:p>
        </p:txBody>
      </p:sp>
      <p:sp>
        <p:nvSpPr>
          <p:cNvPr id="97" name="Google Shape;97;p5"/>
          <p:cNvSpPr/>
          <p:nvPr/>
        </p:nvSpPr>
        <p:spPr>
          <a:xfrm>
            <a:off x="8778240" y="3447288"/>
            <a:ext cx="2880360" cy="91440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AEB0B2"/>
              </a:buClr>
              <a:buSzPts val="1150"/>
              <a:buFont typeface="Calibri"/>
              <a:buNone/>
            </a:pPr>
            <a:r>
              <a:rPr b="0" i="0" lang="en-US" sz="1150" u="none" cap="none" strike="noStrike">
                <a:solidFill>
                  <a:srgbClr val="AEB0B2"/>
                </a:solidFill>
                <a:latin typeface="Calibri"/>
                <a:ea typeface="Calibri"/>
                <a:cs typeface="Calibri"/>
                <a:sym typeface="Calibri"/>
              </a:rPr>
              <a:t>Febrero suma 26 y marzo de 2016 no existe. Enero de 2017 tampoco. El "2016 completo" son en realidad nueve meses útiles.</a:t>
            </a:r>
            <a:endParaRPr b="0" i="0" sz="1150" u="none" cap="none" strike="noStrike">
              <a:solidFill>
                <a:schemeClr val="dk1"/>
              </a:solidFill>
              <a:latin typeface="Calibri"/>
              <a:ea typeface="Calibri"/>
              <a:cs typeface="Calibri"/>
              <a:sym typeface="Calibri"/>
            </a:endParaRPr>
          </a:p>
        </p:txBody>
      </p:sp>
      <p:sp>
        <p:nvSpPr>
          <p:cNvPr id="98" name="Google Shape;98;p5"/>
          <p:cNvSpPr/>
          <p:nvPr/>
        </p:nvSpPr>
        <p:spPr>
          <a:xfrm>
            <a:off x="8275320" y="4471416"/>
            <a:ext cx="384048" cy="384048"/>
          </a:xfrm>
          <a:prstGeom prst="ellipse">
            <a:avLst/>
          </a:prstGeom>
          <a:solidFill>
            <a:srgbClr val="E8A3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5"/>
          <p:cNvSpPr/>
          <p:nvPr/>
        </p:nvSpPr>
        <p:spPr>
          <a:xfrm>
            <a:off x="8275320" y="4471416"/>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2161B"/>
              </a:buClr>
              <a:buSzPts val="1300"/>
              <a:buFont typeface="Calibri"/>
              <a:buNone/>
            </a:pPr>
            <a:r>
              <a:rPr b="1" i="0" lang="en-US" sz="1300" u="none" cap="none" strike="noStrike">
                <a:solidFill>
                  <a:srgbClr val="12161B"/>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100" name="Google Shape;100;p5"/>
          <p:cNvSpPr/>
          <p:nvPr/>
        </p:nvSpPr>
        <p:spPr>
          <a:xfrm>
            <a:off x="8778240" y="4453128"/>
            <a:ext cx="3017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BECED"/>
              </a:buClr>
              <a:buSzPts val="1400"/>
              <a:buFont typeface="Calibri"/>
              <a:buNone/>
            </a:pPr>
            <a:r>
              <a:rPr b="1" i="0" lang="en-US" sz="1400" u="none" cap="none" strike="noStrike">
                <a:solidFill>
                  <a:srgbClr val="EBECED"/>
                </a:solidFill>
                <a:latin typeface="Calibri"/>
                <a:ea typeface="Calibri"/>
                <a:cs typeface="Calibri"/>
                <a:sym typeface="Calibri"/>
              </a:rPr>
              <a:t>Julio 2017: la caída</a:t>
            </a:r>
            <a:endParaRPr b="0" i="0" sz="1400" u="none" cap="none" strike="noStrike">
              <a:solidFill>
                <a:schemeClr val="dk1"/>
              </a:solidFill>
              <a:latin typeface="Calibri"/>
              <a:ea typeface="Calibri"/>
              <a:cs typeface="Calibri"/>
              <a:sym typeface="Calibri"/>
            </a:endParaRPr>
          </a:p>
        </p:txBody>
      </p:sp>
      <p:sp>
        <p:nvSpPr>
          <p:cNvPr id="101" name="Google Shape;101;p5"/>
          <p:cNvSpPr/>
          <p:nvPr/>
        </p:nvSpPr>
        <p:spPr>
          <a:xfrm>
            <a:off x="8778240" y="4745736"/>
            <a:ext cx="2880360" cy="91440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AEB0B2"/>
              </a:buClr>
              <a:buSzPts val="1150"/>
              <a:buFont typeface="Calibri"/>
              <a:buNone/>
            </a:pPr>
            <a:r>
              <a:rPr b="0" i="0" lang="en-US" sz="1150" u="none" cap="none" strike="noStrike">
                <a:solidFill>
                  <a:srgbClr val="AEB0B2"/>
                </a:solidFill>
                <a:latin typeface="Calibri"/>
                <a:ea typeface="Calibri"/>
                <a:cs typeface="Calibri"/>
                <a:sym typeface="Calibri"/>
              </a:rPr>
              <a:t>El mes más bajo de toda la serie coincide con el mes de mayor volumen. No es una caída de precios: es un cambio en qué se vendió.</a:t>
            </a:r>
            <a:endParaRPr b="0" i="0" sz="1150" u="none" cap="none" strike="noStrike">
              <a:solidFill>
                <a:schemeClr val="dk1"/>
              </a:solidFill>
              <a:latin typeface="Calibri"/>
              <a:ea typeface="Calibri"/>
              <a:cs typeface="Calibri"/>
              <a:sym typeface="Calibri"/>
            </a:endParaRPr>
          </a:p>
        </p:txBody>
      </p:sp>
      <p:sp>
        <p:nvSpPr>
          <p:cNvPr id="102" name="Google Shape;102;p5"/>
          <p:cNvSpPr/>
          <p:nvPr/>
        </p:nvSpPr>
        <p:spPr>
          <a:xfrm>
            <a:off x="594360" y="6144768"/>
            <a:ext cx="10881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38588"/>
              </a:buClr>
              <a:buSzPts val="1000"/>
              <a:buFont typeface="Calibri"/>
              <a:buNone/>
            </a:pPr>
            <a:r>
              <a:rPr b="0" i="1" lang="en-US" sz="1000" u="none" cap="none" strike="noStrike">
                <a:solidFill>
                  <a:srgbClr val="838588"/>
                </a:solidFill>
                <a:latin typeface="Calibri"/>
                <a:ea typeface="Calibri"/>
                <a:cs typeface="Calibri"/>
                <a:sym typeface="Calibri"/>
              </a:rPr>
              <a:t>Fuente: anclaje.json · claves serie_mensual y particion. Fechas parseadas con dayfirst=True; sin eso, 8.442 filas cambian de año.</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61B"/>
        </a:solidFill>
      </p:bgPr>
    </p:bg>
    <p:spTree>
      <p:nvGrpSpPr>
        <p:cNvPr id="107" name="Shape 107"/>
        <p:cNvGrpSpPr/>
        <p:nvPr/>
      </p:nvGrpSpPr>
      <p:grpSpPr>
        <a:xfrm>
          <a:off x="0" y="0"/>
          <a:ext cx="0" cy="0"/>
          <a:chOff x="0" y="0"/>
          <a:chExt cx="0" cy="0"/>
        </a:xfrm>
      </p:grpSpPr>
      <p:sp>
        <p:nvSpPr>
          <p:cNvPr id="108" name="Google Shape;108;p6"/>
          <p:cNvSpPr/>
          <p:nvPr/>
        </p:nvSpPr>
        <p:spPr>
          <a:xfrm>
            <a:off x="0" y="0"/>
            <a:ext cx="4206240" cy="6858000"/>
          </a:xfrm>
          <a:prstGeom prst="rect">
            <a:avLst/>
          </a:prstGeom>
          <a:solidFill>
            <a:srgbClr val="E8A3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6"/>
          <p:cNvSpPr/>
          <p:nvPr/>
        </p:nvSpPr>
        <p:spPr>
          <a:xfrm>
            <a:off x="548640" y="1234440"/>
            <a:ext cx="3383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2606"/>
              </a:buClr>
              <a:buSzPts val="1200"/>
              <a:buFont typeface="Calibri"/>
              <a:buNone/>
            </a:pPr>
            <a:r>
              <a:rPr b="1" i="0" lang="en-US" sz="1200" u="none" cap="none" strike="noStrike">
                <a:solidFill>
                  <a:srgbClr val="3A2606"/>
                </a:solidFill>
                <a:latin typeface="Calibri"/>
                <a:ea typeface="Calibri"/>
                <a:cs typeface="Calibri"/>
                <a:sym typeface="Calibri"/>
              </a:rPr>
              <a:t>ESA CIFRA ES COMPOSICIÓN</a:t>
            </a:r>
            <a:endParaRPr b="0" i="0" sz="1200" u="none" cap="none" strike="noStrike">
              <a:solidFill>
                <a:schemeClr val="dk1"/>
              </a:solidFill>
              <a:latin typeface="Calibri"/>
              <a:ea typeface="Calibri"/>
              <a:cs typeface="Calibri"/>
              <a:sym typeface="Calibri"/>
            </a:endParaRPr>
          </a:p>
        </p:txBody>
      </p:sp>
      <p:sp>
        <p:nvSpPr>
          <p:cNvPr id="110" name="Google Shape;110;p6"/>
          <p:cNvSpPr/>
          <p:nvPr/>
        </p:nvSpPr>
        <p:spPr>
          <a:xfrm>
            <a:off x="548640" y="1627632"/>
            <a:ext cx="3383280" cy="82296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12161B"/>
              </a:buClr>
              <a:buSzPts val="2100"/>
              <a:buFont typeface="Cambria"/>
              <a:buNone/>
            </a:pPr>
            <a:r>
              <a:rPr b="1" i="0" lang="en-US" sz="2100" u="none" cap="none" strike="noStrike">
                <a:solidFill>
                  <a:srgbClr val="12161B"/>
                </a:solidFill>
                <a:latin typeface="Cambria"/>
                <a:ea typeface="Cambria"/>
                <a:cs typeface="Cambria"/>
                <a:sym typeface="Cambria"/>
              </a:rPr>
              <a:t>A igualdad de suburbio, el alza fue de</a:t>
            </a:r>
            <a:endParaRPr b="0" i="0" sz="2100" u="none" cap="none" strike="noStrike">
              <a:solidFill>
                <a:schemeClr val="dk1"/>
              </a:solidFill>
              <a:latin typeface="Calibri"/>
              <a:ea typeface="Calibri"/>
              <a:cs typeface="Calibri"/>
              <a:sym typeface="Calibri"/>
            </a:endParaRPr>
          </a:p>
        </p:txBody>
      </p:sp>
      <p:sp>
        <p:nvSpPr>
          <p:cNvPr id="111" name="Google Shape;111;p6"/>
          <p:cNvSpPr/>
          <p:nvPr/>
        </p:nvSpPr>
        <p:spPr>
          <a:xfrm>
            <a:off x="548640" y="2788920"/>
            <a:ext cx="338328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161B"/>
              </a:buClr>
              <a:buSzPts val="8800"/>
              <a:buFont typeface="Cambria"/>
              <a:buNone/>
            </a:pPr>
            <a:r>
              <a:rPr b="1" i="0" lang="en-US" sz="8800" u="none" cap="none" strike="noStrike">
                <a:solidFill>
                  <a:srgbClr val="12161B"/>
                </a:solidFill>
                <a:latin typeface="Cambria"/>
                <a:ea typeface="Cambria"/>
                <a:cs typeface="Cambria"/>
                <a:sym typeface="Cambria"/>
              </a:rPr>
              <a:t>11,0%</a:t>
            </a:r>
            <a:endParaRPr b="0" i="0" sz="8800" u="none" cap="none" strike="noStrike">
              <a:solidFill>
                <a:schemeClr val="dk1"/>
              </a:solidFill>
              <a:latin typeface="Calibri"/>
              <a:ea typeface="Calibri"/>
              <a:cs typeface="Calibri"/>
              <a:sym typeface="Calibri"/>
            </a:endParaRPr>
          </a:p>
        </p:txBody>
      </p:sp>
      <p:sp>
        <p:nvSpPr>
          <p:cNvPr id="112" name="Google Shape;112;p6"/>
          <p:cNvSpPr/>
          <p:nvPr/>
        </p:nvSpPr>
        <p:spPr>
          <a:xfrm>
            <a:off x="548640" y="4069080"/>
            <a:ext cx="3291840" cy="1005840"/>
          </a:xfrm>
          <a:prstGeom prst="rect">
            <a:avLst/>
          </a:prstGeom>
          <a:noFill/>
          <a:ln>
            <a:noFill/>
          </a:ln>
        </p:spPr>
        <p:txBody>
          <a:bodyPr anchorCtr="0" anchor="ctr" bIns="0" lIns="0" spcFirstLastPara="1" rIns="0" wrap="square" tIns="0">
            <a:noAutofit/>
          </a:bodyPr>
          <a:lstStyle/>
          <a:p>
            <a:pPr indent="0" lvl="0" marL="0" marR="0" rtl="0" algn="l">
              <a:lnSpc>
                <a:spcPct val="138461"/>
              </a:lnSpc>
              <a:spcBef>
                <a:spcPts val="0"/>
              </a:spcBef>
              <a:spcAft>
                <a:spcPts val="0"/>
              </a:spcAft>
              <a:buClr>
                <a:srgbClr val="3A2606"/>
              </a:buClr>
              <a:buSzPts val="1300"/>
              <a:buFont typeface="Calibri"/>
              <a:buNone/>
            </a:pPr>
            <a:r>
              <a:rPr b="0" i="0" lang="en-US" sz="1300" u="none" cap="none" strike="noStrike">
                <a:solidFill>
                  <a:srgbClr val="3A2606"/>
                </a:solidFill>
                <a:latin typeface="Calibri"/>
                <a:ea typeface="Calibri"/>
                <a:cs typeface="Calibri"/>
                <a:sym typeface="Calibri"/>
              </a:rPr>
              <a:t>De 900.000 a 999.000 sobre los mismos 142 suburbios, en 5.135 de las 7.244 filas de 2017.</a:t>
            </a:r>
            <a:endParaRPr b="0" i="0" sz="1300" u="none" cap="none" strike="noStrike">
              <a:solidFill>
                <a:schemeClr val="dk1"/>
              </a:solidFill>
              <a:latin typeface="Calibri"/>
              <a:ea typeface="Calibri"/>
              <a:cs typeface="Calibri"/>
              <a:sym typeface="Calibri"/>
            </a:endParaRPr>
          </a:p>
        </p:txBody>
      </p:sp>
      <p:sp>
        <p:nvSpPr>
          <p:cNvPr id="113" name="Google Shape;113;p6"/>
          <p:cNvSpPr/>
          <p:nvPr/>
        </p:nvSpPr>
        <p:spPr>
          <a:xfrm>
            <a:off x="4709160" y="548640"/>
            <a:ext cx="6858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1100"/>
              <a:buFont typeface="Calibri"/>
              <a:buNone/>
            </a:pPr>
            <a:r>
              <a:rPr b="1" i="0" lang="en-US" sz="1100" u="none" cap="none" strike="noStrike">
                <a:solidFill>
                  <a:srgbClr val="E8A33D"/>
                </a:solidFill>
                <a:latin typeface="Calibri"/>
                <a:ea typeface="Calibri"/>
                <a:cs typeface="Calibri"/>
                <a:sym typeface="Calibri"/>
              </a:rPr>
              <a:t>LA MEDIANA PLANA ES UNA SEÑAL FALSA</a:t>
            </a:r>
            <a:endParaRPr b="0" i="0" sz="1100" u="none" cap="none" strike="noStrike">
              <a:solidFill>
                <a:schemeClr val="dk1"/>
              </a:solidFill>
              <a:latin typeface="Calibri"/>
              <a:ea typeface="Calibri"/>
              <a:cs typeface="Calibri"/>
              <a:sym typeface="Calibri"/>
            </a:endParaRPr>
          </a:p>
        </p:txBody>
      </p:sp>
      <p:sp>
        <p:nvSpPr>
          <p:cNvPr id="114" name="Google Shape;114;p6"/>
          <p:cNvSpPr/>
          <p:nvPr/>
        </p:nvSpPr>
        <p:spPr>
          <a:xfrm>
            <a:off x="4709160" y="1024128"/>
            <a:ext cx="6858000" cy="777240"/>
          </a:xfrm>
          <a:prstGeom prst="rect">
            <a:avLst/>
          </a:prstGeom>
          <a:noFill/>
          <a:ln>
            <a:noFill/>
          </a:ln>
        </p:spPr>
        <p:txBody>
          <a:bodyPr anchorCtr="0" anchor="ctr" bIns="0" lIns="0" spcFirstLastPara="1" rIns="0" wrap="square" tIns="0">
            <a:noAutofit/>
          </a:bodyPr>
          <a:lstStyle/>
          <a:p>
            <a:pPr indent="0" lvl="0" marL="0" marR="0" rtl="0" algn="l">
              <a:lnSpc>
                <a:spcPct val="123076"/>
              </a:lnSpc>
              <a:spcBef>
                <a:spcPts val="0"/>
              </a:spcBef>
              <a:spcAft>
                <a:spcPts val="0"/>
              </a:spcAft>
              <a:buClr>
                <a:srgbClr val="EBECED"/>
              </a:buClr>
              <a:buSzPts val="2600"/>
              <a:buFont typeface="Cambria"/>
              <a:buNone/>
            </a:pPr>
            <a:r>
              <a:rPr b="1" i="0" lang="en-US" sz="2600" u="none" cap="none" strike="noStrike">
                <a:solidFill>
                  <a:srgbClr val="EBECED"/>
                </a:solidFill>
                <a:latin typeface="Cambria"/>
                <a:ea typeface="Cambria"/>
                <a:cs typeface="Cambria"/>
                <a:sym typeface="Cambria"/>
              </a:rPr>
              <a:t>En casas el agregado baja 5,9% y el precio sube 12,2%</a:t>
            </a:r>
            <a:endParaRPr b="0" i="0" sz="2600" u="none" cap="none" strike="noStrike">
              <a:solidFill>
                <a:schemeClr val="dk1"/>
              </a:solidFill>
              <a:latin typeface="Calibri"/>
              <a:ea typeface="Calibri"/>
              <a:cs typeface="Calibri"/>
              <a:sym typeface="Calibri"/>
            </a:endParaRPr>
          </a:p>
        </p:txBody>
      </p:sp>
      <p:sp>
        <p:nvSpPr>
          <p:cNvPr id="115" name="Google Shape;115;p6"/>
          <p:cNvSpPr/>
          <p:nvPr/>
        </p:nvSpPr>
        <p:spPr>
          <a:xfrm>
            <a:off x="4709160" y="2057400"/>
            <a:ext cx="54864" cy="804672"/>
          </a:xfrm>
          <a:prstGeom prst="rect">
            <a:avLst/>
          </a:prstGeom>
          <a:solidFill>
            <a:srgbClr val="E8A3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6"/>
          <p:cNvSpPr/>
          <p:nvPr/>
        </p:nvSpPr>
        <p:spPr>
          <a:xfrm>
            <a:off x="4956048" y="2011680"/>
            <a:ext cx="2011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BECED"/>
              </a:buClr>
              <a:buSzPts val="1400"/>
              <a:buFont typeface="Calibri"/>
              <a:buNone/>
            </a:pPr>
            <a:r>
              <a:rPr b="1" i="0" lang="en-US" sz="1400" u="none" cap="none" strike="noStrike">
                <a:solidFill>
                  <a:srgbClr val="EBECED"/>
                </a:solidFill>
                <a:latin typeface="Calibri"/>
                <a:ea typeface="Calibri"/>
                <a:cs typeface="Calibri"/>
                <a:sym typeface="Calibri"/>
              </a:rPr>
              <a:t>Casa (h)</a:t>
            </a:r>
            <a:endParaRPr b="0" i="0" sz="1400" u="none" cap="none" strike="noStrike">
              <a:solidFill>
                <a:schemeClr val="dk1"/>
              </a:solidFill>
              <a:latin typeface="Calibri"/>
              <a:ea typeface="Calibri"/>
              <a:cs typeface="Calibri"/>
              <a:sym typeface="Calibri"/>
            </a:endParaRPr>
          </a:p>
        </p:txBody>
      </p:sp>
      <p:sp>
        <p:nvSpPr>
          <p:cNvPr id="117" name="Google Shape;117;p6"/>
          <p:cNvSpPr/>
          <p:nvPr/>
        </p:nvSpPr>
        <p:spPr>
          <a:xfrm>
            <a:off x="4956048" y="2322576"/>
            <a:ext cx="65836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A81"/>
              </a:buClr>
              <a:buSzPts val="1900"/>
              <a:buFont typeface="Cambria"/>
              <a:buNone/>
            </a:pPr>
            <a:r>
              <a:rPr b="1" i="0" lang="en-US" sz="1900" u="none" cap="none" strike="noStrike">
                <a:solidFill>
                  <a:srgbClr val="536A81"/>
                </a:solidFill>
                <a:latin typeface="Cambria"/>
                <a:ea typeface="Cambria"/>
                <a:cs typeface="Cambria"/>
                <a:sym typeface="Cambria"/>
              </a:rPr>
              <a:t>−5,9%</a:t>
            </a:r>
            <a:r>
              <a:rPr b="0" i="0" lang="en-US" sz="1200" u="none" cap="none" strike="noStrike">
                <a:solidFill>
                  <a:srgbClr val="838588"/>
                </a:solidFill>
                <a:latin typeface="Calibri"/>
                <a:ea typeface="Calibri"/>
                <a:cs typeface="Calibri"/>
                <a:sym typeface="Calibri"/>
              </a:rPr>
              <a:t>  agregado        </a:t>
            </a:r>
            <a:r>
              <a:rPr b="1" i="0" lang="en-US" sz="1900" u="none" cap="none" strike="noStrike">
                <a:solidFill>
                  <a:srgbClr val="E8A33D"/>
                </a:solidFill>
                <a:latin typeface="Cambria"/>
                <a:ea typeface="Cambria"/>
                <a:cs typeface="Cambria"/>
                <a:sym typeface="Cambria"/>
              </a:rPr>
              <a:t>+12,2%</a:t>
            </a:r>
            <a:r>
              <a:rPr b="0" i="0" lang="en-US" sz="1200" u="none" cap="none" strike="noStrike">
                <a:solidFill>
                  <a:srgbClr val="838588"/>
                </a:solidFill>
                <a:latin typeface="Calibri"/>
                <a:ea typeface="Calibri"/>
                <a:cs typeface="Calibri"/>
                <a:sym typeface="Calibri"/>
              </a:rPr>
              <a:t>  mismo suburbio</a:t>
            </a:r>
            <a:endParaRPr b="0" i="0" sz="1900" u="none" cap="none" strike="noStrike">
              <a:solidFill>
                <a:schemeClr val="dk1"/>
              </a:solidFill>
              <a:latin typeface="Calibri"/>
              <a:ea typeface="Calibri"/>
              <a:cs typeface="Calibri"/>
              <a:sym typeface="Calibri"/>
            </a:endParaRPr>
          </a:p>
        </p:txBody>
      </p:sp>
      <p:sp>
        <p:nvSpPr>
          <p:cNvPr id="118" name="Google Shape;118;p6"/>
          <p:cNvSpPr/>
          <p:nvPr/>
        </p:nvSpPr>
        <p:spPr>
          <a:xfrm>
            <a:off x="4956048" y="2688336"/>
            <a:ext cx="6583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EB0B2"/>
              </a:buClr>
              <a:buSzPts val="1100"/>
              <a:buFont typeface="Calibri"/>
              <a:buNone/>
            </a:pPr>
            <a:r>
              <a:rPr b="0" i="0" lang="en-US" sz="1100" u="none" cap="none" strike="noStrike">
                <a:solidFill>
                  <a:srgbClr val="AEB0B2"/>
                </a:solidFill>
                <a:latin typeface="Calibri"/>
                <a:ea typeface="Calibri"/>
                <a:cs typeface="Calibri"/>
                <a:sym typeface="Calibri"/>
              </a:rPr>
              <a:t>1.111.000 → 1.045.000 en el total, y → 1.246.750 restringido a los suburbios de 2016.</a:t>
            </a:r>
            <a:endParaRPr b="0" i="0" sz="1100" u="none" cap="none" strike="noStrike">
              <a:solidFill>
                <a:schemeClr val="dk1"/>
              </a:solidFill>
              <a:latin typeface="Calibri"/>
              <a:ea typeface="Calibri"/>
              <a:cs typeface="Calibri"/>
              <a:sym typeface="Calibri"/>
            </a:endParaRPr>
          </a:p>
        </p:txBody>
      </p:sp>
      <p:sp>
        <p:nvSpPr>
          <p:cNvPr id="119" name="Google Shape;119;p6"/>
          <p:cNvSpPr/>
          <p:nvPr/>
        </p:nvSpPr>
        <p:spPr>
          <a:xfrm>
            <a:off x="4709160" y="3108960"/>
            <a:ext cx="54864" cy="804672"/>
          </a:xfrm>
          <a:prstGeom prst="rect">
            <a:avLst/>
          </a:prstGeom>
          <a:solidFill>
            <a:srgbClr val="976D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6"/>
          <p:cNvSpPr/>
          <p:nvPr/>
        </p:nvSpPr>
        <p:spPr>
          <a:xfrm>
            <a:off x="4956048" y="3063240"/>
            <a:ext cx="2011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BECED"/>
              </a:buClr>
              <a:buSzPts val="1400"/>
              <a:buFont typeface="Calibri"/>
              <a:buNone/>
            </a:pPr>
            <a:r>
              <a:rPr b="1" i="0" lang="en-US" sz="1400" u="none" cap="none" strike="noStrike">
                <a:solidFill>
                  <a:srgbClr val="EBECED"/>
                </a:solidFill>
                <a:latin typeface="Calibri"/>
                <a:ea typeface="Calibri"/>
                <a:cs typeface="Calibri"/>
                <a:sym typeface="Calibri"/>
              </a:rPr>
              <a:t>Departamento (u)</a:t>
            </a:r>
            <a:endParaRPr b="0" i="0" sz="1400" u="none" cap="none" strike="noStrike">
              <a:solidFill>
                <a:schemeClr val="dk1"/>
              </a:solidFill>
              <a:latin typeface="Calibri"/>
              <a:ea typeface="Calibri"/>
              <a:cs typeface="Calibri"/>
              <a:sym typeface="Calibri"/>
            </a:endParaRPr>
          </a:p>
        </p:txBody>
      </p:sp>
      <p:sp>
        <p:nvSpPr>
          <p:cNvPr id="121" name="Google Shape;121;p6"/>
          <p:cNvSpPr/>
          <p:nvPr/>
        </p:nvSpPr>
        <p:spPr>
          <a:xfrm>
            <a:off x="4956048" y="3374136"/>
            <a:ext cx="65836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A81"/>
              </a:buClr>
              <a:buSzPts val="1900"/>
              <a:buFont typeface="Cambria"/>
              <a:buNone/>
            </a:pPr>
            <a:r>
              <a:rPr b="1" i="0" lang="en-US" sz="1900" u="none" cap="none" strike="noStrike">
                <a:solidFill>
                  <a:srgbClr val="536A81"/>
                </a:solidFill>
                <a:latin typeface="Cambria"/>
                <a:ea typeface="Cambria"/>
                <a:cs typeface="Cambria"/>
                <a:sym typeface="Cambria"/>
              </a:rPr>
              <a:t>+8,3%</a:t>
            </a:r>
            <a:r>
              <a:rPr b="0" i="0" lang="en-US" sz="1200" u="none" cap="none" strike="noStrike">
                <a:solidFill>
                  <a:srgbClr val="838588"/>
                </a:solidFill>
                <a:latin typeface="Calibri"/>
                <a:ea typeface="Calibri"/>
                <a:cs typeface="Calibri"/>
                <a:sym typeface="Calibri"/>
              </a:rPr>
              <a:t>  agregado        </a:t>
            </a:r>
            <a:r>
              <a:rPr b="1" i="0" lang="en-US" sz="1900" u="none" cap="none" strike="noStrike">
                <a:solidFill>
                  <a:srgbClr val="976D30"/>
                </a:solidFill>
                <a:latin typeface="Cambria"/>
                <a:ea typeface="Cambria"/>
                <a:cs typeface="Cambria"/>
                <a:sym typeface="Cambria"/>
              </a:rPr>
              <a:t>+7,4%</a:t>
            </a:r>
            <a:r>
              <a:rPr b="0" i="0" lang="en-US" sz="1200" u="none" cap="none" strike="noStrike">
                <a:solidFill>
                  <a:srgbClr val="838588"/>
                </a:solidFill>
                <a:latin typeface="Calibri"/>
                <a:ea typeface="Calibri"/>
                <a:cs typeface="Calibri"/>
                <a:sym typeface="Calibri"/>
              </a:rPr>
              <a:t>  mismo suburbio</a:t>
            </a:r>
            <a:endParaRPr b="0" i="0" sz="1900" u="none" cap="none" strike="noStrike">
              <a:solidFill>
                <a:schemeClr val="dk1"/>
              </a:solidFill>
              <a:latin typeface="Calibri"/>
              <a:ea typeface="Calibri"/>
              <a:cs typeface="Calibri"/>
              <a:sym typeface="Calibri"/>
            </a:endParaRPr>
          </a:p>
        </p:txBody>
      </p:sp>
      <p:sp>
        <p:nvSpPr>
          <p:cNvPr id="122" name="Google Shape;122;p6"/>
          <p:cNvSpPr/>
          <p:nvPr/>
        </p:nvSpPr>
        <p:spPr>
          <a:xfrm>
            <a:off x="4956048" y="3739896"/>
            <a:ext cx="6583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EB0B2"/>
              </a:buClr>
              <a:buSzPts val="1100"/>
              <a:buFont typeface="Calibri"/>
              <a:buNone/>
            </a:pPr>
            <a:r>
              <a:rPr b="0" i="0" lang="en-US" sz="1100" u="none" cap="none" strike="noStrike">
                <a:solidFill>
                  <a:srgbClr val="AEB0B2"/>
                </a:solidFill>
                <a:latin typeface="Calibri"/>
                <a:ea typeface="Calibri"/>
                <a:cs typeface="Calibri"/>
                <a:sym typeface="Calibri"/>
              </a:rPr>
              <a:t>540.000 → 585.000 en el total, y → 580.000 restringido a los suburbios de 2016.</a:t>
            </a:r>
            <a:endParaRPr b="0" i="0" sz="1100" u="none" cap="none" strike="noStrike">
              <a:solidFill>
                <a:schemeClr val="dk1"/>
              </a:solidFill>
              <a:latin typeface="Calibri"/>
              <a:ea typeface="Calibri"/>
              <a:cs typeface="Calibri"/>
              <a:sym typeface="Calibri"/>
            </a:endParaRPr>
          </a:p>
        </p:txBody>
      </p:sp>
      <p:sp>
        <p:nvSpPr>
          <p:cNvPr id="123" name="Google Shape;123;p6"/>
          <p:cNvSpPr/>
          <p:nvPr/>
        </p:nvSpPr>
        <p:spPr>
          <a:xfrm>
            <a:off x="4709160" y="4160520"/>
            <a:ext cx="54864" cy="804672"/>
          </a:xfrm>
          <a:prstGeom prst="rect">
            <a:avLst/>
          </a:prstGeom>
          <a:solidFill>
            <a:srgbClr val="976D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6"/>
          <p:cNvSpPr/>
          <p:nvPr/>
        </p:nvSpPr>
        <p:spPr>
          <a:xfrm>
            <a:off x="4956048" y="4114800"/>
            <a:ext cx="2011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BECED"/>
              </a:buClr>
              <a:buSzPts val="1400"/>
              <a:buFont typeface="Calibri"/>
              <a:buNone/>
            </a:pPr>
            <a:r>
              <a:rPr b="1" i="0" lang="en-US" sz="1400" u="none" cap="none" strike="noStrike">
                <a:solidFill>
                  <a:srgbClr val="EBECED"/>
                </a:solidFill>
                <a:latin typeface="Calibri"/>
                <a:ea typeface="Calibri"/>
                <a:cs typeface="Calibri"/>
                <a:sym typeface="Calibri"/>
              </a:rPr>
              <a:t>Pareada (t)</a:t>
            </a:r>
            <a:endParaRPr b="0" i="0" sz="1400" u="none" cap="none" strike="noStrike">
              <a:solidFill>
                <a:schemeClr val="dk1"/>
              </a:solidFill>
              <a:latin typeface="Calibri"/>
              <a:ea typeface="Calibri"/>
              <a:cs typeface="Calibri"/>
              <a:sym typeface="Calibri"/>
            </a:endParaRPr>
          </a:p>
        </p:txBody>
      </p:sp>
      <p:sp>
        <p:nvSpPr>
          <p:cNvPr id="125" name="Google Shape;125;p6"/>
          <p:cNvSpPr/>
          <p:nvPr/>
        </p:nvSpPr>
        <p:spPr>
          <a:xfrm>
            <a:off x="4956048" y="4425696"/>
            <a:ext cx="65836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A81"/>
              </a:buClr>
              <a:buSzPts val="1900"/>
              <a:buFont typeface="Cambria"/>
              <a:buNone/>
            </a:pPr>
            <a:r>
              <a:rPr b="1" i="0" lang="en-US" sz="1900" u="none" cap="none" strike="noStrike">
                <a:solidFill>
                  <a:srgbClr val="536A81"/>
                </a:solidFill>
                <a:latin typeface="Cambria"/>
                <a:ea typeface="Cambria"/>
                <a:cs typeface="Cambria"/>
                <a:sym typeface="Cambria"/>
              </a:rPr>
              <a:t>+7,3%</a:t>
            </a:r>
            <a:r>
              <a:rPr b="0" i="0" lang="en-US" sz="1200" u="none" cap="none" strike="noStrike">
                <a:solidFill>
                  <a:srgbClr val="838588"/>
                </a:solidFill>
                <a:latin typeface="Calibri"/>
                <a:ea typeface="Calibri"/>
                <a:cs typeface="Calibri"/>
                <a:sym typeface="Calibri"/>
              </a:rPr>
              <a:t>  agregado        </a:t>
            </a:r>
            <a:r>
              <a:rPr b="1" i="0" lang="en-US" sz="1900" u="none" cap="none" strike="noStrike">
                <a:solidFill>
                  <a:srgbClr val="976D30"/>
                </a:solidFill>
                <a:latin typeface="Cambria"/>
                <a:ea typeface="Cambria"/>
                <a:cs typeface="Cambria"/>
                <a:sym typeface="Cambria"/>
              </a:rPr>
              <a:t>+9,5%</a:t>
            </a:r>
            <a:r>
              <a:rPr b="0" i="0" lang="en-US" sz="1200" u="none" cap="none" strike="noStrike">
                <a:solidFill>
                  <a:srgbClr val="838588"/>
                </a:solidFill>
                <a:latin typeface="Calibri"/>
                <a:ea typeface="Calibri"/>
                <a:cs typeface="Calibri"/>
                <a:sym typeface="Calibri"/>
              </a:rPr>
              <a:t>  mismo suburbio</a:t>
            </a:r>
            <a:endParaRPr b="0" i="0" sz="1900" u="none" cap="none" strike="noStrike">
              <a:solidFill>
                <a:schemeClr val="dk1"/>
              </a:solidFill>
              <a:latin typeface="Calibri"/>
              <a:ea typeface="Calibri"/>
              <a:cs typeface="Calibri"/>
              <a:sym typeface="Calibri"/>
            </a:endParaRPr>
          </a:p>
        </p:txBody>
      </p:sp>
      <p:sp>
        <p:nvSpPr>
          <p:cNvPr id="126" name="Google Shape;126;p6"/>
          <p:cNvSpPr/>
          <p:nvPr/>
        </p:nvSpPr>
        <p:spPr>
          <a:xfrm>
            <a:off x="4956048" y="4791456"/>
            <a:ext cx="6583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EB0B2"/>
              </a:buClr>
              <a:buSzPts val="1100"/>
              <a:buFont typeface="Calibri"/>
              <a:buNone/>
            </a:pPr>
            <a:r>
              <a:rPr b="0" i="0" lang="en-US" sz="1100" u="none" cap="none" strike="noStrike">
                <a:solidFill>
                  <a:srgbClr val="AEB0B2"/>
                </a:solidFill>
                <a:latin typeface="Calibri"/>
                <a:ea typeface="Calibri"/>
                <a:cs typeface="Calibri"/>
                <a:sym typeface="Calibri"/>
              </a:rPr>
              <a:t>820.000 → 880.000 en el total, y → 897.500 restringido a los suburbios de 2016.</a:t>
            </a:r>
            <a:endParaRPr b="0" i="0" sz="1100" u="none" cap="none" strike="noStrike">
              <a:solidFill>
                <a:schemeClr val="dk1"/>
              </a:solidFill>
              <a:latin typeface="Calibri"/>
              <a:ea typeface="Calibri"/>
              <a:cs typeface="Calibri"/>
              <a:sym typeface="Calibri"/>
            </a:endParaRPr>
          </a:p>
        </p:txBody>
      </p:sp>
      <p:sp>
        <p:nvSpPr>
          <p:cNvPr id="127" name="Google Shape;127;p6"/>
          <p:cNvSpPr/>
          <p:nvPr/>
        </p:nvSpPr>
        <p:spPr>
          <a:xfrm>
            <a:off x="4709160" y="5349240"/>
            <a:ext cx="6858000" cy="914400"/>
          </a:xfrm>
          <a:prstGeom prst="roundRect">
            <a:avLst>
              <a:gd fmla="val 8000" name="adj"/>
            </a:avLst>
          </a:prstGeom>
          <a:solidFill>
            <a:srgbClr val="3341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6"/>
          <p:cNvSpPr/>
          <p:nvPr/>
        </p:nvSpPr>
        <p:spPr>
          <a:xfrm>
            <a:off x="4956048" y="5504688"/>
            <a:ext cx="6446520" cy="64008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EBECED"/>
              </a:buClr>
              <a:buSzPts val="1200"/>
              <a:buFont typeface="Calibri"/>
              <a:buNone/>
            </a:pPr>
            <a:r>
              <a:rPr b="0" i="0" lang="en-US" sz="1200" u="none" cap="none" strike="noStrike">
                <a:solidFill>
                  <a:srgbClr val="EBECED"/>
                </a:solidFill>
                <a:latin typeface="Calibri"/>
                <a:ea typeface="Calibri"/>
                <a:cs typeface="Calibri"/>
                <a:sym typeface="Calibri"/>
              </a:rPr>
              <a:t>Las casas son el 72,9% de 2017 y el 65,8% de 2016. Si el mix de tipos y la geografía cambian a la vez, cualquier comparación año contra año sin controlar composición dice lo contrario de lo que pasó.</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61B"/>
        </a:solidFill>
      </p:bgPr>
    </p:bg>
    <p:spTree>
      <p:nvGrpSpPr>
        <p:cNvPr id="133" name="Shape 133"/>
        <p:cNvGrpSpPr/>
        <p:nvPr/>
      </p:nvGrpSpPr>
      <p:grpSpPr>
        <a:xfrm>
          <a:off x="0" y="0"/>
          <a:ext cx="0" cy="0"/>
          <a:chOff x="0" y="0"/>
          <a:chExt cx="0" cy="0"/>
        </a:xfrm>
      </p:grpSpPr>
      <p:sp>
        <p:nvSpPr>
          <p:cNvPr id="134" name="Google Shape;134;p7"/>
          <p:cNvSpPr/>
          <p:nvPr/>
        </p:nvSpPr>
        <p:spPr>
          <a:xfrm>
            <a:off x="594360" y="384048"/>
            <a:ext cx="106070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1100"/>
              <a:buFont typeface="Calibri"/>
              <a:buNone/>
            </a:pPr>
            <a:r>
              <a:rPr b="1" i="0" lang="en-US" sz="1100" u="none" cap="none" strike="noStrike">
                <a:solidFill>
                  <a:srgbClr val="E8A33D"/>
                </a:solidFill>
                <a:latin typeface="Calibri"/>
                <a:ea typeface="Calibri"/>
                <a:cs typeface="Calibri"/>
                <a:sym typeface="Calibri"/>
              </a:rPr>
              <a:t>NIVELES QUE EL ENTRENAMIENTO NUNCA VE</a:t>
            </a:r>
            <a:endParaRPr b="0" i="0" sz="1100" u="none" cap="none" strike="noStrike">
              <a:solidFill>
                <a:schemeClr val="dk1"/>
              </a:solidFill>
              <a:latin typeface="Calibri"/>
              <a:ea typeface="Calibri"/>
              <a:cs typeface="Calibri"/>
              <a:sym typeface="Calibri"/>
            </a:endParaRPr>
          </a:p>
        </p:txBody>
      </p:sp>
      <p:sp>
        <p:nvSpPr>
          <p:cNvPr id="135" name="Google Shape;135;p7"/>
          <p:cNvSpPr/>
          <p:nvPr/>
        </p:nvSpPr>
        <p:spPr>
          <a:xfrm>
            <a:off x="594360" y="658368"/>
            <a:ext cx="10881360"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BECED"/>
              </a:buClr>
              <a:buSzPts val="3000"/>
              <a:buFont typeface="Cambria"/>
              <a:buNone/>
            </a:pPr>
            <a:r>
              <a:rPr b="1" i="0" lang="en-US" sz="3000" u="none" cap="none" strike="noStrike">
                <a:solidFill>
                  <a:srgbClr val="EBECED"/>
                </a:solidFill>
                <a:latin typeface="Cambria"/>
                <a:ea typeface="Cambria"/>
                <a:cs typeface="Cambria"/>
                <a:sym typeface="Cambria"/>
              </a:rPr>
              <a:t>2016 cubre 142 suburbios; 2017 ocurre en 313</a:t>
            </a:r>
            <a:endParaRPr b="0" i="0" sz="3000" u="none" cap="none" strike="noStrike">
              <a:solidFill>
                <a:schemeClr val="dk1"/>
              </a:solidFill>
              <a:latin typeface="Calibri"/>
              <a:ea typeface="Calibri"/>
              <a:cs typeface="Calibri"/>
              <a:sym typeface="Calibri"/>
            </a:endParaRPr>
          </a:p>
        </p:txBody>
      </p:sp>
      <p:graphicFrame>
        <p:nvGraphicFramePr>
          <p:cNvPr id="136" name="Google Shape;136;p7"/>
          <p:cNvGraphicFramePr/>
          <p:nvPr/>
        </p:nvGraphicFramePr>
        <p:xfrm>
          <a:off x="594360" y="1645920"/>
          <a:ext cx="6949440" cy="3931920"/>
        </p:xfrm>
        <a:graphic>
          <a:graphicData uri="http://schemas.openxmlformats.org/drawingml/2006/chart">
            <c:chart r:id="rId3"/>
          </a:graphicData>
        </a:graphic>
      </p:graphicFrame>
      <p:sp>
        <p:nvSpPr>
          <p:cNvPr id="137" name="Google Shape;137;p7"/>
          <p:cNvSpPr/>
          <p:nvPr/>
        </p:nvSpPr>
        <p:spPr>
          <a:xfrm>
            <a:off x="594360" y="1389888"/>
            <a:ext cx="69494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38588"/>
              </a:buClr>
              <a:buSzPts val="1100"/>
              <a:buFont typeface="Calibri"/>
              <a:buNone/>
            </a:pPr>
            <a:r>
              <a:rPr b="0" i="1" lang="en-US" sz="1100" u="none" cap="none" strike="noStrike">
                <a:solidFill>
                  <a:srgbClr val="838588"/>
                </a:solidFill>
                <a:latin typeface="Calibri"/>
                <a:ea typeface="Calibri"/>
                <a:cs typeface="Calibri"/>
                <a:sym typeface="Calibri"/>
              </a:rPr>
              <a:t>Porcentaje de las 7.244 filas de 2017 cuyo valor en esa columna no aparece ni una vez en 2016</a:t>
            </a:r>
            <a:endParaRPr b="0" i="0" sz="1100" u="none" cap="none" strike="noStrike">
              <a:solidFill>
                <a:schemeClr val="dk1"/>
              </a:solidFill>
              <a:latin typeface="Calibri"/>
              <a:ea typeface="Calibri"/>
              <a:cs typeface="Calibri"/>
              <a:sym typeface="Calibri"/>
            </a:endParaRPr>
          </a:p>
        </p:txBody>
      </p:sp>
      <p:sp>
        <p:nvSpPr>
          <p:cNvPr id="138" name="Google Shape;138;p7"/>
          <p:cNvSpPr/>
          <p:nvPr/>
        </p:nvSpPr>
        <p:spPr>
          <a:xfrm>
            <a:off x="7772400" y="1645920"/>
            <a:ext cx="3794760" cy="2286000"/>
          </a:xfrm>
          <a:prstGeom prst="roundRect">
            <a:avLst>
              <a:gd fmla="val 3200" name="adj"/>
            </a:avLst>
          </a:prstGeom>
          <a:solidFill>
            <a:srgbClr val="1B22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7"/>
          <p:cNvSpPr/>
          <p:nvPr/>
        </p:nvSpPr>
        <p:spPr>
          <a:xfrm>
            <a:off x="8028432" y="1828800"/>
            <a:ext cx="3291840" cy="411480"/>
          </a:xfrm>
          <a:prstGeom prst="rect">
            <a:avLst/>
          </a:prstGeom>
          <a:noFill/>
          <a:ln>
            <a:noFill/>
          </a:ln>
        </p:spPr>
        <p:txBody>
          <a:bodyPr anchorCtr="0" anchor="ctr" bIns="0" lIns="0" spcFirstLastPara="1" rIns="0" wrap="square" tIns="0">
            <a:noAutofit/>
          </a:bodyPr>
          <a:lstStyle/>
          <a:p>
            <a:pPr indent="0" lvl="0" marL="0" marR="0" rtl="0" algn="l">
              <a:lnSpc>
                <a:spcPct val="118181"/>
              </a:lnSpc>
              <a:spcBef>
                <a:spcPts val="0"/>
              </a:spcBef>
              <a:spcAft>
                <a:spcPts val="0"/>
              </a:spcAft>
              <a:buClr>
                <a:srgbClr val="E8A33D"/>
              </a:buClr>
              <a:buSzPts val="1100"/>
              <a:buFont typeface="Calibri"/>
              <a:buNone/>
            </a:pPr>
            <a:r>
              <a:rPr b="1" i="0" lang="en-US" sz="1100" u="none" cap="none" strike="noStrike">
                <a:solidFill>
                  <a:srgbClr val="E8A33D"/>
                </a:solidFill>
                <a:latin typeface="Calibri"/>
                <a:ea typeface="Calibri"/>
                <a:cs typeface="Calibri"/>
                <a:sym typeface="Calibri"/>
              </a:rPr>
              <a:t>LOS SUBURBIOS NUEVOS SON DISTINTOS</a:t>
            </a:r>
            <a:endParaRPr b="0" i="0" sz="1100" u="none" cap="none" strike="noStrike">
              <a:solidFill>
                <a:schemeClr val="dk1"/>
              </a:solidFill>
              <a:latin typeface="Calibri"/>
              <a:ea typeface="Calibri"/>
              <a:cs typeface="Calibri"/>
              <a:sym typeface="Calibri"/>
            </a:endParaRPr>
          </a:p>
        </p:txBody>
      </p:sp>
      <p:sp>
        <p:nvSpPr>
          <p:cNvPr id="140" name="Google Shape;140;p7"/>
          <p:cNvSpPr/>
          <p:nvPr/>
        </p:nvSpPr>
        <p:spPr>
          <a:xfrm>
            <a:off x="8028432" y="2286000"/>
            <a:ext cx="329184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38588"/>
              </a:buClr>
              <a:buSzPts val="1000"/>
              <a:buFont typeface="Calibri"/>
              <a:buNone/>
            </a:pPr>
            <a:r>
              <a:rPr b="0" i="0" lang="en-US" sz="1000" u="none" cap="none" strike="noStrike">
                <a:solidFill>
                  <a:srgbClr val="838588"/>
                </a:solidFill>
                <a:latin typeface="Calibri"/>
                <a:ea typeface="Calibri"/>
                <a:cs typeface="Calibri"/>
                <a:sym typeface="Calibri"/>
              </a:rPr>
              <a:t>suburbio visto      ·      nuevo</a:t>
            </a:r>
            <a:endParaRPr b="0" i="0" sz="1000" u="none" cap="none" strike="noStrike">
              <a:solidFill>
                <a:schemeClr val="dk1"/>
              </a:solidFill>
              <a:latin typeface="Calibri"/>
              <a:ea typeface="Calibri"/>
              <a:cs typeface="Calibri"/>
              <a:sym typeface="Calibri"/>
            </a:endParaRPr>
          </a:p>
        </p:txBody>
      </p:sp>
      <p:sp>
        <p:nvSpPr>
          <p:cNvPr id="141" name="Google Shape;141;p7"/>
          <p:cNvSpPr/>
          <p:nvPr/>
        </p:nvSpPr>
        <p:spPr>
          <a:xfrm>
            <a:off x="8028432" y="2578608"/>
            <a:ext cx="1828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EB0B2"/>
              </a:buClr>
              <a:buSzPts val="1150"/>
              <a:buFont typeface="Calibri"/>
              <a:buNone/>
            </a:pPr>
            <a:r>
              <a:rPr b="0" i="0" lang="en-US" sz="1150" u="none" cap="none" strike="noStrike">
                <a:solidFill>
                  <a:srgbClr val="AEB0B2"/>
                </a:solidFill>
                <a:latin typeface="Calibri"/>
                <a:ea typeface="Calibri"/>
                <a:cs typeface="Calibri"/>
                <a:sym typeface="Calibri"/>
              </a:rPr>
              <a:t>Mediana de Price</a:t>
            </a:r>
            <a:endParaRPr b="0" i="0" sz="1150" u="none" cap="none" strike="noStrike">
              <a:solidFill>
                <a:schemeClr val="dk1"/>
              </a:solidFill>
              <a:latin typeface="Calibri"/>
              <a:ea typeface="Calibri"/>
              <a:cs typeface="Calibri"/>
              <a:sym typeface="Calibri"/>
            </a:endParaRPr>
          </a:p>
        </p:txBody>
      </p:sp>
      <p:sp>
        <p:nvSpPr>
          <p:cNvPr id="142" name="Google Shape;142;p7"/>
          <p:cNvSpPr/>
          <p:nvPr/>
        </p:nvSpPr>
        <p:spPr>
          <a:xfrm>
            <a:off x="9646920" y="2551176"/>
            <a:ext cx="9144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36A81"/>
              </a:buClr>
              <a:buSzPts val="1300"/>
              <a:buFont typeface="Cambria"/>
              <a:buNone/>
            </a:pPr>
            <a:r>
              <a:rPr b="1" i="0" lang="en-US" sz="1300" u="none" cap="none" strike="noStrike">
                <a:solidFill>
                  <a:srgbClr val="536A81"/>
                </a:solidFill>
                <a:latin typeface="Cambria"/>
                <a:ea typeface="Cambria"/>
                <a:cs typeface="Cambria"/>
                <a:sym typeface="Cambria"/>
              </a:rPr>
              <a:t>999.000</a:t>
            </a:r>
            <a:endParaRPr b="0" i="0" sz="1300" u="none" cap="none" strike="noStrike">
              <a:solidFill>
                <a:schemeClr val="dk1"/>
              </a:solidFill>
              <a:latin typeface="Calibri"/>
              <a:ea typeface="Calibri"/>
              <a:cs typeface="Calibri"/>
              <a:sym typeface="Calibri"/>
            </a:endParaRPr>
          </a:p>
        </p:txBody>
      </p:sp>
      <p:sp>
        <p:nvSpPr>
          <p:cNvPr id="143" name="Google Shape;143;p7"/>
          <p:cNvSpPr/>
          <p:nvPr/>
        </p:nvSpPr>
        <p:spPr>
          <a:xfrm>
            <a:off x="10607040" y="2551176"/>
            <a:ext cx="77724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8A33D"/>
              </a:buClr>
              <a:buSzPts val="1300"/>
              <a:buFont typeface="Cambria"/>
              <a:buNone/>
            </a:pPr>
            <a:r>
              <a:rPr b="1" i="0" lang="en-US" sz="1300" u="none" cap="none" strike="noStrike">
                <a:solidFill>
                  <a:srgbClr val="E8A33D"/>
                </a:solidFill>
                <a:latin typeface="Cambria"/>
                <a:ea typeface="Cambria"/>
                <a:cs typeface="Cambria"/>
                <a:sym typeface="Cambria"/>
              </a:rPr>
              <a:t>755.000</a:t>
            </a:r>
            <a:endParaRPr b="0" i="0" sz="1300" u="none" cap="none" strike="noStrike">
              <a:solidFill>
                <a:schemeClr val="dk1"/>
              </a:solidFill>
              <a:latin typeface="Calibri"/>
              <a:ea typeface="Calibri"/>
              <a:cs typeface="Calibri"/>
              <a:sym typeface="Calibri"/>
            </a:endParaRPr>
          </a:p>
        </p:txBody>
      </p:sp>
      <p:sp>
        <p:nvSpPr>
          <p:cNvPr id="144" name="Google Shape;144;p7"/>
          <p:cNvSpPr/>
          <p:nvPr/>
        </p:nvSpPr>
        <p:spPr>
          <a:xfrm>
            <a:off x="8028432" y="3200400"/>
            <a:ext cx="1828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EB0B2"/>
              </a:buClr>
              <a:buSzPts val="1150"/>
              <a:buFont typeface="Calibri"/>
              <a:buNone/>
            </a:pPr>
            <a:r>
              <a:rPr b="0" i="0" lang="en-US" sz="1150" u="none" cap="none" strike="noStrike">
                <a:solidFill>
                  <a:srgbClr val="AEB0B2"/>
                </a:solidFill>
                <a:latin typeface="Calibri"/>
                <a:ea typeface="Calibri"/>
                <a:cs typeface="Calibri"/>
                <a:sym typeface="Calibri"/>
              </a:rPr>
              <a:t>Distancia al centro</a:t>
            </a:r>
            <a:endParaRPr b="0" i="0" sz="1150" u="none" cap="none" strike="noStrike">
              <a:solidFill>
                <a:schemeClr val="dk1"/>
              </a:solidFill>
              <a:latin typeface="Calibri"/>
              <a:ea typeface="Calibri"/>
              <a:cs typeface="Calibri"/>
              <a:sym typeface="Calibri"/>
            </a:endParaRPr>
          </a:p>
        </p:txBody>
      </p:sp>
      <p:sp>
        <p:nvSpPr>
          <p:cNvPr id="145" name="Google Shape;145;p7"/>
          <p:cNvSpPr/>
          <p:nvPr/>
        </p:nvSpPr>
        <p:spPr>
          <a:xfrm>
            <a:off x="9646920" y="3172968"/>
            <a:ext cx="9144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36A81"/>
              </a:buClr>
              <a:buSzPts val="1300"/>
              <a:buFont typeface="Cambria"/>
              <a:buNone/>
            </a:pPr>
            <a:r>
              <a:rPr b="1" i="0" lang="en-US" sz="1300" u="none" cap="none" strike="noStrike">
                <a:solidFill>
                  <a:srgbClr val="536A81"/>
                </a:solidFill>
                <a:latin typeface="Cambria"/>
                <a:ea typeface="Cambria"/>
                <a:cs typeface="Cambria"/>
                <a:sym typeface="Cambria"/>
              </a:rPr>
              <a:t>8 km</a:t>
            </a:r>
            <a:endParaRPr b="0" i="0" sz="1300" u="none" cap="none" strike="noStrike">
              <a:solidFill>
                <a:schemeClr val="dk1"/>
              </a:solidFill>
              <a:latin typeface="Calibri"/>
              <a:ea typeface="Calibri"/>
              <a:cs typeface="Calibri"/>
              <a:sym typeface="Calibri"/>
            </a:endParaRPr>
          </a:p>
        </p:txBody>
      </p:sp>
      <p:sp>
        <p:nvSpPr>
          <p:cNvPr id="146" name="Google Shape;146;p7"/>
          <p:cNvSpPr/>
          <p:nvPr/>
        </p:nvSpPr>
        <p:spPr>
          <a:xfrm>
            <a:off x="10607040" y="3172968"/>
            <a:ext cx="77724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8A33D"/>
              </a:buClr>
              <a:buSzPts val="1300"/>
              <a:buFont typeface="Cambria"/>
              <a:buNone/>
            </a:pPr>
            <a:r>
              <a:rPr b="1" i="0" lang="en-US" sz="1300" u="none" cap="none" strike="noStrike">
                <a:solidFill>
                  <a:srgbClr val="E8A33D"/>
                </a:solidFill>
                <a:latin typeface="Cambria"/>
                <a:ea typeface="Cambria"/>
                <a:cs typeface="Cambria"/>
                <a:sym typeface="Cambria"/>
              </a:rPr>
              <a:t>17,9 km</a:t>
            </a:r>
            <a:endParaRPr b="0" i="0" sz="1300" u="none" cap="none" strike="noStrike">
              <a:solidFill>
                <a:schemeClr val="dk1"/>
              </a:solidFill>
              <a:latin typeface="Calibri"/>
              <a:ea typeface="Calibri"/>
              <a:cs typeface="Calibri"/>
              <a:sym typeface="Calibri"/>
            </a:endParaRPr>
          </a:p>
        </p:txBody>
      </p:sp>
      <p:sp>
        <p:nvSpPr>
          <p:cNvPr id="147" name="Google Shape;147;p7"/>
          <p:cNvSpPr/>
          <p:nvPr/>
        </p:nvSpPr>
        <p:spPr>
          <a:xfrm>
            <a:off x="7772400" y="4069080"/>
            <a:ext cx="3794760" cy="1691640"/>
          </a:xfrm>
          <a:prstGeom prst="roundRect">
            <a:avLst>
              <a:gd fmla="val 4324" name="adj"/>
            </a:avLst>
          </a:prstGeom>
          <a:solidFill>
            <a:srgbClr val="3341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7"/>
          <p:cNvSpPr/>
          <p:nvPr/>
        </p:nvSpPr>
        <p:spPr>
          <a:xfrm>
            <a:off x="8028432" y="4233672"/>
            <a:ext cx="32918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1100"/>
              <a:buFont typeface="Calibri"/>
              <a:buNone/>
            </a:pPr>
            <a:r>
              <a:rPr b="1" i="0" lang="en-US" sz="1100" u="none" cap="none" strike="noStrike">
                <a:solidFill>
                  <a:srgbClr val="E8A33D"/>
                </a:solidFill>
                <a:latin typeface="Calibri"/>
                <a:ea typeface="Calibri"/>
                <a:cs typeface="Calibri"/>
                <a:sym typeface="Calibri"/>
              </a:rPr>
              <a:t>QUÉ SIGNIFICA PARA EL MODELO</a:t>
            </a:r>
            <a:endParaRPr b="0" i="0" sz="1100" u="none" cap="none" strike="noStrike">
              <a:solidFill>
                <a:schemeClr val="dk1"/>
              </a:solidFill>
              <a:latin typeface="Calibri"/>
              <a:ea typeface="Calibri"/>
              <a:cs typeface="Calibri"/>
              <a:sym typeface="Calibri"/>
            </a:endParaRPr>
          </a:p>
        </p:txBody>
      </p:sp>
      <p:sp>
        <p:nvSpPr>
          <p:cNvPr id="149" name="Google Shape;149;p7"/>
          <p:cNvSpPr/>
          <p:nvPr/>
        </p:nvSpPr>
        <p:spPr>
          <a:xfrm>
            <a:off x="8028432" y="4553712"/>
            <a:ext cx="3291840" cy="1097280"/>
          </a:xfrm>
          <a:prstGeom prst="rect">
            <a:avLst/>
          </a:prstGeom>
          <a:noFill/>
          <a:ln>
            <a:noFill/>
          </a:ln>
        </p:spPr>
        <p:txBody>
          <a:bodyPr anchorCtr="0" anchor="ctr" bIns="0" lIns="0" spcFirstLastPara="1" rIns="0" wrap="square" tIns="0">
            <a:noAutofit/>
          </a:bodyPr>
          <a:lstStyle/>
          <a:p>
            <a:pPr indent="0" lvl="0" marL="0" marR="0" rtl="0" algn="l">
              <a:lnSpc>
                <a:spcPct val="139130"/>
              </a:lnSpc>
              <a:spcBef>
                <a:spcPts val="0"/>
              </a:spcBef>
              <a:spcAft>
                <a:spcPts val="0"/>
              </a:spcAft>
              <a:buClr>
                <a:srgbClr val="EBECED"/>
              </a:buClr>
              <a:buSzPts val="1150"/>
              <a:buFont typeface="Calibri"/>
              <a:buNone/>
            </a:pPr>
            <a:r>
              <a:rPr b="0" i="0" lang="en-US" sz="1150" u="none" cap="none" strike="noStrike">
                <a:solidFill>
                  <a:srgbClr val="EBECED"/>
                </a:solidFill>
                <a:latin typeface="Calibri"/>
                <a:ea typeface="Calibri"/>
                <a:cs typeface="Calibri"/>
                <a:sym typeface="Calibri"/>
              </a:rPr>
              <a:t>Cualquier codificación de Suburb ajustada solo con 2016 deja sin valor a casi un tercio de la evaluación. No es un detalle de implementación: define qué variables geográficas pueden usarse.</a:t>
            </a:r>
            <a:endParaRPr b="0" i="0" sz="1150" u="none" cap="none" strike="noStrike">
              <a:solidFill>
                <a:schemeClr val="dk1"/>
              </a:solidFill>
              <a:latin typeface="Calibri"/>
              <a:ea typeface="Calibri"/>
              <a:cs typeface="Calibri"/>
              <a:sym typeface="Calibri"/>
            </a:endParaRPr>
          </a:p>
        </p:txBody>
      </p:sp>
      <p:sp>
        <p:nvSpPr>
          <p:cNvPr id="150" name="Google Shape;150;p7"/>
          <p:cNvSpPr/>
          <p:nvPr/>
        </p:nvSpPr>
        <p:spPr>
          <a:xfrm>
            <a:off x="594360" y="6144768"/>
            <a:ext cx="10881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38588"/>
              </a:buClr>
              <a:buSzPts val="1000"/>
              <a:buFont typeface="Calibri"/>
              <a:buNone/>
            </a:pPr>
            <a:r>
              <a:rPr b="0" i="1" lang="en-US" sz="1000" u="none" cap="none" strike="noStrike">
                <a:solidFill>
                  <a:srgbClr val="838588"/>
                </a:solidFill>
                <a:latin typeface="Calibri"/>
                <a:ea typeface="Calibri"/>
                <a:cs typeface="Calibri"/>
                <a:sym typeface="Calibri"/>
              </a:rPr>
              <a:t>Fuente: anclaje.json · clave no_vistos. Type es la única variable categórica con cobertura completa entre los dos años.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61B"/>
        </a:solidFill>
      </p:bgPr>
    </p:bg>
    <p:spTree>
      <p:nvGrpSpPr>
        <p:cNvPr id="155" name="Shape 155"/>
        <p:cNvGrpSpPr/>
        <p:nvPr/>
      </p:nvGrpSpPr>
      <p:grpSpPr>
        <a:xfrm>
          <a:off x="0" y="0"/>
          <a:ext cx="0" cy="0"/>
          <a:chOff x="0" y="0"/>
          <a:chExt cx="0" cy="0"/>
        </a:xfrm>
      </p:grpSpPr>
      <p:sp>
        <p:nvSpPr>
          <p:cNvPr id="156" name="Google Shape;156;p8"/>
          <p:cNvSpPr/>
          <p:nvPr/>
        </p:nvSpPr>
        <p:spPr>
          <a:xfrm>
            <a:off x="594360" y="384048"/>
            <a:ext cx="106070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1100"/>
              <a:buFont typeface="Calibri"/>
              <a:buNone/>
            </a:pPr>
            <a:r>
              <a:rPr b="1" i="0" lang="en-US" sz="1100" u="none" cap="none" strike="noStrike">
                <a:solidFill>
                  <a:srgbClr val="E8A33D"/>
                </a:solidFill>
                <a:latin typeface="Calibri"/>
                <a:ea typeface="Calibri"/>
                <a:cs typeface="Calibri"/>
                <a:sym typeface="Calibri"/>
              </a:rPr>
              <a:t>POLÍTICA DE DATOS AUSENTES</a:t>
            </a:r>
            <a:endParaRPr b="0" i="0" sz="1100" u="none" cap="none" strike="noStrike">
              <a:solidFill>
                <a:schemeClr val="dk1"/>
              </a:solidFill>
              <a:latin typeface="Calibri"/>
              <a:ea typeface="Calibri"/>
              <a:cs typeface="Calibri"/>
              <a:sym typeface="Calibri"/>
            </a:endParaRPr>
          </a:p>
        </p:txBody>
      </p:sp>
      <p:sp>
        <p:nvSpPr>
          <p:cNvPr id="157" name="Google Shape;157;p8"/>
          <p:cNvSpPr/>
          <p:nvPr/>
        </p:nvSpPr>
        <p:spPr>
          <a:xfrm>
            <a:off x="594360" y="658368"/>
            <a:ext cx="10881360"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BECED"/>
              </a:buClr>
              <a:buSzPts val="3000"/>
              <a:buFont typeface="Cambria"/>
              <a:buNone/>
            </a:pPr>
            <a:r>
              <a:rPr b="1" i="0" lang="en-US" sz="3000" u="none" cap="none" strike="noStrike">
                <a:solidFill>
                  <a:srgbClr val="EBECED"/>
                </a:solidFill>
                <a:latin typeface="Cambria"/>
                <a:ea typeface="Cambria"/>
                <a:cs typeface="Cambria"/>
                <a:sym typeface="Cambria"/>
              </a:rPr>
              <a:t>Descartar filas incompletas amputa 2017, no lo limpia</a:t>
            </a:r>
            <a:endParaRPr b="0" i="0" sz="3000" u="none" cap="none" strike="noStrike">
              <a:solidFill>
                <a:schemeClr val="dk1"/>
              </a:solidFill>
              <a:latin typeface="Calibri"/>
              <a:ea typeface="Calibri"/>
              <a:cs typeface="Calibri"/>
              <a:sym typeface="Calibri"/>
            </a:endParaRPr>
          </a:p>
        </p:txBody>
      </p:sp>
      <p:graphicFrame>
        <p:nvGraphicFramePr>
          <p:cNvPr id="158" name="Google Shape;158;p8"/>
          <p:cNvGraphicFramePr/>
          <p:nvPr/>
        </p:nvGraphicFramePr>
        <p:xfrm>
          <a:off x="594360" y="1691640"/>
          <a:ext cx="6675120" cy="3886200"/>
        </p:xfrm>
        <a:graphic>
          <a:graphicData uri="http://schemas.openxmlformats.org/drawingml/2006/chart">
            <c:chart r:id="rId3"/>
          </a:graphicData>
        </a:graphic>
      </p:graphicFrame>
      <p:sp>
        <p:nvSpPr>
          <p:cNvPr id="159" name="Google Shape;159;p8"/>
          <p:cNvSpPr/>
          <p:nvPr/>
        </p:nvSpPr>
        <p:spPr>
          <a:xfrm>
            <a:off x="7498080" y="1691640"/>
            <a:ext cx="4069080" cy="2148840"/>
          </a:xfrm>
          <a:prstGeom prst="roundRect">
            <a:avLst>
              <a:gd fmla="val 3404" name="adj"/>
            </a:avLst>
          </a:prstGeom>
          <a:solidFill>
            <a:srgbClr val="1B22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8"/>
          <p:cNvSpPr/>
          <p:nvPr/>
        </p:nvSpPr>
        <p:spPr>
          <a:xfrm>
            <a:off x="7754112" y="1874520"/>
            <a:ext cx="35661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1100"/>
              <a:buFont typeface="Calibri"/>
              <a:buNone/>
            </a:pPr>
            <a:r>
              <a:rPr b="1" i="0" lang="en-US" sz="1100" u="none" cap="none" strike="noStrike">
                <a:solidFill>
                  <a:srgbClr val="E8A33D"/>
                </a:solidFill>
                <a:latin typeface="Calibri"/>
                <a:ea typeface="Calibri"/>
                <a:cs typeface="Calibri"/>
                <a:sym typeface="Calibri"/>
              </a:rPr>
              <a:t>LA MEDIANA QUE SE DESPLOMA</a:t>
            </a:r>
            <a:endParaRPr b="0" i="0" sz="1100" u="none" cap="none" strike="noStrike">
              <a:solidFill>
                <a:schemeClr val="dk1"/>
              </a:solidFill>
              <a:latin typeface="Calibri"/>
              <a:ea typeface="Calibri"/>
              <a:cs typeface="Calibri"/>
              <a:sym typeface="Calibri"/>
            </a:endParaRPr>
          </a:p>
        </p:txBody>
      </p:sp>
      <p:sp>
        <p:nvSpPr>
          <p:cNvPr id="161" name="Google Shape;161;p8"/>
          <p:cNvSpPr/>
          <p:nvPr/>
        </p:nvSpPr>
        <p:spPr>
          <a:xfrm>
            <a:off x="7754112" y="2212848"/>
            <a:ext cx="3566160" cy="822960"/>
          </a:xfrm>
          <a:prstGeom prst="rect">
            <a:avLst/>
          </a:prstGeom>
          <a:noFill/>
          <a:ln>
            <a:noFill/>
          </a:ln>
        </p:spPr>
        <p:txBody>
          <a:bodyPr anchorCtr="0" anchor="ctr" bIns="0" lIns="0" spcFirstLastPara="1" rIns="0" wrap="square" tIns="0">
            <a:noAutofit/>
          </a:bodyPr>
          <a:lstStyle/>
          <a:p>
            <a:pPr indent="0" lvl="0" marL="0" marR="0" rtl="0" algn="l">
              <a:lnSpc>
                <a:spcPct val="153846"/>
              </a:lnSpc>
              <a:spcBef>
                <a:spcPts val="0"/>
              </a:spcBef>
              <a:spcAft>
                <a:spcPts val="0"/>
              </a:spcAft>
              <a:buClr>
                <a:srgbClr val="838588"/>
              </a:buClr>
              <a:buSzPts val="1200"/>
              <a:buFont typeface="Calibri"/>
              <a:buNone/>
            </a:pPr>
            <a:r>
              <a:rPr b="0" i="0" lang="en-US" sz="1200" u="none" cap="none" strike="noStrike">
                <a:solidFill>
                  <a:srgbClr val="838588"/>
                </a:solidFill>
                <a:latin typeface="Calibri"/>
                <a:ea typeface="Calibri"/>
                <a:cs typeface="Calibri"/>
                <a:sym typeface="Calibri"/>
              </a:rPr>
              <a:t>2017:  </a:t>
            </a:r>
            <a:r>
              <a:rPr b="1" i="0" lang="en-US" sz="1300" u="none" cap="none" strike="noStrike">
                <a:solidFill>
                  <a:srgbClr val="E8A33D"/>
                </a:solidFill>
                <a:latin typeface="Calibri"/>
                <a:ea typeface="Calibri"/>
                <a:cs typeface="Calibri"/>
                <a:sym typeface="Calibri"/>
              </a:rPr>
              <a:t>910  →  910  →  906  →  885  →  835  →  841</a:t>
            </a:r>
            <a:endParaRPr b="0" i="0" sz="1200" u="none" cap="none" strike="noStrike">
              <a:solidFill>
                <a:schemeClr val="dk1"/>
              </a:solidFill>
              <a:latin typeface="Calibri"/>
              <a:ea typeface="Calibri"/>
              <a:cs typeface="Calibri"/>
              <a:sym typeface="Calibri"/>
            </a:endParaRPr>
          </a:p>
          <a:p>
            <a:pPr indent="0" lvl="0" marL="0" marR="0" rtl="0" algn="l">
              <a:lnSpc>
                <a:spcPct val="166666"/>
              </a:lnSpc>
              <a:spcBef>
                <a:spcPts val="0"/>
              </a:spcBef>
              <a:spcAft>
                <a:spcPts val="0"/>
              </a:spcAft>
              <a:buClr>
                <a:srgbClr val="838588"/>
              </a:buClr>
              <a:buSzPts val="1200"/>
              <a:buFont typeface="Calibri"/>
              <a:buNone/>
            </a:pPr>
            <a:r>
              <a:rPr b="0" i="0" lang="en-US" sz="1200" u="none" cap="none" strike="noStrike">
                <a:solidFill>
                  <a:srgbClr val="838588"/>
                </a:solidFill>
                <a:latin typeface="Calibri"/>
                <a:ea typeface="Calibri"/>
                <a:cs typeface="Calibri"/>
                <a:sym typeface="Calibri"/>
              </a:rPr>
              <a:t>2016:  </a:t>
            </a:r>
            <a:endParaRPr b="0" i="0" sz="1200" u="none" cap="none" strike="noStrike">
              <a:solidFill>
                <a:schemeClr val="dk1"/>
              </a:solidFill>
              <a:latin typeface="Calibri"/>
              <a:ea typeface="Calibri"/>
              <a:cs typeface="Calibri"/>
              <a:sym typeface="Calibri"/>
            </a:endParaRPr>
          </a:p>
          <a:p>
            <a:pPr indent="0" lvl="0" marL="0" marR="0" rtl="0" algn="l">
              <a:lnSpc>
                <a:spcPct val="153846"/>
              </a:lnSpc>
              <a:spcBef>
                <a:spcPts val="0"/>
              </a:spcBef>
              <a:spcAft>
                <a:spcPts val="0"/>
              </a:spcAft>
              <a:buClr>
                <a:srgbClr val="536A81"/>
              </a:buClr>
              <a:buSzPts val="1300"/>
              <a:buFont typeface="Calibri"/>
              <a:buNone/>
            </a:pPr>
            <a:r>
              <a:rPr b="1" i="0" lang="en-US" sz="1300" u="none" cap="none" strike="noStrike">
                <a:solidFill>
                  <a:srgbClr val="536A81"/>
                </a:solidFill>
                <a:latin typeface="Calibri"/>
                <a:ea typeface="Calibri"/>
                <a:cs typeface="Calibri"/>
                <a:sym typeface="Calibri"/>
              </a:rPr>
              <a:t>900  →  900  →  900  →  900  →  900  →  909</a:t>
            </a:r>
            <a:endParaRPr b="0" i="0" sz="1200" u="none" cap="none" strike="noStrike">
              <a:solidFill>
                <a:schemeClr val="dk1"/>
              </a:solidFill>
              <a:latin typeface="Calibri"/>
              <a:ea typeface="Calibri"/>
              <a:cs typeface="Calibri"/>
              <a:sym typeface="Calibri"/>
            </a:endParaRPr>
          </a:p>
        </p:txBody>
      </p:sp>
      <p:sp>
        <p:nvSpPr>
          <p:cNvPr id="162" name="Google Shape;162;p8"/>
          <p:cNvSpPr/>
          <p:nvPr/>
        </p:nvSpPr>
        <p:spPr>
          <a:xfrm>
            <a:off x="7754112" y="3017520"/>
            <a:ext cx="3566160" cy="777240"/>
          </a:xfrm>
          <a:prstGeom prst="rect">
            <a:avLst/>
          </a:prstGeom>
          <a:noFill/>
          <a:ln>
            <a:noFill/>
          </a:ln>
        </p:spPr>
        <p:txBody>
          <a:bodyPr anchorCtr="0" anchor="ctr" bIns="0" lIns="0" spcFirstLastPara="1" rIns="0" wrap="square" tIns="0">
            <a:noAutofit/>
          </a:bodyPr>
          <a:lstStyle/>
          <a:p>
            <a:pPr indent="0" lvl="0" marL="0" marR="0" rtl="0" algn="l">
              <a:lnSpc>
                <a:spcPct val="136363"/>
              </a:lnSpc>
              <a:spcBef>
                <a:spcPts val="0"/>
              </a:spcBef>
              <a:spcAft>
                <a:spcPts val="0"/>
              </a:spcAft>
              <a:buClr>
                <a:srgbClr val="AEB0B2"/>
              </a:buClr>
              <a:buSzPts val="1100"/>
              <a:buFont typeface="Calibri"/>
              <a:buNone/>
            </a:pPr>
            <a:r>
              <a:rPr b="0" i="0" lang="en-US" sz="1100" u="none" cap="none" strike="noStrike">
                <a:solidFill>
                  <a:srgbClr val="AEB0B2"/>
                </a:solidFill>
                <a:latin typeface="Calibri"/>
                <a:ea typeface="Calibri"/>
                <a:cs typeface="Calibri"/>
                <a:sym typeface="Calibri"/>
              </a:rPr>
              <a:t>Cada peldaño de descarte baja el precio típico del año que hay que predecir y no toca el del año con que se entrena. Un modelo entrenado así concluiría que 2017 vale menos: estaría midiendo su propia limpieza.</a:t>
            </a:r>
            <a:endParaRPr b="0" i="0" sz="1100" u="none" cap="none" strike="noStrike">
              <a:solidFill>
                <a:schemeClr val="dk1"/>
              </a:solidFill>
              <a:latin typeface="Calibri"/>
              <a:ea typeface="Calibri"/>
              <a:cs typeface="Calibri"/>
              <a:sym typeface="Calibri"/>
            </a:endParaRPr>
          </a:p>
        </p:txBody>
      </p:sp>
      <p:sp>
        <p:nvSpPr>
          <p:cNvPr id="163" name="Google Shape;163;p8"/>
          <p:cNvSpPr/>
          <p:nvPr/>
        </p:nvSpPr>
        <p:spPr>
          <a:xfrm>
            <a:off x="7498080" y="3977640"/>
            <a:ext cx="4069080" cy="1783080"/>
          </a:xfrm>
          <a:prstGeom prst="roundRect">
            <a:avLst>
              <a:gd fmla="val 4103" name="adj"/>
            </a:avLst>
          </a:prstGeom>
          <a:solidFill>
            <a:srgbClr val="3341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8"/>
          <p:cNvSpPr/>
          <p:nvPr/>
        </p:nvSpPr>
        <p:spPr>
          <a:xfrm>
            <a:off x="7754112" y="4142232"/>
            <a:ext cx="35661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1100"/>
              <a:buFont typeface="Calibri"/>
              <a:buNone/>
            </a:pPr>
            <a:r>
              <a:rPr b="1" i="0" lang="en-US" sz="1100" u="none" cap="none" strike="noStrike">
                <a:solidFill>
                  <a:srgbClr val="E8A33D"/>
                </a:solidFill>
                <a:latin typeface="Calibri"/>
                <a:ea typeface="Calibri"/>
                <a:cs typeface="Calibri"/>
                <a:sym typeface="Calibri"/>
              </a:rPr>
              <a:t>EL CULPABLE TIENE NOMBRE</a:t>
            </a:r>
            <a:endParaRPr b="0" i="0" sz="1100" u="none" cap="none" strike="noStrike">
              <a:solidFill>
                <a:schemeClr val="dk1"/>
              </a:solidFill>
              <a:latin typeface="Calibri"/>
              <a:ea typeface="Calibri"/>
              <a:cs typeface="Calibri"/>
              <a:sym typeface="Calibri"/>
            </a:endParaRPr>
          </a:p>
        </p:txBody>
      </p:sp>
      <p:sp>
        <p:nvSpPr>
          <p:cNvPr id="165" name="Google Shape;165;p8"/>
          <p:cNvSpPr/>
          <p:nvPr/>
        </p:nvSpPr>
        <p:spPr>
          <a:xfrm>
            <a:off x="7754112" y="4462272"/>
            <a:ext cx="3566160" cy="1188720"/>
          </a:xfrm>
          <a:prstGeom prst="rect">
            <a:avLst/>
          </a:prstGeom>
          <a:noFill/>
          <a:ln>
            <a:noFill/>
          </a:ln>
        </p:spPr>
        <p:txBody>
          <a:bodyPr anchorCtr="0" anchor="ctr" bIns="0" lIns="0" spcFirstLastPara="1" rIns="0" wrap="square" tIns="0">
            <a:noAutofit/>
          </a:bodyPr>
          <a:lstStyle/>
          <a:p>
            <a:pPr indent="0" lvl="0" marL="0" marR="0" rtl="0" algn="l">
              <a:lnSpc>
                <a:spcPct val="139130"/>
              </a:lnSpc>
              <a:spcBef>
                <a:spcPts val="0"/>
              </a:spcBef>
              <a:spcAft>
                <a:spcPts val="0"/>
              </a:spcAft>
              <a:buClr>
                <a:srgbClr val="EBECED"/>
              </a:buClr>
              <a:buSzPts val="1150"/>
              <a:buFont typeface="Calibri"/>
              <a:buNone/>
            </a:pPr>
            <a:r>
              <a:rPr b="0" i="0" lang="en-US" sz="1150" u="none" cap="none" strike="noStrike">
                <a:solidFill>
                  <a:srgbClr val="EBECED"/>
                </a:solidFill>
                <a:latin typeface="Calibri"/>
                <a:ea typeface="Calibri"/>
                <a:cs typeface="Calibri"/>
                <a:sym typeface="Calibri"/>
              </a:rPr>
              <a:t>CouncilArea tiene 0% de nulos en 2016 y 18,9% en 2017. Exigirla completa elimina 1.369 filas, todas del conjunto de evaluación. Eso no es limpieza: es recorte selectivo de un solo año.</a:t>
            </a:r>
            <a:endParaRPr b="0" i="0" sz="1150" u="none" cap="none" strike="noStrike">
              <a:solidFill>
                <a:schemeClr val="dk1"/>
              </a:solidFill>
              <a:latin typeface="Calibri"/>
              <a:ea typeface="Calibri"/>
              <a:cs typeface="Calibri"/>
              <a:sym typeface="Calibri"/>
            </a:endParaRPr>
          </a:p>
        </p:txBody>
      </p:sp>
      <p:sp>
        <p:nvSpPr>
          <p:cNvPr id="166" name="Google Shape;166;p8"/>
          <p:cNvSpPr/>
          <p:nvPr/>
        </p:nvSpPr>
        <p:spPr>
          <a:xfrm>
            <a:off x="594360" y="6144768"/>
            <a:ext cx="10881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38588"/>
              </a:buClr>
              <a:buSzPts val="1000"/>
              <a:buFont typeface="Calibri"/>
              <a:buNone/>
            </a:pPr>
            <a:r>
              <a:rPr b="0" i="1" lang="en-US" sz="1000" u="none" cap="none" strike="noStrike">
                <a:solidFill>
                  <a:srgbClr val="838588"/>
                </a:solidFill>
                <a:latin typeface="Calibri"/>
                <a:ea typeface="Calibri"/>
                <a:cs typeface="Calibri"/>
                <a:sym typeface="Calibri"/>
              </a:rPr>
              <a:t>Fuente: anclaje.json · claves cascada y ausencias.tasa_por_anio. Medianas en miles. Solo 4 de las 21 columnas tienen algún nulo.</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61B"/>
        </a:solidFill>
      </p:bgPr>
    </p:bg>
    <p:spTree>
      <p:nvGrpSpPr>
        <p:cNvPr id="171" name="Shape 171"/>
        <p:cNvGrpSpPr/>
        <p:nvPr/>
      </p:nvGrpSpPr>
      <p:grpSpPr>
        <a:xfrm>
          <a:off x="0" y="0"/>
          <a:ext cx="0" cy="0"/>
          <a:chOff x="0" y="0"/>
          <a:chExt cx="0" cy="0"/>
        </a:xfrm>
      </p:grpSpPr>
      <p:sp>
        <p:nvSpPr>
          <p:cNvPr id="172" name="Google Shape;172;p9"/>
          <p:cNvSpPr/>
          <p:nvPr/>
        </p:nvSpPr>
        <p:spPr>
          <a:xfrm>
            <a:off x="594360" y="384048"/>
            <a:ext cx="106070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1100"/>
              <a:buFont typeface="Calibri"/>
              <a:buNone/>
            </a:pPr>
            <a:r>
              <a:rPr b="1" i="0" lang="en-US" sz="1100" u="none" cap="none" strike="noStrike">
                <a:solidFill>
                  <a:srgbClr val="E8A33D"/>
                </a:solidFill>
                <a:latin typeface="Calibri"/>
                <a:ea typeface="Calibri"/>
                <a:cs typeface="Calibri"/>
                <a:sym typeface="Calibri"/>
              </a:rPr>
              <a:t>FUGA ENTRE ENTRENAMIENTO Y EVALUACIÓN</a:t>
            </a:r>
            <a:endParaRPr b="0" i="0" sz="1100" u="none" cap="none" strike="noStrike">
              <a:solidFill>
                <a:schemeClr val="dk1"/>
              </a:solidFill>
              <a:latin typeface="Calibri"/>
              <a:ea typeface="Calibri"/>
              <a:cs typeface="Calibri"/>
              <a:sym typeface="Calibri"/>
            </a:endParaRPr>
          </a:p>
        </p:txBody>
      </p:sp>
      <p:sp>
        <p:nvSpPr>
          <p:cNvPr id="173" name="Google Shape;173;p9"/>
          <p:cNvSpPr/>
          <p:nvPr/>
        </p:nvSpPr>
        <p:spPr>
          <a:xfrm>
            <a:off x="594360" y="658368"/>
            <a:ext cx="10881360"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BECED"/>
              </a:buClr>
              <a:buSzPts val="3000"/>
              <a:buFont typeface="Cambria"/>
              <a:buNone/>
            </a:pPr>
            <a:r>
              <a:rPr b="1" i="0" lang="en-US" sz="3000" u="none" cap="none" strike="noStrike">
                <a:solidFill>
                  <a:srgbClr val="EBECED"/>
                </a:solidFill>
                <a:latin typeface="Cambria"/>
                <a:ea typeface="Cambria"/>
                <a:cs typeface="Cambria"/>
                <a:sym typeface="Cambria"/>
              </a:rPr>
              <a:t>Address no identifica una propiedad; Suburb + Address sí</a:t>
            </a:r>
            <a:endParaRPr b="0" i="0" sz="3000" u="none" cap="none" strike="noStrike">
              <a:solidFill>
                <a:schemeClr val="dk1"/>
              </a:solidFill>
              <a:latin typeface="Calibri"/>
              <a:ea typeface="Calibri"/>
              <a:cs typeface="Calibri"/>
              <a:sym typeface="Calibri"/>
            </a:endParaRPr>
          </a:p>
        </p:txBody>
      </p:sp>
      <p:graphicFrame>
        <p:nvGraphicFramePr>
          <p:cNvPr id="174" name="Google Shape;174;p9"/>
          <p:cNvGraphicFramePr/>
          <p:nvPr/>
        </p:nvGraphicFramePr>
        <p:xfrm>
          <a:off x="594360" y="1691640"/>
          <a:ext cx="3000000" cy="3000000"/>
        </p:xfrm>
        <a:graphic>
          <a:graphicData uri="http://schemas.openxmlformats.org/drawingml/2006/table">
            <a:tbl>
              <a:tblPr>
                <a:noFill/>
                <a:tableStyleId>{FFD97FC7-F411-43DF-BFE1-4147D78720D9}</a:tableStyleId>
              </a:tblPr>
              <a:tblGrid>
                <a:gridCol w="2926075"/>
                <a:gridCol w="1417325"/>
                <a:gridCol w="1600200"/>
                <a:gridCol w="1188725"/>
              </a:tblGrid>
              <a:tr h="347475">
                <a:tc>
                  <a:txBody>
                    <a:bodyPr/>
                    <a:lstStyle/>
                    <a:p>
                      <a:pPr indent="0" lvl="0" marL="0" marR="0" rtl="0" algn="l">
                        <a:spcBef>
                          <a:spcPts val="0"/>
                        </a:spcBef>
                        <a:spcAft>
                          <a:spcPts val="0"/>
                        </a:spcAft>
                        <a:buClr>
                          <a:srgbClr val="EBECED"/>
                        </a:buClr>
                        <a:buSzPts val="1100"/>
                        <a:buFont typeface="Calibri"/>
                        <a:buNone/>
                      </a:pPr>
                      <a:r>
                        <a:rPr b="1" lang="en-US" sz="1100" u="none" cap="none" strike="noStrike">
                          <a:solidFill>
                            <a:srgbClr val="EBECED"/>
                          </a:solidFill>
                          <a:latin typeface="Calibri"/>
                          <a:ea typeface="Calibri"/>
                          <a:cs typeface="Calibri"/>
                          <a:sym typeface="Calibri"/>
                        </a:rPr>
                        <a:t>Medición</a:t>
                      </a:r>
                      <a:endParaRPr sz="110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33414F"/>
                    </a:solidFill>
                  </a:tcPr>
                </a:tc>
                <a:tc>
                  <a:txBody>
                    <a:bodyPr/>
                    <a:lstStyle/>
                    <a:p>
                      <a:pPr indent="0" lvl="0" marL="0" marR="0" rtl="0" algn="r">
                        <a:spcBef>
                          <a:spcPts val="0"/>
                        </a:spcBef>
                        <a:spcAft>
                          <a:spcPts val="0"/>
                        </a:spcAft>
                        <a:buClr>
                          <a:srgbClr val="EBECED"/>
                        </a:buClr>
                        <a:buSzPts val="1100"/>
                        <a:buFont typeface="Calibri"/>
                        <a:buNone/>
                      </a:pPr>
                      <a:r>
                        <a:rPr b="1" lang="en-US" sz="1100" u="none" cap="none" strike="noStrike">
                          <a:solidFill>
                            <a:srgbClr val="EBECED"/>
                          </a:solidFill>
                          <a:latin typeface="Calibri"/>
                          <a:ea typeface="Calibri"/>
                          <a:cs typeface="Calibri"/>
                          <a:sym typeface="Calibri"/>
                        </a:rPr>
                        <a:t>Con Address</a:t>
                      </a:r>
                      <a:endParaRPr sz="110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33414F"/>
                    </a:solidFill>
                  </a:tcPr>
                </a:tc>
                <a:tc>
                  <a:txBody>
                    <a:bodyPr/>
                    <a:lstStyle/>
                    <a:p>
                      <a:pPr indent="0" lvl="0" marL="0" marR="0" rtl="0" algn="r">
                        <a:spcBef>
                          <a:spcPts val="0"/>
                        </a:spcBef>
                        <a:spcAft>
                          <a:spcPts val="0"/>
                        </a:spcAft>
                        <a:buClr>
                          <a:srgbClr val="EBECED"/>
                        </a:buClr>
                        <a:buSzPts val="1100"/>
                        <a:buFont typeface="Calibri"/>
                        <a:buNone/>
                      </a:pPr>
                      <a:r>
                        <a:rPr b="1" lang="en-US" sz="1100" u="none" cap="none" strike="noStrike">
                          <a:solidFill>
                            <a:srgbClr val="EBECED"/>
                          </a:solidFill>
                          <a:latin typeface="Calibri"/>
                          <a:ea typeface="Calibri"/>
                          <a:cs typeface="Calibri"/>
                          <a:sym typeface="Calibri"/>
                        </a:rPr>
                        <a:t>Con Suburb+Address</a:t>
                      </a:r>
                      <a:endParaRPr sz="110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33414F"/>
                    </a:solidFill>
                  </a:tcPr>
                </a:tc>
                <a:tc>
                  <a:txBody>
                    <a:bodyPr/>
                    <a:lstStyle/>
                    <a:p>
                      <a:pPr indent="0" lvl="0" marL="0" marR="0" rtl="0" algn="r">
                        <a:spcBef>
                          <a:spcPts val="0"/>
                        </a:spcBef>
                        <a:spcAft>
                          <a:spcPts val="0"/>
                        </a:spcAft>
                        <a:buClr>
                          <a:srgbClr val="EBECED"/>
                        </a:buClr>
                        <a:buSzPts val="1100"/>
                        <a:buFont typeface="Calibri"/>
                        <a:buNone/>
                      </a:pPr>
                      <a:r>
                        <a:rPr b="1" lang="en-US" sz="1100" u="none" cap="none" strike="noStrike">
                          <a:solidFill>
                            <a:srgbClr val="EBECED"/>
                          </a:solidFill>
                          <a:latin typeface="Calibri"/>
                          <a:ea typeface="Calibri"/>
                          <a:cs typeface="Calibri"/>
                          <a:sym typeface="Calibri"/>
                        </a:rPr>
                        <a:t>Sobreconteo</a:t>
                      </a:r>
                      <a:endParaRPr sz="110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33414F"/>
                    </a:solidFill>
                  </a:tcPr>
                </a:tc>
              </a:tr>
              <a:tr h="347475">
                <a:tc>
                  <a:txBody>
                    <a:bodyPr/>
                    <a:lstStyle/>
                    <a:p>
                      <a:pPr indent="0" lvl="0" marL="0" marR="0" rtl="0" algn="l">
                        <a:spcBef>
                          <a:spcPts val="0"/>
                        </a:spcBef>
                        <a:spcAft>
                          <a:spcPts val="0"/>
                        </a:spcAft>
                        <a:buClr>
                          <a:srgbClr val="EBECED"/>
                        </a:buClr>
                        <a:buSzPts val="1150"/>
                        <a:buFont typeface="Calibri"/>
                        <a:buNone/>
                      </a:pPr>
                      <a:r>
                        <a:rPr lang="en-US" sz="1150" u="none" cap="none" strike="noStrike">
                          <a:solidFill>
                            <a:srgbClr val="EBECED"/>
                          </a:solidFill>
                          <a:latin typeface="Calibri"/>
                          <a:ea typeface="Calibri"/>
                          <a:cs typeface="Calibri"/>
                          <a:sym typeface="Calibri"/>
                        </a:rPr>
                        <a:t>Propiedades repetidas</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12161B"/>
                    </a:solidFill>
                  </a:tcPr>
                </a:tc>
                <a:tc>
                  <a:txBody>
                    <a:bodyPr/>
                    <a:lstStyle/>
                    <a:p>
                      <a:pPr indent="0" lvl="0" marL="0" marR="0" rtl="0" algn="r">
                        <a:spcBef>
                          <a:spcPts val="0"/>
                        </a:spcBef>
                        <a:spcAft>
                          <a:spcPts val="0"/>
                        </a:spcAft>
                        <a:buClr>
                          <a:srgbClr val="EBECED"/>
                        </a:buClr>
                        <a:buSzPts val="1150"/>
                        <a:buFont typeface="Calibri"/>
                        <a:buNone/>
                      </a:pPr>
                      <a:r>
                        <a:rPr lang="en-US" sz="1150" u="none" cap="none" strike="noStrike">
                          <a:solidFill>
                            <a:srgbClr val="EBECED"/>
                          </a:solidFill>
                          <a:latin typeface="Calibri"/>
                          <a:ea typeface="Calibri"/>
                          <a:cs typeface="Calibri"/>
                          <a:sym typeface="Calibri"/>
                        </a:rPr>
                        <a:t>193</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12161B"/>
                    </a:solidFill>
                  </a:tcPr>
                </a:tc>
                <a:tc>
                  <a:txBody>
                    <a:bodyPr/>
                    <a:lstStyle/>
                    <a:p>
                      <a:pPr indent="0" lvl="0" marL="0" marR="0" rtl="0" algn="r">
                        <a:spcBef>
                          <a:spcPts val="0"/>
                        </a:spcBef>
                        <a:spcAft>
                          <a:spcPts val="0"/>
                        </a:spcAft>
                        <a:buClr>
                          <a:srgbClr val="EBECED"/>
                        </a:buClr>
                        <a:buSzPts val="1150"/>
                        <a:buFont typeface="Calibri"/>
                        <a:buNone/>
                      </a:pPr>
                      <a:r>
                        <a:rPr lang="en-US" sz="1150" u="none" cap="none" strike="noStrike">
                          <a:solidFill>
                            <a:srgbClr val="EBECED"/>
                          </a:solidFill>
                          <a:latin typeface="Calibri"/>
                          <a:ea typeface="Calibri"/>
                          <a:cs typeface="Calibri"/>
                          <a:sym typeface="Calibri"/>
                        </a:rPr>
                        <a:t>112</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12161B"/>
                    </a:solidFill>
                  </a:tcPr>
                </a:tc>
                <a:tc>
                  <a:txBody>
                    <a:bodyPr/>
                    <a:lstStyle/>
                    <a:p>
                      <a:pPr indent="0" lvl="0" marL="0" marR="0" rtl="0" algn="r">
                        <a:spcBef>
                          <a:spcPts val="0"/>
                        </a:spcBef>
                        <a:spcAft>
                          <a:spcPts val="0"/>
                        </a:spcAft>
                        <a:buClr>
                          <a:srgbClr val="E8A33D"/>
                        </a:buClr>
                        <a:buSzPts val="1150"/>
                        <a:buFont typeface="Calibri"/>
                        <a:buNone/>
                      </a:pPr>
                      <a:r>
                        <a:rPr b="1" lang="en-US" sz="1150" u="none" cap="none" strike="noStrike">
                          <a:solidFill>
                            <a:srgbClr val="E8A33D"/>
                          </a:solidFill>
                          <a:latin typeface="Calibri"/>
                          <a:ea typeface="Calibri"/>
                          <a:cs typeface="Calibri"/>
                          <a:sym typeface="Calibri"/>
                        </a:rPr>
                        <a:t>+72%</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12161B"/>
                    </a:solidFill>
                  </a:tcPr>
                </a:tc>
              </a:tr>
              <a:tr h="347475">
                <a:tc>
                  <a:txBody>
                    <a:bodyPr/>
                    <a:lstStyle/>
                    <a:p>
                      <a:pPr indent="0" lvl="0" marL="0" marR="0" rtl="0" algn="l">
                        <a:spcBef>
                          <a:spcPts val="0"/>
                        </a:spcBef>
                        <a:spcAft>
                          <a:spcPts val="0"/>
                        </a:spcAft>
                        <a:buClr>
                          <a:srgbClr val="EBECED"/>
                        </a:buClr>
                        <a:buSzPts val="1150"/>
                        <a:buFont typeface="Calibri"/>
                        <a:buNone/>
                      </a:pPr>
                      <a:r>
                        <a:rPr lang="en-US" sz="1150" u="none" cap="none" strike="noStrike">
                          <a:solidFill>
                            <a:srgbClr val="EBECED"/>
                          </a:solidFill>
                          <a:latin typeface="Calibri"/>
                          <a:ea typeface="Calibri"/>
                          <a:cs typeface="Calibri"/>
                          <a:sym typeface="Calibri"/>
                        </a:rPr>
                        <a:t>Filas involucradas</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1B222B"/>
                    </a:solidFill>
                  </a:tcPr>
                </a:tc>
                <a:tc>
                  <a:txBody>
                    <a:bodyPr/>
                    <a:lstStyle/>
                    <a:p>
                      <a:pPr indent="0" lvl="0" marL="0" marR="0" rtl="0" algn="r">
                        <a:spcBef>
                          <a:spcPts val="0"/>
                        </a:spcBef>
                        <a:spcAft>
                          <a:spcPts val="0"/>
                        </a:spcAft>
                        <a:buClr>
                          <a:srgbClr val="EBECED"/>
                        </a:buClr>
                        <a:buSzPts val="1150"/>
                        <a:buFont typeface="Calibri"/>
                        <a:buNone/>
                      </a:pPr>
                      <a:r>
                        <a:rPr lang="en-US" sz="1150" u="none" cap="none" strike="noStrike">
                          <a:solidFill>
                            <a:srgbClr val="EBECED"/>
                          </a:solidFill>
                          <a:latin typeface="Calibri"/>
                          <a:ea typeface="Calibri"/>
                          <a:cs typeface="Calibri"/>
                          <a:sym typeface="Calibri"/>
                        </a:rPr>
                        <a:t>395</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1B222B"/>
                    </a:solidFill>
                  </a:tcPr>
                </a:tc>
                <a:tc>
                  <a:txBody>
                    <a:bodyPr/>
                    <a:lstStyle/>
                    <a:p>
                      <a:pPr indent="0" lvl="0" marL="0" marR="0" rtl="0" algn="r">
                        <a:spcBef>
                          <a:spcPts val="0"/>
                        </a:spcBef>
                        <a:spcAft>
                          <a:spcPts val="0"/>
                        </a:spcAft>
                        <a:buClr>
                          <a:srgbClr val="EBECED"/>
                        </a:buClr>
                        <a:buSzPts val="1150"/>
                        <a:buFont typeface="Calibri"/>
                        <a:buNone/>
                      </a:pPr>
                      <a:r>
                        <a:rPr lang="en-US" sz="1150" u="none" cap="none" strike="noStrike">
                          <a:solidFill>
                            <a:srgbClr val="EBECED"/>
                          </a:solidFill>
                          <a:latin typeface="Calibri"/>
                          <a:ea typeface="Calibri"/>
                          <a:cs typeface="Calibri"/>
                          <a:sym typeface="Calibri"/>
                        </a:rPr>
                        <a:t>226</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1B222B"/>
                    </a:solidFill>
                  </a:tcPr>
                </a:tc>
                <a:tc>
                  <a:txBody>
                    <a:bodyPr/>
                    <a:lstStyle/>
                    <a:p>
                      <a:pPr indent="0" lvl="0" marL="0" marR="0" rtl="0" algn="r">
                        <a:spcBef>
                          <a:spcPts val="0"/>
                        </a:spcBef>
                        <a:spcAft>
                          <a:spcPts val="0"/>
                        </a:spcAft>
                        <a:buClr>
                          <a:srgbClr val="E8A33D"/>
                        </a:buClr>
                        <a:buSzPts val="1150"/>
                        <a:buFont typeface="Calibri"/>
                        <a:buNone/>
                      </a:pPr>
                      <a:r>
                        <a:rPr b="1" lang="en-US" sz="1150" u="none" cap="none" strike="noStrike">
                          <a:solidFill>
                            <a:srgbClr val="E8A33D"/>
                          </a:solidFill>
                          <a:latin typeface="Calibri"/>
                          <a:ea typeface="Calibri"/>
                          <a:cs typeface="Calibri"/>
                          <a:sym typeface="Calibri"/>
                        </a:rPr>
                        <a:t>+75%</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1B222B"/>
                    </a:solidFill>
                  </a:tcPr>
                </a:tc>
              </a:tr>
              <a:tr h="347475">
                <a:tc>
                  <a:txBody>
                    <a:bodyPr/>
                    <a:lstStyle/>
                    <a:p>
                      <a:pPr indent="0" lvl="0" marL="0" marR="0" rtl="0" algn="l">
                        <a:spcBef>
                          <a:spcPts val="0"/>
                        </a:spcBef>
                        <a:spcAft>
                          <a:spcPts val="0"/>
                        </a:spcAft>
                        <a:buClr>
                          <a:srgbClr val="EBECED"/>
                        </a:buClr>
                        <a:buSzPts val="1150"/>
                        <a:buFont typeface="Calibri"/>
                        <a:buNone/>
                      </a:pPr>
                      <a:r>
                        <a:rPr lang="en-US" sz="1150" u="none" cap="none" strike="noStrike">
                          <a:solidFill>
                            <a:srgbClr val="EBECED"/>
                          </a:solidFill>
                          <a:latin typeface="Calibri"/>
                          <a:ea typeface="Calibri"/>
                          <a:cs typeface="Calibri"/>
                          <a:sym typeface="Calibri"/>
                        </a:rPr>
                        <a:t>Cruzan el corte temporal</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12161B"/>
                    </a:solidFill>
                  </a:tcPr>
                </a:tc>
                <a:tc>
                  <a:txBody>
                    <a:bodyPr/>
                    <a:lstStyle/>
                    <a:p>
                      <a:pPr indent="0" lvl="0" marL="0" marR="0" rtl="0" algn="r">
                        <a:spcBef>
                          <a:spcPts val="0"/>
                        </a:spcBef>
                        <a:spcAft>
                          <a:spcPts val="0"/>
                        </a:spcAft>
                        <a:buClr>
                          <a:srgbClr val="EBECED"/>
                        </a:buClr>
                        <a:buSzPts val="1150"/>
                        <a:buFont typeface="Calibri"/>
                        <a:buNone/>
                      </a:pPr>
                      <a:r>
                        <a:rPr lang="en-US" sz="1150" u="none" cap="none" strike="noStrike">
                          <a:solidFill>
                            <a:srgbClr val="EBECED"/>
                          </a:solidFill>
                          <a:latin typeface="Calibri"/>
                          <a:ea typeface="Calibri"/>
                          <a:cs typeface="Calibri"/>
                          <a:sym typeface="Calibri"/>
                        </a:rPr>
                        <a:t>85</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12161B"/>
                    </a:solidFill>
                  </a:tcPr>
                </a:tc>
                <a:tc>
                  <a:txBody>
                    <a:bodyPr/>
                    <a:lstStyle/>
                    <a:p>
                      <a:pPr indent="0" lvl="0" marL="0" marR="0" rtl="0" algn="r">
                        <a:spcBef>
                          <a:spcPts val="0"/>
                        </a:spcBef>
                        <a:spcAft>
                          <a:spcPts val="0"/>
                        </a:spcAft>
                        <a:buClr>
                          <a:srgbClr val="EBECED"/>
                        </a:buClr>
                        <a:buSzPts val="1150"/>
                        <a:buFont typeface="Calibri"/>
                        <a:buNone/>
                      </a:pPr>
                      <a:r>
                        <a:rPr lang="en-US" sz="1150" u="none" cap="none" strike="noStrike">
                          <a:solidFill>
                            <a:srgbClr val="EBECED"/>
                          </a:solidFill>
                          <a:latin typeface="Calibri"/>
                          <a:ea typeface="Calibri"/>
                          <a:cs typeface="Calibri"/>
                          <a:sym typeface="Calibri"/>
                        </a:rPr>
                        <a:t>36</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12161B"/>
                    </a:solidFill>
                  </a:tcPr>
                </a:tc>
                <a:tc>
                  <a:txBody>
                    <a:bodyPr/>
                    <a:lstStyle/>
                    <a:p>
                      <a:pPr indent="0" lvl="0" marL="0" marR="0" rtl="0" algn="r">
                        <a:spcBef>
                          <a:spcPts val="0"/>
                        </a:spcBef>
                        <a:spcAft>
                          <a:spcPts val="0"/>
                        </a:spcAft>
                        <a:buClr>
                          <a:srgbClr val="E8A33D"/>
                        </a:buClr>
                        <a:buSzPts val="1150"/>
                        <a:buFont typeface="Calibri"/>
                        <a:buNone/>
                      </a:pPr>
                      <a:r>
                        <a:rPr b="1" lang="en-US" sz="1150" u="none" cap="none" strike="noStrike">
                          <a:solidFill>
                            <a:srgbClr val="E8A33D"/>
                          </a:solidFill>
                          <a:latin typeface="Calibri"/>
                          <a:ea typeface="Calibri"/>
                          <a:cs typeface="Calibri"/>
                          <a:sym typeface="Calibri"/>
                        </a:rPr>
                        <a:t>+136%</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12161B"/>
                    </a:solidFill>
                  </a:tcPr>
                </a:tc>
              </a:tr>
              <a:tr h="347475">
                <a:tc>
                  <a:txBody>
                    <a:bodyPr/>
                    <a:lstStyle/>
                    <a:p>
                      <a:pPr indent="0" lvl="0" marL="0" marR="0" rtl="0" algn="l">
                        <a:spcBef>
                          <a:spcPts val="0"/>
                        </a:spcBef>
                        <a:spcAft>
                          <a:spcPts val="0"/>
                        </a:spcAft>
                        <a:buClr>
                          <a:srgbClr val="EBECED"/>
                        </a:buClr>
                        <a:buSzPts val="1150"/>
                        <a:buFont typeface="Calibri"/>
                        <a:buNone/>
                      </a:pPr>
                      <a:r>
                        <a:rPr lang="en-US" sz="1150" u="none" cap="none" strike="noStrike">
                          <a:solidFill>
                            <a:srgbClr val="EBECED"/>
                          </a:solidFill>
                          <a:latin typeface="Calibri"/>
                          <a:ea typeface="Calibri"/>
                          <a:cs typeface="Calibri"/>
                          <a:sym typeface="Calibri"/>
                        </a:rPr>
                        <a:t>Filas que cruzan</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1B222B"/>
                    </a:solidFill>
                  </a:tcPr>
                </a:tc>
                <a:tc>
                  <a:txBody>
                    <a:bodyPr/>
                    <a:lstStyle/>
                    <a:p>
                      <a:pPr indent="0" lvl="0" marL="0" marR="0" rtl="0" algn="r">
                        <a:spcBef>
                          <a:spcPts val="0"/>
                        </a:spcBef>
                        <a:spcAft>
                          <a:spcPts val="0"/>
                        </a:spcAft>
                        <a:buClr>
                          <a:srgbClr val="EBECED"/>
                        </a:buClr>
                        <a:buSzPts val="1150"/>
                        <a:buFont typeface="Calibri"/>
                        <a:buNone/>
                      </a:pPr>
                      <a:r>
                        <a:rPr lang="en-US" sz="1150" u="none" cap="none" strike="noStrike">
                          <a:solidFill>
                            <a:srgbClr val="EBECED"/>
                          </a:solidFill>
                          <a:latin typeface="Calibri"/>
                          <a:ea typeface="Calibri"/>
                          <a:cs typeface="Calibri"/>
                          <a:sym typeface="Calibri"/>
                        </a:rPr>
                        <a:t>176</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1B222B"/>
                    </a:solidFill>
                  </a:tcPr>
                </a:tc>
                <a:tc>
                  <a:txBody>
                    <a:bodyPr/>
                    <a:lstStyle/>
                    <a:p>
                      <a:pPr indent="0" lvl="0" marL="0" marR="0" rtl="0" algn="r">
                        <a:spcBef>
                          <a:spcPts val="0"/>
                        </a:spcBef>
                        <a:spcAft>
                          <a:spcPts val="0"/>
                        </a:spcAft>
                        <a:buClr>
                          <a:srgbClr val="EBECED"/>
                        </a:buClr>
                        <a:buSzPts val="1150"/>
                        <a:buFont typeface="Calibri"/>
                        <a:buNone/>
                      </a:pPr>
                      <a:r>
                        <a:rPr lang="en-US" sz="1150" u="none" cap="none" strike="noStrike">
                          <a:solidFill>
                            <a:srgbClr val="EBECED"/>
                          </a:solidFill>
                          <a:latin typeface="Calibri"/>
                          <a:ea typeface="Calibri"/>
                          <a:cs typeface="Calibri"/>
                          <a:sym typeface="Calibri"/>
                        </a:rPr>
                        <a:t>73</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1B222B"/>
                    </a:solidFill>
                  </a:tcPr>
                </a:tc>
                <a:tc>
                  <a:txBody>
                    <a:bodyPr/>
                    <a:lstStyle/>
                    <a:p>
                      <a:pPr indent="0" lvl="0" marL="0" marR="0" rtl="0" algn="r">
                        <a:spcBef>
                          <a:spcPts val="0"/>
                        </a:spcBef>
                        <a:spcAft>
                          <a:spcPts val="0"/>
                        </a:spcAft>
                        <a:buClr>
                          <a:srgbClr val="E8A33D"/>
                        </a:buClr>
                        <a:buSzPts val="1150"/>
                        <a:buFont typeface="Calibri"/>
                        <a:buNone/>
                      </a:pPr>
                      <a:r>
                        <a:rPr b="1" lang="en-US" sz="1150" u="none" cap="none" strike="noStrike">
                          <a:solidFill>
                            <a:srgbClr val="E8A33D"/>
                          </a:solidFill>
                          <a:latin typeface="Calibri"/>
                          <a:ea typeface="Calibri"/>
                          <a:cs typeface="Calibri"/>
                          <a:sym typeface="Calibri"/>
                        </a:rPr>
                        <a:t>+141%</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1B222B"/>
                    </a:solidFill>
                  </a:tcPr>
                </a:tc>
              </a:tr>
            </a:tbl>
          </a:graphicData>
        </a:graphic>
      </p:graphicFrame>
      <p:sp>
        <p:nvSpPr>
          <p:cNvPr id="175" name="Google Shape;175;p9"/>
          <p:cNvSpPr/>
          <p:nvPr/>
        </p:nvSpPr>
        <p:spPr>
          <a:xfrm>
            <a:off x="594360" y="3520440"/>
            <a:ext cx="7132320" cy="457200"/>
          </a:xfrm>
          <a:prstGeom prst="rect">
            <a:avLst/>
          </a:prstGeom>
          <a:noFill/>
          <a:ln>
            <a:noFill/>
          </a:ln>
        </p:spPr>
        <p:txBody>
          <a:bodyPr anchorCtr="0" anchor="ctr" bIns="0" lIns="0" spcFirstLastPara="1" rIns="0" wrap="square" tIns="0">
            <a:noAutofit/>
          </a:bodyPr>
          <a:lstStyle/>
          <a:p>
            <a:pPr indent="0" lvl="0" marL="0" marR="0" rtl="0" algn="l">
              <a:lnSpc>
                <a:spcPct val="136363"/>
              </a:lnSpc>
              <a:spcBef>
                <a:spcPts val="0"/>
              </a:spcBef>
              <a:spcAft>
                <a:spcPts val="0"/>
              </a:spcAft>
              <a:buClr>
                <a:srgbClr val="838588"/>
              </a:buClr>
              <a:buSzPts val="1100"/>
              <a:buFont typeface="Calibri"/>
              <a:buNone/>
            </a:pPr>
            <a:r>
              <a:rPr b="0" i="1" lang="en-US" sz="1100" u="none" cap="none" strike="noStrike">
                <a:solidFill>
                  <a:srgbClr val="838588"/>
                </a:solidFill>
                <a:latin typeface="Calibri"/>
                <a:ea typeface="Calibri"/>
                <a:cs typeface="Calibri"/>
                <a:sym typeface="Calibri"/>
              </a:rPr>
              <a:t>Agregar Postcode a la llave no cambia ninguna cifra: Suburb ya desambigua. "5 Charles St" existe en varios suburbios y son propiedades distintas.</a:t>
            </a:r>
            <a:endParaRPr b="0" i="0" sz="1100" u="none" cap="none" strike="noStrike">
              <a:solidFill>
                <a:schemeClr val="dk1"/>
              </a:solidFill>
              <a:latin typeface="Calibri"/>
              <a:ea typeface="Calibri"/>
              <a:cs typeface="Calibri"/>
              <a:sym typeface="Calibri"/>
            </a:endParaRPr>
          </a:p>
        </p:txBody>
      </p:sp>
      <p:sp>
        <p:nvSpPr>
          <p:cNvPr id="176" name="Google Shape;176;p9"/>
          <p:cNvSpPr/>
          <p:nvPr/>
        </p:nvSpPr>
        <p:spPr>
          <a:xfrm>
            <a:off x="594360" y="4114800"/>
            <a:ext cx="7132320" cy="1737360"/>
          </a:xfrm>
          <a:prstGeom prst="roundRect">
            <a:avLst>
              <a:gd fmla="val 4211" name="adj"/>
            </a:avLst>
          </a:prstGeom>
          <a:solidFill>
            <a:srgbClr val="242E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9"/>
          <p:cNvSpPr/>
          <p:nvPr/>
        </p:nvSpPr>
        <p:spPr>
          <a:xfrm>
            <a:off x="868680" y="4297680"/>
            <a:ext cx="4572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1100"/>
              <a:buFont typeface="Calibri"/>
              <a:buNone/>
            </a:pPr>
            <a:r>
              <a:rPr b="1" i="0" lang="en-US" sz="1100" u="none" cap="none" strike="noStrike">
                <a:solidFill>
                  <a:srgbClr val="E8A33D"/>
                </a:solidFill>
                <a:latin typeface="Calibri"/>
                <a:ea typeface="Calibri"/>
                <a:cs typeface="Calibri"/>
                <a:sym typeface="Calibri"/>
              </a:rPr>
              <a:t>LA FUGA, YA CORREGIDA LA IDENTIDAD</a:t>
            </a:r>
            <a:endParaRPr b="0" i="0" sz="1100" u="none" cap="none" strike="noStrike">
              <a:solidFill>
                <a:schemeClr val="dk1"/>
              </a:solidFill>
              <a:latin typeface="Calibri"/>
              <a:ea typeface="Calibri"/>
              <a:cs typeface="Calibri"/>
              <a:sym typeface="Calibri"/>
            </a:endParaRPr>
          </a:p>
        </p:txBody>
      </p:sp>
      <p:sp>
        <p:nvSpPr>
          <p:cNvPr id="178" name="Google Shape;178;p9"/>
          <p:cNvSpPr/>
          <p:nvPr/>
        </p:nvSpPr>
        <p:spPr>
          <a:xfrm>
            <a:off x="868680" y="4617720"/>
            <a:ext cx="6629400" cy="1097280"/>
          </a:xfrm>
          <a:prstGeom prst="rect">
            <a:avLst/>
          </a:prstGeom>
          <a:noFill/>
          <a:ln>
            <a:noFill/>
          </a:ln>
        </p:spPr>
        <p:txBody>
          <a:bodyPr anchorCtr="0" anchor="ctr" bIns="0" lIns="0" spcFirstLastPara="1" rIns="0" wrap="square" tIns="0">
            <a:noAutofit/>
          </a:bodyPr>
          <a:lstStyle/>
          <a:p>
            <a:pPr indent="0" lvl="0" marL="0" marR="0" rtl="0" algn="l">
              <a:lnSpc>
                <a:spcPct val="141666"/>
              </a:lnSpc>
              <a:spcBef>
                <a:spcPts val="0"/>
              </a:spcBef>
              <a:spcAft>
                <a:spcPts val="0"/>
              </a:spcAft>
              <a:buClr>
                <a:srgbClr val="EBECED"/>
              </a:buClr>
              <a:buSzPts val="1200"/>
              <a:buFont typeface="Calibri"/>
              <a:buNone/>
            </a:pPr>
            <a:r>
              <a:rPr b="0" i="0" lang="en-US" sz="1200" u="none" cap="none" strike="noStrike">
                <a:solidFill>
                  <a:srgbClr val="EBECED"/>
                </a:solidFill>
                <a:latin typeface="Calibri"/>
                <a:ea typeface="Calibri"/>
                <a:cs typeface="Calibri"/>
                <a:sym typeface="Calibri"/>
              </a:rPr>
              <a:t>36 propiedades se venden dos veces cruzando el corte: 73 filas, de las cuales 37 caen en 2017. Son 0,51% del conjunto de evaluación. La revalorización mediana entre ambas ventas es +7,2%, con rango de −12% a +102%: son reventas reales, no duplicados de registro.</a:t>
            </a:r>
            <a:endParaRPr b="0" i="0" sz="1200" u="none" cap="none" strike="noStrike">
              <a:solidFill>
                <a:schemeClr val="dk1"/>
              </a:solidFill>
              <a:latin typeface="Calibri"/>
              <a:ea typeface="Calibri"/>
              <a:cs typeface="Calibri"/>
              <a:sym typeface="Calibri"/>
            </a:endParaRPr>
          </a:p>
        </p:txBody>
      </p:sp>
      <p:sp>
        <p:nvSpPr>
          <p:cNvPr id="179" name="Google Shape;179;p9"/>
          <p:cNvSpPr/>
          <p:nvPr/>
        </p:nvSpPr>
        <p:spPr>
          <a:xfrm>
            <a:off x="8001000" y="1691640"/>
            <a:ext cx="35661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1100"/>
              <a:buFont typeface="Calibri"/>
              <a:buNone/>
            </a:pPr>
            <a:r>
              <a:rPr b="1" i="0" lang="en-US" sz="1100" u="none" cap="none" strike="noStrike">
                <a:solidFill>
                  <a:srgbClr val="E8A33D"/>
                </a:solidFill>
                <a:latin typeface="Calibri"/>
                <a:ea typeface="Calibri"/>
                <a:cs typeface="Calibri"/>
                <a:sym typeface="Calibri"/>
              </a:rPr>
              <a:t>LAS TRES SALIDAS</a:t>
            </a:r>
            <a:endParaRPr b="0" i="0" sz="1100" u="none" cap="none" strike="noStrike">
              <a:solidFill>
                <a:schemeClr val="dk1"/>
              </a:solidFill>
              <a:latin typeface="Calibri"/>
              <a:ea typeface="Calibri"/>
              <a:cs typeface="Calibri"/>
              <a:sym typeface="Calibri"/>
            </a:endParaRPr>
          </a:p>
        </p:txBody>
      </p:sp>
      <p:sp>
        <p:nvSpPr>
          <p:cNvPr id="180" name="Google Shape;180;p9"/>
          <p:cNvSpPr/>
          <p:nvPr/>
        </p:nvSpPr>
        <p:spPr>
          <a:xfrm>
            <a:off x="7863840" y="2084832"/>
            <a:ext cx="3703320" cy="1170432"/>
          </a:xfrm>
          <a:prstGeom prst="roundRect">
            <a:avLst>
              <a:gd fmla="val 6250" name="adj"/>
            </a:avLst>
          </a:prstGeom>
          <a:solidFill>
            <a:srgbClr val="1B22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9"/>
          <p:cNvSpPr/>
          <p:nvPr/>
        </p:nvSpPr>
        <p:spPr>
          <a:xfrm>
            <a:off x="8092440" y="2203704"/>
            <a:ext cx="32461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EB0B2"/>
              </a:buClr>
              <a:buSzPts val="1250"/>
              <a:buFont typeface="Calibri"/>
              <a:buNone/>
            </a:pPr>
            <a:r>
              <a:rPr b="1" i="0" lang="en-US" sz="1250" u="none" cap="none" strike="noStrike">
                <a:solidFill>
                  <a:srgbClr val="AEB0B2"/>
                </a:solidFill>
                <a:latin typeface="Calibri"/>
                <a:ea typeface="Calibri"/>
                <a:cs typeface="Calibri"/>
                <a:sym typeface="Calibri"/>
              </a:rPr>
              <a:t>Conservar y callar</a:t>
            </a:r>
            <a:endParaRPr b="0" i="0" sz="1250" u="none" cap="none" strike="noStrike">
              <a:solidFill>
                <a:schemeClr val="dk1"/>
              </a:solidFill>
              <a:latin typeface="Calibri"/>
              <a:ea typeface="Calibri"/>
              <a:cs typeface="Calibri"/>
              <a:sym typeface="Calibri"/>
            </a:endParaRPr>
          </a:p>
        </p:txBody>
      </p:sp>
      <p:sp>
        <p:nvSpPr>
          <p:cNvPr id="182" name="Google Shape;182;p9"/>
          <p:cNvSpPr/>
          <p:nvPr/>
        </p:nvSpPr>
        <p:spPr>
          <a:xfrm>
            <a:off x="8092440" y="2487168"/>
            <a:ext cx="3246120" cy="6858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838588"/>
              </a:buClr>
              <a:buSzPts val="1050"/>
              <a:buFont typeface="Calibri"/>
              <a:buNone/>
            </a:pPr>
            <a:r>
              <a:rPr b="0" i="0" lang="en-US" sz="1050" u="none" cap="none" strike="noStrike">
                <a:solidFill>
                  <a:srgbClr val="838588"/>
                </a:solidFill>
                <a:latin typeface="Calibri"/>
                <a:ea typeface="Calibri"/>
                <a:cs typeface="Calibri"/>
                <a:sym typeface="Calibri"/>
              </a:rPr>
              <a:t>Fuga real sobre el 0,51% de la evaluación. Indetectable en cualquier métrica agregada, e indefendible si preguntan.</a:t>
            </a:r>
            <a:endParaRPr b="0" i="0" sz="1050" u="none" cap="none" strike="noStrike">
              <a:solidFill>
                <a:schemeClr val="dk1"/>
              </a:solidFill>
              <a:latin typeface="Calibri"/>
              <a:ea typeface="Calibri"/>
              <a:cs typeface="Calibri"/>
              <a:sym typeface="Calibri"/>
            </a:endParaRPr>
          </a:p>
        </p:txBody>
      </p:sp>
      <p:sp>
        <p:nvSpPr>
          <p:cNvPr id="183" name="Google Shape;183;p9"/>
          <p:cNvSpPr/>
          <p:nvPr/>
        </p:nvSpPr>
        <p:spPr>
          <a:xfrm>
            <a:off x="7863840" y="3383280"/>
            <a:ext cx="3703320" cy="1170432"/>
          </a:xfrm>
          <a:prstGeom prst="roundRect">
            <a:avLst>
              <a:gd fmla="val 6250" name="adj"/>
            </a:avLst>
          </a:prstGeom>
          <a:solidFill>
            <a:srgbClr val="1B22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9"/>
          <p:cNvSpPr/>
          <p:nvPr/>
        </p:nvSpPr>
        <p:spPr>
          <a:xfrm>
            <a:off x="8092440" y="3502152"/>
            <a:ext cx="32461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EB0B2"/>
              </a:buClr>
              <a:buSzPts val="1250"/>
              <a:buFont typeface="Calibri"/>
              <a:buNone/>
            </a:pPr>
            <a:r>
              <a:rPr b="1" i="0" lang="en-US" sz="1250" u="none" cap="none" strike="noStrike">
                <a:solidFill>
                  <a:srgbClr val="AEB0B2"/>
                </a:solidFill>
                <a:latin typeface="Calibri"/>
                <a:ea typeface="Calibri"/>
                <a:cs typeface="Calibri"/>
                <a:sym typeface="Calibri"/>
              </a:rPr>
              <a:t>Excluir de 2017</a:t>
            </a:r>
            <a:endParaRPr b="0" i="0" sz="1250" u="none" cap="none" strike="noStrike">
              <a:solidFill>
                <a:schemeClr val="dk1"/>
              </a:solidFill>
              <a:latin typeface="Calibri"/>
              <a:ea typeface="Calibri"/>
              <a:cs typeface="Calibri"/>
              <a:sym typeface="Calibri"/>
            </a:endParaRPr>
          </a:p>
        </p:txBody>
      </p:sp>
      <p:sp>
        <p:nvSpPr>
          <p:cNvPr id="185" name="Google Shape;185;p9"/>
          <p:cNvSpPr/>
          <p:nvPr/>
        </p:nvSpPr>
        <p:spPr>
          <a:xfrm>
            <a:off x="8092440" y="3785616"/>
            <a:ext cx="3246120" cy="6858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838588"/>
              </a:buClr>
              <a:buSzPts val="1050"/>
              <a:buFont typeface="Calibri"/>
              <a:buNone/>
            </a:pPr>
            <a:r>
              <a:rPr b="0" i="0" lang="en-US" sz="1050" u="none" cap="none" strike="noStrike">
                <a:solidFill>
                  <a:srgbClr val="838588"/>
                </a:solidFill>
                <a:latin typeface="Calibri"/>
                <a:ea typeface="Calibri"/>
                <a:cs typeface="Calibri"/>
                <a:sym typeface="Calibri"/>
              </a:rPr>
              <a:t>Elimina la fuga por completo. Cuesta 37 filas: 7.244 baja a 7.207. Rompe la propiedad de que 2017 es todo 2017.</a:t>
            </a:r>
            <a:endParaRPr b="0" i="0" sz="1050" u="none" cap="none" strike="noStrike">
              <a:solidFill>
                <a:schemeClr val="dk1"/>
              </a:solidFill>
              <a:latin typeface="Calibri"/>
              <a:ea typeface="Calibri"/>
              <a:cs typeface="Calibri"/>
              <a:sym typeface="Calibri"/>
            </a:endParaRPr>
          </a:p>
        </p:txBody>
      </p:sp>
      <p:sp>
        <p:nvSpPr>
          <p:cNvPr id="186" name="Google Shape;186;p9"/>
          <p:cNvSpPr/>
          <p:nvPr/>
        </p:nvSpPr>
        <p:spPr>
          <a:xfrm>
            <a:off x="7863840" y="4681728"/>
            <a:ext cx="3703320" cy="1170432"/>
          </a:xfrm>
          <a:prstGeom prst="roundRect">
            <a:avLst>
              <a:gd fmla="val 6250" name="adj"/>
            </a:avLst>
          </a:prstGeom>
          <a:solidFill>
            <a:srgbClr val="3341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9"/>
          <p:cNvSpPr/>
          <p:nvPr/>
        </p:nvSpPr>
        <p:spPr>
          <a:xfrm>
            <a:off x="8092440" y="4800600"/>
            <a:ext cx="32461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1250"/>
              <a:buFont typeface="Calibri"/>
              <a:buNone/>
            </a:pPr>
            <a:r>
              <a:rPr b="1" i="0" lang="en-US" sz="1250" u="none" cap="none" strike="noStrike">
                <a:solidFill>
                  <a:srgbClr val="E8A33D"/>
                </a:solidFill>
                <a:latin typeface="Calibri"/>
                <a:ea typeface="Calibri"/>
                <a:cs typeface="Calibri"/>
                <a:sym typeface="Calibri"/>
              </a:rPr>
              <a:t>Reportar como estrato</a:t>
            </a:r>
            <a:endParaRPr b="0" i="0" sz="1250" u="none" cap="none" strike="noStrike">
              <a:solidFill>
                <a:schemeClr val="dk1"/>
              </a:solidFill>
              <a:latin typeface="Calibri"/>
              <a:ea typeface="Calibri"/>
              <a:cs typeface="Calibri"/>
              <a:sym typeface="Calibri"/>
            </a:endParaRPr>
          </a:p>
        </p:txBody>
      </p:sp>
      <p:sp>
        <p:nvSpPr>
          <p:cNvPr id="188" name="Google Shape;188;p9"/>
          <p:cNvSpPr/>
          <p:nvPr/>
        </p:nvSpPr>
        <p:spPr>
          <a:xfrm>
            <a:off x="8092440" y="5084064"/>
            <a:ext cx="3246120" cy="6858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EBECED"/>
              </a:buClr>
              <a:buSzPts val="1050"/>
              <a:buFont typeface="Calibri"/>
              <a:buNone/>
            </a:pPr>
            <a:r>
              <a:rPr b="0" i="0" lang="en-US" sz="1050" u="none" cap="none" strike="noStrike">
                <a:solidFill>
                  <a:srgbClr val="EBECED"/>
                </a:solidFill>
                <a:latin typeface="Calibri"/>
                <a:ea typeface="Calibri"/>
                <a:cs typeface="Calibri"/>
                <a:sym typeface="Calibri"/>
              </a:rPr>
              <a:t>Se informa la métrica global y la métrica sobre esas 37 filas por separado. Con n=37 no sostiene inferencia, y hay que decirlo.</a:t>
            </a:r>
            <a:endParaRPr b="0" i="0" sz="1050" u="none" cap="none" strike="noStrike">
              <a:solidFill>
                <a:schemeClr val="dk1"/>
              </a:solidFill>
              <a:latin typeface="Calibri"/>
              <a:ea typeface="Calibri"/>
              <a:cs typeface="Calibri"/>
              <a:sym typeface="Calibri"/>
            </a:endParaRPr>
          </a:p>
        </p:txBody>
      </p:sp>
      <p:sp>
        <p:nvSpPr>
          <p:cNvPr id="189" name="Google Shape;189;p9"/>
          <p:cNvSpPr/>
          <p:nvPr/>
        </p:nvSpPr>
        <p:spPr>
          <a:xfrm>
            <a:off x="7863840" y="5943600"/>
            <a:ext cx="370332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A33D"/>
              </a:buClr>
              <a:buSzPts val="1050"/>
              <a:buFont typeface="Calibri"/>
              <a:buNone/>
            </a:pPr>
            <a:r>
              <a:rPr b="1" i="0" lang="en-US" sz="1050" u="none" cap="none" strike="noStrike">
                <a:solidFill>
                  <a:srgbClr val="E8A33D"/>
                </a:solidFill>
                <a:latin typeface="Calibri"/>
                <a:ea typeface="Calibri"/>
                <a:cs typeface="Calibri"/>
                <a:sym typeface="Calibri"/>
              </a:rPr>
              <a:t>Adoptada</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61B"/>
        </a:solidFill>
      </p:bgPr>
    </p:bg>
    <p:spTree>
      <p:nvGrpSpPr>
        <p:cNvPr id="194" name="Shape 194"/>
        <p:cNvGrpSpPr/>
        <p:nvPr/>
      </p:nvGrpSpPr>
      <p:grpSpPr>
        <a:xfrm>
          <a:off x="0" y="0"/>
          <a:ext cx="0" cy="0"/>
          <a:chOff x="0" y="0"/>
          <a:chExt cx="0" cy="0"/>
        </a:xfrm>
      </p:grpSpPr>
      <p:sp>
        <p:nvSpPr>
          <p:cNvPr id="195" name="Google Shape;195;p10"/>
          <p:cNvSpPr/>
          <p:nvPr/>
        </p:nvSpPr>
        <p:spPr>
          <a:xfrm>
            <a:off x="594360" y="384048"/>
            <a:ext cx="106070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1100"/>
              <a:buFont typeface="Calibri"/>
              <a:buNone/>
            </a:pPr>
            <a:r>
              <a:rPr b="1" i="0" lang="en-US" sz="1100" u="none" cap="none" strike="noStrike">
                <a:solidFill>
                  <a:srgbClr val="E8A33D"/>
                </a:solidFill>
                <a:latin typeface="Calibri"/>
                <a:ea typeface="Calibri"/>
                <a:cs typeface="Calibri"/>
                <a:sym typeface="Calibri"/>
              </a:rPr>
              <a:t>LÍNEA BASE DE REFERENCIA</a:t>
            </a:r>
            <a:endParaRPr b="0" i="0" sz="1100" u="none" cap="none" strike="noStrike">
              <a:solidFill>
                <a:schemeClr val="dk1"/>
              </a:solidFill>
              <a:latin typeface="Calibri"/>
              <a:ea typeface="Calibri"/>
              <a:cs typeface="Calibri"/>
              <a:sym typeface="Calibri"/>
            </a:endParaRPr>
          </a:p>
        </p:txBody>
      </p:sp>
      <p:sp>
        <p:nvSpPr>
          <p:cNvPr id="196" name="Google Shape;196;p10"/>
          <p:cNvSpPr/>
          <p:nvPr/>
        </p:nvSpPr>
        <p:spPr>
          <a:xfrm>
            <a:off x="594360" y="658368"/>
            <a:ext cx="10881360"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BECED"/>
              </a:buClr>
              <a:buSzPts val="3000"/>
              <a:buFont typeface="Cambria"/>
              <a:buNone/>
            </a:pPr>
            <a:r>
              <a:rPr b="1" i="0" lang="en-US" sz="3000" u="none" cap="none" strike="noStrike">
                <a:solidFill>
                  <a:srgbClr val="EBECED"/>
                </a:solidFill>
                <a:latin typeface="Cambria"/>
                <a:ea typeface="Cambria"/>
                <a:cs typeface="Cambria"/>
                <a:sym typeface="Cambria"/>
              </a:rPr>
              <a:t>Cualquier modelo que no baje de 431.649 no aportó nada</a:t>
            </a:r>
            <a:endParaRPr b="0" i="0" sz="3000" u="none" cap="none" strike="noStrike">
              <a:solidFill>
                <a:schemeClr val="dk1"/>
              </a:solidFill>
              <a:latin typeface="Calibri"/>
              <a:ea typeface="Calibri"/>
              <a:cs typeface="Calibri"/>
              <a:sym typeface="Calibri"/>
            </a:endParaRPr>
          </a:p>
        </p:txBody>
      </p:sp>
      <p:graphicFrame>
        <p:nvGraphicFramePr>
          <p:cNvPr id="197" name="Google Shape;197;p10"/>
          <p:cNvGraphicFramePr/>
          <p:nvPr/>
        </p:nvGraphicFramePr>
        <p:xfrm>
          <a:off x="594360" y="1737360"/>
          <a:ext cx="3000000" cy="3000000"/>
        </p:xfrm>
        <a:graphic>
          <a:graphicData uri="http://schemas.openxmlformats.org/drawingml/2006/table">
            <a:tbl>
              <a:tblPr>
                <a:noFill/>
                <a:tableStyleId>{FFD97FC7-F411-43DF-BFE1-4147D78720D9}</a:tableStyleId>
              </a:tblPr>
              <a:tblGrid>
                <a:gridCol w="3657600"/>
                <a:gridCol w="1463050"/>
                <a:gridCol w="1508750"/>
              </a:tblGrid>
              <a:tr h="384050">
                <a:tc>
                  <a:txBody>
                    <a:bodyPr/>
                    <a:lstStyle/>
                    <a:p>
                      <a:pPr indent="0" lvl="0" marL="0" marR="0" rtl="0" algn="l">
                        <a:spcBef>
                          <a:spcPts val="0"/>
                        </a:spcBef>
                        <a:spcAft>
                          <a:spcPts val="0"/>
                        </a:spcAft>
                        <a:buClr>
                          <a:srgbClr val="EBECED"/>
                        </a:buClr>
                        <a:buSzPts val="1100"/>
                        <a:buFont typeface="Calibri"/>
                        <a:buNone/>
                      </a:pPr>
                      <a:r>
                        <a:rPr b="1" lang="en-US" sz="1100" u="none" cap="none" strike="noStrike">
                          <a:solidFill>
                            <a:srgbClr val="EBECED"/>
                          </a:solidFill>
                          <a:latin typeface="Calibri"/>
                          <a:ea typeface="Calibri"/>
                          <a:cs typeface="Calibri"/>
                          <a:sym typeface="Calibri"/>
                        </a:rPr>
                        <a:t>Predictor constante</a:t>
                      </a:r>
                      <a:endParaRPr sz="110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33414F"/>
                    </a:solidFill>
                  </a:tcPr>
                </a:tc>
                <a:tc>
                  <a:txBody>
                    <a:bodyPr/>
                    <a:lstStyle/>
                    <a:p>
                      <a:pPr indent="0" lvl="0" marL="0" marR="0" rtl="0" algn="r">
                        <a:spcBef>
                          <a:spcPts val="0"/>
                        </a:spcBef>
                        <a:spcAft>
                          <a:spcPts val="0"/>
                        </a:spcAft>
                        <a:buClr>
                          <a:srgbClr val="EBECED"/>
                        </a:buClr>
                        <a:buSzPts val="1100"/>
                        <a:buFont typeface="Calibri"/>
                        <a:buNone/>
                      </a:pPr>
                      <a:r>
                        <a:rPr b="1" lang="en-US" sz="1100" u="none" cap="none" strike="noStrike">
                          <a:solidFill>
                            <a:srgbClr val="EBECED"/>
                          </a:solidFill>
                          <a:latin typeface="Calibri"/>
                          <a:ea typeface="Calibri"/>
                          <a:cs typeface="Calibri"/>
                          <a:sym typeface="Calibri"/>
                        </a:rPr>
                        <a:t>MAE sobre 2017</a:t>
                      </a:r>
                      <a:endParaRPr sz="110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33414F"/>
                    </a:solidFill>
                  </a:tcPr>
                </a:tc>
                <a:tc>
                  <a:txBody>
                    <a:bodyPr/>
                    <a:lstStyle/>
                    <a:p>
                      <a:pPr indent="0" lvl="0" marL="0" marR="0" rtl="0" algn="r">
                        <a:spcBef>
                          <a:spcPts val="0"/>
                        </a:spcBef>
                        <a:spcAft>
                          <a:spcPts val="0"/>
                        </a:spcAft>
                        <a:buClr>
                          <a:srgbClr val="EBECED"/>
                        </a:buClr>
                        <a:buSzPts val="1100"/>
                        <a:buFont typeface="Calibri"/>
                        <a:buNone/>
                      </a:pPr>
                      <a:r>
                        <a:rPr b="1" lang="en-US" sz="1100" u="none" cap="none" strike="noStrike">
                          <a:solidFill>
                            <a:srgbClr val="EBECED"/>
                          </a:solidFill>
                          <a:latin typeface="Calibri"/>
                          <a:ea typeface="Calibri"/>
                          <a:cs typeface="Calibri"/>
                          <a:sym typeface="Calibri"/>
                        </a:rPr>
                        <a:t>Lectura</a:t>
                      </a:r>
                      <a:endParaRPr sz="110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33414F"/>
                    </a:solidFill>
                  </a:tcPr>
                </a:tc>
              </a:tr>
              <a:tr h="384050">
                <a:tc>
                  <a:txBody>
                    <a:bodyPr/>
                    <a:lstStyle/>
                    <a:p>
                      <a:pPr indent="0" lvl="0" marL="0" marR="0" rtl="0" algn="l">
                        <a:spcBef>
                          <a:spcPts val="0"/>
                        </a:spcBef>
                        <a:spcAft>
                          <a:spcPts val="0"/>
                        </a:spcAft>
                        <a:buClr>
                          <a:srgbClr val="EBECED"/>
                        </a:buClr>
                        <a:buSzPts val="1150"/>
                        <a:buFont typeface="Calibri"/>
                        <a:buNone/>
                      </a:pPr>
                      <a:r>
                        <a:rPr lang="en-US" sz="1150" u="none" cap="none" strike="noStrike">
                          <a:solidFill>
                            <a:srgbClr val="EBECED"/>
                          </a:solidFill>
                          <a:latin typeface="Calibri"/>
                          <a:ea typeface="Calibri"/>
                          <a:cs typeface="Calibri"/>
                          <a:sym typeface="Calibri"/>
                        </a:rPr>
                        <a:t>Mediana de 2016 (la cota honesta)</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12161B"/>
                    </a:solidFill>
                  </a:tcPr>
                </a:tc>
                <a:tc>
                  <a:txBody>
                    <a:bodyPr/>
                    <a:lstStyle/>
                    <a:p>
                      <a:pPr indent="0" lvl="0" marL="0" marR="0" rtl="0" algn="r">
                        <a:spcBef>
                          <a:spcPts val="0"/>
                        </a:spcBef>
                        <a:spcAft>
                          <a:spcPts val="0"/>
                        </a:spcAft>
                        <a:buClr>
                          <a:srgbClr val="E8A33D"/>
                        </a:buClr>
                        <a:buSzPts val="1150"/>
                        <a:buFont typeface="Calibri"/>
                        <a:buNone/>
                      </a:pPr>
                      <a:r>
                        <a:rPr b="1" lang="en-US" sz="1150" u="none" cap="none" strike="noStrike">
                          <a:solidFill>
                            <a:srgbClr val="E8A33D"/>
                          </a:solidFill>
                          <a:latin typeface="Calibri"/>
                          <a:ea typeface="Calibri"/>
                          <a:cs typeface="Calibri"/>
                          <a:sym typeface="Calibri"/>
                        </a:rPr>
                        <a:t>431.649</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12161B"/>
                    </a:solidFill>
                  </a:tcPr>
                </a:tc>
                <a:tc>
                  <a:txBody>
                    <a:bodyPr/>
                    <a:lstStyle/>
                    <a:p>
                      <a:pPr indent="0" lvl="0" marL="0" marR="0" rtl="0" algn="r">
                        <a:spcBef>
                          <a:spcPts val="0"/>
                        </a:spcBef>
                        <a:spcAft>
                          <a:spcPts val="0"/>
                        </a:spcAft>
                        <a:buClr>
                          <a:srgbClr val="EBECED"/>
                        </a:buClr>
                        <a:buSzPts val="1150"/>
                        <a:buFont typeface="Calibri"/>
                        <a:buNone/>
                      </a:pPr>
                      <a:r>
                        <a:rPr lang="en-US" sz="1150" u="none" cap="none" strike="noStrike">
                          <a:solidFill>
                            <a:srgbClr val="EBECED"/>
                          </a:solidFill>
                          <a:latin typeface="Calibri"/>
                          <a:ea typeface="Calibri"/>
                          <a:cs typeface="Calibri"/>
                          <a:sym typeface="Calibri"/>
                        </a:rPr>
                        <a:t>referencia</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12161B"/>
                    </a:solidFill>
                  </a:tcPr>
                </a:tc>
              </a:tr>
              <a:tr h="384050">
                <a:tc>
                  <a:txBody>
                    <a:bodyPr/>
                    <a:lstStyle/>
                    <a:p>
                      <a:pPr indent="0" lvl="0" marL="0" marR="0" rtl="0" algn="l">
                        <a:spcBef>
                          <a:spcPts val="0"/>
                        </a:spcBef>
                        <a:spcAft>
                          <a:spcPts val="0"/>
                        </a:spcAft>
                        <a:buClr>
                          <a:srgbClr val="EBECED"/>
                        </a:buClr>
                        <a:buSzPts val="1150"/>
                        <a:buFont typeface="Calibri"/>
                        <a:buNone/>
                      </a:pPr>
                      <a:r>
                        <a:rPr lang="en-US" sz="1150" u="none" cap="none" strike="noStrike">
                          <a:solidFill>
                            <a:srgbClr val="EBECED"/>
                          </a:solidFill>
                          <a:latin typeface="Calibri"/>
                          <a:ea typeface="Calibri"/>
                          <a:cs typeface="Calibri"/>
                          <a:sym typeface="Calibri"/>
                        </a:rPr>
                        <a:t>Mediana de 2017 (oráculo, no computable)</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1B222B"/>
                    </a:solidFill>
                  </a:tcPr>
                </a:tc>
                <a:tc>
                  <a:txBody>
                    <a:bodyPr/>
                    <a:lstStyle/>
                    <a:p>
                      <a:pPr indent="0" lvl="0" marL="0" marR="0" rtl="0" algn="r">
                        <a:spcBef>
                          <a:spcPts val="0"/>
                        </a:spcBef>
                        <a:spcAft>
                          <a:spcPts val="0"/>
                        </a:spcAft>
                        <a:buClr>
                          <a:srgbClr val="EBECED"/>
                        </a:buClr>
                        <a:buSzPts val="1150"/>
                        <a:buFont typeface="Calibri"/>
                        <a:buNone/>
                      </a:pPr>
                      <a:r>
                        <a:rPr b="1" lang="en-US" sz="1150" u="none" cap="none" strike="noStrike">
                          <a:solidFill>
                            <a:srgbClr val="EBECED"/>
                          </a:solidFill>
                          <a:latin typeface="Calibri"/>
                          <a:ea typeface="Calibri"/>
                          <a:cs typeface="Calibri"/>
                          <a:sym typeface="Calibri"/>
                        </a:rPr>
                        <a:t>431.564</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1B222B"/>
                    </a:solidFill>
                  </a:tcPr>
                </a:tc>
                <a:tc>
                  <a:txBody>
                    <a:bodyPr/>
                    <a:lstStyle/>
                    <a:p>
                      <a:pPr indent="0" lvl="0" marL="0" marR="0" rtl="0" algn="r">
                        <a:spcBef>
                          <a:spcPts val="0"/>
                        </a:spcBef>
                        <a:spcAft>
                          <a:spcPts val="0"/>
                        </a:spcAft>
                        <a:buClr>
                          <a:srgbClr val="EBECED"/>
                        </a:buClr>
                        <a:buSzPts val="1150"/>
                        <a:buFont typeface="Calibri"/>
                        <a:buNone/>
                      </a:pPr>
                      <a:r>
                        <a:rPr lang="en-US" sz="1150" u="none" cap="none" strike="noStrike">
                          <a:solidFill>
                            <a:srgbClr val="EBECED"/>
                          </a:solidFill>
                          <a:latin typeface="Calibri"/>
                          <a:ea typeface="Calibri"/>
                          <a:cs typeface="Calibri"/>
                          <a:sym typeface="Calibri"/>
                        </a:rPr>
                        <a:t>piso teórico</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1B222B"/>
                    </a:solidFill>
                  </a:tcPr>
                </a:tc>
              </a:tr>
              <a:tr h="384050">
                <a:tc>
                  <a:txBody>
                    <a:bodyPr/>
                    <a:lstStyle/>
                    <a:p>
                      <a:pPr indent="0" lvl="0" marL="0" marR="0" rtl="0" algn="l">
                        <a:spcBef>
                          <a:spcPts val="0"/>
                        </a:spcBef>
                        <a:spcAft>
                          <a:spcPts val="0"/>
                        </a:spcAft>
                        <a:buClr>
                          <a:srgbClr val="EBECED"/>
                        </a:buClr>
                        <a:buSzPts val="1150"/>
                        <a:buFont typeface="Calibri"/>
                        <a:buNone/>
                      </a:pPr>
                      <a:r>
                        <a:rPr lang="en-US" sz="1150" u="none" cap="none" strike="noStrike">
                          <a:solidFill>
                            <a:srgbClr val="EBECED"/>
                          </a:solidFill>
                          <a:latin typeface="Calibri"/>
                          <a:ea typeface="Calibri"/>
                          <a:cs typeface="Calibri"/>
                          <a:sym typeface="Calibri"/>
                        </a:rPr>
                        <a:t>Mediana de 2016 sobre 2016 (in-sample)</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12161B"/>
                    </a:solidFill>
                  </a:tcPr>
                </a:tc>
                <a:tc>
                  <a:txBody>
                    <a:bodyPr/>
                    <a:lstStyle/>
                    <a:p>
                      <a:pPr indent="0" lvl="0" marL="0" marR="0" rtl="0" algn="r">
                        <a:spcBef>
                          <a:spcPts val="0"/>
                        </a:spcBef>
                        <a:spcAft>
                          <a:spcPts val="0"/>
                        </a:spcAft>
                        <a:buClr>
                          <a:srgbClr val="EBECED"/>
                        </a:buClr>
                        <a:buSzPts val="1150"/>
                        <a:buFont typeface="Calibri"/>
                        <a:buNone/>
                      </a:pPr>
                      <a:r>
                        <a:rPr b="1" lang="en-US" sz="1150" u="none" cap="none" strike="noStrike">
                          <a:solidFill>
                            <a:srgbClr val="EBECED"/>
                          </a:solidFill>
                          <a:latin typeface="Calibri"/>
                          <a:ea typeface="Calibri"/>
                          <a:cs typeface="Calibri"/>
                          <a:sym typeface="Calibri"/>
                        </a:rPr>
                        <a:t>449.122</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12161B"/>
                    </a:solidFill>
                  </a:tcPr>
                </a:tc>
                <a:tc>
                  <a:txBody>
                    <a:bodyPr/>
                    <a:lstStyle/>
                    <a:p>
                      <a:pPr indent="0" lvl="0" marL="0" marR="0" rtl="0" algn="r">
                        <a:spcBef>
                          <a:spcPts val="0"/>
                        </a:spcBef>
                        <a:spcAft>
                          <a:spcPts val="0"/>
                        </a:spcAft>
                        <a:buClr>
                          <a:srgbClr val="EBECED"/>
                        </a:buClr>
                        <a:buSzPts val="1150"/>
                        <a:buFont typeface="Calibri"/>
                        <a:buNone/>
                      </a:pPr>
                      <a:r>
                        <a:rPr lang="en-US" sz="1150" u="none" cap="none" strike="noStrike">
                          <a:solidFill>
                            <a:srgbClr val="EBECED"/>
                          </a:solidFill>
                          <a:latin typeface="Calibri"/>
                          <a:ea typeface="Calibri"/>
                          <a:cs typeface="Calibri"/>
                          <a:sym typeface="Calibri"/>
                        </a:rPr>
                        <a:t>contraste</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12161B"/>
                    </a:solidFill>
                  </a:tcPr>
                </a:tc>
              </a:tr>
              <a:tr h="384050">
                <a:tc>
                  <a:txBody>
                    <a:bodyPr/>
                    <a:lstStyle/>
                    <a:p>
                      <a:pPr indent="0" lvl="0" marL="0" marR="0" rtl="0" algn="l">
                        <a:spcBef>
                          <a:spcPts val="0"/>
                        </a:spcBef>
                        <a:spcAft>
                          <a:spcPts val="0"/>
                        </a:spcAft>
                        <a:buClr>
                          <a:srgbClr val="EBECED"/>
                        </a:buClr>
                        <a:buSzPts val="1150"/>
                        <a:buFont typeface="Calibri"/>
                        <a:buNone/>
                      </a:pPr>
                      <a:r>
                        <a:rPr lang="en-US" sz="1150" u="none" cap="none" strike="noStrike">
                          <a:solidFill>
                            <a:srgbClr val="EBECED"/>
                          </a:solidFill>
                          <a:latin typeface="Calibri"/>
                          <a:ea typeface="Calibri"/>
                          <a:cs typeface="Calibri"/>
                          <a:sym typeface="Calibri"/>
                        </a:rPr>
                        <a:t>Mediana de 2016 por Type (fuera de alcance)</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1B222B"/>
                    </a:solidFill>
                  </a:tcPr>
                </a:tc>
                <a:tc>
                  <a:txBody>
                    <a:bodyPr/>
                    <a:lstStyle/>
                    <a:p>
                      <a:pPr indent="0" lvl="0" marL="0" marR="0" rtl="0" algn="r">
                        <a:spcBef>
                          <a:spcPts val="0"/>
                        </a:spcBef>
                        <a:spcAft>
                          <a:spcPts val="0"/>
                        </a:spcAft>
                        <a:buClr>
                          <a:srgbClr val="EBECED"/>
                        </a:buClr>
                        <a:buSzPts val="1150"/>
                        <a:buFont typeface="Calibri"/>
                        <a:buNone/>
                      </a:pPr>
                      <a:r>
                        <a:rPr b="1" lang="en-US" sz="1150" u="none" cap="none" strike="noStrike">
                          <a:solidFill>
                            <a:srgbClr val="EBECED"/>
                          </a:solidFill>
                          <a:latin typeface="Calibri"/>
                          <a:ea typeface="Calibri"/>
                          <a:cs typeface="Calibri"/>
                          <a:sym typeface="Calibri"/>
                        </a:rPr>
                        <a:t>394.385</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1B222B"/>
                    </a:solidFill>
                  </a:tcPr>
                </a:tc>
                <a:tc>
                  <a:txBody>
                    <a:bodyPr/>
                    <a:lstStyle/>
                    <a:p>
                      <a:pPr indent="0" lvl="0" marL="0" marR="0" rtl="0" algn="r">
                        <a:spcBef>
                          <a:spcPts val="0"/>
                        </a:spcBef>
                        <a:spcAft>
                          <a:spcPts val="0"/>
                        </a:spcAft>
                        <a:buClr>
                          <a:srgbClr val="EBECED"/>
                        </a:buClr>
                        <a:buSzPts val="1150"/>
                        <a:buFont typeface="Calibri"/>
                        <a:buNone/>
                      </a:pPr>
                      <a:r>
                        <a:rPr lang="en-US" sz="1150" u="none" cap="none" strike="noStrike">
                          <a:solidFill>
                            <a:srgbClr val="EBECED"/>
                          </a:solidFill>
                          <a:latin typeface="Calibri"/>
                          <a:ea typeface="Calibri"/>
                          <a:cs typeface="Calibri"/>
                          <a:sym typeface="Calibri"/>
                        </a:rPr>
                        <a:t>ya es un modelo</a:t>
                      </a:r>
                      <a:endParaRPr sz="1150" u="none" cap="none" strike="noStrike">
                        <a:latin typeface="Calibri"/>
                        <a:ea typeface="Calibri"/>
                        <a:cs typeface="Calibri"/>
                        <a:sym typeface="Calibri"/>
                      </a:endParaRPr>
                    </a:p>
                  </a:txBody>
                  <a:tcPr marT="63500" marB="63500" marR="63500" marL="63500" anchor="ctr">
                    <a:lnL cap="flat" cmpd="sng" w="9525">
                      <a:solidFill>
                        <a:srgbClr val="3D4145"/>
                      </a:solidFill>
                      <a:prstDash val="solid"/>
                      <a:round/>
                      <a:headEnd len="sm" w="sm" type="none"/>
                      <a:tailEnd len="sm" w="sm" type="none"/>
                    </a:lnL>
                    <a:lnR cap="flat" cmpd="sng" w="9525">
                      <a:solidFill>
                        <a:srgbClr val="3D4145"/>
                      </a:solidFill>
                      <a:prstDash val="solid"/>
                      <a:round/>
                      <a:headEnd len="sm" w="sm" type="none"/>
                      <a:tailEnd len="sm" w="sm" type="none"/>
                    </a:lnR>
                    <a:lnT cap="flat" cmpd="sng" w="9525">
                      <a:solidFill>
                        <a:srgbClr val="3D4145"/>
                      </a:solidFill>
                      <a:prstDash val="solid"/>
                      <a:round/>
                      <a:headEnd len="sm" w="sm" type="none"/>
                      <a:tailEnd len="sm" w="sm" type="none"/>
                    </a:lnT>
                    <a:lnB cap="flat" cmpd="sng" w="9525">
                      <a:solidFill>
                        <a:srgbClr val="3D4145"/>
                      </a:solidFill>
                      <a:prstDash val="solid"/>
                      <a:round/>
                      <a:headEnd len="sm" w="sm" type="none"/>
                      <a:tailEnd len="sm" w="sm" type="none"/>
                    </a:lnB>
                    <a:solidFill>
                      <a:srgbClr val="1B222B"/>
                    </a:solidFill>
                  </a:tcPr>
                </a:tc>
              </a:tr>
            </a:tbl>
          </a:graphicData>
        </a:graphic>
      </p:graphicFrame>
      <p:sp>
        <p:nvSpPr>
          <p:cNvPr id="198" name="Google Shape;198;p10"/>
          <p:cNvSpPr/>
          <p:nvPr/>
        </p:nvSpPr>
        <p:spPr>
          <a:xfrm>
            <a:off x="594360" y="3794760"/>
            <a:ext cx="6629400" cy="1965960"/>
          </a:xfrm>
          <a:prstGeom prst="roundRect">
            <a:avLst>
              <a:gd fmla="val 3721" name="adj"/>
            </a:avLst>
          </a:prstGeom>
          <a:solidFill>
            <a:srgbClr val="242E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0"/>
          <p:cNvSpPr/>
          <p:nvPr/>
        </p:nvSpPr>
        <p:spPr>
          <a:xfrm>
            <a:off x="868680" y="3977640"/>
            <a:ext cx="5029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1100"/>
              <a:buFont typeface="Calibri"/>
              <a:buNone/>
            </a:pPr>
            <a:r>
              <a:rPr b="1" i="0" lang="en-US" sz="1100" u="none" cap="none" strike="noStrike">
                <a:solidFill>
                  <a:srgbClr val="E8A33D"/>
                </a:solidFill>
                <a:latin typeface="Calibri"/>
                <a:ea typeface="Calibri"/>
                <a:cs typeface="Calibri"/>
                <a:sym typeface="Calibri"/>
              </a:rPr>
              <a:t>LO QUE LA DESCOMPOSICIÓN DEMUESTRA</a:t>
            </a:r>
            <a:endParaRPr b="0" i="0" sz="1100" u="none" cap="none" strike="noStrike">
              <a:solidFill>
                <a:schemeClr val="dk1"/>
              </a:solidFill>
              <a:latin typeface="Calibri"/>
              <a:ea typeface="Calibri"/>
              <a:cs typeface="Calibri"/>
              <a:sym typeface="Calibri"/>
            </a:endParaRPr>
          </a:p>
        </p:txBody>
      </p:sp>
      <p:sp>
        <p:nvSpPr>
          <p:cNvPr id="200" name="Google Shape;200;p10"/>
          <p:cNvSpPr/>
          <p:nvPr/>
        </p:nvSpPr>
        <p:spPr>
          <a:xfrm>
            <a:off x="868680" y="4297680"/>
            <a:ext cx="6126480" cy="1280160"/>
          </a:xfrm>
          <a:prstGeom prst="rect">
            <a:avLst/>
          </a:prstGeom>
          <a:noFill/>
          <a:ln>
            <a:noFill/>
          </a:ln>
        </p:spPr>
        <p:txBody>
          <a:bodyPr anchorCtr="0" anchor="ctr" bIns="0" lIns="0" spcFirstLastPara="1" rIns="0" wrap="square" tIns="0">
            <a:noAutofit/>
          </a:bodyPr>
          <a:lstStyle/>
          <a:p>
            <a:pPr indent="0" lvl="0" marL="0" marR="0" rtl="0" algn="l">
              <a:lnSpc>
                <a:spcPct val="141666"/>
              </a:lnSpc>
              <a:spcBef>
                <a:spcPts val="0"/>
              </a:spcBef>
              <a:spcAft>
                <a:spcPts val="0"/>
              </a:spcAft>
              <a:buClr>
                <a:srgbClr val="EBECED"/>
              </a:buClr>
              <a:buSzPts val="1200"/>
              <a:buFont typeface="Calibri"/>
              <a:buNone/>
            </a:pPr>
            <a:r>
              <a:rPr b="0" i="0" lang="en-US" sz="1200" u="none" cap="none" strike="noStrike">
                <a:solidFill>
                  <a:srgbClr val="EBECED"/>
                </a:solidFill>
                <a:latin typeface="Calibri"/>
                <a:ea typeface="Calibri"/>
                <a:cs typeface="Calibri"/>
                <a:sym typeface="Calibri"/>
              </a:rPr>
              <a:t>Entre la constante honesta y la constante que conoce el futuro hay 85 unidades sobre 431.649, un 0,02% del error. Casi todo el error de la cota es dispersión entre propiedades del mismo año, no deriva entre años. Con desviación estándar de 629.742 en 2017, ahí está el margen que un modelo tiene que ganar.</a:t>
            </a:r>
            <a:endParaRPr b="0" i="0" sz="1200" u="none" cap="none" strike="noStrike">
              <a:solidFill>
                <a:schemeClr val="dk1"/>
              </a:solidFill>
              <a:latin typeface="Calibri"/>
              <a:ea typeface="Calibri"/>
              <a:cs typeface="Calibri"/>
              <a:sym typeface="Calibri"/>
            </a:endParaRPr>
          </a:p>
        </p:txBody>
      </p:sp>
      <p:sp>
        <p:nvSpPr>
          <p:cNvPr id="201" name="Google Shape;201;p10"/>
          <p:cNvSpPr/>
          <p:nvPr/>
        </p:nvSpPr>
        <p:spPr>
          <a:xfrm>
            <a:off x="7635240" y="1737360"/>
            <a:ext cx="3931920" cy="2103120"/>
          </a:xfrm>
          <a:prstGeom prst="roundRect">
            <a:avLst>
              <a:gd fmla="val 3478" name="adj"/>
            </a:avLst>
          </a:prstGeom>
          <a:solidFill>
            <a:srgbClr val="3341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0"/>
          <p:cNvSpPr/>
          <p:nvPr/>
        </p:nvSpPr>
        <p:spPr>
          <a:xfrm>
            <a:off x="7882128" y="1920240"/>
            <a:ext cx="347472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6000"/>
              <a:buFont typeface="Cambria"/>
              <a:buNone/>
            </a:pPr>
            <a:r>
              <a:rPr b="1" i="0" lang="en-US" sz="6000" u="none" cap="none" strike="noStrike">
                <a:solidFill>
                  <a:srgbClr val="E8A33D"/>
                </a:solidFill>
                <a:latin typeface="Cambria"/>
                <a:ea typeface="Cambria"/>
                <a:cs typeface="Cambria"/>
                <a:sym typeface="Cambria"/>
              </a:rPr>
              <a:t>85</a:t>
            </a:r>
            <a:endParaRPr b="0" i="0" sz="6000" u="none" cap="none" strike="noStrike">
              <a:solidFill>
                <a:schemeClr val="dk1"/>
              </a:solidFill>
              <a:latin typeface="Calibri"/>
              <a:ea typeface="Calibri"/>
              <a:cs typeface="Calibri"/>
              <a:sym typeface="Calibri"/>
            </a:endParaRPr>
          </a:p>
        </p:txBody>
      </p:sp>
      <p:sp>
        <p:nvSpPr>
          <p:cNvPr id="203" name="Google Shape;203;p10"/>
          <p:cNvSpPr/>
          <p:nvPr/>
        </p:nvSpPr>
        <p:spPr>
          <a:xfrm>
            <a:off x="7882128" y="2834640"/>
            <a:ext cx="3474720" cy="86868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EBECED"/>
              </a:buClr>
              <a:buSzPts val="1250"/>
              <a:buFont typeface="Calibri"/>
              <a:buNone/>
            </a:pPr>
            <a:r>
              <a:rPr b="0" i="0" lang="en-US" sz="1250" u="none" cap="none" strike="noStrike">
                <a:solidFill>
                  <a:srgbClr val="EBECED"/>
                </a:solidFill>
                <a:latin typeface="Calibri"/>
                <a:ea typeface="Calibri"/>
                <a:cs typeface="Calibri"/>
                <a:sym typeface="Calibri"/>
              </a:rPr>
              <a:t>unidades separan al mejor predictor constante posible del que solo usa información de 2016.</a:t>
            </a:r>
            <a:endParaRPr b="0" i="0" sz="1250" u="none" cap="none" strike="noStrike">
              <a:solidFill>
                <a:schemeClr val="dk1"/>
              </a:solidFill>
              <a:latin typeface="Calibri"/>
              <a:ea typeface="Calibri"/>
              <a:cs typeface="Calibri"/>
              <a:sym typeface="Calibri"/>
            </a:endParaRPr>
          </a:p>
        </p:txBody>
      </p:sp>
      <p:sp>
        <p:nvSpPr>
          <p:cNvPr id="204" name="Google Shape;204;p10"/>
          <p:cNvSpPr/>
          <p:nvPr/>
        </p:nvSpPr>
        <p:spPr>
          <a:xfrm>
            <a:off x="7635240" y="3977640"/>
            <a:ext cx="3931920" cy="1783080"/>
          </a:xfrm>
          <a:prstGeom prst="roundRect">
            <a:avLst>
              <a:gd fmla="val 4103" name="adj"/>
            </a:avLst>
          </a:prstGeom>
          <a:solidFill>
            <a:srgbClr val="1B22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0"/>
          <p:cNvSpPr/>
          <p:nvPr/>
        </p:nvSpPr>
        <p:spPr>
          <a:xfrm>
            <a:off x="7882128" y="4142232"/>
            <a:ext cx="3474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1100"/>
              <a:buFont typeface="Calibri"/>
              <a:buNone/>
            </a:pPr>
            <a:r>
              <a:rPr b="1" i="0" lang="en-US" sz="1100" u="none" cap="none" strike="noStrike">
                <a:solidFill>
                  <a:srgbClr val="E8A33D"/>
                </a:solidFill>
                <a:latin typeface="Calibri"/>
                <a:ea typeface="Calibri"/>
                <a:cs typeface="Calibri"/>
                <a:sym typeface="Calibri"/>
              </a:rPr>
              <a:t>UNA COTA QUE NO SE REPORTA</a:t>
            </a:r>
            <a:endParaRPr b="0" i="0" sz="1100" u="none" cap="none" strike="noStrike">
              <a:solidFill>
                <a:schemeClr val="dk1"/>
              </a:solidFill>
              <a:latin typeface="Calibri"/>
              <a:ea typeface="Calibri"/>
              <a:cs typeface="Calibri"/>
              <a:sym typeface="Calibri"/>
            </a:endParaRPr>
          </a:p>
        </p:txBody>
      </p:sp>
      <p:sp>
        <p:nvSpPr>
          <p:cNvPr id="206" name="Google Shape;206;p10"/>
          <p:cNvSpPr/>
          <p:nvPr/>
        </p:nvSpPr>
        <p:spPr>
          <a:xfrm>
            <a:off x="7882128" y="4462272"/>
            <a:ext cx="3474720" cy="1188720"/>
          </a:xfrm>
          <a:prstGeom prst="rect">
            <a:avLst/>
          </a:prstGeom>
          <a:noFill/>
          <a:ln>
            <a:noFill/>
          </a:ln>
        </p:spPr>
        <p:txBody>
          <a:bodyPr anchorCtr="0" anchor="ctr" bIns="0" lIns="0" spcFirstLastPara="1" rIns="0" wrap="square" tIns="0">
            <a:noAutofit/>
          </a:bodyPr>
          <a:lstStyle/>
          <a:p>
            <a:pPr indent="0" lvl="0" marL="0" marR="0" rtl="0" algn="l">
              <a:lnSpc>
                <a:spcPct val="139130"/>
              </a:lnSpc>
              <a:spcBef>
                <a:spcPts val="0"/>
              </a:spcBef>
              <a:spcAft>
                <a:spcPts val="0"/>
              </a:spcAft>
              <a:buClr>
                <a:srgbClr val="AEB0B2"/>
              </a:buClr>
              <a:buSzPts val="1150"/>
              <a:buFont typeface="Calibri"/>
              <a:buNone/>
            </a:pPr>
            <a:r>
              <a:rPr b="0" i="0" lang="en-US" sz="1150" u="none" cap="none" strike="noStrike">
                <a:solidFill>
                  <a:srgbClr val="AEB0B2"/>
                </a:solidFill>
                <a:latin typeface="Calibri"/>
                <a:ea typeface="Calibri"/>
                <a:cs typeface="Calibri"/>
                <a:sym typeface="Calibri"/>
              </a:rPr>
              <a:t>Intentamos la mediana por Suburb: el mapeo dejó 2.109 filas de 2017 sin valor. Es el problema de niveles no vistos manifestándose en el modelo más simple imaginable. Sirve como demostración, no como cifra.</a:t>
            </a:r>
            <a:endParaRPr b="0" i="0" sz="1150" u="none" cap="none" strike="noStrike">
              <a:solidFill>
                <a:schemeClr val="dk1"/>
              </a:solidFill>
              <a:latin typeface="Calibri"/>
              <a:ea typeface="Calibri"/>
              <a:cs typeface="Calibri"/>
              <a:sym typeface="Calibri"/>
            </a:endParaRPr>
          </a:p>
        </p:txBody>
      </p:sp>
      <p:sp>
        <p:nvSpPr>
          <p:cNvPr id="207" name="Google Shape;207;p10"/>
          <p:cNvSpPr/>
          <p:nvPr/>
        </p:nvSpPr>
        <p:spPr>
          <a:xfrm>
            <a:off x="594360" y="6144768"/>
            <a:ext cx="10881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38588"/>
              </a:buClr>
              <a:buSzPts val="1000"/>
              <a:buFont typeface="Calibri"/>
              <a:buNone/>
            </a:pPr>
            <a:r>
              <a:rPr b="0" i="1" lang="en-US" sz="1000" u="none" cap="none" strike="noStrike">
                <a:solidFill>
                  <a:srgbClr val="838588"/>
                </a:solidFill>
                <a:latin typeface="Calibri"/>
                <a:ea typeface="Calibri"/>
                <a:cs typeface="Calibri"/>
                <a:sym typeface="Calibri"/>
              </a:rPr>
              <a:t>Fuente: anclaje.json · clave cota. MAE = error absoluto medio en unidades de Price. La fila por Type se muestra como contraste y no como línea base del hito.</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61B"/>
        </a:solidFill>
      </p:bgPr>
    </p:bg>
    <p:spTree>
      <p:nvGrpSpPr>
        <p:cNvPr id="212" name="Shape 212"/>
        <p:cNvGrpSpPr/>
        <p:nvPr/>
      </p:nvGrpSpPr>
      <p:grpSpPr>
        <a:xfrm>
          <a:off x="0" y="0"/>
          <a:ext cx="0" cy="0"/>
          <a:chOff x="0" y="0"/>
          <a:chExt cx="0" cy="0"/>
        </a:xfrm>
      </p:grpSpPr>
      <p:sp>
        <p:nvSpPr>
          <p:cNvPr id="213" name="Google Shape;213;p11"/>
          <p:cNvSpPr/>
          <p:nvPr/>
        </p:nvSpPr>
        <p:spPr>
          <a:xfrm>
            <a:off x="-1645920" y="4206240"/>
            <a:ext cx="4023360" cy="4023360"/>
          </a:xfrm>
          <a:prstGeom prst="ellipse">
            <a:avLst/>
          </a:prstGeom>
          <a:solidFill>
            <a:srgbClr val="242E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1"/>
          <p:cNvSpPr/>
          <p:nvPr/>
        </p:nvSpPr>
        <p:spPr>
          <a:xfrm>
            <a:off x="594360" y="10058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1200"/>
              <a:buFont typeface="Calibri"/>
              <a:buNone/>
            </a:pPr>
            <a:r>
              <a:rPr b="1" i="0" lang="en-US" sz="1200" u="none" cap="none" strike="noStrike">
                <a:solidFill>
                  <a:srgbClr val="E8A33D"/>
                </a:solidFill>
                <a:latin typeface="Calibri"/>
                <a:ea typeface="Calibri"/>
                <a:cs typeface="Calibri"/>
                <a:sym typeface="Calibri"/>
              </a:rPr>
              <a:t>LA HIPÓTESIS QUE EL EDA SOSTIENE</a:t>
            </a:r>
            <a:endParaRPr b="0" i="0" sz="1200" u="none" cap="none" strike="noStrike">
              <a:solidFill>
                <a:schemeClr val="dk1"/>
              </a:solidFill>
              <a:latin typeface="Calibri"/>
              <a:ea typeface="Calibri"/>
              <a:cs typeface="Calibri"/>
              <a:sym typeface="Calibri"/>
            </a:endParaRPr>
          </a:p>
        </p:txBody>
      </p:sp>
      <p:sp>
        <p:nvSpPr>
          <p:cNvPr id="215" name="Google Shape;215;p11"/>
          <p:cNvSpPr/>
          <p:nvPr/>
        </p:nvSpPr>
        <p:spPr>
          <a:xfrm>
            <a:off x="594360" y="1417320"/>
            <a:ext cx="7589520" cy="1828800"/>
          </a:xfrm>
          <a:prstGeom prst="rect">
            <a:avLst/>
          </a:prstGeom>
          <a:noFill/>
          <a:ln>
            <a:noFill/>
          </a:ln>
        </p:spPr>
        <p:txBody>
          <a:bodyPr anchorCtr="0" anchor="ctr" bIns="0" lIns="0" spcFirstLastPara="1" rIns="0" wrap="square" tIns="0">
            <a:noAutofit/>
          </a:bodyPr>
          <a:lstStyle/>
          <a:p>
            <a:pPr indent="0" lvl="0" marL="0" marR="0" rtl="0" algn="l">
              <a:lnSpc>
                <a:spcPct val="144000"/>
              </a:lnSpc>
              <a:spcBef>
                <a:spcPts val="0"/>
              </a:spcBef>
              <a:spcAft>
                <a:spcPts val="0"/>
              </a:spcAft>
              <a:buClr>
                <a:srgbClr val="EBECED"/>
              </a:buClr>
              <a:buSzPts val="2500"/>
              <a:buFont typeface="Cambria"/>
              <a:buNone/>
            </a:pPr>
            <a:r>
              <a:rPr b="1" i="0" lang="en-US" sz="2500" u="none" cap="none" strike="noStrike">
                <a:solidFill>
                  <a:srgbClr val="EBECED"/>
                </a:solidFill>
                <a:latin typeface="Cambria"/>
                <a:ea typeface="Cambria"/>
                <a:cs typeface="Cambria"/>
                <a:sym typeface="Cambria"/>
              </a:rPr>
              <a:t>Predecir 2017 con 2016 no es un problema de extrapolación temporal, es uno de estabilidad estructural sobre una geografía que cambió.</a:t>
            </a:r>
            <a:endParaRPr b="0" i="0" sz="2500" u="none" cap="none" strike="noStrike">
              <a:solidFill>
                <a:schemeClr val="dk1"/>
              </a:solidFill>
              <a:latin typeface="Calibri"/>
              <a:ea typeface="Calibri"/>
              <a:cs typeface="Calibri"/>
              <a:sym typeface="Calibri"/>
            </a:endParaRPr>
          </a:p>
        </p:txBody>
      </p:sp>
      <p:cxnSp>
        <p:nvCxnSpPr>
          <p:cNvPr id="216" name="Google Shape;216;p11"/>
          <p:cNvCxnSpPr/>
          <p:nvPr/>
        </p:nvCxnSpPr>
        <p:spPr>
          <a:xfrm>
            <a:off x="594360" y="3429000"/>
            <a:ext cx="2926080" cy="0"/>
          </a:xfrm>
          <a:prstGeom prst="straightConnector1">
            <a:avLst/>
          </a:prstGeom>
          <a:noFill/>
          <a:ln cap="flat" cmpd="sng" w="31750">
            <a:solidFill>
              <a:srgbClr val="E8A33D"/>
            </a:solidFill>
            <a:prstDash val="solid"/>
            <a:round/>
            <a:headEnd len="sm" w="sm" type="none"/>
            <a:tailEnd len="sm" w="sm" type="none"/>
          </a:ln>
        </p:spPr>
      </p:cxnSp>
      <p:sp>
        <p:nvSpPr>
          <p:cNvPr id="217" name="Google Shape;217;p11"/>
          <p:cNvSpPr/>
          <p:nvPr/>
        </p:nvSpPr>
        <p:spPr>
          <a:xfrm>
            <a:off x="594360" y="3703320"/>
            <a:ext cx="7589520" cy="914400"/>
          </a:xfrm>
          <a:prstGeom prst="rect">
            <a:avLst/>
          </a:prstGeom>
          <a:noFill/>
          <a:ln>
            <a:noFill/>
          </a:ln>
        </p:spPr>
        <p:txBody>
          <a:bodyPr anchorCtr="0" anchor="ctr" bIns="0" lIns="0" spcFirstLastPara="1" rIns="0" wrap="square" tIns="0">
            <a:noAutofit/>
          </a:bodyPr>
          <a:lstStyle/>
          <a:p>
            <a:pPr indent="0" lvl="0" marL="0" marR="0" rtl="0" algn="l">
              <a:lnSpc>
                <a:spcPct val="158620"/>
              </a:lnSpc>
              <a:spcBef>
                <a:spcPts val="0"/>
              </a:spcBef>
              <a:spcAft>
                <a:spcPts val="0"/>
              </a:spcAft>
              <a:buClr>
                <a:srgbClr val="AEB0B2"/>
              </a:buClr>
              <a:buSzPts val="1450"/>
              <a:buFont typeface="Calibri"/>
              <a:buNone/>
            </a:pPr>
            <a:r>
              <a:rPr b="0" i="0" lang="en-US" sz="1450" u="none" cap="none" strike="noStrike">
                <a:solidFill>
                  <a:srgbClr val="AEB0B2"/>
                </a:solidFill>
                <a:latin typeface="Calibri"/>
                <a:ea typeface="Calibri"/>
                <a:cs typeface="Calibri"/>
                <a:sym typeface="Calibri"/>
              </a:rPr>
              <a:t>El nivel agregado se mueve 1,11% y la deriva aporta 0,02% del error de la cota. Lo que cambia entre los dos años es dónde y qué se vende: 29,1% de la evaluación ocurre en suburbios ausentes del entrenamiento.</a:t>
            </a:r>
            <a:endParaRPr b="0" i="0" sz="1450" u="none" cap="none" strike="noStrike">
              <a:solidFill>
                <a:schemeClr val="dk1"/>
              </a:solidFill>
              <a:latin typeface="Calibri"/>
              <a:ea typeface="Calibri"/>
              <a:cs typeface="Calibri"/>
              <a:sym typeface="Calibri"/>
            </a:endParaRPr>
          </a:p>
        </p:txBody>
      </p:sp>
      <p:sp>
        <p:nvSpPr>
          <p:cNvPr id="218" name="Google Shape;218;p11"/>
          <p:cNvSpPr/>
          <p:nvPr/>
        </p:nvSpPr>
        <p:spPr>
          <a:xfrm>
            <a:off x="594360" y="4846320"/>
            <a:ext cx="7589520" cy="1097280"/>
          </a:xfrm>
          <a:prstGeom prst="roundRect">
            <a:avLst>
              <a:gd fmla="val 6667" name="adj"/>
            </a:avLst>
          </a:prstGeom>
          <a:solidFill>
            <a:srgbClr val="3341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1"/>
          <p:cNvSpPr/>
          <p:nvPr/>
        </p:nvSpPr>
        <p:spPr>
          <a:xfrm>
            <a:off x="886968" y="5029200"/>
            <a:ext cx="7040880" cy="777240"/>
          </a:xfrm>
          <a:prstGeom prst="rect">
            <a:avLst/>
          </a:prstGeom>
          <a:noFill/>
          <a:ln>
            <a:noFill/>
          </a:ln>
        </p:spPr>
        <p:txBody>
          <a:bodyPr anchorCtr="0" anchor="ctr" bIns="0" lIns="0" spcFirstLastPara="1" rIns="0" wrap="square" tIns="0">
            <a:noAutofit/>
          </a:bodyPr>
          <a:lstStyle/>
          <a:p>
            <a:pPr indent="0" lvl="0" marL="0" marR="0" rtl="0" algn="l">
              <a:lnSpc>
                <a:spcPct val="138461"/>
              </a:lnSpc>
              <a:spcBef>
                <a:spcPts val="0"/>
              </a:spcBef>
              <a:spcAft>
                <a:spcPts val="0"/>
              </a:spcAft>
              <a:buClr>
                <a:srgbClr val="E8A33D"/>
              </a:buClr>
              <a:buSzPts val="1300"/>
              <a:buFont typeface="Calibri"/>
              <a:buNone/>
            </a:pPr>
            <a:r>
              <a:rPr b="1" i="0" lang="en-US" sz="1300" u="none" cap="none" strike="noStrike">
                <a:solidFill>
                  <a:srgbClr val="E8A33D"/>
                </a:solidFill>
                <a:latin typeface="Calibri"/>
                <a:ea typeface="Calibri"/>
                <a:cs typeface="Calibri"/>
                <a:sym typeface="Calibri"/>
              </a:rPr>
              <a:t>Lo que queda congelado para el Hito 2:  </a:t>
            </a:r>
            <a:r>
              <a:rPr b="0" i="0" lang="en-US" sz="1300" u="none" cap="none" strike="noStrike">
                <a:solidFill>
                  <a:srgbClr val="EBECED"/>
                </a:solidFill>
                <a:latin typeface="Calibri"/>
                <a:ea typeface="Calibri"/>
                <a:cs typeface="Calibri"/>
                <a:sym typeface="Calibri"/>
              </a:rPr>
              <a:t>anclaje.json con todas estas cifras y los dos conjuntos con hash. Ninguna lámina del próximo hito recalcula una cifra que ya se defendió en este.</a:t>
            </a:r>
            <a:endParaRPr b="0" i="0" sz="1300" u="none" cap="none" strike="noStrike">
              <a:solidFill>
                <a:schemeClr val="dk1"/>
              </a:solidFill>
              <a:latin typeface="Calibri"/>
              <a:ea typeface="Calibri"/>
              <a:cs typeface="Calibri"/>
              <a:sym typeface="Calibri"/>
            </a:endParaRPr>
          </a:p>
        </p:txBody>
      </p:sp>
      <p:sp>
        <p:nvSpPr>
          <p:cNvPr id="220" name="Google Shape;220;p11"/>
          <p:cNvSpPr/>
          <p:nvPr/>
        </p:nvSpPr>
        <p:spPr>
          <a:xfrm>
            <a:off x="8458200" y="1005840"/>
            <a:ext cx="3291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1100"/>
              <a:buFont typeface="Calibri"/>
              <a:buNone/>
            </a:pPr>
            <a:r>
              <a:rPr b="1" i="0" lang="en-US" sz="1100" u="none" cap="none" strike="noStrike">
                <a:solidFill>
                  <a:srgbClr val="E8A33D"/>
                </a:solidFill>
                <a:latin typeface="Calibri"/>
                <a:ea typeface="Calibri"/>
                <a:cs typeface="Calibri"/>
                <a:sym typeface="Calibri"/>
              </a:rPr>
              <a:t>LO QUE ESTOS DATOS NO CONTIENEN</a:t>
            </a:r>
            <a:endParaRPr b="0" i="0" sz="1100" u="none" cap="none" strike="noStrike">
              <a:solidFill>
                <a:schemeClr val="dk1"/>
              </a:solidFill>
              <a:latin typeface="Calibri"/>
              <a:ea typeface="Calibri"/>
              <a:cs typeface="Calibri"/>
              <a:sym typeface="Calibri"/>
            </a:endParaRPr>
          </a:p>
        </p:txBody>
      </p:sp>
      <p:sp>
        <p:nvSpPr>
          <p:cNvPr id="221" name="Google Shape;221;p11"/>
          <p:cNvSpPr/>
          <p:nvPr/>
        </p:nvSpPr>
        <p:spPr>
          <a:xfrm>
            <a:off x="8458200" y="1417320"/>
            <a:ext cx="3108960" cy="310896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AEB0B2"/>
              </a:buClr>
              <a:buSzPts val="1200"/>
              <a:buFont typeface="Calibri"/>
              <a:buChar char="•"/>
            </a:pPr>
            <a:r>
              <a:rPr b="0" i="0" lang="en-US" sz="1200" u="none" cap="none" strike="noStrike">
                <a:solidFill>
                  <a:srgbClr val="AEB0B2"/>
                </a:solidFill>
                <a:latin typeface="Calibri"/>
                <a:ea typeface="Calibri"/>
                <a:cs typeface="Calibri"/>
                <a:sym typeface="Calibri"/>
              </a:rPr>
              <a:t>Causa del cambio de cobertura geográfica</a:t>
            </a:r>
            <a:endParaRPr b="0" i="0" sz="120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AEB0B2"/>
              </a:buClr>
              <a:buSzPts val="1200"/>
              <a:buFont typeface="Calibri"/>
              <a:buChar char="•"/>
            </a:pPr>
            <a:r>
              <a:rPr b="0" i="0" lang="en-US" sz="1200" u="none" cap="none" strike="noStrike">
                <a:solidFill>
                  <a:srgbClr val="AEB0B2"/>
                </a:solidFill>
                <a:latin typeface="Calibri"/>
                <a:ea typeface="Calibri"/>
                <a:cs typeface="Calibri"/>
                <a:sym typeface="Calibri"/>
              </a:rPr>
              <a:t>Atributos de calidad de la construcción</a:t>
            </a:r>
            <a:endParaRPr b="0" i="0" sz="120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AEB0B2"/>
              </a:buClr>
              <a:buSzPts val="1200"/>
              <a:buFont typeface="Calibri"/>
              <a:buChar char="•"/>
            </a:pPr>
            <a:r>
              <a:rPr b="0" i="0" lang="en-US" sz="1200" u="none" cap="none" strike="noStrike">
                <a:solidFill>
                  <a:srgbClr val="AEB0B2"/>
                </a:solidFill>
                <a:latin typeface="Calibri"/>
                <a:ea typeface="Calibri"/>
                <a:cs typeface="Calibri"/>
                <a:sym typeface="Calibri"/>
              </a:rPr>
              <a:t>Tasa de interés y contexto macro</a:t>
            </a:r>
            <a:endParaRPr b="0" i="0" sz="120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AEB0B2"/>
              </a:buClr>
              <a:buSzPts val="1200"/>
              <a:buFont typeface="Calibri"/>
              <a:buChar char="•"/>
            </a:pPr>
            <a:r>
              <a:rPr b="0" i="0" lang="en-US" sz="1200" u="none" cap="none" strike="noStrike">
                <a:solidFill>
                  <a:srgbClr val="AEB0B2"/>
                </a:solidFill>
                <a:latin typeface="Calibri"/>
                <a:ea typeface="Calibri"/>
                <a:cs typeface="Calibri"/>
                <a:sym typeface="Calibri"/>
              </a:rPr>
              <a:t>Propiedades ofertadas y no vendidas</a:t>
            </a:r>
            <a:endParaRPr b="0" i="0" sz="120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AEB0B2"/>
              </a:buClr>
              <a:buSzPts val="1200"/>
              <a:buFont typeface="Calibri"/>
              <a:buChar char="•"/>
            </a:pPr>
            <a:r>
              <a:rPr b="0" i="0" lang="en-US" sz="1200" u="none" cap="none" strike="noStrike">
                <a:solidFill>
                  <a:srgbClr val="AEB0B2"/>
                </a:solidFill>
                <a:latin typeface="Calibri"/>
                <a:ea typeface="Calibri"/>
                <a:cs typeface="Calibri"/>
                <a:sym typeface="Calibri"/>
              </a:rPr>
              <a:t>Superficie útil confiable (51,3% nula en 2017)</a:t>
            </a:r>
            <a:endParaRPr b="0" i="0" sz="120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AEB0B2"/>
              </a:buClr>
              <a:buSzPts val="1200"/>
              <a:buFont typeface="Calibri"/>
              <a:buChar char="•"/>
            </a:pPr>
            <a:r>
              <a:rPr b="0" i="0" lang="en-US" sz="1200" u="none" cap="none" strike="noStrike">
                <a:solidFill>
                  <a:srgbClr val="AEB0B2"/>
                </a:solidFill>
                <a:latin typeface="Calibri"/>
                <a:ea typeface="Calibri"/>
                <a:cs typeface="Calibri"/>
                <a:sym typeface="Calibri"/>
              </a:rPr>
              <a:t>Precio de lista contra precio de cierre</a:t>
            </a:r>
            <a:endParaRPr b="0" i="0" sz="120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AEB0B2"/>
              </a:buClr>
              <a:buSzPts val="1200"/>
              <a:buFont typeface="Calibri"/>
              <a:buChar char="•"/>
            </a:pPr>
            <a:r>
              <a:rPr b="0" i="0" lang="en-US" sz="1200" u="none" cap="none" strike="noStrike">
                <a:solidFill>
                  <a:srgbClr val="AEB0B2"/>
                </a:solidFill>
                <a:latin typeface="Calibri"/>
                <a:ea typeface="Calibri"/>
                <a:cs typeface="Calibri"/>
                <a:sym typeface="Calibri"/>
              </a:rPr>
              <a:t>Octubre a diciembre de 2017</a:t>
            </a:r>
            <a:endParaRPr b="0" i="0" sz="1200" u="none" cap="none" strike="noStrike">
              <a:solidFill>
                <a:schemeClr val="dk1"/>
              </a:solidFill>
              <a:latin typeface="Calibri"/>
              <a:ea typeface="Calibri"/>
              <a:cs typeface="Calibri"/>
              <a:sym typeface="Calibri"/>
            </a:endParaRPr>
          </a:p>
        </p:txBody>
      </p:sp>
      <p:sp>
        <p:nvSpPr>
          <p:cNvPr id="222" name="Google Shape;222;p11"/>
          <p:cNvSpPr/>
          <p:nvPr/>
        </p:nvSpPr>
        <p:spPr>
          <a:xfrm>
            <a:off x="8458200" y="4754880"/>
            <a:ext cx="3108960" cy="731520"/>
          </a:xfrm>
          <a:prstGeom prst="rect">
            <a:avLst/>
          </a:prstGeom>
          <a:noFill/>
          <a:ln>
            <a:noFill/>
          </a:ln>
        </p:spPr>
        <p:txBody>
          <a:bodyPr anchorCtr="0" anchor="ctr" bIns="0" lIns="0" spcFirstLastPara="1" rIns="0" wrap="square" tIns="0">
            <a:noAutofit/>
          </a:bodyPr>
          <a:lstStyle/>
          <a:p>
            <a:pPr indent="0" lvl="0" marL="0" marR="0" rtl="0" algn="l">
              <a:lnSpc>
                <a:spcPct val="136363"/>
              </a:lnSpc>
              <a:spcBef>
                <a:spcPts val="0"/>
              </a:spcBef>
              <a:spcAft>
                <a:spcPts val="0"/>
              </a:spcAft>
              <a:buClr>
                <a:srgbClr val="838588"/>
              </a:buClr>
              <a:buSzPts val="1100"/>
              <a:buFont typeface="Calibri"/>
              <a:buNone/>
            </a:pPr>
            <a:r>
              <a:rPr b="0" i="1" lang="en-US" sz="1100" u="none" cap="none" strike="noStrike">
                <a:solidFill>
                  <a:srgbClr val="838588"/>
                </a:solidFill>
                <a:latin typeface="Calibri"/>
                <a:ea typeface="Calibri"/>
                <a:cs typeface="Calibri"/>
                <a:sym typeface="Calibri"/>
              </a:rPr>
              <a:t>Sin estas variables, todo lo anterior describe qué cambió entre los dos años, no por qué cambió.</a:t>
            </a:r>
            <a:endParaRPr b="0" i="0" sz="1100" u="none" cap="none" strike="noStrike">
              <a:solidFill>
                <a:schemeClr val="dk1"/>
              </a:solidFill>
              <a:latin typeface="Calibri"/>
              <a:ea typeface="Calibri"/>
              <a:cs typeface="Calibri"/>
              <a:sym typeface="Calibri"/>
            </a:endParaRPr>
          </a:p>
        </p:txBody>
      </p:sp>
      <p:sp>
        <p:nvSpPr>
          <p:cNvPr id="223" name="Google Shape;223;p11"/>
          <p:cNvSpPr/>
          <p:nvPr/>
        </p:nvSpPr>
        <p:spPr>
          <a:xfrm>
            <a:off x="594360" y="6172200"/>
            <a:ext cx="10881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38588"/>
              </a:buClr>
              <a:buSzPts val="1050"/>
              <a:buFont typeface="Calibri"/>
              <a:buNone/>
            </a:pPr>
            <a:r>
              <a:rPr b="0" i="0" lang="en-US" sz="1050" u="none" cap="none" strike="noStrike">
                <a:solidFill>
                  <a:srgbClr val="838588"/>
                </a:solidFill>
                <a:latin typeface="Calibri"/>
                <a:ea typeface="Calibri"/>
                <a:cs typeface="Calibri"/>
                <a:sym typeface="Calibri"/>
              </a:rPr>
              <a:t>Hito 1 · housing_data.csv · 13.580 × 21 · SHA-256 3e449c3e9508… · Semilla 20260810</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2026-08-11T02:36:50Z</dcterms:created>
  <dc:creator>PptxGenJS</dc:creator>
</cp:coreProperties>
</file>