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drawings/drawing1.xml" ContentType="application/vnd.openxmlformats-officedocument.drawingml.chartshapes+xml"/>
  <Override PartName="/ppt/charts/chart2.xml" ContentType="application/vnd.openxmlformats-officedocument.drawingml.chart+xml"/>
  <Override PartName="/ppt/theme/themeOverride2.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6" r:id="rId2"/>
  </p:sldMasterIdLst>
  <p:notesMasterIdLst>
    <p:notesMasterId r:id="rId71"/>
  </p:notesMasterIdLst>
  <p:sldIdLst>
    <p:sldId id="257" r:id="rId3"/>
    <p:sldId id="1802" r:id="rId4"/>
    <p:sldId id="262" r:id="rId5"/>
    <p:sldId id="865" r:id="rId6"/>
    <p:sldId id="788" r:id="rId7"/>
    <p:sldId id="1869" r:id="rId8"/>
    <p:sldId id="839" r:id="rId9"/>
    <p:sldId id="1870" r:id="rId10"/>
    <p:sldId id="619" r:id="rId11"/>
    <p:sldId id="1207" r:id="rId12"/>
    <p:sldId id="1871" r:id="rId13"/>
    <p:sldId id="545" r:id="rId14"/>
    <p:sldId id="1212" r:id="rId15"/>
    <p:sldId id="261" r:id="rId16"/>
    <p:sldId id="1971" r:id="rId17"/>
    <p:sldId id="1933" r:id="rId18"/>
    <p:sldId id="1934" r:id="rId19"/>
    <p:sldId id="1506" r:id="rId20"/>
    <p:sldId id="1970" r:id="rId21"/>
    <p:sldId id="2006" r:id="rId22"/>
    <p:sldId id="1928" r:id="rId23"/>
    <p:sldId id="1929" r:id="rId24"/>
    <p:sldId id="1930" r:id="rId25"/>
    <p:sldId id="1997" r:id="rId26"/>
    <p:sldId id="857" r:id="rId27"/>
    <p:sldId id="866" r:id="rId28"/>
    <p:sldId id="1972" r:id="rId29"/>
    <p:sldId id="1973" r:id="rId30"/>
    <p:sldId id="867" r:id="rId31"/>
    <p:sldId id="868" r:id="rId32"/>
    <p:sldId id="870" r:id="rId33"/>
    <p:sldId id="871" r:id="rId34"/>
    <p:sldId id="2008" r:id="rId35"/>
    <p:sldId id="1936" r:id="rId36"/>
    <p:sldId id="1937" r:id="rId37"/>
    <p:sldId id="1938" r:id="rId38"/>
    <p:sldId id="1939" r:id="rId39"/>
    <p:sldId id="2002" r:id="rId40"/>
    <p:sldId id="1940" r:id="rId41"/>
    <p:sldId id="1998" r:id="rId42"/>
    <p:sldId id="1941" r:id="rId43"/>
    <p:sldId id="1942" r:id="rId44"/>
    <p:sldId id="1943" r:id="rId45"/>
    <p:sldId id="1999" r:id="rId46"/>
    <p:sldId id="1944" r:id="rId47"/>
    <p:sldId id="1945" r:id="rId48"/>
    <p:sldId id="1946" r:id="rId49"/>
    <p:sldId id="1947" r:id="rId50"/>
    <p:sldId id="1948" r:id="rId51"/>
    <p:sldId id="2000" r:id="rId52"/>
    <p:sldId id="1949" r:id="rId53"/>
    <p:sldId id="1950" r:id="rId54"/>
    <p:sldId id="2001" r:id="rId55"/>
    <p:sldId id="1469" r:id="rId56"/>
    <p:sldId id="1474" r:id="rId57"/>
    <p:sldId id="1977" r:id="rId58"/>
    <p:sldId id="1951" r:id="rId59"/>
    <p:sldId id="1952" r:id="rId60"/>
    <p:sldId id="1994" r:id="rId61"/>
    <p:sldId id="1995" r:id="rId62"/>
    <p:sldId id="1996" r:id="rId63"/>
    <p:sldId id="1953" r:id="rId64"/>
    <p:sldId id="1954" r:id="rId65"/>
    <p:sldId id="1955" r:id="rId66"/>
    <p:sldId id="2003" r:id="rId67"/>
    <p:sldId id="2004" r:id="rId68"/>
    <p:sldId id="2005" r:id="rId69"/>
    <p:sldId id="1956" r:id="rId70"/>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lase 1.2 Modelo de negocios ajuste y escalabilidad" id="{0F5EE2DD-DA99-9D4F-B9BF-0C4B696FC3BD}">
          <p14:sldIdLst>
            <p14:sldId id="257"/>
            <p14:sldId id="1802"/>
          </p14:sldIdLst>
        </p14:section>
        <p14:section name="Requerimiento de capital y curva de cash" id="{E4754CAB-A896-4AA1-837B-36F33B096BAE}">
          <p14:sldIdLst>
            <p14:sldId id="262"/>
            <p14:sldId id="865"/>
            <p14:sldId id="788"/>
            <p14:sldId id="1869"/>
            <p14:sldId id="839"/>
            <p14:sldId id="1870"/>
            <p14:sldId id="619"/>
            <p14:sldId id="1207"/>
            <p14:sldId id="1871"/>
            <p14:sldId id="545"/>
            <p14:sldId id="1212"/>
          </p14:sldIdLst>
        </p14:section>
        <p14:section name="Rondas de financiamiento" id="{67A38CF5-53FC-B248-BA7D-E89AA2B72A75}">
          <p14:sldIdLst>
            <p14:sldId id="261"/>
            <p14:sldId id="1971"/>
            <p14:sldId id="1933"/>
            <p14:sldId id="1934"/>
            <p14:sldId id="1506"/>
            <p14:sldId id="1970"/>
          </p14:sldIdLst>
        </p14:section>
        <p14:section name="Levantar capital" id="{E8FE5038-9F43-604E-84F8-43CFC9F4AB4E}">
          <p14:sldIdLst>
            <p14:sldId id="2006"/>
            <p14:sldId id="1928"/>
            <p14:sldId id="1929"/>
            <p14:sldId id="1930"/>
            <p14:sldId id="1997"/>
            <p14:sldId id="857"/>
            <p14:sldId id="866"/>
            <p14:sldId id="1972"/>
            <p14:sldId id="1973"/>
            <p14:sldId id="867"/>
            <p14:sldId id="868"/>
            <p14:sldId id="870"/>
            <p14:sldId id="871"/>
          </p14:sldIdLst>
        </p14:section>
        <p14:section name="2.2 Valorizando en etapa temprana" id="{3DA7307B-0DED-4445-885D-47507C9DE3A1}">
          <p14:sldIdLst>
            <p14:sldId id="2008"/>
            <p14:sldId id="1936"/>
            <p14:sldId id="1937"/>
            <p14:sldId id="1938"/>
            <p14:sldId id="1939"/>
            <p14:sldId id="2002"/>
            <p14:sldId id="1940"/>
            <p14:sldId id="1998"/>
            <p14:sldId id="1941"/>
            <p14:sldId id="1942"/>
            <p14:sldId id="1943"/>
            <p14:sldId id="1999"/>
            <p14:sldId id="1944"/>
            <p14:sldId id="1945"/>
            <p14:sldId id="1946"/>
            <p14:sldId id="1947"/>
            <p14:sldId id="1948"/>
            <p14:sldId id="2000"/>
            <p14:sldId id="1949"/>
            <p14:sldId id="1950"/>
            <p14:sldId id="2001"/>
            <p14:sldId id="1469"/>
            <p14:sldId id="1474"/>
            <p14:sldId id="1977"/>
            <p14:sldId id="1951"/>
            <p14:sldId id="1952"/>
            <p14:sldId id="1994"/>
            <p14:sldId id="1995"/>
            <p14:sldId id="1996"/>
            <p14:sldId id="1953"/>
            <p14:sldId id="1954"/>
            <p14:sldId id="1955"/>
            <p14:sldId id="2003"/>
            <p14:sldId id="2004"/>
            <p14:sldId id="2005"/>
            <p14:sldId id="19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4F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DC5049-4535-0746-95AD-D73F2739ADD7}" v="1" dt="2026-03-03T14:52:03.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352"/>
    <p:restoredTop sz="94643"/>
  </p:normalViewPr>
  <p:slideViewPr>
    <p:cSldViewPr snapToGrid="0">
      <p:cViewPr varScale="1">
        <p:scale>
          <a:sx n="115" d="100"/>
          <a:sy n="115" d="100"/>
        </p:scale>
        <p:origin x="376" y="192"/>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microsoft.com/office/2016/11/relationships/changesInfo" Target="changesInfos/changesInfo1.xml"/><Relationship Id="rId7" Type="http://schemas.openxmlformats.org/officeDocument/2006/relationships/slide" Target="slides/slide5.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ti Nuñez" userId="fc293a4ee38bb93b" providerId="LiveId" clId="{8C091EB5-D9FC-51B9-B601-2F1273399689}"/>
    <pc:docChg chg="custSel addSld delSld modSld sldOrd addMainMaster delMainMaster modMainMaster addSection delSection modSection">
      <pc:chgData name="Inti Nuñez" userId="fc293a4ee38bb93b" providerId="LiveId" clId="{8C091EB5-D9FC-51B9-B601-2F1273399689}" dt="2026-03-04T12:37:47.384" v="851" actId="2696"/>
      <pc:docMkLst>
        <pc:docMk/>
      </pc:docMkLst>
      <pc:sldChg chg="new del">
        <pc:chgData name="Inti Nuñez" userId="fc293a4ee38bb93b" providerId="LiveId" clId="{8C091EB5-D9FC-51B9-B601-2F1273399689}" dt="2026-03-03T13:14:39.563" v="847" actId="2696"/>
        <pc:sldMkLst>
          <pc:docMk/>
          <pc:sldMk cId="1141749374" sldId="266"/>
        </pc:sldMkLst>
      </pc:sldChg>
      <pc:sldChg chg="add">
        <pc:chgData name="Inti Nuñez" userId="fc293a4ee38bb93b" providerId="LiveId" clId="{8C091EB5-D9FC-51B9-B601-2F1273399689}" dt="2026-03-03T14:52:03.049" v="848"/>
        <pc:sldMkLst>
          <pc:docMk/>
          <pc:sldMk cId="1218672641" sldId="459"/>
        </pc:sldMkLst>
      </pc:sldChg>
      <pc:sldChg chg="modSp add">
        <pc:chgData name="Inti Nuñez" userId="fc293a4ee38bb93b" providerId="LiveId" clId="{8C091EB5-D9FC-51B9-B601-2F1273399689}" dt="2026-03-03T14:52:03.049" v="848"/>
        <pc:sldMkLst>
          <pc:docMk/>
          <pc:sldMk cId="0" sldId="545"/>
        </pc:sldMkLst>
        <pc:spChg chg="mod">
          <ac:chgData name="Inti Nuñez" userId="fc293a4ee38bb93b" providerId="LiveId" clId="{8C091EB5-D9FC-51B9-B601-2F1273399689}" dt="2026-03-03T14:52:03.049" v="848"/>
          <ac:spMkLst>
            <pc:docMk/>
            <pc:sldMk cId="0" sldId="545"/>
            <ac:spMk id="47106" creationId="{00000000-0000-0000-0000-000000000000}"/>
          </ac:spMkLst>
        </pc:spChg>
      </pc:sldChg>
      <pc:sldChg chg="add">
        <pc:chgData name="Inti Nuñez" userId="fc293a4ee38bb93b" providerId="LiveId" clId="{8C091EB5-D9FC-51B9-B601-2F1273399689}" dt="2026-03-03T14:52:03.049" v="848"/>
        <pc:sldMkLst>
          <pc:docMk/>
          <pc:sldMk cId="0" sldId="564"/>
        </pc:sldMkLst>
      </pc:sldChg>
      <pc:sldChg chg="add">
        <pc:chgData name="Inti Nuñez" userId="fc293a4ee38bb93b" providerId="LiveId" clId="{8C091EB5-D9FC-51B9-B601-2F1273399689}" dt="2026-03-03T14:52:03.049" v="848"/>
        <pc:sldMkLst>
          <pc:docMk/>
          <pc:sldMk cId="0" sldId="590"/>
        </pc:sldMkLst>
      </pc:sldChg>
      <pc:sldChg chg="add">
        <pc:chgData name="Inti Nuñez" userId="fc293a4ee38bb93b" providerId="LiveId" clId="{8C091EB5-D9FC-51B9-B601-2F1273399689}" dt="2026-03-03T14:52:03.049" v="848"/>
        <pc:sldMkLst>
          <pc:docMk/>
          <pc:sldMk cId="3860313168" sldId="619"/>
        </pc:sldMkLst>
      </pc:sldChg>
      <pc:sldChg chg="modSp add">
        <pc:chgData name="Inti Nuñez" userId="fc293a4ee38bb93b" providerId="LiveId" clId="{8C091EB5-D9FC-51B9-B601-2F1273399689}" dt="2026-03-03T14:52:03.049" v="848"/>
        <pc:sldMkLst>
          <pc:docMk/>
          <pc:sldMk cId="2966640092" sldId="788"/>
        </pc:sldMkLst>
        <pc:spChg chg="mod">
          <ac:chgData name="Inti Nuñez" userId="fc293a4ee38bb93b" providerId="LiveId" clId="{8C091EB5-D9FC-51B9-B601-2F1273399689}" dt="2026-03-03T14:52:03.049" v="848"/>
          <ac:spMkLst>
            <pc:docMk/>
            <pc:sldMk cId="2966640092" sldId="788"/>
            <ac:spMk id="45" creationId="{054D1028-23C5-4A5D-A340-5E910F689C88}"/>
          </ac:spMkLst>
        </pc:spChg>
      </pc:sldChg>
      <pc:sldChg chg="add">
        <pc:chgData name="Inti Nuñez" userId="fc293a4ee38bb93b" providerId="LiveId" clId="{8C091EB5-D9FC-51B9-B601-2F1273399689}" dt="2026-03-03T14:52:03.049" v="848"/>
        <pc:sldMkLst>
          <pc:docMk/>
          <pc:sldMk cId="2804514749" sldId="839"/>
        </pc:sldMkLst>
      </pc:sldChg>
      <pc:sldChg chg="add">
        <pc:chgData name="Inti Nuñez" userId="fc293a4ee38bb93b" providerId="LiveId" clId="{8C091EB5-D9FC-51B9-B601-2F1273399689}" dt="2026-03-03T14:52:03.049" v="848"/>
        <pc:sldMkLst>
          <pc:docMk/>
          <pc:sldMk cId="1228877728" sldId="857"/>
        </pc:sldMkLst>
      </pc:sldChg>
      <pc:sldChg chg="modSp add">
        <pc:chgData name="Inti Nuñez" userId="fc293a4ee38bb93b" providerId="LiveId" clId="{8C091EB5-D9FC-51B9-B601-2F1273399689}" dt="2026-03-03T14:52:03.049" v="848"/>
        <pc:sldMkLst>
          <pc:docMk/>
          <pc:sldMk cId="0" sldId="865"/>
        </pc:sldMkLst>
        <pc:spChg chg="mod">
          <ac:chgData name="Inti Nuñez" userId="fc293a4ee38bb93b" providerId="LiveId" clId="{8C091EB5-D9FC-51B9-B601-2F1273399689}" dt="2026-03-03T14:52:03.049" v="848"/>
          <ac:spMkLst>
            <pc:docMk/>
            <pc:sldMk cId="0" sldId="865"/>
            <ac:spMk id="2064" creationId="{00000000-0000-0000-0000-000000000000}"/>
          </ac:spMkLst>
        </pc:spChg>
      </pc:sldChg>
      <pc:sldChg chg="add">
        <pc:chgData name="Inti Nuñez" userId="fc293a4ee38bb93b" providerId="LiveId" clId="{8C091EB5-D9FC-51B9-B601-2F1273399689}" dt="2026-03-03T14:52:03.049" v="848"/>
        <pc:sldMkLst>
          <pc:docMk/>
          <pc:sldMk cId="343854749" sldId="866"/>
        </pc:sldMkLst>
      </pc:sldChg>
      <pc:sldChg chg="add">
        <pc:chgData name="Inti Nuñez" userId="fc293a4ee38bb93b" providerId="LiveId" clId="{8C091EB5-D9FC-51B9-B601-2F1273399689}" dt="2026-03-03T14:52:03.049" v="848"/>
        <pc:sldMkLst>
          <pc:docMk/>
          <pc:sldMk cId="4201168438" sldId="867"/>
        </pc:sldMkLst>
      </pc:sldChg>
      <pc:sldChg chg="add">
        <pc:chgData name="Inti Nuñez" userId="fc293a4ee38bb93b" providerId="LiveId" clId="{8C091EB5-D9FC-51B9-B601-2F1273399689}" dt="2026-03-03T14:52:03.049" v="848"/>
        <pc:sldMkLst>
          <pc:docMk/>
          <pc:sldMk cId="3389032821" sldId="868"/>
        </pc:sldMkLst>
      </pc:sldChg>
      <pc:sldChg chg="add">
        <pc:chgData name="Inti Nuñez" userId="fc293a4ee38bb93b" providerId="LiveId" clId="{8C091EB5-D9FC-51B9-B601-2F1273399689}" dt="2026-03-03T14:52:03.049" v="848"/>
        <pc:sldMkLst>
          <pc:docMk/>
          <pc:sldMk cId="3618391438" sldId="870"/>
        </pc:sldMkLst>
      </pc:sldChg>
      <pc:sldChg chg="add">
        <pc:chgData name="Inti Nuñez" userId="fc293a4ee38bb93b" providerId="LiveId" clId="{8C091EB5-D9FC-51B9-B601-2F1273399689}" dt="2026-03-03T14:52:03.049" v="848"/>
        <pc:sldMkLst>
          <pc:docMk/>
          <pc:sldMk cId="863012714" sldId="871"/>
        </pc:sldMkLst>
      </pc:sldChg>
      <pc:sldChg chg="add">
        <pc:chgData name="Inti Nuñez" userId="fc293a4ee38bb93b" providerId="LiveId" clId="{8C091EB5-D9FC-51B9-B601-2F1273399689}" dt="2026-03-03T14:52:03.049" v="848"/>
        <pc:sldMkLst>
          <pc:docMk/>
          <pc:sldMk cId="2536391358" sldId="1207"/>
        </pc:sldMkLst>
      </pc:sldChg>
      <pc:sldChg chg="modSp add">
        <pc:chgData name="Inti Nuñez" userId="fc293a4ee38bb93b" providerId="LiveId" clId="{8C091EB5-D9FC-51B9-B601-2F1273399689}" dt="2026-03-03T14:52:03.049" v="848"/>
        <pc:sldMkLst>
          <pc:docMk/>
          <pc:sldMk cId="738256096" sldId="1212"/>
        </pc:sldMkLst>
        <pc:spChg chg="mod">
          <ac:chgData name="Inti Nuñez" userId="fc293a4ee38bb93b" providerId="LiveId" clId="{8C091EB5-D9FC-51B9-B601-2F1273399689}" dt="2026-03-03T14:52:03.049" v="848"/>
          <ac:spMkLst>
            <pc:docMk/>
            <pc:sldMk cId="738256096" sldId="1212"/>
            <ac:spMk id="16" creationId="{256ECEB5-94B5-440A-8E4D-8954F904CAD5}"/>
          </ac:spMkLst>
        </pc:spChg>
      </pc:sldChg>
      <pc:sldChg chg="modSp add modTransition">
        <pc:chgData name="Inti Nuñez" userId="fc293a4ee38bb93b" providerId="LiveId" clId="{8C091EB5-D9FC-51B9-B601-2F1273399689}" dt="2026-03-03T14:52:03.049" v="848"/>
        <pc:sldMkLst>
          <pc:docMk/>
          <pc:sldMk cId="374172174" sldId="1469"/>
        </pc:sldMkLst>
        <pc:spChg chg="mod">
          <ac:chgData name="Inti Nuñez" userId="fc293a4ee38bb93b" providerId="LiveId" clId="{8C091EB5-D9FC-51B9-B601-2F1273399689}" dt="2026-03-03T14:52:03.049" v="848"/>
          <ac:spMkLst>
            <pc:docMk/>
            <pc:sldMk cId="374172174" sldId="1469"/>
            <ac:spMk id="3" creationId="{61DCDBBA-4046-7C47-875B-5A6180FCA680}"/>
          </ac:spMkLst>
        </pc:spChg>
        <pc:spChg chg="mod">
          <ac:chgData name="Inti Nuñez" userId="fc293a4ee38bb93b" providerId="LiveId" clId="{8C091EB5-D9FC-51B9-B601-2F1273399689}" dt="2026-03-03T14:52:03.049" v="848"/>
          <ac:spMkLst>
            <pc:docMk/>
            <pc:sldMk cId="374172174" sldId="1469"/>
            <ac:spMk id="4" creationId="{3C1A7925-A467-AF12-325E-C087C45840E6}"/>
          </ac:spMkLst>
        </pc:spChg>
      </pc:sldChg>
      <pc:sldChg chg="modSp add modTransition">
        <pc:chgData name="Inti Nuñez" userId="fc293a4ee38bb93b" providerId="LiveId" clId="{8C091EB5-D9FC-51B9-B601-2F1273399689}" dt="2026-03-03T14:52:03.049" v="848"/>
        <pc:sldMkLst>
          <pc:docMk/>
          <pc:sldMk cId="2807134906" sldId="1474"/>
        </pc:sldMkLst>
        <pc:spChg chg="mod">
          <ac:chgData name="Inti Nuñez" userId="fc293a4ee38bb93b" providerId="LiveId" clId="{8C091EB5-D9FC-51B9-B601-2F1273399689}" dt="2026-03-03T14:52:03.049" v="848"/>
          <ac:spMkLst>
            <pc:docMk/>
            <pc:sldMk cId="2807134906" sldId="1474"/>
            <ac:spMk id="3" creationId="{61DCDBBA-4046-7C47-875B-5A6180FCA680}"/>
          </ac:spMkLst>
        </pc:spChg>
      </pc:sldChg>
      <pc:sldChg chg="add">
        <pc:chgData name="Inti Nuñez" userId="fc293a4ee38bb93b" providerId="LiveId" clId="{8C091EB5-D9FC-51B9-B601-2F1273399689}" dt="2026-03-03T14:52:03.049" v="848"/>
        <pc:sldMkLst>
          <pc:docMk/>
          <pc:sldMk cId="4274647500" sldId="1506"/>
        </pc:sldMkLst>
      </pc:sldChg>
      <pc:sldChg chg="add ord">
        <pc:chgData name="Inti Nuñez" userId="fc293a4ee38bb93b" providerId="LiveId" clId="{8C091EB5-D9FC-51B9-B601-2F1273399689}" dt="2026-03-04T12:37:43.083" v="849" actId="20578"/>
        <pc:sldMkLst>
          <pc:docMk/>
          <pc:sldMk cId="4099853566" sldId="1802"/>
        </pc:sldMkLst>
      </pc:sldChg>
      <pc:sldChg chg="del">
        <pc:chgData name="Inti Nuñez" userId="fc293a4ee38bb93b" providerId="LiveId" clId="{8C091EB5-D9FC-51B9-B601-2F1273399689}" dt="2026-03-04T12:37:45.103" v="850" actId="2696"/>
        <pc:sldMkLst>
          <pc:docMk/>
          <pc:sldMk cId="3433768894" sldId="1859"/>
        </pc:sldMkLst>
      </pc:sldChg>
      <pc:sldChg chg="add">
        <pc:chgData name="Inti Nuñez" userId="fc293a4ee38bb93b" providerId="LiveId" clId="{8C091EB5-D9FC-51B9-B601-2F1273399689}" dt="2026-03-03T14:52:03.049" v="848"/>
        <pc:sldMkLst>
          <pc:docMk/>
          <pc:sldMk cId="3611566511" sldId="1864"/>
        </pc:sldMkLst>
      </pc:sldChg>
      <pc:sldChg chg="add">
        <pc:chgData name="Inti Nuñez" userId="fc293a4ee38bb93b" providerId="LiveId" clId="{8C091EB5-D9FC-51B9-B601-2F1273399689}" dt="2026-03-03T14:52:03.049" v="848"/>
        <pc:sldMkLst>
          <pc:docMk/>
          <pc:sldMk cId="4135366460" sldId="1865"/>
        </pc:sldMkLst>
      </pc:sldChg>
      <pc:sldChg chg="add">
        <pc:chgData name="Inti Nuñez" userId="fc293a4ee38bb93b" providerId="LiveId" clId="{8C091EB5-D9FC-51B9-B601-2F1273399689}" dt="2026-03-03T14:52:03.049" v="848"/>
        <pc:sldMkLst>
          <pc:docMk/>
          <pc:sldMk cId="3499623253" sldId="1868"/>
        </pc:sldMkLst>
      </pc:sldChg>
      <pc:sldChg chg="add">
        <pc:chgData name="Inti Nuñez" userId="fc293a4ee38bb93b" providerId="LiveId" clId="{8C091EB5-D9FC-51B9-B601-2F1273399689}" dt="2026-03-03T14:52:03.049" v="848"/>
        <pc:sldMkLst>
          <pc:docMk/>
          <pc:sldMk cId="3776626630" sldId="1869"/>
        </pc:sldMkLst>
      </pc:sldChg>
      <pc:sldChg chg="modSp add">
        <pc:chgData name="Inti Nuñez" userId="fc293a4ee38bb93b" providerId="LiveId" clId="{8C091EB5-D9FC-51B9-B601-2F1273399689}" dt="2026-03-03T14:52:03.049" v="848"/>
        <pc:sldMkLst>
          <pc:docMk/>
          <pc:sldMk cId="1355860060" sldId="1870"/>
        </pc:sldMkLst>
        <pc:spChg chg="mod">
          <ac:chgData name="Inti Nuñez" userId="fc293a4ee38bb93b" providerId="LiveId" clId="{8C091EB5-D9FC-51B9-B601-2F1273399689}" dt="2026-03-03T14:52:03.049" v="848"/>
          <ac:spMkLst>
            <pc:docMk/>
            <pc:sldMk cId="1355860060" sldId="1870"/>
            <ac:spMk id="2" creationId="{14FE31DB-5F6D-E539-9FD6-2E4B04AAE3D0}"/>
          </ac:spMkLst>
        </pc:spChg>
      </pc:sldChg>
      <pc:sldChg chg="add">
        <pc:chgData name="Inti Nuñez" userId="fc293a4ee38bb93b" providerId="LiveId" clId="{8C091EB5-D9FC-51B9-B601-2F1273399689}" dt="2026-03-03T14:52:03.049" v="848"/>
        <pc:sldMkLst>
          <pc:docMk/>
          <pc:sldMk cId="3568979587" sldId="1871"/>
        </pc:sldMkLst>
      </pc:sldChg>
      <pc:sldChg chg="add modTransition setBg">
        <pc:chgData name="Inti Nuñez" userId="fc293a4ee38bb93b" providerId="LiveId" clId="{8C091EB5-D9FC-51B9-B601-2F1273399689}" dt="2026-03-03T14:52:03.049" v="848"/>
        <pc:sldMkLst>
          <pc:docMk/>
          <pc:sldMk cId="2813507850" sldId="1894"/>
        </pc:sldMkLst>
      </pc:sldChg>
      <pc:sldChg chg="add">
        <pc:chgData name="Inti Nuñez" userId="fc293a4ee38bb93b" providerId="LiveId" clId="{8C091EB5-D9FC-51B9-B601-2F1273399689}" dt="2026-03-03T14:52:03.049" v="848"/>
        <pc:sldMkLst>
          <pc:docMk/>
          <pc:sldMk cId="3808540833" sldId="1928"/>
        </pc:sldMkLst>
      </pc:sldChg>
      <pc:sldChg chg="add">
        <pc:chgData name="Inti Nuñez" userId="fc293a4ee38bb93b" providerId="LiveId" clId="{8C091EB5-D9FC-51B9-B601-2F1273399689}" dt="2026-03-03T14:52:03.049" v="848"/>
        <pc:sldMkLst>
          <pc:docMk/>
          <pc:sldMk cId="3177292357" sldId="1929"/>
        </pc:sldMkLst>
      </pc:sldChg>
      <pc:sldChg chg="add">
        <pc:chgData name="Inti Nuñez" userId="fc293a4ee38bb93b" providerId="LiveId" clId="{8C091EB5-D9FC-51B9-B601-2F1273399689}" dt="2026-03-03T14:52:03.049" v="848"/>
        <pc:sldMkLst>
          <pc:docMk/>
          <pc:sldMk cId="2209037254" sldId="1930"/>
        </pc:sldMkLst>
      </pc:sldChg>
      <pc:sldChg chg="add">
        <pc:chgData name="Inti Nuñez" userId="fc293a4ee38bb93b" providerId="LiveId" clId="{8C091EB5-D9FC-51B9-B601-2F1273399689}" dt="2026-03-03T14:52:03.049" v="848"/>
        <pc:sldMkLst>
          <pc:docMk/>
          <pc:sldMk cId="2933507544" sldId="1933"/>
        </pc:sldMkLst>
      </pc:sldChg>
      <pc:sldChg chg="add">
        <pc:chgData name="Inti Nuñez" userId="fc293a4ee38bb93b" providerId="LiveId" clId="{8C091EB5-D9FC-51B9-B601-2F1273399689}" dt="2026-03-03T14:52:03.049" v="848"/>
        <pc:sldMkLst>
          <pc:docMk/>
          <pc:sldMk cId="2036032207" sldId="1934"/>
        </pc:sldMkLst>
      </pc:sldChg>
      <pc:sldChg chg="add modTransition">
        <pc:chgData name="Inti Nuñez" userId="fc293a4ee38bb93b" providerId="LiveId" clId="{8C091EB5-D9FC-51B9-B601-2F1273399689}" dt="2026-03-03T14:52:03.049" v="848"/>
        <pc:sldMkLst>
          <pc:docMk/>
          <pc:sldMk cId="3033072021" sldId="1935"/>
        </pc:sldMkLst>
      </pc:sldChg>
      <pc:sldChg chg="add">
        <pc:chgData name="Inti Nuñez" userId="fc293a4ee38bb93b" providerId="LiveId" clId="{8C091EB5-D9FC-51B9-B601-2F1273399689}" dt="2026-03-03T14:52:03.049" v="848"/>
        <pc:sldMkLst>
          <pc:docMk/>
          <pc:sldMk cId="1195535468" sldId="1936"/>
        </pc:sldMkLst>
      </pc:sldChg>
      <pc:sldChg chg="add">
        <pc:chgData name="Inti Nuñez" userId="fc293a4ee38bb93b" providerId="LiveId" clId="{8C091EB5-D9FC-51B9-B601-2F1273399689}" dt="2026-03-03T14:52:03.049" v="848"/>
        <pc:sldMkLst>
          <pc:docMk/>
          <pc:sldMk cId="86261453" sldId="1937"/>
        </pc:sldMkLst>
      </pc:sldChg>
      <pc:sldChg chg="add">
        <pc:chgData name="Inti Nuñez" userId="fc293a4ee38bb93b" providerId="LiveId" clId="{8C091EB5-D9FC-51B9-B601-2F1273399689}" dt="2026-03-03T14:52:03.049" v="848"/>
        <pc:sldMkLst>
          <pc:docMk/>
          <pc:sldMk cId="816425738" sldId="1938"/>
        </pc:sldMkLst>
      </pc:sldChg>
      <pc:sldChg chg="add">
        <pc:chgData name="Inti Nuñez" userId="fc293a4ee38bb93b" providerId="LiveId" clId="{8C091EB5-D9FC-51B9-B601-2F1273399689}" dt="2026-03-03T14:52:03.049" v="848"/>
        <pc:sldMkLst>
          <pc:docMk/>
          <pc:sldMk cId="1954636225" sldId="1939"/>
        </pc:sldMkLst>
      </pc:sldChg>
      <pc:sldChg chg="add">
        <pc:chgData name="Inti Nuñez" userId="fc293a4ee38bb93b" providerId="LiveId" clId="{8C091EB5-D9FC-51B9-B601-2F1273399689}" dt="2026-03-03T14:52:03.049" v="848"/>
        <pc:sldMkLst>
          <pc:docMk/>
          <pc:sldMk cId="4020656711" sldId="1940"/>
        </pc:sldMkLst>
      </pc:sldChg>
      <pc:sldChg chg="add">
        <pc:chgData name="Inti Nuñez" userId="fc293a4ee38bb93b" providerId="LiveId" clId="{8C091EB5-D9FC-51B9-B601-2F1273399689}" dt="2026-03-03T14:52:03.049" v="848"/>
        <pc:sldMkLst>
          <pc:docMk/>
          <pc:sldMk cId="2672708113" sldId="1941"/>
        </pc:sldMkLst>
      </pc:sldChg>
      <pc:sldChg chg="add">
        <pc:chgData name="Inti Nuñez" userId="fc293a4ee38bb93b" providerId="LiveId" clId="{8C091EB5-D9FC-51B9-B601-2F1273399689}" dt="2026-03-03T14:52:03.049" v="848"/>
        <pc:sldMkLst>
          <pc:docMk/>
          <pc:sldMk cId="2868221689" sldId="1942"/>
        </pc:sldMkLst>
      </pc:sldChg>
      <pc:sldChg chg="add">
        <pc:chgData name="Inti Nuñez" userId="fc293a4ee38bb93b" providerId="LiveId" clId="{8C091EB5-D9FC-51B9-B601-2F1273399689}" dt="2026-03-03T14:52:03.049" v="848"/>
        <pc:sldMkLst>
          <pc:docMk/>
          <pc:sldMk cId="914153951" sldId="1943"/>
        </pc:sldMkLst>
      </pc:sldChg>
      <pc:sldChg chg="add">
        <pc:chgData name="Inti Nuñez" userId="fc293a4ee38bb93b" providerId="LiveId" clId="{8C091EB5-D9FC-51B9-B601-2F1273399689}" dt="2026-03-03T14:52:03.049" v="848"/>
        <pc:sldMkLst>
          <pc:docMk/>
          <pc:sldMk cId="2584995750" sldId="1944"/>
        </pc:sldMkLst>
      </pc:sldChg>
      <pc:sldChg chg="add">
        <pc:chgData name="Inti Nuñez" userId="fc293a4ee38bb93b" providerId="LiveId" clId="{8C091EB5-D9FC-51B9-B601-2F1273399689}" dt="2026-03-03T14:52:03.049" v="848"/>
        <pc:sldMkLst>
          <pc:docMk/>
          <pc:sldMk cId="551003654" sldId="1945"/>
        </pc:sldMkLst>
      </pc:sldChg>
      <pc:sldChg chg="add">
        <pc:chgData name="Inti Nuñez" userId="fc293a4ee38bb93b" providerId="LiveId" clId="{8C091EB5-D9FC-51B9-B601-2F1273399689}" dt="2026-03-03T14:52:03.049" v="848"/>
        <pc:sldMkLst>
          <pc:docMk/>
          <pc:sldMk cId="2513208669" sldId="1946"/>
        </pc:sldMkLst>
      </pc:sldChg>
      <pc:sldChg chg="add">
        <pc:chgData name="Inti Nuñez" userId="fc293a4ee38bb93b" providerId="LiveId" clId="{8C091EB5-D9FC-51B9-B601-2F1273399689}" dt="2026-03-03T14:52:03.049" v="848"/>
        <pc:sldMkLst>
          <pc:docMk/>
          <pc:sldMk cId="1350350646" sldId="1947"/>
        </pc:sldMkLst>
      </pc:sldChg>
      <pc:sldChg chg="add">
        <pc:chgData name="Inti Nuñez" userId="fc293a4ee38bb93b" providerId="LiveId" clId="{8C091EB5-D9FC-51B9-B601-2F1273399689}" dt="2026-03-03T14:52:03.049" v="848"/>
        <pc:sldMkLst>
          <pc:docMk/>
          <pc:sldMk cId="2929690050" sldId="1948"/>
        </pc:sldMkLst>
      </pc:sldChg>
      <pc:sldChg chg="add">
        <pc:chgData name="Inti Nuñez" userId="fc293a4ee38bb93b" providerId="LiveId" clId="{8C091EB5-D9FC-51B9-B601-2F1273399689}" dt="2026-03-03T14:52:03.049" v="848"/>
        <pc:sldMkLst>
          <pc:docMk/>
          <pc:sldMk cId="4234720789" sldId="1949"/>
        </pc:sldMkLst>
      </pc:sldChg>
      <pc:sldChg chg="add">
        <pc:chgData name="Inti Nuñez" userId="fc293a4ee38bb93b" providerId="LiveId" clId="{8C091EB5-D9FC-51B9-B601-2F1273399689}" dt="2026-03-03T14:52:03.049" v="848"/>
        <pc:sldMkLst>
          <pc:docMk/>
          <pc:sldMk cId="3391067025" sldId="1950"/>
        </pc:sldMkLst>
      </pc:sldChg>
      <pc:sldChg chg="add">
        <pc:chgData name="Inti Nuñez" userId="fc293a4ee38bb93b" providerId="LiveId" clId="{8C091EB5-D9FC-51B9-B601-2F1273399689}" dt="2026-03-03T14:52:03.049" v="848"/>
        <pc:sldMkLst>
          <pc:docMk/>
          <pc:sldMk cId="1067609258" sldId="1970"/>
        </pc:sldMkLst>
      </pc:sldChg>
      <pc:sldChg chg="add">
        <pc:chgData name="Inti Nuñez" userId="fc293a4ee38bb93b" providerId="LiveId" clId="{8C091EB5-D9FC-51B9-B601-2F1273399689}" dt="2026-03-03T14:52:03.049" v="848"/>
        <pc:sldMkLst>
          <pc:docMk/>
          <pc:sldMk cId="1368089605" sldId="1971"/>
        </pc:sldMkLst>
      </pc:sldChg>
      <pc:sldChg chg="add">
        <pc:chgData name="Inti Nuñez" userId="fc293a4ee38bb93b" providerId="LiveId" clId="{8C091EB5-D9FC-51B9-B601-2F1273399689}" dt="2026-03-03T14:52:03.049" v="848"/>
        <pc:sldMkLst>
          <pc:docMk/>
          <pc:sldMk cId="3358792337" sldId="1972"/>
        </pc:sldMkLst>
      </pc:sldChg>
      <pc:sldChg chg="add">
        <pc:chgData name="Inti Nuñez" userId="fc293a4ee38bb93b" providerId="LiveId" clId="{8C091EB5-D9FC-51B9-B601-2F1273399689}" dt="2026-03-03T14:52:03.049" v="848"/>
        <pc:sldMkLst>
          <pc:docMk/>
          <pc:sldMk cId="2211441956" sldId="1973"/>
        </pc:sldMkLst>
      </pc:sldChg>
      <pc:sldChg chg="add">
        <pc:chgData name="Inti Nuñez" userId="fc293a4ee38bb93b" providerId="LiveId" clId="{8C091EB5-D9FC-51B9-B601-2F1273399689}" dt="2026-03-03T14:52:03.049" v="848"/>
        <pc:sldMkLst>
          <pc:docMk/>
          <pc:sldMk cId="653354343" sldId="1975"/>
        </pc:sldMkLst>
      </pc:sldChg>
      <pc:sldChg chg="add del">
        <pc:chgData name="Inti Nuñez" userId="fc293a4ee38bb93b" providerId="LiveId" clId="{8C091EB5-D9FC-51B9-B601-2F1273399689}" dt="2026-03-04T12:37:47.384" v="851" actId="2696"/>
        <pc:sldMkLst>
          <pc:docMk/>
          <pc:sldMk cId="462483880" sldId="1976"/>
        </pc:sldMkLst>
      </pc:sldChg>
      <pc:sldChg chg="add">
        <pc:chgData name="Inti Nuñez" userId="fc293a4ee38bb93b" providerId="LiveId" clId="{8C091EB5-D9FC-51B9-B601-2F1273399689}" dt="2026-03-03T14:52:03.049" v="848"/>
        <pc:sldMkLst>
          <pc:docMk/>
          <pc:sldMk cId="2662394314" sldId="1997"/>
        </pc:sldMkLst>
      </pc:sldChg>
      <pc:sldChg chg="add">
        <pc:chgData name="Inti Nuñez" userId="fc293a4ee38bb93b" providerId="LiveId" clId="{8C091EB5-D9FC-51B9-B601-2F1273399689}" dt="2026-03-03T14:52:03.049" v="848"/>
        <pc:sldMkLst>
          <pc:docMk/>
          <pc:sldMk cId="1580138960" sldId="1998"/>
        </pc:sldMkLst>
      </pc:sldChg>
      <pc:sldChg chg="add">
        <pc:chgData name="Inti Nuñez" userId="fc293a4ee38bb93b" providerId="LiveId" clId="{8C091EB5-D9FC-51B9-B601-2F1273399689}" dt="2026-03-03T14:52:03.049" v="848"/>
        <pc:sldMkLst>
          <pc:docMk/>
          <pc:sldMk cId="2299990883" sldId="1999"/>
        </pc:sldMkLst>
      </pc:sldChg>
      <pc:sldChg chg="add">
        <pc:chgData name="Inti Nuñez" userId="fc293a4ee38bb93b" providerId="LiveId" clId="{8C091EB5-D9FC-51B9-B601-2F1273399689}" dt="2026-03-03T14:52:03.049" v="848"/>
        <pc:sldMkLst>
          <pc:docMk/>
          <pc:sldMk cId="1856668791" sldId="2000"/>
        </pc:sldMkLst>
      </pc:sldChg>
      <pc:sldChg chg="add">
        <pc:chgData name="Inti Nuñez" userId="fc293a4ee38bb93b" providerId="LiveId" clId="{8C091EB5-D9FC-51B9-B601-2F1273399689}" dt="2026-03-03T14:52:03.049" v="848"/>
        <pc:sldMkLst>
          <pc:docMk/>
          <pc:sldMk cId="2075543202" sldId="2001"/>
        </pc:sldMkLst>
      </pc:sldChg>
      <pc:sldChg chg="add">
        <pc:chgData name="Inti Nuñez" userId="fc293a4ee38bb93b" providerId="LiveId" clId="{8C091EB5-D9FC-51B9-B601-2F1273399689}" dt="2026-03-03T14:52:03.049" v="848"/>
        <pc:sldMkLst>
          <pc:docMk/>
          <pc:sldMk cId="662421191" sldId="200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file:///C:\Users\mthibaut\Documents\Dictuc\Luciano\Copy%20of%2020091028%20Informe%20%20Luciano%20Chiang%20a%20Agosto%202009.xls"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C:\Users\mthibaut\Documents\Dictuc\Luciano\Copy%20of%2020091028%20Informe%20%20Luciano%20Chiang%20a%20Agosto%202009.xls" TargetMode="External"/><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lang="es-CL">
                <a:solidFill>
                  <a:srgbClr val="E33B1F"/>
                </a:solidFill>
              </a:defRPr>
            </a:pPr>
            <a:r>
              <a:rPr lang="es-CL">
                <a:solidFill>
                  <a:srgbClr val="E33B1F"/>
                </a:solidFill>
              </a:rPr>
              <a:t>Proyecciones</a:t>
            </a:r>
            <a:r>
              <a:rPr lang="es-CL" baseline="0">
                <a:solidFill>
                  <a:srgbClr val="E33B1F"/>
                </a:solidFill>
              </a:rPr>
              <a:t> de Ventas</a:t>
            </a:r>
            <a:endParaRPr lang="es-CL">
              <a:solidFill>
                <a:srgbClr val="E33B1F"/>
              </a:solidFill>
            </a:endParaRPr>
          </a:p>
        </c:rich>
      </c:tx>
      <c:overlay val="0"/>
    </c:title>
    <c:autoTitleDeleted val="0"/>
    <c:plotArea>
      <c:layout/>
      <c:lineChart>
        <c:grouping val="standard"/>
        <c:varyColors val="0"/>
        <c:ser>
          <c:idx val="0"/>
          <c:order val="0"/>
          <c:tx>
            <c:strRef>
              <c:f>'Proyecciones Ventas'!$D$3</c:f>
              <c:strCache>
                <c:ptCount val="1"/>
                <c:pt idx="0">
                  <c:v>Mecatronica UC Proyecciones</c:v>
                </c:pt>
              </c:strCache>
            </c:strRef>
          </c:tx>
          <c:spPr>
            <a:ln>
              <a:solidFill>
                <a:srgbClr val="FFC000"/>
              </a:solidFill>
              <a:prstDash val="lgDash"/>
            </a:ln>
          </c:spPr>
          <c:marker>
            <c:symbol val="none"/>
          </c:marker>
          <c:cat>
            <c:numRef>
              <c:f>'Proyecciones Ventas'!$G$3:$X$3</c:f>
              <c:numCache>
                <c:formatCode>General</c:formatCode>
                <c:ptCount val="18"/>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numCache>
            </c:numRef>
          </c:cat>
          <c:val>
            <c:numRef>
              <c:f>'Proyecciones Ventas'!$G$8:$X$8</c:f>
              <c:numCache>
                <c:formatCode>General</c:formatCode>
                <c:ptCount val="18"/>
                <c:pt idx="4">
                  <c:v>1</c:v>
                </c:pt>
                <c:pt idx="5">
                  <c:v>2.2840585036451437</c:v>
                </c:pt>
                <c:pt idx="6">
                  <c:v>3.1409183888804586</c:v>
                </c:pt>
                <c:pt idx="7">
                  <c:v>6.1008491100782916</c:v>
                </c:pt>
                <c:pt idx="8">
                  <c:v>11.489932490647456</c:v>
                </c:pt>
                <c:pt idx="9">
                  <c:v>11.489932490647456</c:v>
                </c:pt>
                <c:pt idx="10">
                  <c:v>17.082377508219189</c:v>
                </c:pt>
                <c:pt idx="11">
                  <c:v>17.082377508219189</c:v>
                </c:pt>
                <c:pt idx="12">
                  <c:v>22.67482252579099</c:v>
                </c:pt>
                <c:pt idx="13">
                  <c:v>22.67482252579099</c:v>
                </c:pt>
                <c:pt idx="14">
                  <c:v>28.267267543362689</c:v>
                </c:pt>
                <c:pt idx="15">
                  <c:v>28.267267543362689</c:v>
                </c:pt>
                <c:pt idx="16">
                  <c:v>33.859712560934504</c:v>
                </c:pt>
                <c:pt idx="17">
                  <c:v>33.859712560934504</c:v>
                </c:pt>
              </c:numCache>
            </c:numRef>
          </c:val>
          <c:smooth val="0"/>
          <c:extLst>
            <c:ext xmlns:c16="http://schemas.microsoft.com/office/drawing/2014/chart" uri="{C3380CC4-5D6E-409C-BE32-E72D297353CC}">
              <c16:uniqueId val="{00000000-745A-46E4-9B30-E5192A91E96D}"/>
            </c:ext>
          </c:extLst>
        </c:ser>
        <c:ser>
          <c:idx val="1"/>
          <c:order val="1"/>
          <c:tx>
            <c:strRef>
              <c:f>'Proyecciones Ventas'!$D$10</c:f>
              <c:strCache>
                <c:ptCount val="1"/>
                <c:pt idx="0">
                  <c:v>Komatsu</c:v>
                </c:pt>
              </c:strCache>
            </c:strRef>
          </c:tx>
          <c:marker>
            <c:symbol val="none"/>
          </c:marker>
          <c:cat>
            <c:numRef>
              <c:f>'Proyecciones Ventas'!$G$3:$X$3</c:f>
              <c:numCache>
                <c:formatCode>General</c:formatCode>
                <c:ptCount val="18"/>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numCache>
            </c:numRef>
          </c:cat>
          <c:val>
            <c:numRef>
              <c:f>'Proyecciones Ventas'!$G$11:$M$11</c:f>
              <c:numCache>
                <c:formatCode>General</c:formatCode>
                <c:ptCount val="7"/>
                <c:pt idx="0">
                  <c:v>1</c:v>
                </c:pt>
                <c:pt idx="1">
                  <c:v>1.098255280073462</c:v>
                </c:pt>
                <c:pt idx="2">
                  <c:v>1.3168044077134933</c:v>
                </c:pt>
                <c:pt idx="3">
                  <c:v>1.4803489439853081</c:v>
                </c:pt>
                <c:pt idx="4">
                  <c:v>1.738567493112948</c:v>
                </c:pt>
                <c:pt idx="5">
                  <c:v>2.0596877869605152</c:v>
                </c:pt>
                <c:pt idx="6">
                  <c:v>1.8564738292011087</c:v>
                </c:pt>
              </c:numCache>
            </c:numRef>
          </c:val>
          <c:smooth val="0"/>
          <c:extLst>
            <c:ext xmlns:c16="http://schemas.microsoft.com/office/drawing/2014/chart" uri="{C3380CC4-5D6E-409C-BE32-E72D297353CC}">
              <c16:uniqueId val="{00000001-745A-46E4-9B30-E5192A91E96D}"/>
            </c:ext>
          </c:extLst>
        </c:ser>
        <c:ser>
          <c:idx val="2"/>
          <c:order val="2"/>
          <c:tx>
            <c:strRef>
              <c:f>'Proyecciones Ventas'!$D$12</c:f>
              <c:strCache>
                <c:ptCount val="1"/>
                <c:pt idx="0">
                  <c:v>Atlas Copco</c:v>
                </c:pt>
              </c:strCache>
            </c:strRef>
          </c:tx>
          <c:marker>
            <c:symbol val="none"/>
          </c:marker>
          <c:cat>
            <c:numRef>
              <c:f>'Proyecciones Ventas'!$G$3:$X$3</c:f>
              <c:numCache>
                <c:formatCode>General</c:formatCode>
                <c:ptCount val="18"/>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numCache>
            </c:numRef>
          </c:cat>
          <c:val>
            <c:numRef>
              <c:f>'Proyecciones Ventas'!$G$13:$M$13</c:f>
              <c:numCache>
                <c:formatCode>General</c:formatCode>
                <c:ptCount val="7"/>
                <c:pt idx="1">
                  <c:v>1</c:v>
                </c:pt>
                <c:pt idx="2">
                  <c:v>1</c:v>
                </c:pt>
                <c:pt idx="3">
                  <c:v>1.25</c:v>
                </c:pt>
                <c:pt idx="4">
                  <c:v>1.6</c:v>
                </c:pt>
                <c:pt idx="5">
                  <c:v>1.825</c:v>
                </c:pt>
                <c:pt idx="6">
                  <c:v>1.5</c:v>
                </c:pt>
              </c:numCache>
            </c:numRef>
          </c:val>
          <c:smooth val="0"/>
          <c:extLst>
            <c:ext xmlns:c16="http://schemas.microsoft.com/office/drawing/2014/chart" uri="{C3380CC4-5D6E-409C-BE32-E72D297353CC}">
              <c16:uniqueId val="{00000002-745A-46E4-9B30-E5192A91E96D}"/>
            </c:ext>
          </c:extLst>
        </c:ser>
        <c:ser>
          <c:idx val="3"/>
          <c:order val="3"/>
          <c:tx>
            <c:strRef>
              <c:f>'Proyecciones Ventas'!$D$14</c:f>
              <c:strCache>
                <c:ptCount val="1"/>
                <c:pt idx="0">
                  <c:v>Sandvik</c:v>
                </c:pt>
              </c:strCache>
            </c:strRef>
          </c:tx>
          <c:marker>
            <c:symbol val="none"/>
          </c:marker>
          <c:cat>
            <c:numRef>
              <c:f>'Proyecciones Ventas'!$G$3:$X$3</c:f>
              <c:numCache>
                <c:formatCode>General</c:formatCode>
                <c:ptCount val="18"/>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numCache>
            </c:numRef>
          </c:cat>
          <c:val>
            <c:numRef>
              <c:f>'Proyecciones Ventas'!$G$15:$M$15</c:f>
              <c:numCache>
                <c:formatCode>General</c:formatCode>
                <c:ptCount val="7"/>
                <c:pt idx="0">
                  <c:v>1</c:v>
                </c:pt>
                <c:pt idx="1">
                  <c:v>1.1666666666666667</c:v>
                </c:pt>
                <c:pt idx="2">
                  <c:v>1.25</c:v>
                </c:pt>
                <c:pt idx="3">
                  <c:v>1.5</c:v>
                </c:pt>
                <c:pt idx="4">
                  <c:v>1.9166666666666659</c:v>
                </c:pt>
                <c:pt idx="5">
                  <c:v>2.0833333333333401</c:v>
                </c:pt>
                <c:pt idx="6">
                  <c:v>1.4166666666666659</c:v>
                </c:pt>
              </c:numCache>
            </c:numRef>
          </c:val>
          <c:smooth val="0"/>
          <c:extLst>
            <c:ext xmlns:c16="http://schemas.microsoft.com/office/drawing/2014/chart" uri="{C3380CC4-5D6E-409C-BE32-E72D297353CC}">
              <c16:uniqueId val="{00000003-745A-46E4-9B30-E5192A91E96D}"/>
            </c:ext>
          </c:extLst>
        </c:ser>
        <c:ser>
          <c:idx val="4"/>
          <c:order val="4"/>
          <c:tx>
            <c:v>Champion Minería</c:v>
          </c:tx>
          <c:marker>
            <c:symbol val="none"/>
          </c:marker>
          <c:val>
            <c:numRef>
              <c:f>'Proyecciones Ventas'!$H$17:$M$17</c:f>
              <c:numCache>
                <c:formatCode>General</c:formatCode>
                <c:ptCount val="6"/>
                <c:pt idx="0">
                  <c:v>1</c:v>
                </c:pt>
                <c:pt idx="1">
                  <c:v>1.4473358499999978</c:v>
                </c:pt>
                <c:pt idx="2">
                  <c:v>2.7668816870000001</c:v>
                </c:pt>
                <c:pt idx="3">
                  <c:v>5.1808129374999838</c:v>
                </c:pt>
                <c:pt idx="4">
                  <c:v>6.6457905250000007</c:v>
                </c:pt>
                <c:pt idx="5">
                  <c:v>8.1895000993875247</c:v>
                </c:pt>
              </c:numCache>
            </c:numRef>
          </c:val>
          <c:smooth val="0"/>
          <c:extLst>
            <c:ext xmlns:c16="http://schemas.microsoft.com/office/drawing/2014/chart" uri="{C3380CC4-5D6E-409C-BE32-E72D297353CC}">
              <c16:uniqueId val="{00000004-745A-46E4-9B30-E5192A91E96D}"/>
            </c:ext>
          </c:extLst>
        </c:ser>
        <c:dLbls>
          <c:showLegendKey val="0"/>
          <c:showVal val="0"/>
          <c:showCatName val="0"/>
          <c:showSerName val="0"/>
          <c:showPercent val="0"/>
          <c:showBubbleSize val="0"/>
        </c:dLbls>
        <c:smooth val="0"/>
        <c:axId val="83505920"/>
        <c:axId val="83507456"/>
      </c:lineChart>
      <c:catAx>
        <c:axId val="83505920"/>
        <c:scaling>
          <c:orientation val="minMax"/>
        </c:scaling>
        <c:delete val="0"/>
        <c:axPos val="b"/>
        <c:numFmt formatCode="General" sourceLinked="1"/>
        <c:majorTickMark val="none"/>
        <c:minorTickMark val="none"/>
        <c:tickLblPos val="nextTo"/>
        <c:txPr>
          <a:bodyPr/>
          <a:lstStyle/>
          <a:p>
            <a:pPr>
              <a:defRPr lang="es-CL"/>
            </a:pPr>
            <a:endParaRPr lang="es-CL"/>
          </a:p>
        </c:txPr>
        <c:crossAx val="83507456"/>
        <c:crosses val="autoZero"/>
        <c:auto val="1"/>
        <c:lblAlgn val="ctr"/>
        <c:lblOffset val="100"/>
        <c:noMultiLvlLbl val="0"/>
      </c:catAx>
      <c:valAx>
        <c:axId val="83507456"/>
        <c:scaling>
          <c:logBase val="10"/>
          <c:orientation val="minMax"/>
          <c:max val="100"/>
          <c:min val="0.5"/>
        </c:scaling>
        <c:delete val="0"/>
        <c:axPos val="l"/>
        <c:majorGridlines/>
        <c:minorGridlines/>
        <c:title>
          <c:tx>
            <c:rich>
              <a:bodyPr/>
              <a:lstStyle/>
              <a:p>
                <a:pPr>
                  <a:defRPr lang="es-CL">
                    <a:solidFill>
                      <a:srgbClr val="E33B1F"/>
                    </a:solidFill>
                  </a:defRPr>
                </a:pPr>
                <a:r>
                  <a:rPr lang="es-CL" dirty="0">
                    <a:solidFill>
                      <a:srgbClr val="E33B1F"/>
                    </a:solidFill>
                  </a:rPr>
                  <a:t>Multiplicador Ventas </a:t>
                </a:r>
                <a:r>
                  <a:rPr lang="es-CL" baseline="0" dirty="0">
                    <a:solidFill>
                      <a:srgbClr val="E33B1F"/>
                    </a:solidFill>
                  </a:rPr>
                  <a:t> (1x)</a:t>
                </a:r>
                <a:endParaRPr lang="es-CL" dirty="0">
                  <a:solidFill>
                    <a:srgbClr val="E33B1F"/>
                  </a:solidFill>
                </a:endParaRPr>
              </a:p>
            </c:rich>
          </c:tx>
          <c:overlay val="0"/>
        </c:title>
        <c:numFmt formatCode="General" sourceLinked="1"/>
        <c:majorTickMark val="out"/>
        <c:minorTickMark val="in"/>
        <c:tickLblPos val="nextTo"/>
        <c:txPr>
          <a:bodyPr/>
          <a:lstStyle/>
          <a:p>
            <a:pPr>
              <a:defRPr lang="es-CL"/>
            </a:pPr>
            <a:endParaRPr lang="es-CL"/>
          </a:p>
        </c:txPr>
        <c:crossAx val="83505920"/>
        <c:crosses val="autoZero"/>
        <c:crossBetween val="midCat"/>
        <c:majorUnit val="10"/>
        <c:minorUnit val="10"/>
      </c:valAx>
    </c:plotArea>
    <c:legend>
      <c:legendPos val="b"/>
      <c:overlay val="0"/>
      <c:txPr>
        <a:bodyPr/>
        <a:lstStyle/>
        <a:p>
          <a:pPr>
            <a:defRPr lang="es-CL" sz="1000"/>
          </a:pPr>
          <a:endParaRPr lang="es-CL"/>
        </a:p>
      </c:txPr>
    </c:legend>
    <c:plotVisOnly val="1"/>
    <c:dispBlanksAs val="gap"/>
    <c:showDLblsOverMax val="0"/>
  </c:chart>
  <c:spPr>
    <a:solidFill>
      <a:schemeClr val="lt1"/>
    </a:solidFill>
    <a:ln w="9525" cap="flat" cmpd="sng" algn="ctr">
      <a:solidFill>
        <a:srgbClr val="ED6723"/>
      </a:solidFill>
      <a:prstDash val="solid"/>
    </a:ln>
    <a:effectLst/>
  </c:spPr>
  <c:txPr>
    <a:bodyPr/>
    <a:lstStyle/>
    <a:p>
      <a:pPr>
        <a:defRPr>
          <a:solidFill>
            <a:schemeClr val="dk1"/>
          </a:solidFill>
          <a:latin typeface="+mn-lt"/>
          <a:ea typeface="+mn-ea"/>
          <a:cs typeface="+mn-cs"/>
        </a:defRPr>
      </a:pPr>
      <a:endParaRPr lang="es-CL"/>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454617736318131E-2"/>
          <c:y val="5.1008120629216704E-2"/>
          <c:w val="0.89359454964892437"/>
          <c:h val="0.89809548806399264"/>
        </c:manualLayout>
      </c:layout>
      <c:lineChart>
        <c:grouping val="standard"/>
        <c:varyColors val="0"/>
        <c:ser>
          <c:idx val="0"/>
          <c:order val="0"/>
          <c:marker>
            <c:symbol val="none"/>
          </c:marker>
          <c:dLbls>
            <c:dLbl>
              <c:idx val="1"/>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124-4791-B8F2-C0C344F7D6B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numRef>
              <c:f>DCF!$E$4:$O$4</c:f>
              <c:numCache>
                <c:formatCode>#,##0</c:formatCode>
                <c:ptCount val="11"/>
                <c:pt idx="0">
                  <c:v>0</c:v>
                </c:pt>
                <c:pt idx="1">
                  <c:v>1</c:v>
                </c:pt>
                <c:pt idx="2">
                  <c:v>2</c:v>
                </c:pt>
                <c:pt idx="3">
                  <c:v>3</c:v>
                </c:pt>
                <c:pt idx="4">
                  <c:v>4</c:v>
                </c:pt>
                <c:pt idx="5">
                  <c:v>5</c:v>
                </c:pt>
                <c:pt idx="6">
                  <c:v>6</c:v>
                </c:pt>
                <c:pt idx="7">
                  <c:v>7</c:v>
                </c:pt>
                <c:pt idx="8">
                  <c:v>8</c:v>
                </c:pt>
                <c:pt idx="9">
                  <c:v>9</c:v>
                </c:pt>
                <c:pt idx="10">
                  <c:v>10</c:v>
                </c:pt>
              </c:numCache>
            </c:numRef>
          </c:cat>
          <c:val>
            <c:numRef>
              <c:f>DCF!$E$60:$J$60</c:f>
              <c:numCache>
                <c:formatCode>#,##0</c:formatCode>
                <c:ptCount val="6"/>
                <c:pt idx="0">
                  <c:v>-14805092.92035393</c:v>
                </c:pt>
                <c:pt idx="1">
                  <c:v>-286040292.92035294</c:v>
                </c:pt>
                <c:pt idx="2">
                  <c:v>-271472492.92035294</c:v>
                </c:pt>
                <c:pt idx="3">
                  <c:v>-196448726.25368726</c:v>
                </c:pt>
                <c:pt idx="4">
                  <c:v>-124025959.58702059</c:v>
                </c:pt>
                <c:pt idx="5">
                  <c:v>44870573.746312685</c:v>
                </c:pt>
              </c:numCache>
            </c:numRef>
          </c:val>
          <c:smooth val="1"/>
          <c:extLst>
            <c:ext xmlns:c16="http://schemas.microsoft.com/office/drawing/2014/chart" uri="{C3380CC4-5D6E-409C-BE32-E72D297353CC}">
              <c16:uniqueId val="{00000001-1124-4791-B8F2-C0C344F7D6B5}"/>
            </c:ext>
          </c:extLst>
        </c:ser>
        <c:ser>
          <c:idx val="2"/>
          <c:order val="1"/>
          <c:marker>
            <c:symbol val="none"/>
          </c:marker>
          <c:dLbls>
            <c:dLbl>
              <c:idx val="1"/>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124-4791-B8F2-C0C344F7D6B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DCF!$E$63:$J$63</c:f>
              <c:numCache>
                <c:formatCode>#,##0</c:formatCode>
                <c:ptCount val="6"/>
                <c:pt idx="0">
                  <c:v>-14805092.92035393</c:v>
                </c:pt>
                <c:pt idx="1">
                  <c:v>-250661788.57252786</c:v>
                </c:pt>
                <c:pt idx="2">
                  <c:v>-239646438.85608211</c:v>
                </c:pt>
                <c:pt idx="3">
                  <c:v>-190317094.45455846</c:v>
                </c:pt>
                <c:pt idx="4">
                  <c:v>-148909142.55806485</c:v>
                </c:pt>
                <c:pt idx="5">
                  <c:v>-64937715.512199387</c:v>
                </c:pt>
              </c:numCache>
            </c:numRef>
          </c:val>
          <c:smooth val="1"/>
          <c:extLst>
            <c:ext xmlns:c16="http://schemas.microsoft.com/office/drawing/2014/chart" uri="{C3380CC4-5D6E-409C-BE32-E72D297353CC}">
              <c16:uniqueId val="{00000003-1124-4791-B8F2-C0C344F7D6B5}"/>
            </c:ext>
          </c:extLst>
        </c:ser>
        <c:ser>
          <c:idx val="1"/>
          <c:order val="2"/>
          <c:marker>
            <c:symbol val="none"/>
          </c:marker>
          <c:dLbls>
            <c:dLbl>
              <c:idx val="1"/>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124-4791-B8F2-C0C344F7D6B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numRef>
              <c:f>DCF!$E$4:$O$4</c:f>
              <c:numCache>
                <c:formatCode>#,##0</c:formatCode>
                <c:ptCount val="11"/>
                <c:pt idx="0">
                  <c:v>0</c:v>
                </c:pt>
                <c:pt idx="1">
                  <c:v>1</c:v>
                </c:pt>
                <c:pt idx="2">
                  <c:v>2</c:v>
                </c:pt>
                <c:pt idx="3">
                  <c:v>3</c:v>
                </c:pt>
                <c:pt idx="4">
                  <c:v>4</c:v>
                </c:pt>
                <c:pt idx="5">
                  <c:v>5</c:v>
                </c:pt>
                <c:pt idx="6">
                  <c:v>6</c:v>
                </c:pt>
                <c:pt idx="7">
                  <c:v>7</c:v>
                </c:pt>
                <c:pt idx="8">
                  <c:v>8</c:v>
                </c:pt>
                <c:pt idx="9">
                  <c:v>9</c:v>
                </c:pt>
                <c:pt idx="10">
                  <c:v>10</c:v>
                </c:pt>
              </c:numCache>
            </c:numRef>
          </c:cat>
          <c:val>
            <c:numRef>
              <c:f>DCF!$E$61:$J$61</c:f>
              <c:numCache>
                <c:formatCode>#,##0</c:formatCode>
                <c:ptCount val="6"/>
                <c:pt idx="0">
                  <c:v>8522823.7463126872</c:v>
                </c:pt>
                <c:pt idx="1">
                  <c:v>-145331950</c:v>
                </c:pt>
                <c:pt idx="2">
                  <c:v>126416050</c:v>
                </c:pt>
                <c:pt idx="3">
                  <c:v>247719850</c:v>
                </c:pt>
                <c:pt idx="4">
                  <c:v>236778850</c:v>
                </c:pt>
                <c:pt idx="5">
                  <c:v>365272450</c:v>
                </c:pt>
              </c:numCache>
            </c:numRef>
          </c:val>
          <c:smooth val="1"/>
          <c:extLst>
            <c:ext xmlns:c16="http://schemas.microsoft.com/office/drawing/2014/chart" uri="{C3380CC4-5D6E-409C-BE32-E72D297353CC}">
              <c16:uniqueId val="{00000005-1124-4791-B8F2-C0C344F7D6B5}"/>
            </c:ext>
          </c:extLst>
        </c:ser>
        <c:dLbls>
          <c:showLegendKey val="0"/>
          <c:showVal val="0"/>
          <c:showCatName val="0"/>
          <c:showSerName val="0"/>
          <c:showPercent val="0"/>
          <c:showBubbleSize val="0"/>
        </c:dLbls>
        <c:smooth val="0"/>
        <c:axId val="83722624"/>
        <c:axId val="83724160"/>
      </c:lineChart>
      <c:catAx>
        <c:axId val="83722624"/>
        <c:scaling>
          <c:orientation val="minMax"/>
        </c:scaling>
        <c:delete val="0"/>
        <c:axPos val="b"/>
        <c:numFmt formatCode="#,##0" sourceLinked="1"/>
        <c:majorTickMark val="out"/>
        <c:minorTickMark val="none"/>
        <c:tickLblPos val="nextTo"/>
        <c:txPr>
          <a:bodyPr/>
          <a:lstStyle/>
          <a:p>
            <a:pPr>
              <a:defRPr lang="es-CL"/>
            </a:pPr>
            <a:endParaRPr lang="es-CL"/>
          </a:p>
        </c:txPr>
        <c:crossAx val="83724160"/>
        <c:crosses val="autoZero"/>
        <c:auto val="1"/>
        <c:lblAlgn val="ctr"/>
        <c:lblOffset val="100"/>
        <c:noMultiLvlLbl val="0"/>
      </c:catAx>
      <c:valAx>
        <c:axId val="83724160"/>
        <c:scaling>
          <c:orientation val="minMax"/>
          <c:max val="300000000"/>
          <c:min val="-320000000"/>
        </c:scaling>
        <c:delete val="0"/>
        <c:axPos val="l"/>
        <c:majorGridlines/>
        <c:numFmt formatCode="#,##0" sourceLinked="1"/>
        <c:majorTickMark val="out"/>
        <c:minorTickMark val="none"/>
        <c:tickLblPos val="nextTo"/>
        <c:txPr>
          <a:bodyPr/>
          <a:lstStyle/>
          <a:p>
            <a:pPr>
              <a:defRPr lang="es-CL"/>
            </a:pPr>
            <a:endParaRPr lang="es-CL"/>
          </a:p>
        </c:txPr>
        <c:crossAx val="83722624"/>
        <c:crossesAt val="1"/>
        <c:crossBetween val="between"/>
        <c:majorUnit val="200000000"/>
        <c:dispUnits>
          <c:builtInUnit val="millions"/>
          <c:dispUnitsLbl>
            <c:txPr>
              <a:bodyPr/>
              <a:lstStyle/>
              <a:p>
                <a:pPr>
                  <a:defRPr lang="es-CL"/>
                </a:pPr>
                <a:endParaRPr lang="es-CL"/>
              </a:p>
            </c:txPr>
          </c:dispUnitsLbl>
        </c:dispUnits>
      </c:valAx>
    </c:plotArea>
    <c:plotVisOnly val="1"/>
    <c:dispBlanksAs val="gap"/>
    <c:showDLblsOverMax val="0"/>
  </c:chart>
  <c:spPr>
    <a:solidFill>
      <a:schemeClr val="lt1"/>
    </a:solidFill>
    <a:ln w="9525" cap="flat" cmpd="sng" algn="ctr">
      <a:solidFill>
        <a:srgbClr val="ED6723"/>
      </a:solidFill>
      <a:prstDash val="solid"/>
    </a:ln>
    <a:effectLst/>
  </c:spPr>
  <c:txPr>
    <a:bodyPr/>
    <a:lstStyle/>
    <a:p>
      <a:pPr>
        <a:defRPr>
          <a:solidFill>
            <a:schemeClr val="dk1"/>
          </a:solidFill>
          <a:latin typeface="+mn-lt"/>
          <a:ea typeface="+mn-ea"/>
          <a:cs typeface="+mn-cs"/>
        </a:defRPr>
      </a:pPr>
      <a:endParaRPr lang="es-CL"/>
    </a:p>
  </c:txPr>
  <c:externalData r:id="rId2">
    <c:autoUpdate val="0"/>
  </c:externalData>
</c:chartSpace>
</file>

<file path=ppt/drawings/drawing1.xml><?xml version="1.0" encoding="utf-8"?>
<c:userShapes xmlns:c="http://schemas.openxmlformats.org/drawingml/2006/chart">
  <cdr:relSizeAnchor xmlns:cdr="http://schemas.openxmlformats.org/drawingml/2006/chartDrawing">
    <cdr:from>
      <cdr:x>0.64418</cdr:x>
      <cdr:y>0.22727</cdr:y>
    </cdr:from>
    <cdr:to>
      <cdr:x>0.84558</cdr:x>
      <cdr:y>0.27949</cdr:y>
    </cdr:to>
    <cdr:sp macro="" textlink="">
      <cdr:nvSpPr>
        <cdr:cNvPr id="2" name="Rectangle 1"/>
        <cdr:cNvSpPr/>
      </cdr:nvSpPr>
      <cdr:spPr>
        <a:xfrm xmlns:a="http://schemas.openxmlformats.org/drawingml/2006/main">
          <a:off x="3000396" y="1071570"/>
          <a:ext cx="938077" cy="246221"/>
        </a:xfrm>
        <a:prstGeom xmlns:a="http://schemas.openxmlformats.org/drawingml/2006/main" prst="rect">
          <a:avLst/>
        </a:prstGeom>
      </cdr:spPr>
      <cdr:txBody>
        <a:bodyPr xmlns:a="http://schemas.openxmlformats.org/drawingml/2006/main" wrap="none">
          <a:spAutoFit/>
        </a:bodyPr>
        <a:lstStyle xmlns:a="http://schemas.openxmlformats.org/drawingml/2006/main">
          <a:defPPr>
            <a:defRPr lang="es-CL"/>
          </a:defPPr>
          <a:lvl1pPr marL="0" algn="l" defTabSz="914400" rtl="0" eaLnBrk="1" latinLnBrk="0" hangingPunct="1">
            <a:defRPr sz="1800" kern="1200">
              <a:solidFill>
                <a:sysClr val="windowText" lastClr="000000"/>
              </a:solidFill>
              <a:latin typeface="Calibri"/>
            </a:defRPr>
          </a:lvl1pPr>
          <a:lvl2pPr marL="457200" algn="l" defTabSz="914400" rtl="0" eaLnBrk="1" latinLnBrk="0" hangingPunct="1">
            <a:defRPr sz="1800" kern="1200">
              <a:solidFill>
                <a:sysClr val="windowText" lastClr="000000"/>
              </a:solidFill>
              <a:latin typeface="Calibri"/>
            </a:defRPr>
          </a:lvl2pPr>
          <a:lvl3pPr marL="914400" algn="l" defTabSz="914400" rtl="0" eaLnBrk="1" latinLnBrk="0" hangingPunct="1">
            <a:defRPr sz="1800" kern="1200">
              <a:solidFill>
                <a:sysClr val="windowText" lastClr="000000"/>
              </a:solidFill>
              <a:latin typeface="Calibri"/>
            </a:defRPr>
          </a:lvl3pPr>
          <a:lvl4pPr marL="1371600" algn="l" defTabSz="914400" rtl="0" eaLnBrk="1" latinLnBrk="0" hangingPunct="1">
            <a:defRPr sz="1800" kern="1200">
              <a:solidFill>
                <a:sysClr val="windowText" lastClr="000000"/>
              </a:solidFill>
              <a:latin typeface="Calibri"/>
            </a:defRPr>
          </a:lvl4pPr>
          <a:lvl5pPr marL="1828800" algn="l" defTabSz="914400" rtl="0" eaLnBrk="1" latinLnBrk="0" hangingPunct="1">
            <a:defRPr sz="1800" kern="1200">
              <a:solidFill>
                <a:sysClr val="windowText" lastClr="000000"/>
              </a:solidFill>
              <a:latin typeface="Calibri"/>
            </a:defRPr>
          </a:lvl5pPr>
          <a:lvl6pPr marL="2286000" algn="l" defTabSz="914400" rtl="0" eaLnBrk="1" latinLnBrk="0" hangingPunct="1">
            <a:defRPr sz="1800" kern="1200">
              <a:solidFill>
                <a:sysClr val="windowText" lastClr="000000"/>
              </a:solidFill>
              <a:latin typeface="Calibri"/>
            </a:defRPr>
          </a:lvl6pPr>
          <a:lvl7pPr marL="2743200" algn="l" defTabSz="914400" rtl="0" eaLnBrk="1" latinLnBrk="0" hangingPunct="1">
            <a:defRPr sz="1800" kern="1200">
              <a:solidFill>
                <a:sysClr val="windowText" lastClr="000000"/>
              </a:solidFill>
              <a:latin typeface="Calibri"/>
            </a:defRPr>
          </a:lvl7pPr>
          <a:lvl8pPr marL="3200400" algn="l" defTabSz="914400" rtl="0" eaLnBrk="1" latinLnBrk="0" hangingPunct="1">
            <a:defRPr sz="1800" kern="1200">
              <a:solidFill>
                <a:sysClr val="windowText" lastClr="000000"/>
              </a:solidFill>
              <a:latin typeface="Calibri"/>
            </a:defRPr>
          </a:lvl8pPr>
          <a:lvl9pPr marL="3657600" algn="l" defTabSz="914400" rtl="0" eaLnBrk="1" latinLnBrk="0" hangingPunct="1">
            <a:defRPr sz="1800" kern="1200">
              <a:solidFill>
                <a:sysClr val="windowText" lastClr="000000"/>
              </a:solidFill>
              <a:latin typeface="Calibri"/>
            </a:defRPr>
          </a:lvl9pPr>
        </a:lstStyle>
        <a:p xmlns:a="http://schemas.openxmlformats.org/drawingml/2006/main">
          <a:r>
            <a:rPr lang="es-MX" sz="1000" dirty="0"/>
            <a:t>Sensibilización</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78D170-5DD4-AC42-9B42-38681BF200A8}" type="datetimeFigureOut">
              <a:rPr lang="es-CL" smtClean="0"/>
              <a:t>05-03-26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CA445-6EB0-3945-9E03-B7D555990304}" type="slidenum">
              <a:rPr lang="es-CL" smtClean="0"/>
              <a:t>‹Nº›</a:t>
            </a:fld>
            <a:endParaRPr lang="es-CL"/>
          </a:p>
        </p:txBody>
      </p:sp>
    </p:spTree>
    <p:extLst>
      <p:ext uri="{BB962C8B-B14F-4D97-AF65-F5344CB8AC3E}">
        <p14:creationId xmlns:p14="http://schemas.microsoft.com/office/powerpoint/2010/main" val="4211517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FD6A4C-D160-CA4B-8B98-1C0C5846C152}" type="slidenum">
              <a:rPr kumimoji="0" lang="es-C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C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579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79614F-63E4-4702-9B83-35C8E09F0346}" type="slidenum">
              <a:rPr kumimoji="0" lang="de-AT" sz="12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AT" sz="12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727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2708" name="Rectangle 3"/>
          <p:cNvSpPr>
            <a:spLocks noGrp="1" noChangeArrowheads="1"/>
          </p:cNvSpPr>
          <p:nvPr>
            <p:ph type="body" idx="1"/>
          </p:nvPr>
        </p:nvSpPr>
        <p:spPr bwMode="auto">
          <a:xfrm>
            <a:off x="928688" y="4872038"/>
            <a:ext cx="5191124" cy="4621213"/>
          </a:xfrm>
          <a:noFill/>
        </p:spPr>
        <p:txBody>
          <a:bodyPr wrap="square" numCol="1" anchor="t" anchorCtr="0" compatLnSpc="1">
            <a:prstTxWarp prst="textNoShape">
              <a:avLst/>
            </a:prstTxWarp>
          </a:bodyPr>
          <a:lstStyle/>
          <a:p>
            <a:endParaRPr lang="de-A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Marcador de imagen de diapositiva 1">
            <a:extLst>
              <a:ext uri="{FF2B5EF4-FFF2-40B4-BE49-F238E27FC236}">
                <a16:creationId xmlns:a16="http://schemas.microsoft.com/office/drawing/2014/main" id="{21A061B9-FB64-4AAA-B2D5-45759631D8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Marcador de notas 2">
            <a:extLst>
              <a:ext uri="{FF2B5EF4-FFF2-40B4-BE49-F238E27FC236}">
                <a16:creationId xmlns:a16="http://schemas.microsoft.com/office/drawing/2014/main" id="{AF094852-1035-45A5-A0C0-5814092F63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CL" altLang="es-CL"/>
          </a:p>
        </p:txBody>
      </p:sp>
      <p:sp>
        <p:nvSpPr>
          <p:cNvPr id="4" name="Marcador de número de diapositiva 3">
            <a:extLst>
              <a:ext uri="{FF2B5EF4-FFF2-40B4-BE49-F238E27FC236}">
                <a16:creationId xmlns:a16="http://schemas.microsoft.com/office/drawing/2014/main" id="{4655E5E5-C716-492E-B612-C620479082BC}"/>
              </a:ext>
            </a:extLst>
          </p:cNvPr>
          <p:cNvSpPr>
            <a:spLocks noGrp="1"/>
          </p:cNvSpPr>
          <p:nvPr>
            <p:ph type="sldNum" sz="quarter" idx="5"/>
          </p:nvPr>
        </p:nvSpPr>
        <p:spPr/>
        <p:txBody>
          <a:bodyPr/>
          <a:lstStyle/>
          <a:p>
            <a:pPr marL="0" marR="0" lvl="0" indent="0" algn="r" defTabSz="1629845" rtl="0" eaLnBrk="1" fontAlgn="auto" latinLnBrk="0" hangingPunct="1">
              <a:lnSpc>
                <a:spcPct val="100000"/>
              </a:lnSpc>
              <a:spcBef>
                <a:spcPts val="0"/>
              </a:spcBef>
              <a:spcAft>
                <a:spcPts val="0"/>
              </a:spcAft>
              <a:buClrTx/>
              <a:buSzTx/>
              <a:buFontTx/>
              <a:buNone/>
              <a:tabLst/>
              <a:defRPr/>
            </a:pPr>
            <a:fld id="{53142E2D-3DF6-429D-A968-5D3016F84F04}" type="slidenum">
              <a:rPr kumimoji="0" lang="es-ES" sz="1200" b="0" i="0" u="none" strike="noStrike" kern="1200" cap="none" spc="0" normalizeH="0" baseline="0" noProof="0" smtClean="0">
                <a:ln>
                  <a:noFill/>
                </a:ln>
                <a:solidFill>
                  <a:prstClr val="black"/>
                </a:solidFill>
                <a:effectLst/>
                <a:uLnTx/>
                <a:uFillTx/>
                <a:latin typeface="Calibri"/>
                <a:ea typeface="MS PGothic" panose="020B0600070205080204" pitchFamily="34" charset="-128"/>
                <a:cs typeface="+mn-cs"/>
              </a:rPr>
              <a:pPr marL="0" marR="0" lvl="0" indent="0" algn="r" defTabSz="1629845" rtl="0" eaLnBrk="1" fontAlgn="auto" latinLnBrk="0" hangingPunct="1">
                <a:lnSpc>
                  <a:spcPct val="100000"/>
                </a:lnSpc>
                <a:spcBef>
                  <a:spcPts val="0"/>
                </a:spcBef>
                <a:spcAft>
                  <a:spcPts val="0"/>
                </a:spcAft>
                <a:buClrTx/>
                <a:buSzTx/>
                <a:buFontTx/>
                <a:buNone/>
                <a:tabLst/>
                <a:defRPr/>
              </a:pPr>
              <a:t>5</a:t>
            </a:fld>
            <a:endParaRPr kumimoji="0" lang="es-ES" sz="1200" b="0" i="0" u="none" strike="noStrike" kern="1200" cap="none" spc="0" normalizeH="0" baseline="0" noProof="0">
              <a:ln>
                <a:noFill/>
              </a:ln>
              <a:solidFill>
                <a:prstClr val="black"/>
              </a:solidFill>
              <a:effectLst/>
              <a:uLnTx/>
              <a:uFillTx/>
              <a:latin typeface="Calibri"/>
              <a:ea typeface="MS PGothic" panose="020B0600070205080204" pitchFamily="34" charset="-128"/>
              <a:cs typeface="+mn-cs"/>
            </a:endParaRPr>
          </a:p>
        </p:txBody>
      </p:sp>
    </p:spTree>
    <p:extLst>
      <p:ext uri="{BB962C8B-B14F-4D97-AF65-F5344CB8AC3E}">
        <p14:creationId xmlns:p14="http://schemas.microsoft.com/office/powerpoint/2010/main" val="3110166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35B92601-C9A2-448F-83B6-17CAE1D4B17D}" type="slidenum">
              <a:rPr lang="es-CL" smtClean="0"/>
              <a:t>19</a:t>
            </a:fld>
            <a:endParaRPr lang="es-CL"/>
          </a:p>
        </p:txBody>
      </p:sp>
    </p:spTree>
    <p:extLst>
      <p:ext uri="{BB962C8B-B14F-4D97-AF65-F5344CB8AC3E}">
        <p14:creationId xmlns:p14="http://schemas.microsoft.com/office/powerpoint/2010/main" val="2322989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A6465507-6A3B-4C84-ABF4-9B3FC96F0F34}" type="slidenum">
              <a:rPr lang="es-CL" smtClean="0"/>
              <a:t>37</a:t>
            </a:fld>
            <a:endParaRPr lang="es-CL"/>
          </a:p>
        </p:txBody>
      </p:sp>
    </p:spTree>
    <p:extLst>
      <p:ext uri="{BB962C8B-B14F-4D97-AF65-F5344CB8AC3E}">
        <p14:creationId xmlns:p14="http://schemas.microsoft.com/office/powerpoint/2010/main" val="4094857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L"/>
          </a:p>
        </p:txBody>
      </p:sp>
    </p:spTree>
    <p:extLst>
      <p:ext uri="{BB962C8B-B14F-4D97-AF65-F5344CB8AC3E}">
        <p14:creationId xmlns:p14="http://schemas.microsoft.com/office/powerpoint/2010/main" val="1405271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911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B5AC80-D16F-276F-428A-D0501511E329}"/>
              </a:ext>
            </a:extLst>
          </p:cNvPr>
          <p:cNvSpPr>
            <a:spLocks noGrp="1"/>
          </p:cNvSpPr>
          <p:nvPr>
            <p:ph type="title"/>
          </p:nvPr>
        </p:nvSpPr>
        <p:spPr>
          <a:xfrm>
            <a:off x="838200" y="365125"/>
            <a:ext cx="10515600" cy="1325563"/>
          </a:xfrm>
          <a:prstGeom prst="rect">
            <a:avLst/>
          </a:prstGeom>
        </p:spPr>
        <p:txBody>
          <a:bodyPr anchor="ctr"/>
          <a:lstStyle>
            <a:lvl1pPr>
              <a:defRPr sz="2800">
                <a:latin typeface="Raleway" pitchFamily="2" charset="77"/>
              </a:defRPr>
            </a:lvl1p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97C48075-19FB-7EEF-9680-31290BE2A4E2}"/>
              </a:ext>
            </a:extLst>
          </p:cNvPr>
          <p:cNvSpPr>
            <a:spLocks noGrp="1"/>
          </p:cNvSpPr>
          <p:nvPr>
            <p:ph idx="1"/>
          </p:nvPr>
        </p:nvSpPr>
        <p:spPr>
          <a:xfrm>
            <a:off x="838200" y="1825625"/>
            <a:ext cx="10515600" cy="3462471"/>
          </a:xfrm>
          <a:prstGeom prst="rect">
            <a:avLst/>
          </a:prstGeom>
        </p:spPr>
        <p:txBody>
          <a:bodyPr/>
          <a:lstStyle>
            <a:lvl1pPr>
              <a:defRPr>
                <a:latin typeface="Raleway" pitchFamily="2" charset="77"/>
              </a:defRPr>
            </a:lvl1pPr>
            <a:lvl2pPr>
              <a:defRPr>
                <a:latin typeface="Raleway" pitchFamily="2" charset="77"/>
              </a:defRPr>
            </a:lvl2pPr>
            <a:lvl3pPr>
              <a:defRPr>
                <a:latin typeface="Raleway" pitchFamily="2" charset="77"/>
              </a:defRPr>
            </a:lvl3pPr>
            <a:lvl4pPr>
              <a:defRPr>
                <a:latin typeface="Raleway" pitchFamily="2" charset="77"/>
              </a:defRPr>
            </a:lvl4pPr>
            <a:lvl5pPr>
              <a:defRPr>
                <a:latin typeface="Raleway" pitchFamily="2" charset="77"/>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Tree>
    <p:extLst>
      <p:ext uri="{BB962C8B-B14F-4D97-AF65-F5344CB8AC3E}">
        <p14:creationId xmlns:p14="http://schemas.microsoft.com/office/powerpoint/2010/main" val="1822977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663E75-CAA5-010C-E70B-6295B48CBC62}"/>
              </a:ext>
            </a:extLst>
          </p:cNvPr>
          <p:cNvSpPr>
            <a:spLocks noGrp="1"/>
          </p:cNvSpPr>
          <p:nvPr>
            <p:ph type="title"/>
          </p:nvPr>
        </p:nvSpPr>
        <p:spPr>
          <a:xfrm>
            <a:off x="838200" y="365125"/>
            <a:ext cx="10515600" cy="1325563"/>
          </a:xfrm>
          <a:prstGeom prst="rect">
            <a:avLst/>
          </a:prstGeom>
        </p:spPr>
        <p:txBody>
          <a:bodyPr anchor="ctr"/>
          <a:lstStyle>
            <a:lvl1pPr>
              <a:defRPr sz="2800">
                <a:latin typeface="Raleway" pitchFamily="2" charset="77"/>
              </a:defRPr>
            </a:lvl1pPr>
          </a:lstStyle>
          <a:p>
            <a:r>
              <a:rPr lang="es-MX"/>
              <a:t>Haz clic para modificar el estilo de título del patrón</a:t>
            </a:r>
            <a:endParaRPr lang="es-CL"/>
          </a:p>
        </p:txBody>
      </p:sp>
    </p:spTree>
    <p:extLst>
      <p:ext uri="{BB962C8B-B14F-4D97-AF65-F5344CB8AC3E}">
        <p14:creationId xmlns:p14="http://schemas.microsoft.com/office/powerpoint/2010/main" val="676340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889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solidFill>
          <a:srgbClr val="504FB7"/>
        </a:solidFill>
        <a:effectLst/>
      </p:bgPr>
    </p:bg>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748A6285-A3A5-F8F8-F082-F32E16565A64}"/>
              </a:ext>
            </a:extLst>
          </p:cNvPr>
          <p:cNvSpPr>
            <a:spLocks noGrp="1"/>
          </p:cNvSpPr>
          <p:nvPr>
            <p:ph type="title"/>
          </p:nvPr>
        </p:nvSpPr>
        <p:spPr>
          <a:xfrm>
            <a:off x="838200" y="1477828"/>
            <a:ext cx="5257800" cy="1325563"/>
          </a:xfrm>
          <a:prstGeom prst="rect">
            <a:avLst/>
          </a:prstGeom>
        </p:spPr>
        <p:txBody>
          <a:bodyPr/>
          <a:lstStyle>
            <a:lvl1pPr>
              <a:defRPr sz="2800">
                <a:solidFill>
                  <a:schemeClr val="bg1"/>
                </a:solidFill>
              </a:defRPr>
            </a:lvl1pPr>
          </a:lstStyle>
          <a:p>
            <a:r>
              <a:rPr lang="es-MX"/>
              <a:t>Haz clic para modificar el estilo de título del patrón</a:t>
            </a:r>
            <a:endParaRPr lang="es-CL"/>
          </a:p>
        </p:txBody>
      </p:sp>
    </p:spTree>
    <p:extLst>
      <p:ext uri="{BB962C8B-B14F-4D97-AF65-F5344CB8AC3E}">
        <p14:creationId xmlns:p14="http://schemas.microsoft.com/office/powerpoint/2010/main" val="216596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1977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ca">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2506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1_Diseño personalizado">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1325658D-C30C-4B17-B780-D8EE00AA75DC}"/>
              </a:ext>
            </a:extLst>
          </p:cNvPr>
          <p:cNvSpPr>
            <a:spLocks noGrp="1"/>
          </p:cNvSpPr>
          <p:nvPr>
            <p:ph type="title"/>
          </p:nvPr>
        </p:nvSpPr>
        <p:spPr>
          <a:xfrm>
            <a:off x="695325" y="549276"/>
            <a:ext cx="10515600" cy="551938"/>
          </a:xfrm>
          <a:prstGeom prst="rect">
            <a:avLst/>
          </a:prstGeom>
        </p:spPr>
        <p:txBody>
          <a:bodyPr vert="horz" lIns="91440" tIns="45720" rIns="91440" bIns="45720" rtlCol="0" anchor="ctr">
            <a:noAutofit/>
          </a:bodyPr>
          <a:lstStyle/>
          <a:p>
            <a:r>
              <a:rPr lang="en-US"/>
              <a:t>Click to edit Master title style</a:t>
            </a:r>
            <a:endParaRPr lang="es-419" dirty="0"/>
          </a:p>
        </p:txBody>
      </p:sp>
      <p:sp>
        <p:nvSpPr>
          <p:cNvPr id="12" name="Text Placeholder 2">
            <a:extLst>
              <a:ext uri="{FF2B5EF4-FFF2-40B4-BE49-F238E27FC236}">
                <a16:creationId xmlns:a16="http://schemas.microsoft.com/office/drawing/2014/main" id="{C7784ADC-5815-4B8E-B6FD-475B0075E3D8}"/>
              </a:ext>
            </a:extLst>
          </p:cNvPr>
          <p:cNvSpPr>
            <a:spLocks noGrp="1"/>
          </p:cNvSpPr>
          <p:nvPr>
            <p:ph idx="1" hasCustomPrompt="1"/>
          </p:nvPr>
        </p:nvSpPr>
        <p:spPr>
          <a:xfrm>
            <a:off x="695325" y="1567008"/>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419" dirty="0"/>
          </a:p>
        </p:txBody>
      </p:sp>
      <p:sp>
        <p:nvSpPr>
          <p:cNvPr id="24" name="Slide Number Placeholder 5">
            <a:extLst>
              <a:ext uri="{FF2B5EF4-FFF2-40B4-BE49-F238E27FC236}">
                <a16:creationId xmlns:a16="http://schemas.microsoft.com/office/drawing/2014/main" id="{BD4B4A6B-5E64-4C5D-9D5B-93A4F1727121}"/>
              </a:ext>
            </a:extLst>
          </p:cNvPr>
          <p:cNvSpPr>
            <a:spLocks noGrp="1"/>
          </p:cNvSpPr>
          <p:nvPr>
            <p:ph type="sldNum" sz="quarter" idx="4"/>
          </p:nvPr>
        </p:nvSpPr>
        <p:spPr>
          <a:xfrm>
            <a:off x="5911730" y="6186805"/>
            <a:ext cx="368543" cy="243840"/>
          </a:xfrm>
          <a:prstGeom prst="rect">
            <a:avLst/>
          </a:prstGeom>
        </p:spPr>
        <p:txBody>
          <a:bodyPr vert="horz" lIns="91440" tIns="45720" rIns="91440" bIns="45720" rtlCol="0" anchor="ctr"/>
          <a:lstStyle>
            <a:lvl1pPr algn="r">
              <a:defRPr sz="900" b="0">
                <a:solidFill>
                  <a:schemeClr val="tx1"/>
                </a:solidFill>
                <a:latin typeface="+mn-lt"/>
              </a:defRPr>
            </a:lvl1pPr>
          </a:lstStyle>
          <a:p>
            <a:pPr defTabSz="914446" eaLnBrk="1" fontAlgn="auto" hangingPunct="1">
              <a:spcBef>
                <a:spcPts val="0"/>
              </a:spcBef>
              <a:spcAft>
                <a:spcPts val="0"/>
              </a:spcAft>
            </a:pPr>
            <a:fld id="{51ED9358-27BD-4757-8BC3-FCFAB6CB8B4F}" type="slidenum">
              <a:rPr lang="es-CL" smtClean="0">
                <a:solidFill>
                  <a:prstClr val="black"/>
                </a:solidFill>
                <a:cs typeface="+mn-cs"/>
              </a:rPr>
              <a:pPr defTabSz="914446" eaLnBrk="1" fontAlgn="auto" hangingPunct="1">
                <a:spcBef>
                  <a:spcPts val="0"/>
                </a:spcBef>
                <a:spcAft>
                  <a:spcPts val="0"/>
                </a:spcAft>
              </a:pPr>
              <a:t>‹Nº›</a:t>
            </a:fld>
            <a:endParaRPr lang="es-CL" dirty="0">
              <a:solidFill>
                <a:prstClr val="black"/>
              </a:solidFill>
              <a:cs typeface="+mn-cs"/>
            </a:endParaRPr>
          </a:p>
        </p:txBody>
      </p:sp>
      <p:grpSp>
        <p:nvGrpSpPr>
          <p:cNvPr id="21" name="Group 20">
            <a:extLst>
              <a:ext uri="{FF2B5EF4-FFF2-40B4-BE49-F238E27FC236}">
                <a16:creationId xmlns:a16="http://schemas.microsoft.com/office/drawing/2014/main" id="{7B1AAF3E-2C78-401E-8508-23287CE9C3D4}"/>
              </a:ext>
            </a:extLst>
          </p:cNvPr>
          <p:cNvGrpSpPr/>
          <p:nvPr userDrawn="1"/>
        </p:nvGrpSpPr>
        <p:grpSpPr>
          <a:xfrm>
            <a:off x="7572860" y="6142676"/>
            <a:ext cx="3923815" cy="287969"/>
            <a:chOff x="4717228" y="5881402"/>
            <a:chExt cx="3923815" cy="287969"/>
          </a:xfrm>
        </p:grpSpPr>
        <p:grpSp>
          <p:nvGrpSpPr>
            <p:cNvPr id="22" name="Grupo 12">
              <a:extLst>
                <a:ext uri="{FF2B5EF4-FFF2-40B4-BE49-F238E27FC236}">
                  <a16:creationId xmlns:a16="http://schemas.microsoft.com/office/drawing/2014/main" id="{3B177D39-765C-4583-86BA-BC86D56F627F}"/>
                </a:ext>
              </a:extLst>
            </p:cNvPr>
            <p:cNvGrpSpPr/>
            <p:nvPr/>
          </p:nvGrpSpPr>
          <p:grpSpPr>
            <a:xfrm>
              <a:off x="4717228" y="5881402"/>
              <a:ext cx="2606836" cy="287969"/>
              <a:chOff x="8892117" y="6125441"/>
              <a:chExt cx="2606836" cy="287969"/>
            </a:xfrm>
          </p:grpSpPr>
          <p:pic>
            <p:nvPicPr>
              <p:cNvPr id="25" name="Imagen 13">
                <a:extLst>
                  <a:ext uri="{FF2B5EF4-FFF2-40B4-BE49-F238E27FC236}">
                    <a16:creationId xmlns:a16="http://schemas.microsoft.com/office/drawing/2014/main" id="{10F1E627-DFA6-42E2-9EB0-B76BB7B1587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970643" y="6125442"/>
                <a:ext cx="528310" cy="287968"/>
              </a:xfrm>
              <a:prstGeom prst="rect">
                <a:avLst/>
              </a:prstGeom>
            </p:spPr>
          </p:pic>
          <p:pic>
            <p:nvPicPr>
              <p:cNvPr id="26" name="Imagen 14">
                <a:extLst>
                  <a:ext uri="{FF2B5EF4-FFF2-40B4-BE49-F238E27FC236}">
                    <a16:creationId xmlns:a16="http://schemas.microsoft.com/office/drawing/2014/main" id="{C5A72C34-6113-4E8F-B94A-A1830D4B94F6}"/>
                  </a:ext>
                </a:extLst>
              </p:cNvPr>
              <p:cNvPicPr>
                <a:picLocks noChangeAspect="1"/>
              </p:cNvPicPr>
              <p:nvPr/>
            </p:nvPicPr>
            <p:blipFill>
              <a:blip r:embed="rId3" cstate="screen">
                <a:grayscl/>
                <a:extLst>
                  <a:ext uri="{28A0092B-C50C-407E-A947-70E740481C1C}">
                    <a14:useLocalDpi xmlns:a14="http://schemas.microsoft.com/office/drawing/2010/main"/>
                  </a:ext>
                </a:extLst>
              </a:blip>
              <a:stretch>
                <a:fillRect/>
              </a:stretch>
            </p:blipFill>
            <p:spPr>
              <a:xfrm>
                <a:off x="9960892" y="6125441"/>
                <a:ext cx="761058" cy="287968"/>
              </a:xfrm>
              <a:prstGeom prst="rect">
                <a:avLst/>
              </a:prstGeom>
            </p:spPr>
          </p:pic>
          <p:pic>
            <p:nvPicPr>
              <p:cNvPr id="27" name="Imagen 15">
                <a:extLst>
                  <a:ext uri="{FF2B5EF4-FFF2-40B4-BE49-F238E27FC236}">
                    <a16:creationId xmlns:a16="http://schemas.microsoft.com/office/drawing/2014/main" id="{00C0E818-A266-4567-88EC-3CBE99CAC7C9}"/>
                  </a:ext>
                </a:extLst>
              </p:cNvPr>
              <p:cNvPicPr>
                <a:picLocks noChangeAspect="1"/>
              </p:cNvPicPr>
              <p:nvPr/>
            </p:nvPicPr>
            <p:blipFill>
              <a:blip r:embed="rId4" cstate="screen">
                <a:grayscl/>
                <a:extLst>
                  <a:ext uri="{28A0092B-C50C-407E-A947-70E740481C1C}">
                    <a14:useLocalDpi xmlns:a14="http://schemas.microsoft.com/office/drawing/2010/main"/>
                  </a:ext>
                </a:extLst>
              </a:blip>
              <a:stretch>
                <a:fillRect/>
              </a:stretch>
            </p:blipFill>
            <p:spPr>
              <a:xfrm>
                <a:off x="8892117" y="6125442"/>
                <a:ext cx="764222" cy="287968"/>
              </a:xfrm>
              <a:prstGeom prst="rect">
                <a:avLst/>
              </a:prstGeom>
            </p:spPr>
          </p:pic>
        </p:grpSp>
        <p:pic>
          <p:nvPicPr>
            <p:cNvPr id="23" name="Imagen 3">
              <a:extLst>
                <a:ext uri="{FF2B5EF4-FFF2-40B4-BE49-F238E27FC236}">
                  <a16:creationId xmlns:a16="http://schemas.microsoft.com/office/drawing/2014/main" id="{65E88122-723A-4B14-9824-ACFD7938B3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61910" y="5892149"/>
              <a:ext cx="979133" cy="266447"/>
            </a:xfrm>
            <a:prstGeom prst="rect">
              <a:avLst/>
            </a:prstGeom>
          </p:spPr>
        </p:pic>
      </p:grpSp>
    </p:spTree>
    <p:extLst>
      <p:ext uri="{BB962C8B-B14F-4D97-AF65-F5344CB8AC3E}">
        <p14:creationId xmlns:p14="http://schemas.microsoft.com/office/powerpoint/2010/main" val="234702262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svg"/><Relationship Id="rId12" Type="http://schemas.openxmlformats.org/officeDocument/2006/relationships/image" Target="../media/image7.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png"/><Relationship Id="rId5" Type="http://schemas.openxmlformats.org/officeDocument/2006/relationships/theme" Target="../theme/theme1.xml"/><Relationship Id="rId10" Type="http://schemas.openxmlformats.org/officeDocument/2006/relationships/image" Target="../media/image5.svg"/><Relationship Id="rId4" Type="http://schemas.openxmlformats.org/officeDocument/2006/relationships/slideLayout" Target="../slideLayouts/slideLayout4.xml"/><Relationship Id="rId9"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sv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2560BCF9-4D1A-C318-2D53-51A1C8390AF5}"/>
              </a:ext>
            </a:extLst>
          </p:cNvPr>
          <p:cNvSpPr/>
          <p:nvPr userDrawn="1"/>
        </p:nvSpPr>
        <p:spPr>
          <a:xfrm>
            <a:off x="4763" y="5726116"/>
            <a:ext cx="12187237" cy="9525"/>
          </a:xfrm>
          <a:custGeom>
            <a:avLst/>
            <a:gdLst/>
            <a:ahLst/>
            <a:cxnLst/>
            <a:rect l="l" t="t" r="r" b="b"/>
            <a:pathLst>
              <a:path w="18280856" h="14288">
                <a:moveTo>
                  <a:pt x="0" y="0"/>
                </a:moveTo>
                <a:lnTo>
                  <a:pt x="18280856" y="0"/>
                </a:lnTo>
                <a:lnTo>
                  <a:pt x="18280856" y="14287"/>
                </a:lnTo>
                <a:lnTo>
                  <a:pt x="0" y="142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sz="1200"/>
          </a:p>
        </p:txBody>
      </p:sp>
      <p:sp>
        <p:nvSpPr>
          <p:cNvPr id="8" name="Freeform 3">
            <a:extLst>
              <a:ext uri="{FF2B5EF4-FFF2-40B4-BE49-F238E27FC236}">
                <a16:creationId xmlns:a16="http://schemas.microsoft.com/office/drawing/2014/main" id="{DFB5B67B-256E-897C-764A-AE68CF9CB530}"/>
              </a:ext>
            </a:extLst>
          </p:cNvPr>
          <p:cNvSpPr/>
          <p:nvPr userDrawn="1"/>
        </p:nvSpPr>
        <p:spPr>
          <a:xfrm>
            <a:off x="9077896" y="6124574"/>
            <a:ext cx="627962" cy="341737"/>
          </a:xfrm>
          <a:custGeom>
            <a:avLst/>
            <a:gdLst/>
            <a:ahLst/>
            <a:cxnLst/>
            <a:rect l="l" t="t" r="r" b="b"/>
            <a:pathLst>
              <a:path w="785812" h="428625">
                <a:moveTo>
                  <a:pt x="0" y="0"/>
                </a:moveTo>
                <a:lnTo>
                  <a:pt x="785812" y="0"/>
                </a:lnTo>
                <a:lnTo>
                  <a:pt x="785812" y="428626"/>
                </a:lnTo>
                <a:lnTo>
                  <a:pt x="0" y="428626"/>
                </a:lnTo>
                <a:lnTo>
                  <a:pt x="0" y="0"/>
                </a:lnTo>
                <a:close/>
              </a:path>
            </a:pathLst>
          </a:custGeom>
          <a:blipFill>
            <a:blip r:embed="rId8"/>
            <a:stretch>
              <a:fillRect/>
            </a:stretch>
          </a:blipFill>
        </p:spPr>
        <p:txBody>
          <a:bodyPr/>
          <a:lstStyle/>
          <a:p>
            <a:endParaRPr lang="es-CL" sz="1200"/>
          </a:p>
        </p:txBody>
      </p:sp>
      <p:pic>
        <p:nvPicPr>
          <p:cNvPr id="2" name="Graphic 7">
            <a:extLst>
              <a:ext uri="{FF2B5EF4-FFF2-40B4-BE49-F238E27FC236}">
                <a16:creationId xmlns:a16="http://schemas.microsoft.com/office/drawing/2014/main" id="{E96CF3C4-BC8F-BB10-9759-C0786E283787}"/>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203054" y="6124575"/>
            <a:ext cx="1617133" cy="398893"/>
          </a:xfrm>
          <a:prstGeom prst="rect">
            <a:avLst/>
          </a:prstGeom>
        </p:spPr>
      </p:pic>
      <p:pic>
        <p:nvPicPr>
          <p:cNvPr id="3" name="Graphic 17">
            <a:extLst>
              <a:ext uri="{FF2B5EF4-FFF2-40B4-BE49-F238E27FC236}">
                <a16:creationId xmlns:a16="http://schemas.microsoft.com/office/drawing/2014/main" id="{CD15504B-BF12-8358-B17C-64BCD014BA4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582886" y="6124574"/>
            <a:ext cx="808554" cy="412220"/>
          </a:xfrm>
          <a:prstGeom prst="rect">
            <a:avLst/>
          </a:prstGeom>
        </p:spPr>
      </p:pic>
    </p:spTree>
    <p:extLst>
      <p:ext uri="{BB962C8B-B14F-4D97-AF65-F5344CB8AC3E}">
        <p14:creationId xmlns:p14="http://schemas.microsoft.com/office/powerpoint/2010/main" val="173844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Graphic 17">
            <a:extLst>
              <a:ext uri="{FF2B5EF4-FFF2-40B4-BE49-F238E27FC236}">
                <a16:creationId xmlns:a16="http://schemas.microsoft.com/office/drawing/2014/main" id="{CD15504B-BF12-8358-B17C-64BCD014BA4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82886" y="6124574"/>
            <a:ext cx="808554" cy="412220"/>
          </a:xfrm>
          <a:prstGeom prst="rect">
            <a:avLst/>
          </a:prstGeom>
        </p:spPr>
      </p:pic>
    </p:spTree>
    <p:extLst>
      <p:ext uri="{BB962C8B-B14F-4D97-AF65-F5344CB8AC3E}">
        <p14:creationId xmlns:p14="http://schemas.microsoft.com/office/powerpoint/2010/main" val="101096882"/>
      </p:ext>
    </p:extLst>
  </p:cSld>
  <p:clrMap bg1="lt1" tx1="dk1" bg2="lt2" tx2="dk2" accent1="accent1" accent2="accent2" accent3="accent3" accent4="accent4" accent5="accent5" accent6="accent6" hlink="hlink" folHlink="folHlink"/>
  <p:sldLayoutIdLst>
    <p:sldLayoutId id="2147483657" r:id="rId1"/>
    <p:sldLayoutId id="2147483670" r:id="rId2"/>
    <p:sldLayoutId id="2147483671" r:id="rId3"/>
    <p:sldLayoutId id="214748367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ntinunez@udec.cl" TargetMode="External"/><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oleObject" Target="../embeddings/oleObject1.bin"/><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hyperlink" Target="https://medium.com/@winner.harrys/mastering-venture-capital-funding-a-roadmap-to-startup-success-7ba7513fbbc2"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5.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8F8C90-C3AD-21A9-6CC0-218AF8F6D5A9}"/>
              </a:ext>
            </a:extLst>
          </p:cNvPr>
          <p:cNvSpPr>
            <a:spLocks noGrp="1"/>
          </p:cNvSpPr>
          <p:nvPr>
            <p:ph type="title"/>
          </p:nvPr>
        </p:nvSpPr>
        <p:spPr>
          <a:xfrm>
            <a:off x="838200" y="749438"/>
            <a:ext cx="10515600" cy="1325563"/>
          </a:xfrm>
        </p:spPr>
        <p:txBody>
          <a:bodyPr>
            <a:normAutofit/>
          </a:bodyPr>
          <a:lstStyle/>
          <a:p>
            <a:r>
              <a:rPr lang="es-CL" sz="1800" b="1" dirty="0">
                <a:solidFill>
                  <a:srgbClr val="504FB7"/>
                </a:solidFill>
                <a:latin typeface="Lao Sangam MN" pitchFamily="2" charset="0"/>
                <a:cs typeface="Lao Sangam MN" pitchFamily="2" charset="0"/>
              </a:rPr>
              <a:t>VIRALIZA</a:t>
            </a:r>
            <a:br>
              <a:rPr lang="es-CL" sz="2800" dirty="0">
                <a:latin typeface="Lao Sangam MN" pitchFamily="2" charset="0"/>
                <a:cs typeface="Lao Sangam MN" pitchFamily="2" charset="0"/>
              </a:rPr>
            </a:br>
            <a:r>
              <a:rPr lang="es-CL" sz="2400" dirty="0">
                <a:latin typeface="Raleway" pitchFamily="2" charset="77"/>
              </a:rPr>
              <a:t>VENTURE STUDIO UINN</a:t>
            </a:r>
            <a:br>
              <a:rPr lang="es-CL" sz="2700" dirty="0">
                <a:latin typeface="Raleway" pitchFamily="2" charset="77"/>
              </a:rPr>
            </a:br>
            <a:r>
              <a:rPr lang="es-CL" sz="2000" dirty="0">
                <a:latin typeface="Raleway" pitchFamily="2" charset="77"/>
              </a:rPr>
              <a:t>Programa de financiamiento especializado para startups.</a:t>
            </a:r>
            <a:r>
              <a:rPr lang="es-CL" sz="2000" dirty="0">
                <a:effectLst/>
                <a:latin typeface="Raleway" pitchFamily="2" charset="77"/>
              </a:rPr>
              <a:t> </a:t>
            </a:r>
            <a:endParaRPr lang="es-CL" sz="2700" dirty="0">
              <a:latin typeface="Raleway" pitchFamily="2" charset="77"/>
              <a:cs typeface="Lao Sangam MN" pitchFamily="2" charset="0"/>
            </a:endParaRPr>
          </a:p>
        </p:txBody>
      </p:sp>
      <p:sp>
        <p:nvSpPr>
          <p:cNvPr id="4" name="Freeform 6">
            <a:extLst>
              <a:ext uri="{FF2B5EF4-FFF2-40B4-BE49-F238E27FC236}">
                <a16:creationId xmlns:a16="http://schemas.microsoft.com/office/drawing/2014/main" id="{E6E937C4-0EE0-1AB1-69A6-F93E72D47C99}"/>
              </a:ext>
            </a:extLst>
          </p:cNvPr>
          <p:cNvSpPr/>
          <p:nvPr/>
        </p:nvSpPr>
        <p:spPr>
          <a:xfrm>
            <a:off x="9900027" y="749438"/>
            <a:ext cx="1453773" cy="1043295"/>
          </a:xfrm>
          <a:custGeom>
            <a:avLst/>
            <a:gdLst/>
            <a:ahLst/>
            <a:cxnLst/>
            <a:rect l="l" t="t" r="r" b="b"/>
            <a:pathLst>
              <a:path w="3643312" h="2614612">
                <a:moveTo>
                  <a:pt x="0" y="0"/>
                </a:moveTo>
                <a:lnTo>
                  <a:pt x="3643312" y="0"/>
                </a:lnTo>
                <a:lnTo>
                  <a:pt x="3643312" y="2614613"/>
                </a:lnTo>
                <a:lnTo>
                  <a:pt x="0" y="2614613"/>
                </a:lnTo>
                <a:lnTo>
                  <a:pt x="0" y="0"/>
                </a:lnTo>
                <a:close/>
              </a:path>
            </a:pathLst>
          </a:custGeom>
          <a:blipFill>
            <a:blip r:embed="rId2"/>
            <a:stretch>
              <a:fillRect/>
            </a:stretch>
          </a:blipFill>
        </p:spPr>
        <p:txBody>
          <a:bodyPr/>
          <a:lstStyle/>
          <a:p>
            <a:endParaRPr lang="es-CL" sz="1200"/>
          </a:p>
        </p:txBody>
      </p:sp>
      <p:sp>
        <p:nvSpPr>
          <p:cNvPr id="5" name="CuadroTexto 4">
            <a:extLst>
              <a:ext uri="{FF2B5EF4-FFF2-40B4-BE49-F238E27FC236}">
                <a16:creationId xmlns:a16="http://schemas.microsoft.com/office/drawing/2014/main" id="{B501B132-CCC4-F801-D8E4-239CCD23112D}"/>
              </a:ext>
            </a:extLst>
          </p:cNvPr>
          <p:cNvSpPr txBox="1"/>
          <p:nvPr/>
        </p:nvSpPr>
        <p:spPr>
          <a:xfrm>
            <a:off x="838200" y="2451652"/>
            <a:ext cx="5257800" cy="2462213"/>
          </a:xfrm>
          <a:prstGeom prst="rect">
            <a:avLst/>
          </a:prstGeom>
          <a:noFill/>
        </p:spPr>
        <p:txBody>
          <a:bodyPr wrap="square" rtlCol="0">
            <a:spAutoFit/>
          </a:bodyPr>
          <a:lstStyle/>
          <a:p>
            <a:r>
              <a:rPr lang="es-CL" dirty="0">
                <a:latin typeface="Raleway" pitchFamily="2" charset="77"/>
              </a:rPr>
              <a:t>CLASE N° 1.4</a:t>
            </a:r>
          </a:p>
          <a:p>
            <a:r>
              <a:rPr lang="es-419" dirty="0">
                <a:latin typeface="Raleway" pitchFamily="2" charset="77"/>
              </a:rPr>
              <a:t>Casos en crecimiento de Startups</a:t>
            </a:r>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endParaRPr lang="es-CL" dirty="0">
              <a:latin typeface="Raleway" pitchFamily="2" charset="77"/>
            </a:endParaRPr>
          </a:p>
          <a:p>
            <a:r>
              <a:rPr lang="es-CL" sz="1400" dirty="0">
                <a:latin typeface="Raleway" pitchFamily="2" charset="77"/>
              </a:rPr>
              <a:t>Inti Núñez </a:t>
            </a:r>
            <a:r>
              <a:rPr lang="es-CL" sz="1400" dirty="0" err="1">
                <a:latin typeface="Raleway" pitchFamily="2" charset="77"/>
              </a:rPr>
              <a:t>Ursic</a:t>
            </a:r>
            <a:endParaRPr lang="es-CL" sz="1400" dirty="0">
              <a:latin typeface="Raleway" pitchFamily="2" charset="77"/>
            </a:endParaRPr>
          </a:p>
          <a:p>
            <a:r>
              <a:rPr lang="es-CL" sz="1200" dirty="0">
                <a:latin typeface="Raleway" pitchFamily="2" charset="77"/>
                <a:hlinkClick r:id="rId3"/>
              </a:rPr>
              <a:t>intinunez@udec.cl</a:t>
            </a:r>
            <a:r>
              <a:rPr lang="es-CL" sz="1200" dirty="0">
                <a:latin typeface="Raleway" pitchFamily="2" charset="77"/>
              </a:rPr>
              <a:t> </a:t>
            </a:r>
          </a:p>
        </p:txBody>
      </p:sp>
    </p:spTree>
    <p:extLst>
      <p:ext uri="{BB962C8B-B14F-4D97-AF65-F5344CB8AC3E}">
        <p14:creationId xmlns:p14="http://schemas.microsoft.com/office/powerpoint/2010/main" val="2982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 dónde vienen los nombres de los océanos?">
            <a:extLst>
              <a:ext uri="{FF2B5EF4-FFF2-40B4-BE49-F238E27FC236}">
                <a16:creationId xmlns:a16="http://schemas.microsoft.com/office/drawing/2014/main" id="{7BD5C9A4-2187-A2E7-E434-B8C74F7C0AE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8B5CD69-510D-8978-0FE2-73559DDB88B2}"/>
              </a:ext>
            </a:extLst>
          </p:cNvPr>
          <p:cNvSpPr txBox="1"/>
          <p:nvPr/>
        </p:nvSpPr>
        <p:spPr>
          <a:xfrm>
            <a:off x="5700532" y="3216471"/>
            <a:ext cx="6099858" cy="2893100"/>
          </a:xfrm>
          <a:prstGeom prst="rect">
            <a:avLst/>
          </a:prstGeom>
          <a:noFill/>
        </p:spPr>
        <p:txBody>
          <a:bodyPr wrap="square">
            <a:spAutoFit/>
          </a:bodyPr>
          <a:lstStyle/>
          <a:p>
            <a:r>
              <a:rPr lang="en-US" sz="1400" dirty="0">
                <a:highlight>
                  <a:srgbClr val="ABE9FF"/>
                </a:highlight>
                <a:latin typeface="Avenir Next" panose="020B0503020202020204" pitchFamily="34" charset="0"/>
              </a:rPr>
              <a:t>Thousands have lived without love, not one without water.</a:t>
            </a:r>
          </a:p>
          <a:p>
            <a:endParaRPr lang="en-US" sz="1400" dirty="0">
              <a:highlight>
                <a:srgbClr val="ABE9FF"/>
              </a:highlight>
              <a:latin typeface="Avenir Next" panose="020B0503020202020204" pitchFamily="34" charset="0"/>
            </a:endParaRPr>
          </a:p>
          <a:p>
            <a:pPr algn="r"/>
            <a:r>
              <a:rPr lang="en-US" sz="1400" dirty="0">
                <a:highlight>
                  <a:srgbClr val="ABE9FF"/>
                </a:highlight>
                <a:latin typeface="Avenir Next" panose="020B0503020202020204" pitchFamily="34" charset="0"/>
              </a:rPr>
              <a:t>Hugh Auden</a:t>
            </a:r>
          </a:p>
          <a:p>
            <a:endParaRPr lang="en-US" sz="1400" dirty="0">
              <a:highlight>
                <a:srgbClr val="ABE9FF"/>
              </a:highlight>
              <a:latin typeface="Avenir Next" panose="020B0503020202020204" pitchFamily="34" charset="0"/>
            </a:endParaRPr>
          </a:p>
          <a:p>
            <a:r>
              <a:rPr lang="en-US" sz="1400" dirty="0">
                <a:highlight>
                  <a:srgbClr val="ABE9FF"/>
                </a:highlight>
                <a:latin typeface="Avenir Next" panose="020B0503020202020204" pitchFamily="34" charset="0"/>
              </a:rPr>
              <a:t>Some people love the ocean. Some people fear it. I love it, hate it, fear it, respect it, cherish it, loathe it, and frequently curse it. It brings out the best in me and sometimes the worst.</a:t>
            </a:r>
          </a:p>
          <a:p>
            <a:endParaRPr lang="en-US" sz="1400" dirty="0">
              <a:highlight>
                <a:srgbClr val="ABE9FF"/>
              </a:highlight>
              <a:latin typeface="Avenir Next" panose="020B0503020202020204" pitchFamily="34" charset="0"/>
            </a:endParaRPr>
          </a:p>
          <a:p>
            <a:pPr algn="r"/>
            <a:r>
              <a:rPr lang="en-US" sz="1400" dirty="0">
                <a:highlight>
                  <a:srgbClr val="ABE9FF"/>
                </a:highlight>
                <a:latin typeface="Avenir Next" panose="020B0503020202020204" pitchFamily="34" charset="0"/>
              </a:rPr>
              <a:t>Roz Savage</a:t>
            </a:r>
          </a:p>
          <a:p>
            <a:endParaRPr lang="en-US" sz="1400" dirty="0">
              <a:highlight>
                <a:srgbClr val="ABE9FF"/>
              </a:highlight>
              <a:latin typeface="Avenir Next" panose="020B0503020202020204" pitchFamily="34" charset="0"/>
            </a:endParaRPr>
          </a:p>
          <a:p>
            <a:r>
              <a:rPr lang="en-US" sz="1400" dirty="0">
                <a:highlight>
                  <a:srgbClr val="ABE9FF"/>
                </a:highlight>
                <a:latin typeface="Avenir Next" panose="020B0503020202020204" pitchFamily="34" charset="0"/>
              </a:rPr>
              <a:t>When the well’s dry, we know the worth of water.</a:t>
            </a:r>
          </a:p>
          <a:p>
            <a:endParaRPr lang="en-US" sz="1400" dirty="0">
              <a:highlight>
                <a:srgbClr val="ABE9FF"/>
              </a:highlight>
              <a:latin typeface="Avenir Next" panose="020B0503020202020204" pitchFamily="34" charset="0"/>
            </a:endParaRPr>
          </a:p>
          <a:p>
            <a:pPr algn="r"/>
            <a:r>
              <a:rPr lang="en-US" sz="1400" dirty="0">
                <a:highlight>
                  <a:srgbClr val="ABE9FF"/>
                </a:highlight>
                <a:latin typeface="Avenir Next" panose="020B0503020202020204" pitchFamily="34" charset="0"/>
              </a:rPr>
              <a:t>Benjamin Franklin</a:t>
            </a:r>
          </a:p>
        </p:txBody>
      </p:sp>
    </p:spTree>
    <p:extLst>
      <p:ext uri="{BB962C8B-B14F-4D97-AF65-F5344CB8AC3E}">
        <p14:creationId xmlns:p14="http://schemas.microsoft.com/office/powerpoint/2010/main" val="4099853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80B3CB-3D43-1D8D-9AF8-530F0E961D8F}"/>
              </a:ext>
            </a:extLst>
          </p:cNvPr>
          <p:cNvSpPr>
            <a:spLocks noGrp="1"/>
          </p:cNvSpPr>
          <p:nvPr>
            <p:ph type="title"/>
          </p:nvPr>
        </p:nvSpPr>
        <p:spPr>
          <a:xfrm>
            <a:off x="838200" y="1477828"/>
            <a:ext cx="5257800" cy="1951172"/>
          </a:xfrm>
        </p:spPr>
        <p:txBody>
          <a:bodyPr/>
          <a:lstStyle/>
          <a:p>
            <a:r>
              <a:rPr lang="es-419" dirty="0"/>
              <a:t>Las etapas de un emprendimiento de idea a negocio.</a:t>
            </a:r>
            <a:br>
              <a:rPr lang="es-419" dirty="0"/>
            </a:br>
            <a:r>
              <a:rPr lang="es-419" dirty="0"/>
              <a:t>Requerimiento de capital y curva de cash.</a:t>
            </a:r>
            <a:endParaRPr lang="es-CL" dirty="0"/>
          </a:p>
        </p:txBody>
      </p:sp>
    </p:spTree>
    <p:extLst>
      <p:ext uri="{BB962C8B-B14F-4D97-AF65-F5344CB8AC3E}">
        <p14:creationId xmlns:p14="http://schemas.microsoft.com/office/powerpoint/2010/main" val="808633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ChangeArrowheads="1"/>
          </p:cNvSpPr>
          <p:nvPr>
            <p:custDataLst>
              <p:tags r:id="rId1"/>
            </p:custDataLst>
          </p:nvPr>
        </p:nvSpPr>
        <p:spPr bwMode="auto">
          <a:xfrm>
            <a:off x="2066406" y="1082790"/>
            <a:ext cx="5678488" cy="4548187"/>
          </a:xfrm>
          <a:prstGeom prst="rect">
            <a:avLst/>
          </a:prstGeom>
          <a:noFill/>
          <a:ln w="19050">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600" b="1"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20" name="Freeform 4"/>
          <p:cNvSpPr>
            <a:spLocks/>
          </p:cNvSpPr>
          <p:nvPr>
            <p:custDataLst>
              <p:tags r:id="rId2"/>
            </p:custDataLst>
          </p:nvPr>
        </p:nvSpPr>
        <p:spPr bwMode="auto">
          <a:xfrm>
            <a:off x="5146157" y="1379651"/>
            <a:ext cx="2587625" cy="2300288"/>
          </a:xfrm>
          <a:custGeom>
            <a:avLst/>
            <a:gdLst/>
            <a:ahLst/>
            <a:cxnLst>
              <a:cxn ang="0">
                <a:pos x="0" y="1449"/>
              </a:cxn>
              <a:cxn ang="0">
                <a:pos x="1332" y="180"/>
              </a:cxn>
              <a:cxn ang="0">
                <a:pos x="1710" y="0"/>
              </a:cxn>
              <a:cxn ang="0">
                <a:pos x="1710" y="1440"/>
              </a:cxn>
            </a:cxnLst>
            <a:rect l="0" t="0" r="r" b="b"/>
            <a:pathLst>
              <a:path w="1710" h="1449">
                <a:moveTo>
                  <a:pt x="0" y="1449"/>
                </a:moveTo>
                <a:lnTo>
                  <a:pt x="1332" y="180"/>
                </a:lnTo>
                <a:lnTo>
                  <a:pt x="1710" y="0"/>
                </a:lnTo>
                <a:lnTo>
                  <a:pt x="1710" y="1440"/>
                </a:lnTo>
              </a:path>
            </a:pathLst>
          </a:custGeom>
          <a:solidFill>
            <a:schemeClr val="bg2">
              <a:lumMod val="75000"/>
            </a:schemeClr>
          </a:solidFill>
          <a:ln w="9525">
            <a:solidFill>
              <a:schemeClr val="tx1"/>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grpSp>
        <p:nvGrpSpPr>
          <p:cNvPr id="2" name="Group 5"/>
          <p:cNvGrpSpPr>
            <a:grpSpLocks/>
          </p:cNvGrpSpPr>
          <p:nvPr>
            <p:custDataLst>
              <p:tags r:id="rId3"/>
            </p:custDataLst>
          </p:nvPr>
        </p:nvGrpSpPr>
        <p:grpSpPr bwMode="auto">
          <a:xfrm>
            <a:off x="2061645" y="3679939"/>
            <a:ext cx="3089275" cy="1016000"/>
            <a:chOff x="924" y="2973"/>
            <a:chExt cx="2043" cy="640"/>
          </a:xfrm>
          <a:solidFill>
            <a:srgbClr val="ED6723"/>
          </a:solidFill>
        </p:grpSpPr>
        <p:sp>
          <p:nvSpPr>
            <p:cNvPr id="265222" name="Freeform 6"/>
            <p:cNvSpPr>
              <a:spLocks/>
            </p:cNvSpPr>
            <p:nvPr/>
          </p:nvSpPr>
          <p:spPr bwMode="auto">
            <a:xfrm>
              <a:off x="927" y="2973"/>
              <a:ext cx="2040" cy="450"/>
            </a:xfrm>
            <a:custGeom>
              <a:avLst/>
              <a:gdLst/>
              <a:ahLst/>
              <a:cxnLst>
                <a:cxn ang="0">
                  <a:pos x="0" y="6"/>
                </a:cxn>
                <a:cxn ang="0">
                  <a:pos x="1329" y="450"/>
                </a:cxn>
                <a:cxn ang="0">
                  <a:pos x="1985" y="84"/>
                </a:cxn>
                <a:cxn ang="0">
                  <a:pos x="2040" y="0"/>
                </a:cxn>
                <a:cxn ang="0">
                  <a:pos x="6" y="0"/>
                </a:cxn>
              </a:cxnLst>
              <a:rect l="0" t="0" r="r" b="b"/>
              <a:pathLst>
                <a:path w="2040" h="450">
                  <a:moveTo>
                    <a:pt x="0" y="6"/>
                  </a:moveTo>
                  <a:lnTo>
                    <a:pt x="1329" y="450"/>
                  </a:lnTo>
                  <a:lnTo>
                    <a:pt x="1985" y="84"/>
                  </a:lnTo>
                  <a:lnTo>
                    <a:pt x="2040" y="0"/>
                  </a:lnTo>
                  <a:lnTo>
                    <a:pt x="6" y="0"/>
                  </a:lnTo>
                </a:path>
              </a:pathLst>
            </a:custGeom>
            <a:grpFill/>
            <a:ln w="9525">
              <a:no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23" name="Freeform 7"/>
            <p:cNvSpPr>
              <a:spLocks/>
            </p:cNvSpPr>
            <p:nvPr/>
          </p:nvSpPr>
          <p:spPr bwMode="auto">
            <a:xfrm>
              <a:off x="2190" y="2982"/>
              <a:ext cx="774" cy="631"/>
            </a:xfrm>
            <a:custGeom>
              <a:avLst/>
              <a:gdLst/>
              <a:ahLst/>
              <a:cxnLst>
                <a:cxn ang="0">
                  <a:pos x="0" y="411"/>
                </a:cxn>
                <a:cxn ang="0">
                  <a:pos x="63" y="450"/>
                </a:cxn>
                <a:cxn ang="0">
                  <a:pos x="261" y="573"/>
                </a:cxn>
                <a:cxn ang="0">
                  <a:pos x="351" y="621"/>
                </a:cxn>
                <a:cxn ang="0">
                  <a:pos x="414" y="609"/>
                </a:cxn>
                <a:cxn ang="0">
                  <a:pos x="489" y="491"/>
                </a:cxn>
                <a:cxn ang="0">
                  <a:pos x="774" y="0"/>
                </a:cxn>
              </a:cxnLst>
              <a:rect l="0" t="0" r="r" b="b"/>
              <a:pathLst>
                <a:path w="774" h="631">
                  <a:moveTo>
                    <a:pt x="0" y="411"/>
                  </a:moveTo>
                  <a:cubicBezTo>
                    <a:pt x="12" y="417"/>
                    <a:pt x="20" y="423"/>
                    <a:pt x="63" y="450"/>
                  </a:cubicBezTo>
                  <a:cubicBezTo>
                    <a:pt x="106" y="477"/>
                    <a:pt x="213" y="545"/>
                    <a:pt x="261" y="573"/>
                  </a:cubicBezTo>
                  <a:cubicBezTo>
                    <a:pt x="309" y="601"/>
                    <a:pt x="326" y="615"/>
                    <a:pt x="351" y="621"/>
                  </a:cubicBezTo>
                  <a:cubicBezTo>
                    <a:pt x="376" y="627"/>
                    <a:pt x="391" y="631"/>
                    <a:pt x="414" y="609"/>
                  </a:cubicBezTo>
                  <a:cubicBezTo>
                    <a:pt x="437" y="587"/>
                    <a:pt x="429" y="592"/>
                    <a:pt x="489" y="491"/>
                  </a:cubicBezTo>
                  <a:cubicBezTo>
                    <a:pt x="549" y="390"/>
                    <a:pt x="715" y="102"/>
                    <a:pt x="774" y="0"/>
                  </a:cubicBezTo>
                </a:path>
              </a:pathLst>
            </a:custGeom>
            <a:grpFill/>
            <a:ln w="9525">
              <a:solidFill>
                <a:schemeClr val="tx1"/>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24" name="Freeform 8"/>
            <p:cNvSpPr>
              <a:spLocks/>
            </p:cNvSpPr>
            <p:nvPr/>
          </p:nvSpPr>
          <p:spPr bwMode="auto">
            <a:xfrm>
              <a:off x="924" y="2973"/>
              <a:ext cx="1278" cy="423"/>
            </a:xfrm>
            <a:custGeom>
              <a:avLst/>
              <a:gdLst/>
              <a:ahLst/>
              <a:cxnLst>
                <a:cxn ang="0">
                  <a:pos x="0" y="0"/>
                </a:cxn>
                <a:cxn ang="0">
                  <a:pos x="1278" y="423"/>
                </a:cxn>
              </a:cxnLst>
              <a:rect l="0" t="0" r="r" b="b"/>
              <a:pathLst>
                <a:path w="1278" h="423">
                  <a:moveTo>
                    <a:pt x="0" y="0"/>
                  </a:moveTo>
                  <a:lnTo>
                    <a:pt x="1278" y="423"/>
                  </a:lnTo>
                </a:path>
              </a:pathLst>
            </a:custGeom>
            <a:grpFill/>
            <a:ln w="9525">
              <a:solidFill>
                <a:schemeClr val="tx1"/>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grpSp>
      <p:sp>
        <p:nvSpPr>
          <p:cNvPr id="265225" name="Line 9"/>
          <p:cNvSpPr>
            <a:spLocks noChangeShapeType="1"/>
          </p:cNvSpPr>
          <p:nvPr>
            <p:custDataLst>
              <p:tags r:id="rId4"/>
            </p:custDataLst>
          </p:nvPr>
        </p:nvSpPr>
        <p:spPr bwMode="auto">
          <a:xfrm>
            <a:off x="3152256" y="5691542"/>
            <a:ext cx="1468438" cy="0"/>
          </a:xfrm>
          <a:prstGeom prst="line">
            <a:avLst/>
          </a:prstGeom>
          <a:noFill/>
          <a:ln w="19050">
            <a:solidFill>
              <a:schemeClr val="tx1"/>
            </a:solidFill>
            <a:round/>
            <a:headEnd type="triangle" w="sm" len="med"/>
            <a:tailEnd type="triangle" w="sm"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26" name="Line 10"/>
          <p:cNvSpPr>
            <a:spLocks noChangeShapeType="1"/>
          </p:cNvSpPr>
          <p:nvPr>
            <p:custDataLst>
              <p:tags r:id="rId5"/>
            </p:custDataLst>
          </p:nvPr>
        </p:nvSpPr>
        <p:spPr bwMode="auto">
          <a:xfrm flipV="1">
            <a:off x="4615932" y="5691542"/>
            <a:ext cx="3128963" cy="0"/>
          </a:xfrm>
          <a:prstGeom prst="line">
            <a:avLst/>
          </a:prstGeom>
          <a:noFill/>
          <a:ln w="19050">
            <a:solidFill>
              <a:schemeClr val="tx1"/>
            </a:solidFill>
            <a:round/>
            <a:headEnd type="triangle" w="sm" len="med"/>
            <a:tailEnd type="triangle" w="sm"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27" name="Line 11"/>
          <p:cNvSpPr>
            <a:spLocks noChangeShapeType="1"/>
          </p:cNvSpPr>
          <p:nvPr>
            <p:custDataLst>
              <p:tags r:id="rId6"/>
            </p:custDataLst>
          </p:nvPr>
        </p:nvSpPr>
        <p:spPr bwMode="auto">
          <a:xfrm>
            <a:off x="2053706" y="3675176"/>
            <a:ext cx="5676900" cy="0"/>
          </a:xfrm>
          <a:prstGeom prst="line">
            <a:avLst/>
          </a:prstGeom>
          <a:noFill/>
          <a:ln w="12700">
            <a:solidFill>
              <a:schemeClr val="tx1"/>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28" name="Line 12"/>
          <p:cNvSpPr>
            <a:spLocks noChangeShapeType="1"/>
          </p:cNvSpPr>
          <p:nvPr>
            <p:custDataLst>
              <p:tags r:id="rId7"/>
            </p:custDataLst>
          </p:nvPr>
        </p:nvSpPr>
        <p:spPr bwMode="auto">
          <a:xfrm flipV="1">
            <a:off x="4615931" y="1082789"/>
            <a:ext cx="0" cy="4800600"/>
          </a:xfrm>
          <a:prstGeom prst="line">
            <a:avLst/>
          </a:prstGeom>
          <a:noFill/>
          <a:ln w="9525">
            <a:solidFill>
              <a:schemeClr val="tx1"/>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4106" name="Rectangle 13"/>
          <p:cNvSpPr>
            <a:spLocks noChangeArrowheads="1"/>
          </p:cNvSpPr>
          <p:nvPr>
            <p:custDataLst>
              <p:tags r:id="rId8"/>
            </p:custDataLst>
          </p:nvPr>
        </p:nvSpPr>
        <p:spPr bwMode="auto">
          <a:xfrm>
            <a:off x="2072756" y="1082790"/>
            <a:ext cx="5651500" cy="4548187"/>
          </a:xfrm>
          <a:prstGeom prst="rect">
            <a:avLst/>
          </a:prstGeom>
          <a:no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600" b="1"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30" name="Text Box 14"/>
          <p:cNvSpPr txBox="1">
            <a:spLocks noChangeArrowheads="1"/>
          </p:cNvSpPr>
          <p:nvPr>
            <p:custDataLst>
              <p:tags r:id="rId9"/>
            </p:custDataLst>
          </p:nvPr>
        </p:nvSpPr>
        <p:spPr bwMode="auto">
          <a:xfrm>
            <a:off x="850383" y="939914"/>
            <a:ext cx="1171573" cy="415498"/>
          </a:xfrm>
          <a:prstGeom prst="rect">
            <a:avLst/>
          </a:prstGeom>
          <a:noFill/>
          <a:ln w="12700">
            <a:noFill/>
            <a:miter lim="800000"/>
            <a:headEnd/>
            <a:tailEnd/>
          </a:ln>
          <a:effectLst/>
        </p:spPr>
        <p:txBody>
          <a:bodyPr wrap="square">
            <a:spAutoFit/>
          </a:bodyPr>
          <a:lstStyle/>
          <a:p>
            <a:pPr marL="0" marR="0" lvl="0" indent="0" algn="r" defTabSz="914400" rtl="0" eaLnBrk="0" fontAlgn="auto" latinLnBrk="0" hangingPunct="0">
              <a:lnSpc>
                <a:spcPct val="100000"/>
              </a:lnSpc>
              <a:spcBef>
                <a:spcPts val="0"/>
              </a:spcBef>
              <a:spcAft>
                <a:spcPts val="0"/>
              </a:spcAft>
              <a:buClrTx/>
              <a:buSzTx/>
              <a:buFontTx/>
              <a:buNone/>
              <a:tabLst/>
              <a:defRPr/>
            </a:pPr>
            <a:r>
              <a:rPr kumimoji="0" lang="es-AR" sz="1050" b="1" i="0" u="none" strike="noStrike" kern="1200" cap="none" spc="0" normalizeH="0" baseline="0" noProof="0" dirty="0">
                <a:ln>
                  <a:noFill/>
                </a:ln>
                <a:solidFill>
                  <a:srgbClr val="000000"/>
                </a:solidFill>
                <a:effectLst/>
                <a:highlight>
                  <a:srgbClr val="FDC405"/>
                </a:highlight>
                <a:uLnTx/>
                <a:uFillTx/>
                <a:latin typeface="+mn-lt"/>
                <a:ea typeface="ヒラギノ角ゴ ProN W3"/>
                <a:cs typeface="Arial" charset="0"/>
              </a:rPr>
              <a:t>Dinero acumulado</a:t>
            </a:r>
          </a:p>
        </p:txBody>
      </p:sp>
      <p:sp>
        <p:nvSpPr>
          <p:cNvPr id="265231" name="Line 15"/>
          <p:cNvSpPr>
            <a:spLocks noChangeShapeType="1"/>
          </p:cNvSpPr>
          <p:nvPr>
            <p:custDataLst>
              <p:tags r:id="rId10"/>
            </p:custDataLst>
          </p:nvPr>
        </p:nvSpPr>
        <p:spPr bwMode="auto">
          <a:xfrm>
            <a:off x="4509570" y="3776776"/>
            <a:ext cx="1587" cy="838200"/>
          </a:xfrm>
          <a:prstGeom prst="line">
            <a:avLst/>
          </a:prstGeom>
          <a:noFill/>
          <a:ln w="12700">
            <a:solidFill>
              <a:schemeClr val="tx1"/>
            </a:solidFill>
            <a:round/>
            <a:headEnd type="triangle" w="med" len="med"/>
            <a:tailEnd type="triangle" w="med" len="me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32" name="Line 16"/>
          <p:cNvSpPr>
            <a:spLocks noChangeShapeType="1"/>
          </p:cNvSpPr>
          <p:nvPr>
            <p:custDataLst>
              <p:tags r:id="rId11"/>
            </p:custDataLst>
          </p:nvPr>
        </p:nvSpPr>
        <p:spPr bwMode="auto">
          <a:xfrm>
            <a:off x="2382320" y="3611676"/>
            <a:ext cx="1597025" cy="0"/>
          </a:xfrm>
          <a:prstGeom prst="line">
            <a:avLst/>
          </a:prstGeom>
          <a:noFill/>
          <a:ln w="12700">
            <a:solidFill>
              <a:schemeClr val="tx1"/>
            </a:solidFill>
            <a:round/>
            <a:headEnd type="triangle" w="med" len="med"/>
            <a:tailEnd type="triangle" w="med" len="me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33" name="Line 17"/>
          <p:cNvSpPr>
            <a:spLocks noChangeShapeType="1"/>
          </p:cNvSpPr>
          <p:nvPr>
            <p:custDataLst>
              <p:tags r:id="rId12"/>
            </p:custDataLst>
          </p:nvPr>
        </p:nvSpPr>
        <p:spPr bwMode="auto">
          <a:xfrm>
            <a:off x="7633770" y="1520939"/>
            <a:ext cx="1587" cy="2057400"/>
          </a:xfrm>
          <a:prstGeom prst="line">
            <a:avLst/>
          </a:prstGeom>
          <a:noFill/>
          <a:ln w="12700">
            <a:solidFill>
              <a:schemeClr val="tx1"/>
            </a:solidFill>
            <a:round/>
            <a:headEnd type="triangle" w="med" len="med"/>
            <a:tailEnd type="triangle" w="med" len="me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34" name="Line 18"/>
          <p:cNvSpPr>
            <a:spLocks noChangeShapeType="1"/>
          </p:cNvSpPr>
          <p:nvPr>
            <p:custDataLst>
              <p:tags r:id="rId13"/>
            </p:custDataLst>
          </p:nvPr>
        </p:nvSpPr>
        <p:spPr bwMode="auto">
          <a:xfrm flipV="1">
            <a:off x="5236645" y="1776526"/>
            <a:ext cx="1741487" cy="1676400"/>
          </a:xfrm>
          <a:prstGeom prst="line">
            <a:avLst/>
          </a:prstGeom>
          <a:noFill/>
          <a:ln w="12700">
            <a:solidFill>
              <a:schemeClr val="tx1"/>
            </a:solidFill>
            <a:round/>
            <a:headEnd type="triangle" w="med" len="med"/>
            <a:tailEnd type="triangle" w="med" len="me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sp>
        <p:nvSpPr>
          <p:cNvPr id="265236" name="Text Box 20"/>
          <p:cNvSpPr txBox="1">
            <a:spLocks noChangeArrowheads="1"/>
          </p:cNvSpPr>
          <p:nvPr>
            <p:custDataLst>
              <p:tags r:id="rId14"/>
            </p:custDataLst>
          </p:nvPr>
        </p:nvSpPr>
        <p:spPr bwMode="auto">
          <a:xfrm>
            <a:off x="8022705" y="3271951"/>
            <a:ext cx="1842263" cy="1219200"/>
          </a:xfrm>
          <a:prstGeom prst="rect">
            <a:avLst/>
          </a:prstGeom>
          <a:noFill/>
          <a:ln w="9525">
            <a:noFill/>
            <a:miter lim="800000"/>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dirty="0">
                <a:ln>
                  <a:noFill/>
                </a:ln>
                <a:solidFill>
                  <a:srgbClr val="000000"/>
                </a:solidFill>
                <a:effectLst/>
                <a:uLnTx/>
                <a:uFillTx/>
                <a:latin typeface="+mn-lt"/>
                <a:ea typeface="ヒラギノ角ゴ ProN W3"/>
                <a:cs typeface="Arial" charset="0"/>
              </a:rPr>
              <a:t>Gestión del ciclo de vida</a:t>
            </a:r>
          </a:p>
          <a:p>
            <a:pPr marL="277813" marR="0" lvl="1" indent="-98425" algn="l" defTabSz="914400" rtl="0" eaLnBrk="1" fontAlgn="auto" latinLnBrk="0" hangingPunct="1">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Administrar canibalización</a:t>
            </a:r>
          </a:p>
          <a:p>
            <a:pPr marL="277813" marR="0" lvl="1" indent="-98425" algn="l" defTabSz="914400" rtl="0" eaLnBrk="1" fontAlgn="auto" latinLnBrk="0" hangingPunct="1">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Valorar según fase del ciclo de vida y según lanzamientos futuros</a:t>
            </a:r>
          </a:p>
        </p:txBody>
      </p:sp>
      <p:sp>
        <p:nvSpPr>
          <p:cNvPr id="265237" name="Text Box 21"/>
          <p:cNvSpPr txBox="1">
            <a:spLocks noChangeArrowheads="1"/>
          </p:cNvSpPr>
          <p:nvPr>
            <p:custDataLst>
              <p:tags r:id="rId15"/>
            </p:custDataLst>
          </p:nvPr>
        </p:nvSpPr>
        <p:spPr bwMode="auto">
          <a:xfrm>
            <a:off x="8022705" y="1424102"/>
            <a:ext cx="1695725" cy="1331134"/>
          </a:xfrm>
          <a:prstGeom prst="rect">
            <a:avLst/>
          </a:prstGeom>
          <a:noFill/>
          <a:ln w="9525">
            <a:noFill/>
            <a:miter lim="800000"/>
            <a:headEnd/>
            <a:tailEnd/>
          </a:ln>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dirty="0">
                <a:ln>
                  <a:noFill/>
                </a:ln>
                <a:solidFill>
                  <a:srgbClr val="000000"/>
                </a:solidFill>
                <a:effectLst/>
                <a:uLnTx/>
                <a:uFillTx/>
                <a:latin typeface="+mn-lt"/>
                <a:ea typeface="ヒラギノ角ゴ ProN W3"/>
                <a:cs typeface="Arial" charset="0"/>
              </a:rPr>
              <a:t>Gestión de portafolio</a:t>
            </a:r>
          </a:p>
          <a:p>
            <a:pPr marL="277813" marR="0" lvl="1" indent="-98425" algn="l" defTabSz="914400" rtl="0" eaLnBrk="1" fontAlgn="auto" latinLnBrk="0" hangingPunct="1">
              <a:lnSpc>
                <a:spcPct val="100000"/>
              </a:lnSpc>
              <a:spcBef>
                <a:spcPct val="2500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Apalancar la mezcla de los proyectos actuales</a:t>
            </a:r>
          </a:p>
          <a:p>
            <a:pPr marL="277813" marR="0" lvl="1" indent="-98425" algn="l" defTabSz="914400" rtl="0" eaLnBrk="1" fontAlgn="auto" latinLnBrk="0" hangingPunct="1">
              <a:lnSpc>
                <a:spcPct val="100000"/>
              </a:lnSpc>
              <a:spcBef>
                <a:spcPct val="2500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Redistribuir  recursos para acelerar ganadores</a:t>
            </a:r>
          </a:p>
        </p:txBody>
      </p:sp>
      <p:sp>
        <p:nvSpPr>
          <p:cNvPr id="4115" name="AutoShape 22"/>
          <p:cNvSpPr>
            <a:spLocks noChangeArrowheads="1"/>
          </p:cNvSpPr>
          <p:nvPr>
            <p:custDataLst>
              <p:tags r:id="rId16"/>
            </p:custDataLst>
          </p:nvPr>
        </p:nvSpPr>
        <p:spPr bwMode="auto">
          <a:xfrm>
            <a:off x="7838556" y="1806689"/>
            <a:ext cx="184150" cy="2849562"/>
          </a:xfrm>
          <a:prstGeom prst="rightArrow">
            <a:avLst>
              <a:gd name="adj1" fmla="val 41963"/>
              <a:gd name="adj2" fmla="val 100000"/>
            </a:avLst>
          </a:prstGeom>
          <a:solidFill>
            <a:srgbClr val="ED6723"/>
          </a:solidFill>
          <a:ln>
            <a:headEnd/>
            <a:tailEnd/>
          </a:ln>
        </p:spPr>
        <p:style>
          <a:lnRef idx="2">
            <a:schemeClr val="dk1"/>
          </a:lnRef>
          <a:fillRef idx="1">
            <a:schemeClr val="lt1"/>
          </a:fillRef>
          <a:effectRef idx="0">
            <a:schemeClr val="dk1"/>
          </a:effectRef>
          <a:fontRef idx="minor">
            <a:schemeClr val="dk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2000" b="1" i="0" u="none" strike="noStrike" kern="1200" cap="none" spc="0" normalizeH="0" baseline="0" noProof="0">
              <a:ln>
                <a:noFill/>
              </a:ln>
              <a:solidFill>
                <a:srgbClr val="000000"/>
              </a:solidFill>
              <a:effectLst/>
              <a:uLnTx/>
              <a:uFillTx/>
              <a:ea typeface="ヒラギノ角ゴ ProN W3"/>
            </a:endParaRPr>
          </a:p>
        </p:txBody>
      </p:sp>
      <p:sp>
        <p:nvSpPr>
          <p:cNvPr id="265239" name="Text Box 23"/>
          <p:cNvSpPr txBox="1">
            <a:spLocks noChangeArrowheads="1"/>
          </p:cNvSpPr>
          <p:nvPr>
            <p:custDataLst>
              <p:tags r:id="rId17"/>
            </p:custDataLst>
          </p:nvPr>
        </p:nvSpPr>
        <p:spPr bwMode="auto">
          <a:xfrm>
            <a:off x="4593707" y="1078026"/>
            <a:ext cx="2212975" cy="1646605"/>
          </a:xfrm>
          <a:prstGeom prst="rect">
            <a:avLst/>
          </a:prstGeom>
          <a:noFill/>
          <a:ln w="9525">
            <a:noFill/>
            <a:miter lim="800000"/>
            <a:headEnd/>
            <a:tailEnd/>
          </a:ln>
          <a:effectLst/>
        </p:spPr>
        <p:txBody>
          <a:bodyPr>
            <a:spAutoFit/>
          </a:bodyPr>
          <a:lstStyle/>
          <a:p>
            <a:pPr marL="111125" marR="0" lvl="0" indent="-111125" algn="l"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dirty="0">
                <a:ln>
                  <a:noFill/>
                </a:ln>
                <a:solidFill>
                  <a:srgbClr val="000000"/>
                </a:solidFill>
                <a:effectLst/>
                <a:uLnTx/>
                <a:uFillTx/>
                <a:latin typeface="+mn-lt"/>
                <a:ea typeface="ヒラギノ角ゴ ProN W3"/>
                <a:cs typeface="Arial" charset="0"/>
              </a:rPr>
              <a:t>Impacto de marketing</a:t>
            </a:r>
          </a:p>
          <a:p>
            <a:pPr marL="111125" marR="0" lvl="0" indent="-111125" algn="l" defTabSz="914400" rtl="0" eaLnBrk="1" fontAlgn="auto" latinLnBrk="0" hangingPunct="1">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Segmentar clientes y desarrollar innovaciones que satisfagan sus necesidades</a:t>
            </a:r>
          </a:p>
          <a:p>
            <a:pPr marL="111125" marR="0" lvl="0" indent="-111125" algn="l" defTabSz="914400" rtl="0" eaLnBrk="1" fontAlgn="auto" latinLnBrk="0" hangingPunct="1">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Diseñar la estrategia de marketing para maximizar valor</a:t>
            </a:r>
          </a:p>
          <a:p>
            <a:pPr marL="111125" marR="0" lvl="0" indent="-111125" algn="l" defTabSz="914400" rtl="0" eaLnBrk="1" fontAlgn="auto" latinLnBrk="0" hangingPunct="1">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Utilizar campaña de publicidad </a:t>
            </a:r>
            <a:b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b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agresiva y oportuna</a:t>
            </a:r>
          </a:p>
          <a:p>
            <a:pPr marL="111125" marR="0" lvl="0" indent="-111125" algn="l" defTabSz="914400" rtl="0" eaLnBrk="1" fontAlgn="auto" latinLnBrk="0" hangingPunct="1">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Apalancar la marca</a:t>
            </a:r>
          </a:p>
          <a:p>
            <a:pPr marL="111125" marR="0" lvl="0" indent="-111125" algn="l" defTabSz="914400" rtl="0" eaLnBrk="1" fontAlgn="auto" latinLnBrk="0" hangingPunct="1">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Reaccionar rápido al</a:t>
            </a:r>
            <a:b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br>
            <a:r>
              <a:rPr kumimoji="0" lang="es-AR" sz="900" i="0" u="none" strike="noStrike" kern="1200" cap="none" spc="0" normalizeH="0" baseline="0" noProof="0" dirty="0" err="1">
                <a:ln>
                  <a:noFill/>
                </a:ln>
                <a:solidFill>
                  <a:srgbClr val="000000"/>
                </a:solidFill>
                <a:effectLst/>
                <a:uLnTx/>
                <a:uFillTx/>
                <a:latin typeface="+mn-lt"/>
                <a:ea typeface="ヒラギノ角ゴ ProN W3"/>
                <a:cs typeface="Arial" charset="0"/>
              </a:rPr>
              <a:t>feedback</a:t>
            </a:r>
            <a:endParaRPr kumimoji="0" lang="es-AR" sz="2000" i="0" u="none" strike="noStrike" kern="1200" cap="none" spc="0" normalizeH="0" baseline="0" noProof="0" dirty="0">
              <a:ln>
                <a:noFill/>
              </a:ln>
              <a:solidFill>
                <a:srgbClr val="000000"/>
              </a:solidFill>
              <a:effectLst/>
              <a:uLnTx/>
              <a:uFillTx/>
              <a:latin typeface="+mn-lt"/>
              <a:ea typeface="ヒラギノ角ゴ ProN W3"/>
              <a:cs typeface="Arial" charset="0"/>
            </a:endParaRPr>
          </a:p>
        </p:txBody>
      </p:sp>
      <p:sp>
        <p:nvSpPr>
          <p:cNvPr id="265240" name="Text Box 24"/>
          <p:cNvSpPr txBox="1">
            <a:spLocks noChangeArrowheads="1"/>
          </p:cNvSpPr>
          <p:nvPr>
            <p:custDataLst>
              <p:tags r:id="rId18"/>
            </p:custDataLst>
          </p:nvPr>
        </p:nvSpPr>
        <p:spPr bwMode="auto">
          <a:xfrm>
            <a:off x="5163620" y="3724389"/>
            <a:ext cx="2611437" cy="954107"/>
          </a:xfrm>
          <a:prstGeom prst="rect">
            <a:avLst/>
          </a:prstGeom>
          <a:noFill/>
          <a:ln w="9525">
            <a:noFill/>
            <a:miter lim="800000"/>
            <a:headEnd/>
            <a:tailEnd/>
          </a:ln>
          <a:effectLst/>
        </p:spPr>
        <p:txBody>
          <a:bodyPr>
            <a:spAutoFit/>
          </a:bodyPr>
          <a:lstStyle/>
          <a:p>
            <a:pPr marL="111125" marR="0" lvl="0" indent="-111125" algn="l"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dirty="0">
                <a:ln>
                  <a:noFill/>
                </a:ln>
                <a:solidFill>
                  <a:srgbClr val="000000"/>
                </a:solidFill>
                <a:effectLst/>
                <a:uLnTx/>
                <a:uFillTx/>
                <a:latin typeface="+mn-lt"/>
                <a:ea typeface="ヒラギノ角ゴ ProN W3"/>
                <a:cs typeface="Arial" charset="0"/>
              </a:rPr>
              <a:t>Tiempo hasta volumen</a:t>
            </a:r>
          </a:p>
          <a:p>
            <a:pPr marL="111125" marR="0" lvl="0" indent="-111125" algn="l" defTabSz="914400" rtl="0" eaLnBrk="0" fontAlgn="auto" latinLnBrk="0" hangingPunct="0">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Diseñar para costo, rapidez y calidad</a:t>
            </a:r>
          </a:p>
          <a:p>
            <a:pPr marL="111125" marR="0" lvl="0" indent="-111125" algn="l" defTabSz="914400" rtl="0" eaLnBrk="0" fontAlgn="auto" latinLnBrk="0" hangingPunct="0">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Direccionar consideraciones de la cadena de suministro temprano en el proceso de desarrollo</a:t>
            </a:r>
          </a:p>
          <a:p>
            <a:pPr marL="111125" marR="0" lvl="0" indent="-111125" algn="l" defTabSz="914400" rtl="0" eaLnBrk="0" fontAlgn="auto" latinLnBrk="0" hangingPunct="0">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Administrar el ritmo de lanzamientos</a:t>
            </a:r>
            <a:endParaRPr kumimoji="0" lang="es-AR" sz="2000" i="0" u="none" strike="noStrike" kern="1200" cap="none" spc="0" normalizeH="0" baseline="0" noProof="0" dirty="0">
              <a:ln>
                <a:noFill/>
              </a:ln>
              <a:solidFill>
                <a:srgbClr val="000000"/>
              </a:solidFill>
              <a:effectLst/>
              <a:uLnTx/>
              <a:uFillTx/>
              <a:latin typeface="+mn-lt"/>
              <a:ea typeface="ヒラギノ角ゴ ProN W3"/>
              <a:cs typeface="Arial" charset="0"/>
            </a:endParaRPr>
          </a:p>
        </p:txBody>
      </p:sp>
      <p:sp>
        <p:nvSpPr>
          <p:cNvPr id="265241" name="Text Box 25"/>
          <p:cNvSpPr txBox="1">
            <a:spLocks noChangeArrowheads="1"/>
          </p:cNvSpPr>
          <p:nvPr>
            <p:custDataLst>
              <p:tags r:id="rId19"/>
            </p:custDataLst>
          </p:nvPr>
        </p:nvSpPr>
        <p:spPr bwMode="auto">
          <a:xfrm>
            <a:off x="2088631" y="4106977"/>
            <a:ext cx="2438400" cy="1369606"/>
          </a:xfrm>
          <a:prstGeom prst="rect">
            <a:avLst/>
          </a:prstGeom>
          <a:noFill/>
          <a:ln w="9525">
            <a:noFill/>
            <a:miter lim="800000"/>
            <a:headEnd/>
            <a:tailEnd/>
          </a:ln>
          <a:effectLst/>
        </p:spPr>
        <p:txBody>
          <a:bodyPr>
            <a:spAutoFit/>
          </a:bodyPr>
          <a:lstStyle/>
          <a:p>
            <a:pPr marL="111125" marR="0" lvl="0" indent="-111125" algn="l" defTabSz="914400" rtl="0" eaLnBrk="1" fontAlgn="auto" latinLnBrk="0" hangingPunct="1">
              <a:lnSpc>
                <a:spcPct val="100000"/>
              </a:lnSpc>
              <a:spcBef>
                <a:spcPts val="0"/>
              </a:spcBef>
              <a:spcAft>
                <a:spcPts val="0"/>
              </a:spcAft>
              <a:buClrTx/>
              <a:buSzTx/>
              <a:buFontTx/>
              <a:buNone/>
              <a:tabLst/>
              <a:defRPr/>
            </a:pPr>
            <a:r>
              <a:rPr kumimoji="0" lang="es-AR" sz="1100" b="1" i="0" u="none" strike="noStrike" kern="1200" cap="none" spc="0" normalizeH="0" baseline="0" noProof="0" dirty="0">
                <a:ln>
                  <a:noFill/>
                </a:ln>
                <a:solidFill>
                  <a:srgbClr val="000000"/>
                </a:solidFill>
                <a:effectLst/>
                <a:uLnTx/>
                <a:uFillTx/>
                <a:latin typeface="+mn-lt"/>
                <a:ea typeface="ヒラギノ角ゴ ProN W3"/>
                <a:cs typeface="Arial" charset="0"/>
              </a:rPr>
              <a:t>Impacto de I&amp;D </a:t>
            </a:r>
          </a:p>
          <a:p>
            <a:pPr marL="111125" marR="0" lvl="0" indent="-111125" algn="l" defTabSz="914400" rtl="0" eaLnBrk="0" fontAlgn="auto" latinLnBrk="0" hangingPunct="0">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Mejorar diseño del proceso</a:t>
            </a:r>
          </a:p>
          <a:p>
            <a:pPr marL="111125" marR="0" lvl="0" indent="-111125" algn="l" defTabSz="914400" rtl="0" eaLnBrk="0" fontAlgn="auto" latinLnBrk="0" hangingPunct="0">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Asignar efectivamente los recursos</a:t>
            </a:r>
          </a:p>
          <a:p>
            <a:pPr marL="111125" marR="0" lvl="0" indent="-111125" algn="l" defTabSz="914400" rtl="0" eaLnBrk="0" fontAlgn="auto" latinLnBrk="0" hangingPunct="0">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Colaborar con equipos de desarrollo </a:t>
            </a:r>
            <a:r>
              <a:rPr kumimoji="0" lang="es-AR" sz="900" i="0" u="none" strike="noStrike" kern="1200" cap="none" spc="0" normalizeH="0" baseline="0" noProof="0" dirty="0" err="1">
                <a:ln>
                  <a:noFill/>
                </a:ln>
                <a:solidFill>
                  <a:srgbClr val="000000"/>
                </a:solidFill>
                <a:effectLst/>
                <a:uLnTx/>
                <a:uFillTx/>
                <a:latin typeface="+mn-lt"/>
                <a:ea typeface="ヒラギノ角ゴ ProN W3"/>
                <a:cs typeface="Arial" charset="0"/>
              </a:rPr>
              <a:t>multi</a:t>
            </a: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-funcional</a:t>
            </a:r>
          </a:p>
          <a:p>
            <a:pPr marL="111125" marR="0" lvl="0" indent="-111125" algn="l" defTabSz="914400" rtl="0" eaLnBrk="0" fontAlgn="auto" latinLnBrk="0" hangingPunct="0">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Apalancar conocimiento externo/ complementario</a:t>
            </a:r>
          </a:p>
          <a:p>
            <a:pPr marL="111125" marR="0" lvl="0" indent="-111125" algn="l" defTabSz="914400" rtl="0" eaLnBrk="0" fontAlgn="auto" latinLnBrk="0" hangingPunct="0">
              <a:lnSpc>
                <a:spcPct val="100000"/>
              </a:lnSpc>
              <a:spcBef>
                <a:spcPts val="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Utilizar estratégica de Propiedad Intelectual</a:t>
            </a:r>
          </a:p>
        </p:txBody>
      </p:sp>
      <p:sp>
        <p:nvSpPr>
          <p:cNvPr id="4119" name="AutoShape 26"/>
          <p:cNvSpPr>
            <a:spLocks noChangeArrowheads="1"/>
          </p:cNvSpPr>
          <p:nvPr>
            <p:custDataLst>
              <p:tags r:id="rId20"/>
            </p:custDataLst>
          </p:nvPr>
        </p:nvSpPr>
        <p:spPr bwMode="auto">
          <a:xfrm>
            <a:off x="1707632" y="1806689"/>
            <a:ext cx="182563" cy="2851150"/>
          </a:xfrm>
          <a:prstGeom prst="rightArrow">
            <a:avLst>
              <a:gd name="adj1" fmla="val 41963"/>
              <a:gd name="adj2" fmla="val 100000"/>
            </a:avLst>
          </a:prstGeom>
          <a:solidFill>
            <a:srgbClr val="ED6723"/>
          </a:solidFill>
          <a:ln>
            <a:headEnd/>
            <a:tailEnd/>
          </a:ln>
        </p:spPr>
        <p:style>
          <a:lnRef idx="2">
            <a:schemeClr val="dk1"/>
          </a:lnRef>
          <a:fillRef idx="1">
            <a:schemeClr val="lt1"/>
          </a:fillRef>
          <a:effectRef idx="0">
            <a:schemeClr val="dk1"/>
          </a:effectRef>
          <a:fontRef idx="minor">
            <a:schemeClr val="dk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600" b="1" i="0" u="none" strike="noStrike" kern="1200" cap="none" spc="0" normalizeH="0" baseline="0" noProof="0">
              <a:ln>
                <a:noFill/>
              </a:ln>
              <a:solidFill>
                <a:srgbClr val="000000"/>
              </a:solidFill>
              <a:effectLst/>
              <a:uLnTx/>
              <a:uFillTx/>
              <a:ea typeface="ヒラギノ角ゴ ProN W3"/>
            </a:endParaRPr>
          </a:p>
        </p:txBody>
      </p:sp>
      <p:sp>
        <p:nvSpPr>
          <p:cNvPr id="4120" name="Text Box 27"/>
          <p:cNvSpPr txBox="1">
            <a:spLocks noChangeArrowheads="1"/>
          </p:cNvSpPr>
          <p:nvPr>
            <p:custDataLst>
              <p:tags r:id="rId21"/>
            </p:custDataLst>
          </p:nvPr>
        </p:nvSpPr>
        <p:spPr bwMode="auto">
          <a:xfrm>
            <a:off x="612022" y="2559301"/>
            <a:ext cx="1166814" cy="1134926"/>
          </a:xfrm>
          <a:prstGeom prst="rect">
            <a:avLst/>
          </a:prstGeom>
          <a:noFill/>
          <a:ln w="9525">
            <a:noFill/>
            <a:miter lim="800000"/>
            <a:headEnd/>
            <a:tailEnd/>
          </a:ln>
        </p:spPr>
        <p:txBody>
          <a:bodyPr wrap="square">
            <a:spAutoFit/>
          </a:bodyPr>
          <a:lstStyle/>
          <a:p>
            <a:pPr marL="111125" marR="0" lvl="0" indent="-111125" algn="l" defTabSz="914400" rtl="0" eaLnBrk="1" fontAlgn="auto" latinLnBrk="0" hangingPunct="1">
              <a:lnSpc>
                <a:spcPct val="100000"/>
              </a:lnSpc>
              <a:spcBef>
                <a:spcPct val="50000"/>
              </a:spcBef>
              <a:spcAft>
                <a:spcPts val="0"/>
              </a:spcAft>
              <a:buClrTx/>
              <a:buSzTx/>
              <a:buFontTx/>
              <a:buNone/>
              <a:tabLst/>
              <a:defRPr/>
            </a:pPr>
            <a:r>
              <a:rPr kumimoji="0" lang="es-AR" sz="1600" b="1" i="0" u="none" strike="noStrike" kern="1200" cap="none" spc="0" normalizeH="0" baseline="0" noProof="0" dirty="0">
                <a:ln>
                  <a:noFill/>
                </a:ln>
                <a:solidFill>
                  <a:srgbClr val="000000"/>
                </a:solidFill>
                <a:effectLst/>
                <a:uLnTx/>
                <a:uFillTx/>
                <a:latin typeface="+mn-lt"/>
                <a:ea typeface="ヒラギノ角ゴ ProN W3"/>
                <a:cs typeface="Arial" charset="0"/>
              </a:rPr>
              <a:t>Ideas</a:t>
            </a:r>
            <a:endParaRPr kumimoji="0" lang="es-AR" sz="1600" b="1" i="0" u="none" strike="noStrike" kern="1200" cap="none" spc="0" normalizeH="0" baseline="30000" noProof="0" dirty="0">
              <a:ln>
                <a:noFill/>
              </a:ln>
              <a:solidFill>
                <a:srgbClr val="000000"/>
              </a:solidFill>
              <a:effectLst/>
              <a:uLnTx/>
              <a:uFillTx/>
              <a:latin typeface="+mn-lt"/>
              <a:ea typeface="ヒラギノ角ゴ ProN W3"/>
              <a:cs typeface="Arial" charset="0"/>
            </a:endParaRPr>
          </a:p>
          <a:p>
            <a:pPr marL="111125" marR="0" lvl="0" indent="-111125" algn="l" defTabSz="914400" rtl="0" eaLnBrk="1" fontAlgn="auto" latinLnBrk="0" hangingPunct="1">
              <a:lnSpc>
                <a:spcPct val="100000"/>
              </a:lnSpc>
              <a:spcBef>
                <a:spcPct val="2500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Más ideas</a:t>
            </a:r>
          </a:p>
          <a:p>
            <a:pPr marL="111125" marR="0" lvl="0" indent="-111125" algn="l" defTabSz="914400" rtl="0" eaLnBrk="1" fontAlgn="auto" latinLnBrk="0" hangingPunct="1">
              <a:lnSpc>
                <a:spcPct val="100000"/>
              </a:lnSpc>
              <a:spcBef>
                <a:spcPct val="2500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Ideas más innovadoras</a:t>
            </a:r>
          </a:p>
          <a:p>
            <a:pPr marL="111125" marR="0" lvl="0" indent="-111125" algn="l" defTabSz="914400" rtl="0" eaLnBrk="1" fontAlgn="auto" latinLnBrk="0" hangingPunct="1">
              <a:lnSpc>
                <a:spcPct val="100000"/>
              </a:lnSpc>
              <a:spcBef>
                <a:spcPct val="2500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Ideas de mejor calidad</a:t>
            </a:r>
            <a:endParaRPr kumimoji="0" lang="es-AR" sz="2000" i="0" u="none" strike="noStrike" kern="1200" cap="none" spc="0" normalizeH="0" baseline="0" noProof="0" dirty="0">
              <a:ln>
                <a:noFill/>
              </a:ln>
              <a:solidFill>
                <a:srgbClr val="000000"/>
              </a:solidFill>
              <a:effectLst/>
              <a:uLnTx/>
              <a:uFillTx/>
              <a:latin typeface="+mn-lt"/>
              <a:ea typeface="ヒラギノ角ゴ ProN W3"/>
              <a:cs typeface="Arial" charset="0"/>
            </a:endParaRPr>
          </a:p>
        </p:txBody>
      </p:sp>
      <p:sp>
        <p:nvSpPr>
          <p:cNvPr id="265244" name="Text Box 28"/>
          <p:cNvSpPr txBox="1">
            <a:spLocks noChangeArrowheads="1"/>
          </p:cNvSpPr>
          <p:nvPr>
            <p:custDataLst>
              <p:tags r:id="rId22"/>
            </p:custDataLst>
          </p:nvPr>
        </p:nvSpPr>
        <p:spPr bwMode="auto">
          <a:xfrm>
            <a:off x="2156895" y="2340726"/>
            <a:ext cx="1963737" cy="997261"/>
          </a:xfrm>
          <a:prstGeom prst="rect">
            <a:avLst/>
          </a:prstGeom>
          <a:noFill/>
          <a:ln w="12700">
            <a:noFill/>
            <a:miter lim="800000"/>
            <a:headEnd/>
            <a:tailEnd/>
          </a:ln>
          <a:effectLst/>
        </p:spPr>
        <p:txBody>
          <a:bodyPr lIns="0" tIns="0" rIns="0" bIns="0" anchor="ctr">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s-AR" sz="1100" b="1" i="0" u="none" strike="noStrike" kern="1200" cap="none" spc="0" normalizeH="0" baseline="0" noProof="0" dirty="0">
                <a:ln>
                  <a:noFill/>
                </a:ln>
                <a:solidFill>
                  <a:srgbClr val="000000"/>
                </a:solidFill>
                <a:effectLst/>
                <a:uLnTx/>
                <a:uFillTx/>
                <a:latin typeface="+mn-lt"/>
                <a:ea typeface="ヒラギノ角ゴ ProN W3"/>
                <a:cs typeface="Arial" charset="0"/>
              </a:rPr>
              <a:t>Tiempo hasta comercializar</a:t>
            </a:r>
          </a:p>
          <a:p>
            <a:pPr marL="277813" marR="0" lvl="1" indent="-98425" algn="l" defTabSz="914400" rtl="0" eaLnBrk="1" fontAlgn="auto" latinLnBrk="0" hangingPunct="1">
              <a:lnSpc>
                <a:spcPct val="80000"/>
              </a:lnSpc>
              <a:spcBef>
                <a:spcPct val="2500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Acortar el ciclo</a:t>
            </a:r>
          </a:p>
          <a:p>
            <a:pPr marL="277813" marR="0" lvl="1" indent="-98425" algn="l" defTabSz="914400" rtl="0" eaLnBrk="1" fontAlgn="auto" latinLnBrk="0" hangingPunct="1">
              <a:lnSpc>
                <a:spcPct val="80000"/>
              </a:lnSpc>
              <a:spcBef>
                <a:spcPct val="2500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Infundir disciplina de proceso con objetivos agresivos</a:t>
            </a:r>
          </a:p>
          <a:p>
            <a:pPr marL="277813" marR="0" lvl="1" indent="-98425" algn="l" defTabSz="914400" rtl="0" eaLnBrk="1" fontAlgn="auto" latinLnBrk="0" hangingPunct="1">
              <a:lnSpc>
                <a:spcPct val="80000"/>
              </a:lnSpc>
              <a:spcBef>
                <a:spcPct val="25000"/>
              </a:spcBef>
              <a:spcAft>
                <a:spcPts val="0"/>
              </a:spcAft>
              <a:buClrTx/>
              <a:buSzTx/>
              <a:buFontTx/>
              <a:buChar char="•"/>
              <a:tabLst/>
              <a:defRPr/>
            </a:pPr>
            <a:r>
              <a:rPr kumimoji="0" lang="es-AR" sz="900" i="0" u="none" strike="noStrike" kern="1200" cap="none" spc="0" normalizeH="0" baseline="0" noProof="0" dirty="0">
                <a:ln>
                  <a:noFill/>
                </a:ln>
                <a:solidFill>
                  <a:srgbClr val="000000"/>
                </a:solidFill>
                <a:effectLst/>
                <a:uLnTx/>
                <a:uFillTx/>
                <a:latin typeface="+mn-lt"/>
                <a:ea typeface="ヒラギノ角ゴ ProN W3"/>
                <a:cs typeface="Arial" charset="0"/>
              </a:rPr>
              <a:t>Fomentar cultura de rapidez</a:t>
            </a:r>
            <a:endParaRPr kumimoji="0" lang="es-AR" sz="2000" i="0" u="none" strike="noStrike" kern="1200" cap="none" spc="0" normalizeH="0" baseline="0" noProof="0" dirty="0">
              <a:ln>
                <a:noFill/>
              </a:ln>
              <a:solidFill>
                <a:srgbClr val="000000"/>
              </a:solidFill>
              <a:effectLst/>
              <a:uLnTx/>
              <a:uFillTx/>
              <a:latin typeface="+mn-lt"/>
              <a:ea typeface="ヒラギノ角ゴ ProN W3"/>
              <a:cs typeface="Arial" charset="0"/>
            </a:endParaRPr>
          </a:p>
        </p:txBody>
      </p:sp>
      <p:sp>
        <p:nvSpPr>
          <p:cNvPr id="4122" name="Rectangle 29"/>
          <p:cNvSpPr>
            <a:spLocks noChangeArrowheads="1"/>
          </p:cNvSpPr>
          <p:nvPr>
            <p:custDataLst>
              <p:tags r:id="rId23"/>
            </p:custDataLst>
          </p:nvPr>
        </p:nvSpPr>
        <p:spPr bwMode="gray">
          <a:xfrm>
            <a:off x="730000" y="5883389"/>
            <a:ext cx="2853790" cy="321074"/>
          </a:xfrm>
          <a:prstGeom prst="rect">
            <a:avLst/>
          </a:prstGeom>
          <a:noFill/>
          <a:ln w="9525" algn="ctr">
            <a:noFill/>
            <a:miter lim="800000"/>
            <a:headEnd type="none" w="lg" len="lg"/>
            <a:tailEnd type="none" w="lg" len="lg"/>
          </a:ln>
        </p:spPr>
        <p:txBody>
          <a:bodyPr lIns="0" tIns="0" rIns="0" bIns="0" anchor="b"/>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s-AR" sz="900" b="1" i="0" u="none" strike="noStrike" kern="1200" cap="none" spc="0" normalizeH="0" baseline="0" noProof="0" dirty="0">
                <a:ln>
                  <a:noFill/>
                </a:ln>
                <a:solidFill>
                  <a:srgbClr val="000000"/>
                </a:solidFill>
                <a:effectLst/>
                <a:uLnTx/>
                <a:uFillTx/>
                <a:latin typeface="+mn-lt"/>
                <a:ea typeface="ヒラギノ角ゴ ProN W3"/>
                <a:cs typeface="Arial" charset="0"/>
              </a:rPr>
              <a:t>Fuente: </a:t>
            </a:r>
            <a:r>
              <a:rPr kumimoji="0" lang="es-AR" sz="900" b="0" i="0" u="none" strike="noStrike" kern="1200" cap="none" spc="0" normalizeH="0" baseline="0" noProof="0" dirty="0">
                <a:ln>
                  <a:noFill/>
                </a:ln>
                <a:solidFill>
                  <a:srgbClr val="000000"/>
                </a:solidFill>
                <a:effectLst/>
                <a:uLnTx/>
                <a:uFillTx/>
                <a:latin typeface="+mn-lt"/>
                <a:ea typeface="ヒラギノ角ゴ ProN W3"/>
                <a:cs typeface="Arial" charset="0"/>
              </a:rPr>
              <a:t>BCG análisis</a:t>
            </a:r>
          </a:p>
        </p:txBody>
      </p:sp>
      <p:sp>
        <p:nvSpPr>
          <p:cNvPr id="265248" name="Line 32"/>
          <p:cNvSpPr>
            <a:spLocks noChangeShapeType="1"/>
          </p:cNvSpPr>
          <p:nvPr>
            <p:custDataLst>
              <p:tags r:id="rId24"/>
            </p:custDataLst>
          </p:nvPr>
        </p:nvSpPr>
        <p:spPr bwMode="auto">
          <a:xfrm>
            <a:off x="2099745" y="5691542"/>
            <a:ext cx="1023937" cy="0"/>
          </a:xfrm>
          <a:prstGeom prst="line">
            <a:avLst/>
          </a:prstGeom>
          <a:noFill/>
          <a:ln w="19050">
            <a:solidFill>
              <a:schemeClr val="tx1"/>
            </a:solidFill>
            <a:round/>
            <a:headEnd type="triangle" w="sm" len="med"/>
            <a:tailEnd type="triangle" w="sm"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ヒラギノ角ゴ ProN W3"/>
              <a:cs typeface="Arial" charset="0"/>
            </a:endParaRPr>
          </a:p>
        </p:txBody>
      </p:sp>
      <p:graphicFrame>
        <p:nvGraphicFramePr>
          <p:cNvPr id="2050" name="Rectangle 2" hidden="1"/>
          <p:cNvGraphicFramePr>
            <a:graphicFrameLocks/>
          </p:cNvGraphicFramePr>
          <p:nvPr>
            <p:custDataLst>
              <p:tags r:id="rId25"/>
            </p:custDataLst>
          </p:nvPr>
        </p:nvGraphicFramePr>
        <p:xfrm>
          <a:off x="1524000" y="0"/>
          <a:ext cx="146050" cy="158750"/>
        </p:xfrm>
        <a:graphic>
          <a:graphicData uri="http://schemas.openxmlformats.org/presentationml/2006/ole">
            <mc:AlternateContent xmlns:mc="http://schemas.openxmlformats.org/markup-compatibility/2006">
              <mc:Choice xmlns:v="urn:schemas-microsoft-com:vml" Requires="v">
                <p:oleObj r:id="rId31" imgW="0" imgH="0" progId="">
                  <p:embed/>
                </p:oleObj>
              </mc:Choice>
              <mc:Fallback>
                <p:oleObj r:id="rId31" imgW="0" imgH="0" progId="">
                  <p:embed/>
                  <p:pic>
                    <p:nvPicPr>
                      <p:cNvPr id="2050" name="Rectangle 2" hidden="1"/>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0"/>
                        <a:ext cx="1460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24" name="AutoShape 48"/>
          <p:cNvSpPr>
            <a:spLocks noChangeArrowheads="1"/>
          </p:cNvSpPr>
          <p:nvPr>
            <p:custDataLst>
              <p:tags r:id="rId26"/>
            </p:custDataLst>
          </p:nvPr>
        </p:nvSpPr>
        <p:spPr bwMode="auto">
          <a:xfrm>
            <a:off x="2102920" y="5764567"/>
            <a:ext cx="1087437" cy="533400"/>
          </a:xfrm>
          <a:prstGeom prst="homePlate">
            <a:avLst>
              <a:gd name="adj" fmla="val 10845"/>
            </a:avLst>
          </a:prstGeom>
          <a:solidFill>
            <a:srgbClr val="ED6723"/>
          </a:solidFill>
          <a:ln w="9525" algn="ctr">
            <a:solidFill>
              <a:schemeClr val="bg1"/>
            </a:solidFill>
            <a:miter lim="800000"/>
            <a:headEnd/>
            <a:tailEnd/>
          </a:ln>
        </p:spPr>
        <p:txBody>
          <a:bodyPr lIns="75600" tIns="91440" bIns="91440" anchor="ct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s-AR" sz="1100" b="1" i="0" u="none" strike="noStrike" kern="1200" cap="none" spc="0" normalizeH="0" baseline="0" noProof="0" dirty="0">
                <a:ln>
                  <a:noFill/>
                </a:ln>
                <a:solidFill>
                  <a:srgbClr val="FFFFFF"/>
                </a:solidFill>
                <a:effectLst/>
                <a:uLnTx/>
                <a:uFillTx/>
                <a:latin typeface="+mn-lt"/>
                <a:ea typeface="ヒラギノ角ゴ ProN W3"/>
                <a:cs typeface="Arial" charset="0"/>
              </a:rPr>
              <a:t>Generación</a:t>
            </a:r>
            <a:br>
              <a:rPr kumimoji="0" lang="es-AR" sz="1100" b="1" i="0" u="none" strike="noStrike" kern="1200" cap="none" spc="0" normalizeH="0" baseline="0" noProof="0" dirty="0">
                <a:ln>
                  <a:noFill/>
                </a:ln>
                <a:solidFill>
                  <a:srgbClr val="FFFFFF"/>
                </a:solidFill>
                <a:effectLst/>
                <a:uLnTx/>
                <a:uFillTx/>
                <a:latin typeface="+mn-lt"/>
                <a:ea typeface="ヒラギノ角ゴ ProN W3"/>
                <a:cs typeface="Arial" charset="0"/>
              </a:rPr>
            </a:br>
            <a:r>
              <a:rPr kumimoji="0" lang="es-AR" sz="1100" b="1" i="0" u="none" strike="noStrike" kern="1200" cap="none" spc="0" normalizeH="0" baseline="0" noProof="0" dirty="0">
                <a:ln>
                  <a:noFill/>
                </a:ln>
                <a:solidFill>
                  <a:srgbClr val="FFFFFF"/>
                </a:solidFill>
                <a:effectLst/>
                <a:uLnTx/>
                <a:uFillTx/>
                <a:latin typeface="+mn-lt"/>
                <a:ea typeface="ヒラギノ角ゴ ProN W3"/>
                <a:cs typeface="Arial" charset="0"/>
              </a:rPr>
              <a:t>de ideas</a:t>
            </a:r>
          </a:p>
        </p:txBody>
      </p:sp>
      <p:sp>
        <p:nvSpPr>
          <p:cNvPr id="4125" name="AutoShape 49"/>
          <p:cNvSpPr>
            <a:spLocks noChangeArrowheads="1"/>
          </p:cNvSpPr>
          <p:nvPr>
            <p:custDataLst>
              <p:tags r:id="rId27"/>
            </p:custDataLst>
          </p:nvPr>
        </p:nvSpPr>
        <p:spPr bwMode="auto">
          <a:xfrm>
            <a:off x="3130032" y="5764567"/>
            <a:ext cx="1585913" cy="533400"/>
          </a:xfrm>
          <a:prstGeom prst="chevron">
            <a:avLst>
              <a:gd name="adj" fmla="val 13682"/>
            </a:avLst>
          </a:prstGeom>
          <a:solidFill>
            <a:srgbClr val="ED6723"/>
          </a:solidFill>
          <a:ln w="9525" algn="ctr">
            <a:solidFill>
              <a:schemeClr val="bg1"/>
            </a:solidFill>
            <a:miter lim="800000"/>
            <a:headEnd/>
            <a:tailEnd/>
          </a:ln>
        </p:spPr>
        <p:txBody>
          <a:bodyPr lIns="182880" tIns="91440" bIns="91440" anchor="ct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s-AR" sz="1600" b="1" i="0" u="none" strike="noStrike" kern="1200" cap="none" spc="0" normalizeH="0" baseline="0" noProof="0">
                <a:ln>
                  <a:noFill/>
                </a:ln>
                <a:solidFill>
                  <a:srgbClr val="FFFFFF"/>
                </a:solidFill>
                <a:effectLst/>
                <a:uLnTx/>
                <a:uFillTx/>
                <a:latin typeface="+mn-lt"/>
                <a:ea typeface="ヒラギノ角ゴ ProN W3"/>
                <a:cs typeface="Arial" charset="0"/>
              </a:rPr>
              <a:t>Desarrollo</a:t>
            </a:r>
          </a:p>
        </p:txBody>
      </p:sp>
      <p:sp>
        <p:nvSpPr>
          <p:cNvPr id="4126" name="AutoShape 50"/>
          <p:cNvSpPr>
            <a:spLocks noChangeArrowheads="1"/>
          </p:cNvSpPr>
          <p:nvPr>
            <p:custDataLst>
              <p:tags r:id="rId28"/>
            </p:custDataLst>
          </p:nvPr>
        </p:nvSpPr>
        <p:spPr bwMode="auto">
          <a:xfrm>
            <a:off x="4609582" y="5764567"/>
            <a:ext cx="3179763" cy="533400"/>
          </a:xfrm>
          <a:prstGeom prst="chevron">
            <a:avLst>
              <a:gd name="adj" fmla="val 12806"/>
            </a:avLst>
          </a:prstGeom>
          <a:solidFill>
            <a:srgbClr val="ED6723"/>
          </a:solidFill>
          <a:ln w="9525" algn="ctr">
            <a:solidFill>
              <a:schemeClr val="bg1"/>
            </a:solidFill>
            <a:miter lim="800000"/>
            <a:headEnd/>
            <a:tailEnd/>
          </a:ln>
        </p:spPr>
        <p:txBody>
          <a:bodyPr lIns="182880" tIns="91440" bIns="91440" anchor="ct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s-AR" sz="1600" b="1" i="0" u="none" strike="noStrike" kern="1200" cap="none" spc="0" normalizeH="0" baseline="0" noProof="0">
                <a:ln>
                  <a:noFill/>
                </a:ln>
                <a:solidFill>
                  <a:srgbClr val="FFFFFF"/>
                </a:solidFill>
                <a:effectLst/>
                <a:uLnTx/>
                <a:uFillTx/>
                <a:latin typeface="+mn-lt"/>
                <a:ea typeface="ヒラギノ角ゴ ProN W3"/>
                <a:cs typeface="Arial" charset="0"/>
              </a:rPr>
              <a:t>Realización</a:t>
            </a:r>
          </a:p>
        </p:txBody>
      </p:sp>
      <p:sp>
        <p:nvSpPr>
          <p:cNvPr id="34" name="Rectangle 8"/>
          <p:cNvSpPr txBox="1">
            <a:spLocks noChangeArrowheads="1"/>
          </p:cNvSpPr>
          <p:nvPr/>
        </p:nvSpPr>
        <p:spPr>
          <a:xfrm>
            <a:off x="652347" y="195263"/>
            <a:ext cx="10910081" cy="777875"/>
          </a:xfrm>
          <a:prstGeom prst="rect">
            <a:avLst/>
          </a:prstGeom>
        </p:spPr>
        <p:txBody>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AR" b="1" i="0" u="none" strike="noStrike" kern="1200" cap="none" spc="0" normalizeH="0" baseline="0" noProof="0" dirty="0">
                <a:ln>
                  <a:noFill/>
                </a:ln>
                <a:solidFill>
                  <a:srgbClr val="000000"/>
                </a:solidFill>
                <a:effectLst/>
                <a:uLnTx/>
                <a:uFillTx/>
                <a:latin typeface="+mj-lt"/>
                <a:ea typeface="ヒラギノ角ゴ ProN W3"/>
                <a:cs typeface="+mj-cs"/>
              </a:rPr>
              <a:t>LOS PROYECTOS DE INNOVACION REQUIEREN CLARIDAD EN EL DISEÑO DE SU RECORRIDO EMPRENDEDOR / CURVA DE CASH</a:t>
            </a:r>
            <a:endParaRPr kumimoji="0" lang="es-AR" sz="1100" b="0" i="0" u="none" strike="noStrike" kern="1200" cap="none" spc="0" normalizeH="0" baseline="0" noProof="0" dirty="0">
              <a:ln>
                <a:noFill/>
              </a:ln>
              <a:solidFill>
                <a:srgbClr val="000000"/>
              </a:solidFill>
              <a:effectLst/>
              <a:uLnTx/>
              <a:uFillTx/>
              <a:latin typeface="+mj-lt"/>
              <a:ea typeface="ヒラギノ角ゴ ProN W3"/>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5" name="Imagen 45" descr="diagrama_0002.png">
            <a:extLst>
              <a:ext uri="{FF2B5EF4-FFF2-40B4-BE49-F238E27FC236}">
                <a16:creationId xmlns:a16="http://schemas.microsoft.com/office/drawing/2014/main" id="{EB2E7A34-BA96-41C1-B2C9-093C8C6EAF50}"/>
              </a:ext>
            </a:extLst>
          </p:cNvPr>
          <p:cNvPicPr>
            <a:picLocks noChangeAspect="1"/>
          </p:cNvPicPr>
          <p:nvPr/>
        </p:nvPicPr>
        <p:blipFill>
          <a:blip r:embed="rId3">
            <a:biLevel thresh="75000"/>
            <a:extLst>
              <a:ext uri="{28A0092B-C50C-407E-A947-70E740481C1C}">
                <a14:useLocalDpi xmlns:a14="http://schemas.microsoft.com/office/drawing/2010/main" val="0"/>
              </a:ext>
            </a:extLst>
          </a:blip>
          <a:srcRect/>
          <a:stretch>
            <a:fillRect/>
          </a:stretch>
        </p:blipFill>
        <p:spPr bwMode="auto">
          <a:xfrm>
            <a:off x="968208" y="897853"/>
            <a:ext cx="9832326" cy="4243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CuadroTexto 12">
            <a:extLst>
              <a:ext uri="{FF2B5EF4-FFF2-40B4-BE49-F238E27FC236}">
                <a16:creationId xmlns:a16="http://schemas.microsoft.com/office/drawing/2014/main" id="{0980CCB6-9A04-491A-B830-7AFDFD16A947}"/>
              </a:ext>
            </a:extLst>
          </p:cNvPr>
          <p:cNvSpPr txBox="1">
            <a:spLocks noChangeArrowheads="1"/>
          </p:cNvSpPr>
          <p:nvPr/>
        </p:nvSpPr>
        <p:spPr bwMode="auto">
          <a:xfrm>
            <a:off x="695325" y="5365466"/>
            <a:ext cx="10105209" cy="43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l" defTabSz="1085742" rtl="0" eaLnBrk="1" fontAlgn="base" latinLnBrk="0" hangingPunct="1">
              <a:lnSpc>
                <a:spcPct val="100000"/>
              </a:lnSpc>
              <a:spcBef>
                <a:spcPct val="0"/>
              </a:spcBef>
              <a:spcAft>
                <a:spcPct val="0"/>
              </a:spcAft>
              <a:buClrTx/>
              <a:buSzTx/>
              <a:buFontTx/>
              <a:buNone/>
              <a:tabLst/>
              <a:defRPr/>
            </a:pPr>
            <a:r>
              <a:rPr kumimoji="0" lang="es-CL" altLang="es-CL" sz="1200" u="none" strike="noStrike" kern="1200" cap="none" spc="0" normalizeH="0" baseline="0" noProof="0" dirty="0">
                <a:ln>
                  <a:noFill/>
                </a:ln>
                <a:effectLst/>
                <a:uLnTx/>
                <a:uFillTx/>
                <a:latin typeface="+mn-lt"/>
                <a:ea typeface="ヒラギノ角ゴ ProN W3" charset="-128"/>
              </a:rPr>
              <a:t>Esta cadena es un continuo. Al interrumpirse en una fase, se pierde lo invertido, el siguiente eslabón pierde el flujo y, en consecuencia, “trabaja mal”.</a:t>
            </a:r>
          </a:p>
        </p:txBody>
      </p:sp>
      <p:sp>
        <p:nvSpPr>
          <p:cNvPr id="69638" name="Rectángulo 14">
            <a:extLst>
              <a:ext uri="{FF2B5EF4-FFF2-40B4-BE49-F238E27FC236}">
                <a16:creationId xmlns:a16="http://schemas.microsoft.com/office/drawing/2014/main" id="{D4BDAAD8-8E30-4867-BB98-1C9949655402}"/>
              </a:ext>
            </a:extLst>
          </p:cNvPr>
          <p:cNvSpPr>
            <a:spLocks noChangeArrowheads="1"/>
          </p:cNvSpPr>
          <p:nvPr/>
        </p:nvSpPr>
        <p:spPr bwMode="auto">
          <a:xfrm>
            <a:off x="1442259" y="3892417"/>
            <a:ext cx="3790291" cy="192583"/>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39" name="Rectángulo 15">
            <a:extLst>
              <a:ext uri="{FF2B5EF4-FFF2-40B4-BE49-F238E27FC236}">
                <a16:creationId xmlns:a16="http://schemas.microsoft.com/office/drawing/2014/main" id="{4CDB0235-AD2B-46EA-8F53-17CF84DF9CA9}"/>
              </a:ext>
            </a:extLst>
          </p:cNvPr>
          <p:cNvSpPr>
            <a:spLocks noChangeArrowheads="1"/>
          </p:cNvSpPr>
          <p:nvPr/>
        </p:nvSpPr>
        <p:spPr bwMode="auto">
          <a:xfrm>
            <a:off x="3505650" y="3651159"/>
            <a:ext cx="2880284" cy="192583"/>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40" name="Rectángulo 16">
            <a:extLst>
              <a:ext uri="{FF2B5EF4-FFF2-40B4-BE49-F238E27FC236}">
                <a16:creationId xmlns:a16="http://schemas.microsoft.com/office/drawing/2014/main" id="{A48F6830-23FF-479C-9345-CC891C0604A4}"/>
              </a:ext>
            </a:extLst>
          </p:cNvPr>
          <p:cNvSpPr>
            <a:spLocks noChangeArrowheads="1"/>
          </p:cNvSpPr>
          <p:nvPr/>
        </p:nvSpPr>
        <p:spPr bwMode="auto">
          <a:xfrm>
            <a:off x="2354383" y="3412017"/>
            <a:ext cx="3022075" cy="192584"/>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41" name="Rectángulo 17">
            <a:extLst>
              <a:ext uri="{FF2B5EF4-FFF2-40B4-BE49-F238E27FC236}">
                <a16:creationId xmlns:a16="http://schemas.microsoft.com/office/drawing/2014/main" id="{DFC926AC-137C-48A6-B80D-8156DF11909E}"/>
              </a:ext>
            </a:extLst>
          </p:cNvPr>
          <p:cNvSpPr>
            <a:spLocks noChangeArrowheads="1"/>
          </p:cNvSpPr>
          <p:nvPr/>
        </p:nvSpPr>
        <p:spPr bwMode="auto">
          <a:xfrm>
            <a:off x="3986051" y="3172876"/>
            <a:ext cx="2399883" cy="190467"/>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42" name="Rectángulo 18">
            <a:extLst>
              <a:ext uri="{FF2B5EF4-FFF2-40B4-BE49-F238E27FC236}">
                <a16:creationId xmlns:a16="http://schemas.microsoft.com/office/drawing/2014/main" id="{8E0748A2-247E-4898-A190-4C475090B933}"/>
              </a:ext>
            </a:extLst>
          </p:cNvPr>
          <p:cNvSpPr>
            <a:spLocks noChangeArrowheads="1"/>
          </p:cNvSpPr>
          <p:nvPr/>
        </p:nvSpPr>
        <p:spPr bwMode="auto">
          <a:xfrm>
            <a:off x="5520367" y="2931617"/>
            <a:ext cx="4655858" cy="192583"/>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43" name="Rectángulo 19">
            <a:extLst>
              <a:ext uri="{FF2B5EF4-FFF2-40B4-BE49-F238E27FC236}">
                <a16:creationId xmlns:a16="http://schemas.microsoft.com/office/drawing/2014/main" id="{8F911535-0E27-41B2-A5AA-5A6A8F14681F}"/>
              </a:ext>
            </a:extLst>
          </p:cNvPr>
          <p:cNvSpPr>
            <a:spLocks noChangeArrowheads="1"/>
          </p:cNvSpPr>
          <p:nvPr/>
        </p:nvSpPr>
        <p:spPr bwMode="auto">
          <a:xfrm>
            <a:off x="2354383" y="2692476"/>
            <a:ext cx="3022075" cy="192584"/>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44" name="Rectángulo 20">
            <a:extLst>
              <a:ext uri="{FF2B5EF4-FFF2-40B4-BE49-F238E27FC236}">
                <a16:creationId xmlns:a16="http://schemas.microsoft.com/office/drawing/2014/main" id="{71890FF8-094E-4065-9FEE-1D17DFE6D788}"/>
              </a:ext>
            </a:extLst>
          </p:cNvPr>
          <p:cNvSpPr>
            <a:spLocks noChangeArrowheads="1"/>
          </p:cNvSpPr>
          <p:nvPr/>
        </p:nvSpPr>
        <p:spPr bwMode="auto">
          <a:xfrm>
            <a:off x="5520367" y="2451217"/>
            <a:ext cx="2255975" cy="192584"/>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45" name="Rectángulo 21">
            <a:extLst>
              <a:ext uri="{FF2B5EF4-FFF2-40B4-BE49-F238E27FC236}">
                <a16:creationId xmlns:a16="http://schemas.microsoft.com/office/drawing/2014/main" id="{49F0C95E-DC97-425B-A1E0-F345F27CD625}"/>
              </a:ext>
            </a:extLst>
          </p:cNvPr>
          <p:cNvSpPr>
            <a:spLocks noChangeArrowheads="1"/>
          </p:cNvSpPr>
          <p:nvPr/>
        </p:nvSpPr>
        <p:spPr bwMode="auto">
          <a:xfrm>
            <a:off x="3505650" y="2212075"/>
            <a:ext cx="4270692" cy="192583"/>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46" name="Rectángulo 22">
            <a:extLst>
              <a:ext uri="{FF2B5EF4-FFF2-40B4-BE49-F238E27FC236}">
                <a16:creationId xmlns:a16="http://schemas.microsoft.com/office/drawing/2014/main" id="{77F64C54-8A34-4904-B802-5E9CC08C4E13}"/>
              </a:ext>
            </a:extLst>
          </p:cNvPr>
          <p:cNvSpPr>
            <a:spLocks noChangeArrowheads="1"/>
          </p:cNvSpPr>
          <p:nvPr/>
        </p:nvSpPr>
        <p:spPr bwMode="auto">
          <a:xfrm>
            <a:off x="7632433" y="1972934"/>
            <a:ext cx="3024192" cy="190467"/>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47" name="Rectángulo 23">
            <a:extLst>
              <a:ext uri="{FF2B5EF4-FFF2-40B4-BE49-F238E27FC236}">
                <a16:creationId xmlns:a16="http://schemas.microsoft.com/office/drawing/2014/main" id="{599A733A-7A6F-403F-A657-30CBA5BA5E02}"/>
              </a:ext>
            </a:extLst>
          </p:cNvPr>
          <p:cNvSpPr>
            <a:spLocks noChangeArrowheads="1"/>
          </p:cNvSpPr>
          <p:nvPr/>
        </p:nvSpPr>
        <p:spPr bwMode="auto">
          <a:xfrm>
            <a:off x="7393293" y="1731676"/>
            <a:ext cx="3263333" cy="192584"/>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48" name="Rectángulo 24">
            <a:extLst>
              <a:ext uri="{FF2B5EF4-FFF2-40B4-BE49-F238E27FC236}">
                <a16:creationId xmlns:a16="http://schemas.microsoft.com/office/drawing/2014/main" id="{26502F81-5129-4C6B-A41B-0EBFD1099897}"/>
              </a:ext>
            </a:extLst>
          </p:cNvPr>
          <p:cNvSpPr>
            <a:spLocks noChangeArrowheads="1"/>
          </p:cNvSpPr>
          <p:nvPr/>
        </p:nvSpPr>
        <p:spPr bwMode="auto">
          <a:xfrm>
            <a:off x="8447209" y="1492534"/>
            <a:ext cx="2209416" cy="192583"/>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49" name="Rectángulo 25">
            <a:extLst>
              <a:ext uri="{FF2B5EF4-FFF2-40B4-BE49-F238E27FC236}">
                <a16:creationId xmlns:a16="http://schemas.microsoft.com/office/drawing/2014/main" id="{7BAFFE8F-7775-4D4B-8FE7-AE5A5B4231B5}"/>
              </a:ext>
            </a:extLst>
          </p:cNvPr>
          <p:cNvSpPr>
            <a:spLocks noChangeArrowheads="1"/>
          </p:cNvSpPr>
          <p:nvPr/>
        </p:nvSpPr>
        <p:spPr bwMode="auto">
          <a:xfrm>
            <a:off x="8832376" y="1251276"/>
            <a:ext cx="1968158" cy="192583"/>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56" name="Rectángulo 33">
            <a:extLst>
              <a:ext uri="{FF2B5EF4-FFF2-40B4-BE49-F238E27FC236}">
                <a16:creationId xmlns:a16="http://schemas.microsoft.com/office/drawing/2014/main" id="{E2122326-4BE0-4B90-959B-CDD620D5A69B}"/>
              </a:ext>
            </a:extLst>
          </p:cNvPr>
          <p:cNvSpPr>
            <a:spLocks noChangeArrowheads="1"/>
          </p:cNvSpPr>
          <p:nvPr/>
        </p:nvSpPr>
        <p:spPr bwMode="auto">
          <a:xfrm>
            <a:off x="7873691" y="2451217"/>
            <a:ext cx="2302534" cy="192584"/>
          </a:xfrm>
          <a:prstGeom prst="rect">
            <a:avLst/>
          </a:prstGeom>
          <a:solidFill>
            <a:srgbClr val="ED6723"/>
          </a:solidFill>
          <a:ln>
            <a:noFill/>
          </a:ln>
        </p:spPr>
        <p:txBody>
          <a:bodyPr lIns="60939" tIns="30469" rIns="60939" bIns="30469"/>
          <a:lstStyle>
            <a:lvl1pPr defTabSz="455613">
              <a:defRPr>
                <a:solidFill>
                  <a:schemeClr val="tx1"/>
                </a:solidFill>
                <a:latin typeface="Calibri" panose="020F0502020204030204" pitchFamily="34" charset="0"/>
                <a:ea typeface="MS PGothic" panose="020B0600070205080204" pitchFamily="34" charset="-128"/>
              </a:defRPr>
            </a:lvl1pPr>
            <a:lvl2pPr defTabSz="455613">
              <a:defRPr>
                <a:solidFill>
                  <a:schemeClr val="tx1"/>
                </a:solidFill>
                <a:latin typeface="Calibri" panose="020F0502020204030204" pitchFamily="34" charset="0"/>
                <a:ea typeface="MS PGothic" panose="020B0600070205080204" pitchFamily="34" charset="-128"/>
              </a:defRPr>
            </a:lvl2pPr>
            <a:lvl3pPr defTabSz="455613">
              <a:defRPr>
                <a:solidFill>
                  <a:schemeClr val="tx1"/>
                </a:solidFill>
                <a:latin typeface="Calibri" panose="020F0502020204030204" pitchFamily="34" charset="0"/>
                <a:ea typeface="MS PGothic" panose="020B0600070205080204" pitchFamily="34" charset="-128"/>
              </a:defRPr>
            </a:lvl3pPr>
            <a:lvl4pPr defTabSz="455613">
              <a:defRPr>
                <a:solidFill>
                  <a:schemeClr val="tx1"/>
                </a:solidFill>
                <a:latin typeface="Calibri" panose="020F0502020204030204" pitchFamily="34" charset="0"/>
                <a:ea typeface="MS PGothic" panose="020B0600070205080204" pitchFamily="34" charset="-128"/>
              </a:defRPr>
            </a:lvl4pPr>
            <a:lvl5pPr defTabSz="455613">
              <a:defRPr>
                <a:solidFill>
                  <a:schemeClr val="tx1"/>
                </a:solidFill>
                <a:latin typeface="Calibri" panose="020F0502020204030204" pitchFamily="34" charset="0"/>
                <a:ea typeface="MS PGothic" panose="020B0600070205080204" pitchFamily="34" charset="-128"/>
              </a:defRPr>
            </a:lvl5pPr>
            <a:lvl6pPr marL="22748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455613"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607423" rtl="0" eaLnBrk="1" fontAlgn="base" latinLnBrk="0" hangingPunct="1">
              <a:lnSpc>
                <a:spcPct val="100000"/>
              </a:lnSpc>
              <a:spcBef>
                <a:spcPct val="0"/>
              </a:spcBef>
              <a:spcAft>
                <a:spcPct val="0"/>
              </a:spcAft>
              <a:buClrTx/>
              <a:buSzTx/>
              <a:buFontTx/>
              <a:buNone/>
              <a:tabLst/>
              <a:defRPr/>
            </a:pPr>
            <a:endParaRPr kumimoji="0" lang="es-CL" altLang="es-CL" sz="2800" b="0" i="0" u="none" strike="noStrike" kern="1200" cap="none" spc="0" normalizeH="0" baseline="0" noProof="0">
              <a:ln>
                <a:noFill/>
              </a:ln>
              <a:solidFill>
                <a:srgbClr val="000000"/>
              </a:solidFill>
              <a:effectLst/>
              <a:uLnTx/>
              <a:uFillTx/>
              <a:latin typeface="Gill Sans"/>
              <a:ea typeface="ヒラギノ角ゴ ProN W3" charset="-128"/>
              <a:sym typeface="Gill Sans"/>
            </a:endParaRPr>
          </a:p>
        </p:txBody>
      </p:sp>
      <p:sp>
        <p:nvSpPr>
          <p:cNvPr id="69665" name="36 CuadroTexto">
            <a:extLst>
              <a:ext uri="{FF2B5EF4-FFF2-40B4-BE49-F238E27FC236}">
                <a16:creationId xmlns:a16="http://schemas.microsoft.com/office/drawing/2014/main" id="{C4F9FAD5-C275-4335-AE0A-7D38C318FE4D}"/>
              </a:ext>
            </a:extLst>
          </p:cNvPr>
          <p:cNvSpPr txBox="1">
            <a:spLocks noChangeArrowheads="1"/>
          </p:cNvSpPr>
          <p:nvPr/>
        </p:nvSpPr>
        <p:spPr bwMode="auto">
          <a:xfrm>
            <a:off x="695325" y="6082966"/>
            <a:ext cx="5961616" cy="200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defTabSz="1085742" rtl="0" eaLnBrk="1" fontAlgn="base" latinLnBrk="0" hangingPunct="1">
              <a:lnSpc>
                <a:spcPct val="100000"/>
              </a:lnSpc>
              <a:spcBef>
                <a:spcPct val="0"/>
              </a:spcBef>
              <a:spcAft>
                <a:spcPct val="0"/>
              </a:spcAft>
              <a:buClrTx/>
              <a:buSzTx/>
              <a:buFontTx/>
              <a:buNone/>
              <a:tabLst/>
              <a:defRPr/>
            </a:pPr>
            <a:r>
              <a:rPr lang="es-CL" altLang="es-CL" sz="900" b="1" dirty="0">
                <a:solidFill>
                  <a:prstClr val="black"/>
                </a:solidFill>
                <a:latin typeface="+mn-lt"/>
                <a:ea typeface="ヒラギノ角ゴ ProN W3"/>
              </a:rPr>
              <a:t>Fuente</a:t>
            </a:r>
            <a:r>
              <a:rPr kumimoji="0" lang="es-CL" altLang="es-CL" sz="900" b="0" i="1" u="none" strike="noStrike" kern="1200" cap="none" spc="0" normalizeH="0" baseline="0" noProof="0" dirty="0">
                <a:ln>
                  <a:noFill/>
                </a:ln>
                <a:solidFill>
                  <a:srgbClr val="595959"/>
                </a:solidFill>
                <a:effectLst/>
                <a:uLnTx/>
                <a:uFillTx/>
                <a:latin typeface="+mn-lt"/>
                <a:ea typeface="ヒラギノ角ゴ ProN W3" charset="-128"/>
              </a:rPr>
              <a:t>: G20 Young </a:t>
            </a:r>
            <a:r>
              <a:rPr kumimoji="0" lang="es-CL" altLang="es-CL" sz="900" b="0" i="1" u="none" strike="noStrike" kern="1200" cap="none" spc="0" normalizeH="0" baseline="0" noProof="0" dirty="0" err="1">
                <a:ln>
                  <a:noFill/>
                </a:ln>
                <a:solidFill>
                  <a:srgbClr val="595959"/>
                </a:solidFill>
                <a:effectLst/>
                <a:uLnTx/>
                <a:uFillTx/>
                <a:latin typeface="+mn-lt"/>
                <a:ea typeface="ヒラギノ角ゴ ProN W3" charset="-128"/>
              </a:rPr>
              <a:t>Entrepreneurs</a:t>
            </a:r>
            <a:r>
              <a:rPr kumimoji="0" lang="es-CL" altLang="es-CL" sz="900" b="0" i="1" u="none" strike="noStrike" kern="1200" cap="none" spc="0" normalizeH="0" baseline="0" noProof="0" dirty="0">
                <a:ln>
                  <a:noFill/>
                </a:ln>
                <a:solidFill>
                  <a:srgbClr val="595959"/>
                </a:solidFill>
                <a:effectLst/>
                <a:uLnTx/>
                <a:uFillTx/>
                <a:latin typeface="+mn-lt"/>
                <a:ea typeface="ヒラギノ角ゴ ProN W3" charset="-128"/>
              </a:rPr>
              <a:t> Alliance (2013). </a:t>
            </a:r>
            <a:r>
              <a:rPr kumimoji="0" lang="es-CL" altLang="es-CL" sz="900" b="0" i="1" u="none" strike="noStrike" kern="1200" cap="none" spc="0" normalizeH="0" baseline="0" noProof="0" dirty="0" err="1">
                <a:ln>
                  <a:noFill/>
                </a:ln>
                <a:solidFill>
                  <a:srgbClr val="595959"/>
                </a:solidFill>
                <a:effectLst/>
                <a:uLnTx/>
                <a:uFillTx/>
                <a:latin typeface="+mn-lt"/>
                <a:ea typeface="ヒラギノ角ゴ ProN W3" charset="-128"/>
              </a:rPr>
              <a:t>The</a:t>
            </a:r>
            <a:r>
              <a:rPr kumimoji="0" lang="es-CL" altLang="es-CL" sz="900" b="0" i="1" u="none" strike="noStrike" kern="1200" cap="none" spc="0" normalizeH="0" baseline="0" noProof="0" dirty="0">
                <a:ln>
                  <a:noFill/>
                </a:ln>
                <a:solidFill>
                  <a:srgbClr val="595959"/>
                </a:solidFill>
                <a:effectLst/>
                <a:uLnTx/>
                <a:uFillTx/>
                <a:latin typeface="+mn-lt"/>
                <a:ea typeface="ヒラギノ角ゴ ProN W3" charset="-128"/>
              </a:rPr>
              <a:t> </a:t>
            </a:r>
            <a:r>
              <a:rPr kumimoji="0" lang="es-CL" altLang="es-CL" sz="900" b="0" i="1" u="none" strike="noStrike" kern="1200" cap="none" spc="0" normalizeH="0" baseline="0" noProof="0" dirty="0" err="1">
                <a:ln>
                  <a:noFill/>
                </a:ln>
                <a:solidFill>
                  <a:srgbClr val="595959"/>
                </a:solidFill>
                <a:effectLst/>
                <a:uLnTx/>
                <a:uFillTx/>
                <a:latin typeface="+mn-lt"/>
                <a:ea typeface="ヒラギノ角ゴ ProN W3" charset="-128"/>
              </a:rPr>
              <a:t>Power</a:t>
            </a:r>
            <a:r>
              <a:rPr kumimoji="0" lang="es-CL" altLang="es-CL" sz="900" b="0" i="1" u="none" strike="noStrike" kern="1200" cap="none" spc="0" normalizeH="0" baseline="0" noProof="0" dirty="0">
                <a:ln>
                  <a:noFill/>
                </a:ln>
                <a:solidFill>
                  <a:srgbClr val="595959"/>
                </a:solidFill>
                <a:effectLst/>
                <a:uLnTx/>
                <a:uFillTx/>
                <a:latin typeface="+mn-lt"/>
                <a:ea typeface="ヒラギノ角ゴ ProN W3" charset="-128"/>
              </a:rPr>
              <a:t> </a:t>
            </a:r>
            <a:r>
              <a:rPr kumimoji="0" lang="es-CL" altLang="es-CL" sz="900" b="0" i="1" u="none" strike="noStrike" kern="1200" cap="none" spc="0" normalizeH="0" baseline="0" noProof="0" dirty="0" err="1">
                <a:ln>
                  <a:noFill/>
                </a:ln>
                <a:solidFill>
                  <a:srgbClr val="595959"/>
                </a:solidFill>
                <a:effectLst/>
                <a:uLnTx/>
                <a:uFillTx/>
                <a:latin typeface="+mn-lt"/>
                <a:ea typeface="ヒラギノ角ゴ ProN W3" charset="-128"/>
              </a:rPr>
              <a:t>of</a:t>
            </a:r>
            <a:r>
              <a:rPr kumimoji="0" lang="es-CL" altLang="es-CL" sz="900" b="0" i="1" u="none" strike="noStrike" kern="1200" cap="none" spc="0" normalizeH="0" baseline="0" noProof="0" dirty="0">
                <a:ln>
                  <a:noFill/>
                </a:ln>
                <a:solidFill>
                  <a:srgbClr val="595959"/>
                </a:solidFill>
                <a:effectLst/>
                <a:uLnTx/>
                <a:uFillTx/>
                <a:latin typeface="+mn-lt"/>
                <a:ea typeface="ヒラギノ角ゴ ProN W3" charset="-128"/>
              </a:rPr>
              <a:t> </a:t>
            </a:r>
            <a:r>
              <a:rPr kumimoji="0" lang="es-CL" altLang="es-CL" sz="900" b="0" i="1" u="none" strike="noStrike" kern="1200" cap="none" spc="0" normalizeH="0" baseline="0" noProof="0" dirty="0" err="1">
                <a:ln>
                  <a:noFill/>
                </a:ln>
                <a:solidFill>
                  <a:srgbClr val="595959"/>
                </a:solidFill>
                <a:effectLst/>
                <a:uLnTx/>
                <a:uFillTx/>
                <a:latin typeface="+mn-lt"/>
                <a:ea typeface="ヒラギノ角ゴ ProN W3" charset="-128"/>
              </a:rPr>
              <a:t>Three</a:t>
            </a:r>
            <a:r>
              <a:rPr kumimoji="0" lang="es-CL" altLang="es-CL" sz="900" b="0" i="1" u="none" strike="noStrike" kern="1200" cap="none" spc="0" normalizeH="0" baseline="0" noProof="0" dirty="0">
                <a:ln>
                  <a:noFill/>
                </a:ln>
                <a:solidFill>
                  <a:srgbClr val="595959"/>
                </a:solidFill>
                <a:effectLst/>
                <a:uLnTx/>
                <a:uFillTx/>
                <a:latin typeface="+mn-lt"/>
                <a:ea typeface="ヒラギノ角ゴ ProN W3" charset="-128"/>
              </a:rPr>
              <a:t>. </a:t>
            </a:r>
          </a:p>
        </p:txBody>
      </p:sp>
      <p:sp>
        <p:nvSpPr>
          <p:cNvPr id="32" name="CuadroTexto 41">
            <a:extLst>
              <a:ext uri="{FF2B5EF4-FFF2-40B4-BE49-F238E27FC236}">
                <a16:creationId xmlns:a16="http://schemas.microsoft.com/office/drawing/2014/main" id="{9F86A85E-B88F-4346-B375-F1E262DBE5FE}"/>
              </a:ext>
            </a:extLst>
          </p:cNvPr>
          <p:cNvSpPr txBox="1">
            <a:spLocks noChangeArrowheads="1"/>
          </p:cNvSpPr>
          <p:nvPr/>
        </p:nvSpPr>
        <p:spPr bwMode="auto">
          <a:xfrm>
            <a:off x="8832376" y="1230114"/>
            <a:ext cx="1968158" cy="225745"/>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1067" b="0" i="0" u="none" strike="noStrike" kern="1200" cap="none" spc="0" normalizeH="0" baseline="0" noProof="0" dirty="0">
                <a:ln>
                  <a:noFill/>
                </a:ln>
                <a:solidFill>
                  <a:srgbClr val="FFFFFF"/>
                </a:solidFill>
                <a:effectLst/>
                <a:uLnTx/>
                <a:uFillTx/>
                <a:latin typeface="+mn-lt"/>
                <a:ea typeface="ヒラギノ角ゴ ProN W3" charset="-128"/>
              </a:rPr>
              <a:t>Oferta Pública de Acciones</a:t>
            </a:r>
          </a:p>
        </p:txBody>
      </p:sp>
      <p:sp>
        <p:nvSpPr>
          <p:cNvPr id="33" name="CuadroTexto 40">
            <a:extLst>
              <a:ext uri="{FF2B5EF4-FFF2-40B4-BE49-F238E27FC236}">
                <a16:creationId xmlns:a16="http://schemas.microsoft.com/office/drawing/2014/main" id="{4C43CC51-8E08-46D7-B28C-862757032297}"/>
              </a:ext>
            </a:extLst>
          </p:cNvPr>
          <p:cNvSpPr txBox="1">
            <a:spLocks noChangeArrowheads="1"/>
          </p:cNvSpPr>
          <p:nvPr/>
        </p:nvSpPr>
        <p:spPr bwMode="auto">
          <a:xfrm>
            <a:off x="8447209" y="1462906"/>
            <a:ext cx="2209416" cy="225745"/>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1067" b="0" i="0" u="none" strike="noStrike" kern="1200" cap="none" spc="0" normalizeH="0" baseline="0" noProof="0">
                <a:ln>
                  <a:noFill/>
                </a:ln>
                <a:solidFill>
                  <a:srgbClr val="FFFFFF"/>
                </a:solidFill>
                <a:effectLst/>
                <a:uLnTx/>
                <a:uFillTx/>
                <a:latin typeface="+mn-lt"/>
                <a:ea typeface="ヒラギノ角ゴ ProN W3" charset="-128"/>
              </a:rPr>
              <a:t>Private equily</a:t>
            </a:r>
          </a:p>
        </p:txBody>
      </p:sp>
      <p:sp>
        <p:nvSpPr>
          <p:cNvPr id="34" name="CuadroTexto 39">
            <a:extLst>
              <a:ext uri="{FF2B5EF4-FFF2-40B4-BE49-F238E27FC236}">
                <a16:creationId xmlns:a16="http://schemas.microsoft.com/office/drawing/2014/main" id="{EFF2B59A-FE15-4541-BCDC-82DED2B6CBBC}"/>
              </a:ext>
            </a:extLst>
          </p:cNvPr>
          <p:cNvSpPr txBox="1">
            <a:spLocks noChangeArrowheads="1"/>
          </p:cNvSpPr>
          <p:nvPr/>
        </p:nvSpPr>
        <p:spPr bwMode="auto">
          <a:xfrm>
            <a:off x="7393293" y="1708397"/>
            <a:ext cx="3263333" cy="225745"/>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1067" b="0" i="0" u="none" strike="noStrike" kern="1200" cap="none" spc="0" normalizeH="0" baseline="0" noProof="0" dirty="0">
                <a:ln>
                  <a:noFill/>
                </a:ln>
                <a:solidFill>
                  <a:srgbClr val="FFFFFF"/>
                </a:solidFill>
                <a:effectLst/>
                <a:uLnTx/>
                <a:uFillTx/>
                <a:latin typeface="+mn-lt"/>
                <a:ea typeface="ヒラギノ角ゴ ProN W3" charset="-128"/>
              </a:rPr>
              <a:t>Formal VC / Capital de crecimiento</a:t>
            </a:r>
          </a:p>
        </p:txBody>
      </p:sp>
      <p:sp>
        <p:nvSpPr>
          <p:cNvPr id="35" name="CuadroTexto 38">
            <a:extLst>
              <a:ext uri="{FF2B5EF4-FFF2-40B4-BE49-F238E27FC236}">
                <a16:creationId xmlns:a16="http://schemas.microsoft.com/office/drawing/2014/main" id="{62623F32-0A94-4B29-8671-1E2800CB92B3}"/>
              </a:ext>
            </a:extLst>
          </p:cNvPr>
          <p:cNvSpPr txBox="1">
            <a:spLocks noChangeArrowheads="1"/>
          </p:cNvSpPr>
          <p:nvPr/>
        </p:nvSpPr>
        <p:spPr bwMode="auto">
          <a:xfrm>
            <a:off x="7632433" y="1951771"/>
            <a:ext cx="3024192" cy="225745"/>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1067" b="0" i="0" u="none" strike="noStrike" kern="1200" cap="none" spc="0" normalizeH="0" baseline="0" noProof="0" dirty="0">
                <a:ln>
                  <a:noFill/>
                </a:ln>
                <a:solidFill>
                  <a:srgbClr val="FFFFFF"/>
                </a:solidFill>
                <a:effectLst/>
                <a:uLnTx/>
                <a:uFillTx/>
                <a:latin typeface="+mn-lt"/>
                <a:ea typeface="ヒラギノ角ゴ ProN W3" charset="-128"/>
              </a:rPr>
              <a:t>Apoyos de gobierno a las exportaciones</a:t>
            </a:r>
          </a:p>
        </p:txBody>
      </p:sp>
      <p:sp>
        <p:nvSpPr>
          <p:cNvPr id="36" name="CuadroTexto 37">
            <a:extLst>
              <a:ext uri="{FF2B5EF4-FFF2-40B4-BE49-F238E27FC236}">
                <a16:creationId xmlns:a16="http://schemas.microsoft.com/office/drawing/2014/main" id="{D566217E-B8A6-46E0-90B6-B34DE4578CA8}"/>
              </a:ext>
            </a:extLst>
          </p:cNvPr>
          <p:cNvSpPr txBox="1">
            <a:spLocks noChangeArrowheads="1"/>
          </p:cNvSpPr>
          <p:nvPr/>
        </p:nvSpPr>
        <p:spPr bwMode="auto">
          <a:xfrm>
            <a:off x="3505650" y="2188797"/>
            <a:ext cx="4270692" cy="184644"/>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800" b="0" i="0" u="none" strike="noStrike" kern="1200" cap="none" spc="0" normalizeH="0" baseline="0" noProof="0" dirty="0">
                <a:ln>
                  <a:noFill/>
                </a:ln>
                <a:solidFill>
                  <a:srgbClr val="FFFFFF"/>
                </a:solidFill>
                <a:effectLst/>
                <a:uLnTx/>
                <a:uFillTx/>
                <a:latin typeface="+mn-lt"/>
                <a:ea typeface="ヒラギノ角ゴ ProN W3" charset="-128"/>
              </a:rPr>
              <a:t>Subsidios innovación y emprendimiento (ej.; I+D), herramientas para EMT</a:t>
            </a:r>
          </a:p>
        </p:txBody>
      </p:sp>
      <p:sp>
        <p:nvSpPr>
          <p:cNvPr id="37" name="CuadroTexto 35">
            <a:extLst>
              <a:ext uri="{FF2B5EF4-FFF2-40B4-BE49-F238E27FC236}">
                <a16:creationId xmlns:a16="http://schemas.microsoft.com/office/drawing/2014/main" id="{94079D4C-A06B-4738-91AA-AD8194C66B71}"/>
              </a:ext>
            </a:extLst>
          </p:cNvPr>
          <p:cNvSpPr txBox="1">
            <a:spLocks noChangeArrowheads="1"/>
          </p:cNvSpPr>
          <p:nvPr/>
        </p:nvSpPr>
        <p:spPr bwMode="auto">
          <a:xfrm>
            <a:off x="7873691" y="2432171"/>
            <a:ext cx="2302534" cy="225745"/>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1067" b="0" i="0" u="none" strike="noStrike" kern="1200" cap="none" spc="0" normalizeH="0" baseline="0" noProof="0">
                <a:ln>
                  <a:noFill/>
                </a:ln>
                <a:solidFill>
                  <a:srgbClr val="FFFFFF"/>
                </a:solidFill>
                <a:effectLst/>
                <a:uLnTx/>
                <a:uFillTx/>
                <a:latin typeface="+mn-lt"/>
                <a:ea typeface="ヒラギノ角ゴ ProN W3" charset="-128"/>
              </a:rPr>
              <a:t>VC Corporativo</a:t>
            </a:r>
          </a:p>
        </p:txBody>
      </p:sp>
      <p:sp>
        <p:nvSpPr>
          <p:cNvPr id="38" name="CuadroTexto 34">
            <a:extLst>
              <a:ext uri="{FF2B5EF4-FFF2-40B4-BE49-F238E27FC236}">
                <a16:creationId xmlns:a16="http://schemas.microsoft.com/office/drawing/2014/main" id="{0C6E93C4-6010-47A3-955C-62A76BBBAC85}"/>
              </a:ext>
            </a:extLst>
          </p:cNvPr>
          <p:cNvSpPr txBox="1">
            <a:spLocks noChangeArrowheads="1"/>
          </p:cNvSpPr>
          <p:nvPr/>
        </p:nvSpPr>
        <p:spPr bwMode="auto">
          <a:xfrm>
            <a:off x="5520367" y="2430055"/>
            <a:ext cx="2255975" cy="200033"/>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900" b="0" i="0" u="none" strike="noStrike" kern="1200" cap="none" spc="0" normalizeH="0" baseline="0" noProof="0" dirty="0">
                <a:ln>
                  <a:noFill/>
                </a:ln>
                <a:solidFill>
                  <a:srgbClr val="FFFFFF"/>
                </a:solidFill>
                <a:effectLst/>
                <a:uLnTx/>
                <a:uFillTx/>
                <a:latin typeface="+mn-lt"/>
                <a:ea typeface="ヒラギノ角ゴ ProN W3" charset="-128"/>
              </a:rPr>
              <a:t>Aceleradoras corporativas</a:t>
            </a:r>
          </a:p>
        </p:txBody>
      </p:sp>
      <p:sp>
        <p:nvSpPr>
          <p:cNvPr id="39" name="CuadroTexto 32">
            <a:extLst>
              <a:ext uri="{FF2B5EF4-FFF2-40B4-BE49-F238E27FC236}">
                <a16:creationId xmlns:a16="http://schemas.microsoft.com/office/drawing/2014/main" id="{3175B469-99F8-46E7-AF36-AEB2E1A7FE56}"/>
              </a:ext>
            </a:extLst>
          </p:cNvPr>
          <p:cNvSpPr txBox="1">
            <a:spLocks noChangeArrowheads="1"/>
          </p:cNvSpPr>
          <p:nvPr/>
        </p:nvSpPr>
        <p:spPr bwMode="auto">
          <a:xfrm>
            <a:off x="2354383" y="2667080"/>
            <a:ext cx="3022075" cy="225745"/>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1067" b="0" i="0" u="none" strike="noStrike" kern="1200" cap="none" spc="0" normalizeH="0" baseline="0" noProof="0" dirty="0">
                <a:ln>
                  <a:noFill/>
                </a:ln>
                <a:solidFill>
                  <a:srgbClr val="FFFFFF"/>
                </a:solidFill>
                <a:effectLst/>
                <a:uLnTx/>
                <a:uFillTx/>
                <a:latin typeface="+mn-lt"/>
                <a:ea typeface="ヒラギノ角ゴ ProN W3" charset="-128"/>
              </a:rPr>
              <a:t>Incubadoras / aceleradoras</a:t>
            </a:r>
          </a:p>
        </p:txBody>
      </p:sp>
      <p:sp>
        <p:nvSpPr>
          <p:cNvPr id="40" name="CuadroTexto 31">
            <a:extLst>
              <a:ext uri="{FF2B5EF4-FFF2-40B4-BE49-F238E27FC236}">
                <a16:creationId xmlns:a16="http://schemas.microsoft.com/office/drawing/2014/main" id="{96A4EAB2-D994-4D64-9A87-D0BD678D6340}"/>
              </a:ext>
            </a:extLst>
          </p:cNvPr>
          <p:cNvSpPr txBox="1">
            <a:spLocks noChangeArrowheads="1"/>
          </p:cNvSpPr>
          <p:nvPr/>
        </p:nvSpPr>
        <p:spPr bwMode="auto">
          <a:xfrm>
            <a:off x="5520367" y="2910455"/>
            <a:ext cx="4655858" cy="200033"/>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900" b="0" i="0" u="none" strike="noStrike" kern="1200" cap="none" spc="0" normalizeH="0" baseline="0" noProof="0" dirty="0">
                <a:ln>
                  <a:noFill/>
                </a:ln>
                <a:solidFill>
                  <a:srgbClr val="FFFFFF"/>
                </a:solidFill>
                <a:effectLst/>
                <a:uLnTx/>
                <a:uFillTx/>
                <a:latin typeface="+mn-lt"/>
                <a:ea typeface="ヒラギノ角ゴ ProN W3" charset="-128"/>
              </a:rPr>
              <a:t>Financiamiento desde bancos, especializado emprendimiento, garantías</a:t>
            </a:r>
          </a:p>
        </p:txBody>
      </p:sp>
      <p:sp>
        <p:nvSpPr>
          <p:cNvPr id="41" name="CuadroTexto 30">
            <a:extLst>
              <a:ext uri="{FF2B5EF4-FFF2-40B4-BE49-F238E27FC236}">
                <a16:creationId xmlns:a16="http://schemas.microsoft.com/office/drawing/2014/main" id="{F378D437-AEBB-4D09-B80D-A68C4D465BF8}"/>
              </a:ext>
            </a:extLst>
          </p:cNvPr>
          <p:cNvSpPr txBox="1">
            <a:spLocks noChangeArrowheads="1"/>
          </p:cNvSpPr>
          <p:nvPr/>
        </p:nvSpPr>
        <p:spPr bwMode="auto">
          <a:xfrm>
            <a:off x="3986051" y="3151713"/>
            <a:ext cx="2399883" cy="169255"/>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700" b="0" i="0" u="none" strike="noStrike" kern="1200" cap="none" spc="0" normalizeH="0" baseline="0" noProof="0" dirty="0">
                <a:ln>
                  <a:noFill/>
                </a:ln>
                <a:solidFill>
                  <a:srgbClr val="FFFFFF"/>
                </a:solidFill>
                <a:effectLst/>
                <a:uLnTx/>
                <a:uFillTx/>
                <a:latin typeface="+mn-lt"/>
                <a:ea typeface="ヒラギノ角ゴ ProN W3" charset="-128"/>
              </a:rPr>
              <a:t>Semilla/ Fondos de Financiamiento temprano</a:t>
            </a:r>
          </a:p>
        </p:txBody>
      </p:sp>
      <p:sp>
        <p:nvSpPr>
          <p:cNvPr id="42" name="CuadroTexto 29">
            <a:extLst>
              <a:ext uri="{FF2B5EF4-FFF2-40B4-BE49-F238E27FC236}">
                <a16:creationId xmlns:a16="http://schemas.microsoft.com/office/drawing/2014/main" id="{4850D850-BA5C-4E58-83D4-E7FF3376C8AE}"/>
              </a:ext>
            </a:extLst>
          </p:cNvPr>
          <p:cNvSpPr txBox="1">
            <a:spLocks noChangeArrowheads="1"/>
          </p:cNvSpPr>
          <p:nvPr/>
        </p:nvSpPr>
        <p:spPr bwMode="auto">
          <a:xfrm>
            <a:off x="2354383" y="3388738"/>
            <a:ext cx="3022075" cy="225745"/>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1067" b="0" i="0" u="none" strike="noStrike" kern="1200" cap="none" spc="0" normalizeH="0" baseline="0" noProof="0" dirty="0">
                <a:ln>
                  <a:noFill/>
                </a:ln>
                <a:solidFill>
                  <a:srgbClr val="FFFFFF"/>
                </a:solidFill>
                <a:effectLst/>
                <a:uLnTx/>
                <a:uFillTx/>
                <a:latin typeface="+mn-lt"/>
                <a:ea typeface="ヒラギノ角ゴ ProN W3" charset="-128"/>
              </a:rPr>
              <a:t>Crowdfunding</a:t>
            </a:r>
          </a:p>
        </p:txBody>
      </p:sp>
      <p:sp>
        <p:nvSpPr>
          <p:cNvPr id="43" name="CuadroTexto 28">
            <a:extLst>
              <a:ext uri="{FF2B5EF4-FFF2-40B4-BE49-F238E27FC236}">
                <a16:creationId xmlns:a16="http://schemas.microsoft.com/office/drawing/2014/main" id="{9DC0CC37-B8CC-4F0E-A8B8-581F36F23207}"/>
              </a:ext>
            </a:extLst>
          </p:cNvPr>
          <p:cNvSpPr txBox="1">
            <a:spLocks noChangeArrowheads="1"/>
          </p:cNvSpPr>
          <p:nvPr/>
        </p:nvSpPr>
        <p:spPr bwMode="auto">
          <a:xfrm>
            <a:off x="3505650" y="3629996"/>
            <a:ext cx="2880284" cy="225745"/>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1067" b="0" i="0" u="none" strike="noStrike" kern="1200" cap="none" spc="0" normalizeH="0" baseline="0" noProof="0" dirty="0">
                <a:ln>
                  <a:noFill/>
                </a:ln>
                <a:solidFill>
                  <a:srgbClr val="FFFFFF"/>
                </a:solidFill>
                <a:effectLst/>
                <a:uLnTx/>
                <a:uFillTx/>
                <a:latin typeface="+mn-lt"/>
                <a:ea typeface="ヒラギノ角ゴ ProN W3" charset="-128"/>
              </a:rPr>
              <a:t>Redes de ángeles</a:t>
            </a:r>
          </a:p>
        </p:txBody>
      </p:sp>
      <p:sp>
        <p:nvSpPr>
          <p:cNvPr id="44" name="CuadroTexto 27">
            <a:extLst>
              <a:ext uri="{FF2B5EF4-FFF2-40B4-BE49-F238E27FC236}">
                <a16:creationId xmlns:a16="http://schemas.microsoft.com/office/drawing/2014/main" id="{7BCFBCC1-CFE9-455C-AE4E-68AC3867C05B}"/>
              </a:ext>
            </a:extLst>
          </p:cNvPr>
          <p:cNvSpPr txBox="1">
            <a:spLocks noChangeArrowheads="1"/>
          </p:cNvSpPr>
          <p:nvPr/>
        </p:nvSpPr>
        <p:spPr bwMode="auto">
          <a:xfrm>
            <a:off x="1442259" y="3871254"/>
            <a:ext cx="3838967" cy="225745"/>
          </a:xfrm>
          <a:prstGeom prst="rect">
            <a:avLst/>
          </a:prstGeom>
          <a:solidFill>
            <a:srgbClr val="ED6723"/>
          </a:solidFill>
          <a:ln>
            <a:noFill/>
          </a:ln>
        </p:spPr>
        <p:txBody>
          <a:bodyPr lIns="60939" tIns="30469" rIns="60939" bIns="30469">
            <a:spAutoFit/>
          </a:bodyPr>
          <a:lstStyle>
            <a:lvl1pPr defTabSz="814388">
              <a:defRPr>
                <a:solidFill>
                  <a:schemeClr val="tx1"/>
                </a:solidFill>
                <a:latin typeface="Calibri" panose="020F0502020204030204" pitchFamily="34" charset="0"/>
                <a:ea typeface="MS PGothic" panose="020B0600070205080204" pitchFamily="34" charset="-128"/>
              </a:defRPr>
            </a:lvl1pPr>
            <a:lvl2pPr defTabSz="814388">
              <a:defRPr>
                <a:solidFill>
                  <a:schemeClr val="tx1"/>
                </a:solidFill>
                <a:latin typeface="Calibri" panose="020F0502020204030204" pitchFamily="34" charset="0"/>
                <a:ea typeface="MS PGothic" panose="020B0600070205080204" pitchFamily="34" charset="-128"/>
              </a:defRPr>
            </a:lvl2pPr>
            <a:lvl3pPr defTabSz="814388">
              <a:defRPr>
                <a:solidFill>
                  <a:schemeClr val="tx1"/>
                </a:solidFill>
                <a:latin typeface="Calibri" panose="020F0502020204030204" pitchFamily="34" charset="0"/>
                <a:ea typeface="MS PGothic" panose="020B0600070205080204" pitchFamily="34" charset="-128"/>
              </a:defRPr>
            </a:lvl3pPr>
            <a:lvl4pPr defTabSz="814388">
              <a:defRPr>
                <a:solidFill>
                  <a:schemeClr val="tx1"/>
                </a:solidFill>
                <a:latin typeface="Calibri" panose="020F0502020204030204" pitchFamily="34" charset="0"/>
                <a:ea typeface="MS PGothic" panose="020B0600070205080204" pitchFamily="34" charset="-128"/>
              </a:defRPr>
            </a:lvl4pPr>
            <a:lvl5pPr defTabSz="814388">
              <a:defRPr>
                <a:solidFill>
                  <a:schemeClr val="tx1"/>
                </a:solidFill>
                <a:latin typeface="Calibri" panose="020F0502020204030204" pitchFamily="34" charset="0"/>
                <a:ea typeface="MS PGothic" panose="020B0600070205080204" pitchFamily="34" charset="-128"/>
              </a:defRPr>
            </a:lvl5pPr>
            <a:lvl6pPr marL="22748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7320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1892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646488" indent="3175" defTabSz="814388"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0" marR="0" lvl="0" indent="0" algn="ctr" defTabSz="1085742" rtl="0" eaLnBrk="1" fontAlgn="base" latinLnBrk="0" hangingPunct="1">
              <a:lnSpc>
                <a:spcPct val="100000"/>
              </a:lnSpc>
              <a:spcBef>
                <a:spcPct val="0"/>
              </a:spcBef>
              <a:spcAft>
                <a:spcPct val="0"/>
              </a:spcAft>
              <a:buClrTx/>
              <a:buSzTx/>
              <a:buFontTx/>
              <a:buNone/>
              <a:tabLst/>
              <a:defRPr/>
            </a:pPr>
            <a:r>
              <a:rPr kumimoji="0" lang="es-CL" altLang="es-CL" sz="1067" b="0" i="0" u="none" strike="noStrike" kern="1200" cap="none" spc="0" normalizeH="0" baseline="0" noProof="0" dirty="0">
                <a:ln>
                  <a:noFill/>
                </a:ln>
                <a:solidFill>
                  <a:srgbClr val="FFFFFF"/>
                </a:solidFill>
                <a:effectLst/>
                <a:uLnTx/>
                <a:uFillTx/>
                <a:latin typeface="+mn-lt"/>
                <a:ea typeface="ヒラギノ角ゴ ProN W3" charset="-128"/>
              </a:rPr>
              <a:t>Emprendedor, amigos, familia</a:t>
            </a:r>
          </a:p>
        </p:txBody>
      </p:sp>
    </p:spTree>
    <p:extLst>
      <p:ext uri="{BB962C8B-B14F-4D97-AF65-F5344CB8AC3E}">
        <p14:creationId xmlns:p14="http://schemas.microsoft.com/office/powerpoint/2010/main" val="2966640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832BA82-3360-98A3-F43E-63CA2642647C}"/>
              </a:ext>
            </a:extLst>
          </p:cNvPr>
          <p:cNvSpPr txBox="1"/>
          <p:nvPr/>
        </p:nvSpPr>
        <p:spPr>
          <a:xfrm>
            <a:off x="706163" y="797510"/>
            <a:ext cx="6856206" cy="5262979"/>
          </a:xfrm>
          <a:prstGeom prst="rect">
            <a:avLst/>
          </a:prstGeom>
          <a:noFill/>
        </p:spPr>
        <p:txBody>
          <a:bodyPr wrap="square" rtlCol="0">
            <a:spAutoFit/>
          </a:bodyPr>
          <a:lstStyle/>
          <a:p>
            <a:pPr algn="just"/>
            <a:r>
              <a:rPr lang="es-CL" sz="1600" dirty="0">
                <a:latin typeface="Avenir Next" panose="020B0503020202020204" pitchFamily="34" charset="0"/>
              </a:rPr>
              <a:t>El juego Startup es de etapas:</a:t>
            </a:r>
          </a:p>
          <a:p>
            <a:pPr algn="just"/>
            <a:endParaRPr lang="es-CL" sz="1600" dirty="0">
              <a:latin typeface="Avenir Next" panose="020B0503020202020204" pitchFamily="34" charset="0"/>
            </a:endParaRPr>
          </a:p>
          <a:p>
            <a:pPr lvl="1" algn="just"/>
            <a:r>
              <a:rPr lang="es-CL" sz="1600" b="1" dirty="0" err="1">
                <a:latin typeface="Avenir Next" panose="020B0503020202020204" pitchFamily="34" charset="0"/>
              </a:rPr>
              <a:t>Preseed</a:t>
            </a:r>
            <a:r>
              <a:rPr lang="es-CL" sz="1600" dirty="0">
                <a:latin typeface="Avenir Next" panose="020B0503020202020204" pitchFamily="34" charset="0"/>
              </a:rPr>
              <a:t>. Es una fase donde los emprendedores están creando el concepto, van de idea a prototipo, tienen pequeñas inversiones que son gastadas principalmente en desarrollos iniciales y experimentos.</a:t>
            </a:r>
          </a:p>
          <a:p>
            <a:pPr lvl="1" algn="just"/>
            <a:r>
              <a:rPr lang="es-CL" sz="1600" b="1" dirty="0" err="1">
                <a:latin typeface="Avenir Next" panose="020B0503020202020204" pitchFamily="34" charset="0"/>
              </a:rPr>
              <a:t>Seed</a:t>
            </a:r>
            <a:r>
              <a:rPr lang="es-CL" sz="1600" dirty="0">
                <a:latin typeface="Avenir Next" panose="020B0503020202020204" pitchFamily="34" charset="0"/>
              </a:rPr>
              <a:t>. Es un financiamiento semilla para desarrollar un producto mínimo viable frente a un cliente y comenzar el ajuste del modelo de negocios buscando el ajuste producto – mercado (producto – </a:t>
            </a:r>
            <a:r>
              <a:rPr lang="es-CL" sz="1600" dirty="0" err="1">
                <a:latin typeface="Avenir Next" panose="020B0503020202020204" pitchFamily="34" charset="0"/>
              </a:rPr>
              <a:t>market</a:t>
            </a:r>
            <a:r>
              <a:rPr lang="es-CL" sz="1600" dirty="0">
                <a:latin typeface="Avenir Next" panose="020B0503020202020204" pitchFamily="34" charset="0"/>
              </a:rPr>
              <a:t> </a:t>
            </a:r>
            <a:r>
              <a:rPr lang="es-CL" sz="1600" dirty="0" err="1">
                <a:latin typeface="Avenir Next" panose="020B0503020202020204" pitchFamily="34" charset="0"/>
              </a:rPr>
              <a:t>fit</a:t>
            </a:r>
            <a:r>
              <a:rPr lang="es-CL" sz="1600" dirty="0">
                <a:latin typeface="Avenir Next" panose="020B0503020202020204" pitchFamily="34" charset="0"/>
              </a:rPr>
              <a:t>).</a:t>
            </a:r>
          </a:p>
          <a:p>
            <a:pPr lvl="1" algn="just"/>
            <a:r>
              <a:rPr lang="es-CL" sz="1600" b="1" dirty="0">
                <a:latin typeface="Avenir Next" panose="020B0503020202020204" pitchFamily="34" charset="0"/>
              </a:rPr>
              <a:t>Startup</a:t>
            </a:r>
            <a:r>
              <a:rPr lang="es-CL" sz="1600" dirty="0">
                <a:latin typeface="Avenir Next" panose="020B0503020202020204" pitchFamily="34" charset="0"/>
              </a:rPr>
              <a:t>. Se ha conformado una empresa que tiene un producto y busca repetir el modelo y luego escalar. En una fase de aprendizaje temprano con financiamientos de cercanos, I+D públicos y algún ángel.</a:t>
            </a:r>
          </a:p>
          <a:p>
            <a:pPr lvl="1" algn="just"/>
            <a:r>
              <a:rPr lang="es-CL" sz="1600" b="1" dirty="0" err="1">
                <a:latin typeface="Avenir Next" panose="020B0503020202020204" pitchFamily="34" charset="0"/>
              </a:rPr>
              <a:t>Scaleup</a:t>
            </a:r>
            <a:r>
              <a:rPr lang="es-CL" sz="1600" dirty="0">
                <a:latin typeface="Avenir Next" panose="020B0503020202020204" pitchFamily="34" charset="0"/>
              </a:rPr>
              <a:t>. Una empresa que tiene un producto y clientes iniciales y busca ingresar a la fase de crecimiento o escalamiento en forma definitiva, se prepara para el capital de riesgo.</a:t>
            </a:r>
          </a:p>
          <a:p>
            <a:pPr lvl="1" algn="just"/>
            <a:endParaRPr lang="es-CL" sz="1600" dirty="0">
              <a:latin typeface="Avenir Next" panose="020B0503020202020204" pitchFamily="34" charset="0"/>
            </a:endParaRPr>
          </a:p>
          <a:p>
            <a:pPr algn="just"/>
            <a:r>
              <a:rPr lang="es-CL" sz="1600" dirty="0">
                <a:latin typeface="Avenir Next" panose="020B0503020202020204" pitchFamily="34" charset="0"/>
              </a:rPr>
              <a:t>Estas son las fases en que se especializan las personas que se preparan en emprendimiento dinámico, el paso del valle de la muerte, y la configuración de una empresa que pueda crecer globalmente.</a:t>
            </a:r>
          </a:p>
        </p:txBody>
      </p:sp>
      <p:sp>
        <p:nvSpPr>
          <p:cNvPr id="3" name="CuadroTexto 2">
            <a:extLst>
              <a:ext uri="{FF2B5EF4-FFF2-40B4-BE49-F238E27FC236}">
                <a16:creationId xmlns:a16="http://schemas.microsoft.com/office/drawing/2014/main" id="{0DBFBD58-8709-17DA-EBAD-ACDD78BF5DDB}"/>
              </a:ext>
            </a:extLst>
          </p:cNvPr>
          <p:cNvSpPr txBox="1"/>
          <p:nvPr/>
        </p:nvSpPr>
        <p:spPr>
          <a:xfrm>
            <a:off x="8382000" y="2828834"/>
            <a:ext cx="2928257" cy="1200329"/>
          </a:xfrm>
          <a:prstGeom prst="rect">
            <a:avLst/>
          </a:prstGeom>
          <a:noFill/>
        </p:spPr>
        <p:txBody>
          <a:bodyPr wrap="square" rtlCol="0">
            <a:spAutoFit/>
          </a:bodyPr>
          <a:lstStyle/>
          <a:p>
            <a:r>
              <a:rPr lang="es-CL" dirty="0"/>
              <a:t>El emprendimiento dinámico es una escalera, donde cada peldaño tiene desafíos propios.</a:t>
            </a:r>
          </a:p>
        </p:txBody>
      </p:sp>
    </p:spTree>
    <p:extLst>
      <p:ext uri="{BB962C8B-B14F-4D97-AF65-F5344CB8AC3E}">
        <p14:creationId xmlns:p14="http://schemas.microsoft.com/office/powerpoint/2010/main" val="3776626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A842423-F3EE-480F-8FBE-854EE6093790}"/>
              </a:ext>
            </a:extLst>
          </p:cNvPr>
          <p:cNvPicPr>
            <a:picLocks noChangeAspect="1"/>
          </p:cNvPicPr>
          <p:nvPr/>
        </p:nvPicPr>
        <p:blipFill rotWithShape="1">
          <a:blip r:embed="rId2"/>
          <a:srcRect l="3851" r="3568" b="4624"/>
          <a:stretch/>
        </p:blipFill>
        <p:spPr>
          <a:xfrm>
            <a:off x="7552766" y="521065"/>
            <a:ext cx="4105835" cy="2719591"/>
          </a:xfrm>
          <a:prstGeom prst="rect">
            <a:avLst/>
          </a:prstGeom>
        </p:spPr>
      </p:pic>
      <p:pic>
        <p:nvPicPr>
          <p:cNvPr id="5" name="Imagen 4">
            <a:extLst>
              <a:ext uri="{FF2B5EF4-FFF2-40B4-BE49-F238E27FC236}">
                <a16:creationId xmlns:a16="http://schemas.microsoft.com/office/drawing/2014/main" id="{0F982812-08BE-4E5C-BB68-433CE0F83E88}"/>
              </a:ext>
            </a:extLst>
          </p:cNvPr>
          <p:cNvPicPr>
            <a:picLocks noChangeAspect="1"/>
          </p:cNvPicPr>
          <p:nvPr/>
        </p:nvPicPr>
        <p:blipFill rotWithShape="1">
          <a:blip r:embed="rId3"/>
          <a:srcRect l="4818"/>
          <a:stretch/>
        </p:blipFill>
        <p:spPr>
          <a:xfrm>
            <a:off x="7552766" y="3429000"/>
            <a:ext cx="3550718" cy="2470076"/>
          </a:xfrm>
          <a:prstGeom prst="rect">
            <a:avLst/>
          </a:prstGeom>
        </p:spPr>
      </p:pic>
      <p:sp>
        <p:nvSpPr>
          <p:cNvPr id="2" name="CuadroTexto 1">
            <a:extLst>
              <a:ext uri="{FF2B5EF4-FFF2-40B4-BE49-F238E27FC236}">
                <a16:creationId xmlns:a16="http://schemas.microsoft.com/office/drawing/2014/main" id="{A9ABCCA6-5C95-09E6-D83E-1B6862D8C07E}"/>
              </a:ext>
            </a:extLst>
          </p:cNvPr>
          <p:cNvSpPr txBox="1"/>
          <p:nvPr/>
        </p:nvSpPr>
        <p:spPr>
          <a:xfrm>
            <a:off x="717178" y="889843"/>
            <a:ext cx="5855745" cy="4893647"/>
          </a:xfrm>
          <a:prstGeom prst="rect">
            <a:avLst/>
          </a:prstGeom>
          <a:noFill/>
        </p:spPr>
        <p:txBody>
          <a:bodyPr wrap="square" rtlCol="0">
            <a:spAutoFit/>
          </a:bodyPr>
          <a:lstStyle/>
          <a:p>
            <a:pPr algn="just"/>
            <a:r>
              <a:rPr lang="es-CL" sz="1200" dirty="0">
                <a:latin typeface="Avenir Next" panose="020B0503020202020204" pitchFamily="34" charset="0"/>
              </a:rPr>
              <a:t>Una analogía para explicar como sucede el avance en etapas podría ser lo que pasa con jóvenes que deciden dedicarse al futbol como profesión.</a:t>
            </a:r>
          </a:p>
          <a:p>
            <a:pPr algn="just"/>
            <a:endParaRPr lang="es-CL" sz="1200" dirty="0">
              <a:latin typeface="Avenir Next" panose="020B0503020202020204" pitchFamily="34" charset="0"/>
            </a:endParaRPr>
          </a:p>
          <a:p>
            <a:pPr marL="171450" indent="-171450" algn="just">
              <a:buFont typeface="Arial" panose="020B0604020202020204" pitchFamily="34" charset="0"/>
              <a:buChar char="•"/>
            </a:pPr>
            <a:r>
              <a:rPr lang="es-CL" sz="1200" b="1" dirty="0">
                <a:latin typeface="Avenir Next" panose="020B0503020202020204" pitchFamily="34" charset="0"/>
              </a:rPr>
              <a:t>PRESEED</a:t>
            </a:r>
            <a:r>
              <a:rPr lang="es-CL" sz="1200" dirty="0">
                <a:latin typeface="Avenir Next" panose="020B0503020202020204" pitchFamily="34" charset="0"/>
              </a:rPr>
              <a:t>. La etapa </a:t>
            </a:r>
            <a:r>
              <a:rPr lang="es-CL" sz="1200" b="1" dirty="0" err="1">
                <a:latin typeface="Avenir Next" panose="020B0503020202020204" pitchFamily="34" charset="0"/>
              </a:rPr>
              <a:t>preseed</a:t>
            </a:r>
            <a:r>
              <a:rPr lang="es-CL" sz="1200" dirty="0">
                <a:latin typeface="Avenir Next" panose="020B0503020202020204" pitchFamily="34" charset="0"/>
              </a:rPr>
              <a:t>, vendría a ser lo que sucede con niños antes de los 12 años, participan de escuelas de futbol no oficiales, campeonatos de colegios, pero no han decidido jugar profesionalmente, ni seguir esa carrera. Los financiamientos son bajos, y básicamente familiares.</a:t>
            </a:r>
          </a:p>
          <a:p>
            <a:pPr marL="171450" indent="-171450" algn="just">
              <a:buFont typeface="Arial" panose="020B0604020202020204" pitchFamily="34" charset="0"/>
              <a:buChar char="•"/>
            </a:pPr>
            <a:r>
              <a:rPr lang="es-CL" sz="1200" b="1" dirty="0">
                <a:latin typeface="Avenir Next" panose="020B0503020202020204" pitchFamily="34" charset="0"/>
              </a:rPr>
              <a:t>SEED</a:t>
            </a:r>
            <a:r>
              <a:rPr lang="es-CL" sz="1200" dirty="0">
                <a:latin typeface="Avenir Next" panose="020B0503020202020204" pitchFamily="34" charset="0"/>
              </a:rPr>
              <a:t>. La primera etapa en el recorrido tradicional, o equivalente a </a:t>
            </a:r>
            <a:r>
              <a:rPr lang="es-CL" sz="1200" b="1" dirty="0" err="1">
                <a:latin typeface="Avenir Next" panose="020B0503020202020204" pitchFamily="34" charset="0"/>
              </a:rPr>
              <a:t>seed</a:t>
            </a:r>
            <a:r>
              <a:rPr lang="es-CL" sz="1200" dirty="0">
                <a:latin typeface="Avenir Next" panose="020B0503020202020204" pitchFamily="34" charset="0"/>
              </a:rPr>
              <a:t>, sería una primera escuela oficial de un club –entre los 12 y 14 años-, participan en campeonatos regulados, bajo normas y tienen un récord de indicadores aceptados. El financiamiento es de familiares, no hay recursos privados disponibles, a lo más becas del gobierno.</a:t>
            </a:r>
          </a:p>
          <a:p>
            <a:pPr marL="171450" indent="-171450" algn="just">
              <a:buFont typeface="Arial" panose="020B0604020202020204" pitchFamily="34" charset="0"/>
              <a:buChar char="•"/>
            </a:pPr>
            <a:r>
              <a:rPr lang="es-CL" sz="1200" b="1" dirty="0">
                <a:latin typeface="Avenir Next" panose="020B0503020202020204" pitchFamily="34" charset="0"/>
              </a:rPr>
              <a:t>STARTUP</a:t>
            </a:r>
            <a:r>
              <a:rPr lang="es-CL" sz="1200" dirty="0">
                <a:latin typeface="Avenir Next" panose="020B0503020202020204" pitchFamily="34" charset="0"/>
              </a:rPr>
              <a:t>. A los 14 años se hace una primera gran selección y se desechan muchos jugadores, </a:t>
            </a:r>
            <a:r>
              <a:rPr lang="es-CL" sz="1200" dirty="0" err="1">
                <a:latin typeface="Avenir Next" panose="020B0503020202020204" pitchFamily="34" charset="0"/>
              </a:rPr>
              <a:t>simil</a:t>
            </a:r>
            <a:r>
              <a:rPr lang="es-CL" sz="1200" dirty="0">
                <a:latin typeface="Avenir Next" panose="020B0503020202020204" pitchFamily="34" charset="0"/>
              </a:rPr>
              <a:t> a fase </a:t>
            </a:r>
            <a:r>
              <a:rPr lang="es-CL" sz="1200" b="1" dirty="0">
                <a:latin typeface="Avenir Next" panose="020B0503020202020204" pitchFamily="34" charset="0"/>
              </a:rPr>
              <a:t>startup</a:t>
            </a:r>
            <a:r>
              <a:rPr lang="es-CL" sz="1200" dirty="0">
                <a:latin typeface="Avenir Next" panose="020B0503020202020204" pitchFamily="34" charset="0"/>
              </a:rPr>
              <a:t>, quedan pocos jóvenes en clubes oficiales, a estos se les exige un nivel de participación, normas, exámenes médicos, reglas de comportamiento. Los clubes invierten (vendrían a ser como las aceleradoras), y ya pueden existir inversionistas privados, veedores para grandes equipos (parecidos a los ángeles).</a:t>
            </a:r>
          </a:p>
          <a:p>
            <a:pPr marL="171450" indent="-171450" algn="just">
              <a:buFont typeface="Arial" panose="020B0604020202020204" pitchFamily="34" charset="0"/>
              <a:buChar char="•"/>
            </a:pPr>
            <a:r>
              <a:rPr lang="es-CL" sz="1200" b="1" dirty="0">
                <a:latin typeface="Avenir Next" panose="020B0503020202020204" pitchFamily="34" charset="0"/>
              </a:rPr>
              <a:t>SCALEUP</a:t>
            </a:r>
            <a:r>
              <a:rPr lang="es-CL" sz="1200" dirty="0">
                <a:latin typeface="Avenir Next" panose="020B0503020202020204" pitchFamily="34" charset="0"/>
              </a:rPr>
              <a:t>. Luego de los 16 años, ya </a:t>
            </a:r>
            <a:r>
              <a:rPr lang="es-CL" sz="1200" dirty="0" err="1">
                <a:latin typeface="Avenir Next" panose="020B0503020202020204" pitchFamily="34" charset="0"/>
              </a:rPr>
              <a:t>puden</a:t>
            </a:r>
            <a:r>
              <a:rPr lang="es-CL" sz="1200" dirty="0">
                <a:latin typeface="Avenir Next" panose="020B0503020202020204" pitchFamily="34" charset="0"/>
              </a:rPr>
              <a:t> ingresar a los equipos juveniles oficiales y estar pasando al primer equipo, en esta etapa vienen los intereses privados: representantes, equipos grandes, contratos de auspicio, que sería similar a la etapa de </a:t>
            </a:r>
            <a:r>
              <a:rPr lang="es-CL" sz="1200" b="1" dirty="0" err="1">
                <a:latin typeface="Avenir Next" panose="020B0503020202020204" pitchFamily="34" charset="0"/>
              </a:rPr>
              <a:t>scaleup</a:t>
            </a:r>
            <a:r>
              <a:rPr lang="es-CL" sz="1200" dirty="0">
                <a:latin typeface="Avenir Next" panose="020B0503020202020204" pitchFamily="34" charset="0"/>
              </a:rPr>
              <a:t> y los fondos VC </a:t>
            </a:r>
            <a:r>
              <a:rPr lang="es-CL" sz="1200" dirty="0" err="1">
                <a:latin typeface="Avenir Next" panose="020B0503020202020204" pitchFamily="34" charset="0"/>
              </a:rPr>
              <a:t>early</a:t>
            </a:r>
            <a:r>
              <a:rPr lang="es-CL" sz="1200" dirty="0">
                <a:latin typeface="Avenir Next" panose="020B0503020202020204" pitchFamily="34" charset="0"/>
              </a:rPr>
              <a:t> </a:t>
            </a:r>
            <a:r>
              <a:rPr lang="es-CL" sz="1200" dirty="0" err="1">
                <a:latin typeface="Avenir Next" panose="020B0503020202020204" pitchFamily="34" charset="0"/>
              </a:rPr>
              <a:t>stage</a:t>
            </a:r>
            <a:r>
              <a:rPr lang="es-CL" sz="1200" dirty="0">
                <a:latin typeface="Avenir Next" panose="020B0503020202020204" pitchFamily="34" charset="0"/>
              </a:rPr>
              <a:t>.</a:t>
            </a:r>
          </a:p>
          <a:p>
            <a:pPr algn="just"/>
            <a:endParaRPr lang="es-CL" sz="1200" dirty="0">
              <a:latin typeface="Avenir Next" panose="020B0503020202020204" pitchFamily="34" charset="0"/>
            </a:endParaRPr>
          </a:p>
          <a:p>
            <a:pPr algn="just"/>
            <a:r>
              <a:rPr lang="es-CL" sz="1200" dirty="0">
                <a:latin typeface="Avenir Next" panose="020B0503020202020204" pitchFamily="34" charset="0"/>
              </a:rPr>
              <a:t>Como vemos en este ejemplo, donde tomamos el camino de madurez de jugadores de futbol, hay etapas marcadas y distintas formas de financiar la carrera, que tiene que ver en cómo se van aproximando a los mercados.</a:t>
            </a:r>
          </a:p>
        </p:txBody>
      </p:sp>
    </p:spTree>
    <p:extLst>
      <p:ext uri="{BB962C8B-B14F-4D97-AF65-F5344CB8AC3E}">
        <p14:creationId xmlns:p14="http://schemas.microsoft.com/office/powerpoint/2010/main" val="2804514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2C20A279-E98D-9D41-E8DC-6D30A89631C4}"/>
              </a:ext>
            </a:extLst>
          </p:cNvPr>
          <p:cNvGraphicFramePr>
            <a:graphicFrameLocks noGrp="1"/>
          </p:cNvGraphicFramePr>
          <p:nvPr/>
        </p:nvGraphicFramePr>
        <p:xfrm>
          <a:off x="3667701" y="1094740"/>
          <a:ext cx="5400676" cy="4668520"/>
        </p:xfrm>
        <a:graphic>
          <a:graphicData uri="http://schemas.openxmlformats.org/drawingml/2006/table">
            <a:tbl>
              <a:tblPr firstRow="1" bandRow="1">
                <a:tableStyleId>{5940675A-B579-460E-94D1-54222C63F5DA}</a:tableStyleId>
              </a:tblPr>
              <a:tblGrid>
                <a:gridCol w="2003115">
                  <a:extLst>
                    <a:ext uri="{9D8B030D-6E8A-4147-A177-3AD203B41FA5}">
                      <a16:colId xmlns:a16="http://schemas.microsoft.com/office/drawing/2014/main" val="3026222378"/>
                    </a:ext>
                  </a:extLst>
                </a:gridCol>
                <a:gridCol w="3397561">
                  <a:extLst>
                    <a:ext uri="{9D8B030D-6E8A-4147-A177-3AD203B41FA5}">
                      <a16:colId xmlns:a16="http://schemas.microsoft.com/office/drawing/2014/main" val="522647150"/>
                    </a:ext>
                  </a:extLst>
                </a:gridCol>
              </a:tblGrid>
              <a:tr h="370840">
                <a:tc>
                  <a:txBody>
                    <a:bodyPr/>
                    <a:lstStyle/>
                    <a:p>
                      <a:r>
                        <a:rPr lang="es-CL" sz="1200" b="1" dirty="0">
                          <a:latin typeface="Avenir Next" panose="020B0503020202020204" pitchFamily="34" charset="0"/>
                        </a:rPr>
                        <a:t>Etapa</a:t>
                      </a:r>
                    </a:p>
                  </a:txBody>
                  <a:tcPr/>
                </a:tc>
                <a:tc>
                  <a:txBody>
                    <a:bodyPr/>
                    <a:lstStyle/>
                    <a:p>
                      <a:r>
                        <a:rPr lang="es-CL" sz="1200" b="1" dirty="0">
                          <a:latin typeface="Avenir Next" panose="020B0503020202020204" pitchFamily="34" charset="0"/>
                        </a:rPr>
                        <a:t>Concentrarse en…</a:t>
                      </a:r>
                    </a:p>
                  </a:txBody>
                  <a:tcPr/>
                </a:tc>
                <a:extLst>
                  <a:ext uri="{0D108BD9-81ED-4DB2-BD59-A6C34878D82A}">
                    <a16:rowId xmlns:a16="http://schemas.microsoft.com/office/drawing/2014/main" val="1711603479"/>
                  </a:ext>
                </a:extLst>
              </a:tr>
              <a:tr h="370840">
                <a:tc>
                  <a:txBody>
                    <a:bodyPr/>
                    <a:lstStyle/>
                    <a:p>
                      <a:r>
                        <a:rPr lang="es-CL" sz="1200" b="0" kern="1200" dirty="0">
                          <a:solidFill>
                            <a:schemeClr val="tx1"/>
                          </a:solidFill>
                          <a:effectLst/>
                          <a:latin typeface="Avenir Next" panose="020B0503020202020204" pitchFamily="34" charset="0"/>
                          <a:ea typeface="+mn-ea"/>
                          <a:cs typeface="+mn-cs"/>
                        </a:rPr>
                        <a:t>Prefinanciación (Pre-</a:t>
                      </a:r>
                      <a:r>
                        <a:rPr lang="es-CL" sz="1200" b="0" kern="1200" dirty="0" err="1">
                          <a:solidFill>
                            <a:schemeClr val="tx1"/>
                          </a:solidFill>
                          <a:effectLst/>
                          <a:latin typeface="Avenir Next" panose="020B0503020202020204" pitchFamily="34" charset="0"/>
                          <a:ea typeface="+mn-ea"/>
                          <a:cs typeface="+mn-cs"/>
                        </a:rPr>
                        <a:t>Seed</a:t>
                      </a:r>
                      <a:r>
                        <a:rPr lang="es-CL" sz="1200" b="0" kern="1200" dirty="0">
                          <a:solidFill>
                            <a:schemeClr val="tx1"/>
                          </a:solidFill>
                          <a:effectLst/>
                          <a:latin typeface="Avenir Next" panose="020B0503020202020204" pitchFamily="34" charset="0"/>
                          <a:ea typeface="+mn-ea"/>
                          <a:cs typeface="+mn-cs"/>
                        </a:rPr>
                        <a:t> y </a:t>
                      </a:r>
                      <a:r>
                        <a:rPr lang="es-CL" sz="1200" b="0" kern="1200" dirty="0" err="1">
                          <a:solidFill>
                            <a:schemeClr val="tx1"/>
                          </a:solidFill>
                          <a:effectLst/>
                          <a:latin typeface="Avenir Next" panose="020B0503020202020204" pitchFamily="34" charset="0"/>
                          <a:ea typeface="+mn-ea"/>
                          <a:cs typeface="+mn-cs"/>
                        </a:rPr>
                        <a:t>Seed</a:t>
                      </a:r>
                      <a:r>
                        <a:rPr lang="es-CL" sz="1200" b="0" kern="1200" dirty="0">
                          <a:solidFill>
                            <a:schemeClr val="tx1"/>
                          </a:solidFill>
                          <a:effectLst/>
                          <a:latin typeface="Avenir Next" panose="020B0503020202020204" pitchFamily="34" charset="0"/>
                          <a:ea typeface="+mn-ea"/>
                          <a:cs typeface="+mn-cs"/>
                        </a:rPr>
                        <a:t>): Cultivar las semillas de la ambición</a:t>
                      </a:r>
                    </a:p>
                    <a:p>
                      <a:r>
                        <a:rPr lang="es-CL" sz="1200" b="0" dirty="0">
                          <a:effectLst/>
                          <a:latin typeface="Avenir Next" panose="020B0503020202020204" pitchFamily="34" charset="0"/>
                        </a:rPr>
                        <a:t>Punto de partida: asegure un mínimo de USD$10.000 a 500.000. </a:t>
                      </a:r>
                      <a:endParaRPr lang="es-CL" sz="1200" b="0" dirty="0">
                        <a:latin typeface="Avenir Next" panose="020B0503020202020204" pitchFamily="34" charset="0"/>
                      </a:endParaRPr>
                    </a:p>
                  </a:txBody>
                  <a:tcPr/>
                </a:tc>
                <a:tc>
                  <a:txBody>
                    <a:bodyPr/>
                    <a:lstStyle/>
                    <a:p>
                      <a:pPr marL="171450" lvl="0" indent="-171450">
                        <a:buFont typeface="Arial" panose="020B0604020202020204" pitchFamily="34" charset="0"/>
                        <a:buChar char="•"/>
                      </a:pPr>
                      <a:r>
                        <a:rPr lang="es-CL" sz="1200" kern="1200" dirty="0">
                          <a:solidFill>
                            <a:schemeClr val="tx1"/>
                          </a:solidFill>
                          <a:effectLst/>
                          <a:latin typeface="Avenir Next" panose="020B0503020202020204" pitchFamily="34" charset="0"/>
                          <a:ea typeface="+mn-ea"/>
                          <a:cs typeface="+mn-cs"/>
                        </a:rPr>
                        <a:t>Conceptos Sólidos: Embarcarse con ideas innovadoras validadas por la demanda del mercado.</a:t>
                      </a:r>
                    </a:p>
                    <a:p>
                      <a:pPr marL="171450" lvl="0" indent="-171450">
                        <a:buFont typeface="Arial" panose="020B0604020202020204" pitchFamily="34" charset="0"/>
                        <a:buChar char="•"/>
                      </a:pPr>
                      <a:r>
                        <a:rPr lang="es-CL" sz="1200" kern="1200" dirty="0">
                          <a:solidFill>
                            <a:schemeClr val="tx1"/>
                          </a:solidFill>
                          <a:effectLst/>
                          <a:latin typeface="Avenir Next" panose="020B0503020202020204" pitchFamily="34" charset="0"/>
                          <a:ea typeface="+mn-ea"/>
                          <a:cs typeface="+mn-cs"/>
                        </a:rPr>
                        <a:t>Crear un equipo dinámico: reúna un equipo capacitado con fortalezas variadas.</a:t>
                      </a:r>
                    </a:p>
                    <a:p>
                      <a:pPr marL="171450" lvl="0" indent="-171450">
                        <a:buFont typeface="Arial" panose="020B0604020202020204" pitchFamily="34" charset="0"/>
                        <a:buChar char="•"/>
                      </a:pPr>
                      <a:r>
                        <a:rPr lang="es-CL" sz="1200" kern="1200" dirty="0">
                          <a:solidFill>
                            <a:schemeClr val="tx1"/>
                          </a:solidFill>
                          <a:effectLst/>
                          <a:latin typeface="Avenir Next" panose="020B0503020202020204" pitchFamily="34" charset="0"/>
                          <a:ea typeface="+mn-ea"/>
                          <a:cs typeface="+mn-cs"/>
                        </a:rPr>
                        <a:t>Impulso inicial: muestre que se está gestando interés por su solución.</a:t>
                      </a:r>
                    </a:p>
                  </a:txBody>
                  <a:tcPr/>
                </a:tc>
                <a:extLst>
                  <a:ext uri="{0D108BD9-81ED-4DB2-BD59-A6C34878D82A}">
                    <a16:rowId xmlns:a16="http://schemas.microsoft.com/office/drawing/2014/main" val="3573304367"/>
                  </a:ext>
                </a:extLst>
              </a:tr>
              <a:tr h="370840">
                <a:tc>
                  <a:txBody>
                    <a:bodyPr/>
                    <a:lstStyle/>
                    <a:p>
                      <a:r>
                        <a:rPr lang="es-CL" sz="1200" b="0" kern="1200" dirty="0">
                          <a:solidFill>
                            <a:schemeClr val="tx1"/>
                          </a:solidFill>
                          <a:effectLst/>
                          <a:latin typeface="Avenir Next" panose="020B0503020202020204" pitchFamily="34" charset="0"/>
                          <a:ea typeface="+mn-ea"/>
                          <a:cs typeface="+mn-cs"/>
                        </a:rPr>
                        <a:t>Financiamiento Serie A: Navegando por las aguas del crecimiento</a:t>
                      </a:r>
                    </a:p>
                    <a:p>
                      <a:r>
                        <a:rPr lang="es-CL" sz="1200" b="0" kern="1200" dirty="0">
                          <a:solidFill>
                            <a:schemeClr val="tx1"/>
                          </a:solidFill>
                          <a:effectLst/>
                          <a:latin typeface="Avenir Next" panose="020B0503020202020204" pitchFamily="34" charset="0"/>
                          <a:ea typeface="+mn-ea"/>
                          <a:cs typeface="+mn-cs"/>
                        </a:rPr>
                        <a:t>Navegando hacia adelante: Apunte a recaudar entre USD$ 1 a 15 millones.</a:t>
                      </a:r>
                    </a:p>
                  </a:txBody>
                  <a:tcPr/>
                </a:tc>
                <a:tc>
                  <a:txBody>
                    <a:bodyPr/>
                    <a:lstStyle/>
                    <a:p>
                      <a:pPr marL="171450" lvl="0" indent="-171450">
                        <a:buFont typeface="Arial" panose="020B0604020202020204" pitchFamily="34" charset="0"/>
                        <a:buChar char="•"/>
                      </a:pPr>
                      <a:r>
                        <a:rPr lang="es-CL" sz="1200" kern="1200" dirty="0">
                          <a:solidFill>
                            <a:schemeClr val="tx1"/>
                          </a:solidFill>
                          <a:effectLst/>
                          <a:latin typeface="Avenir Next" panose="020B0503020202020204" pitchFamily="34" charset="0"/>
                          <a:ea typeface="+mn-ea"/>
                          <a:cs typeface="+mn-cs"/>
                        </a:rPr>
                        <a:t>Progreso sólido: demostrar un crecimiento sustancial y compromiso con el cliente.</a:t>
                      </a:r>
                    </a:p>
                    <a:p>
                      <a:pPr marL="171450" lvl="0" indent="-171450">
                        <a:buFont typeface="Arial" panose="020B0604020202020204" pitchFamily="34" charset="0"/>
                        <a:buChar char="•"/>
                      </a:pPr>
                      <a:r>
                        <a:rPr lang="es-CL" sz="1200" kern="1200" dirty="0">
                          <a:solidFill>
                            <a:schemeClr val="tx1"/>
                          </a:solidFill>
                          <a:effectLst/>
                          <a:latin typeface="Avenir Next" panose="020B0503020202020204" pitchFamily="34" charset="0"/>
                          <a:ea typeface="+mn-ea"/>
                          <a:cs typeface="+mn-cs"/>
                        </a:rPr>
                        <a:t>Ruta de ingresos: describa cómo su empresa genera ingresos.</a:t>
                      </a:r>
                    </a:p>
                    <a:p>
                      <a:pPr marL="171450" lvl="0" indent="-171450">
                        <a:buFont typeface="Arial" panose="020B0604020202020204" pitchFamily="34" charset="0"/>
                        <a:buChar char="•"/>
                      </a:pPr>
                      <a:r>
                        <a:rPr lang="es-CL" sz="1200" kern="1200" dirty="0" err="1">
                          <a:solidFill>
                            <a:schemeClr val="tx1"/>
                          </a:solidFill>
                          <a:effectLst/>
                          <a:latin typeface="Avenir Next" panose="020B0503020202020204" pitchFamily="34" charset="0"/>
                          <a:ea typeface="+mn-ea"/>
                          <a:cs typeface="+mn-cs"/>
                        </a:rPr>
                        <a:t>Team</a:t>
                      </a:r>
                      <a:r>
                        <a:rPr lang="es-CL" sz="1200" kern="1200" dirty="0">
                          <a:solidFill>
                            <a:schemeClr val="tx1"/>
                          </a:solidFill>
                          <a:effectLst/>
                          <a:latin typeface="Avenir Next" panose="020B0503020202020204" pitchFamily="34" charset="0"/>
                          <a:ea typeface="+mn-ea"/>
                          <a:cs typeface="+mn-cs"/>
                        </a:rPr>
                        <a:t> </a:t>
                      </a:r>
                      <a:r>
                        <a:rPr lang="es-CL" sz="1200" kern="1200" dirty="0" err="1">
                          <a:solidFill>
                            <a:schemeClr val="tx1"/>
                          </a:solidFill>
                          <a:effectLst/>
                          <a:latin typeface="Avenir Next" panose="020B0503020202020204" pitchFamily="34" charset="0"/>
                          <a:ea typeface="+mn-ea"/>
                          <a:cs typeface="+mn-cs"/>
                        </a:rPr>
                        <a:t>Brilliance</a:t>
                      </a:r>
                      <a:r>
                        <a:rPr lang="es-CL" sz="1200" kern="1200" dirty="0">
                          <a:solidFill>
                            <a:schemeClr val="tx1"/>
                          </a:solidFill>
                          <a:effectLst/>
                          <a:latin typeface="Avenir Next" panose="020B0503020202020204" pitchFamily="34" charset="0"/>
                          <a:ea typeface="+mn-ea"/>
                          <a:cs typeface="+mn-cs"/>
                        </a:rPr>
                        <a:t>: un equipo competente ancla el viaje de su empresa.</a:t>
                      </a:r>
                    </a:p>
                  </a:txBody>
                  <a:tcPr/>
                </a:tc>
                <a:extLst>
                  <a:ext uri="{0D108BD9-81ED-4DB2-BD59-A6C34878D82A}">
                    <a16:rowId xmlns:a16="http://schemas.microsoft.com/office/drawing/2014/main" val="3597166538"/>
                  </a:ext>
                </a:extLst>
              </a:tr>
              <a:tr h="370840">
                <a:tc>
                  <a:txBody>
                    <a:bodyPr/>
                    <a:lstStyle/>
                    <a:p>
                      <a:r>
                        <a:rPr lang="es-CL" sz="1200" b="0" kern="1200" dirty="0">
                          <a:solidFill>
                            <a:schemeClr val="tx1"/>
                          </a:solidFill>
                          <a:effectLst/>
                          <a:latin typeface="Avenir Next" panose="020B0503020202020204" pitchFamily="34" charset="0"/>
                          <a:ea typeface="+mn-ea"/>
                          <a:cs typeface="+mn-cs"/>
                        </a:rPr>
                        <a:t>Series B, C y más allá: ampliando horizontes y más allá</a:t>
                      </a:r>
                    </a:p>
                    <a:p>
                      <a:r>
                        <a:rPr lang="es-CL" sz="1200" b="0" kern="1200" dirty="0">
                          <a:solidFill>
                            <a:schemeClr val="tx1"/>
                          </a:solidFill>
                          <a:effectLst/>
                          <a:latin typeface="Avenir Next" panose="020B0503020202020204" pitchFamily="34" charset="0"/>
                          <a:ea typeface="+mn-ea"/>
                          <a:cs typeface="+mn-cs"/>
                        </a:rPr>
                        <a:t>Escalando nuevas alturas: busque fondos que excedan los USD$ 15 millones, dependiendo de su alcance.</a:t>
                      </a:r>
                    </a:p>
                  </a:txBody>
                  <a:tcPr/>
                </a:tc>
                <a:tc>
                  <a:txBody>
                    <a:bodyPr/>
                    <a:lstStyle/>
                    <a:p>
                      <a:pPr marL="171450" lvl="0" indent="-171450">
                        <a:buFont typeface="Arial" panose="020B0604020202020204" pitchFamily="34" charset="0"/>
                        <a:buChar char="•"/>
                      </a:pPr>
                      <a:r>
                        <a:rPr lang="es-CL" sz="1200" kern="1200" dirty="0">
                          <a:solidFill>
                            <a:schemeClr val="tx1"/>
                          </a:solidFill>
                          <a:effectLst/>
                          <a:latin typeface="Avenir Next" panose="020B0503020202020204" pitchFamily="34" charset="0"/>
                          <a:ea typeface="+mn-ea"/>
                          <a:cs typeface="+mn-cs"/>
                        </a:rPr>
                        <a:t>Expansión sostenida: resalte su creciente presencia en el mercado.</a:t>
                      </a:r>
                    </a:p>
                    <a:p>
                      <a:pPr marL="171450" lvl="0" indent="-171450">
                        <a:buFont typeface="Arial" panose="020B0604020202020204" pitchFamily="34" charset="0"/>
                        <a:buChar char="•"/>
                      </a:pPr>
                      <a:r>
                        <a:rPr lang="es-CL" sz="1200" kern="1200" dirty="0">
                          <a:solidFill>
                            <a:schemeClr val="tx1"/>
                          </a:solidFill>
                          <a:effectLst/>
                          <a:latin typeface="Avenir Next" panose="020B0503020202020204" pitchFamily="34" charset="0"/>
                          <a:ea typeface="+mn-ea"/>
                          <a:cs typeface="+mn-cs"/>
                        </a:rPr>
                        <a:t>Registro de logros: muestre los hitos y los logros pasados.</a:t>
                      </a:r>
                    </a:p>
                    <a:p>
                      <a:endParaRPr lang="es-CL" sz="1200" b="0" dirty="0">
                        <a:latin typeface="Avenir Next" panose="020B0503020202020204" pitchFamily="34" charset="0"/>
                      </a:endParaRPr>
                    </a:p>
                  </a:txBody>
                  <a:tcPr/>
                </a:tc>
                <a:extLst>
                  <a:ext uri="{0D108BD9-81ED-4DB2-BD59-A6C34878D82A}">
                    <a16:rowId xmlns:a16="http://schemas.microsoft.com/office/drawing/2014/main" val="323334898"/>
                  </a:ext>
                </a:extLst>
              </a:tr>
            </a:tbl>
          </a:graphicData>
        </a:graphic>
      </p:graphicFrame>
      <p:sp>
        <p:nvSpPr>
          <p:cNvPr id="7" name="CuadroTexto 6">
            <a:extLst>
              <a:ext uri="{FF2B5EF4-FFF2-40B4-BE49-F238E27FC236}">
                <a16:creationId xmlns:a16="http://schemas.microsoft.com/office/drawing/2014/main" id="{CC88B1D0-1446-6A92-B0C8-0F4B68833664}"/>
              </a:ext>
            </a:extLst>
          </p:cNvPr>
          <p:cNvSpPr txBox="1"/>
          <p:nvPr/>
        </p:nvSpPr>
        <p:spPr>
          <a:xfrm>
            <a:off x="3667701" y="5916091"/>
            <a:ext cx="5216403" cy="553998"/>
          </a:xfrm>
          <a:prstGeom prst="rect">
            <a:avLst/>
          </a:prstGeom>
          <a:noFill/>
        </p:spPr>
        <p:txBody>
          <a:bodyPr wrap="square">
            <a:spAutoFit/>
          </a:bodyPr>
          <a:lstStyle/>
          <a:p>
            <a:pPr algn="just"/>
            <a:r>
              <a:rPr lang="en-US" sz="1000" kern="100" dirty="0">
                <a:effectLst/>
                <a:latin typeface="Avenir Next" panose="020B0503020202020204" pitchFamily="34" charset="0"/>
                <a:ea typeface="Calibri" panose="020F0502020204030204" pitchFamily="34" charset="0"/>
                <a:cs typeface="Times New Roman" panose="02020603050405020304" pitchFamily="18" charset="0"/>
              </a:rPr>
              <a:t>Fuente: Medium (2023) Mastering Venture Capital Funding: A Roadmap to Startup Success. </a:t>
            </a:r>
            <a:r>
              <a:rPr lang="es-CL" sz="1000" kern="100" dirty="0">
                <a:effectLst/>
                <a:latin typeface="Avenir Next" panose="020B0503020202020204" pitchFamily="34" charset="0"/>
                <a:ea typeface="Calibri" panose="020F0502020204030204" pitchFamily="34" charset="0"/>
                <a:cs typeface="Times New Roman" panose="02020603050405020304" pitchFamily="18" charset="0"/>
              </a:rPr>
              <a:t>Acceso </a:t>
            </a:r>
            <a:r>
              <a:rPr lang="es-CL" sz="1000" u="sng" kern="100" dirty="0">
                <a:solidFill>
                  <a:srgbClr val="0000FF"/>
                </a:solidFill>
                <a:effectLst/>
                <a:latin typeface="Avenir Next" panose="020B0503020202020204" pitchFamily="34" charset="0"/>
                <a:ea typeface="Calibri" panose="020F0502020204030204" pitchFamily="34" charset="0"/>
                <a:cs typeface="Times New Roman" panose="02020603050405020304" pitchFamily="18" charset="0"/>
                <a:hlinkClick r:id="rId2"/>
              </a:rPr>
              <a:t>https://medium.com/@winner.harrys/mastering-venture-capital-funding-a-roadmap-to-startup-success-7ba7513fbbc2</a:t>
            </a:r>
            <a:r>
              <a:rPr lang="es-CL" sz="1000" kern="100" dirty="0">
                <a:effectLst/>
                <a:latin typeface="Avenir Next" panose="020B0503020202020204" pitchFamily="34" charset="0"/>
                <a:ea typeface="Calibri" panose="020F0502020204030204" pitchFamily="34" charset="0"/>
                <a:cs typeface="Times New Roman" panose="02020603050405020304" pitchFamily="18" charset="0"/>
              </a:rPr>
              <a:t> </a:t>
            </a:r>
            <a:endParaRPr lang="es-CL"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55860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Construcción de Rascacielos. Presentación.">
            <a:extLst>
              <a:ext uri="{FF2B5EF4-FFF2-40B4-BE49-F238E27FC236}">
                <a16:creationId xmlns:a16="http://schemas.microsoft.com/office/drawing/2014/main" id="{668C7F92-1D00-42E0-BECF-04A752DDD5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269" r="15731"/>
          <a:stretch/>
        </p:blipFill>
        <p:spPr bwMode="auto">
          <a:xfrm>
            <a:off x="6095999" y="0"/>
            <a:ext cx="6096001"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El calentamiento global acelera el crecimiento de los bosques ...">
            <a:extLst>
              <a:ext uri="{FF2B5EF4-FFF2-40B4-BE49-F238E27FC236}">
                <a16:creationId xmlns:a16="http://schemas.microsoft.com/office/drawing/2014/main" id="{289880F3-0B32-41E5-8E03-8D7FF99DD9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659" r="26252"/>
          <a:stretch/>
        </p:blipFill>
        <p:spPr bwMode="auto">
          <a:xfrm>
            <a:off x="0" y="0"/>
            <a:ext cx="6096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BC128131-4141-48CA-B5DC-340ABC18F3AE}"/>
              </a:ext>
            </a:extLst>
          </p:cNvPr>
          <p:cNvSpPr>
            <a:spLocks noChangeArrowheads="1"/>
          </p:cNvSpPr>
          <p:nvPr/>
        </p:nvSpPr>
        <p:spPr bwMode="auto">
          <a:xfrm>
            <a:off x="383118" y="417627"/>
            <a:ext cx="11142134" cy="690971"/>
          </a:xfrm>
          <a:prstGeom prst="rect">
            <a:avLst/>
          </a:prstGeom>
          <a:solidFill>
            <a:schemeClr val="bg1"/>
          </a:solidFill>
          <a:ln>
            <a:noFill/>
          </a:ln>
          <a:effectLst/>
        </p:spPr>
        <p:txBody>
          <a:bodyPr vert="horz" wrap="square" lIns="25326" tIns="25326" rIns="25326" bIns="2532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ES" sz="3200" b="0" i="0" u="none" strike="noStrike" kern="1200" cap="none" spc="0" normalizeH="0" baseline="0" noProof="0" dirty="0">
                <a:ln>
                  <a:noFill/>
                </a:ln>
                <a:solidFill>
                  <a:srgbClr val="000000"/>
                </a:solidFill>
                <a:effectLst/>
                <a:uLnTx/>
                <a:uFillTx/>
                <a:latin typeface="Gotham" panose="02000604030000020004" pitchFamily="50" charset="0"/>
                <a:ea typeface="+mn-ea"/>
                <a:cs typeface="+mn-cs"/>
                <a:sym typeface="Lucida Grande" charset="0"/>
              </a:rPr>
              <a:t>orgánico versus inorgánico</a:t>
            </a:r>
          </a:p>
        </p:txBody>
      </p:sp>
      <p:graphicFrame>
        <p:nvGraphicFramePr>
          <p:cNvPr id="5" name="Tabla 5">
            <a:extLst>
              <a:ext uri="{FF2B5EF4-FFF2-40B4-BE49-F238E27FC236}">
                <a16:creationId xmlns:a16="http://schemas.microsoft.com/office/drawing/2014/main" id="{7C67CF40-B2E3-4C37-87D7-F612E759FA15}"/>
              </a:ext>
            </a:extLst>
          </p:cNvPr>
          <p:cNvGraphicFramePr>
            <a:graphicFrameLocks noGrp="1"/>
          </p:cNvGraphicFramePr>
          <p:nvPr/>
        </p:nvGraphicFramePr>
        <p:xfrm>
          <a:off x="779975" y="2281179"/>
          <a:ext cx="4307839" cy="3048000"/>
        </p:xfrm>
        <a:graphic>
          <a:graphicData uri="http://schemas.openxmlformats.org/drawingml/2006/table">
            <a:tbl>
              <a:tblPr firstRow="1" bandRow="1">
                <a:tableStyleId>{5940675A-B579-460E-94D1-54222C63F5DA}</a:tableStyleId>
              </a:tblPr>
              <a:tblGrid>
                <a:gridCol w="4307839">
                  <a:extLst>
                    <a:ext uri="{9D8B030D-6E8A-4147-A177-3AD203B41FA5}">
                      <a16:colId xmlns:a16="http://schemas.microsoft.com/office/drawing/2014/main" val="3377371639"/>
                    </a:ext>
                  </a:extLst>
                </a:gridCol>
              </a:tblGrid>
              <a:tr h="370840">
                <a:tc>
                  <a:txBody>
                    <a:bodyPr/>
                    <a:lstStyle/>
                    <a:p>
                      <a:r>
                        <a:rPr lang="es-CL" sz="1600" dirty="0">
                          <a:latin typeface="Gotham" panose="02000604030000020004" pitchFamily="50" charset="0"/>
                        </a:rPr>
                        <a:t>Referido a un crecimiento evolutivo. De semilla a árbol con fuerza propia</a:t>
                      </a:r>
                    </a:p>
                    <a:p>
                      <a:endParaRPr lang="es-CL" sz="1600" dirty="0">
                        <a:latin typeface="Gotham" panose="02000604030000020004" pitchFamily="50" charset="0"/>
                      </a:endParaRPr>
                    </a:p>
                  </a:txBody>
                  <a:tcPr>
                    <a:solidFill>
                      <a:schemeClr val="bg1"/>
                    </a:solidFill>
                  </a:tcPr>
                </a:tc>
                <a:extLst>
                  <a:ext uri="{0D108BD9-81ED-4DB2-BD59-A6C34878D82A}">
                    <a16:rowId xmlns:a16="http://schemas.microsoft.com/office/drawing/2014/main" val="549267730"/>
                  </a:ext>
                </a:extLst>
              </a:tr>
              <a:tr h="370840">
                <a:tc>
                  <a:txBody>
                    <a:bodyPr/>
                    <a:lstStyle/>
                    <a:p>
                      <a:r>
                        <a:rPr lang="es-CL" sz="1600" dirty="0">
                          <a:latin typeface="Gotham" panose="02000604030000020004" pitchFamily="50" charset="0"/>
                        </a:rPr>
                        <a:t>Origen de los recursos de crecimiento propios: dueños, reinversión, banco. Financiamiento tradicional</a:t>
                      </a:r>
                    </a:p>
                    <a:p>
                      <a:endParaRPr lang="es-CL" sz="1600" dirty="0">
                        <a:latin typeface="Gotham" panose="02000604030000020004" pitchFamily="50" charset="0"/>
                      </a:endParaRPr>
                    </a:p>
                  </a:txBody>
                  <a:tcPr>
                    <a:solidFill>
                      <a:schemeClr val="bg1"/>
                    </a:solidFill>
                  </a:tcPr>
                </a:tc>
                <a:extLst>
                  <a:ext uri="{0D108BD9-81ED-4DB2-BD59-A6C34878D82A}">
                    <a16:rowId xmlns:a16="http://schemas.microsoft.com/office/drawing/2014/main" val="1013177347"/>
                  </a:ext>
                </a:extLst>
              </a:tr>
              <a:tr h="370840">
                <a:tc>
                  <a:txBody>
                    <a:bodyPr/>
                    <a:lstStyle/>
                    <a:p>
                      <a:r>
                        <a:rPr lang="es-CL" sz="1600" dirty="0">
                          <a:latin typeface="Gotham" panose="02000604030000020004" pitchFamily="50" charset="0"/>
                        </a:rPr>
                        <a:t>Tasa de retorno exigida entre 6% al 18% dentro del negocio general</a:t>
                      </a:r>
                    </a:p>
                  </a:txBody>
                  <a:tcPr>
                    <a:solidFill>
                      <a:schemeClr val="bg1"/>
                    </a:solidFill>
                  </a:tcPr>
                </a:tc>
                <a:extLst>
                  <a:ext uri="{0D108BD9-81ED-4DB2-BD59-A6C34878D82A}">
                    <a16:rowId xmlns:a16="http://schemas.microsoft.com/office/drawing/2014/main" val="2334711199"/>
                  </a:ext>
                </a:extLst>
              </a:tr>
              <a:tr h="370840">
                <a:tc>
                  <a:txBody>
                    <a:bodyPr/>
                    <a:lstStyle/>
                    <a:p>
                      <a:r>
                        <a:rPr lang="es-CL" sz="1600" b="1" dirty="0">
                          <a:latin typeface="Gotham" panose="02000604030000020004" pitchFamily="50" charset="0"/>
                        </a:rPr>
                        <a:t>Emprendimiento tradicional </a:t>
                      </a:r>
                      <a:r>
                        <a:rPr lang="es-CL" sz="1600" dirty="0">
                          <a:latin typeface="Gotham" panose="02000604030000020004" pitchFamily="50" charset="0"/>
                        </a:rPr>
                        <a:t>tradicionales, </a:t>
                      </a:r>
                      <a:r>
                        <a:rPr lang="es-CL" sz="1600" dirty="0" err="1">
                          <a:latin typeface="Gotham" panose="02000604030000020004" pitchFamily="50" charset="0"/>
                        </a:rPr>
                        <a:t>PYMEs</a:t>
                      </a:r>
                      <a:r>
                        <a:rPr lang="es-CL" sz="1600" dirty="0">
                          <a:latin typeface="Gotham" panose="02000604030000020004" pitchFamily="50" charset="0"/>
                        </a:rPr>
                        <a:t>, sectores maduros, desde el alcance local</a:t>
                      </a:r>
                    </a:p>
                  </a:txBody>
                  <a:tcPr>
                    <a:solidFill>
                      <a:schemeClr val="bg1"/>
                    </a:solidFill>
                  </a:tcPr>
                </a:tc>
                <a:extLst>
                  <a:ext uri="{0D108BD9-81ED-4DB2-BD59-A6C34878D82A}">
                    <a16:rowId xmlns:a16="http://schemas.microsoft.com/office/drawing/2014/main" val="2809772643"/>
                  </a:ext>
                </a:extLst>
              </a:tr>
            </a:tbl>
          </a:graphicData>
        </a:graphic>
      </p:graphicFrame>
      <p:graphicFrame>
        <p:nvGraphicFramePr>
          <p:cNvPr id="7" name="Tabla 5">
            <a:extLst>
              <a:ext uri="{FF2B5EF4-FFF2-40B4-BE49-F238E27FC236}">
                <a16:creationId xmlns:a16="http://schemas.microsoft.com/office/drawing/2014/main" id="{ABE7A513-FE20-4E7B-950A-D0FCC1E1DFB1}"/>
              </a:ext>
            </a:extLst>
          </p:cNvPr>
          <p:cNvGraphicFramePr>
            <a:graphicFrameLocks noGrp="1"/>
          </p:cNvGraphicFramePr>
          <p:nvPr/>
        </p:nvGraphicFramePr>
        <p:xfrm>
          <a:off x="7104185" y="2281179"/>
          <a:ext cx="4307840" cy="2804160"/>
        </p:xfrm>
        <a:graphic>
          <a:graphicData uri="http://schemas.openxmlformats.org/drawingml/2006/table">
            <a:tbl>
              <a:tblPr firstRow="1" bandRow="1">
                <a:tableStyleId>{5940675A-B579-460E-94D1-54222C63F5DA}</a:tableStyleId>
              </a:tblPr>
              <a:tblGrid>
                <a:gridCol w="4307840">
                  <a:extLst>
                    <a:ext uri="{9D8B030D-6E8A-4147-A177-3AD203B41FA5}">
                      <a16:colId xmlns:a16="http://schemas.microsoft.com/office/drawing/2014/main" val="3377371639"/>
                    </a:ext>
                  </a:extLst>
                </a:gridCol>
              </a:tblGrid>
              <a:tr h="370840">
                <a:tc>
                  <a:txBody>
                    <a:bodyPr/>
                    <a:lstStyle/>
                    <a:p>
                      <a:r>
                        <a:rPr lang="es-CL" sz="1600" dirty="0">
                          <a:latin typeface="Gotham" panose="02000604030000020004" pitchFamily="50" charset="0"/>
                        </a:rPr>
                        <a:t>Referido al crecimiento explosivo. En base a inversiones, tomando fuerza externa</a:t>
                      </a:r>
                    </a:p>
                  </a:txBody>
                  <a:tcPr>
                    <a:solidFill>
                      <a:schemeClr val="bg1"/>
                    </a:solidFill>
                  </a:tcPr>
                </a:tc>
                <a:extLst>
                  <a:ext uri="{0D108BD9-81ED-4DB2-BD59-A6C34878D82A}">
                    <a16:rowId xmlns:a16="http://schemas.microsoft.com/office/drawing/2014/main" val="549267730"/>
                  </a:ext>
                </a:extLst>
              </a:tr>
              <a:tr h="370840">
                <a:tc>
                  <a:txBody>
                    <a:bodyPr/>
                    <a:lstStyle/>
                    <a:p>
                      <a:r>
                        <a:rPr lang="es-CL" sz="1600" dirty="0">
                          <a:latin typeface="Gotham" panose="02000604030000020004" pitchFamily="50" charset="0"/>
                        </a:rPr>
                        <a:t>Origen de los recursos de crecimiento. Inversionistas externos, fondos de riesgo, subsidio innovación, fusiones y adquisiciones</a:t>
                      </a:r>
                    </a:p>
                  </a:txBody>
                  <a:tcPr>
                    <a:solidFill>
                      <a:schemeClr val="bg1"/>
                    </a:solidFill>
                  </a:tcPr>
                </a:tc>
                <a:extLst>
                  <a:ext uri="{0D108BD9-81ED-4DB2-BD59-A6C34878D82A}">
                    <a16:rowId xmlns:a16="http://schemas.microsoft.com/office/drawing/2014/main" val="1013177347"/>
                  </a:ext>
                </a:extLst>
              </a:tr>
              <a:tr h="370840">
                <a:tc>
                  <a:txBody>
                    <a:bodyPr/>
                    <a:lstStyle/>
                    <a:p>
                      <a:r>
                        <a:rPr lang="es-CL" sz="1600" dirty="0">
                          <a:latin typeface="Gotham" panose="02000604030000020004" pitchFamily="50" charset="0"/>
                        </a:rPr>
                        <a:t>Tasa de retorno exigida entre 15 a 30% dentro del negocio general</a:t>
                      </a:r>
                    </a:p>
                    <a:p>
                      <a:endParaRPr lang="es-CL" sz="1600" dirty="0">
                        <a:latin typeface="Gotham" panose="02000604030000020004" pitchFamily="50" charset="0"/>
                      </a:endParaRPr>
                    </a:p>
                  </a:txBody>
                  <a:tcPr>
                    <a:solidFill>
                      <a:schemeClr val="bg1"/>
                    </a:solidFill>
                  </a:tcPr>
                </a:tc>
                <a:extLst>
                  <a:ext uri="{0D108BD9-81ED-4DB2-BD59-A6C34878D82A}">
                    <a16:rowId xmlns:a16="http://schemas.microsoft.com/office/drawing/2014/main" val="2334711199"/>
                  </a:ext>
                </a:extLst>
              </a:tr>
              <a:tr h="370840">
                <a:tc>
                  <a:txBody>
                    <a:bodyPr/>
                    <a:lstStyle/>
                    <a:p>
                      <a:r>
                        <a:rPr lang="es-CL" sz="1600" b="1" dirty="0">
                          <a:latin typeface="Gotham" panose="02000604030000020004" pitchFamily="50" charset="0"/>
                        </a:rPr>
                        <a:t>Startups</a:t>
                      </a:r>
                      <a:r>
                        <a:rPr lang="es-CL" sz="1600" dirty="0">
                          <a:latin typeface="Gotham" panose="02000604030000020004" pitchFamily="50" charset="0"/>
                        </a:rPr>
                        <a:t>, fondos de capital de riesgo, innovaciones globales, nuevos sectores</a:t>
                      </a:r>
                    </a:p>
                  </a:txBody>
                  <a:tcPr>
                    <a:solidFill>
                      <a:schemeClr val="bg1"/>
                    </a:solidFill>
                  </a:tcPr>
                </a:tc>
                <a:extLst>
                  <a:ext uri="{0D108BD9-81ED-4DB2-BD59-A6C34878D82A}">
                    <a16:rowId xmlns:a16="http://schemas.microsoft.com/office/drawing/2014/main" val="2809772643"/>
                  </a:ext>
                </a:extLst>
              </a:tr>
            </a:tbl>
          </a:graphicData>
        </a:graphic>
      </p:graphicFrame>
      <p:sp>
        <p:nvSpPr>
          <p:cNvPr id="2" name="CuadroTexto 1">
            <a:extLst>
              <a:ext uri="{FF2B5EF4-FFF2-40B4-BE49-F238E27FC236}">
                <a16:creationId xmlns:a16="http://schemas.microsoft.com/office/drawing/2014/main" id="{38C65AF3-584E-4E40-9078-5042CBB895D7}"/>
              </a:ext>
            </a:extLst>
          </p:cNvPr>
          <p:cNvSpPr txBox="1"/>
          <p:nvPr/>
        </p:nvSpPr>
        <p:spPr>
          <a:xfrm>
            <a:off x="2541981" y="6145796"/>
            <a:ext cx="7108036" cy="523220"/>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CL" sz="2800" b="1" i="0" u="none" strike="noStrike" kern="1200" cap="none" spc="0" normalizeH="0" baseline="0" noProof="0" dirty="0">
                <a:ln>
                  <a:noFill/>
                </a:ln>
                <a:solidFill>
                  <a:prstClr val="black"/>
                </a:solidFill>
                <a:effectLst/>
                <a:uLnTx/>
                <a:uFillTx/>
                <a:latin typeface="Daniel" panose="020B0500000000000000" pitchFamily="34" charset="0"/>
                <a:ea typeface="+mn-ea"/>
                <a:cs typeface="+mn-cs"/>
              </a:rPr>
              <a:t>  La diferencia es el nivel de ambición  </a:t>
            </a:r>
          </a:p>
        </p:txBody>
      </p:sp>
    </p:spTree>
    <p:extLst>
      <p:ext uri="{BB962C8B-B14F-4D97-AF65-F5344CB8AC3E}">
        <p14:creationId xmlns:p14="http://schemas.microsoft.com/office/powerpoint/2010/main" val="3860313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055A320-F04A-4EEA-647A-CBDA526AA402}"/>
              </a:ext>
            </a:extLst>
          </p:cNvPr>
          <p:cNvPicPr>
            <a:picLocks noChangeAspect="1"/>
          </p:cNvPicPr>
          <p:nvPr/>
        </p:nvPicPr>
        <p:blipFill rotWithShape="1">
          <a:blip r:embed="rId2"/>
          <a:srcRect t="20486" b="60639"/>
          <a:stretch/>
        </p:blipFill>
        <p:spPr>
          <a:xfrm>
            <a:off x="537029" y="862783"/>
            <a:ext cx="11658317" cy="2236103"/>
          </a:xfrm>
          <a:prstGeom prst="rect">
            <a:avLst/>
          </a:prstGeom>
        </p:spPr>
      </p:pic>
      <p:pic>
        <p:nvPicPr>
          <p:cNvPr id="5" name="Imagen 4">
            <a:extLst>
              <a:ext uri="{FF2B5EF4-FFF2-40B4-BE49-F238E27FC236}">
                <a16:creationId xmlns:a16="http://schemas.microsoft.com/office/drawing/2014/main" id="{1944CA94-4AB1-DED2-8327-D43AF7055A1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769791" y="4209598"/>
            <a:ext cx="5422209" cy="2648402"/>
          </a:xfrm>
          <a:prstGeom prst="rect">
            <a:avLst/>
          </a:prstGeom>
        </p:spPr>
      </p:pic>
      <p:sp>
        <p:nvSpPr>
          <p:cNvPr id="6" name="CuadroTexto 5">
            <a:extLst>
              <a:ext uri="{FF2B5EF4-FFF2-40B4-BE49-F238E27FC236}">
                <a16:creationId xmlns:a16="http://schemas.microsoft.com/office/drawing/2014/main" id="{1FD44976-6ABA-B4FA-B3DF-99B165DB8A90}"/>
              </a:ext>
            </a:extLst>
          </p:cNvPr>
          <p:cNvSpPr txBox="1"/>
          <p:nvPr/>
        </p:nvSpPr>
        <p:spPr>
          <a:xfrm>
            <a:off x="537029" y="376495"/>
            <a:ext cx="11117942" cy="369332"/>
          </a:xfrm>
          <a:prstGeom prst="rect">
            <a:avLst/>
          </a:prstGeom>
          <a:noFill/>
        </p:spPr>
        <p:txBody>
          <a:bodyPr wrap="square" rtlCol="0">
            <a:spAutoFit/>
          </a:bodyPr>
          <a:lstStyle/>
          <a:p>
            <a:pPr algn="ctr"/>
            <a:r>
              <a:rPr lang="es-CL" sz="1800" b="1" dirty="0"/>
              <a:t>LA RUTA LEAN STARTUP</a:t>
            </a:r>
          </a:p>
        </p:txBody>
      </p:sp>
      <p:sp>
        <p:nvSpPr>
          <p:cNvPr id="3" name="CuadroTexto 2">
            <a:extLst>
              <a:ext uri="{FF2B5EF4-FFF2-40B4-BE49-F238E27FC236}">
                <a16:creationId xmlns:a16="http://schemas.microsoft.com/office/drawing/2014/main" id="{52B8CA8A-E413-1E08-4DC4-25E760F87EE6}"/>
              </a:ext>
            </a:extLst>
          </p:cNvPr>
          <p:cNvSpPr txBox="1"/>
          <p:nvPr/>
        </p:nvSpPr>
        <p:spPr>
          <a:xfrm>
            <a:off x="206828" y="3303320"/>
            <a:ext cx="1252266" cy="369332"/>
          </a:xfrm>
          <a:prstGeom prst="rect">
            <a:avLst/>
          </a:prstGeom>
          <a:noFill/>
        </p:spPr>
        <p:txBody>
          <a:bodyPr wrap="none" rtlCol="0">
            <a:spAutoFit/>
          </a:bodyPr>
          <a:lstStyle/>
          <a:p>
            <a:r>
              <a:rPr lang="es-CL" dirty="0"/>
              <a:t>Estrategia</a:t>
            </a:r>
          </a:p>
        </p:txBody>
      </p:sp>
      <p:sp>
        <p:nvSpPr>
          <p:cNvPr id="4" name="CuadroTexto 3">
            <a:extLst>
              <a:ext uri="{FF2B5EF4-FFF2-40B4-BE49-F238E27FC236}">
                <a16:creationId xmlns:a16="http://schemas.microsoft.com/office/drawing/2014/main" id="{69EC4EB3-F665-EA8C-B9BE-4DA5158B599A}"/>
              </a:ext>
            </a:extLst>
          </p:cNvPr>
          <p:cNvSpPr txBox="1"/>
          <p:nvPr/>
        </p:nvSpPr>
        <p:spPr>
          <a:xfrm>
            <a:off x="206828" y="5081596"/>
            <a:ext cx="1116011" cy="369332"/>
          </a:xfrm>
          <a:prstGeom prst="rect">
            <a:avLst/>
          </a:prstGeom>
          <a:noFill/>
        </p:spPr>
        <p:txBody>
          <a:bodyPr wrap="none" rtlCol="0">
            <a:spAutoFit/>
          </a:bodyPr>
          <a:lstStyle/>
          <a:p>
            <a:r>
              <a:rPr lang="es-CL" dirty="0"/>
              <a:t>Finanzas</a:t>
            </a:r>
          </a:p>
        </p:txBody>
      </p:sp>
      <p:sp>
        <p:nvSpPr>
          <p:cNvPr id="10" name="CuadroTexto 9">
            <a:extLst>
              <a:ext uri="{FF2B5EF4-FFF2-40B4-BE49-F238E27FC236}">
                <a16:creationId xmlns:a16="http://schemas.microsoft.com/office/drawing/2014/main" id="{8803D0DE-4D79-CCA4-9A8C-7301BA262D1B}"/>
              </a:ext>
            </a:extLst>
          </p:cNvPr>
          <p:cNvSpPr txBox="1"/>
          <p:nvPr/>
        </p:nvSpPr>
        <p:spPr>
          <a:xfrm>
            <a:off x="2819400" y="3303320"/>
            <a:ext cx="1891865" cy="738664"/>
          </a:xfrm>
          <a:prstGeom prst="rect">
            <a:avLst/>
          </a:prstGeom>
          <a:noFill/>
        </p:spPr>
        <p:txBody>
          <a:bodyPr wrap="none" rtlCol="0">
            <a:spAutoFit/>
          </a:bodyPr>
          <a:lstStyle/>
          <a:p>
            <a:r>
              <a:rPr lang="es-CL" sz="1400" dirty="0"/>
              <a:t>Pitch</a:t>
            </a:r>
          </a:p>
          <a:p>
            <a:r>
              <a:rPr lang="es-CL" sz="1400" dirty="0"/>
              <a:t>Modelo de negocios</a:t>
            </a:r>
          </a:p>
          <a:p>
            <a:r>
              <a:rPr lang="es-CL" sz="1400" dirty="0"/>
              <a:t>Prototipo </a:t>
            </a:r>
            <a:r>
              <a:rPr lang="es-CL" sz="1400" i="1" dirty="0"/>
              <a:t>B</a:t>
            </a:r>
          </a:p>
        </p:txBody>
      </p:sp>
      <p:sp>
        <p:nvSpPr>
          <p:cNvPr id="11" name="CuadroTexto 10">
            <a:extLst>
              <a:ext uri="{FF2B5EF4-FFF2-40B4-BE49-F238E27FC236}">
                <a16:creationId xmlns:a16="http://schemas.microsoft.com/office/drawing/2014/main" id="{02FD5FCA-C92B-53D9-A8C8-1395B23E1CC9}"/>
              </a:ext>
            </a:extLst>
          </p:cNvPr>
          <p:cNvSpPr txBox="1"/>
          <p:nvPr/>
        </p:nvSpPr>
        <p:spPr>
          <a:xfrm>
            <a:off x="5150067" y="3303320"/>
            <a:ext cx="2648482" cy="954107"/>
          </a:xfrm>
          <a:prstGeom prst="rect">
            <a:avLst/>
          </a:prstGeom>
          <a:noFill/>
        </p:spPr>
        <p:txBody>
          <a:bodyPr wrap="none" rtlCol="0">
            <a:spAutoFit/>
          </a:bodyPr>
          <a:lstStyle/>
          <a:p>
            <a:r>
              <a:rPr lang="es-CL" sz="1400" dirty="0" err="1"/>
              <a:t>Deck</a:t>
            </a:r>
            <a:r>
              <a:rPr lang="es-CL" sz="1400" dirty="0"/>
              <a:t> de inversión</a:t>
            </a:r>
          </a:p>
          <a:p>
            <a:r>
              <a:rPr lang="es-CL" sz="1400" dirty="0"/>
              <a:t>Modelo de negocios ajustado</a:t>
            </a:r>
          </a:p>
          <a:p>
            <a:r>
              <a:rPr lang="es-CL" sz="1400" dirty="0"/>
              <a:t>Estrategia de tecnología</a:t>
            </a:r>
          </a:p>
          <a:p>
            <a:r>
              <a:rPr lang="es-CL" sz="1400" dirty="0" err="1"/>
              <a:t>OKRs</a:t>
            </a:r>
            <a:endParaRPr lang="es-CL" sz="1400" i="1" dirty="0"/>
          </a:p>
        </p:txBody>
      </p:sp>
      <p:sp>
        <p:nvSpPr>
          <p:cNvPr id="12" name="CuadroTexto 11">
            <a:extLst>
              <a:ext uri="{FF2B5EF4-FFF2-40B4-BE49-F238E27FC236}">
                <a16:creationId xmlns:a16="http://schemas.microsoft.com/office/drawing/2014/main" id="{2166967D-2BF5-856B-9847-CC96086EC02F}"/>
              </a:ext>
            </a:extLst>
          </p:cNvPr>
          <p:cNvSpPr txBox="1"/>
          <p:nvPr/>
        </p:nvSpPr>
        <p:spPr>
          <a:xfrm>
            <a:off x="7969467" y="3303320"/>
            <a:ext cx="1965603" cy="954107"/>
          </a:xfrm>
          <a:prstGeom prst="rect">
            <a:avLst/>
          </a:prstGeom>
          <a:noFill/>
        </p:spPr>
        <p:txBody>
          <a:bodyPr wrap="none" rtlCol="0">
            <a:spAutoFit/>
          </a:bodyPr>
          <a:lstStyle/>
          <a:p>
            <a:r>
              <a:rPr lang="es-CL" sz="1400" dirty="0"/>
              <a:t>Plan de negocios full</a:t>
            </a:r>
          </a:p>
          <a:p>
            <a:r>
              <a:rPr lang="es-CL" sz="1400" dirty="0"/>
              <a:t>Propiedad intelectual</a:t>
            </a:r>
          </a:p>
          <a:p>
            <a:r>
              <a:rPr lang="es-CL" sz="1400" dirty="0"/>
              <a:t>Talento</a:t>
            </a:r>
          </a:p>
          <a:p>
            <a:r>
              <a:rPr lang="es-CL" sz="1400" dirty="0"/>
              <a:t>Indicadores clave</a:t>
            </a:r>
          </a:p>
        </p:txBody>
      </p:sp>
      <p:sp>
        <p:nvSpPr>
          <p:cNvPr id="13" name="CuadroTexto 12">
            <a:extLst>
              <a:ext uri="{FF2B5EF4-FFF2-40B4-BE49-F238E27FC236}">
                <a16:creationId xmlns:a16="http://schemas.microsoft.com/office/drawing/2014/main" id="{B0CB863E-5794-2069-08A4-D83BF5242C16}"/>
              </a:ext>
            </a:extLst>
          </p:cNvPr>
          <p:cNvSpPr txBox="1"/>
          <p:nvPr/>
        </p:nvSpPr>
        <p:spPr>
          <a:xfrm>
            <a:off x="2819400" y="5081596"/>
            <a:ext cx="2276585" cy="738664"/>
          </a:xfrm>
          <a:prstGeom prst="rect">
            <a:avLst/>
          </a:prstGeom>
          <a:noFill/>
        </p:spPr>
        <p:txBody>
          <a:bodyPr wrap="none" rtlCol="0">
            <a:spAutoFit/>
          </a:bodyPr>
          <a:lstStyle/>
          <a:p>
            <a:r>
              <a:rPr lang="es-CL" sz="1400" dirty="0"/>
              <a:t>Requerimiento de capital</a:t>
            </a:r>
          </a:p>
          <a:p>
            <a:r>
              <a:rPr lang="es-CL" sz="1400" dirty="0"/>
              <a:t>Valorización temprana</a:t>
            </a:r>
          </a:p>
          <a:p>
            <a:r>
              <a:rPr lang="es-CL" sz="1400" dirty="0"/>
              <a:t>Indicadores iniciales</a:t>
            </a:r>
          </a:p>
        </p:txBody>
      </p:sp>
      <p:sp>
        <p:nvSpPr>
          <p:cNvPr id="14" name="CuadroTexto 13">
            <a:extLst>
              <a:ext uri="{FF2B5EF4-FFF2-40B4-BE49-F238E27FC236}">
                <a16:creationId xmlns:a16="http://schemas.microsoft.com/office/drawing/2014/main" id="{1F239870-ECF7-0D1F-D8E5-A420E20F615D}"/>
              </a:ext>
            </a:extLst>
          </p:cNvPr>
          <p:cNvSpPr txBox="1"/>
          <p:nvPr/>
        </p:nvSpPr>
        <p:spPr>
          <a:xfrm>
            <a:off x="5150067" y="5081596"/>
            <a:ext cx="1925527" cy="738664"/>
          </a:xfrm>
          <a:prstGeom prst="rect">
            <a:avLst/>
          </a:prstGeom>
          <a:noFill/>
        </p:spPr>
        <p:txBody>
          <a:bodyPr wrap="none" rtlCol="0">
            <a:spAutoFit/>
          </a:bodyPr>
          <a:lstStyle/>
          <a:p>
            <a:r>
              <a:rPr lang="es-CL" sz="1400" dirty="0"/>
              <a:t>Valorización a 5 años</a:t>
            </a:r>
          </a:p>
          <a:p>
            <a:r>
              <a:rPr lang="es-CL" sz="1400" dirty="0"/>
              <a:t>Plan financiero</a:t>
            </a:r>
          </a:p>
          <a:p>
            <a:r>
              <a:rPr lang="es-CL" sz="1400" dirty="0" err="1"/>
              <a:t>Cap</a:t>
            </a:r>
            <a:r>
              <a:rPr lang="es-CL" sz="1400" dirty="0"/>
              <a:t> table</a:t>
            </a:r>
          </a:p>
        </p:txBody>
      </p:sp>
    </p:spTree>
    <p:extLst>
      <p:ext uri="{BB962C8B-B14F-4D97-AF65-F5344CB8AC3E}">
        <p14:creationId xmlns:p14="http://schemas.microsoft.com/office/powerpoint/2010/main" val="253639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AFBDFAD-5B9D-6DA3-702A-4BBA8DC08AF6}"/>
              </a:ext>
            </a:extLst>
          </p:cNvPr>
          <p:cNvSpPr txBox="1"/>
          <p:nvPr/>
        </p:nvSpPr>
        <p:spPr>
          <a:xfrm>
            <a:off x="645460" y="482301"/>
            <a:ext cx="10747654" cy="461665"/>
          </a:xfrm>
          <a:prstGeom prst="rect">
            <a:avLst/>
          </a:prstGeom>
          <a:noFill/>
        </p:spPr>
        <p:txBody>
          <a:bodyPr wrap="square" rtlCol="0">
            <a:spAutoFit/>
          </a:bodyPr>
          <a:lstStyle/>
          <a:p>
            <a:pPr algn="ctr"/>
            <a:r>
              <a:rPr lang="es-CL" sz="2400" dirty="0">
                <a:latin typeface="Avenir Next" panose="020B0503020202020204" pitchFamily="34" charset="0"/>
              </a:rPr>
              <a:t>Otra forma de entender las etapas: </a:t>
            </a:r>
            <a:r>
              <a:rPr lang="en-US" sz="2400" dirty="0">
                <a:latin typeface="Avenir Next" panose="020B0503020202020204" pitchFamily="34" charset="0"/>
              </a:rPr>
              <a:t>Technology Readiness Level </a:t>
            </a:r>
            <a:r>
              <a:rPr lang="es-CL" sz="2400" dirty="0">
                <a:latin typeface="Avenir Next" panose="020B0503020202020204" pitchFamily="34" charset="0"/>
              </a:rPr>
              <a:t>(TRL)</a:t>
            </a:r>
          </a:p>
        </p:txBody>
      </p:sp>
      <p:pic>
        <p:nvPicPr>
          <p:cNvPr id="1026" name="Picture 2" descr="A brief refresher on Technology Readiness Levels (TRL) for EC Projects">
            <a:extLst>
              <a:ext uri="{FF2B5EF4-FFF2-40B4-BE49-F238E27FC236}">
                <a16:creationId xmlns:a16="http://schemas.microsoft.com/office/drawing/2014/main" id="{2EF7B543-03EF-AD14-1EEE-69D146BC0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1470" y="1344706"/>
            <a:ext cx="3481644" cy="4878593"/>
          </a:xfrm>
          <a:prstGeom prst="rect">
            <a:avLst/>
          </a:prstGeom>
          <a:noFill/>
          <a:extLst>
            <a:ext uri="{909E8E84-426E-40DD-AFC4-6F175D3DCCD1}">
              <a14:hiddenFill xmlns:a14="http://schemas.microsoft.com/office/drawing/2010/main">
                <a:solidFill>
                  <a:srgbClr val="FFFFFF"/>
                </a:solidFill>
              </a14:hiddenFill>
            </a:ext>
          </a:extLst>
        </p:spPr>
      </p:pic>
      <p:sp>
        <p:nvSpPr>
          <p:cNvPr id="6" name="Marcador de contenido 2">
            <a:extLst>
              <a:ext uri="{FF2B5EF4-FFF2-40B4-BE49-F238E27FC236}">
                <a16:creationId xmlns:a16="http://schemas.microsoft.com/office/drawing/2014/main" id="{33CDDC25-E538-8C88-4307-98D94963FBDA}"/>
              </a:ext>
            </a:extLst>
          </p:cNvPr>
          <p:cNvSpPr txBox="1">
            <a:spLocks/>
          </p:cNvSpPr>
          <p:nvPr/>
        </p:nvSpPr>
        <p:spPr>
          <a:xfrm>
            <a:off x="645460" y="1344706"/>
            <a:ext cx="5189283" cy="46672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Wingdings" pitchFamily="2" charset="2"/>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chemeClr val="accent1"/>
              </a:buClr>
              <a:buFont typeface="Wingdings"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Wingdings"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Wingdings" pitchFamily="2" charset="2"/>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Wingdings"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es-CL" dirty="0">
                <a:latin typeface="Avenir Next" panose="020B0503020202020204" pitchFamily="34" charset="0"/>
              </a:rPr>
              <a:t>Este sistema fue propuesto por la NASA durante los 70´pero se comienza a expandir su uso a inicios del 2000, utilizándose masivamente en la transferencia tecnológica universitaria en los últimos 10 años. </a:t>
            </a:r>
          </a:p>
          <a:p>
            <a:pPr marL="0" indent="0">
              <a:buFont typeface="Wingdings" pitchFamily="2" charset="2"/>
              <a:buNone/>
            </a:pPr>
            <a:r>
              <a:rPr lang="es-CL" dirty="0">
                <a:latin typeface="Avenir Next" panose="020B0503020202020204" pitchFamily="34" charset="0"/>
              </a:rPr>
              <a:t>El nivel de madurez tecnológica o </a:t>
            </a:r>
            <a:r>
              <a:rPr lang="es-CL" dirty="0" err="1">
                <a:latin typeface="Avenir Next" panose="020B0503020202020204" pitchFamily="34" charset="0"/>
              </a:rPr>
              <a:t>TRLs</a:t>
            </a:r>
            <a:r>
              <a:rPr lang="es-CL" dirty="0">
                <a:latin typeface="Avenir Next" panose="020B0503020202020204" pitchFamily="34" charset="0"/>
              </a:rPr>
              <a:t>, va desde la IDEA o TRL 1, hasta un producto totalmente terminado para mercado TRL 9, donde los 4 primeros niveles son apresto de la idea o creación del concepto en laboratorio, los dos siguientes prototipajes y primeras pruebas en escala reducida, para desde el TRL 6 al 7 apuntar a productos mínimos viables, o pilotos a mayor escala; y en las dos etapas finales ajustes de producto en el mercado.</a:t>
            </a:r>
          </a:p>
        </p:txBody>
      </p:sp>
    </p:spTree>
    <p:extLst>
      <p:ext uri="{BB962C8B-B14F-4D97-AF65-F5344CB8AC3E}">
        <p14:creationId xmlns:p14="http://schemas.microsoft.com/office/powerpoint/2010/main" val="3568979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8 Grupo"/>
          <p:cNvGrpSpPr>
            <a:grpSpLocks/>
          </p:cNvGrpSpPr>
          <p:nvPr/>
        </p:nvGrpSpPr>
        <p:grpSpPr bwMode="auto">
          <a:xfrm>
            <a:off x="6261099" y="1058211"/>
            <a:ext cx="5261547" cy="5150369"/>
            <a:chOff x="547656" y="1913769"/>
            <a:chExt cx="4657725" cy="4714908"/>
          </a:xfrm>
        </p:grpSpPr>
        <p:graphicFrame>
          <p:nvGraphicFramePr>
            <p:cNvPr id="4" name="Chart 3"/>
            <p:cNvGraphicFramePr/>
            <p:nvPr/>
          </p:nvGraphicFramePr>
          <p:xfrm>
            <a:off x="547656" y="1913769"/>
            <a:ext cx="4657725" cy="4714908"/>
          </p:xfrm>
          <a:graphic>
            <a:graphicData uri="http://schemas.openxmlformats.org/drawingml/2006/chart">
              <c:chart xmlns:c="http://schemas.openxmlformats.org/drawingml/2006/chart" xmlns:r="http://schemas.openxmlformats.org/officeDocument/2006/relationships" r:id="rId2"/>
            </a:graphicData>
          </a:graphic>
        </p:graphicFrame>
        <p:sp>
          <p:nvSpPr>
            <p:cNvPr id="5" name="Oval 4"/>
            <p:cNvSpPr/>
            <p:nvPr/>
          </p:nvSpPr>
          <p:spPr>
            <a:xfrm rot="20724340">
              <a:off x="1538257" y="4960926"/>
              <a:ext cx="1246188" cy="306389"/>
            </a:xfrm>
            <a:prstGeom prst="ellipse">
              <a:avLst/>
            </a:prstGeom>
            <a:solidFill>
              <a:srgbClr val="FFC000">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FFFFFF"/>
                </a:solidFill>
                <a:effectLst/>
                <a:uLnTx/>
                <a:uFillTx/>
                <a:latin typeface="Lucida Grande"/>
                <a:ea typeface="ヒラギノ角ゴ ProN W3"/>
              </a:endParaRPr>
            </a:p>
          </p:txBody>
        </p:sp>
        <p:sp>
          <p:nvSpPr>
            <p:cNvPr id="6" name="Oval 5"/>
            <p:cNvSpPr/>
            <p:nvPr/>
          </p:nvSpPr>
          <p:spPr>
            <a:xfrm rot="18435909">
              <a:off x="1173921" y="4491818"/>
              <a:ext cx="1343034" cy="312737"/>
            </a:xfrm>
            <a:prstGeom prst="ellipse">
              <a:avLst/>
            </a:prstGeom>
            <a:solidFill>
              <a:srgbClr val="00B0F0">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FFFFFF"/>
                </a:solidFill>
                <a:effectLst/>
                <a:uLnTx/>
                <a:uFillTx/>
                <a:latin typeface="Lucida Grande"/>
                <a:ea typeface="ヒラギノ角ゴ ProN W3"/>
              </a:endParaRPr>
            </a:p>
          </p:txBody>
        </p:sp>
        <p:sp>
          <p:nvSpPr>
            <p:cNvPr id="7" name="Oval 6"/>
            <p:cNvSpPr/>
            <p:nvPr/>
          </p:nvSpPr>
          <p:spPr>
            <a:xfrm>
              <a:off x="2162145" y="4348147"/>
              <a:ext cx="285750" cy="285752"/>
            </a:xfrm>
            <a:prstGeom prst="ellipse">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FFFFFF"/>
                  </a:solidFill>
                  <a:effectLst/>
                  <a:uLnTx/>
                  <a:uFillTx/>
                  <a:latin typeface="Lucida Grande"/>
                  <a:ea typeface="ヒラギノ角ゴ ProN W3"/>
                </a:rPr>
                <a:t>b</a:t>
              </a:r>
            </a:p>
          </p:txBody>
        </p:sp>
        <p:sp>
          <p:nvSpPr>
            <p:cNvPr id="8" name="Oval 7"/>
            <p:cNvSpPr/>
            <p:nvPr/>
          </p:nvSpPr>
          <p:spPr>
            <a:xfrm>
              <a:off x="2805082" y="4991088"/>
              <a:ext cx="285750" cy="285752"/>
            </a:xfrm>
            <a:prstGeom prst="ellipse">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FFFFFF"/>
                  </a:solidFill>
                  <a:effectLst/>
                  <a:uLnTx/>
                  <a:uFillTx/>
                  <a:latin typeface="Lucida Grande"/>
                  <a:ea typeface="ヒラギノ角ゴ ProN W3"/>
                </a:rPr>
                <a:t>a</a:t>
              </a:r>
            </a:p>
          </p:txBody>
        </p:sp>
        <p:cxnSp>
          <p:nvCxnSpPr>
            <p:cNvPr id="10" name="Straight Connector 9"/>
            <p:cNvCxnSpPr/>
            <p:nvPr/>
          </p:nvCxnSpPr>
          <p:spPr>
            <a:xfrm rot="5400000" flipH="1" flipV="1">
              <a:off x="1841462" y="4456097"/>
              <a:ext cx="1928827"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733645" y="3276576"/>
              <a:ext cx="428625"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7116" name="Rectangle 12"/>
            <p:cNvSpPr>
              <a:spLocks noChangeArrowheads="1"/>
            </p:cNvSpPr>
            <p:nvPr/>
          </p:nvSpPr>
          <p:spPr bwMode="auto">
            <a:xfrm>
              <a:off x="2624264" y="2968799"/>
              <a:ext cx="652743" cy="307779"/>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000000"/>
                  </a:solidFill>
                  <a:effectLst/>
                  <a:uLnTx/>
                  <a:uFillTx/>
                  <a:latin typeface="Lucida Grande"/>
                  <a:ea typeface="ヒラギノ角ゴ ProN W3"/>
                </a:rPr>
                <a:t>Año 0</a:t>
              </a:r>
              <a:endParaRPr kumimoji="0" lang="es-CL" sz="1400" b="0" i="0" u="none" strike="noStrike" kern="1200" cap="none" spc="0" normalizeH="0" baseline="0" noProof="0">
                <a:ln>
                  <a:noFill/>
                </a:ln>
                <a:solidFill>
                  <a:srgbClr val="000000"/>
                </a:solidFill>
                <a:effectLst/>
                <a:uLnTx/>
                <a:uFillTx/>
                <a:latin typeface="Lucida Grande"/>
                <a:ea typeface="ヒラギノ角ゴ ProN W3"/>
              </a:endParaRPr>
            </a:p>
          </p:txBody>
        </p:sp>
        <p:cxnSp>
          <p:nvCxnSpPr>
            <p:cNvPr id="27" name="Straight Connector 26"/>
            <p:cNvCxnSpPr/>
            <p:nvPr/>
          </p:nvCxnSpPr>
          <p:spPr>
            <a:xfrm flipV="1">
              <a:off x="3233707" y="3133700"/>
              <a:ext cx="1714500" cy="64294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V="1">
              <a:off x="3769487" y="3455173"/>
              <a:ext cx="428628" cy="214312"/>
            </a:xfrm>
            <a:prstGeom prst="straightConnector1">
              <a:avLst/>
            </a:prstGeom>
            <a:ln w="28575">
              <a:solidFill>
                <a:srgbClr val="00B05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flipH="1" flipV="1">
              <a:off x="2555048" y="3812364"/>
              <a:ext cx="857256" cy="500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10800000">
              <a:off x="2662207" y="4062395"/>
              <a:ext cx="428625" cy="214313"/>
            </a:xfrm>
            <a:prstGeom prst="straightConnector1">
              <a:avLst/>
            </a:prstGeom>
            <a:ln w="28575">
              <a:solidFill>
                <a:srgbClr val="00B05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7121" name="Rectangle 19"/>
            <p:cNvSpPr>
              <a:spLocks noChangeArrowheads="1"/>
            </p:cNvSpPr>
            <p:nvPr/>
          </p:nvSpPr>
          <p:spPr bwMode="auto">
            <a:xfrm>
              <a:off x="3090850" y="3990956"/>
              <a:ext cx="1005403" cy="24622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srgbClr val="000000"/>
                  </a:solidFill>
                  <a:effectLst/>
                  <a:uLnTx/>
                  <a:uFillTx/>
                  <a:latin typeface="Lucida Grande"/>
                  <a:ea typeface="ヒラギノ角ゴ ProN W3"/>
                </a:rPr>
                <a:t>Sensibilización</a:t>
              </a:r>
            </a:p>
          </p:txBody>
        </p:sp>
      </p:grpSp>
      <p:sp>
        <p:nvSpPr>
          <p:cNvPr id="47108" name="20 CuadroTexto"/>
          <p:cNvSpPr txBox="1">
            <a:spLocks noChangeArrowheads="1"/>
          </p:cNvSpPr>
          <p:nvPr/>
        </p:nvSpPr>
        <p:spPr bwMode="auto">
          <a:xfrm>
            <a:off x="695325" y="1550169"/>
            <a:ext cx="5452797" cy="4658411"/>
          </a:xfrm>
          <a:prstGeom prst="rect">
            <a:avLst/>
          </a:prstGeom>
          <a:noFill/>
          <a:ln w="9525">
            <a:noFill/>
            <a:miter lim="800000"/>
            <a:headEnd/>
            <a:tailEnd/>
          </a:ln>
        </p:spPr>
        <p:txBody>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s-ES" sz="1200" i="0" u="none" strike="noStrike" kern="1200" cap="none" spc="0" normalizeH="0" baseline="0" noProof="0" dirty="0">
                <a:ln>
                  <a:noFill/>
                </a:ln>
                <a:effectLst/>
                <a:uLnTx/>
                <a:uFillTx/>
                <a:latin typeface="Avenir Next" panose="020B0503020202020204" pitchFamily="34" charset="0"/>
                <a:ea typeface="ヒラギノ角ゴ ProN W3"/>
              </a:rPr>
              <a:t>Para trabajar en forma práctica las etapas de un emprendimiento, se ocupa los casos de negocios, donde se retrata el negocio que queremos hacer y asumimos una curva de cash dadas las proyecciones de flujo y gasto.</a:t>
            </a:r>
          </a:p>
          <a:p>
            <a:pPr marL="0" marR="0" lvl="0" indent="0" algn="l" defTabSz="914400" rtl="0" eaLnBrk="1" fontAlgn="auto" latinLnBrk="0" hangingPunct="1">
              <a:lnSpc>
                <a:spcPct val="114000"/>
              </a:lnSpc>
              <a:spcBef>
                <a:spcPts val="0"/>
              </a:spcBef>
              <a:spcAft>
                <a:spcPts val="0"/>
              </a:spcAft>
              <a:buClrTx/>
              <a:buSzTx/>
              <a:buFontTx/>
              <a:buNone/>
              <a:tabLst/>
              <a:defRPr/>
            </a:pPr>
            <a:endParaRPr kumimoji="0" lang="es-ES" sz="120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ES" sz="1200" b="1" i="0" u="none" strike="noStrike" kern="1200" cap="none" spc="0" normalizeH="0" baseline="0" noProof="0" dirty="0">
                <a:ln>
                  <a:noFill/>
                </a:ln>
                <a:effectLst/>
                <a:uLnTx/>
                <a:uFillTx/>
                <a:latin typeface="Avenir Next" panose="020B0503020202020204" pitchFamily="34" charset="0"/>
                <a:ea typeface="ヒラギノ角ゴ ProN W3"/>
              </a:rPr>
              <a:t>Los casos de negocios</a:t>
            </a:r>
            <a:r>
              <a:rPr kumimoji="0" lang="es-ES" sz="1200" b="0" i="0" u="none" strike="noStrike" kern="1200" cap="none" spc="0" normalizeH="0" baseline="0" noProof="0" dirty="0">
                <a:ln>
                  <a:noFill/>
                </a:ln>
                <a:effectLst/>
                <a:uLnTx/>
                <a:uFillTx/>
                <a:latin typeface="Avenir Next" panose="020B0503020202020204" pitchFamily="34" charset="0"/>
                <a:ea typeface="ヒラギノ角ゴ ProN W3"/>
              </a:rPr>
              <a:t> son iniciativas, emprendimientos y/o proyectos, que provienen o crean unidades de negocios. La labor del equipo de trabajo se divide en:</a:t>
            </a:r>
          </a:p>
          <a:p>
            <a:pPr marL="0" marR="0" lvl="0" indent="0" algn="l" defTabSz="914400" rtl="0" eaLnBrk="1" fontAlgn="auto" latinLnBrk="0" hangingPunct="1">
              <a:lnSpc>
                <a:spcPct val="114000"/>
              </a:lnSpc>
              <a:spcBef>
                <a:spcPts val="0"/>
              </a:spcBef>
              <a:spcAft>
                <a:spcPts val="0"/>
              </a:spcAft>
              <a:buClrTx/>
              <a:buSzTx/>
              <a:buFontTx/>
              <a:buNone/>
              <a:tabLst/>
              <a:defRPr/>
            </a:pPr>
            <a:endParaRPr kumimoji="0" lang="es-ES" sz="12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ES" sz="1200" b="1" i="0" u="none" strike="noStrike" kern="1200" cap="none" spc="0" normalizeH="0" baseline="0" noProof="0" dirty="0">
                <a:ln>
                  <a:noFill/>
                </a:ln>
                <a:effectLst/>
                <a:uLnTx/>
                <a:uFillTx/>
                <a:latin typeface="Avenir Next" panose="020B0503020202020204" pitchFamily="34" charset="0"/>
                <a:ea typeface="ヒラギノ角ゴ ProN W3"/>
              </a:rPr>
              <a:t>Estilizar el caso</a:t>
            </a:r>
            <a:r>
              <a:rPr kumimoji="0" lang="es-ES" sz="1200" b="0" i="0" u="none" strike="noStrike" kern="1200" cap="none" spc="0" normalizeH="0" baseline="0" noProof="0" dirty="0">
                <a:ln>
                  <a:noFill/>
                </a:ln>
                <a:effectLst/>
                <a:uLnTx/>
                <a:uFillTx/>
                <a:latin typeface="Avenir Next" panose="020B0503020202020204" pitchFamily="34" charset="0"/>
                <a:ea typeface="ヒラギノ角ゴ ProN W3"/>
              </a:rPr>
              <a:t>, separarlo, creándole una “personalidad” propia: historia, estrategia, opciones, datos, cifras,</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ES" sz="1200" b="0" i="0" u="none" strike="noStrike" kern="1200" cap="none" spc="0" normalizeH="0" baseline="0" noProof="0" dirty="0">
                <a:ln>
                  <a:noFill/>
                </a:ln>
                <a:effectLst/>
                <a:uLnTx/>
                <a:uFillTx/>
                <a:latin typeface="Avenir Next" panose="020B0503020202020204" pitchFamily="34" charset="0"/>
                <a:ea typeface="ヒラギノ角ゴ ProN W3"/>
              </a:rPr>
              <a:t>indicadores.</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ES" sz="1200" b="1" i="0" u="none" strike="noStrike" kern="1200" cap="none" spc="0" normalizeH="0" baseline="0" noProof="0" dirty="0">
                <a:ln>
                  <a:noFill/>
                </a:ln>
                <a:effectLst/>
                <a:uLnTx/>
                <a:uFillTx/>
                <a:latin typeface="Avenir Next" panose="020B0503020202020204" pitchFamily="34" charset="0"/>
                <a:ea typeface="ヒラギノ角ゴ ProN W3"/>
              </a:rPr>
              <a:t>Crear el caso de negocios</a:t>
            </a:r>
            <a:r>
              <a:rPr kumimoji="0" lang="es-ES" sz="1200" b="0" i="0" u="none" strike="noStrike" kern="1200" cap="none" spc="0" normalizeH="0" baseline="0" noProof="0" dirty="0">
                <a:ln>
                  <a:noFill/>
                </a:ln>
                <a:effectLst/>
                <a:uLnTx/>
                <a:uFillTx/>
                <a:latin typeface="Avenir Next" panose="020B0503020202020204" pitchFamily="34" charset="0"/>
                <a:ea typeface="ヒラギノ角ゴ ProN W3"/>
              </a:rPr>
              <a:t>, dándole una estrategia, propuesta de valor de futuro y táctica propia; y luego proponer métricas, acciones, desafíos para la iniciativa.</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ES" sz="1200" b="1" i="0" u="none" strike="noStrike" kern="1200" cap="none" spc="0" normalizeH="0" baseline="0" noProof="0" dirty="0">
                <a:ln>
                  <a:noFill/>
                </a:ln>
                <a:effectLst/>
                <a:uLnTx/>
                <a:uFillTx/>
                <a:latin typeface="Avenir Next" panose="020B0503020202020204" pitchFamily="34" charset="0"/>
                <a:ea typeface="ヒラギノ角ゴ ProN W3"/>
              </a:rPr>
              <a:t>Proponer táctica de implementación</a:t>
            </a:r>
            <a:r>
              <a:rPr kumimoji="0" lang="es-ES" sz="1200" b="0" i="0" u="none" strike="noStrike" kern="1200" cap="none" spc="0" normalizeH="0" baseline="0" noProof="0" dirty="0">
                <a:ln>
                  <a:noFill/>
                </a:ln>
                <a:effectLst/>
                <a:uLnTx/>
                <a:uFillTx/>
                <a:latin typeface="Avenir Next" panose="020B0503020202020204" pitchFamily="34" charset="0"/>
                <a:ea typeface="ヒラギノ角ゴ ProN W3"/>
              </a:rPr>
              <a:t>, donde se buscan los recursos estratégicos, se deciden las acciones tácticas relevantes, el sistema de control y seguimiento, etc.</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ES" sz="1200" b="1" i="0" u="none" strike="noStrike" kern="1200" cap="none" spc="0" normalizeH="0" baseline="0" noProof="0" dirty="0">
                <a:ln>
                  <a:noFill/>
                </a:ln>
                <a:effectLst/>
                <a:uLnTx/>
                <a:uFillTx/>
                <a:latin typeface="Avenir Next" panose="020B0503020202020204" pitchFamily="34" charset="0"/>
                <a:ea typeface="ヒラギノ角ゴ ProN W3"/>
              </a:rPr>
              <a:t>Apoyo a la puesta en marcha </a:t>
            </a:r>
            <a:r>
              <a:rPr kumimoji="0" lang="es-ES" sz="1200" b="0" i="0" u="none" strike="noStrike" kern="1200" cap="none" spc="0" normalizeH="0" baseline="0" noProof="0" dirty="0">
                <a:ln>
                  <a:noFill/>
                </a:ln>
                <a:effectLst/>
                <a:uLnTx/>
                <a:uFillTx/>
                <a:latin typeface="Avenir Next" panose="020B0503020202020204" pitchFamily="34" charset="0"/>
                <a:ea typeface="ヒラギノ角ゴ ProN W3"/>
              </a:rPr>
              <a:t>del caso de negocios.</a:t>
            </a:r>
          </a:p>
          <a:p>
            <a:pPr marL="0" marR="0" lvl="0" indent="0" algn="l" defTabSz="914400" rtl="0" eaLnBrk="1" fontAlgn="auto" latinLnBrk="0" hangingPunct="1">
              <a:lnSpc>
                <a:spcPct val="114000"/>
              </a:lnSpc>
              <a:spcBef>
                <a:spcPts val="0"/>
              </a:spcBef>
              <a:spcAft>
                <a:spcPts val="0"/>
              </a:spcAft>
              <a:buClrTx/>
              <a:buSzTx/>
              <a:buFontTx/>
              <a:buNone/>
              <a:tabLst/>
              <a:defRPr/>
            </a:pPr>
            <a:endParaRPr kumimoji="0" lang="es-CL" sz="12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1200" b="0" i="0" u="none" strike="noStrike" kern="1200" cap="none" spc="0" normalizeH="0" baseline="0" noProof="0" dirty="0">
                <a:ln>
                  <a:noFill/>
                </a:ln>
                <a:effectLst/>
                <a:uLnTx/>
                <a:uFillTx/>
                <a:latin typeface="Avenir Next" panose="020B0503020202020204" pitchFamily="34" charset="0"/>
                <a:ea typeface="ヒラギノ角ゴ ProN W3"/>
              </a:rPr>
              <a:t>Ejemplo: Iniciativa que busca en 3 años crecer en MM$ 800.- de ventas a un clúster específico. Se crea el proyecto, se deciden los recursos, se fija la métrica, equipo, incentivos, etc.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3">
            <a:extLst>
              <a:ext uri="{FF2B5EF4-FFF2-40B4-BE49-F238E27FC236}">
                <a16:creationId xmlns:a16="http://schemas.microsoft.com/office/drawing/2014/main" id="{F2D7EA7A-966B-477E-87EF-D2627429593F}"/>
              </a:ext>
            </a:extLst>
          </p:cNvPr>
          <p:cNvGraphicFramePr/>
          <p:nvPr/>
        </p:nvGraphicFramePr>
        <p:xfrm>
          <a:off x="863600" y="1174750"/>
          <a:ext cx="5715008" cy="5133974"/>
        </p:xfrm>
        <a:graphic>
          <a:graphicData uri="http://schemas.openxmlformats.org/drawingml/2006/chart">
            <c:chart xmlns:c="http://schemas.openxmlformats.org/drawingml/2006/chart" xmlns:r="http://schemas.openxmlformats.org/officeDocument/2006/relationships" r:id="rId2"/>
          </a:graphicData>
        </a:graphic>
      </p:graphicFrame>
      <p:sp>
        <p:nvSpPr>
          <p:cNvPr id="19" name="Right Brace 4">
            <a:extLst>
              <a:ext uri="{FF2B5EF4-FFF2-40B4-BE49-F238E27FC236}">
                <a16:creationId xmlns:a16="http://schemas.microsoft.com/office/drawing/2014/main" id="{52697D87-A4D1-4358-9703-DACE379E3F63}"/>
              </a:ext>
            </a:extLst>
          </p:cNvPr>
          <p:cNvSpPr/>
          <p:nvPr/>
        </p:nvSpPr>
        <p:spPr>
          <a:xfrm>
            <a:off x="2649539" y="3746500"/>
            <a:ext cx="142875" cy="1143000"/>
          </a:xfrm>
          <a:prstGeom prst="rightBrac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srgbClr val="000000"/>
              </a:solidFill>
              <a:effectLst/>
              <a:uLnTx/>
              <a:uFillTx/>
              <a:latin typeface="Lucida Grande"/>
              <a:ea typeface="ヒラギノ角ゴ ProN W3"/>
            </a:endParaRPr>
          </a:p>
        </p:txBody>
      </p:sp>
      <p:sp>
        <p:nvSpPr>
          <p:cNvPr id="20" name="Oval 5">
            <a:extLst>
              <a:ext uri="{FF2B5EF4-FFF2-40B4-BE49-F238E27FC236}">
                <a16:creationId xmlns:a16="http://schemas.microsoft.com/office/drawing/2014/main" id="{1DA216BC-F2F4-43B4-8C21-92BDB8E0B3AC}"/>
              </a:ext>
            </a:extLst>
          </p:cNvPr>
          <p:cNvSpPr/>
          <p:nvPr/>
        </p:nvSpPr>
        <p:spPr>
          <a:xfrm>
            <a:off x="2792413" y="4032250"/>
            <a:ext cx="285750" cy="285750"/>
          </a:xfrm>
          <a:prstGeom prst="ellipse">
            <a:avLst/>
          </a:prstGeom>
          <a:solidFill>
            <a:srgbClr val="E33B1F">
              <a:alpha val="6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FFFFFF"/>
                </a:solidFill>
                <a:effectLst/>
                <a:uLnTx/>
                <a:uFillTx/>
                <a:latin typeface="Lucida Grande"/>
                <a:ea typeface="ヒラギノ角ゴ ProN W3"/>
              </a:rPr>
              <a:t>1</a:t>
            </a:r>
          </a:p>
        </p:txBody>
      </p:sp>
      <p:sp>
        <p:nvSpPr>
          <p:cNvPr id="21" name="Oval 6">
            <a:extLst>
              <a:ext uri="{FF2B5EF4-FFF2-40B4-BE49-F238E27FC236}">
                <a16:creationId xmlns:a16="http://schemas.microsoft.com/office/drawing/2014/main" id="{1564D6D5-D9A5-4AC6-A2AC-08E28A1BAAC3}"/>
              </a:ext>
            </a:extLst>
          </p:cNvPr>
          <p:cNvSpPr/>
          <p:nvPr/>
        </p:nvSpPr>
        <p:spPr>
          <a:xfrm>
            <a:off x="6864350" y="1674813"/>
            <a:ext cx="285750" cy="285750"/>
          </a:xfrm>
          <a:prstGeom prst="ellipse">
            <a:avLst/>
          </a:prstGeom>
          <a:solidFill>
            <a:srgbClr val="E33B1F">
              <a:alpha val="6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FFFFFF"/>
                </a:solidFill>
                <a:effectLst/>
                <a:uLnTx/>
                <a:uFillTx/>
                <a:latin typeface="Lucida Grande"/>
                <a:ea typeface="ヒラギノ角ゴ ProN W3"/>
              </a:rPr>
              <a:t>1</a:t>
            </a:r>
          </a:p>
        </p:txBody>
      </p:sp>
      <p:sp>
        <p:nvSpPr>
          <p:cNvPr id="22" name="Left Brace 8">
            <a:extLst>
              <a:ext uri="{FF2B5EF4-FFF2-40B4-BE49-F238E27FC236}">
                <a16:creationId xmlns:a16="http://schemas.microsoft.com/office/drawing/2014/main" id="{41AD711F-DE9E-44D0-B6AF-E72085EC31ED}"/>
              </a:ext>
            </a:extLst>
          </p:cNvPr>
          <p:cNvSpPr/>
          <p:nvPr/>
        </p:nvSpPr>
        <p:spPr>
          <a:xfrm>
            <a:off x="2292351" y="3746501"/>
            <a:ext cx="214313" cy="1857375"/>
          </a:xfrm>
          <a:prstGeom prst="leftBrac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a:ln>
                <a:noFill/>
              </a:ln>
              <a:solidFill>
                <a:srgbClr val="000000"/>
              </a:solidFill>
              <a:effectLst/>
              <a:uLnTx/>
              <a:uFillTx/>
              <a:latin typeface="Lucida Grande"/>
              <a:ea typeface="ヒラギノ角ゴ ProN W3"/>
            </a:endParaRPr>
          </a:p>
        </p:txBody>
      </p:sp>
      <p:sp>
        <p:nvSpPr>
          <p:cNvPr id="23" name="Oval 9">
            <a:extLst>
              <a:ext uri="{FF2B5EF4-FFF2-40B4-BE49-F238E27FC236}">
                <a16:creationId xmlns:a16="http://schemas.microsoft.com/office/drawing/2014/main" id="{276B1A85-CCC6-4852-8FF8-D5C4CA9C6432}"/>
              </a:ext>
            </a:extLst>
          </p:cNvPr>
          <p:cNvSpPr/>
          <p:nvPr/>
        </p:nvSpPr>
        <p:spPr>
          <a:xfrm>
            <a:off x="7364413" y="2960688"/>
            <a:ext cx="285750" cy="285750"/>
          </a:xfrm>
          <a:prstGeom prst="ellipse">
            <a:avLst/>
          </a:prstGeom>
          <a:solidFill>
            <a:srgbClr val="E33B1F">
              <a:alpha val="6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FFFFFF"/>
                </a:solidFill>
                <a:effectLst/>
                <a:uLnTx/>
                <a:uFillTx/>
                <a:latin typeface="Lucida Grande"/>
                <a:ea typeface="ヒラギノ角ゴ ProN W3"/>
              </a:rPr>
              <a:t>2</a:t>
            </a:r>
          </a:p>
        </p:txBody>
      </p:sp>
      <p:sp>
        <p:nvSpPr>
          <p:cNvPr id="24" name="TextBox 10">
            <a:extLst>
              <a:ext uri="{FF2B5EF4-FFF2-40B4-BE49-F238E27FC236}">
                <a16:creationId xmlns:a16="http://schemas.microsoft.com/office/drawing/2014/main" id="{9E4112A7-B728-4011-A5EA-E87E18B70D9F}"/>
              </a:ext>
            </a:extLst>
          </p:cNvPr>
          <p:cNvSpPr txBox="1">
            <a:spLocks noChangeArrowheads="1"/>
          </p:cNvSpPr>
          <p:nvPr/>
        </p:nvSpPr>
        <p:spPr bwMode="auto">
          <a:xfrm>
            <a:off x="7650164" y="1603375"/>
            <a:ext cx="2019616" cy="1057662"/>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1400" b="0" i="0" u="none" strike="noStrike" kern="1200" cap="none" spc="0" normalizeH="0" baseline="0" noProof="0" dirty="0">
                <a:ln>
                  <a:noFill/>
                </a:ln>
                <a:solidFill>
                  <a:srgbClr val="000000"/>
                </a:solidFill>
                <a:effectLst/>
                <a:uLnTx/>
                <a:uFillTx/>
                <a:latin typeface="+mn-lt"/>
                <a:ea typeface="ヒラギノ角ゴ ProN W3"/>
              </a:rPr>
              <a:t>Flujos irreversibles productos de los costos  de operación fijos del negocio</a:t>
            </a:r>
          </a:p>
        </p:txBody>
      </p:sp>
      <p:sp>
        <p:nvSpPr>
          <p:cNvPr id="25" name="Oval 11">
            <a:extLst>
              <a:ext uri="{FF2B5EF4-FFF2-40B4-BE49-F238E27FC236}">
                <a16:creationId xmlns:a16="http://schemas.microsoft.com/office/drawing/2014/main" id="{AE6FCA62-CD05-4613-B9BA-C09CEB8C5D48}"/>
              </a:ext>
            </a:extLst>
          </p:cNvPr>
          <p:cNvSpPr/>
          <p:nvPr/>
        </p:nvSpPr>
        <p:spPr>
          <a:xfrm>
            <a:off x="6864350" y="2960688"/>
            <a:ext cx="285750" cy="285750"/>
          </a:xfrm>
          <a:prstGeom prst="ellipse">
            <a:avLst/>
          </a:prstGeom>
          <a:solidFill>
            <a:srgbClr val="E33B1F">
              <a:alpha val="6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FFFFFF"/>
                </a:solidFill>
                <a:effectLst/>
                <a:uLnTx/>
                <a:uFillTx/>
                <a:latin typeface="Lucida Grande"/>
                <a:ea typeface="ヒラギノ角ゴ ProN W3"/>
              </a:rPr>
              <a:t>1</a:t>
            </a:r>
          </a:p>
        </p:txBody>
      </p:sp>
      <p:sp>
        <p:nvSpPr>
          <p:cNvPr id="26" name="Rectangle 14">
            <a:extLst>
              <a:ext uri="{FF2B5EF4-FFF2-40B4-BE49-F238E27FC236}">
                <a16:creationId xmlns:a16="http://schemas.microsoft.com/office/drawing/2014/main" id="{44CB2207-0479-4D6C-8B39-FD02B8EF5048}"/>
              </a:ext>
            </a:extLst>
          </p:cNvPr>
          <p:cNvSpPr>
            <a:spLocks noChangeArrowheads="1"/>
          </p:cNvSpPr>
          <p:nvPr/>
        </p:nvSpPr>
        <p:spPr bwMode="auto">
          <a:xfrm>
            <a:off x="7150100" y="2889250"/>
            <a:ext cx="277640" cy="369332"/>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a:ln>
                  <a:noFill/>
                </a:ln>
                <a:solidFill>
                  <a:srgbClr val="000000"/>
                </a:solidFill>
                <a:effectLst/>
                <a:uLnTx/>
                <a:uFillTx/>
                <a:latin typeface="Lucida Grande"/>
                <a:ea typeface="ヒラギノ角ゴ ProN W3"/>
              </a:rPr>
              <a:t>-</a:t>
            </a:r>
          </a:p>
        </p:txBody>
      </p:sp>
      <p:sp>
        <p:nvSpPr>
          <p:cNvPr id="27" name="TextBox 15">
            <a:extLst>
              <a:ext uri="{FF2B5EF4-FFF2-40B4-BE49-F238E27FC236}">
                <a16:creationId xmlns:a16="http://schemas.microsoft.com/office/drawing/2014/main" id="{BB6E146C-47D2-414E-A526-14810E033EAF}"/>
              </a:ext>
            </a:extLst>
          </p:cNvPr>
          <p:cNvSpPr txBox="1">
            <a:spLocks noChangeArrowheads="1"/>
          </p:cNvSpPr>
          <p:nvPr/>
        </p:nvSpPr>
        <p:spPr bwMode="auto">
          <a:xfrm>
            <a:off x="7721600" y="2889251"/>
            <a:ext cx="2025370" cy="2039982"/>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1400" b="0" i="0" u="none" strike="noStrike" kern="1200" cap="none" spc="0" normalizeH="0" baseline="0" noProof="0">
                <a:ln>
                  <a:noFill/>
                </a:ln>
                <a:solidFill>
                  <a:srgbClr val="000000"/>
                </a:solidFill>
                <a:effectLst/>
                <a:uLnTx/>
                <a:uFillTx/>
                <a:latin typeface="+mn-lt"/>
                <a:ea typeface="ヒラギノ角ゴ ProN W3"/>
              </a:rPr>
              <a:t>Flujos recuperables </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1400" b="0" i="0" u="none" strike="noStrike" kern="1200" cap="none" spc="0" normalizeH="0" baseline="0" noProof="0">
                <a:ln>
                  <a:noFill/>
                </a:ln>
                <a:solidFill>
                  <a:srgbClr val="000000"/>
                </a:solidFill>
                <a:effectLst/>
                <a:uLnTx/>
                <a:uFillTx/>
                <a:latin typeface="+mn-lt"/>
                <a:ea typeface="ヒラギノ角ゴ ProN W3"/>
              </a:rPr>
              <a:t>si se cancela u opta </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1400" b="0" i="0" u="none" strike="noStrike" kern="1200" cap="none" spc="0" normalizeH="0" baseline="0" noProof="0">
                <a:ln>
                  <a:noFill/>
                </a:ln>
                <a:solidFill>
                  <a:srgbClr val="000000"/>
                </a:solidFill>
                <a:effectLst/>
                <a:uLnTx/>
                <a:uFillTx/>
                <a:latin typeface="+mn-lt"/>
                <a:ea typeface="ヒラギノ角ゴ ProN W3"/>
              </a:rPr>
              <a:t>por detener/reducir la operación y ejecución de contratos.  Riesgo real </a:t>
            </a:r>
            <a:r>
              <a:rPr kumimoji="0" lang="es-CL" sz="1400" b="0" i="0" u="none" strike="noStrike" kern="1200" cap="none" spc="0" normalizeH="0" baseline="0" noProof="0">
                <a:ln>
                  <a:noFill/>
                </a:ln>
                <a:solidFill>
                  <a:srgbClr val="000000"/>
                </a:solidFill>
                <a:effectLst/>
                <a:uLnTx/>
                <a:uFillTx/>
                <a:latin typeface="+mn-lt"/>
                <a:ea typeface="ヒラギノ角ゴ ProN W3"/>
                <a:sym typeface="Wingdings" pitchFamily="2" charset="2"/>
              </a:rPr>
              <a:t>de la inversión MM$ 106</a:t>
            </a:r>
            <a:endParaRPr kumimoji="0" lang="es-CL" sz="1400" b="0" i="0" u="none" strike="noStrike" kern="1200" cap="none" spc="0" normalizeH="0" baseline="0" noProof="0">
              <a:ln>
                <a:noFill/>
              </a:ln>
              <a:solidFill>
                <a:srgbClr val="000000"/>
              </a:solidFill>
              <a:effectLst/>
              <a:uLnTx/>
              <a:uFillTx/>
              <a:latin typeface="+mn-lt"/>
              <a:ea typeface="ヒラギノ角ゴ ProN W3"/>
            </a:endParaRPr>
          </a:p>
        </p:txBody>
      </p:sp>
      <p:sp>
        <p:nvSpPr>
          <p:cNvPr id="29" name="Oval 18">
            <a:extLst>
              <a:ext uri="{FF2B5EF4-FFF2-40B4-BE49-F238E27FC236}">
                <a16:creationId xmlns:a16="http://schemas.microsoft.com/office/drawing/2014/main" id="{4E56BF6A-5C82-4621-BDC5-C0DC3198D2E5}"/>
              </a:ext>
            </a:extLst>
          </p:cNvPr>
          <p:cNvSpPr/>
          <p:nvPr/>
        </p:nvSpPr>
        <p:spPr>
          <a:xfrm>
            <a:off x="2078038" y="4746625"/>
            <a:ext cx="285750" cy="285750"/>
          </a:xfrm>
          <a:prstGeom prst="ellipse">
            <a:avLst/>
          </a:prstGeom>
          <a:solidFill>
            <a:srgbClr val="E33B1F">
              <a:alpha val="6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800" b="0" i="0" u="none" strike="noStrike" kern="1200" cap="none" spc="0" normalizeH="0" baseline="0" noProof="0" dirty="0">
                <a:ln>
                  <a:noFill/>
                </a:ln>
                <a:solidFill>
                  <a:srgbClr val="FFFFFF"/>
                </a:solidFill>
                <a:effectLst/>
                <a:uLnTx/>
                <a:uFillTx/>
                <a:latin typeface="Lucida Grande"/>
                <a:ea typeface="ヒラギノ角ゴ ProN W3"/>
              </a:rPr>
              <a:t>2</a:t>
            </a:r>
          </a:p>
        </p:txBody>
      </p:sp>
      <p:sp>
        <p:nvSpPr>
          <p:cNvPr id="30" name="Rectangle 19">
            <a:extLst>
              <a:ext uri="{FF2B5EF4-FFF2-40B4-BE49-F238E27FC236}">
                <a16:creationId xmlns:a16="http://schemas.microsoft.com/office/drawing/2014/main" id="{D073FBB8-16AA-4319-897E-10357AE09E21}"/>
              </a:ext>
            </a:extLst>
          </p:cNvPr>
          <p:cNvSpPr>
            <a:spLocks noChangeArrowheads="1"/>
          </p:cNvSpPr>
          <p:nvPr/>
        </p:nvSpPr>
        <p:spPr bwMode="auto">
          <a:xfrm>
            <a:off x="1435101" y="1603376"/>
            <a:ext cx="607859" cy="276999"/>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a:ln>
                  <a:noFill/>
                </a:ln>
                <a:solidFill>
                  <a:srgbClr val="000000"/>
                </a:solidFill>
                <a:effectLst/>
                <a:uLnTx/>
                <a:uFillTx/>
                <a:latin typeface="Lucida Grande"/>
                <a:ea typeface="ヒラギノ角ゴ ProN W3"/>
              </a:rPr>
              <a:t>Zoom</a:t>
            </a:r>
          </a:p>
        </p:txBody>
      </p:sp>
    </p:spTree>
    <p:extLst>
      <p:ext uri="{BB962C8B-B14F-4D97-AF65-F5344CB8AC3E}">
        <p14:creationId xmlns:p14="http://schemas.microsoft.com/office/powerpoint/2010/main" val="738256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F2249F7-3D6B-F6DE-99F4-62F9C6BCA080}"/>
              </a:ext>
            </a:extLst>
          </p:cNvPr>
          <p:cNvSpPr>
            <a:spLocks noGrp="1"/>
          </p:cNvSpPr>
          <p:nvPr>
            <p:ph type="title"/>
          </p:nvPr>
        </p:nvSpPr>
        <p:spPr/>
        <p:txBody>
          <a:bodyPr/>
          <a:lstStyle/>
          <a:p>
            <a:r>
              <a:rPr lang="es-CL" dirty="0"/>
              <a:t>¿Qué son las rondas de inversión?</a:t>
            </a:r>
          </a:p>
        </p:txBody>
      </p:sp>
    </p:spTree>
    <p:extLst>
      <p:ext uri="{BB962C8B-B14F-4D97-AF65-F5344CB8AC3E}">
        <p14:creationId xmlns:p14="http://schemas.microsoft.com/office/powerpoint/2010/main" val="3538594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62A381-3B9F-C457-C4B3-224FEBBBAE8F}"/>
              </a:ext>
            </a:extLst>
          </p:cNvPr>
          <p:cNvSpPr txBox="1"/>
          <p:nvPr/>
        </p:nvSpPr>
        <p:spPr>
          <a:xfrm>
            <a:off x="663218" y="547642"/>
            <a:ext cx="10853868" cy="523220"/>
          </a:xfrm>
          <a:prstGeom prst="rect">
            <a:avLst/>
          </a:prstGeom>
          <a:noFill/>
        </p:spPr>
        <p:txBody>
          <a:bodyPr wrap="square" rtlCol="0">
            <a:spAutoFit/>
          </a:bodyPr>
          <a:lstStyle/>
          <a:p>
            <a:pPr algn="ctr"/>
            <a:r>
              <a:rPr lang="es-ES" sz="2800" dirty="0">
                <a:latin typeface="Montserrat SemiBold" pitchFamily="2" charset="0"/>
              </a:rPr>
              <a:t>Rondas de financiamiento</a:t>
            </a:r>
            <a:endParaRPr lang="es-CL" sz="2800" dirty="0">
              <a:latin typeface="Montserrat SemiBold" pitchFamily="2" charset="0"/>
            </a:endParaRPr>
          </a:p>
        </p:txBody>
      </p:sp>
      <p:sp>
        <p:nvSpPr>
          <p:cNvPr id="3" name="CuadroTexto 2">
            <a:extLst>
              <a:ext uri="{FF2B5EF4-FFF2-40B4-BE49-F238E27FC236}">
                <a16:creationId xmlns:a16="http://schemas.microsoft.com/office/drawing/2014/main" id="{D6083FB8-FE22-8DC0-2D19-9D7D640CFCFC}"/>
              </a:ext>
            </a:extLst>
          </p:cNvPr>
          <p:cNvSpPr txBox="1"/>
          <p:nvPr/>
        </p:nvSpPr>
        <p:spPr>
          <a:xfrm>
            <a:off x="663218" y="1592920"/>
            <a:ext cx="6107696" cy="4801314"/>
          </a:xfrm>
          <a:prstGeom prst="rect">
            <a:avLst/>
          </a:prstGeom>
          <a:noFill/>
        </p:spPr>
        <p:txBody>
          <a:bodyPr wrap="square">
            <a:spAutoFit/>
          </a:bodyPr>
          <a:lstStyle/>
          <a:p>
            <a:pPr algn="just"/>
            <a:r>
              <a:rPr lang="es-ES" dirty="0">
                <a:latin typeface="Avenir Next" panose="020B0503020202020204" pitchFamily="34" charset="0"/>
              </a:rPr>
              <a:t>Una empresa de alto crecimiento, con posibilidad de expandirse, no puede crecer a todos los mercados que le permite su potencial, es decir, podría estar en más mercados y/o categorías de productos o haciendo innovaciones, que lo que le permite su acceso a capital propio, y por esto, sale a buscar capital de inversión. Este tipo de crecimiento es llamado inorgánico, pues necesita de fuerzas externas para hacer avances y transformaciones que se sale de una lógica “orgánica” de expansión.</a:t>
            </a:r>
          </a:p>
          <a:p>
            <a:pPr algn="just"/>
            <a:endParaRPr lang="es-ES" dirty="0">
              <a:latin typeface="Avenir Next" panose="020B0503020202020204" pitchFamily="34" charset="0"/>
            </a:endParaRPr>
          </a:p>
          <a:p>
            <a:pPr algn="just"/>
            <a:r>
              <a:rPr lang="es-ES" dirty="0">
                <a:latin typeface="Avenir Next" panose="020B0503020202020204" pitchFamily="34" charset="0"/>
              </a:rPr>
              <a:t>La lógica de rondas de financiamiento es coincidente con las etapas, pero muestra más detenidamente los peldaños desde el punto de vista de las fuentes de inversión, muestra las características, patrones de inversión y que se necesita para conquistar cada fuente de financiamiento.</a:t>
            </a:r>
          </a:p>
        </p:txBody>
      </p:sp>
    </p:spTree>
    <p:extLst>
      <p:ext uri="{BB962C8B-B14F-4D97-AF65-F5344CB8AC3E}">
        <p14:creationId xmlns:p14="http://schemas.microsoft.com/office/powerpoint/2010/main" val="1368089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732699"/>
            <a:ext cx="9852382" cy="523220"/>
          </a:xfrm>
          <a:prstGeom prst="rect">
            <a:avLst/>
          </a:prstGeom>
          <a:noFill/>
        </p:spPr>
        <p:txBody>
          <a:bodyPr wrap="square" rtlCol="0">
            <a:spAutoFit/>
          </a:bodyPr>
          <a:lstStyle/>
          <a:p>
            <a:r>
              <a:rPr lang="es-ES" sz="2800" dirty="0">
                <a:latin typeface="Montserrat SemiBold" pitchFamily="2" charset="0"/>
              </a:rPr>
              <a:t>Rondas de financiamiento</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592920"/>
            <a:ext cx="10865564" cy="1569660"/>
          </a:xfrm>
          <a:prstGeom prst="rect">
            <a:avLst/>
          </a:prstGeom>
          <a:noFill/>
        </p:spPr>
        <p:txBody>
          <a:bodyPr wrap="square">
            <a:spAutoFit/>
          </a:bodyPr>
          <a:lstStyle/>
          <a:p>
            <a:pPr algn="just"/>
            <a:r>
              <a:rPr lang="es-ES" sz="1600" dirty="0">
                <a:latin typeface="Montserrat" panose="00000500000000000000" pitchFamily="2" charset="0"/>
              </a:rPr>
              <a:t>Se trata del proceso por el cual un startup, gracias a la participación de inversores, obtiene una cantidad de capital determinada que necesita para el desarrollo de su negocio, a cambio de una cierta participación de la empresa.</a:t>
            </a:r>
          </a:p>
          <a:p>
            <a:pPr algn="just"/>
            <a:endParaRPr lang="es-ES" sz="1600" dirty="0">
              <a:latin typeface="Montserrat" panose="00000500000000000000" pitchFamily="2" charset="0"/>
            </a:endParaRPr>
          </a:p>
          <a:p>
            <a:pPr algn="just"/>
            <a:r>
              <a:rPr lang="es-ES" sz="1600" dirty="0">
                <a:latin typeface="Montserrat" panose="00000500000000000000" pitchFamily="2" charset="0"/>
              </a:rPr>
              <a:t>Estos inversores pasan a convertirse en socios que adquieren una parte del capital social de la empresa y, por tanto, el control de una parte de esta. </a:t>
            </a:r>
          </a:p>
        </p:txBody>
      </p:sp>
      <p:sp>
        <p:nvSpPr>
          <p:cNvPr id="8" name="CuadroTexto 7">
            <a:extLst>
              <a:ext uri="{FF2B5EF4-FFF2-40B4-BE49-F238E27FC236}">
                <a16:creationId xmlns:a16="http://schemas.microsoft.com/office/drawing/2014/main" id="{51AE3C1A-EA0E-4631-B125-DB936D28020E}"/>
              </a:ext>
            </a:extLst>
          </p:cNvPr>
          <p:cNvSpPr txBox="1"/>
          <p:nvPr/>
        </p:nvSpPr>
        <p:spPr>
          <a:xfrm>
            <a:off x="663218" y="6136070"/>
            <a:ext cx="10865564" cy="246221"/>
          </a:xfrm>
          <a:prstGeom prst="rect">
            <a:avLst/>
          </a:prstGeom>
          <a:noFill/>
        </p:spPr>
        <p:txBody>
          <a:bodyPr wrap="square">
            <a:spAutoFit/>
          </a:bodyPr>
          <a:lstStyle/>
          <a:p>
            <a:r>
              <a:rPr lang="es-CL" sz="1000" dirty="0">
                <a:latin typeface="Montserrat" panose="00000500000000000000" pitchFamily="2" charset="0"/>
              </a:rPr>
              <a:t>Fuente: </a:t>
            </a:r>
            <a:r>
              <a:rPr lang="es-CL" sz="1000" dirty="0" err="1">
                <a:latin typeface="Montserrat" panose="00000500000000000000" pitchFamily="2" charset="0"/>
              </a:rPr>
              <a:t>Startupeable</a:t>
            </a:r>
            <a:r>
              <a:rPr lang="es-CL" sz="1000" dirty="0">
                <a:latin typeface="Montserrat" panose="00000500000000000000" pitchFamily="2" charset="0"/>
              </a:rPr>
              <a:t> (2020)</a:t>
            </a:r>
          </a:p>
        </p:txBody>
      </p:sp>
      <p:sp>
        <p:nvSpPr>
          <p:cNvPr id="3" name="CuadroTexto 2">
            <a:extLst>
              <a:ext uri="{FF2B5EF4-FFF2-40B4-BE49-F238E27FC236}">
                <a16:creationId xmlns:a16="http://schemas.microsoft.com/office/drawing/2014/main" id="{F30A73B4-CEE2-8A31-1A02-3B68165ED729}"/>
              </a:ext>
            </a:extLst>
          </p:cNvPr>
          <p:cNvSpPr txBox="1"/>
          <p:nvPr/>
        </p:nvSpPr>
        <p:spPr>
          <a:xfrm>
            <a:off x="663219" y="3472520"/>
            <a:ext cx="5432782" cy="2339102"/>
          </a:xfrm>
          <a:prstGeom prst="rect">
            <a:avLst/>
          </a:prstGeom>
          <a:noFill/>
        </p:spPr>
        <p:txBody>
          <a:bodyPr wrap="square">
            <a:spAutoFit/>
          </a:bodyPr>
          <a:lstStyle/>
          <a:p>
            <a:pPr algn="just"/>
            <a:r>
              <a:rPr lang="es-ES" sz="1600" dirty="0">
                <a:latin typeface="Montserrat" panose="00000500000000000000" pitchFamily="2" charset="0"/>
              </a:rPr>
              <a:t>Los startups pasan por distintas fases de crecimiento. Pues bien, con la financiación ocurre algo parecido. Los startups requieren diferentes inversiones en función de su crecimiento.</a:t>
            </a:r>
          </a:p>
          <a:p>
            <a:pPr algn="just"/>
            <a:endParaRPr lang="es-ES" sz="1600" dirty="0">
              <a:latin typeface="Montserrat" panose="00000500000000000000" pitchFamily="2" charset="0"/>
            </a:endParaRPr>
          </a:p>
          <a:p>
            <a:pPr algn="just"/>
            <a:r>
              <a:rPr lang="es-ES" sz="1600" dirty="0">
                <a:latin typeface="Montserrat" panose="00000500000000000000" pitchFamily="2" charset="0"/>
              </a:rPr>
              <a:t>El ciclo de los distintos tipos de rondas de financiación comienza con el Capital Semilla y continúa con el Venture Capital Serie A, el Serie B…</a:t>
            </a:r>
          </a:p>
          <a:p>
            <a:pPr algn="just"/>
            <a:endParaRPr lang="es-ES" sz="1600" dirty="0">
              <a:latin typeface="Montserrat" panose="00000500000000000000" pitchFamily="2" charset="0"/>
            </a:endParaRPr>
          </a:p>
        </p:txBody>
      </p:sp>
      <p:pic>
        <p:nvPicPr>
          <p:cNvPr id="5" name="Picture 6">
            <a:extLst>
              <a:ext uri="{FF2B5EF4-FFF2-40B4-BE49-F238E27FC236}">
                <a16:creationId xmlns:a16="http://schemas.microsoft.com/office/drawing/2014/main" id="{571EB844-D388-84FC-B5A1-297D0E85A1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8303" y="3017535"/>
            <a:ext cx="4878372" cy="3249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507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732699"/>
            <a:ext cx="9852382" cy="523220"/>
          </a:xfrm>
          <a:prstGeom prst="rect">
            <a:avLst/>
          </a:prstGeom>
          <a:noFill/>
        </p:spPr>
        <p:txBody>
          <a:bodyPr wrap="square" rtlCol="0">
            <a:spAutoFit/>
          </a:bodyPr>
          <a:lstStyle/>
          <a:p>
            <a:r>
              <a:rPr lang="es-ES" sz="2800" dirty="0">
                <a:latin typeface="Montserrat SemiBold" pitchFamily="2" charset="0"/>
              </a:rPr>
              <a:t>Rondas de financiamiento</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592920"/>
            <a:ext cx="10865564" cy="1077218"/>
          </a:xfrm>
          <a:prstGeom prst="rect">
            <a:avLst/>
          </a:prstGeom>
          <a:noFill/>
        </p:spPr>
        <p:txBody>
          <a:bodyPr wrap="square">
            <a:spAutoFit/>
          </a:bodyPr>
          <a:lstStyle/>
          <a:p>
            <a:pPr algn="just"/>
            <a:r>
              <a:rPr lang="es-ES" sz="1600" dirty="0">
                <a:latin typeface="Montserrat" panose="00000500000000000000" pitchFamily="2" charset="0"/>
              </a:rPr>
              <a:t>Cada ronda de financiamiento se diferencia tanto en el capital levantado, como en el porcentaje de la empresa cedido al inversionista, a continuación, se presenta una tabla resumen con la estimación de estos valores en Latinoamérica: </a:t>
            </a:r>
          </a:p>
          <a:p>
            <a:pPr algn="just"/>
            <a:endParaRPr lang="es-ES" sz="1600" dirty="0">
              <a:latin typeface="Montserrat" panose="00000500000000000000" pitchFamily="2" charset="0"/>
            </a:endParaRPr>
          </a:p>
        </p:txBody>
      </p:sp>
      <p:sp>
        <p:nvSpPr>
          <p:cNvPr id="8" name="CuadroTexto 7">
            <a:extLst>
              <a:ext uri="{FF2B5EF4-FFF2-40B4-BE49-F238E27FC236}">
                <a16:creationId xmlns:a16="http://schemas.microsoft.com/office/drawing/2014/main" id="{51AE3C1A-EA0E-4631-B125-DB936D28020E}"/>
              </a:ext>
            </a:extLst>
          </p:cNvPr>
          <p:cNvSpPr txBox="1"/>
          <p:nvPr/>
        </p:nvSpPr>
        <p:spPr>
          <a:xfrm>
            <a:off x="663218" y="5850320"/>
            <a:ext cx="10865564" cy="246221"/>
          </a:xfrm>
          <a:prstGeom prst="rect">
            <a:avLst/>
          </a:prstGeom>
          <a:noFill/>
        </p:spPr>
        <p:txBody>
          <a:bodyPr wrap="square">
            <a:spAutoFit/>
          </a:bodyPr>
          <a:lstStyle/>
          <a:p>
            <a:r>
              <a:rPr lang="es-CL" sz="1000" dirty="0">
                <a:latin typeface="Montserrat" panose="00000500000000000000" pitchFamily="2" charset="0"/>
              </a:rPr>
              <a:t>Fuente: XXXXX</a:t>
            </a:r>
          </a:p>
        </p:txBody>
      </p:sp>
      <p:graphicFrame>
        <p:nvGraphicFramePr>
          <p:cNvPr id="6" name="Tabla 30">
            <a:extLst>
              <a:ext uri="{FF2B5EF4-FFF2-40B4-BE49-F238E27FC236}">
                <a16:creationId xmlns:a16="http://schemas.microsoft.com/office/drawing/2014/main" id="{D89B6822-67CD-4A65-D0F2-EF655378E0B2}"/>
              </a:ext>
            </a:extLst>
          </p:cNvPr>
          <p:cNvGraphicFramePr>
            <a:graphicFrameLocks noGrp="1"/>
          </p:cNvGraphicFramePr>
          <p:nvPr/>
        </p:nvGraphicFramePr>
        <p:xfrm>
          <a:off x="654408" y="2670138"/>
          <a:ext cx="10874374" cy="3566160"/>
        </p:xfrm>
        <a:graphic>
          <a:graphicData uri="http://schemas.openxmlformats.org/drawingml/2006/table">
            <a:tbl>
              <a:tblPr firstRow="1" bandRow="1">
                <a:tableStyleId>{21E4AEA4-8DFA-4A89-87EB-49C32662AFE0}</a:tableStyleId>
              </a:tblPr>
              <a:tblGrid>
                <a:gridCol w="1830388">
                  <a:extLst>
                    <a:ext uri="{9D8B030D-6E8A-4147-A177-3AD203B41FA5}">
                      <a16:colId xmlns:a16="http://schemas.microsoft.com/office/drawing/2014/main" val="71954238"/>
                    </a:ext>
                  </a:extLst>
                </a:gridCol>
                <a:gridCol w="1798320">
                  <a:extLst>
                    <a:ext uri="{9D8B030D-6E8A-4147-A177-3AD203B41FA5}">
                      <a16:colId xmlns:a16="http://schemas.microsoft.com/office/drawing/2014/main" val="849368262"/>
                    </a:ext>
                  </a:extLst>
                </a:gridCol>
                <a:gridCol w="2326640">
                  <a:extLst>
                    <a:ext uri="{9D8B030D-6E8A-4147-A177-3AD203B41FA5}">
                      <a16:colId xmlns:a16="http://schemas.microsoft.com/office/drawing/2014/main" val="524210373"/>
                    </a:ext>
                  </a:extLst>
                </a:gridCol>
                <a:gridCol w="4919026">
                  <a:extLst>
                    <a:ext uri="{9D8B030D-6E8A-4147-A177-3AD203B41FA5}">
                      <a16:colId xmlns:a16="http://schemas.microsoft.com/office/drawing/2014/main" val="3534614818"/>
                    </a:ext>
                  </a:extLst>
                </a:gridCol>
              </a:tblGrid>
              <a:tr h="175030">
                <a:tc>
                  <a:txBody>
                    <a:bodyPr/>
                    <a:lstStyle/>
                    <a:p>
                      <a:pPr algn="ctr"/>
                      <a:r>
                        <a:rPr lang="es-CL" sz="1600" b="1" dirty="0"/>
                        <a:t>Ronda</a:t>
                      </a:r>
                    </a:p>
                  </a:txBody>
                  <a:tcPr/>
                </a:tc>
                <a:tc>
                  <a:txBody>
                    <a:bodyPr/>
                    <a:lstStyle/>
                    <a:p>
                      <a:pPr algn="ctr"/>
                      <a:r>
                        <a:rPr lang="es-CL" sz="1600" b="1"/>
                        <a:t>% Cedido</a:t>
                      </a:r>
                    </a:p>
                  </a:txBody>
                  <a:tcPr/>
                </a:tc>
                <a:tc>
                  <a:txBody>
                    <a:bodyPr/>
                    <a:lstStyle/>
                    <a:p>
                      <a:pPr algn="ctr"/>
                      <a:r>
                        <a:rPr lang="es-CL" sz="1600" b="1"/>
                        <a:t>Monto $ USD</a:t>
                      </a:r>
                    </a:p>
                  </a:txBody>
                  <a:tcPr/>
                </a:tc>
                <a:tc>
                  <a:txBody>
                    <a:bodyPr/>
                    <a:lstStyle/>
                    <a:p>
                      <a:pPr algn="ctr"/>
                      <a:r>
                        <a:rPr lang="es-CL" sz="1600" b="1"/>
                        <a:t>Características</a:t>
                      </a:r>
                    </a:p>
                  </a:txBody>
                  <a:tcPr/>
                </a:tc>
                <a:extLst>
                  <a:ext uri="{0D108BD9-81ED-4DB2-BD59-A6C34878D82A}">
                    <a16:rowId xmlns:a16="http://schemas.microsoft.com/office/drawing/2014/main" val="3937133164"/>
                  </a:ext>
                </a:extLst>
              </a:tr>
              <a:tr h="244563">
                <a:tc>
                  <a:txBody>
                    <a:bodyPr/>
                    <a:lstStyle/>
                    <a:p>
                      <a:pPr algn="ctr"/>
                      <a:r>
                        <a:rPr lang="es-CL" sz="1400" b="1"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Pre-</a:t>
                      </a:r>
                      <a:r>
                        <a:rPr lang="es-CL" sz="1400" b="1" kern="1200" dirty="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Seed</a:t>
                      </a:r>
                      <a:endParaRPr lang="es-CL" sz="1400" b="1"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endParaRPr>
                    </a:p>
                  </a:txBody>
                  <a:tcPr/>
                </a:tc>
                <a:tc>
                  <a:txBody>
                    <a:bodyPr/>
                    <a:lstStyle/>
                    <a:p>
                      <a:pPr algn="ctr"/>
                      <a:r>
                        <a:rPr lang="es-CL"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5%-15%</a:t>
                      </a:r>
                    </a:p>
                  </a:txBody>
                  <a:tcPr/>
                </a:tc>
                <a:tc>
                  <a:txBody>
                    <a:bodyPr/>
                    <a:lstStyle/>
                    <a:p>
                      <a:pPr algn="ctr"/>
                      <a:r>
                        <a:rPr lang="es-CL"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10 K a 200 K</a:t>
                      </a:r>
                    </a:p>
                  </a:txBody>
                  <a:tcPr/>
                </a:tc>
                <a:tc>
                  <a:txBody>
                    <a:bodyPr/>
                    <a:lstStyle/>
                    <a:p>
                      <a:pPr marL="0" indent="0" algn="ctr">
                        <a:buFont typeface="Arial" panose="020B0604020202020204" pitchFamily="34" charset="0"/>
                        <a:buNone/>
                      </a:pPr>
                      <a:r>
                        <a:rPr lang="es-CL"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Desarrollo del producto, Investigación de Mercado</a:t>
                      </a:r>
                    </a:p>
                    <a:p>
                      <a:pPr marL="0" indent="0" algn="ctr">
                        <a:buFont typeface="Arial" panose="020B0604020202020204" pitchFamily="34" charset="0"/>
                        <a:buNone/>
                      </a:pPr>
                      <a:r>
                        <a:rPr lang="es-CL"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Operaciones Iniciales</a:t>
                      </a:r>
                    </a:p>
                  </a:txBody>
                  <a:tcPr/>
                </a:tc>
                <a:extLst>
                  <a:ext uri="{0D108BD9-81ED-4DB2-BD59-A6C34878D82A}">
                    <a16:rowId xmlns:a16="http://schemas.microsoft.com/office/drawing/2014/main" val="1839756818"/>
                  </a:ext>
                </a:extLst>
              </a:tr>
              <a:tr h="345265">
                <a:tc>
                  <a:txBody>
                    <a:bodyPr/>
                    <a:lstStyle/>
                    <a:p>
                      <a:pPr algn="ctr"/>
                      <a:r>
                        <a:rPr lang="es-CL" sz="1400" b="1" kern="1200" dirty="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Seed</a:t>
                      </a:r>
                      <a:endParaRPr lang="es-CL" sz="1400" b="1"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endParaRPr>
                    </a:p>
                  </a:txBody>
                  <a:tcPr/>
                </a:tc>
                <a:tc>
                  <a:txBody>
                    <a:bodyPr/>
                    <a:lstStyle/>
                    <a:p>
                      <a:pPr algn="ctr"/>
                      <a:r>
                        <a:rPr lang="es-CL"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5%-25%</a:t>
                      </a:r>
                    </a:p>
                  </a:txBody>
                  <a:tcPr/>
                </a:tc>
                <a:tc>
                  <a:txBody>
                    <a:bodyPr/>
                    <a:lstStyle/>
                    <a:p>
                      <a:pPr algn="ctr"/>
                      <a:r>
                        <a:rPr lang="es-CL"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10 K a 500 K</a:t>
                      </a:r>
                    </a:p>
                  </a:txBody>
                  <a:tcPr/>
                </a:tc>
                <a:tc>
                  <a:txBody>
                    <a:bodyPr/>
                    <a:lstStyle/>
                    <a:p>
                      <a:pPr marL="0" indent="0" algn="ctr">
                        <a:buFont typeface="Arial" panose="020B0604020202020204" pitchFamily="34" charset="0"/>
                        <a:buNone/>
                      </a:pPr>
                      <a:r>
                        <a:rPr lang="es-CL"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Desarrollo y Mejora del producto, Contratación de personal, </a:t>
                      </a:r>
                      <a:r>
                        <a:rPr lang="es-MX"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Marketing y Adquisición de Usuarios, </a:t>
                      </a:r>
                      <a:r>
                        <a:rPr lang="es-CL"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Expansión Geográfica Inicial</a:t>
                      </a:r>
                    </a:p>
                  </a:txBody>
                  <a:tcPr/>
                </a:tc>
                <a:extLst>
                  <a:ext uri="{0D108BD9-81ED-4DB2-BD59-A6C34878D82A}">
                    <a16:rowId xmlns:a16="http://schemas.microsoft.com/office/drawing/2014/main" val="3791331986"/>
                  </a:ext>
                </a:extLst>
              </a:tr>
              <a:tr h="345265">
                <a:tc>
                  <a:txBody>
                    <a:bodyPr/>
                    <a:lstStyle/>
                    <a:p>
                      <a:pPr algn="ctr"/>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Serie A</a:t>
                      </a:r>
                    </a:p>
                  </a:txBody>
                  <a:tcPr/>
                </a:tc>
                <a:tc>
                  <a:txBody>
                    <a:bodyPr/>
                    <a:lstStyle/>
                    <a:p>
                      <a:pPr algn="ctr"/>
                      <a:r>
                        <a:rPr lang="es-CL" sz="1400"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10%- 35%</a:t>
                      </a:r>
                    </a:p>
                  </a:txBody>
                  <a:tcPr/>
                </a:tc>
                <a:tc>
                  <a:txBody>
                    <a:bodyPr/>
                    <a:lstStyle/>
                    <a:p>
                      <a:pPr algn="ctr"/>
                      <a:r>
                        <a:rPr lang="es-CL" sz="1400"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500 K a 5 M</a:t>
                      </a:r>
                    </a:p>
                  </a:txBody>
                  <a:tcPr/>
                </a:tc>
                <a:tc>
                  <a:txBody>
                    <a:bodyPr/>
                    <a:lstStyle/>
                    <a:p>
                      <a:pPr marL="0" indent="0" algn="ctr">
                        <a:buFont typeface="Arial" panose="020B0604020202020204" pitchFamily="34" charset="0"/>
                        <a:buNone/>
                      </a:pPr>
                      <a:r>
                        <a:rPr lang="es-CL" sz="1400"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Crecimiento y Escalabilidad, Expansión de Equipo, Desarrollo de Tecnología, Expansión Geográfica, Marketing y Ventas</a:t>
                      </a:r>
                    </a:p>
                  </a:txBody>
                  <a:tcPr/>
                </a:tc>
                <a:extLst>
                  <a:ext uri="{0D108BD9-81ED-4DB2-BD59-A6C34878D82A}">
                    <a16:rowId xmlns:a16="http://schemas.microsoft.com/office/drawing/2014/main" val="3208252467"/>
                  </a:ext>
                </a:extLst>
              </a:tr>
              <a:tr h="244563">
                <a:tc>
                  <a:txBody>
                    <a:bodyPr/>
                    <a:lstStyle/>
                    <a:p>
                      <a:pPr algn="ctr"/>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Serie B</a:t>
                      </a:r>
                    </a:p>
                  </a:txBody>
                  <a:tcPr/>
                </a:tc>
                <a:tc>
                  <a:txBody>
                    <a:bodyPr/>
                    <a:lstStyle/>
                    <a:p>
                      <a:pPr algn="ctr"/>
                      <a:r>
                        <a:rPr lang="es-CL" sz="1400"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15% - 45%</a:t>
                      </a:r>
                    </a:p>
                  </a:txBody>
                  <a:tcPr/>
                </a:tc>
                <a:tc>
                  <a:txBody>
                    <a:bodyPr/>
                    <a:lstStyle/>
                    <a:p>
                      <a:pPr algn="ctr"/>
                      <a:r>
                        <a:rPr lang="es-CL" sz="1400"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5 M a 20 M</a:t>
                      </a:r>
                    </a:p>
                  </a:txBody>
                  <a:tcPr/>
                </a:tc>
                <a:tc>
                  <a:txBody>
                    <a:bodyPr/>
                    <a:lstStyle/>
                    <a:p>
                      <a:pPr marL="0" indent="0" algn="ctr">
                        <a:buFont typeface="Arial" panose="020B0604020202020204" pitchFamily="34" charset="0"/>
                        <a:buNone/>
                      </a:pPr>
                      <a:r>
                        <a:rPr lang="es-CL" sz="1400"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Consolidación, Diversificación, Inversiones en Tecnología, Talento Especializado, Infraestructura</a:t>
                      </a:r>
                    </a:p>
                  </a:txBody>
                  <a:tcPr/>
                </a:tc>
                <a:extLst>
                  <a:ext uri="{0D108BD9-81ED-4DB2-BD59-A6C34878D82A}">
                    <a16:rowId xmlns:a16="http://schemas.microsoft.com/office/drawing/2014/main" val="1132987401"/>
                  </a:ext>
                </a:extLst>
              </a:tr>
              <a:tr h="345265">
                <a:tc>
                  <a:txBody>
                    <a:bodyPr/>
                    <a:lstStyle/>
                    <a:p>
                      <a:pPr algn="ctr"/>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Serie C</a:t>
                      </a:r>
                    </a:p>
                  </a:txBody>
                  <a:tcPr/>
                </a:tc>
                <a:tc>
                  <a:txBody>
                    <a:bodyPr/>
                    <a:lstStyle/>
                    <a:p>
                      <a:pPr algn="ctr"/>
                      <a:r>
                        <a:rPr lang="es-CL"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20% - 55%</a:t>
                      </a:r>
                    </a:p>
                  </a:txBody>
                  <a:tcPr/>
                </a:tc>
                <a:tc>
                  <a:txBody>
                    <a:bodyPr/>
                    <a:lstStyle/>
                    <a:p>
                      <a:pPr algn="ctr"/>
                      <a:r>
                        <a:rPr lang="es-CL" sz="1400"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20 M a 250 M</a:t>
                      </a:r>
                    </a:p>
                  </a:txBody>
                  <a:tcPr/>
                </a:tc>
                <a:tc>
                  <a:txBody>
                    <a:bodyPr/>
                    <a:lstStyle/>
                    <a:p>
                      <a:pPr algn="ctr"/>
                      <a:r>
                        <a:rPr lang="es-CL" sz="1400" kern="12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Adquisiciones, Expansión Global, Optimización y Eficiencia, Preparación para la Salida, Reserva de Capital</a:t>
                      </a:r>
                    </a:p>
                  </a:txBody>
                  <a:tcPr/>
                </a:tc>
                <a:extLst>
                  <a:ext uri="{0D108BD9-81ED-4DB2-BD59-A6C34878D82A}">
                    <a16:rowId xmlns:a16="http://schemas.microsoft.com/office/drawing/2014/main" val="2674232199"/>
                  </a:ext>
                </a:extLst>
              </a:tr>
            </a:tbl>
          </a:graphicData>
        </a:graphic>
      </p:graphicFrame>
    </p:spTree>
    <p:extLst>
      <p:ext uri="{BB962C8B-B14F-4D97-AF65-F5344CB8AC3E}">
        <p14:creationId xmlns:p14="http://schemas.microsoft.com/office/powerpoint/2010/main" val="2036032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2753BB-8F0C-0CF3-A149-2CD1379983DB}"/>
              </a:ext>
            </a:extLst>
          </p:cNvPr>
          <p:cNvSpPr>
            <a:spLocks noGrp="1"/>
          </p:cNvSpPr>
          <p:nvPr>
            <p:ph type="title"/>
          </p:nvPr>
        </p:nvSpPr>
        <p:spPr/>
        <p:txBody>
          <a:bodyPr/>
          <a:lstStyle/>
          <a:p>
            <a:r>
              <a:rPr lang="es-CL" dirty="0"/>
              <a:t>FINANCIAMIENTO ESPECIALIZADO</a:t>
            </a:r>
          </a:p>
        </p:txBody>
      </p:sp>
      <p:sp>
        <p:nvSpPr>
          <p:cNvPr id="3" name="Marcador de contenido 2">
            <a:extLst>
              <a:ext uri="{FF2B5EF4-FFF2-40B4-BE49-F238E27FC236}">
                <a16:creationId xmlns:a16="http://schemas.microsoft.com/office/drawing/2014/main" id="{A3D79714-AAE0-275E-BFCF-E2456B08229C}"/>
              </a:ext>
            </a:extLst>
          </p:cNvPr>
          <p:cNvSpPr>
            <a:spLocks noGrp="1"/>
          </p:cNvSpPr>
          <p:nvPr>
            <p:ph idx="1"/>
          </p:nvPr>
        </p:nvSpPr>
        <p:spPr>
          <a:xfrm>
            <a:off x="695325" y="1567008"/>
            <a:ext cx="4590353" cy="4351338"/>
          </a:xfrm>
        </p:spPr>
        <p:txBody>
          <a:bodyPr/>
          <a:lstStyle/>
          <a:p>
            <a:pPr marL="0" indent="0">
              <a:buNone/>
            </a:pPr>
            <a:r>
              <a:rPr lang="es-CL" sz="1200" dirty="0">
                <a:latin typeface="Avenir Next" panose="020B0503020202020204" pitchFamily="34" charset="0"/>
              </a:rPr>
              <a:t>Cada ronda de financiamiento va definiendo: la participación dada por la valorización (</a:t>
            </a:r>
            <a:r>
              <a:rPr lang="es-CL" sz="1200" dirty="0" err="1">
                <a:latin typeface="Avenir Next" panose="020B0503020202020204" pitchFamily="34" charset="0"/>
              </a:rPr>
              <a:t>premoney</a:t>
            </a:r>
            <a:r>
              <a:rPr lang="es-CL" sz="1200" dirty="0">
                <a:latin typeface="Avenir Next" panose="020B0503020202020204" pitchFamily="34" charset="0"/>
              </a:rPr>
              <a:t> y </a:t>
            </a:r>
            <a:r>
              <a:rPr lang="es-CL" sz="1200" dirty="0" err="1">
                <a:latin typeface="Avenir Next" panose="020B0503020202020204" pitchFamily="34" charset="0"/>
              </a:rPr>
              <a:t>postmoney</a:t>
            </a:r>
            <a:r>
              <a:rPr lang="es-CL" sz="1200" dirty="0">
                <a:latin typeface="Avenir Next" panose="020B0503020202020204" pitchFamily="34" charset="0"/>
              </a:rPr>
              <a:t>) y la inversión a levantar (ingreso de capital) y sus derechos; el control, como se comanda la empresa quienes conforman el directorio, los marcos para la conducción del emprendimiento, y cláusulas que definen algunas acciones específicas o cosas a regular.</a:t>
            </a:r>
          </a:p>
          <a:p>
            <a:pPr marL="0" indent="0">
              <a:buNone/>
            </a:pPr>
            <a:r>
              <a:rPr lang="es-CL" sz="1200" dirty="0">
                <a:latin typeface="Avenir Next" panose="020B0503020202020204" pitchFamily="34" charset="0"/>
              </a:rPr>
              <a:t>Para entender cómo va cambiando la propiedad, y hacer seguimiento a las participaciones, se construyen las </a:t>
            </a:r>
            <a:r>
              <a:rPr lang="es-CL" sz="1200" dirty="0" err="1">
                <a:latin typeface="Avenir Next" panose="020B0503020202020204" pitchFamily="34" charset="0"/>
              </a:rPr>
              <a:t>Cap</a:t>
            </a:r>
            <a:r>
              <a:rPr lang="es-CL" sz="1200" dirty="0">
                <a:latin typeface="Avenir Next" panose="020B0503020202020204" pitchFamily="34" charset="0"/>
              </a:rPr>
              <a:t> Tables o tablas de capitalización.</a:t>
            </a:r>
          </a:p>
          <a:p>
            <a:pPr marL="0" indent="0">
              <a:buNone/>
            </a:pPr>
            <a:r>
              <a:rPr lang="es-CL" sz="1200" dirty="0">
                <a:latin typeface="Avenir Next" panose="020B0503020202020204" pitchFamily="34" charset="0"/>
              </a:rPr>
              <a:t>Entonces es relevante conocer:</a:t>
            </a:r>
          </a:p>
          <a:p>
            <a:r>
              <a:rPr lang="es-CL" sz="1200" dirty="0">
                <a:latin typeface="Avenir Next" panose="020B0503020202020204" pitchFamily="34" charset="0"/>
              </a:rPr>
              <a:t>¿Cuál es el plan de ingreso de capital? ¿Qué participaciones (a que valor)?</a:t>
            </a:r>
          </a:p>
          <a:p>
            <a:r>
              <a:rPr lang="es-CL" sz="1200" dirty="0">
                <a:latin typeface="Avenir Next" panose="020B0503020202020204" pitchFamily="34" charset="0"/>
              </a:rPr>
              <a:t>Es un plan detallado de creación de patrimonio, ojalá muy, muy intangible.</a:t>
            </a:r>
          </a:p>
          <a:p>
            <a:r>
              <a:rPr lang="es-CL" sz="1200" dirty="0">
                <a:latin typeface="Avenir Next" panose="020B0503020202020204" pitchFamily="34" charset="0"/>
              </a:rPr>
              <a:t>De acuerdo con un estándar dado por la industria de las inversiones. Pero, con las particularidades de cada emprendimiento.</a:t>
            </a:r>
          </a:p>
          <a:p>
            <a:r>
              <a:rPr lang="es-CL" sz="1200" dirty="0">
                <a:latin typeface="Avenir Next" panose="020B0503020202020204" pitchFamily="34" charset="0"/>
              </a:rPr>
              <a:t>A 5 años contrastando métodos de valorización que evolucionan con la madurez de la iniciativa.</a:t>
            </a:r>
          </a:p>
        </p:txBody>
      </p:sp>
      <p:sp>
        <p:nvSpPr>
          <p:cNvPr id="4" name="Marcador de número de diapositiva 3">
            <a:extLst>
              <a:ext uri="{FF2B5EF4-FFF2-40B4-BE49-F238E27FC236}">
                <a16:creationId xmlns:a16="http://schemas.microsoft.com/office/drawing/2014/main" id="{4E6855AD-EFE0-192B-9AE1-AC1AB5DD8280}"/>
              </a:ext>
            </a:extLst>
          </p:cNvPr>
          <p:cNvSpPr>
            <a:spLocks noGrp="1"/>
          </p:cNvSpPr>
          <p:nvPr>
            <p:ph type="sldNum" sz="quarter" idx="4"/>
          </p:nvPr>
        </p:nvSpPr>
        <p:spPr/>
        <p:txBody>
          <a:bodyPr/>
          <a:lstStyle/>
          <a:p>
            <a:pPr defTabSz="914446" eaLnBrk="1" fontAlgn="auto" hangingPunct="1">
              <a:spcBef>
                <a:spcPts val="0"/>
              </a:spcBef>
              <a:spcAft>
                <a:spcPts val="0"/>
              </a:spcAft>
            </a:pPr>
            <a:fld id="{51ED9358-27BD-4757-8BC3-FCFAB6CB8B4F}" type="slidenum">
              <a:rPr lang="es-CL" smtClean="0">
                <a:solidFill>
                  <a:prstClr val="black"/>
                </a:solidFill>
                <a:cs typeface="+mn-cs"/>
              </a:rPr>
              <a:pPr defTabSz="914446" eaLnBrk="1" fontAlgn="auto" hangingPunct="1">
                <a:spcBef>
                  <a:spcPts val="0"/>
                </a:spcBef>
                <a:spcAft>
                  <a:spcPts val="0"/>
                </a:spcAft>
              </a:pPr>
              <a:t>18</a:t>
            </a:fld>
            <a:endParaRPr lang="es-CL" dirty="0">
              <a:solidFill>
                <a:prstClr val="black"/>
              </a:solidFill>
              <a:cs typeface="+mn-cs"/>
            </a:endParaRPr>
          </a:p>
        </p:txBody>
      </p:sp>
      <p:pic>
        <p:nvPicPr>
          <p:cNvPr id="5" name="Imagen 4">
            <a:extLst>
              <a:ext uri="{FF2B5EF4-FFF2-40B4-BE49-F238E27FC236}">
                <a16:creationId xmlns:a16="http://schemas.microsoft.com/office/drawing/2014/main" id="{183A4D13-3817-61C6-B5CE-CCD34D7E32C6}"/>
              </a:ext>
            </a:extLst>
          </p:cNvPr>
          <p:cNvPicPr>
            <a:picLocks noChangeAspect="1"/>
          </p:cNvPicPr>
          <p:nvPr/>
        </p:nvPicPr>
        <p:blipFill>
          <a:blip r:embed="rId2"/>
          <a:stretch>
            <a:fillRect/>
          </a:stretch>
        </p:blipFill>
        <p:spPr>
          <a:xfrm>
            <a:off x="6280273" y="1279017"/>
            <a:ext cx="4590353" cy="4299966"/>
          </a:xfrm>
          <a:prstGeom prst="rect">
            <a:avLst/>
          </a:prstGeom>
        </p:spPr>
      </p:pic>
    </p:spTree>
    <p:extLst>
      <p:ext uri="{BB962C8B-B14F-4D97-AF65-F5344CB8AC3E}">
        <p14:creationId xmlns:p14="http://schemas.microsoft.com/office/powerpoint/2010/main" val="4274647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B72ABE3C-857F-C4EF-F1C0-8B6CF048CF81}"/>
              </a:ext>
            </a:extLst>
          </p:cNvPr>
          <p:cNvGraphicFramePr>
            <a:graphicFrameLocks noGrp="1"/>
          </p:cNvGraphicFramePr>
          <p:nvPr/>
        </p:nvGraphicFramePr>
        <p:xfrm>
          <a:off x="7406639" y="3324275"/>
          <a:ext cx="4093264" cy="767080"/>
        </p:xfrm>
        <a:graphic>
          <a:graphicData uri="http://schemas.openxmlformats.org/drawingml/2006/table">
            <a:tbl>
              <a:tblPr firstRow="1" bandRow="1">
                <a:tableStyleId>{5940675A-B579-460E-94D1-54222C63F5DA}</a:tableStyleId>
              </a:tblPr>
              <a:tblGrid>
                <a:gridCol w="1023316">
                  <a:extLst>
                    <a:ext uri="{9D8B030D-6E8A-4147-A177-3AD203B41FA5}">
                      <a16:colId xmlns:a16="http://schemas.microsoft.com/office/drawing/2014/main" val="393021221"/>
                    </a:ext>
                  </a:extLst>
                </a:gridCol>
                <a:gridCol w="1023316">
                  <a:extLst>
                    <a:ext uri="{9D8B030D-6E8A-4147-A177-3AD203B41FA5}">
                      <a16:colId xmlns:a16="http://schemas.microsoft.com/office/drawing/2014/main" val="944384220"/>
                    </a:ext>
                  </a:extLst>
                </a:gridCol>
                <a:gridCol w="1023316">
                  <a:extLst>
                    <a:ext uri="{9D8B030D-6E8A-4147-A177-3AD203B41FA5}">
                      <a16:colId xmlns:a16="http://schemas.microsoft.com/office/drawing/2014/main" val="901698321"/>
                    </a:ext>
                  </a:extLst>
                </a:gridCol>
                <a:gridCol w="1023316">
                  <a:extLst>
                    <a:ext uri="{9D8B030D-6E8A-4147-A177-3AD203B41FA5}">
                      <a16:colId xmlns:a16="http://schemas.microsoft.com/office/drawing/2014/main" val="1453075612"/>
                    </a:ext>
                  </a:extLst>
                </a:gridCol>
              </a:tblGrid>
              <a:tr h="370840">
                <a:tc>
                  <a:txBody>
                    <a:bodyPr/>
                    <a:lstStyle/>
                    <a:p>
                      <a:pPr algn="ctr"/>
                      <a:r>
                        <a:rPr lang="es-CL" sz="1200" dirty="0">
                          <a:latin typeface="Avenir Next" panose="020B0503020202020204" pitchFamily="34" charset="0"/>
                        </a:rPr>
                        <a:t>2025</a:t>
                      </a:r>
                    </a:p>
                  </a:txBody>
                  <a:tcPr anchor="ctr"/>
                </a:tc>
                <a:tc>
                  <a:txBody>
                    <a:bodyPr/>
                    <a:lstStyle/>
                    <a:p>
                      <a:pPr algn="ctr"/>
                      <a:r>
                        <a:rPr lang="es-CL" sz="1200" dirty="0">
                          <a:latin typeface="Avenir Next" panose="020B0503020202020204" pitchFamily="34" charset="0"/>
                        </a:rPr>
                        <a:t>2026</a:t>
                      </a:r>
                    </a:p>
                  </a:txBody>
                  <a:tcPr anchor="ctr"/>
                </a:tc>
                <a:tc>
                  <a:txBody>
                    <a:bodyPr/>
                    <a:lstStyle/>
                    <a:p>
                      <a:pPr algn="ctr"/>
                      <a:r>
                        <a:rPr lang="es-CL" sz="1200" dirty="0">
                          <a:latin typeface="Avenir Next" panose="020B0503020202020204" pitchFamily="34" charset="0"/>
                        </a:rPr>
                        <a:t>2027</a:t>
                      </a:r>
                    </a:p>
                  </a:txBody>
                  <a:tcPr anchor="ctr"/>
                </a:tc>
                <a:tc>
                  <a:txBody>
                    <a:bodyPr/>
                    <a:lstStyle/>
                    <a:p>
                      <a:pPr algn="ctr"/>
                      <a:r>
                        <a:rPr lang="es-CL" sz="1200" dirty="0">
                          <a:latin typeface="Avenir Next" panose="020B0503020202020204" pitchFamily="34" charset="0"/>
                        </a:rPr>
                        <a:t>2028</a:t>
                      </a:r>
                    </a:p>
                  </a:txBody>
                  <a:tcPr anchor="ctr"/>
                </a:tc>
                <a:extLst>
                  <a:ext uri="{0D108BD9-81ED-4DB2-BD59-A6C34878D82A}">
                    <a16:rowId xmlns:a16="http://schemas.microsoft.com/office/drawing/2014/main" val="3371681770"/>
                  </a:ext>
                </a:extLst>
              </a:tr>
              <a:tr h="370840">
                <a:tc>
                  <a:txBody>
                    <a:bodyPr/>
                    <a:lstStyle/>
                    <a:p>
                      <a:pPr algn="ctr"/>
                      <a:r>
                        <a:rPr lang="es-CL" sz="1000" dirty="0">
                          <a:latin typeface="Avenir Next" panose="020B0503020202020204" pitchFamily="34" charset="0"/>
                        </a:rPr>
                        <a:t>MMUSD$ 11,16</a:t>
                      </a:r>
                    </a:p>
                  </a:txBody>
                  <a:tcPr anchor="ctr"/>
                </a:tc>
                <a:tc>
                  <a:txBody>
                    <a:bodyPr/>
                    <a:lstStyle/>
                    <a:p>
                      <a:pPr algn="ctr"/>
                      <a:r>
                        <a:rPr lang="es-CL" sz="1000" dirty="0">
                          <a:latin typeface="Avenir Next" panose="020B0503020202020204" pitchFamily="34" charset="0"/>
                        </a:rPr>
                        <a:t>MMUSD$ 13,02</a:t>
                      </a:r>
                    </a:p>
                  </a:txBody>
                  <a:tcPr anchor="ctr"/>
                </a:tc>
                <a:tc>
                  <a:txBody>
                    <a:bodyPr/>
                    <a:lstStyle/>
                    <a:p>
                      <a:pPr algn="ctr"/>
                      <a:r>
                        <a:rPr lang="es-CL" sz="1000" dirty="0">
                          <a:latin typeface="Avenir Next" panose="020B0503020202020204" pitchFamily="34" charset="0"/>
                        </a:rPr>
                        <a:t>MMUSD$ 14,88</a:t>
                      </a:r>
                    </a:p>
                  </a:txBody>
                  <a:tcPr anchor="ctr">
                    <a:solidFill>
                      <a:schemeClr val="bg2">
                        <a:lumMod val="90000"/>
                      </a:schemeClr>
                    </a:solidFill>
                  </a:tcPr>
                </a:tc>
                <a:tc>
                  <a:txBody>
                    <a:bodyPr/>
                    <a:lstStyle/>
                    <a:p>
                      <a:pPr algn="ctr"/>
                      <a:r>
                        <a:rPr lang="es-CL" sz="1000" dirty="0">
                          <a:latin typeface="Avenir Next" panose="020B0503020202020204" pitchFamily="34" charset="0"/>
                        </a:rPr>
                        <a:t>MMUSD$ 16,74</a:t>
                      </a:r>
                    </a:p>
                  </a:txBody>
                  <a:tcPr anchor="ctr">
                    <a:solidFill>
                      <a:schemeClr val="bg2">
                        <a:lumMod val="90000"/>
                      </a:schemeClr>
                    </a:solidFill>
                  </a:tcPr>
                </a:tc>
                <a:extLst>
                  <a:ext uri="{0D108BD9-81ED-4DB2-BD59-A6C34878D82A}">
                    <a16:rowId xmlns:a16="http://schemas.microsoft.com/office/drawing/2014/main" val="2522210940"/>
                  </a:ext>
                </a:extLst>
              </a:tr>
            </a:tbl>
          </a:graphicData>
        </a:graphic>
      </p:graphicFrame>
      <p:graphicFrame>
        <p:nvGraphicFramePr>
          <p:cNvPr id="4" name="Tabla 3">
            <a:extLst>
              <a:ext uri="{FF2B5EF4-FFF2-40B4-BE49-F238E27FC236}">
                <a16:creationId xmlns:a16="http://schemas.microsoft.com/office/drawing/2014/main" id="{588AE1CC-E527-EBFC-7485-68D401A029F3}"/>
              </a:ext>
            </a:extLst>
          </p:cNvPr>
          <p:cNvGraphicFramePr>
            <a:graphicFrameLocks noGrp="1"/>
          </p:cNvGraphicFramePr>
          <p:nvPr/>
        </p:nvGraphicFramePr>
        <p:xfrm>
          <a:off x="7406639" y="4665395"/>
          <a:ext cx="4093264" cy="767080"/>
        </p:xfrm>
        <a:graphic>
          <a:graphicData uri="http://schemas.openxmlformats.org/drawingml/2006/table">
            <a:tbl>
              <a:tblPr firstRow="1" bandRow="1">
                <a:tableStyleId>{5940675A-B579-460E-94D1-54222C63F5DA}</a:tableStyleId>
              </a:tblPr>
              <a:tblGrid>
                <a:gridCol w="1023316">
                  <a:extLst>
                    <a:ext uri="{9D8B030D-6E8A-4147-A177-3AD203B41FA5}">
                      <a16:colId xmlns:a16="http://schemas.microsoft.com/office/drawing/2014/main" val="393021221"/>
                    </a:ext>
                  </a:extLst>
                </a:gridCol>
                <a:gridCol w="1023316">
                  <a:extLst>
                    <a:ext uri="{9D8B030D-6E8A-4147-A177-3AD203B41FA5}">
                      <a16:colId xmlns:a16="http://schemas.microsoft.com/office/drawing/2014/main" val="944384220"/>
                    </a:ext>
                  </a:extLst>
                </a:gridCol>
                <a:gridCol w="1023316">
                  <a:extLst>
                    <a:ext uri="{9D8B030D-6E8A-4147-A177-3AD203B41FA5}">
                      <a16:colId xmlns:a16="http://schemas.microsoft.com/office/drawing/2014/main" val="901698321"/>
                    </a:ext>
                  </a:extLst>
                </a:gridCol>
                <a:gridCol w="1023316">
                  <a:extLst>
                    <a:ext uri="{9D8B030D-6E8A-4147-A177-3AD203B41FA5}">
                      <a16:colId xmlns:a16="http://schemas.microsoft.com/office/drawing/2014/main" val="1453075612"/>
                    </a:ext>
                  </a:extLst>
                </a:gridCol>
              </a:tblGrid>
              <a:tr h="370840">
                <a:tc>
                  <a:txBody>
                    <a:bodyPr/>
                    <a:lstStyle/>
                    <a:p>
                      <a:pPr algn="ctr"/>
                      <a:r>
                        <a:rPr lang="es-CL" sz="1200" dirty="0">
                          <a:latin typeface="Avenir Next" panose="020B0503020202020204" pitchFamily="34" charset="0"/>
                        </a:rPr>
                        <a:t>2025</a:t>
                      </a:r>
                    </a:p>
                  </a:txBody>
                  <a:tcPr anchor="ctr"/>
                </a:tc>
                <a:tc>
                  <a:txBody>
                    <a:bodyPr/>
                    <a:lstStyle/>
                    <a:p>
                      <a:pPr algn="ctr"/>
                      <a:r>
                        <a:rPr lang="es-CL" sz="1200" dirty="0">
                          <a:latin typeface="Avenir Next" panose="020B0503020202020204" pitchFamily="34" charset="0"/>
                        </a:rPr>
                        <a:t>2026</a:t>
                      </a:r>
                    </a:p>
                  </a:txBody>
                  <a:tcPr anchor="ctr"/>
                </a:tc>
                <a:tc>
                  <a:txBody>
                    <a:bodyPr/>
                    <a:lstStyle/>
                    <a:p>
                      <a:pPr algn="ctr"/>
                      <a:r>
                        <a:rPr lang="es-CL" sz="1200" dirty="0">
                          <a:latin typeface="Avenir Next" panose="020B0503020202020204" pitchFamily="34" charset="0"/>
                        </a:rPr>
                        <a:t>2027</a:t>
                      </a:r>
                    </a:p>
                  </a:txBody>
                  <a:tcPr anchor="ctr"/>
                </a:tc>
                <a:tc>
                  <a:txBody>
                    <a:bodyPr/>
                    <a:lstStyle/>
                    <a:p>
                      <a:pPr algn="ctr"/>
                      <a:r>
                        <a:rPr lang="es-CL" sz="1200" dirty="0">
                          <a:latin typeface="Avenir Next" panose="020B0503020202020204" pitchFamily="34" charset="0"/>
                        </a:rPr>
                        <a:t>2028</a:t>
                      </a:r>
                    </a:p>
                  </a:txBody>
                  <a:tcPr anchor="ctr"/>
                </a:tc>
                <a:extLst>
                  <a:ext uri="{0D108BD9-81ED-4DB2-BD59-A6C34878D82A}">
                    <a16:rowId xmlns:a16="http://schemas.microsoft.com/office/drawing/2014/main" val="3371681770"/>
                  </a:ext>
                </a:extLst>
              </a:tr>
              <a:tr h="370840">
                <a:tc>
                  <a:txBody>
                    <a:bodyPr/>
                    <a:lstStyle/>
                    <a:p>
                      <a:pPr algn="ctr"/>
                      <a:r>
                        <a:rPr lang="es-CL" sz="1000" dirty="0">
                          <a:latin typeface="Avenir Next" panose="020B0503020202020204" pitchFamily="34" charset="0"/>
                        </a:rPr>
                        <a:t>MMUSD$ 13,28</a:t>
                      </a:r>
                    </a:p>
                  </a:txBody>
                  <a:tcPr anchor="ctr"/>
                </a:tc>
                <a:tc>
                  <a:txBody>
                    <a:bodyPr/>
                    <a:lstStyle/>
                    <a:p>
                      <a:pPr algn="ctr"/>
                      <a:r>
                        <a:rPr lang="es-CL" sz="1000" dirty="0">
                          <a:latin typeface="Avenir Next" panose="020B0503020202020204" pitchFamily="34" charset="0"/>
                        </a:rPr>
                        <a:t>MMUSD$ 19,92</a:t>
                      </a:r>
                    </a:p>
                  </a:txBody>
                  <a:tcPr anchor="ctr"/>
                </a:tc>
                <a:tc>
                  <a:txBody>
                    <a:bodyPr/>
                    <a:lstStyle/>
                    <a:p>
                      <a:pPr algn="ctr"/>
                      <a:r>
                        <a:rPr lang="es-CL" sz="1000" dirty="0">
                          <a:latin typeface="Avenir Next" panose="020B0503020202020204" pitchFamily="34" charset="0"/>
                        </a:rPr>
                        <a:t>MMUSD$ 31,50</a:t>
                      </a:r>
                    </a:p>
                  </a:txBody>
                  <a:tcPr anchor="ctr"/>
                </a:tc>
                <a:tc>
                  <a:txBody>
                    <a:bodyPr/>
                    <a:lstStyle/>
                    <a:p>
                      <a:pPr algn="ctr"/>
                      <a:r>
                        <a:rPr lang="es-CL" sz="1000" dirty="0">
                          <a:latin typeface="Avenir Next" panose="020B0503020202020204" pitchFamily="34" charset="0"/>
                        </a:rPr>
                        <a:t>MMUSD$ 43,00</a:t>
                      </a:r>
                    </a:p>
                  </a:txBody>
                  <a:tcPr anchor="ctr"/>
                </a:tc>
                <a:extLst>
                  <a:ext uri="{0D108BD9-81ED-4DB2-BD59-A6C34878D82A}">
                    <a16:rowId xmlns:a16="http://schemas.microsoft.com/office/drawing/2014/main" val="2522210940"/>
                  </a:ext>
                </a:extLst>
              </a:tr>
            </a:tbl>
          </a:graphicData>
        </a:graphic>
      </p:graphicFrame>
      <p:sp>
        <p:nvSpPr>
          <p:cNvPr id="5" name="CuadroTexto 4">
            <a:extLst>
              <a:ext uri="{FF2B5EF4-FFF2-40B4-BE49-F238E27FC236}">
                <a16:creationId xmlns:a16="http://schemas.microsoft.com/office/drawing/2014/main" id="{8DA5CE78-D364-62DE-B304-643A49C046AD}"/>
              </a:ext>
            </a:extLst>
          </p:cNvPr>
          <p:cNvSpPr txBox="1"/>
          <p:nvPr/>
        </p:nvSpPr>
        <p:spPr>
          <a:xfrm>
            <a:off x="5440680" y="3318064"/>
            <a:ext cx="1965958" cy="646331"/>
          </a:xfrm>
          <a:prstGeom prst="rect">
            <a:avLst/>
          </a:prstGeom>
          <a:noFill/>
        </p:spPr>
        <p:txBody>
          <a:bodyPr wrap="square" rtlCol="0">
            <a:spAutoFit/>
          </a:bodyPr>
          <a:lstStyle/>
          <a:p>
            <a:pPr algn="r"/>
            <a:r>
              <a:rPr lang="es-CL" sz="1200" dirty="0">
                <a:latin typeface="Avenir Next" panose="020B0503020202020204" pitchFamily="34" charset="0"/>
              </a:rPr>
              <a:t>Modelo mediana empresa minera valor para socios fundadores</a:t>
            </a:r>
          </a:p>
        </p:txBody>
      </p:sp>
      <p:sp>
        <p:nvSpPr>
          <p:cNvPr id="6" name="CuadroTexto 5">
            <a:extLst>
              <a:ext uri="{FF2B5EF4-FFF2-40B4-BE49-F238E27FC236}">
                <a16:creationId xmlns:a16="http://schemas.microsoft.com/office/drawing/2014/main" id="{F2376081-9B23-BAE1-3811-A2198A3F3676}"/>
              </a:ext>
            </a:extLst>
          </p:cNvPr>
          <p:cNvSpPr txBox="1"/>
          <p:nvPr/>
        </p:nvSpPr>
        <p:spPr>
          <a:xfrm>
            <a:off x="5612130" y="4665395"/>
            <a:ext cx="1794508" cy="461665"/>
          </a:xfrm>
          <a:prstGeom prst="rect">
            <a:avLst/>
          </a:prstGeom>
          <a:noFill/>
        </p:spPr>
        <p:txBody>
          <a:bodyPr wrap="square" rtlCol="0">
            <a:spAutoFit/>
          </a:bodyPr>
          <a:lstStyle/>
          <a:p>
            <a:pPr algn="r"/>
            <a:r>
              <a:rPr lang="es-CL" sz="1200" dirty="0">
                <a:latin typeface="Avenir Next" panose="020B0503020202020204" pitchFamily="34" charset="0"/>
              </a:rPr>
              <a:t>Modelo </a:t>
            </a:r>
            <a:r>
              <a:rPr lang="es-CL" sz="1200" dirty="0" err="1">
                <a:latin typeface="Avenir Next" panose="020B0503020202020204" pitchFamily="34" charset="0"/>
              </a:rPr>
              <a:t>StartUp</a:t>
            </a:r>
            <a:r>
              <a:rPr lang="es-CL" sz="1200" dirty="0">
                <a:latin typeface="Avenir Next" panose="020B0503020202020204" pitchFamily="34" charset="0"/>
              </a:rPr>
              <a:t> minero global</a:t>
            </a:r>
          </a:p>
        </p:txBody>
      </p:sp>
      <p:sp>
        <p:nvSpPr>
          <p:cNvPr id="7" name="Marcador de contenido 2">
            <a:extLst>
              <a:ext uri="{FF2B5EF4-FFF2-40B4-BE49-F238E27FC236}">
                <a16:creationId xmlns:a16="http://schemas.microsoft.com/office/drawing/2014/main" id="{59EDC3C5-3658-E0DD-3E03-E2E34959E3B3}"/>
              </a:ext>
            </a:extLst>
          </p:cNvPr>
          <p:cNvSpPr txBox="1">
            <a:spLocks/>
          </p:cNvSpPr>
          <p:nvPr/>
        </p:nvSpPr>
        <p:spPr>
          <a:xfrm>
            <a:off x="537870" y="540519"/>
            <a:ext cx="3189633" cy="355083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1200" b="1" dirty="0">
                <a:latin typeface="Avenir Next" panose="020B0503020202020204" pitchFamily="34" charset="0"/>
              </a:rPr>
              <a:t>¿Hay diferencia para los socios al optar por crecimiento como empresa mediana o StartUp?</a:t>
            </a:r>
          </a:p>
          <a:p>
            <a:pPr marL="0" indent="0">
              <a:buFont typeface="Arial" panose="020B0604020202020204" pitchFamily="34" charset="0"/>
              <a:buNone/>
            </a:pPr>
            <a:r>
              <a:rPr lang="es-MX" sz="1200" dirty="0">
                <a:latin typeface="Avenir Next" panose="020B0503020202020204" pitchFamily="34" charset="0"/>
              </a:rPr>
              <a:t>Al optar por el modelo StartUp se asume que se aumenta el nivel de inversión (para hacer crecer valorización, valor de las acciones), y se potencia el crecimiento buscando un exit estratégico. Los socios pierden independencia apuntando a ser compensados por crecimiento.</a:t>
            </a:r>
          </a:p>
          <a:p>
            <a:pPr marL="0" indent="0">
              <a:buFont typeface="Arial" panose="020B0604020202020204" pitchFamily="34" charset="0"/>
              <a:buNone/>
            </a:pPr>
            <a:r>
              <a:rPr lang="es-MX" sz="1200" dirty="0">
                <a:latin typeface="Avenir Next" panose="020B0503020202020204" pitchFamily="34" charset="0"/>
              </a:rPr>
              <a:t>En el modelo StartUp las compensaciones vienen:</a:t>
            </a:r>
          </a:p>
          <a:p>
            <a:pPr marL="0" indent="0">
              <a:buFont typeface="Arial" panose="020B0604020202020204" pitchFamily="34" charset="0"/>
              <a:buNone/>
            </a:pPr>
            <a:endParaRPr lang="es-MX" sz="800" dirty="0">
              <a:latin typeface="Avenir Next" panose="020B0503020202020204" pitchFamily="34" charset="0"/>
            </a:endParaRPr>
          </a:p>
          <a:p>
            <a:pPr marL="216000">
              <a:lnSpc>
                <a:spcPct val="100000"/>
              </a:lnSpc>
              <a:spcBef>
                <a:spcPts val="0"/>
              </a:spcBef>
            </a:pPr>
            <a:r>
              <a:rPr lang="es-MX" sz="1200" dirty="0">
                <a:latin typeface="Avenir Next" panose="020B0503020202020204" pitchFamily="34" charset="0"/>
              </a:rPr>
              <a:t>Retiros antes de ingresar inversionistas.</a:t>
            </a:r>
          </a:p>
          <a:p>
            <a:pPr marL="216000">
              <a:lnSpc>
                <a:spcPct val="100000"/>
              </a:lnSpc>
              <a:spcBef>
                <a:spcPts val="0"/>
              </a:spcBef>
            </a:pPr>
            <a:r>
              <a:rPr lang="es-MX" sz="1200" dirty="0">
                <a:latin typeface="Avenir Next" panose="020B0503020202020204" pitchFamily="34" charset="0"/>
              </a:rPr>
              <a:t>Acuerdos, premios y compensaciones por metas en serie B.</a:t>
            </a:r>
          </a:p>
          <a:p>
            <a:pPr marL="216000">
              <a:lnSpc>
                <a:spcPct val="100000"/>
              </a:lnSpc>
              <a:spcBef>
                <a:spcPts val="0"/>
              </a:spcBef>
            </a:pPr>
            <a:r>
              <a:rPr lang="es-MX" sz="1200" dirty="0">
                <a:latin typeface="Avenir Next" panose="020B0503020202020204" pitchFamily="34" charset="0"/>
              </a:rPr>
              <a:t>Valor de las acciones y liquidez de estas a partir de serie B.</a:t>
            </a:r>
          </a:p>
          <a:p>
            <a:pPr marL="216000">
              <a:lnSpc>
                <a:spcPct val="100000"/>
              </a:lnSpc>
              <a:spcBef>
                <a:spcPts val="0"/>
              </a:spcBef>
            </a:pPr>
            <a:endParaRPr lang="es-MX" sz="1200" dirty="0">
              <a:latin typeface="Avenir Next" panose="020B0503020202020204" pitchFamily="34" charset="0"/>
            </a:endParaRPr>
          </a:p>
        </p:txBody>
      </p:sp>
      <p:sp>
        <p:nvSpPr>
          <p:cNvPr id="8" name="CuadroTexto 7">
            <a:extLst>
              <a:ext uri="{FF2B5EF4-FFF2-40B4-BE49-F238E27FC236}">
                <a16:creationId xmlns:a16="http://schemas.microsoft.com/office/drawing/2014/main" id="{4B48A9F8-13BC-952E-0C38-082B8E1BF50D}"/>
              </a:ext>
            </a:extLst>
          </p:cNvPr>
          <p:cNvSpPr txBox="1"/>
          <p:nvPr/>
        </p:nvSpPr>
        <p:spPr>
          <a:xfrm>
            <a:off x="7406639" y="5438408"/>
            <a:ext cx="1028702" cy="338554"/>
          </a:xfrm>
          <a:prstGeom prst="rect">
            <a:avLst/>
          </a:prstGeom>
          <a:noFill/>
        </p:spPr>
        <p:txBody>
          <a:bodyPr wrap="square" rtlCol="0">
            <a:spAutoFit/>
          </a:bodyPr>
          <a:lstStyle/>
          <a:p>
            <a:r>
              <a:rPr lang="es-CL" sz="800" dirty="0">
                <a:latin typeface="Avenir Next" panose="020B0503020202020204" pitchFamily="34" charset="0"/>
              </a:rPr>
              <a:t>Inversión por 10% de la empresa</a:t>
            </a:r>
          </a:p>
        </p:txBody>
      </p:sp>
      <p:sp>
        <p:nvSpPr>
          <p:cNvPr id="9" name="CuadroTexto 8">
            <a:extLst>
              <a:ext uri="{FF2B5EF4-FFF2-40B4-BE49-F238E27FC236}">
                <a16:creationId xmlns:a16="http://schemas.microsoft.com/office/drawing/2014/main" id="{C1635DA1-4FE2-1066-E369-8FD6959E4E64}"/>
              </a:ext>
            </a:extLst>
          </p:cNvPr>
          <p:cNvSpPr txBox="1"/>
          <p:nvPr/>
        </p:nvSpPr>
        <p:spPr>
          <a:xfrm>
            <a:off x="9453271" y="5432475"/>
            <a:ext cx="1028702" cy="338554"/>
          </a:xfrm>
          <a:prstGeom prst="rect">
            <a:avLst/>
          </a:prstGeom>
          <a:noFill/>
        </p:spPr>
        <p:txBody>
          <a:bodyPr wrap="square" rtlCol="0">
            <a:spAutoFit/>
          </a:bodyPr>
          <a:lstStyle/>
          <a:p>
            <a:r>
              <a:rPr lang="es-CL" sz="800" dirty="0">
                <a:latin typeface="Avenir Next" panose="020B0503020202020204" pitchFamily="34" charset="0"/>
              </a:rPr>
              <a:t>Inversión por 20% de la empresa</a:t>
            </a:r>
          </a:p>
        </p:txBody>
      </p:sp>
      <p:sp>
        <p:nvSpPr>
          <p:cNvPr id="10" name="CuadroTexto 9">
            <a:extLst>
              <a:ext uri="{FF2B5EF4-FFF2-40B4-BE49-F238E27FC236}">
                <a16:creationId xmlns:a16="http://schemas.microsoft.com/office/drawing/2014/main" id="{D3C1431C-30D5-5B2E-AAA0-203BFF4E3250}"/>
              </a:ext>
            </a:extLst>
          </p:cNvPr>
          <p:cNvSpPr txBox="1"/>
          <p:nvPr/>
        </p:nvSpPr>
        <p:spPr>
          <a:xfrm>
            <a:off x="10476587" y="5432475"/>
            <a:ext cx="1028702" cy="338554"/>
          </a:xfrm>
          <a:prstGeom prst="rect">
            <a:avLst/>
          </a:prstGeom>
          <a:noFill/>
        </p:spPr>
        <p:txBody>
          <a:bodyPr wrap="square" rtlCol="0">
            <a:spAutoFit/>
          </a:bodyPr>
          <a:lstStyle/>
          <a:p>
            <a:r>
              <a:rPr lang="es-CL" sz="800" dirty="0">
                <a:latin typeface="Avenir Next" panose="020B0503020202020204" pitchFamily="34" charset="0"/>
              </a:rPr>
              <a:t>Inversión por 20% de la empresa</a:t>
            </a:r>
          </a:p>
        </p:txBody>
      </p:sp>
      <p:sp>
        <p:nvSpPr>
          <p:cNvPr id="11" name="CuadroTexto 10">
            <a:extLst>
              <a:ext uri="{FF2B5EF4-FFF2-40B4-BE49-F238E27FC236}">
                <a16:creationId xmlns:a16="http://schemas.microsoft.com/office/drawing/2014/main" id="{E22D4CB8-645B-8C21-77FF-2724401A136B}"/>
              </a:ext>
            </a:extLst>
          </p:cNvPr>
          <p:cNvSpPr txBox="1"/>
          <p:nvPr/>
        </p:nvSpPr>
        <p:spPr>
          <a:xfrm>
            <a:off x="7410698" y="4091355"/>
            <a:ext cx="4089205" cy="553998"/>
          </a:xfrm>
          <a:prstGeom prst="rect">
            <a:avLst/>
          </a:prstGeom>
          <a:noFill/>
        </p:spPr>
        <p:txBody>
          <a:bodyPr wrap="square" rtlCol="0">
            <a:spAutoFit/>
          </a:bodyPr>
          <a:lstStyle/>
          <a:p>
            <a:pPr marL="285750" indent="-285750">
              <a:buFont typeface="Arial" panose="020B0604020202020204" pitchFamily="34" charset="0"/>
              <a:buChar char="•"/>
            </a:pPr>
            <a:r>
              <a:rPr lang="es-CL" sz="1000" dirty="0">
                <a:latin typeface="Avenir Next" panose="020B0503020202020204" pitchFamily="34" charset="0"/>
              </a:rPr>
              <a:t>Los socios pueden retirar MM$ 600 por año</a:t>
            </a:r>
          </a:p>
          <a:p>
            <a:pPr marL="285750" indent="-285750">
              <a:buFont typeface="Arial" panose="020B0604020202020204" pitchFamily="34" charset="0"/>
              <a:buChar char="•"/>
            </a:pPr>
            <a:r>
              <a:rPr lang="es-CL" sz="1000" dirty="0">
                <a:latin typeface="Avenir Next" panose="020B0503020202020204" pitchFamily="34" charset="0"/>
              </a:rPr>
              <a:t>A partir de 2027 si se asienta un modelo PYME la valorización puede ser EBIDTA * 6</a:t>
            </a:r>
          </a:p>
        </p:txBody>
      </p:sp>
      <p:sp>
        <p:nvSpPr>
          <p:cNvPr id="17" name="CuadroTexto 16">
            <a:extLst>
              <a:ext uri="{FF2B5EF4-FFF2-40B4-BE49-F238E27FC236}">
                <a16:creationId xmlns:a16="http://schemas.microsoft.com/office/drawing/2014/main" id="{BF76117A-08FE-A6EF-B1D6-D14CE5FF6C7D}"/>
              </a:ext>
            </a:extLst>
          </p:cNvPr>
          <p:cNvSpPr txBox="1"/>
          <p:nvPr/>
        </p:nvSpPr>
        <p:spPr>
          <a:xfrm>
            <a:off x="537870" y="4091355"/>
            <a:ext cx="4674210" cy="1938992"/>
          </a:xfrm>
          <a:prstGeom prst="rect">
            <a:avLst/>
          </a:prstGeom>
          <a:noFill/>
        </p:spPr>
        <p:txBody>
          <a:bodyPr wrap="square">
            <a:spAutoFit/>
          </a:bodyPr>
          <a:lstStyle/>
          <a:p>
            <a:pPr marL="0" indent="0">
              <a:lnSpc>
                <a:spcPct val="100000"/>
              </a:lnSpc>
              <a:spcBef>
                <a:spcPts val="0"/>
              </a:spcBef>
              <a:buNone/>
            </a:pPr>
            <a:r>
              <a:rPr lang="es-MX" sz="1200" dirty="0">
                <a:latin typeface="Avenir Next" panose="020B0503020202020204" pitchFamily="34" charset="0"/>
              </a:rPr>
              <a:t>Las diferencias en crecimiento se producen a partir de los ingresos de capital de inversión, series A y B. El modelo mediana empresa mantiene las tasas que le permiten la reinversión, pero se asume un mayor retiro de los socios.</a:t>
            </a:r>
          </a:p>
          <a:p>
            <a:pPr marL="0" indent="0">
              <a:lnSpc>
                <a:spcPct val="100000"/>
              </a:lnSpc>
              <a:spcBef>
                <a:spcPts val="0"/>
              </a:spcBef>
              <a:buNone/>
            </a:pPr>
            <a:endParaRPr lang="es-MX" sz="1200" dirty="0">
              <a:latin typeface="Avenir Next" panose="020B0503020202020204" pitchFamily="34" charset="0"/>
            </a:endParaRPr>
          </a:p>
          <a:p>
            <a:pPr marL="0" indent="0">
              <a:lnSpc>
                <a:spcPct val="100000"/>
              </a:lnSpc>
              <a:spcBef>
                <a:spcPts val="0"/>
              </a:spcBef>
              <a:buNone/>
            </a:pPr>
            <a:r>
              <a:rPr lang="es-MX" sz="1200" b="1" dirty="0">
                <a:latin typeface="Avenir Next" panose="020B0503020202020204" pitchFamily="34" charset="0"/>
              </a:rPr>
              <a:t>¿Por qué se produce la diferencia en valor?</a:t>
            </a:r>
          </a:p>
          <a:p>
            <a:pPr marL="0" indent="0">
              <a:lnSpc>
                <a:spcPct val="100000"/>
              </a:lnSpc>
              <a:spcBef>
                <a:spcPts val="0"/>
              </a:spcBef>
              <a:buNone/>
            </a:pPr>
            <a:endParaRPr lang="es-MX" sz="1200" dirty="0">
              <a:latin typeface="Avenir Next" panose="020B0503020202020204" pitchFamily="34" charset="0"/>
            </a:endParaRPr>
          </a:p>
          <a:p>
            <a:pPr marL="171450" indent="-171450">
              <a:lnSpc>
                <a:spcPct val="100000"/>
              </a:lnSpc>
              <a:spcBef>
                <a:spcPts val="0"/>
              </a:spcBef>
              <a:buFont typeface="Arial" panose="020B0604020202020204" pitchFamily="34" charset="0"/>
              <a:buChar char="•"/>
            </a:pPr>
            <a:r>
              <a:rPr lang="es-MX" sz="1200" dirty="0">
                <a:latin typeface="Avenir Next" panose="020B0503020202020204" pitchFamily="34" charset="0"/>
              </a:rPr>
              <a:t>Inversión en innovación (10% del total)</a:t>
            </a:r>
          </a:p>
          <a:p>
            <a:pPr marL="171450" indent="-171450">
              <a:lnSpc>
                <a:spcPct val="100000"/>
              </a:lnSpc>
              <a:spcBef>
                <a:spcPts val="0"/>
              </a:spcBef>
              <a:buFont typeface="Arial" panose="020B0604020202020204" pitchFamily="34" charset="0"/>
              <a:buChar char="•"/>
            </a:pPr>
            <a:r>
              <a:rPr lang="es-MX" sz="1200" dirty="0">
                <a:latin typeface="Avenir Next" panose="020B0503020202020204" pitchFamily="34" charset="0"/>
              </a:rPr>
              <a:t>Inversión crecimiento (inversiones VC)</a:t>
            </a:r>
          </a:p>
          <a:p>
            <a:pPr marL="171450" indent="-171450">
              <a:lnSpc>
                <a:spcPct val="100000"/>
              </a:lnSpc>
              <a:spcBef>
                <a:spcPts val="0"/>
              </a:spcBef>
              <a:buFont typeface="Arial" panose="020B0604020202020204" pitchFamily="34" charset="0"/>
              <a:buChar char="•"/>
            </a:pPr>
            <a:r>
              <a:rPr lang="es-MX" sz="1200" dirty="0">
                <a:latin typeface="Avenir Next" panose="020B0503020202020204" pitchFamily="34" charset="0"/>
              </a:rPr>
              <a:t>Valorización por tipo de empresa</a:t>
            </a:r>
          </a:p>
        </p:txBody>
      </p:sp>
      <p:grpSp>
        <p:nvGrpSpPr>
          <p:cNvPr id="19" name="Grupo 18">
            <a:extLst>
              <a:ext uri="{FF2B5EF4-FFF2-40B4-BE49-F238E27FC236}">
                <a16:creationId xmlns:a16="http://schemas.microsoft.com/office/drawing/2014/main" id="{94898F9A-E814-0D53-25D4-BD8868448CC2}"/>
              </a:ext>
            </a:extLst>
          </p:cNvPr>
          <p:cNvGrpSpPr/>
          <p:nvPr/>
        </p:nvGrpSpPr>
        <p:grpSpPr>
          <a:xfrm>
            <a:off x="3727503" y="0"/>
            <a:ext cx="7772400" cy="3087956"/>
            <a:chOff x="3727503" y="0"/>
            <a:chExt cx="7772400" cy="3087956"/>
          </a:xfrm>
        </p:grpSpPr>
        <p:pic>
          <p:nvPicPr>
            <p:cNvPr id="2" name="Gráfico 1">
              <a:extLst>
                <a:ext uri="{FF2B5EF4-FFF2-40B4-BE49-F238E27FC236}">
                  <a16:creationId xmlns:a16="http://schemas.microsoft.com/office/drawing/2014/main" id="{41B69704-2039-0B16-9F22-AFA83C03C0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27503" y="631269"/>
              <a:ext cx="7772400" cy="2456687"/>
            </a:xfrm>
            <a:prstGeom prst="rect">
              <a:avLst/>
            </a:prstGeom>
          </p:spPr>
        </p:pic>
        <p:cxnSp>
          <p:nvCxnSpPr>
            <p:cNvPr id="13" name="Conector recto 12">
              <a:extLst>
                <a:ext uri="{FF2B5EF4-FFF2-40B4-BE49-F238E27FC236}">
                  <a16:creationId xmlns:a16="http://schemas.microsoft.com/office/drawing/2014/main" id="{1DB79DC2-0E91-B881-324B-4EDEB5F95B51}"/>
                </a:ext>
              </a:extLst>
            </p:cNvPr>
            <p:cNvCxnSpPr/>
            <p:nvPr/>
          </p:nvCxnSpPr>
          <p:spPr>
            <a:xfrm flipV="1">
              <a:off x="7875270" y="1154430"/>
              <a:ext cx="3303270" cy="571500"/>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15" name="Conector recto 14">
              <a:extLst>
                <a:ext uri="{FF2B5EF4-FFF2-40B4-BE49-F238E27FC236}">
                  <a16:creationId xmlns:a16="http://schemas.microsoft.com/office/drawing/2014/main" id="{A11E98BD-4F48-5DCF-4CE7-A7232B7A2BA2}"/>
                </a:ext>
              </a:extLst>
            </p:cNvPr>
            <p:cNvCxnSpPr>
              <a:cxnSpLocks/>
            </p:cNvCxnSpPr>
            <p:nvPr/>
          </p:nvCxnSpPr>
          <p:spPr>
            <a:xfrm flipV="1">
              <a:off x="10344150" y="0"/>
              <a:ext cx="582930" cy="532398"/>
            </a:xfrm>
            <a:prstGeom prst="line">
              <a:avLst/>
            </a:prstGeom>
            <a:ln w="12700">
              <a:prstDash val="dash"/>
            </a:ln>
          </p:spPr>
          <p:style>
            <a:lnRef idx="1">
              <a:schemeClr val="accent2"/>
            </a:lnRef>
            <a:fillRef idx="0">
              <a:schemeClr val="accent2"/>
            </a:fillRef>
            <a:effectRef idx="0">
              <a:schemeClr val="accent2"/>
            </a:effectRef>
            <a:fontRef idx="minor">
              <a:schemeClr val="tx1"/>
            </a:fontRef>
          </p:style>
        </p:cxnSp>
        <p:sp>
          <p:nvSpPr>
            <p:cNvPr id="12" name="Rectángulo 11">
              <a:extLst>
                <a:ext uri="{FF2B5EF4-FFF2-40B4-BE49-F238E27FC236}">
                  <a16:creationId xmlns:a16="http://schemas.microsoft.com/office/drawing/2014/main" id="{8EAA6DEC-D44C-0CDE-D7E6-DD903ABBB04B}"/>
                </a:ext>
              </a:extLst>
            </p:cNvPr>
            <p:cNvSpPr/>
            <p:nvPr/>
          </p:nvSpPr>
          <p:spPr>
            <a:xfrm>
              <a:off x="4695713" y="2086984"/>
              <a:ext cx="516367" cy="8001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1D5C72BC-0FFA-EEDE-254E-F4F91FB900FB}"/>
                </a:ext>
              </a:extLst>
            </p:cNvPr>
            <p:cNvSpPr/>
            <p:nvPr/>
          </p:nvSpPr>
          <p:spPr>
            <a:xfrm>
              <a:off x="5558117" y="2315937"/>
              <a:ext cx="516367" cy="8001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sp>
          <p:nvSpPr>
            <p:cNvPr id="16" name="Rectángulo 15">
              <a:extLst>
                <a:ext uri="{FF2B5EF4-FFF2-40B4-BE49-F238E27FC236}">
                  <a16:creationId xmlns:a16="http://schemas.microsoft.com/office/drawing/2014/main" id="{351D9C35-2942-1DF3-7214-7CE182C2384C}"/>
                </a:ext>
              </a:extLst>
            </p:cNvPr>
            <p:cNvSpPr/>
            <p:nvPr/>
          </p:nvSpPr>
          <p:spPr>
            <a:xfrm>
              <a:off x="6472519" y="2422266"/>
              <a:ext cx="516367" cy="8001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5DA8D7A9-3B78-6FB0-8468-60FBC3C9C598}"/>
                </a:ext>
              </a:extLst>
            </p:cNvPr>
            <p:cNvSpPr/>
            <p:nvPr/>
          </p:nvSpPr>
          <p:spPr>
            <a:xfrm>
              <a:off x="7483730" y="2411507"/>
              <a:ext cx="516367" cy="8001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L"/>
            </a:p>
          </p:txBody>
        </p:sp>
      </p:grpSp>
    </p:spTree>
    <p:extLst>
      <p:ext uri="{BB962C8B-B14F-4D97-AF65-F5344CB8AC3E}">
        <p14:creationId xmlns:p14="http://schemas.microsoft.com/office/powerpoint/2010/main" val="1067609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5352A-F9EC-08B9-ADD3-04AA1785A5F7}"/>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84463D6C-4FA0-3ADF-4138-131CC448AE78}"/>
              </a:ext>
            </a:extLst>
          </p:cNvPr>
          <p:cNvSpPr>
            <a:spLocks noGrp="1"/>
          </p:cNvSpPr>
          <p:nvPr>
            <p:ph type="title"/>
          </p:nvPr>
        </p:nvSpPr>
        <p:spPr/>
        <p:txBody>
          <a:bodyPr/>
          <a:lstStyle/>
          <a:p>
            <a:r>
              <a:rPr lang="es-CL" dirty="0"/>
              <a:t>Levantamiento de capital y fuentes de fondos</a:t>
            </a:r>
          </a:p>
        </p:txBody>
      </p:sp>
    </p:spTree>
    <p:extLst>
      <p:ext uri="{BB962C8B-B14F-4D97-AF65-F5344CB8AC3E}">
        <p14:creationId xmlns:p14="http://schemas.microsoft.com/office/powerpoint/2010/main" val="3735173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567037"/>
            <a:ext cx="10853592" cy="523220"/>
          </a:xfrm>
          <a:prstGeom prst="rect">
            <a:avLst/>
          </a:prstGeom>
          <a:noFill/>
        </p:spPr>
        <p:txBody>
          <a:bodyPr wrap="square" rtlCol="0">
            <a:spAutoFit/>
          </a:bodyPr>
          <a:lstStyle/>
          <a:p>
            <a:pPr algn="ctr"/>
            <a:r>
              <a:rPr lang="es-ES" sz="2800" dirty="0">
                <a:latin typeface="Montserrat SemiBold" pitchFamily="2" charset="0"/>
              </a:rPr>
              <a:t>Qué es levantar capital</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489649"/>
            <a:ext cx="6987649" cy="4801314"/>
          </a:xfrm>
          <a:prstGeom prst="rect">
            <a:avLst/>
          </a:prstGeom>
          <a:noFill/>
        </p:spPr>
        <p:txBody>
          <a:bodyPr wrap="square">
            <a:spAutoFit/>
          </a:bodyPr>
          <a:lstStyle/>
          <a:p>
            <a:pPr algn="just"/>
            <a:r>
              <a:rPr lang="es-ES" dirty="0">
                <a:latin typeface="Avenir Next" panose="020B0503020202020204" pitchFamily="34" charset="0"/>
              </a:rPr>
              <a:t>Levantar capital es el proceso de </a:t>
            </a:r>
            <a:r>
              <a:rPr lang="es-ES" b="1" dirty="0">
                <a:latin typeface="Avenir Next" panose="020B0503020202020204" pitchFamily="34" charset="0"/>
              </a:rPr>
              <a:t>obtener fondos externos para financiar las operaciones de una empresa</a:t>
            </a:r>
            <a:r>
              <a:rPr lang="es-ES" dirty="0">
                <a:latin typeface="Avenir Next" panose="020B0503020202020204" pitchFamily="34" charset="0"/>
              </a:rPr>
              <a:t>. Este financiamiento puede servir a diversas necesidades del negocio, que van desde el desarrollo de productos y la expansión en el mercado, hasta la adquisición de otras empresas y la contratación de personal.</a:t>
            </a:r>
          </a:p>
          <a:p>
            <a:pPr algn="just"/>
            <a:endParaRPr lang="es-ES" dirty="0">
              <a:latin typeface="Avenir Next" panose="020B0503020202020204" pitchFamily="34" charset="0"/>
            </a:endParaRPr>
          </a:p>
          <a:p>
            <a:pPr algn="just"/>
            <a:r>
              <a:rPr lang="es-ES" dirty="0">
                <a:latin typeface="Avenir Next" panose="020B0503020202020204" pitchFamily="34" charset="0"/>
              </a:rPr>
              <a:t>En el escenario de los startups, este proceso generalmente </a:t>
            </a:r>
            <a:r>
              <a:rPr lang="es-ES" b="1" dirty="0">
                <a:latin typeface="Avenir Next" panose="020B0503020202020204" pitchFamily="34" charset="0"/>
              </a:rPr>
              <a:t>involucra la captación de una inversión por parte de capitalistas de riesgo o inversores ángeles</a:t>
            </a:r>
            <a:r>
              <a:rPr lang="es-ES" dirty="0">
                <a:latin typeface="Avenir Next" panose="020B0503020202020204" pitchFamily="34" charset="0"/>
              </a:rPr>
              <a:t>, aunque también puede implicar la obtención de préstamos, subvenciones y otras formas de financiación.</a:t>
            </a:r>
          </a:p>
          <a:p>
            <a:pPr algn="just"/>
            <a:endParaRPr lang="es-CL" dirty="0">
              <a:latin typeface="Avenir Next" panose="020B0503020202020204" pitchFamily="34" charset="0"/>
            </a:endParaRPr>
          </a:p>
          <a:p>
            <a:pPr algn="just"/>
            <a:r>
              <a:rPr lang="es-CL" dirty="0">
                <a:latin typeface="Avenir Next" panose="020B0503020202020204" pitchFamily="34" charset="0"/>
              </a:rPr>
              <a:t>De este modo, </a:t>
            </a:r>
            <a:r>
              <a:rPr lang="es-CL" b="1" dirty="0">
                <a:latin typeface="Avenir Next" panose="020B0503020202020204" pitchFamily="34" charset="0"/>
              </a:rPr>
              <a:t>el levantamiento de capital tiene montos, distribuye propiedad y manifiesta una arquitectura de crecimiento </a:t>
            </a:r>
            <a:r>
              <a:rPr lang="es-CL" dirty="0">
                <a:latin typeface="Avenir Next" panose="020B0503020202020204" pitchFamily="34" charset="0"/>
              </a:rPr>
              <a:t>que, si bien tiene marcos dado por las etapas descritas anteriormente, también tiene mucho de estrategia y ambición.</a:t>
            </a:r>
          </a:p>
        </p:txBody>
      </p:sp>
    </p:spTree>
    <p:extLst>
      <p:ext uri="{BB962C8B-B14F-4D97-AF65-F5344CB8AC3E}">
        <p14:creationId xmlns:p14="http://schemas.microsoft.com/office/powerpoint/2010/main" val="3808540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7" y="560669"/>
            <a:ext cx="10772569" cy="523220"/>
          </a:xfrm>
          <a:prstGeom prst="rect">
            <a:avLst/>
          </a:prstGeom>
          <a:noFill/>
        </p:spPr>
        <p:txBody>
          <a:bodyPr wrap="square" rtlCol="0">
            <a:spAutoFit/>
          </a:bodyPr>
          <a:lstStyle/>
          <a:p>
            <a:pPr algn="ctr"/>
            <a:r>
              <a:rPr lang="es-ES" sz="2800" dirty="0">
                <a:latin typeface="Montserrat SemiBold" pitchFamily="2" charset="0"/>
              </a:rPr>
              <a:t>Principales razones para levantar capital</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096000" y="1418939"/>
            <a:ext cx="4888230" cy="4832092"/>
          </a:xfrm>
          <a:prstGeom prst="rect">
            <a:avLst/>
          </a:prstGeom>
          <a:noFill/>
        </p:spPr>
        <p:txBody>
          <a:bodyPr wrap="square">
            <a:spAutoFit/>
          </a:bodyPr>
          <a:lstStyle/>
          <a:p>
            <a:pPr algn="just"/>
            <a:r>
              <a:rPr lang="es-ES" sz="1400" b="1" dirty="0">
                <a:latin typeface="Montserrat" panose="00000500000000000000" pitchFamily="2" charset="0"/>
              </a:rPr>
              <a:t>Desarrollo de productos:</a:t>
            </a:r>
            <a:r>
              <a:rPr lang="es-ES" sz="1400" dirty="0">
                <a:latin typeface="Montserrat" panose="00000500000000000000" pitchFamily="2" charset="0"/>
              </a:rPr>
              <a:t> Crear un nuevo producto, o mejorar uno existente, puede requerir una inversión significativa.</a:t>
            </a:r>
          </a:p>
          <a:p>
            <a:pPr algn="just"/>
            <a:endParaRPr lang="es-ES" sz="1400" dirty="0">
              <a:latin typeface="Montserrat" panose="00000500000000000000" pitchFamily="2" charset="0"/>
            </a:endParaRPr>
          </a:p>
          <a:p>
            <a:pPr algn="just"/>
            <a:r>
              <a:rPr lang="es-ES" sz="1400" b="1" dirty="0">
                <a:latin typeface="Montserrat" panose="00000500000000000000" pitchFamily="2" charset="0"/>
              </a:rPr>
              <a:t>Expansión de mercado:</a:t>
            </a:r>
            <a:r>
              <a:rPr lang="es-ES" sz="1400" dirty="0">
                <a:latin typeface="Montserrat" panose="00000500000000000000" pitchFamily="2" charset="0"/>
              </a:rPr>
              <a:t> Adentrarse a nuevos mercados implica gastos en investigación, marketing, establecimiento de operaciones y contratación local.</a:t>
            </a:r>
          </a:p>
          <a:p>
            <a:pPr algn="just"/>
            <a:endParaRPr lang="es-ES" sz="1400" dirty="0">
              <a:latin typeface="Montserrat" panose="00000500000000000000" pitchFamily="2" charset="0"/>
            </a:endParaRPr>
          </a:p>
          <a:p>
            <a:pPr algn="just"/>
            <a:r>
              <a:rPr lang="es-ES" sz="1400" b="1" dirty="0">
                <a:latin typeface="Montserrat" panose="00000500000000000000" pitchFamily="2" charset="0"/>
              </a:rPr>
              <a:t>Adquisiciones:</a:t>
            </a:r>
            <a:r>
              <a:rPr lang="es-ES" sz="1400" dirty="0">
                <a:latin typeface="Montserrat" panose="00000500000000000000" pitchFamily="2" charset="0"/>
              </a:rPr>
              <a:t> La compra de otras empresas para potenciar crecimiento, ampliar oferta de productos o eliminar competencia requiere capital considerable.</a:t>
            </a:r>
          </a:p>
          <a:p>
            <a:pPr algn="just"/>
            <a:endParaRPr lang="es-ES" sz="1400" dirty="0">
              <a:latin typeface="Montserrat" panose="00000500000000000000" pitchFamily="2" charset="0"/>
            </a:endParaRPr>
          </a:p>
          <a:p>
            <a:pPr algn="just"/>
            <a:r>
              <a:rPr lang="es-ES" sz="1400" b="1" dirty="0">
                <a:latin typeface="Montserrat" panose="00000500000000000000" pitchFamily="2" charset="0"/>
              </a:rPr>
              <a:t>Contratación de personal:</a:t>
            </a:r>
            <a:r>
              <a:rPr lang="es-ES" sz="1400" dirty="0">
                <a:latin typeface="Montserrat" panose="00000500000000000000" pitchFamily="2" charset="0"/>
              </a:rPr>
              <a:t> El crecimiento implica más empleados, con costos de reclutamiento, salarios y formación.</a:t>
            </a:r>
          </a:p>
          <a:p>
            <a:pPr algn="just"/>
            <a:endParaRPr lang="es-ES" sz="1400" dirty="0">
              <a:latin typeface="Montserrat" panose="00000500000000000000" pitchFamily="2" charset="0"/>
            </a:endParaRPr>
          </a:p>
          <a:p>
            <a:pPr algn="just"/>
            <a:r>
              <a:rPr lang="es-ES" sz="1400" b="1" dirty="0">
                <a:latin typeface="Montserrat" panose="00000500000000000000" pitchFamily="2" charset="0"/>
              </a:rPr>
              <a:t>Reserva de capital operativo:</a:t>
            </a:r>
            <a:r>
              <a:rPr lang="es-ES" sz="1400" dirty="0">
                <a:latin typeface="Montserrat" panose="00000500000000000000" pitchFamily="2" charset="0"/>
              </a:rPr>
              <a:t> Los startups necesitan un capital de reserva para gastos diarios como alquiler, servicios, pago a proveedores, etc.</a:t>
            </a:r>
          </a:p>
          <a:p>
            <a:pPr algn="just"/>
            <a:endParaRPr lang="es-CL" sz="1400" dirty="0">
              <a:latin typeface="Montserrat" panose="00000500000000000000" pitchFamily="2" charset="0"/>
            </a:endParaRPr>
          </a:p>
        </p:txBody>
      </p:sp>
      <p:sp>
        <p:nvSpPr>
          <p:cNvPr id="3" name="CuadroTexto 2">
            <a:extLst>
              <a:ext uri="{FF2B5EF4-FFF2-40B4-BE49-F238E27FC236}">
                <a16:creationId xmlns:a16="http://schemas.microsoft.com/office/drawing/2014/main" id="{3FDBA9BC-80E2-40E8-5379-5074CDAB3982}"/>
              </a:ext>
            </a:extLst>
          </p:cNvPr>
          <p:cNvSpPr txBox="1"/>
          <p:nvPr/>
        </p:nvSpPr>
        <p:spPr>
          <a:xfrm>
            <a:off x="663218" y="2136338"/>
            <a:ext cx="4743172" cy="2585323"/>
          </a:xfrm>
          <a:prstGeom prst="rect">
            <a:avLst/>
          </a:prstGeom>
          <a:noFill/>
        </p:spPr>
        <p:txBody>
          <a:bodyPr wrap="square" rtlCol="0">
            <a:spAutoFit/>
          </a:bodyPr>
          <a:lstStyle/>
          <a:p>
            <a:r>
              <a:rPr lang="es-CL" dirty="0"/>
              <a:t>En la lógica de los Startups, el levantamiento de capital es un paso obligado a lograr valorizaciones mayores, porque este afirmado en un plan de crecimiento agresivo, inversiones en innovaciones, que permiten lograr pendientes de crecimiento, que explican las altas ganancias patrimoniales.</a:t>
            </a:r>
          </a:p>
        </p:txBody>
      </p:sp>
    </p:spTree>
    <p:extLst>
      <p:ext uri="{BB962C8B-B14F-4D97-AF65-F5344CB8AC3E}">
        <p14:creationId xmlns:p14="http://schemas.microsoft.com/office/powerpoint/2010/main" val="3177292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7" y="675244"/>
            <a:ext cx="10820401" cy="523220"/>
          </a:xfrm>
          <a:prstGeom prst="rect">
            <a:avLst/>
          </a:prstGeom>
          <a:noFill/>
        </p:spPr>
        <p:txBody>
          <a:bodyPr wrap="square" rtlCol="0">
            <a:spAutoFit/>
          </a:bodyPr>
          <a:lstStyle/>
          <a:p>
            <a:pPr algn="ctr"/>
            <a:r>
              <a:rPr lang="es-ES" sz="2800" dirty="0">
                <a:latin typeface="Montserrat SemiBold" pitchFamily="2" charset="0"/>
              </a:rPr>
              <a:t>Importancia de levantar capital para los startups</a:t>
            </a:r>
            <a:endParaRPr lang="es-CL" sz="2800" dirty="0">
              <a:latin typeface="Montserrat SemiBold" pitchFamily="2" charset="0"/>
            </a:endParaRPr>
          </a:p>
        </p:txBody>
      </p:sp>
      <p:sp>
        <p:nvSpPr>
          <p:cNvPr id="17" name="Text Placeholder 9">
            <a:extLst>
              <a:ext uri="{FF2B5EF4-FFF2-40B4-BE49-F238E27FC236}">
                <a16:creationId xmlns:a16="http://schemas.microsoft.com/office/drawing/2014/main" id="{A93246F5-7707-2996-EDD9-AF5CA198F6DF}"/>
              </a:ext>
            </a:extLst>
          </p:cNvPr>
          <p:cNvSpPr txBox="1">
            <a:spLocks/>
          </p:cNvSpPr>
          <p:nvPr/>
        </p:nvSpPr>
        <p:spPr>
          <a:xfrm>
            <a:off x="1271491" y="3906600"/>
            <a:ext cx="4349944" cy="1694130"/>
          </a:xfrm>
          <a:prstGeom prst="rect">
            <a:avLst/>
          </a:prstGeom>
          <a:solidFill>
            <a:schemeClr val="accent3"/>
          </a:solidFill>
          <a:ln w="28575">
            <a:solidFill>
              <a:schemeClr val="bg1"/>
            </a:solidFill>
          </a:ln>
        </p:spPr>
        <p:txBody>
          <a:bodyPr vert="horz" lIns="648000" tIns="45720" rIns="503999" bIns="45720" rtlCol="0" anchor="ctr">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L" sz="1200" b="1" dirty="0">
                <a:solidFill>
                  <a:schemeClr val="accent4"/>
                </a:solidFill>
                <a:latin typeface="Montserrat" panose="00000500000000000000" pitchFamily="2" charset="0"/>
              </a:rPr>
              <a:t>Competencia efectiva</a:t>
            </a:r>
          </a:p>
          <a:p>
            <a:pPr marL="0" indent="0">
              <a:buNone/>
            </a:pPr>
            <a:r>
              <a:rPr lang="es-MX" sz="1200" dirty="0">
                <a:solidFill>
                  <a:schemeClr val="bg1"/>
                </a:solidFill>
              </a:rPr>
              <a:t>La financiación permite a los startups competir en el mercado, ya sea igualando o superando las ofertas de sus competidores, o invirtiendo en innovaciones para diferenciarse.</a:t>
            </a:r>
            <a:endParaRPr lang="es-CL" sz="1200" dirty="0">
              <a:solidFill>
                <a:schemeClr val="bg1"/>
              </a:solidFill>
            </a:endParaRPr>
          </a:p>
        </p:txBody>
      </p:sp>
      <p:sp>
        <p:nvSpPr>
          <p:cNvPr id="18" name="Oval 7">
            <a:extLst>
              <a:ext uri="{FF2B5EF4-FFF2-40B4-BE49-F238E27FC236}">
                <a16:creationId xmlns:a16="http://schemas.microsoft.com/office/drawing/2014/main" id="{5CDBF32E-E397-5CE8-01B3-F97A1A90273D}"/>
              </a:ext>
            </a:extLst>
          </p:cNvPr>
          <p:cNvSpPr/>
          <p:nvPr/>
        </p:nvSpPr>
        <p:spPr>
          <a:xfrm>
            <a:off x="663218" y="3827566"/>
            <a:ext cx="1041613"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3200" b="1" dirty="0">
                <a:solidFill>
                  <a:schemeClr val="tx2"/>
                </a:solidFill>
                <a:latin typeface="+mj-lt"/>
              </a:rPr>
              <a:t>3</a:t>
            </a:r>
          </a:p>
        </p:txBody>
      </p:sp>
      <p:sp>
        <p:nvSpPr>
          <p:cNvPr id="19" name="Text Placeholder 9">
            <a:extLst>
              <a:ext uri="{FF2B5EF4-FFF2-40B4-BE49-F238E27FC236}">
                <a16:creationId xmlns:a16="http://schemas.microsoft.com/office/drawing/2014/main" id="{90ED7BFD-E6A0-3174-520A-375FBE941D48}"/>
              </a:ext>
            </a:extLst>
          </p:cNvPr>
          <p:cNvSpPr txBox="1">
            <a:spLocks/>
          </p:cNvSpPr>
          <p:nvPr/>
        </p:nvSpPr>
        <p:spPr>
          <a:xfrm>
            <a:off x="6708678" y="1849799"/>
            <a:ext cx="4774941" cy="1691471"/>
          </a:xfrm>
          <a:prstGeom prst="rect">
            <a:avLst/>
          </a:prstGeom>
          <a:solidFill>
            <a:schemeClr val="accent3"/>
          </a:solidFill>
          <a:ln w="28575">
            <a:solidFill>
              <a:schemeClr val="bg1"/>
            </a:solidFill>
          </a:ln>
        </p:spPr>
        <p:txBody>
          <a:bodyPr vert="horz" lIns="648000" tIns="45720" rIns="503999" bIns="45720" rtlCol="0" anchor="t">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s-CL" sz="1200" b="1" dirty="0">
              <a:solidFill>
                <a:schemeClr val="accent4"/>
              </a:solidFill>
            </a:endParaRPr>
          </a:p>
          <a:p>
            <a:pPr marL="0" indent="0">
              <a:buNone/>
            </a:pPr>
            <a:r>
              <a:rPr lang="es-CL" sz="1200" b="1" dirty="0">
                <a:solidFill>
                  <a:schemeClr val="accent4"/>
                </a:solidFill>
                <a:latin typeface="Montserrat" panose="00000500000000000000" pitchFamily="2" charset="0"/>
              </a:rPr>
              <a:t>Aceleración del crecimiento</a:t>
            </a:r>
          </a:p>
          <a:p>
            <a:pPr marL="0" indent="0">
              <a:buNone/>
            </a:pPr>
            <a:r>
              <a:rPr lang="es-MX" sz="1200" dirty="0">
                <a:solidFill>
                  <a:schemeClr val="bg1"/>
                </a:solidFill>
                <a:latin typeface="Montserrat" panose="00000500000000000000" pitchFamily="2" charset="0"/>
              </a:rPr>
              <a:t>Con el capital suficiente, los startups pueden invertir en investigación y desarrollo, marketing, y expandirse a nuevos mercados, lo que puede acelerar su crecimiento.</a:t>
            </a:r>
            <a:endParaRPr lang="es-CL" sz="1200" dirty="0">
              <a:solidFill>
                <a:schemeClr val="bg1"/>
              </a:solidFill>
              <a:latin typeface="Montserrat" panose="00000500000000000000" pitchFamily="2" charset="0"/>
            </a:endParaRPr>
          </a:p>
        </p:txBody>
      </p:sp>
      <p:sp>
        <p:nvSpPr>
          <p:cNvPr id="20" name="Oval 7">
            <a:extLst>
              <a:ext uri="{FF2B5EF4-FFF2-40B4-BE49-F238E27FC236}">
                <a16:creationId xmlns:a16="http://schemas.microsoft.com/office/drawing/2014/main" id="{5A3A8AB2-477E-7F06-BEF7-5B135A952278}"/>
              </a:ext>
            </a:extLst>
          </p:cNvPr>
          <p:cNvSpPr/>
          <p:nvPr/>
        </p:nvSpPr>
        <p:spPr>
          <a:xfrm>
            <a:off x="6100405" y="1770766"/>
            <a:ext cx="1041613"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3200" b="1" dirty="0">
                <a:solidFill>
                  <a:schemeClr val="tx2"/>
                </a:solidFill>
                <a:latin typeface="+mj-lt"/>
              </a:rPr>
              <a:t>2</a:t>
            </a:r>
          </a:p>
        </p:txBody>
      </p:sp>
      <p:sp>
        <p:nvSpPr>
          <p:cNvPr id="21" name="Text Placeholder 9">
            <a:extLst>
              <a:ext uri="{FF2B5EF4-FFF2-40B4-BE49-F238E27FC236}">
                <a16:creationId xmlns:a16="http://schemas.microsoft.com/office/drawing/2014/main" id="{A519B571-0C80-A4DF-072E-FFBE3FC428A2}"/>
              </a:ext>
            </a:extLst>
          </p:cNvPr>
          <p:cNvSpPr txBox="1">
            <a:spLocks/>
          </p:cNvSpPr>
          <p:nvPr/>
        </p:nvSpPr>
        <p:spPr>
          <a:xfrm>
            <a:off x="1271491" y="1823000"/>
            <a:ext cx="4349944" cy="1694130"/>
          </a:xfrm>
          <a:prstGeom prst="rect">
            <a:avLst/>
          </a:prstGeom>
          <a:solidFill>
            <a:schemeClr val="accent3"/>
          </a:solidFill>
          <a:ln w="28575">
            <a:solidFill>
              <a:schemeClr val="bg1"/>
            </a:solidFill>
          </a:ln>
        </p:spPr>
        <p:txBody>
          <a:bodyPr vert="horz" lIns="648000" tIns="45720" rIns="503999" bIns="45720" rtlCol="0" anchor="t">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L" sz="1200" b="1" dirty="0">
                <a:solidFill>
                  <a:schemeClr val="bg1"/>
                </a:solidFill>
              </a:rPr>
              <a:t> </a:t>
            </a:r>
          </a:p>
          <a:p>
            <a:pPr marL="0" indent="0">
              <a:buNone/>
            </a:pPr>
            <a:r>
              <a:rPr lang="es-CL" sz="1200" b="1" dirty="0">
                <a:solidFill>
                  <a:schemeClr val="accent4"/>
                </a:solidFill>
                <a:latin typeface="Montserrat" panose="00000500000000000000" pitchFamily="2" charset="0"/>
              </a:rPr>
              <a:t>Supervivencia y crecimiento</a:t>
            </a:r>
          </a:p>
          <a:p>
            <a:pPr marL="0" indent="0">
              <a:buNone/>
            </a:pPr>
            <a:r>
              <a:rPr lang="es-MX" sz="1200" dirty="0">
                <a:solidFill>
                  <a:schemeClr val="bg1"/>
                </a:solidFill>
                <a:latin typeface="Montserrat" panose="00000500000000000000" pitchFamily="2" charset="0"/>
              </a:rPr>
              <a:t>El capital es fundamental para la supervivencia de cualquier startup, ya que permite cubrir gastos operativos y de desarrollo hasta que la empresa alcance la rentabilidad.</a:t>
            </a:r>
            <a:endParaRPr lang="es-CL" sz="1200" dirty="0">
              <a:solidFill>
                <a:schemeClr val="bg1"/>
              </a:solidFill>
              <a:latin typeface="Montserrat" panose="00000500000000000000" pitchFamily="2" charset="0"/>
            </a:endParaRPr>
          </a:p>
        </p:txBody>
      </p:sp>
      <p:sp>
        <p:nvSpPr>
          <p:cNvPr id="22" name="Oval 7">
            <a:extLst>
              <a:ext uri="{FF2B5EF4-FFF2-40B4-BE49-F238E27FC236}">
                <a16:creationId xmlns:a16="http://schemas.microsoft.com/office/drawing/2014/main" id="{E421A3BE-859C-CD7B-0B36-C18FE1D1D388}"/>
              </a:ext>
            </a:extLst>
          </p:cNvPr>
          <p:cNvSpPr/>
          <p:nvPr/>
        </p:nvSpPr>
        <p:spPr>
          <a:xfrm>
            <a:off x="663218" y="1747172"/>
            <a:ext cx="1041613"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3200" b="1" dirty="0">
                <a:solidFill>
                  <a:schemeClr val="tx2"/>
                </a:solidFill>
                <a:latin typeface="+mj-lt"/>
              </a:rPr>
              <a:t>1</a:t>
            </a:r>
          </a:p>
        </p:txBody>
      </p:sp>
      <p:sp>
        <p:nvSpPr>
          <p:cNvPr id="23" name="Text Placeholder 9">
            <a:extLst>
              <a:ext uri="{FF2B5EF4-FFF2-40B4-BE49-F238E27FC236}">
                <a16:creationId xmlns:a16="http://schemas.microsoft.com/office/drawing/2014/main" id="{432E43F0-B8AB-5935-76EF-EC08174A3699}"/>
              </a:ext>
            </a:extLst>
          </p:cNvPr>
          <p:cNvSpPr txBox="1">
            <a:spLocks/>
          </p:cNvSpPr>
          <p:nvPr/>
        </p:nvSpPr>
        <p:spPr>
          <a:xfrm>
            <a:off x="6708678" y="3916822"/>
            <a:ext cx="4774941" cy="1694130"/>
          </a:xfrm>
          <a:prstGeom prst="rect">
            <a:avLst/>
          </a:prstGeom>
          <a:solidFill>
            <a:schemeClr val="accent3"/>
          </a:solidFill>
          <a:ln w="28575">
            <a:solidFill>
              <a:schemeClr val="bg1"/>
            </a:solidFill>
          </a:ln>
        </p:spPr>
        <p:txBody>
          <a:bodyPr vert="horz" lIns="648000" tIns="45720" rIns="503999" bIns="45720" rtlCol="0" anchor="ctr">
            <a:noAutofit/>
          </a:bodyPr>
          <a:lstStyle>
            <a:lvl1pPr marL="228600" indent="-228600" algn="l" defTabSz="914400" rtl="0" eaLnBrk="1" latinLnBrk="0" hangingPunct="1">
              <a:lnSpc>
                <a:spcPct val="90000"/>
              </a:lnSpc>
              <a:spcBef>
                <a:spcPts val="1000"/>
              </a:spcBef>
              <a:buClr>
                <a:srgbClr val="4FE14F"/>
              </a:buClr>
              <a:buFont typeface="Wingdings" pitchFamily="2" charset="2"/>
              <a:buChar char="§"/>
              <a:defRPr sz="2000" kern="1200">
                <a:solidFill>
                  <a:schemeClr val="bg2"/>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Clr>
                <a:srgbClr val="4FE14F"/>
              </a:buClr>
              <a:buFont typeface="Wingdings" pitchFamily="2" charset="2"/>
              <a:buChar char="§"/>
              <a:defRPr sz="18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rgbClr val="4FE14F"/>
              </a:buClr>
              <a:buFont typeface="Wingdings" pitchFamily="2" charset="2"/>
              <a:buChar char="§"/>
              <a:defRPr sz="16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rgbClr val="4FE14F"/>
              </a:buClr>
              <a:buFont typeface="Wingdings" pitchFamily="2" charset="2"/>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L" sz="1200" b="1">
                <a:solidFill>
                  <a:schemeClr val="accent4"/>
                </a:solidFill>
                <a:latin typeface="Montserrat" panose="00000500000000000000" pitchFamily="2" charset="0"/>
              </a:rPr>
              <a:t>Atracción de talento</a:t>
            </a:r>
          </a:p>
          <a:p>
            <a:pPr marL="0" indent="0">
              <a:buNone/>
            </a:pPr>
            <a:r>
              <a:rPr lang="es-MX" sz="1200">
                <a:solidFill>
                  <a:schemeClr val="bg1"/>
                </a:solidFill>
              </a:rPr>
              <a:t>El capital puede ser usado para contratar y retener a los mejores talentos, lo cual es crucial para el éxito a largo plazo de cualquier empresa.</a:t>
            </a:r>
            <a:endParaRPr lang="es-CL" sz="1200">
              <a:solidFill>
                <a:schemeClr val="bg1"/>
              </a:solidFill>
            </a:endParaRPr>
          </a:p>
        </p:txBody>
      </p:sp>
      <p:sp>
        <p:nvSpPr>
          <p:cNvPr id="24" name="Oval 7">
            <a:extLst>
              <a:ext uri="{FF2B5EF4-FFF2-40B4-BE49-F238E27FC236}">
                <a16:creationId xmlns:a16="http://schemas.microsoft.com/office/drawing/2014/main" id="{AEF51384-931F-B7D5-F4FA-CF3349496D41}"/>
              </a:ext>
            </a:extLst>
          </p:cNvPr>
          <p:cNvSpPr/>
          <p:nvPr/>
        </p:nvSpPr>
        <p:spPr>
          <a:xfrm>
            <a:off x="6100405" y="3837788"/>
            <a:ext cx="989312" cy="10084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3200" b="1" dirty="0">
                <a:solidFill>
                  <a:schemeClr val="tx2"/>
                </a:solidFill>
                <a:latin typeface="+mj-lt"/>
              </a:rPr>
              <a:t>4</a:t>
            </a:r>
          </a:p>
        </p:txBody>
      </p:sp>
    </p:spTree>
    <p:extLst>
      <p:ext uri="{BB962C8B-B14F-4D97-AF65-F5344CB8AC3E}">
        <p14:creationId xmlns:p14="http://schemas.microsoft.com/office/powerpoint/2010/main" val="2209037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A06C97A-0C8E-08E2-DAE9-226AAB152A7C}"/>
              </a:ext>
            </a:extLst>
          </p:cNvPr>
          <p:cNvSpPr txBox="1"/>
          <p:nvPr/>
        </p:nvSpPr>
        <p:spPr>
          <a:xfrm>
            <a:off x="891540" y="717546"/>
            <a:ext cx="10834296" cy="523220"/>
          </a:xfrm>
          <a:prstGeom prst="rect">
            <a:avLst/>
          </a:prstGeom>
          <a:noFill/>
        </p:spPr>
        <p:txBody>
          <a:bodyPr wrap="square" rtlCol="0">
            <a:spAutoFit/>
          </a:bodyPr>
          <a:lstStyle/>
          <a:p>
            <a:pPr algn="ctr"/>
            <a:r>
              <a:rPr lang="es-CL" sz="2800" b="1" dirty="0">
                <a:latin typeface="Avenir Next" panose="020B0503020202020204" pitchFamily="34" charset="0"/>
              </a:rPr>
              <a:t>Tabla de capitalización (</a:t>
            </a:r>
            <a:r>
              <a:rPr lang="es-CL" sz="2800" b="1" i="0" u="none" strike="noStrike" dirty="0" err="1">
                <a:solidFill>
                  <a:srgbClr val="202124"/>
                </a:solidFill>
                <a:effectLst/>
                <a:highlight>
                  <a:srgbClr val="FFFFFF"/>
                </a:highlight>
                <a:latin typeface="Avenir Next" panose="020B0503020202020204" pitchFamily="34" charset="0"/>
              </a:rPr>
              <a:t>cap</a:t>
            </a:r>
            <a:r>
              <a:rPr lang="es-CL" sz="2800" b="1" i="0" u="none" strike="noStrike" dirty="0">
                <a:solidFill>
                  <a:srgbClr val="202124"/>
                </a:solidFill>
                <a:effectLst/>
                <a:highlight>
                  <a:srgbClr val="FFFFFF"/>
                </a:highlight>
                <a:latin typeface="Avenir Next" panose="020B0503020202020204" pitchFamily="34" charset="0"/>
              </a:rPr>
              <a:t> table</a:t>
            </a:r>
            <a:r>
              <a:rPr lang="es-CL" sz="2800" b="1" dirty="0">
                <a:latin typeface="Avenir Next" panose="020B0503020202020204" pitchFamily="34" charset="0"/>
              </a:rPr>
              <a:t>)</a:t>
            </a:r>
          </a:p>
        </p:txBody>
      </p:sp>
      <p:sp>
        <p:nvSpPr>
          <p:cNvPr id="5" name="CuadroTexto 4">
            <a:extLst>
              <a:ext uri="{FF2B5EF4-FFF2-40B4-BE49-F238E27FC236}">
                <a16:creationId xmlns:a16="http://schemas.microsoft.com/office/drawing/2014/main" id="{B2B06B34-1E5A-2B42-67FB-E1A9D089C668}"/>
              </a:ext>
            </a:extLst>
          </p:cNvPr>
          <p:cNvSpPr txBox="1"/>
          <p:nvPr/>
        </p:nvSpPr>
        <p:spPr>
          <a:xfrm>
            <a:off x="891540" y="6378832"/>
            <a:ext cx="3124510" cy="276999"/>
          </a:xfrm>
          <a:prstGeom prst="rect">
            <a:avLst/>
          </a:prstGeom>
          <a:noFill/>
        </p:spPr>
        <p:txBody>
          <a:bodyPr wrap="none" rtlCol="0">
            <a:spAutoFit/>
          </a:bodyPr>
          <a:lstStyle/>
          <a:p>
            <a:r>
              <a:rPr lang="es-CL" sz="1200" dirty="0">
                <a:latin typeface="Avenir Next" panose="020B0503020202020204" pitchFamily="34" charset="0"/>
              </a:rPr>
              <a:t>Fuente: </a:t>
            </a:r>
            <a:r>
              <a:rPr lang="es-CL" sz="1200" dirty="0" err="1">
                <a:latin typeface="Avenir Next" panose="020B0503020202020204" pitchFamily="34" charset="0"/>
              </a:rPr>
              <a:t>medium.com</a:t>
            </a:r>
            <a:r>
              <a:rPr lang="es-CL" sz="1200" dirty="0">
                <a:latin typeface="Avenir Next" panose="020B0503020202020204" pitchFamily="34" charset="0"/>
              </a:rPr>
              <a:t> acceso 09/05/2024 </a:t>
            </a:r>
          </a:p>
        </p:txBody>
      </p:sp>
      <p:sp>
        <p:nvSpPr>
          <p:cNvPr id="7" name="CuadroTexto 6">
            <a:extLst>
              <a:ext uri="{FF2B5EF4-FFF2-40B4-BE49-F238E27FC236}">
                <a16:creationId xmlns:a16="http://schemas.microsoft.com/office/drawing/2014/main" id="{C97C2C59-5F23-C6E6-09AE-B48782BF54DA}"/>
              </a:ext>
            </a:extLst>
          </p:cNvPr>
          <p:cNvSpPr txBox="1"/>
          <p:nvPr/>
        </p:nvSpPr>
        <p:spPr>
          <a:xfrm>
            <a:off x="891540" y="2382470"/>
            <a:ext cx="3669030" cy="2031325"/>
          </a:xfrm>
          <a:prstGeom prst="rect">
            <a:avLst/>
          </a:prstGeom>
          <a:noFill/>
        </p:spPr>
        <p:txBody>
          <a:bodyPr wrap="square">
            <a:spAutoFit/>
          </a:bodyPr>
          <a:lstStyle/>
          <a:p>
            <a:r>
              <a:rPr lang="es-CL" b="0" i="0" u="none" strike="noStrike" dirty="0">
                <a:solidFill>
                  <a:srgbClr val="242424"/>
                </a:solidFill>
                <a:effectLst/>
                <a:highlight>
                  <a:srgbClr val="FFFFFF"/>
                </a:highlight>
                <a:latin typeface="Avenir Next" panose="020B0503020202020204" pitchFamily="34" charset="0"/>
              </a:rPr>
              <a:t>Un </a:t>
            </a:r>
            <a:r>
              <a:rPr lang="es-CL" b="0" i="0" u="none" strike="noStrike" dirty="0" err="1">
                <a:solidFill>
                  <a:srgbClr val="242424"/>
                </a:solidFill>
                <a:effectLst/>
                <a:highlight>
                  <a:srgbClr val="FFFFFF"/>
                </a:highlight>
                <a:latin typeface="Avenir Next" panose="020B0503020202020204" pitchFamily="34" charset="0"/>
              </a:rPr>
              <a:t>cap</a:t>
            </a:r>
            <a:r>
              <a:rPr lang="es-CL" b="0" i="0" u="none" strike="noStrike" dirty="0">
                <a:solidFill>
                  <a:srgbClr val="242424"/>
                </a:solidFill>
                <a:effectLst/>
                <a:highlight>
                  <a:srgbClr val="FFFFFF"/>
                </a:highlight>
                <a:latin typeface="Avenir Next" panose="020B0503020202020204" pitchFamily="34" charset="0"/>
              </a:rPr>
              <a:t> table es una hoja de cálculo que descompone quién es dueño de qué en un startup. El </a:t>
            </a:r>
            <a:r>
              <a:rPr lang="es-CL" b="0" i="0" u="none" strike="noStrike" dirty="0" err="1">
                <a:solidFill>
                  <a:srgbClr val="242424"/>
                </a:solidFill>
                <a:effectLst/>
                <a:highlight>
                  <a:srgbClr val="FFFFFF"/>
                </a:highlight>
                <a:latin typeface="Avenir Next" panose="020B0503020202020204" pitchFamily="34" charset="0"/>
              </a:rPr>
              <a:t>cap</a:t>
            </a:r>
            <a:r>
              <a:rPr lang="es-CL" b="0" i="0" u="none" strike="noStrike" dirty="0">
                <a:solidFill>
                  <a:srgbClr val="242424"/>
                </a:solidFill>
                <a:effectLst/>
                <a:highlight>
                  <a:srgbClr val="FFFFFF"/>
                </a:highlight>
                <a:latin typeface="Avenir Next" panose="020B0503020202020204" pitchFamily="34" charset="0"/>
              </a:rPr>
              <a:t> table es un ítem clave de </a:t>
            </a:r>
            <a:r>
              <a:rPr lang="es-CL" b="0" i="0" u="none" strike="noStrike" dirty="0" err="1">
                <a:solidFill>
                  <a:srgbClr val="242424"/>
                </a:solidFill>
                <a:effectLst/>
                <a:highlight>
                  <a:srgbClr val="FFFFFF"/>
                </a:highlight>
                <a:latin typeface="Avenir Next" panose="020B0503020202020204" pitchFamily="34" charset="0"/>
              </a:rPr>
              <a:t>due</a:t>
            </a:r>
            <a:r>
              <a:rPr lang="es-CL" b="0" i="0" u="none" strike="noStrike" dirty="0">
                <a:solidFill>
                  <a:srgbClr val="242424"/>
                </a:solidFill>
                <a:effectLst/>
                <a:highlight>
                  <a:srgbClr val="FFFFFF"/>
                </a:highlight>
                <a:latin typeface="Avenir Next" panose="020B0503020202020204" pitchFamily="34" charset="0"/>
              </a:rPr>
              <a:t> </a:t>
            </a:r>
            <a:r>
              <a:rPr lang="es-CL" b="0" i="0" u="none" strike="noStrike" dirty="0" err="1">
                <a:solidFill>
                  <a:srgbClr val="242424"/>
                </a:solidFill>
                <a:effectLst/>
                <a:highlight>
                  <a:srgbClr val="FFFFFF"/>
                </a:highlight>
                <a:latin typeface="Avenir Next" panose="020B0503020202020204" pitchFamily="34" charset="0"/>
              </a:rPr>
              <a:t>diligence</a:t>
            </a:r>
            <a:r>
              <a:rPr lang="es-CL" b="0" i="0" u="none" strike="noStrike" dirty="0">
                <a:solidFill>
                  <a:srgbClr val="242424"/>
                </a:solidFill>
                <a:effectLst/>
                <a:highlight>
                  <a:srgbClr val="FFFFFF"/>
                </a:highlight>
                <a:latin typeface="Avenir Next" panose="020B0503020202020204" pitchFamily="34" charset="0"/>
              </a:rPr>
              <a:t> porque revela cómo impacta a cada accionista el ingreso de financiamiento.</a:t>
            </a:r>
            <a:endParaRPr lang="es-CL" dirty="0">
              <a:latin typeface="Avenir Next" panose="020B0503020202020204" pitchFamily="34" charset="0"/>
            </a:endParaRPr>
          </a:p>
        </p:txBody>
      </p:sp>
      <p:pic>
        <p:nvPicPr>
          <p:cNvPr id="3" name="Imagen 2">
            <a:extLst>
              <a:ext uri="{FF2B5EF4-FFF2-40B4-BE49-F238E27FC236}">
                <a16:creationId xmlns:a16="http://schemas.microsoft.com/office/drawing/2014/main" id="{E2B7F561-F898-82FF-A30B-0F2F5FE6B0F1}"/>
              </a:ext>
            </a:extLst>
          </p:cNvPr>
          <p:cNvPicPr>
            <a:picLocks noChangeAspect="1"/>
          </p:cNvPicPr>
          <p:nvPr/>
        </p:nvPicPr>
        <p:blipFill>
          <a:blip r:embed="rId2"/>
          <a:stretch>
            <a:fillRect/>
          </a:stretch>
        </p:blipFill>
        <p:spPr>
          <a:xfrm>
            <a:off x="4847044" y="2069474"/>
            <a:ext cx="6878792" cy="2719051"/>
          </a:xfrm>
          <a:prstGeom prst="rect">
            <a:avLst/>
          </a:prstGeom>
        </p:spPr>
      </p:pic>
    </p:spTree>
    <p:extLst>
      <p:ext uri="{BB962C8B-B14F-4D97-AF65-F5344CB8AC3E}">
        <p14:creationId xmlns:p14="http://schemas.microsoft.com/office/powerpoint/2010/main" val="2662394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664DB2C-3E07-4D34-9D21-3E00FD66C4FE}"/>
              </a:ext>
            </a:extLst>
          </p:cNvPr>
          <p:cNvSpPr txBox="1"/>
          <p:nvPr/>
        </p:nvSpPr>
        <p:spPr>
          <a:xfrm>
            <a:off x="794327" y="656779"/>
            <a:ext cx="6346702" cy="5487592"/>
          </a:xfrm>
          <a:prstGeom prst="rect">
            <a:avLst/>
          </a:prstGeom>
          <a:noFill/>
        </p:spPr>
        <p:txBody>
          <a:bodyPr wrap="square" rtlCol="0">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El </a:t>
            </a:r>
            <a:r>
              <a:rPr kumimoji="0" lang="es-CL" sz="1400" i="0" u="none" strike="noStrike" kern="1200" cap="none" spc="0" normalizeH="0" baseline="0" noProof="0" dirty="0">
                <a:ln>
                  <a:noFill/>
                </a:ln>
                <a:effectLst/>
                <a:highlight>
                  <a:srgbClr val="FDC405"/>
                </a:highlight>
                <a:uLnTx/>
                <a:uFillTx/>
                <a:latin typeface="Avenir Next" panose="020B0503020202020204" pitchFamily="34" charset="0"/>
                <a:ea typeface="ヒラギノ角ゴ ProN W3"/>
              </a:rPr>
              <a:t>financiamiento emprendedor </a:t>
            </a: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es financiamiento especializado – a diferencia del financiamiento tradicional, bancos principalmente-, a este se le denomina capital inteligente, o </a:t>
            </a:r>
            <a:r>
              <a:rPr kumimoji="0" lang="en-US" sz="1400" b="1" i="1" u="none" strike="noStrike" kern="1200" cap="none" spc="0" normalizeH="0" baseline="0" noProof="0" dirty="0">
                <a:ln>
                  <a:noFill/>
                </a:ln>
                <a:effectLst/>
                <a:uLnTx/>
                <a:uFillTx/>
                <a:latin typeface="Avenir Next" panose="020B0503020202020204" pitchFamily="34" charset="0"/>
                <a:ea typeface="ヒラギノ角ゴ ProN W3"/>
              </a:rPr>
              <a:t>smart money</a:t>
            </a:r>
            <a:r>
              <a:rPr kumimoji="0" lang="en-US" sz="1400" b="1" i="0" u="none" strike="noStrike" kern="1200" cap="none" spc="0" normalizeH="0" baseline="0" noProof="0" dirty="0">
                <a:ln>
                  <a:noFill/>
                </a:ln>
                <a:effectLst/>
                <a:uLnTx/>
                <a:uFillTx/>
                <a:latin typeface="Avenir Next" panose="020B0503020202020204" pitchFamily="34" charset="0"/>
                <a:ea typeface="ヒラギノ角ゴ ProN W3"/>
              </a:rPr>
              <a:t>.</a:t>
            </a:r>
          </a:p>
          <a:p>
            <a:pPr marL="0" marR="0" lvl="0" indent="0" algn="l" defTabSz="914400" rtl="0" eaLnBrk="1" fontAlgn="auto" latinLnBrk="0" hangingPunct="1">
              <a:lnSpc>
                <a:spcPct val="114000"/>
              </a:lnSpc>
              <a:spcBef>
                <a:spcPts val="0"/>
              </a:spcBef>
              <a:spcAft>
                <a:spcPts val="0"/>
              </a:spcAft>
              <a:buClrTx/>
              <a:buSzTx/>
              <a:buFontTx/>
              <a:buNone/>
              <a:tabLst/>
              <a:defRPr/>
            </a:pPr>
            <a:endParaRPr kumimoji="0" lang="en-US" sz="14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Avenir Next" panose="020B0503020202020204" pitchFamily="34" charset="0"/>
                <a:ea typeface="ヒラギノ角ゴ ProN W3"/>
              </a:rPr>
              <a:t>¿</a:t>
            </a:r>
            <a:r>
              <a:rPr kumimoji="0" lang="es-CL" sz="1400" b="1" i="0" u="none" strike="noStrike" kern="1200" cap="none" spc="0" normalizeH="0" baseline="0" noProof="0" dirty="0">
                <a:ln>
                  <a:noFill/>
                </a:ln>
                <a:effectLst/>
                <a:uLnTx/>
                <a:uFillTx/>
                <a:latin typeface="Avenir Next" panose="020B0503020202020204" pitchFamily="34" charset="0"/>
                <a:ea typeface="ヒラギノ角ゴ ProN W3"/>
              </a:rPr>
              <a:t>Qué significa “inteligente”?</a:t>
            </a:r>
          </a:p>
          <a:p>
            <a:pPr marL="0" marR="0" lvl="0" indent="0" algn="l" defTabSz="914400" rtl="0" eaLnBrk="1" fontAlgn="auto" latinLnBrk="0" hangingPunct="1">
              <a:lnSpc>
                <a:spcPct val="114000"/>
              </a:lnSpc>
              <a:spcBef>
                <a:spcPts val="0"/>
              </a:spcBef>
              <a:spcAft>
                <a:spcPts val="0"/>
              </a:spcAft>
              <a:buClrTx/>
              <a:buSzTx/>
              <a:buFontTx/>
              <a:buNone/>
              <a:tabLst/>
              <a:defRPr/>
            </a:pPr>
            <a:endParaRPr kumimoji="0" lang="es-CL" sz="14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Que el financiamiento viene con socios (condiciones), y que aportan (o restan) inteligencia al negocio, desde cómo se plantean los incentivos y la libertad para el grupo emprendedor, a las redes y conocimiento especializado que pueden sumar.</a:t>
            </a:r>
          </a:p>
          <a:p>
            <a:pPr marL="0" marR="0" lvl="0" indent="0" algn="l" defTabSz="914400" rtl="0" eaLnBrk="1" fontAlgn="auto" latinLnBrk="0" hangingPunct="1">
              <a:lnSpc>
                <a:spcPct val="114000"/>
              </a:lnSpc>
              <a:spcBef>
                <a:spcPts val="0"/>
              </a:spcBef>
              <a:spcAft>
                <a:spcPts val="0"/>
              </a:spcAft>
              <a:buClrTx/>
              <a:buSzTx/>
              <a:buFontTx/>
              <a:buNone/>
              <a:tabLst/>
              <a:defRPr/>
            </a:pPr>
            <a:endParaRPr kumimoji="0" lang="es-CL" sz="14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Ejemplo, un inversionista ángel que pide sentarse en el directorio, o capital de riesgo (si es </a:t>
            </a:r>
            <a:r>
              <a:rPr kumimoji="0" lang="en-US" sz="1400" b="0" i="1" u="none" strike="noStrike" kern="1200" cap="none" spc="0" normalizeH="0" baseline="0" noProof="0" dirty="0">
                <a:ln>
                  <a:noFill/>
                </a:ln>
                <a:effectLst/>
                <a:uLnTx/>
                <a:uFillTx/>
                <a:latin typeface="Avenir Next" panose="020B0503020202020204" pitchFamily="34" charset="0"/>
                <a:ea typeface="ヒラギノ角ゴ ProN W3"/>
              </a:rPr>
              <a:t>company builder </a:t>
            </a: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o </a:t>
            </a:r>
            <a:r>
              <a:rPr kumimoji="0" lang="en-US" sz="1400" b="0" i="1" u="none" strike="noStrike" kern="1200" cap="none" spc="0" normalizeH="0" baseline="0" noProof="0" dirty="0">
                <a:ln>
                  <a:noFill/>
                </a:ln>
                <a:effectLst/>
                <a:uLnTx/>
                <a:uFillTx/>
                <a:latin typeface="Avenir Next" panose="020B0503020202020204" pitchFamily="34" charset="0"/>
                <a:ea typeface="ヒラギノ角ゴ ProN W3"/>
              </a:rPr>
              <a:t>search fund</a:t>
            </a: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 o de que nacionalidad o ecosistema), o un </a:t>
            </a:r>
            <a:r>
              <a:rPr kumimoji="0" lang="en-US" sz="1400" b="0" i="1" u="none" strike="noStrike" kern="1200" cap="none" spc="0" normalizeH="0" baseline="0" noProof="0" dirty="0">
                <a:ln>
                  <a:noFill/>
                </a:ln>
                <a:effectLst/>
                <a:uLnTx/>
                <a:uFillTx/>
                <a:latin typeface="Avenir Next" panose="020B0503020202020204" pitchFamily="34" charset="0"/>
                <a:ea typeface="ヒラギノ角ゴ ProN W3"/>
              </a:rPr>
              <a:t>Corporate Venture</a:t>
            </a:r>
            <a:r>
              <a:rPr kumimoji="0" lang="es-CL" sz="1400" b="0" i="1" u="none" strike="noStrike" kern="1200" cap="none" spc="0" normalizeH="0" baseline="0" noProof="0" dirty="0">
                <a:ln>
                  <a:noFill/>
                </a:ln>
                <a:effectLst/>
                <a:uLnTx/>
                <a:uFillTx/>
                <a:latin typeface="Avenir Next" panose="020B0503020202020204" pitchFamily="34" charset="0"/>
                <a:ea typeface="ヒラギノ角ゴ ProN W3"/>
              </a:rPr>
              <a:t>, </a:t>
            </a: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o fondos públicos (ejemplo, PRAE Corfo).</a:t>
            </a:r>
          </a:p>
          <a:p>
            <a:pPr marL="0" marR="0" lvl="0" indent="0" algn="l" defTabSz="914400" rtl="0" eaLnBrk="1" fontAlgn="auto" latinLnBrk="0" hangingPunct="1">
              <a:lnSpc>
                <a:spcPct val="114000"/>
              </a:lnSpc>
              <a:spcBef>
                <a:spcPts val="0"/>
              </a:spcBef>
              <a:spcAft>
                <a:spcPts val="0"/>
              </a:spcAft>
              <a:buClrTx/>
              <a:buSzTx/>
              <a:buFontTx/>
              <a:buNone/>
              <a:tabLst/>
              <a:defRPr/>
            </a:pPr>
            <a:endParaRPr kumimoji="0" lang="es-CL" sz="14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La inteligencia es: </a:t>
            </a: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redes, sistemas de control, modelos de negocios, experiencia, especialización, expertos, etc.</a:t>
            </a:r>
          </a:p>
          <a:p>
            <a:pPr marL="0" marR="0" lvl="0" indent="0" algn="l" defTabSz="914400" rtl="0" eaLnBrk="1" fontAlgn="auto" latinLnBrk="0" hangingPunct="1">
              <a:lnSpc>
                <a:spcPct val="114000"/>
              </a:lnSpc>
              <a:spcBef>
                <a:spcPts val="0"/>
              </a:spcBef>
              <a:spcAft>
                <a:spcPts val="0"/>
              </a:spcAft>
              <a:buClrTx/>
              <a:buSzTx/>
              <a:buFontTx/>
              <a:buNone/>
              <a:tabLst/>
              <a:defRPr/>
            </a:pPr>
            <a:endParaRPr lang="es-CL" sz="1400" dirty="0">
              <a:latin typeface="Avenir Next" panose="020B0503020202020204" pitchFamily="34" charset="0"/>
              <a:ea typeface="ヒラギノ角ゴ ProN W3"/>
            </a:endParaRP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Por esto es relevante conocer las características de cada inversor, historia, comportamiento, récord de inversiones, opiniones de ex socios, startups invertidos…</a:t>
            </a:r>
          </a:p>
        </p:txBody>
      </p:sp>
    </p:spTree>
    <p:extLst>
      <p:ext uri="{BB962C8B-B14F-4D97-AF65-F5344CB8AC3E}">
        <p14:creationId xmlns:p14="http://schemas.microsoft.com/office/powerpoint/2010/main" val="1228877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7670302-7F01-4378-8062-D6300CCF5754}"/>
              </a:ext>
            </a:extLst>
          </p:cNvPr>
          <p:cNvSpPr/>
          <p:nvPr/>
        </p:nvSpPr>
        <p:spPr>
          <a:xfrm>
            <a:off x="695325" y="556895"/>
            <a:ext cx="5708723" cy="591848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dirty="0">
                <a:ln>
                  <a:noFill/>
                </a:ln>
                <a:effectLst/>
                <a:uLnTx/>
                <a:uFillTx/>
                <a:latin typeface="Avenir Next" panose="020B0503020202020204" pitchFamily="34" charset="0"/>
                <a:ea typeface="ヒラギノ角ゴ ProN W3"/>
              </a:rPr>
              <a:t>INVERSOR ÁNGEL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4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just" defTabSz="914400" rtl="0" eaLnBrk="1" fontAlgn="auto" latinLnBrk="0" hangingPunct="1">
              <a:lnSpc>
                <a:spcPct val="114000"/>
              </a:lnSpc>
              <a:spcBef>
                <a:spcPts val="0"/>
              </a:spcBef>
              <a:spcAft>
                <a:spcPts val="0"/>
              </a:spcAft>
              <a:buClrTx/>
              <a:buSzTx/>
              <a:buFontTx/>
              <a:buNone/>
              <a:tabLst/>
              <a:defRPr/>
            </a:pP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Un </a:t>
            </a:r>
            <a:r>
              <a:rPr kumimoji="0" lang="es-CL" sz="1400" b="1" i="0" u="none" strike="noStrike" kern="1200" cap="none" spc="0" normalizeH="0" baseline="0" noProof="0" dirty="0">
                <a:ln>
                  <a:noFill/>
                </a:ln>
                <a:effectLst/>
                <a:uLnTx/>
                <a:uFillTx/>
                <a:latin typeface="Avenir Next" panose="020B0503020202020204" pitchFamily="34" charset="0"/>
                <a:ea typeface="ヒラギノ角ゴ ProN W3"/>
              </a:rPr>
              <a:t>inversor ángel</a:t>
            </a: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 (en inglés </a:t>
            </a:r>
            <a:r>
              <a:rPr kumimoji="0" lang="es-CL" sz="1400" b="0" i="1" u="none" strike="noStrike" kern="1200" cap="none" spc="0" normalizeH="0" baseline="0" noProof="0" dirty="0" err="1">
                <a:ln>
                  <a:noFill/>
                </a:ln>
                <a:effectLst/>
                <a:uLnTx/>
                <a:uFillTx/>
                <a:latin typeface="Avenir Next" panose="020B0503020202020204" pitchFamily="34" charset="0"/>
                <a:ea typeface="ヒラギノ角ゴ ProN W3"/>
              </a:rPr>
              <a:t>business</a:t>
            </a:r>
            <a:r>
              <a:rPr kumimoji="0" lang="es-CL" sz="1400" b="0" i="1" u="none" strike="noStrike" kern="1200" cap="none" spc="0" normalizeH="0" baseline="0" noProof="0" dirty="0">
                <a:ln>
                  <a:noFill/>
                </a:ln>
                <a:effectLst/>
                <a:uLnTx/>
                <a:uFillTx/>
                <a:latin typeface="Avenir Next" panose="020B0503020202020204" pitchFamily="34" charset="0"/>
                <a:ea typeface="ヒラギノ角ゴ ProN W3"/>
              </a:rPr>
              <a:t> </a:t>
            </a:r>
            <a:r>
              <a:rPr kumimoji="0" lang="es-CL" sz="1400" b="0" i="1" u="none" strike="noStrike" kern="1200" cap="none" spc="0" normalizeH="0" baseline="0" noProof="0" dirty="0" err="1">
                <a:ln>
                  <a:noFill/>
                </a:ln>
                <a:effectLst/>
                <a:uLnTx/>
                <a:uFillTx/>
                <a:latin typeface="Avenir Next" panose="020B0503020202020204" pitchFamily="34" charset="0"/>
                <a:ea typeface="ヒラギノ角ゴ ProN W3"/>
              </a:rPr>
              <a:t>angel</a:t>
            </a: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 abreviado B. A.), también llamado </a:t>
            </a:r>
            <a:r>
              <a:rPr kumimoji="0" lang="es-CL" sz="1400" b="1" i="0" u="none" strike="noStrike" kern="1200" cap="none" spc="0" normalizeH="0" baseline="0" noProof="0" dirty="0">
                <a:ln>
                  <a:noFill/>
                </a:ln>
                <a:effectLst/>
                <a:uLnTx/>
                <a:uFillTx/>
                <a:latin typeface="Avenir Next" panose="020B0503020202020204" pitchFamily="34" charset="0"/>
                <a:ea typeface="ヒラギノ角ゴ ProN W3"/>
              </a:rPr>
              <a:t>padrino inversor</a:t>
            </a: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 o </a:t>
            </a:r>
            <a:r>
              <a:rPr kumimoji="0" lang="es-CL" sz="1400" b="1" i="0" u="none" strike="noStrike" kern="1200" cap="none" spc="0" normalizeH="0" baseline="0" noProof="0" dirty="0">
                <a:ln>
                  <a:noFill/>
                </a:ln>
                <a:effectLst/>
                <a:uLnTx/>
                <a:uFillTx/>
                <a:latin typeface="Avenir Next" panose="020B0503020202020204" pitchFamily="34" charset="0"/>
                <a:ea typeface="ヒラギノ角ゴ ProN W3"/>
              </a:rPr>
              <a:t>inversor de proximidad</a:t>
            </a: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 es un individuo próspero que provee capital a una </a:t>
            </a:r>
            <a:r>
              <a:rPr kumimoji="0" lang="es-CL" sz="1400" b="0" i="1" u="none" strike="noStrike" kern="1200" cap="none" spc="0" normalizeH="0" baseline="0" noProof="0" dirty="0" err="1">
                <a:ln>
                  <a:noFill/>
                </a:ln>
                <a:effectLst/>
                <a:uLnTx/>
                <a:uFillTx/>
                <a:latin typeface="Avenir Next" panose="020B0503020202020204" pitchFamily="34" charset="0"/>
                <a:ea typeface="ヒラギノ角ゴ ProN W3"/>
              </a:rPr>
              <a:t>start</a:t>
            </a:r>
            <a:r>
              <a:rPr kumimoji="0" lang="es-CL" sz="1400" b="0" i="1" u="none" strike="noStrike" kern="1200" cap="none" spc="0" normalizeH="0" baseline="0" noProof="0" dirty="0">
                <a:ln>
                  <a:noFill/>
                </a:ln>
                <a:effectLst/>
                <a:uLnTx/>
                <a:uFillTx/>
                <a:latin typeface="Avenir Next" panose="020B0503020202020204" pitchFamily="34" charset="0"/>
                <a:ea typeface="ヒラギノ角ゴ ProN W3"/>
              </a:rPr>
              <a:t>-up</a:t>
            </a: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 o empresa emergente, usualmente a cambio de una participación accionaria. Además del capital financiero, aportan sus conocimientos empresariales o profesionales adecuados para el desarrollo de la sociedad en la que invierten. </a:t>
            </a:r>
            <a:r>
              <a:rPr kumimoji="0" lang="es-CL" sz="1400" b="0" i="0" u="none" strike="noStrike" kern="1200" cap="none" spc="0" normalizeH="0" baseline="0" noProof="0" dirty="0">
                <a:ln>
                  <a:noFill/>
                </a:ln>
                <a:effectLst/>
                <a:highlight>
                  <a:srgbClr val="FDC405"/>
                </a:highlight>
                <a:uLnTx/>
                <a:uFillTx/>
                <a:latin typeface="Avenir Next" panose="020B0503020202020204" pitchFamily="34" charset="0"/>
                <a:ea typeface="ヒラギノ角ゴ ProN W3"/>
              </a:rPr>
              <a:t>Los ángeles típicamente invierten sus propios fondos, no como las entidades de capital riesgo, quienes administran profesionalmente dinero de terceros a través de un fondo</a:t>
            </a: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 Un número cada vez mayor de ángeles inversores se están organizando en redes, grupos o clubes de ángeles para compartir esfuerzos y unir sus capitales de inversión.</a:t>
            </a:r>
          </a:p>
          <a:p>
            <a:pPr marL="0" marR="0" lvl="0" indent="0" algn="just" defTabSz="914400" rtl="0" eaLnBrk="1" fontAlgn="auto" latinLnBrk="0" hangingPunct="1">
              <a:lnSpc>
                <a:spcPct val="114000"/>
              </a:lnSpc>
              <a:spcBef>
                <a:spcPts val="0"/>
              </a:spcBef>
              <a:spcAft>
                <a:spcPts val="0"/>
              </a:spcAft>
              <a:buClrTx/>
              <a:buSzTx/>
              <a:buFontTx/>
              <a:buNone/>
              <a:tabLst/>
              <a:defRPr/>
            </a:pPr>
            <a:endParaRPr lang="es-CL" sz="1400" dirty="0">
              <a:latin typeface="Avenir Next" panose="020B0503020202020204" pitchFamily="34" charset="0"/>
              <a:ea typeface="ヒラギノ角ゴ ProN W3"/>
            </a:endParaRPr>
          </a:p>
          <a:p>
            <a:pPr marL="0" marR="0" lvl="0" indent="0" algn="just" defTabSz="914400" rtl="0" eaLnBrk="1" fontAlgn="auto" latinLnBrk="0" hangingPunct="1">
              <a:lnSpc>
                <a:spcPct val="114000"/>
              </a:lnSpc>
              <a:spcBef>
                <a:spcPts val="0"/>
              </a:spcBef>
              <a:spcAft>
                <a:spcPts val="0"/>
              </a:spcAft>
              <a:buClrTx/>
              <a:buSzTx/>
              <a:buFontTx/>
              <a:buNone/>
              <a:tabLst/>
              <a:defRPr/>
            </a:pPr>
            <a:r>
              <a:rPr kumimoji="0" lang="es-CL" sz="1400" b="0" i="0" u="none" strike="noStrike" kern="1200" cap="none" spc="0" normalizeH="0" baseline="0" noProof="0" dirty="0">
                <a:ln>
                  <a:noFill/>
                </a:ln>
                <a:effectLst/>
                <a:uLnTx/>
                <a:uFillTx/>
                <a:latin typeface="Avenir Next" panose="020B0503020202020204" pitchFamily="34" charset="0"/>
                <a:ea typeface="ヒラギノ角ゴ ProN W3"/>
              </a:rPr>
              <a:t>Existen distintos tipos de ángeles, caracterizados por su comportamiento de inversión, los más relevantes son quienes se involucran y actúan aportando conocimiento, desde ser mentores, ejecutivos, posiciones clave. Algunos continúan en siguientes rondas de inversión, y son llamados “super ángeles”, todas estas categorías, posiciones, roles, han ido variando en los últimos años, pues existen muchos ex startups, o ex ejecutivos ligados a innovación que ha comenzado a invertir, y los tiempos en que ingresan (temprano a veces) y montos han ido variando.</a:t>
            </a:r>
          </a:p>
        </p:txBody>
      </p:sp>
      <p:pic>
        <p:nvPicPr>
          <p:cNvPr id="2" name="Picture 2" descr="Resultado de imagen para que son los inversionistas angeles">
            <a:extLst>
              <a:ext uri="{FF2B5EF4-FFF2-40B4-BE49-F238E27FC236}">
                <a16:creationId xmlns:a16="http://schemas.microsoft.com/office/drawing/2014/main" id="{300453F9-CBA3-3366-F6FA-76F505C01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8624" y="987895"/>
            <a:ext cx="5400675" cy="244110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62382A0B-1393-4F49-AEFD-F2A02AC255FB}"/>
              </a:ext>
            </a:extLst>
          </p:cNvPr>
          <p:cNvSpPr txBox="1"/>
          <p:nvPr/>
        </p:nvSpPr>
        <p:spPr>
          <a:xfrm>
            <a:off x="6668624" y="3898013"/>
            <a:ext cx="5400675" cy="64633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sz="1800" b="1" i="0" u="none" strike="noStrike" kern="1200" cap="none" spc="0" normalizeH="0" baseline="0" noProof="0" dirty="0">
                <a:ln>
                  <a:noFill/>
                </a:ln>
                <a:solidFill>
                  <a:srgbClr val="E33B1F"/>
                </a:solidFill>
                <a:effectLst/>
                <a:uLnTx/>
                <a:uFillTx/>
                <a:latin typeface="+mn-lt"/>
                <a:ea typeface="ヒラギノ角ゴ ProN W3"/>
              </a:rPr>
              <a:t>Fase inicial desde USD 20.000 a USD 200.000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sz="1800" b="1" i="0" u="none" strike="noStrike" kern="1200" cap="none" spc="0" normalizeH="0" baseline="0" noProof="0" dirty="0">
                <a:ln>
                  <a:noFill/>
                </a:ln>
                <a:solidFill>
                  <a:srgbClr val="E33B1F"/>
                </a:solidFill>
                <a:effectLst/>
                <a:uLnTx/>
                <a:uFillTx/>
                <a:latin typeface="+mn-lt"/>
                <a:ea typeface="ヒラギノ角ゴ ProN W3"/>
              </a:rPr>
              <a:t>Experiencia, contactos, confianza, apoyo</a:t>
            </a:r>
          </a:p>
        </p:txBody>
      </p:sp>
    </p:spTree>
    <p:extLst>
      <p:ext uri="{BB962C8B-B14F-4D97-AF65-F5344CB8AC3E}">
        <p14:creationId xmlns:p14="http://schemas.microsoft.com/office/powerpoint/2010/main" val="343854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36945F-0028-081F-7856-EC3AB54142D2}"/>
              </a:ext>
            </a:extLst>
          </p:cNvPr>
          <p:cNvSpPr>
            <a:spLocks noGrp="1"/>
          </p:cNvSpPr>
          <p:nvPr>
            <p:ph type="title"/>
          </p:nvPr>
        </p:nvSpPr>
        <p:spPr/>
        <p:txBody>
          <a:bodyPr/>
          <a:lstStyle/>
          <a:p>
            <a:pPr algn="ctr"/>
            <a:r>
              <a:rPr lang="en-US" dirty="0"/>
              <a:t>Crowdfunding </a:t>
            </a:r>
          </a:p>
        </p:txBody>
      </p:sp>
      <p:sp>
        <p:nvSpPr>
          <p:cNvPr id="4" name="Marcador de número de diapositiva 3">
            <a:extLst>
              <a:ext uri="{FF2B5EF4-FFF2-40B4-BE49-F238E27FC236}">
                <a16:creationId xmlns:a16="http://schemas.microsoft.com/office/drawing/2014/main" id="{F8D021C2-7792-D4F6-4E6B-DB260DA44059}"/>
              </a:ext>
            </a:extLst>
          </p:cNvPr>
          <p:cNvSpPr>
            <a:spLocks noGrp="1"/>
          </p:cNvSpPr>
          <p:nvPr>
            <p:ph type="sldNum" sz="quarter" idx="4"/>
          </p:nvPr>
        </p:nvSpPr>
        <p:spPr/>
        <p:txBody>
          <a:bodyPr/>
          <a:lstStyle/>
          <a:p>
            <a:pPr defTabSz="914446" eaLnBrk="1" fontAlgn="auto" hangingPunct="1">
              <a:spcBef>
                <a:spcPts val="0"/>
              </a:spcBef>
              <a:spcAft>
                <a:spcPts val="0"/>
              </a:spcAft>
            </a:pPr>
            <a:fld id="{51ED9358-27BD-4757-8BC3-FCFAB6CB8B4F}" type="slidenum">
              <a:rPr lang="es-CL" smtClean="0">
                <a:solidFill>
                  <a:prstClr val="black"/>
                </a:solidFill>
                <a:cs typeface="+mn-cs"/>
              </a:rPr>
              <a:pPr defTabSz="914446" eaLnBrk="1" fontAlgn="auto" hangingPunct="1">
                <a:spcBef>
                  <a:spcPts val="0"/>
                </a:spcBef>
                <a:spcAft>
                  <a:spcPts val="0"/>
                </a:spcAft>
              </a:pPr>
              <a:t>27</a:t>
            </a:fld>
            <a:endParaRPr lang="es-CL" dirty="0">
              <a:solidFill>
                <a:prstClr val="black"/>
              </a:solidFill>
              <a:cs typeface="+mn-cs"/>
            </a:endParaRPr>
          </a:p>
        </p:txBody>
      </p:sp>
      <p:sp>
        <p:nvSpPr>
          <p:cNvPr id="5" name="Rectángulo 4">
            <a:extLst>
              <a:ext uri="{FF2B5EF4-FFF2-40B4-BE49-F238E27FC236}">
                <a16:creationId xmlns:a16="http://schemas.microsoft.com/office/drawing/2014/main" id="{0271782E-D5DE-3507-7EC9-95D0B891D406}"/>
              </a:ext>
            </a:extLst>
          </p:cNvPr>
          <p:cNvSpPr/>
          <p:nvPr/>
        </p:nvSpPr>
        <p:spPr>
          <a:xfrm>
            <a:off x="695325" y="1386228"/>
            <a:ext cx="4921064" cy="4996432"/>
          </a:xfrm>
          <a:prstGeom prst="rect">
            <a:avLst/>
          </a:prstGeom>
        </p:spPr>
        <p:txBody>
          <a:bodyPr wrap="square">
            <a:spAutoFit/>
          </a:bodyPr>
          <a:lstStyle/>
          <a:p>
            <a:pPr marL="0" marR="0" lvl="0" indent="0" algn="just" defTabSz="914400" rtl="0" eaLnBrk="1" fontAlgn="auto" latinLnBrk="0" hangingPunct="1">
              <a:lnSpc>
                <a:spcPct val="114000"/>
              </a:lnSpc>
              <a:spcBef>
                <a:spcPts val="0"/>
              </a:spcBef>
              <a:spcAft>
                <a:spcPts val="0"/>
              </a:spcAft>
              <a:buClrTx/>
              <a:buSzTx/>
              <a:buFontTx/>
              <a:buNone/>
              <a:tabLst/>
              <a:defRPr/>
            </a:pPr>
            <a:r>
              <a:rPr lang="es-CL" sz="1400" b="1" dirty="0">
                <a:latin typeface="Avenir Next" panose="020B0503020202020204" pitchFamily="34" charset="0"/>
              </a:rPr>
              <a:t>El crowdfunding </a:t>
            </a:r>
            <a:r>
              <a:rPr lang="es-CL" sz="1400" dirty="0">
                <a:latin typeface="Avenir Next" panose="020B0503020202020204" pitchFamily="34" charset="0"/>
              </a:rPr>
              <a:t>es un sistema de financiamiento temprano vía plataformas que conectan inversionistas de pequeñas cantidades con inversiones, en general con un propósito social, pues es un tipo de inversión que más que rentabilidad busca colaborar en el crecimiento de una solución que se considera valiosa. Que lo caracteriza:</a:t>
            </a:r>
          </a:p>
          <a:p>
            <a:pPr marL="0" marR="0" lvl="0" indent="0" algn="just" defTabSz="914400" rtl="0" eaLnBrk="1" fontAlgn="auto" latinLnBrk="0" hangingPunct="1">
              <a:lnSpc>
                <a:spcPct val="114000"/>
              </a:lnSpc>
              <a:spcBef>
                <a:spcPts val="0"/>
              </a:spcBef>
              <a:spcAft>
                <a:spcPts val="0"/>
              </a:spcAft>
              <a:buClrTx/>
              <a:buSzTx/>
              <a:buFontTx/>
              <a:buNone/>
              <a:tabLst/>
              <a:defRPr/>
            </a:pPr>
            <a:endParaRPr lang="es-CL" sz="1400" dirty="0">
              <a:latin typeface="Avenir Next" panose="020B0503020202020204" pitchFamily="34" charset="0"/>
            </a:endParaRPr>
          </a:p>
          <a:p>
            <a:pPr marL="285750" marR="0" lvl="0" indent="-2857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400" dirty="0">
                <a:latin typeface="Avenir Next" panose="020B0503020202020204" pitchFamily="34" charset="0"/>
              </a:rPr>
              <a:t>Muchos inversores, distribuidos, atomizados.</a:t>
            </a:r>
          </a:p>
          <a:p>
            <a:pPr marL="285750" marR="0" lvl="0" indent="-2857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400" dirty="0">
                <a:latin typeface="Avenir Next" panose="020B0503020202020204" pitchFamily="34" charset="0"/>
              </a:rPr>
              <a:t>En general a través de plataformas especializadas.</a:t>
            </a:r>
          </a:p>
          <a:p>
            <a:pPr marL="285750" marR="0" lvl="0" indent="-2857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400" dirty="0">
                <a:latin typeface="Avenir Next" panose="020B0503020202020204" pitchFamily="34" charset="0"/>
              </a:rPr>
              <a:t>Para inversiones “con sentido” (propósito).</a:t>
            </a:r>
          </a:p>
          <a:p>
            <a:pPr marL="285750" marR="0" lvl="0" indent="-2857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400" dirty="0">
                <a:latin typeface="Avenir Next" panose="020B0503020202020204" pitchFamily="34" charset="0"/>
              </a:rPr>
              <a:t>Montos SEED.</a:t>
            </a:r>
          </a:p>
          <a:p>
            <a:pPr marL="0" marR="0" lvl="0" indent="0" algn="just" defTabSz="914400" rtl="0" eaLnBrk="1" fontAlgn="auto" latinLnBrk="0" hangingPunct="1">
              <a:lnSpc>
                <a:spcPct val="114000"/>
              </a:lnSpc>
              <a:spcBef>
                <a:spcPts val="0"/>
              </a:spcBef>
              <a:spcAft>
                <a:spcPts val="0"/>
              </a:spcAft>
              <a:buClrTx/>
              <a:buSzTx/>
              <a:buFontTx/>
              <a:buNone/>
              <a:tabLst/>
              <a:defRPr/>
            </a:pPr>
            <a:endParaRPr lang="es-CL" sz="1400" dirty="0">
              <a:latin typeface="Avenir Next" panose="020B0503020202020204" pitchFamily="34" charset="0"/>
            </a:endParaRPr>
          </a:p>
          <a:p>
            <a:pPr marL="0" marR="0" lvl="0" indent="0" algn="just" defTabSz="914400" rtl="0" eaLnBrk="1" fontAlgn="auto" latinLnBrk="0" hangingPunct="1">
              <a:lnSpc>
                <a:spcPct val="114000"/>
              </a:lnSpc>
              <a:spcBef>
                <a:spcPts val="0"/>
              </a:spcBef>
              <a:spcAft>
                <a:spcPts val="0"/>
              </a:spcAft>
              <a:buClrTx/>
              <a:buSzTx/>
              <a:buFontTx/>
              <a:buNone/>
              <a:tabLst/>
              <a:defRPr/>
            </a:pPr>
            <a:r>
              <a:rPr lang="es-CL" sz="1400" dirty="0">
                <a:latin typeface="Avenir Next" panose="020B0503020202020204" pitchFamily="34" charset="0"/>
              </a:rPr>
              <a:t>Uno de los temas de este tipo de inversiones es que generan un sistema de propiedad atomizada que puede complicar las siguientes rondas de inversión (entenderse con muchos accionistas para fijar clausulas hacia adelante), y que no ejercen un correcto control en el crecimiento, muchas veces reparan este hecho con constituir un vehículo de inversión que agrupa a los inversores vía crowdfunding.</a:t>
            </a:r>
          </a:p>
        </p:txBody>
      </p:sp>
      <p:pic>
        <p:nvPicPr>
          <p:cNvPr id="1026" name="Picture 2" descr="Broota prepara su segundo fondo de venture capital tras desembolsar la  mitad del primero que fue lanzado este año - Startups Latam">
            <a:extLst>
              <a:ext uri="{FF2B5EF4-FFF2-40B4-BE49-F238E27FC236}">
                <a16:creationId xmlns:a16="http://schemas.microsoft.com/office/drawing/2014/main" id="{D7D69202-CEF4-0A4F-8FC4-C98BFC3A5B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3088" y="1693993"/>
            <a:ext cx="6168912" cy="3470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8792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2E247D-3577-C890-0D3B-75CBCB6EAB0A}"/>
              </a:ext>
            </a:extLst>
          </p:cNvPr>
          <p:cNvSpPr>
            <a:spLocks noGrp="1"/>
          </p:cNvSpPr>
          <p:nvPr>
            <p:ph type="title"/>
          </p:nvPr>
        </p:nvSpPr>
        <p:spPr>
          <a:xfrm>
            <a:off x="695325" y="462188"/>
            <a:ext cx="10515600" cy="551938"/>
          </a:xfrm>
        </p:spPr>
        <p:txBody>
          <a:bodyPr/>
          <a:lstStyle/>
          <a:p>
            <a:pPr algn="ctr"/>
            <a:r>
              <a:rPr lang="es-CL" dirty="0"/>
              <a:t>Fondos públicos</a:t>
            </a:r>
          </a:p>
        </p:txBody>
      </p:sp>
      <p:sp>
        <p:nvSpPr>
          <p:cNvPr id="4" name="Marcador de número de diapositiva 3">
            <a:extLst>
              <a:ext uri="{FF2B5EF4-FFF2-40B4-BE49-F238E27FC236}">
                <a16:creationId xmlns:a16="http://schemas.microsoft.com/office/drawing/2014/main" id="{F490636F-5376-AA7A-AC37-D9067A1D9DB4}"/>
              </a:ext>
            </a:extLst>
          </p:cNvPr>
          <p:cNvSpPr>
            <a:spLocks noGrp="1"/>
          </p:cNvSpPr>
          <p:nvPr>
            <p:ph type="sldNum" sz="quarter" idx="4"/>
          </p:nvPr>
        </p:nvSpPr>
        <p:spPr/>
        <p:txBody>
          <a:bodyPr/>
          <a:lstStyle/>
          <a:p>
            <a:pPr defTabSz="914446" eaLnBrk="1" fontAlgn="auto" hangingPunct="1">
              <a:spcBef>
                <a:spcPts val="0"/>
              </a:spcBef>
              <a:spcAft>
                <a:spcPts val="0"/>
              </a:spcAft>
            </a:pPr>
            <a:fld id="{51ED9358-27BD-4757-8BC3-FCFAB6CB8B4F}" type="slidenum">
              <a:rPr lang="es-CL" smtClean="0">
                <a:solidFill>
                  <a:prstClr val="black"/>
                </a:solidFill>
                <a:cs typeface="+mn-cs"/>
              </a:rPr>
              <a:pPr defTabSz="914446" eaLnBrk="1" fontAlgn="auto" hangingPunct="1">
                <a:spcBef>
                  <a:spcPts val="0"/>
                </a:spcBef>
                <a:spcAft>
                  <a:spcPts val="0"/>
                </a:spcAft>
              </a:pPr>
              <a:t>28</a:t>
            </a:fld>
            <a:endParaRPr lang="es-CL" dirty="0">
              <a:solidFill>
                <a:prstClr val="black"/>
              </a:solidFill>
              <a:cs typeface="+mn-cs"/>
            </a:endParaRPr>
          </a:p>
        </p:txBody>
      </p:sp>
      <p:sp>
        <p:nvSpPr>
          <p:cNvPr id="5" name="Rectángulo 4">
            <a:extLst>
              <a:ext uri="{FF2B5EF4-FFF2-40B4-BE49-F238E27FC236}">
                <a16:creationId xmlns:a16="http://schemas.microsoft.com/office/drawing/2014/main" id="{B93791A3-D58C-9ADC-5809-30D158567BC2}"/>
              </a:ext>
            </a:extLst>
          </p:cNvPr>
          <p:cNvSpPr/>
          <p:nvPr/>
        </p:nvSpPr>
        <p:spPr>
          <a:xfrm>
            <a:off x="695325" y="1390732"/>
            <a:ext cx="5683704" cy="5242012"/>
          </a:xfrm>
          <a:prstGeom prst="rect">
            <a:avLst/>
          </a:prstGeom>
        </p:spPr>
        <p:txBody>
          <a:bodyPr wrap="square">
            <a:spAutoFit/>
          </a:bodyPr>
          <a:lstStyle/>
          <a:p>
            <a:pPr marL="0" marR="0" lvl="0" indent="0" algn="just" defTabSz="914400" rtl="0" eaLnBrk="1" fontAlgn="auto" latinLnBrk="0" hangingPunct="1">
              <a:lnSpc>
                <a:spcPct val="114000"/>
              </a:lnSpc>
              <a:spcBef>
                <a:spcPts val="0"/>
              </a:spcBef>
              <a:spcAft>
                <a:spcPts val="0"/>
              </a:spcAft>
              <a:buClrTx/>
              <a:buSzTx/>
              <a:buFontTx/>
              <a:buNone/>
              <a:tabLst/>
              <a:defRPr/>
            </a:pPr>
            <a:r>
              <a:rPr lang="es-CL" sz="1400" dirty="0">
                <a:latin typeface="Avenir Next" panose="020B0503020202020204" pitchFamily="34" charset="0"/>
              </a:rPr>
              <a:t>En Chile existe una variedad de fondos públicos para fases iniciales, PRESEED y SEED, muy buenas y con concursos regulares. Los montos corresponden a las fases y algunas incluyen aceleración. </a:t>
            </a:r>
          </a:p>
          <a:p>
            <a:pPr marL="0" marR="0" lvl="0" indent="0" algn="just" defTabSz="914400" rtl="0" eaLnBrk="1" fontAlgn="auto" latinLnBrk="0" hangingPunct="1">
              <a:lnSpc>
                <a:spcPct val="114000"/>
              </a:lnSpc>
              <a:spcBef>
                <a:spcPts val="0"/>
              </a:spcBef>
              <a:spcAft>
                <a:spcPts val="0"/>
              </a:spcAft>
              <a:buClrTx/>
              <a:buSzTx/>
              <a:buFontTx/>
              <a:buNone/>
              <a:tabLst/>
              <a:defRPr/>
            </a:pPr>
            <a:r>
              <a:rPr lang="es-CL" sz="1400" dirty="0">
                <a:latin typeface="Avenir Next" panose="020B0503020202020204" pitchFamily="34" charset="0"/>
              </a:rPr>
              <a:t>Startup Chile, la aceleradora pública, es una marca conocida internacionalmente, entonces además del financiamiento, aporta prestigio, marca.</a:t>
            </a:r>
          </a:p>
          <a:p>
            <a:pPr marL="0" marR="0" lvl="0" indent="0" algn="just" defTabSz="914400" rtl="0" eaLnBrk="1" fontAlgn="auto" latinLnBrk="0" hangingPunct="1">
              <a:lnSpc>
                <a:spcPct val="114000"/>
              </a:lnSpc>
              <a:spcBef>
                <a:spcPts val="0"/>
              </a:spcBef>
              <a:spcAft>
                <a:spcPts val="0"/>
              </a:spcAft>
              <a:buClrTx/>
              <a:buSzTx/>
              <a:buFontTx/>
              <a:buNone/>
              <a:tabLst/>
              <a:defRPr/>
            </a:pPr>
            <a:r>
              <a:rPr lang="es-CL" sz="1400" dirty="0">
                <a:latin typeface="Avenir Next" panose="020B0503020202020204" pitchFamily="34" charset="0"/>
              </a:rPr>
              <a:t>Startup Ciencia es un instrumento muy valioso para quienes están creando negocios desde la academia o con un fuerte componente tecnológico.</a:t>
            </a:r>
          </a:p>
          <a:p>
            <a:pPr marL="0" marR="0" lvl="0" indent="0" algn="just" defTabSz="914400" rtl="0" eaLnBrk="1" fontAlgn="auto" latinLnBrk="0" hangingPunct="1">
              <a:lnSpc>
                <a:spcPct val="114000"/>
              </a:lnSpc>
              <a:spcBef>
                <a:spcPts val="0"/>
              </a:spcBef>
              <a:spcAft>
                <a:spcPts val="0"/>
              </a:spcAft>
              <a:buClrTx/>
              <a:buSzTx/>
              <a:buFontTx/>
              <a:buNone/>
              <a:tabLst/>
              <a:defRPr/>
            </a:pPr>
            <a:r>
              <a:rPr lang="es-CL" sz="1400" dirty="0">
                <a:latin typeface="Avenir Next" panose="020B0503020202020204" pitchFamily="34" charset="0"/>
              </a:rPr>
              <a:t>Algunas características:</a:t>
            </a:r>
          </a:p>
          <a:p>
            <a:pPr marL="0" marR="0" lvl="0" indent="0" algn="just" defTabSz="914400" rtl="0" eaLnBrk="1" fontAlgn="auto" latinLnBrk="0" hangingPunct="1">
              <a:lnSpc>
                <a:spcPct val="114000"/>
              </a:lnSpc>
              <a:spcBef>
                <a:spcPts val="0"/>
              </a:spcBef>
              <a:spcAft>
                <a:spcPts val="0"/>
              </a:spcAft>
              <a:buClrTx/>
              <a:buSzTx/>
              <a:buFontTx/>
              <a:buNone/>
              <a:tabLst/>
              <a:defRPr/>
            </a:pPr>
            <a:endParaRPr lang="es-CL" sz="1400" dirty="0">
              <a:latin typeface="Avenir Next" panose="020B0503020202020204" pitchFamily="34" charset="0"/>
            </a:endParaRPr>
          </a:p>
          <a:p>
            <a:pPr marL="17145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400" dirty="0">
                <a:latin typeface="Avenir Next" panose="020B0503020202020204" pitchFamily="34" charset="0"/>
              </a:rPr>
              <a:t>Tienen pasos burocráticos por ser dinero público, requiere una programación acorde con sus tiempos.</a:t>
            </a:r>
          </a:p>
          <a:p>
            <a:pPr marL="17145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400" dirty="0">
                <a:latin typeface="Avenir Next" panose="020B0503020202020204" pitchFamily="34" charset="0"/>
              </a:rPr>
              <a:t>Obligan a acciones de aceleración, y una estructura.</a:t>
            </a:r>
          </a:p>
          <a:p>
            <a:pPr marL="17145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400" dirty="0">
                <a:latin typeface="Avenir Next" panose="020B0503020202020204" pitchFamily="34" charset="0"/>
              </a:rPr>
              <a:t>Es financiamiento libre de compromisos en acciones.</a:t>
            </a:r>
          </a:p>
          <a:p>
            <a:pPr marL="17145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400" dirty="0">
                <a:latin typeface="Avenir Next" panose="020B0503020202020204" pitchFamily="34" charset="0"/>
              </a:rPr>
              <a:t>Tienen redes y conectan con ecosistemas.</a:t>
            </a:r>
          </a:p>
          <a:p>
            <a:pPr marL="0" marR="0" lvl="0" indent="0" algn="just" defTabSz="914400" rtl="0" eaLnBrk="1" fontAlgn="auto" latinLnBrk="0" hangingPunct="1">
              <a:lnSpc>
                <a:spcPct val="114000"/>
              </a:lnSpc>
              <a:spcBef>
                <a:spcPts val="0"/>
              </a:spcBef>
              <a:spcAft>
                <a:spcPts val="0"/>
              </a:spcAft>
              <a:buClrTx/>
              <a:buSzTx/>
              <a:buFontTx/>
              <a:buNone/>
              <a:tabLst/>
              <a:defRPr/>
            </a:pPr>
            <a:endParaRPr lang="es-CL" sz="1400" dirty="0">
              <a:latin typeface="Avenir Next" panose="020B0503020202020204" pitchFamily="34" charset="0"/>
            </a:endParaRPr>
          </a:p>
          <a:p>
            <a:pPr marL="0" marR="0" lvl="0" indent="0" algn="just" defTabSz="914400" rtl="0" eaLnBrk="1" fontAlgn="auto" latinLnBrk="0" hangingPunct="1">
              <a:lnSpc>
                <a:spcPct val="114000"/>
              </a:lnSpc>
              <a:spcBef>
                <a:spcPts val="0"/>
              </a:spcBef>
              <a:spcAft>
                <a:spcPts val="0"/>
              </a:spcAft>
              <a:buClrTx/>
              <a:buSzTx/>
              <a:buFontTx/>
              <a:buNone/>
              <a:tabLst/>
              <a:defRPr/>
            </a:pPr>
            <a:r>
              <a:rPr lang="es-CL" sz="1400" dirty="0">
                <a:latin typeface="Avenir Next" panose="020B0503020202020204" pitchFamily="34" charset="0"/>
              </a:rPr>
              <a:t>Por estas características son muy buenos para quien se programa y los conoce, pero se debe tener el cuidado de que quien se centre en ellos puede perder velocidad y enamorarse de los fondos públicos y perder el sentido del emprendimiento.</a:t>
            </a:r>
          </a:p>
        </p:txBody>
      </p:sp>
      <p:pic>
        <p:nvPicPr>
          <p:cNvPr id="2050" name="Picture 2" descr="Entrevistas ACADE: Ángeles Romo, Directora Ejecutiva de Start-Up Chile, y  Andrea Mohr, Subgerenta de Programas y Desarrollo Estratégico de CORFO -  Academia Diplomática de Chile Andrés Bello">
            <a:extLst>
              <a:ext uri="{FF2B5EF4-FFF2-40B4-BE49-F238E27FC236}">
                <a16:creationId xmlns:a16="http://schemas.microsoft.com/office/drawing/2014/main" id="{F6F282D0-B966-4C42-56EA-77FC49427F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5613" y="1390732"/>
            <a:ext cx="4622800" cy="17526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inCiencia">
            <a:extLst>
              <a:ext uri="{FF2B5EF4-FFF2-40B4-BE49-F238E27FC236}">
                <a16:creationId xmlns:a16="http://schemas.microsoft.com/office/drawing/2014/main" id="{63D2C754-0C7B-4CAB-4C87-588C7ECD33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0149" y="3429000"/>
            <a:ext cx="4133727" cy="2297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14419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4EBE740-D755-497D-920F-1A53D1770568}"/>
              </a:ext>
            </a:extLst>
          </p:cNvPr>
          <p:cNvSpPr/>
          <p:nvPr/>
        </p:nvSpPr>
        <p:spPr>
          <a:xfrm>
            <a:off x="695325" y="584271"/>
            <a:ext cx="8775246" cy="5487464"/>
          </a:xfrm>
          <a:prstGeom prst="rect">
            <a:avLst/>
          </a:prstGeom>
        </p:spPr>
        <p:txBody>
          <a:bodyPr wrap="square">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s-CL" sz="2400" b="0" i="0" u="none" strike="noStrike" kern="1200" cap="none" spc="0" normalizeH="0" baseline="0" noProof="0" dirty="0">
                <a:ln>
                  <a:noFill/>
                </a:ln>
                <a:effectLst/>
                <a:uLnTx/>
                <a:uFillTx/>
                <a:latin typeface="Avenir Next" panose="020B0503020202020204" pitchFamily="34" charset="0"/>
                <a:ea typeface="ヒラギノ角ゴ ProN W3"/>
              </a:rPr>
              <a:t>CAPITAL RIESGO</a:t>
            </a:r>
          </a:p>
          <a:p>
            <a:pPr marL="0" marR="0" lvl="0" indent="0" algn="l" defTabSz="914400" rtl="0" eaLnBrk="1" fontAlgn="auto" latinLnBrk="0" hangingPunct="1">
              <a:lnSpc>
                <a:spcPct val="114000"/>
              </a:lnSpc>
              <a:spcBef>
                <a:spcPts val="0"/>
              </a:spcBef>
              <a:spcAft>
                <a:spcPts val="0"/>
              </a:spcAft>
              <a:buClrTx/>
              <a:buSzTx/>
              <a:buFontTx/>
              <a:buNone/>
              <a:tabLst/>
              <a:defRPr/>
            </a:pPr>
            <a:endParaRPr kumimoji="0" lang="es-CL" sz="12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just" defTabSz="914400" rtl="0" eaLnBrk="1" fontAlgn="auto" latinLnBrk="0" hangingPunct="1">
              <a:lnSpc>
                <a:spcPct val="114000"/>
              </a:lnSpc>
              <a:spcBef>
                <a:spcPts val="0"/>
              </a:spcBef>
              <a:spcAft>
                <a:spcPts val="0"/>
              </a:spcAft>
              <a:buClrTx/>
              <a:buSzTx/>
              <a:buFontTx/>
              <a:buNone/>
              <a:tabLst/>
              <a:defRPr/>
            </a:pPr>
            <a:r>
              <a:rPr kumimoji="0" lang="es-CL" sz="1600" b="0" i="0" u="none" strike="noStrike" kern="1200" cap="none" spc="0" normalizeH="0" baseline="0" noProof="0" dirty="0">
                <a:ln>
                  <a:noFill/>
                </a:ln>
                <a:effectLst/>
                <a:uLnTx/>
                <a:uFillTx/>
                <a:latin typeface="Avenir Next" panose="020B0503020202020204" pitchFamily="34" charset="0"/>
                <a:ea typeface="ヒラギノ角ゴ ProN W3"/>
              </a:rPr>
              <a:t>El </a:t>
            </a:r>
            <a:r>
              <a:rPr kumimoji="0" lang="es-CL" sz="1600" b="1" i="0" u="none" strike="noStrike" kern="1200" cap="none" spc="0" normalizeH="0" baseline="0" noProof="0" dirty="0">
                <a:ln>
                  <a:noFill/>
                </a:ln>
                <a:effectLst/>
                <a:uLnTx/>
                <a:uFillTx/>
                <a:latin typeface="Avenir Next" panose="020B0503020202020204" pitchFamily="34" charset="0"/>
                <a:ea typeface="ヒラギノ角ゴ ProN W3"/>
              </a:rPr>
              <a:t>capital riesgo</a:t>
            </a:r>
            <a:r>
              <a:rPr kumimoji="0" lang="es-CL" sz="1600" b="0" i="0" u="none" strike="noStrike" kern="1200" cap="none" spc="0" normalizeH="0" baseline="0" noProof="0" dirty="0">
                <a:ln>
                  <a:noFill/>
                </a:ln>
                <a:effectLst/>
                <a:uLnTx/>
                <a:uFillTx/>
                <a:latin typeface="Avenir Next" panose="020B0503020202020204" pitchFamily="34" charset="0"/>
                <a:ea typeface="ヒラギノ角ゴ ProN W3"/>
              </a:rPr>
              <a:t> (conocido en Hispanoamérica como </a:t>
            </a:r>
            <a:r>
              <a:rPr kumimoji="0" lang="es-CL" sz="1600" b="1" i="0" u="none" strike="noStrike" kern="1200" cap="none" spc="0" normalizeH="0" baseline="0" noProof="0" dirty="0">
                <a:ln>
                  <a:noFill/>
                </a:ln>
                <a:effectLst/>
                <a:uLnTx/>
                <a:uFillTx/>
                <a:latin typeface="Avenir Next" panose="020B0503020202020204" pitchFamily="34" charset="0"/>
                <a:ea typeface="ヒラギノ角ゴ ProN W3"/>
              </a:rPr>
              <a:t>capital emprendedor</a:t>
            </a:r>
            <a:r>
              <a:rPr kumimoji="0" lang="es-CL" sz="1600" b="0" i="0" u="none" strike="noStrike" kern="1200" cap="none" spc="0" normalizeH="0" baseline="0" noProof="0" dirty="0">
                <a:ln>
                  <a:noFill/>
                </a:ln>
                <a:effectLst/>
                <a:uLnTx/>
                <a:uFillTx/>
                <a:latin typeface="Avenir Next" panose="020B0503020202020204" pitchFamily="34" charset="0"/>
                <a:ea typeface="ヒラギノ角ゴ ProN W3"/>
              </a:rPr>
              <a:t> y en inglés como: </a:t>
            </a:r>
            <a:r>
              <a:rPr kumimoji="0" lang="es-CL" sz="1600" b="1" i="1" u="none" strike="noStrike" kern="1200" cap="none" spc="0" normalizeH="0" baseline="0" noProof="0" dirty="0" err="1">
                <a:ln>
                  <a:noFill/>
                </a:ln>
                <a:effectLst/>
                <a:uLnTx/>
                <a:uFillTx/>
                <a:latin typeface="Avenir Next" panose="020B0503020202020204" pitchFamily="34" charset="0"/>
                <a:ea typeface="ヒラギノ角ゴ ProN W3"/>
              </a:rPr>
              <a:t>venture</a:t>
            </a:r>
            <a:r>
              <a:rPr kumimoji="0" lang="es-CL" sz="1600" b="1" i="1" u="none" strike="noStrike" kern="1200" cap="none" spc="0" normalizeH="0" baseline="0" noProof="0" dirty="0">
                <a:ln>
                  <a:noFill/>
                </a:ln>
                <a:effectLst/>
                <a:uLnTx/>
                <a:uFillTx/>
                <a:latin typeface="Avenir Next" panose="020B0503020202020204" pitchFamily="34" charset="0"/>
                <a:ea typeface="ヒラギノ角ゴ ProN W3"/>
              </a:rPr>
              <a:t> capital</a:t>
            </a:r>
            <a:r>
              <a:rPr kumimoji="0" lang="es-CL" sz="1600" b="0" i="0" u="none" strike="noStrike" kern="1200" cap="none" spc="0" normalizeH="0" baseline="0" noProof="0" dirty="0">
                <a:ln>
                  <a:noFill/>
                </a:ln>
                <a:effectLst/>
                <a:uLnTx/>
                <a:uFillTx/>
                <a:latin typeface="Avenir Next" panose="020B0503020202020204" pitchFamily="34" charset="0"/>
                <a:ea typeface="ヒラギノ角ゴ ProN W3"/>
              </a:rPr>
              <a:t> (</a:t>
            </a:r>
            <a:r>
              <a:rPr kumimoji="0" lang="es-CL" sz="1600" b="0" i="1" u="none" strike="noStrike" kern="1200" cap="none" spc="0" normalizeH="0" baseline="0" noProof="0" dirty="0">
                <a:ln>
                  <a:noFill/>
                </a:ln>
                <a:effectLst/>
                <a:uLnTx/>
                <a:uFillTx/>
                <a:latin typeface="Avenir Next" panose="020B0503020202020204" pitchFamily="34" charset="0"/>
                <a:ea typeface="ヒラギノ角ゴ ProN W3"/>
              </a:rPr>
              <a:t>VC</a:t>
            </a:r>
            <a:r>
              <a:rPr kumimoji="0" lang="es-CL" sz="1600" b="0" i="0" u="none" strike="noStrike" kern="1200" cap="none" spc="0" normalizeH="0" baseline="0" noProof="0" dirty="0">
                <a:ln>
                  <a:noFill/>
                </a:ln>
                <a:effectLst/>
                <a:uLnTx/>
                <a:uFillTx/>
                <a:latin typeface="Avenir Next" panose="020B0503020202020204" pitchFamily="34" charset="0"/>
                <a:ea typeface="ヒラギノ角ゴ ProN W3"/>
              </a:rPr>
              <a:t>)) consiste en financiar </a:t>
            </a:r>
            <a:r>
              <a:rPr kumimoji="0" lang="en-US" sz="1600" b="0" i="1" u="none" strike="noStrike" kern="1200" cap="none" spc="0" normalizeH="0" baseline="0" noProof="0" dirty="0">
                <a:ln>
                  <a:noFill/>
                </a:ln>
                <a:effectLst/>
                <a:uLnTx/>
                <a:uFillTx/>
                <a:latin typeface="Avenir Next" panose="020B0503020202020204" pitchFamily="34" charset="0"/>
                <a:ea typeface="ヒラギノ角ゴ ProN W3"/>
              </a:rPr>
              <a:t>start-ups</a:t>
            </a:r>
            <a:r>
              <a:rPr kumimoji="0" lang="en-US" sz="1600" b="0" i="0" u="none" strike="noStrike" kern="1200" cap="none" spc="0" normalizeH="0" baseline="0" noProof="0" dirty="0">
                <a:ln>
                  <a:noFill/>
                </a:ln>
                <a:effectLst/>
                <a:uLnTx/>
                <a:uFillTx/>
                <a:latin typeface="Avenir Next" panose="020B0503020202020204" pitchFamily="34" charset="0"/>
                <a:ea typeface="ヒラギノ角ゴ ProN W3"/>
              </a:rPr>
              <a:t> </a:t>
            </a:r>
            <a:r>
              <a:rPr kumimoji="0" lang="es-CL" sz="1600" b="0" i="0" u="none" strike="noStrike" kern="1200" cap="none" spc="0" normalizeH="0" baseline="0" noProof="0" dirty="0">
                <a:ln>
                  <a:noFill/>
                </a:ln>
                <a:effectLst/>
                <a:uLnTx/>
                <a:uFillTx/>
                <a:latin typeface="Avenir Next" panose="020B0503020202020204" pitchFamily="34" charset="0"/>
                <a:ea typeface="ヒラギノ角ゴ ProN W3"/>
              </a:rPr>
              <a:t>en fase de crecimiento con elevado potencial y riesgo.</a:t>
            </a:r>
            <a:endParaRPr kumimoji="0" lang="es-CL" sz="1600" b="0" i="0" u="none" strike="noStrike" kern="1200" cap="none" spc="0" normalizeH="0" baseline="30000" noProof="0" dirty="0">
              <a:ln>
                <a:noFill/>
              </a:ln>
              <a:effectLst/>
              <a:uLnTx/>
              <a:uFillTx/>
              <a:latin typeface="Avenir Next" panose="020B0503020202020204" pitchFamily="34" charset="0"/>
              <a:ea typeface="ヒラギノ角ゴ ProN W3"/>
            </a:endParaRPr>
          </a:p>
          <a:p>
            <a:pPr marL="0" marR="0" lvl="0" indent="0" algn="just" defTabSz="914400" rtl="0" eaLnBrk="1" fontAlgn="auto" latinLnBrk="0" hangingPunct="1">
              <a:lnSpc>
                <a:spcPct val="114000"/>
              </a:lnSpc>
              <a:spcBef>
                <a:spcPts val="0"/>
              </a:spcBef>
              <a:spcAft>
                <a:spcPts val="0"/>
              </a:spcAft>
              <a:buClrTx/>
              <a:buSzTx/>
              <a:buFontTx/>
              <a:buNone/>
              <a:tabLst/>
              <a:defRPr/>
            </a:pPr>
            <a:endParaRPr kumimoji="0" lang="es-CL" sz="16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just" defTabSz="914400" rtl="0" eaLnBrk="1" fontAlgn="auto" latinLnBrk="0" hangingPunct="1">
              <a:lnSpc>
                <a:spcPct val="114000"/>
              </a:lnSpc>
              <a:spcBef>
                <a:spcPts val="0"/>
              </a:spcBef>
              <a:spcAft>
                <a:spcPts val="0"/>
              </a:spcAft>
              <a:buClrTx/>
              <a:buSzTx/>
              <a:buFontTx/>
              <a:buNone/>
              <a:tabLst/>
              <a:defRPr/>
            </a:pPr>
            <a:r>
              <a:rPr kumimoji="0" lang="es-CL" sz="1600" b="0" i="0" u="none" strike="noStrike" kern="1200" cap="none" spc="0" normalizeH="0" baseline="0" noProof="0" dirty="0">
                <a:ln>
                  <a:noFill/>
                </a:ln>
                <a:effectLst/>
                <a:uLnTx/>
                <a:uFillTx/>
                <a:latin typeface="Avenir Next" panose="020B0503020202020204" pitchFamily="34" charset="0"/>
                <a:ea typeface="ヒラギノ角ゴ ProN W3"/>
              </a:rPr>
              <a:t>Los fondos de capital riesgo obtienen provecho de este tipo de operaciones al convertirse en propietarios del activo de las compañías en las que invierten, siendo estas normalmente empresas que disponen de una nueva tecnología o de un novedoso modelo de negocio dentro de un sector tecnológico, como la biotecnología, TIC, software, etc.</a:t>
            </a:r>
            <a:endParaRPr kumimoji="0" lang="es-CL" sz="1600" b="0" i="0" u="none" strike="noStrike" kern="1200" cap="none" spc="0" normalizeH="0" baseline="30000" noProof="0" dirty="0">
              <a:ln>
                <a:noFill/>
              </a:ln>
              <a:effectLst/>
              <a:uLnTx/>
              <a:uFillTx/>
              <a:latin typeface="Avenir Next" panose="020B0503020202020204" pitchFamily="34" charset="0"/>
              <a:ea typeface="ヒラギノ角ゴ ProN W3"/>
            </a:endParaRPr>
          </a:p>
          <a:p>
            <a:pPr marL="0" marR="0" lvl="0" indent="0" algn="just" defTabSz="914400" rtl="0" eaLnBrk="1" fontAlgn="auto" latinLnBrk="0" hangingPunct="1">
              <a:lnSpc>
                <a:spcPct val="114000"/>
              </a:lnSpc>
              <a:spcBef>
                <a:spcPts val="0"/>
              </a:spcBef>
              <a:spcAft>
                <a:spcPts val="0"/>
              </a:spcAft>
              <a:buClrTx/>
              <a:buSzTx/>
              <a:buFontTx/>
              <a:buNone/>
              <a:tabLst/>
              <a:defRPr/>
            </a:pPr>
            <a:endParaRPr kumimoji="0" lang="es-CL" sz="16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just" defTabSz="914400" rtl="0" eaLnBrk="1" fontAlgn="auto" latinLnBrk="0" hangingPunct="1">
              <a:lnSpc>
                <a:spcPct val="114000"/>
              </a:lnSpc>
              <a:spcBef>
                <a:spcPts val="0"/>
              </a:spcBef>
              <a:spcAft>
                <a:spcPts val="0"/>
              </a:spcAft>
              <a:buClrTx/>
              <a:buSzTx/>
              <a:buFontTx/>
              <a:buNone/>
              <a:tabLst/>
              <a:defRPr/>
            </a:pPr>
            <a:r>
              <a:rPr kumimoji="0" lang="es-CL" sz="1600" b="0" i="0" u="none" strike="noStrike" kern="1200" cap="none" spc="0" normalizeH="0" baseline="0" noProof="0" dirty="0">
                <a:ln>
                  <a:noFill/>
                </a:ln>
                <a:effectLst/>
                <a:uLnTx/>
                <a:uFillTx/>
                <a:latin typeface="Avenir Next" panose="020B0503020202020204" pitchFamily="34" charset="0"/>
                <a:ea typeface="ヒラギノ角ゴ ProN W3"/>
              </a:rPr>
              <a:t>Las entidades de capital-riesgo pueden tomar participaciones en el capital de empresas cotizadas en las bolsas de valores siempre y cuando tales empresas sean excluidas de la cotización dentro de los doce meses siguientes a la toma de la participación. Ejemplo de este tipo de inversión ha sido sobre la compañía Twitter, por parte de entidades de capital riesgo.</a:t>
            </a:r>
          </a:p>
          <a:p>
            <a:pPr marL="0" marR="0" lvl="0" indent="0" algn="just" defTabSz="914400" rtl="0" eaLnBrk="1" fontAlgn="auto" latinLnBrk="0" hangingPunct="1">
              <a:lnSpc>
                <a:spcPct val="114000"/>
              </a:lnSpc>
              <a:spcBef>
                <a:spcPts val="0"/>
              </a:spcBef>
              <a:spcAft>
                <a:spcPts val="0"/>
              </a:spcAft>
              <a:buClrTx/>
              <a:buSzTx/>
              <a:buFontTx/>
              <a:buNone/>
              <a:tabLst/>
              <a:defRPr/>
            </a:pPr>
            <a:endParaRPr kumimoji="0" lang="es-CL" sz="1600" b="0" i="0" u="none" strike="noStrike" kern="1200" cap="none" spc="0" normalizeH="0" baseline="0" noProof="0" dirty="0">
              <a:ln>
                <a:noFill/>
              </a:ln>
              <a:effectLst/>
              <a:uLnTx/>
              <a:uFillTx/>
              <a:latin typeface="Avenir Next" panose="020B0503020202020204" pitchFamily="34" charset="0"/>
              <a:ea typeface="ヒラギノ角ゴ ProN W3"/>
            </a:endParaRPr>
          </a:p>
          <a:p>
            <a:pPr marL="0" marR="0" lvl="0" indent="0" algn="just" defTabSz="914400" rtl="0" eaLnBrk="1" fontAlgn="auto" latinLnBrk="0" hangingPunct="1">
              <a:lnSpc>
                <a:spcPct val="114000"/>
              </a:lnSpc>
              <a:spcBef>
                <a:spcPts val="0"/>
              </a:spcBef>
              <a:spcAft>
                <a:spcPts val="0"/>
              </a:spcAft>
              <a:buClrTx/>
              <a:buSzTx/>
              <a:buFontTx/>
              <a:buNone/>
              <a:tabLst/>
              <a:defRPr/>
            </a:pPr>
            <a:r>
              <a:rPr kumimoji="0" lang="es-CL" sz="1600" b="0" i="0" u="none" strike="noStrike" kern="1200" cap="none" spc="0" normalizeH="0" baseline="0" noProof="0" dirty="0">
                <a:ln>
                  <a:noFill/>
                </a:ln>
                <a:effectLst/>
                <a:uLnTx/>
                <a:uFillTx/>
                <a:latin typeface="Avenir Next" panose="020B0503020202020204" pitchFamily="34" charset="0"/>
                <a:ea typeface="ヒラギノ角ゴ ProN W3"/>
              </a:rPr>
              <a:t>El objetivo es que con la ayuda del capital de riesgo, la empresa aumente su valor y una vez madurada la inversión, el capitalista se retire obteniendo un beneficio.</a:t>
            </a:r>
          </a:p>
        </p:txBody>
      </p:sp>
    </p:spTree>
    <p:extLst>
      <p:ext uri="{BB962C8B-B14F-4D97-AF65-F5344CB8AC3E}">
        <p14:creationId xmlns:p14="http://schemas.microsoft.com/office/powerpoint/2010/main" val="420116843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44FEFD9-4B2F-4C71-9600-8CF68CE7B648}"/>
              </a:ext>
            </a:extLst>
          </p:cNvPr>
          <p:cNvSpPr/>
          <p:nvPr/>
        </p:nvSpPr>
        <p:spPr>
          <a:xfrm>
            <a:off x="404222" y="622210"/>
            <a:ext cx="5887066" cy="5698098"/>
          </a:xfrm>
          <a:prstGeom prst="rect">
            <a:avLst/>
          </a:prstGeom>
        </p:spPr>
        <p:txBody>
          <a:bodyPr wrap="square">
            <a:spAutoFit/>
          </a:bodyPr>
          <a:lstStyle/>
          <a:p>
            <a:pPr marL="0" marR="0" lvl="0" indent="0" algn="just" defTabSz="914400" rtl="0" eaLnBrk="1" fontAlgn="auto" latinLnBrk="0" hangingPunct="1">
              <a:lnSpc>
                <a:spcPct val="114000"/>
              </a:lnSpc>
              <a:spcBef>
                <a:spcPts val="0"/>
              </a:spcBef>
              <a:spcAft>
                <a:spcPts val="0"/>
              </a:spcAft>
              <a:buClrTx/>
              <a:buSzTx/>
              <a:buFontTx/>
              <a:buNone/>
              <a:tabLst/>
              <a:defRPr/>
            </a:pPr>
            <a:r>
              <a:rPr lang="es-CL" sz="1600" b="1" dirty="0">
                <a:latin typeface="Avenir Next" panose="020B0503020202020204" pitchFamily="34" charset="0"/>
              </a:rPr>
              <a:t>El inversor de riesgo </a:t>
            </a:r>
            <a:r>
              <a:rPr lang="es-CL" sz="1600" dirty="0">
                <a:latin typeface="Avenir Next" panose="020B0503020202020204" pitchFamily="34" charset="0"/>
              </a:rPr>
              <a:t>busca tomar participación en empresas que pertenezcan a sectores dinámicos de la economía. Una vez que el valor de la empresa se ha incrementado lo suficiente, los fondos de riesgo se retiran del negocio consolidando su rentabilidad. Las principales estrategias de salida que se plantean para una inversión de este tipo son:</a:t>
            </a:r>
          </a:p>
          <a:p>
            <a:pPr marL="0" marR="0" lvl="0" indent="0" algn="just" defTabSz="914400" rtl="0" eaLnBrk="1" fontAlgn="auto" latinLnBrk="0" hangingPunct="1">
              <a:lnSpc>
                <a:spcPct val="114000"/>
              </a:lnSpc>
              <a:spcBef>
                <a:spcPts val="0"/>
              </a:spcBef>
              <a:spcAft>
                <a:spcPts val="0"/>
              </a:spcAft>
              <a:buClrTx/>
              <a:buSzTx/>
              <a:buFontTx/>
              <a:buNone/>
              <a:tabLst/>
              <a:defRPr/>
            </a:pPr>
            <a:endParaRPr lang="es-CL" sz="1600" dirty="0">
              <a:latin typeface="Avenir Next" panose="020B0503020202020204" pitchFamily="34" charset="0"/>
            </a:endParaRPr>
          </a:p>
          <a:p>
            <a:pPr marL="285750" marR="0" lvl="0" indent="-2857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600" dirty="0">
                <a:latin typeface="Avenir Next" panose="020B0503020202020204" pitchFamily="34" charset="0"/>
              </a:rPr>
              <a:t>Venta a un inversor estratégico.</a:t>
            </a:r>
          </a:p>
          <a:p>
            <a:pPr marL="285750" marR="0" lvl="0" indent="-2857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600" dirty="0">
                <a:latin typeface="Avenir Next" panose="020B0503020202020204" pitchFamily="34" charset="0"/>
              </a:rPr>
              <a:t>IPO (Oferta pública inicial) de las acciones de la compañía.</a:t>
            </a:r>
          </a:p>
          <a:p>
            <a:pPr marL="285750" marR="0" lvl="0" indent="-2857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600" dirty="0">
                <a:latin typeface="Avenir Next" panose="020B0503020202020204" pitchFamily="34" charset="0"/>
              </a:rPr>
              <a:t>Recompra de acciones por parte de la empresa.</a:t>
            </a:r>
          </a:p>
          <a:p>
            <a:pPr marL="285750" marR="0" lvl="0" indent="-2857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s-CL" sz="1600" dirty="0">
                <a:latin typeface="Avenir Next" panose="020B0503020202020204" pitchFamily="34" charset="0"/>
              </a:rPr>
              <a:t>La venta a otra entidad de capital riesgo.</a:t>
            </a:r>
          </a:p>
          <a:p>
            <a:pPr marL="0" marR="0" lvl="0" indent="0" algn="just" defTabSz="914400" rtl="0" eaLnBrk="1" fontAlgn="auto" latinLnBrk="0" hangingPunct="1">
              <a:lnSpc>
                <a:spcPct val="114000"/>
              </a:lnSpc>
              <a:spcBef>
                <a:spcPts val="0"/>
              </a:spcBef>
              <a:spcAft>
                <a:spcPts val="0"/>
              </a:spcAft>
              <a:buClrTx/>
              <a:buSzTx/>
              <a:buFontTx/>
              <a:buNone/>
              <a:tabLst/>
              <a:defRPr/>
            </a:pPr>
            <a:endParaRPr lang="es-CL" sz="1600" dirty="0">
              <a:latin typeface="Avenir Next" panose="020B0503020202020204" pitchFamily="34" charset="0"/>
            </a:endParaRPr>
          </a:p>
          <a:p>
            <a:pPr marL="0" marR="0" lvl="0" indent="0" algn="just" defTabSz="914400" rtl="0" eaLnBrk="1" fontAlgn="auto" latinLnBrk="0" hangingPunct="1">
              <a:lnSpc>
                <a:spcPct val="114000"/>
              </a:lnSpc>
              <a:spcBef>
                <a:spcPts val="0"/>
              </a:spcBef>
              <a:spcAft>
                <a:spcPts val="0"/>
              </a:spcAft>
              <a:buClrTx/>
              <a:buSzTx/>
              <a:buFontTx/>
              <a:buNone/>
              <a:tabLst/>
              <a:defRPr/>
            </a:pPr>
            <a:r>
              <a:rPr lang="es-CL" sz="1600" dirty="0">
                <a:latin typeface="Avenir Next" panose="020B0503020202020204" pitchFamily="34" charset="0"/>
              </a:rPr>
              <a:t>El </a:t>
            </a:r>
            <a:r>
              <a:rPr lang="es-CL" sz="1600" b="1" dirty="0">
                <a:latin typeface="Avenir Next" panose="020B0503020202020204" pitchFamily="34" charset="0"/>
              </a:rPr>
              <a:t>capital riesgo </a:t>
            </a:r>
            <a:r>
              <a:rPr lang="es-CL" sz="1600" dirty="0">
                <a:latin typeface="Avenir Next" panose="020B0503020202020204" pitchFamily="34" charset="0"/>
              </a:rPr>
              <a:t>opera valorando el plan de negocio de los proyectos que les presentan los emprendedores mediante Comités de Inversión. Para cada sector de negocio existen fondos especializados que pueden ayudar y empujar financieramente una idea de negocio. Siempre desde el punto de vista empresarial, tomando la mejor opción de financiamiento al momento de aplicar a los fondos de capital.</a:t>
            </a:r>
          </a:p>
        </p:txBody>
      </p:sp>
      <p:sp>
        <p:nvSpPr>
          <p:cNvPr id="2" name="Elipse 1">
            <a:extLst>
              <a:ext uri="{FF2B5EF4-FFF2-40B4-BE49-F238E27FC236}">
                <a16:creationId xmlns:a16="http://schemas.microsoft.com/office/drawing/2014/main" id="{7F31A097-4CD2-6281-52F1-5734438533E8}"/>
              </a:ext>
            </a:extLst>
          </p:cNvPr>
          <p:cNvSpPr/>
          <p:nvPr/>
        </p:nvSpPr>
        <p:spPr>
          <a:xfrm>
            <a:off x="6551410" y="1126866"/>
            <a:ext cx="2700169" cy="2678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CL" dirty="0">
                <a:latin typeface="Avenir Next" panose="020B0503020202020204" pitchFamily="34" charset="0"/>
              </a:rPr>
              <a:t>Aportantes</a:t>
            </a:r>
          </a:p>
          <a:p>
            <a:pPr algn="ctr"/>
            <a:r>
              <a:rPr lang="en-US" b="1" dirty="0">
                <a:latin typeface="Avenir Next" panose="020B0503020202020204" pitchFamily="34" charset="0"/>
              </a:rPr>
              <a:t>Limited partners</a:t>
            </a:r>
          </a:p>
        </p:txBody>
      </p:sp>
      <p:sp>
        <p:nvSpPr>
          <p:cNvPr id="3" name="Rectángulo 2">
            <a:extLst>
              <a:ext uri="{FF2B5EF4-FFF2-40B4-BE49-F238E27FC236}">
                <a16:creationId xmlns:a16="http://schemas.microsoft.com/office/drawing/2014/main" id="{C17EFE64-4CA6-8102-CA6F-2265F9AACF3A}"/>
              </a:ext>
            </a:extLst>
          </p:cNvPr>
          <p:cNvSpPr/>
          <p:nvPr/>
        </p:nvSpPr>
        <p:spPr>
          <a:xfrm>
            <a:off x="9746431" y="3030970"/>
            <a:ext cx="1473797" cy="7745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CL" sz="1400" dirty="0">
                <a:latin typeface="Avenir Next" panose="020B0503020202020204" pitchFamily="34" charset="0"/>
              </a:rPr>
              <a:t>Administradora</a:t>
            </a:r>
          </a:p>
          <a:p>
            <a:pPr algn="ctr"/>
            <a:r>
              <a:rPr lang="en-US" sz="1200" b="1" dirty="0">
                <a:latin typeface="Avenir Next" panose="020B0503020202020204" pitchFamily="34" charset="0"/>
              </a:rPr>
              <a:t>General partner</a:t>
            </a:r>
          </a:p>
        </p:txBody>
      </p:sp>
      <p:sp>
        <p:nvSpPr>
          <p:cNvPr id="6" name="Elipse 5">
            <a:extLst>
              <a:ext uri="{FF2B5EF4-FFF2-40B4-BE49-F238E27FC236}">
                <a16:creationId xmlns:a16="http://schemas.microsoft.com/office/drawing/2014/main" id="{6BBD82D4-9504-1F36-2856-E9501997EB05}"/>
              </a:ext>
            </a:extLst>
          </p:cNvPr>
          <p:cNvSpPr/>
          <p:nvPr/>
        </p:nvSpPr>
        <p:spPr>
          <a:xfrm>
            <a:off x="8283391" y="4163213"/>
            <a:ext cx="968188" cy="9319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CL"/>
          </a:p>
        </p:txBody>
      </p:sp>
      <p:sp>
        <p:nvSpPr>
          <p:cNvPr id="7" name="CuadroTexto 6">
            <a:extLst>
              <a:ext uri="{FF2B5EF4-FFF2-40B4-BE49-F238E27FC236}">
                <a16:creationId xmlns:a16="http://schemas.microsoft.com/office/drawing/2014/main" id="{8C59CC94-BB82-E0A8-A68C-F2A87BF50A4F}"/>
              </a:ext>
            </a:extLst>
          </p:cNvPr>
          <p:cNvSpPr txBox="1"/>
          <p:nvPr/>
        </p:nvSpPr>
        <p:spPr>
          <a:xfrm>
            <a:off x="9369913" y="4163213"/>
            <a:ext cx="1970411" cy="492443"/>
          </a:xfrm>
          <a:prstGeom prst="rect">
            <a:avLst/>
          </a:prstGeom>
          <a:noFill/>
        </p:spPr>
        <p:txBody>
          <a:bodyPr wrap="none" rtlCol="0">
            <a:spAutoFit/>
          </a:bodyPr>
          <a:lstStyle/>
          <a:p>
            <a:r>
              <a:rPr lang="es-CL" sz="1400" dirty="0"/>
              <a:t>Vehículo de inversión</a:t>
            </a:r>
          </a:p>
          <a:p>
            <a:r>
              <a:rPr lang="es-CL" sz="1200" b="1" dirty="0"/>
              <a:t>Portafolio</a:t>
            </a:r>
            <a:endParaRPr lang="es-CL" sz="1400" b="1" dirty="0"/>
          </a:p>
        </p:txBody>
      </p:sp>
      <p:cxnSp>
        <p:nvCxnSpPr>
          <p:cNvPr id="9" name="Conector recto 8">
            <a:extLst>
              <a:ext uri="{FF2B5EF4-FFF2-40B4-BE49-F238E27FC236}">
                <a16:creationId xmlns:a16="http://schemas.microsoft.com/office/drawing/2014/main" id="{70D1BBB9-5CC0-5F4F-1EBB-652CF406BBB2}"/>
              </a:ext>
            </a:extLst>
          </p:cNvPr>
          <p:cNvCxnSpPr>
            <a:stCxn id="2" idx="5"/>
            <a:endCxn id="3" idx="1"/>
          </p:cNvCxnSpPr>
          <p:nvPr/>
        </p:nvCxnSpPr>
        <p:spPr>
          <a:xfrm>
            <a:off x="8856148" y="3413241"/>
            <a:ext cx="890283" cy="5005"/>
          </a:xfrm>
          <a:prstGeom prst="line">
            <a:avLst/>
          </a:prstGeom>
        </p:spPr>
        <p:style>
          <a:lnRef idx="1">
            <a:schemeClr val="dk1"/>
          </a:lnRef>
          <a:fillRef idx="0">
            <a:schemeClr val="dk1"/>
          </a:fillRef>
          <a:effectRef idx="0">
            <a:schemeClr val="dk1"/>
          </a:effectRef>
          <a:fontRef idx="minor">
            <a:schemeClr val="tx1"/>
          </a:fontRef>
        </p:style>
      </p:cxnSp>
      <p:cxnSp>
        <p:nvCxnSpPr>
          <p:cNvPr id="11" name="Conector recto 10">
            <a:extLst>
              <a:ext uri="{FF2B5EF4-FFF2-40B4-BE49-F238E27FC236}">
                <a16:creationId xmlns:a16="http://schemas.microsoft.com/office/drawing/2014/main" id="{07776692-2E7F-B6AD-4785-11C6A8A57151}"/>
              </a:ext>
            </a:extLst>
          </p:cNvPr>
          <p:cNvCxnSpPr>
            <a:stCxn id="2" idx="5"/>
            <a:endCxn id="6" idx="7"/>
          </p:cNvCxnSpPr>
          <p:nvPr/>
        </p:nvCxnSpPr>
        <p:spPr>
          <a:xfrm>
            <a:off x="8856148" y="3413241"/>
            <a:ext cx="253643" cy="886452"/>
          </a:xfrm>
          <a:prstGeom prst="line">
            <a:avLst/>
          </a:prstGeom>
        </p:spPr>
        <p:style>
          <a:lnRef idx="1">
            <a:schemeClr val="dk1"/>
          </a:lnRef>
          <a:fillRef idx="0">
            <a:schemeClr val="dk1"/>
          </a:fillRef>
          <a:effectRef idx="0">
            <a:schemeClr val="dk1"/>
          </a:effectRef>
          <a:fontRef idx="minor">
            <a:schemeClr val="tx1"/>
          </a:fontRef>
        </p:style>
      </p:cxnSp>
      <p:cxnSp>
        <p:nvCxnSpPr>
          <p:cNvPr id="13" name="Conector recto 12">
            <a:extLst>
              <a:ext uri="{FF2B5EF4-FFF2-40B4-BE49-F238E27FC236}">
                <a16:creationId xmlns:a16="http://schemas.microsoft.com/office/drawing/2014/main" id="{CA03C771-DA72-855D-E5BA-DBBC1720B9E5}"/>
              </a:ext>
            </a:extLst>
          </p:cNvPr>
          <p:cNvCxnSpPr>
            <a:stCxn id="3" idx="1"/>
            <a:endCxn id="6" idx="7"/>
          </p:cNvCxnSpPr>
          <p:nvPr/>
        </p:nvCxnSpPr>
        <p:spPr>
          <a:xfrm flipH="1">
            <a:off x="9109791" y="3418246"/>
            <a:ext cx="636640" cy="881447"/>
          </a:xfrm>
          <a:prstGeom prst="line">
            <a:avLst/>
          </a:prstGeom>
        </p:spPr>
        <p:style>
          <a:lnRef idx="1">
            <a:schemeClr val="dk1"/>
          </a:lnRef>
          <a:fillRef idx="0">
            <a:schemeClr val="dk1"/>
          </a:fillRef>
          <a:effectRef idx="0">
            <a:schemeClr val="dk1"/>
          </a:effectRef>
          <a:fontRef idx="minor">
            <a:schemeClr val="tx1"/>
          </a:fontRef>
        </p:style>
      </p:cxnSp>
      <p:sp>
        <p:nvSpPr>
          <p:cNvPr id="14" name="Elipse 13">
            <a:extLst>
              <a:ext uri="{FF2B5EF4-FFF2-40B4-BE49-F238E27FC236}">
                <a16:creationId xmlns:a16="http://schemas.microsoft.com/office/drawing/2014/main" id="{99B682BB-76BE-2A21-9F53-53D072D09784}"/>
              </a:ext>
            </a:extLst>
          </p:cNvPr>
          <p:cNvSpPr/>
          <p:nvPr/>
        </p:nvSpPr>
        <p:spPr>
          <a:xfrm>
            <a:off x="8789001" y="2466193"/>
            <a:ext cx="432000" cy="432000"/>
          </a:xfrm>
          <a:prstGeom prst="ellipse">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cxnSp>
        <p:nvCxnSpPr>
          <p:cNvPr id="16" name="Conector angular 15">
            <a:extLst>
              <a:ext uri="{FF2B5EF4-FFF2-40B4-BE49-F238E27FC236}">
                <a16:creationId xmlns:a16="http://schemas.microsoft.com/office/drawing/2014/main" id="{C92B2D5D-60CD-2CFC-D32E-09A54DE795C6}"/>
              </a:ext>
            </a:extLst>
          </p:cNvPr>
          <p:cNvCxnSpPr>
            <a:stCxn id="3" idx="0"/>
            <a:endCxn id="14" idx="6"/>
          </p:cNvCxnSpPr>
          <p:nvPr/>
        </p:nvCxnSpPr>
        <p:spPr>
          <a:xfrm rot="16200000" flipV="1">
            <a:off x="9677778" y="2225417"/>
            <a:ext cx="348777" cy="126232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8903282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2272C2BA-3A04-44E0-BABF-72B7484F3209}"/>
              </a:ext>
            </a:extLst>
          </p:cNvPr>
          <p:cNvSpPr/>
          <p:nvPr/>
        </p:nvSpPr>
        <p:spPr>
          <a:xfrm>
            <a:off x="743762" y="348051"/>
            <a:ext cx="1061303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2400" b="0" i="0" u="none" strike="noStrike" kern="1200" cap="none" spc="0" normalizeH="0" baseline="0" noProof="0" dirty="0">
                <a:ln>
                  <a:noFill/>
                </a:ln>
                <a:solidFill>
                  <a:srgbClr val="000000"/>
                </a:solidFill>
                <a:effectLst/>
                <a:uLnTx/>
                <a:uFillTx/>
                <a:latin typeface="+mj-lt"/>
                <a:ea typeface="ヒラギノ角ゴ ProN W3"/>
              </a:rPr>
              <a:t>Modelo básico de Fondos de Capital riesgo</a:t>
            </a:r>
          </a:p>
        </p:txBody>
      </p:sp>
      <p:sp>
        <p:nvSpPr>
          <p:cNvPr id="4" name="Rectángulo 3">
            <a:extLst>
              <a:ext uri="{FF2B5EF4-FFF2-40B4-BE49-F238E27FC236}">
                <a16:creationId xmlns:a16="http://schemas.microsoft.com/office/drawing/2014/main" id="{62B50EEB-8439-4AD3-9B25-2EE6B46F4D68}"/>
              </a:ext>
            </a:extLst>
          </p:cNvPr>
          <p:cNvSpPr/>
          <p:nvPr/>
        </p:nvSpPr>
        <p:spPr bwMode="auto">
          <a:xfrm>
            <a:off x="4017364" y="1081415"/>
            <a:ext cx="7566096" cy="3987384"/>
          </a:xfrm>
          <a:prstGeom prst="rect">
            <a:avLst/>
          </a:prstGeom>
          <a:ln>
            <a:solidFill>
              <a:schemeClr val="tx1"/>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chemeClr val="tx1"/>
                </a:solidFill>
                <a:effectLst/>
                <a:uLnTx/>
                <a:uFillTx/>
                <a:ea typeface="ヒラギノ角ゴ ProN W3" charset="0"/>
                <a:cs typeface="ヒラギノ角ゴ ProN W3" charset="0"/>
                <a:sym typeface="Gill Sans" charset="0"/>
              </a:rPr>
              <a:t>Fondo de Capital de Riesgo</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dirty="0">
              <a:ln>
                <a:noFill/>
              </a:ln>
              <a:solidFill>
                <a:schemeClr val="tx1"/>
              </a:solidFill>
              <a:effectLst/>
              <a:uLnTx/>
              <a:uFillTx/>
              <a:ea typeface="ヒラギノ角ゴ ProN W3" charset="0"/>
              <a:cs typeface="ヒラギノ角ゴ ProN W3" charset="0"/>
              <a:sym typeface="Gill Sans"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800" b="0" i="0" u="none" strike="noStrike" kern="1200" cap="none" spc="0" normalizeH="0" baseline="0" noProof="0" dirty="0">
                <a:ln>
                  <a:noFill/>
                </a:ln>
                <a:solidFill>
                  <a:schemeClr val="tx1"/>
                </a:solidFill>
                <a:effectLst/>
                <a:uLnTx/>
                <a:uFillTx/>
                <a:ea typeface="ヒラギノ角ゴ ProN W3" charset="0"/>
                <a:cs typeface="ヒラギノ角ゴ ProN W3" charset="0"/>
                <a:sym typeface="Gill Sans" charset="0"/>
              </a:rPr>
              <a:t>Aportante A </a:t>
            </a:r>
            <a:r>
              <a:rPr kumimoji="0" lang="es-CL" sz="1800" b="0" i="0" u="none" strike="noStrike" kern="1200" cap="none" spc="0" normalizeH="0" baseline="0" noProof="0" dirty="0" err="1">
                <a:ln>
                  <a:noFill/>
                </a:ln>
                <a:solidFill>
                  <a:schemeClr val="tx1"/>
                </a:solidFill>
                <a:effectLst/>
                <a:uLnTx/>
                <a:uFillTx/>
                <a:ea typeface="ヒラギノ角ゴ ProN W3" charset="0"/>
                <a:cs typeface="ヒラギノ角ゴ ProN W3" charset="0"/>
                <a:sym typeface="Gill Sans" charset="0"/>
              </a:rPr>
              <a:t>xx</a:t>
            </a:r>
            <a:r>
              <a:rPr kumimoji="0" lang="es-CL" sz="1800" b="0" i="0" u="none" strike="noStrike" kern="1200" cap="none" spc="0" normalizeH="0" baseline="0" noProof="0" dirty="0">
                <a:ln>
                  <a:noFill/>
                </a:ln>
                <a:solidFill>
                  <a:schemeClr val="tx1"/>
                </a:solidFill>
                <a:effectLst/>
                <a:uLnTx/>
                <a:uFillTx/>
                <a:ea typeface="ヒラギノ角ゴ ProN W3" charset="0"/>
                <a:cs typeface="ヒラギノ角ゴ ProN W3" charset="0"/>
                <a:sym typeface="Gill Sans"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800" b="0" i="0" u="none" strike="noStrike" kern="1200" cap="none" spc="0" normalizeH="0" baseline="0" noProof="0" dirty="0">
                <a:ln>
                  <a:noFill/>
                </a:ln>
                <a:solidFill>
                  <a:schemeClr val="tx1"/>
                </a:solidFill>
                <a:effectLst/>
                <a:uLnTx/>
                <a:uFillTx/>
                <a:ea typeface="ヒラギノ角ゴ ProN W3" charset="0"/>
                <a:cs typeface="ヒラギノ角ゴ ProN W3" charset="0"/>
                <a:sym typeface="Gill Sans" charset="0"/>
              </a:rPr>
              <a:t>Aportante B </a:t>
            </a:r>
            <a:r>
              <a:rPr kumimoji="0" lang="es-CL" sz="1800" b="0" i="0" u="none" strike="noStrike" kern="1200" cap="none" spc="0" normalizeH="0" baseline="0" noProof="0" dirty="0" err="1">
                <a:ln>
                  <a:noFill/>
                </a:ln>
                <a:solidFill>
                  <a:schemeClr val="tx1"/>
                </a:solidFill>
                <a:effectLst/>
                <a:uLnTx/>
                <a:uFillTx/>
                <a:ea typeface="ヒラギノ角ゴ ProN W3" charset="0"/>
                <a:cs typeface="ヒラギノ角ゴ ProN W3" charset="0"/>
                <a:sym typeface="Gill Sans" charset="0"/>
              </a:rPr>
              <a:t>xx</a:t>
            </a:r>
            <a:r>
              <a:rPr kumimoji="0" lang="es-CL" sz="1800" b="0" i="0" u="none" strike="noStrike" kern="1200" cap="none" spc="0" normalizeH="0" baseline="0" noProof="0" dirty="0">
                <a:ln>
                  <a:noFill/>
                </a:ln>
                <a:solidFill>
                  <a:schemeClr val="tx1"/>
                </a:solidFill>
                <a:effectLst/>
                <a:uLnTx/>
                <a:uFillTx/>
                <a:ea typeface="ヒラギノ角ゴ ProN W3" charset="0"/>
                <a:cs typeface="ヒラギノ角ゴ ProN W3" charset="0"/>
                <a:sym typeface="Gill Sans" charset="0"/>
              </a:rPr>
              <a:t>%</a:t>
            </a:r>
          </a:p>
        </p:txBody>
      </p:sp>
      <p:sp>
        <p:nvSpPr>
          <p:cNvPr id="5" name="CuadroTexto 4">
            <a:extLst>
              <a:ext uri="{FF2B5EF4-FFF2-40B4-BE49-F238E27FC236}">
                <a16:creationId xmlns:a16="http://schemas.microsoft.com/office/drawing/2014/main" id="{390929F6-6E13-4237-8D44-E217E3960E37}"/>
              </a:ext>
            </a:extLst>
          </p:cNvPr>
          <p:cNvSpPr txBox="1"/>
          <p:nvPr/>
        </p:nvSpPr>
        <p:spPr>
          <a:xfrm>
            <a:off x="789482" y="1081415"/>
            <a:ext cx="2643266" cy="9848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1" i="0" u="none" strike="noStrike" kern="1200" cap="none" spc="0" normalizeH="0" baseline="0" noProof="0" dirty="0">
                <a:ln>
                  <a:noFill/>
                </a:ln>
                <a:solidFill>
                  <a:srgbClr val="000000"/>
                </a:solidFill>
                <a:effectLst/>
                <a:highlight>
                  <a:srgbClr val="FDC405"/>
                </a:highlight>
                <a:uLnTx/>
                <a:uFillTx/>
                <a:latin typeface="+mn-lt"/>
                <a:ea typeface="ヒラギノ角ゴ ProN W3"/>
              </a:rPr>
              <a:t>Aportantes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dirty="0">
                <a:ln>
                  <a:noFill/>
                </a:ln>
                <a:solidFill>
                  <a:srgbClr val="000000"/>
                </a:solidFill>
                <a:effectLst/>
                <a:uLnTx/>
                <a:uFillTx/>
                <a:latin typeface="+mn-lt"/>
                <a:ea typeface="ヒラギノ角ゴ ProN W3"/>
              </a:rPr>
              <a:t>Hacen los aportes al fondo y delegan en el administrador.</a:t>
            </a:r>
          </a:p>
        </p:txBody>
      </p:sp>
      <p:sp>
        <p:nvSpPr>
          <p:cNvPr id="6" name="CuadroTexto 5">
            <a:extLst>
              <a:ext uri="{FF2B5EF4-FFF2-40B4-BE49-F238E27FC236}">
                <a16:creationId xmlns:a16="http://schemas.microsoft.com/office/drawing/2014/main" id="{04D8F22B-2C2A-4AE6-8BE3-601C3B044250}"/>
              </a:ext>
            </a:extLst>
          </p:cNvPr>
          <p:cNvSpPr txBox="1"/>
          <p:nvPr/>
        </p:nvSpPr>
        <p:spPr>
          <a:xfrm>
            <a:off x="789482" y="2749777"/>
            <a:ext cx="2643266" cy="141577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1" i="0" u="none" strike="noStrike" kern="1200" cap="none" spc="0" normalizeH="0" baseline="0" noProof="0" dirty="0">
                <a:ln>
                  <a:noFill/>
                </a:ln>
                <a:solidFill>
                  <a:srgbClr val="000000"/>
                </a:solidFill>
                <a:effectLst/>
                <a:highlight>
                  <a:srgbClr val="FDC405"/>
                </a:highlight>
                <a:uLnTx/>
                <a:uFillTx/>
                <a:latin typeface="+mn-lt"/>
                <a:ea typeface="ヒラギノ角ゴ ProN W3"/>
              </a:rPr>
              <a:t>Administrador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noProof="0" dirty="0">
                <a:ln>
                  <a:noFill/>
                </a:ln>
                <a:solidFill>
                  <a:srgbClr val="000000"/>
                </a:solidFill>
                <a:effectLst/>
                <a:uLnTx/>
                <a:uFillTx/>
                <a:latin typeface="+mn-lt"/>
                <a:ea typeface="ヒラギノ角ゴ ProN W3"/>
              </a:rPr>
              <a:t>Gestiona el fondo, decide inversiones, se compromete con las empresas invertidas. Aliados con resultados.</a:t>
            </a:r>
          </a:p>
        </p:txBody>
      </p:sp>
      <p:cxnSp>
        <p:nvCxnSpPr>
          <p:cNvPr id="8" name="Conector recto 7">
            <a:extLst>
              <a:ext uri="{FF2B5EF4-FFF2-40B4-BE49-F238E27FC236}">
                <a16:creationId xmlns:a16="http://schemas.microsoft.com/office/drawing/2014/main" id="{F7966A66-643C-4AD3-9502-21B70E3F8431}"/>
              </a:ext>
            </a:extLst>
          </p:cNvPr>
          <p:cNvCxnSpPr/>
          <p:nvPr/>
        </p:nvCxnSpPr>
        <p:spPr bwMode="auto">
          <a:xfrm>
            <a:off x="789482" y="4768996"/>
            <a:ext cx="10793977" cy="0"/>
          </a:xfrm>
          <a:prstGeom prst="line">
            <a:avLst/>
          </a:prstGeom>
          <a:solidFill>
            <a:schemeClr val="accent1"/>
          </a:solidFill>
          <a:ln w="25400" cap="flat" cmpd="sng" algn="ctr">
            <a:solidFill>
              <a:schemeClr val="bg2"/>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CuadroTexto 8">
            <a:extLst>
              <a:ext uri="{FF2B5EF4-FFF2-40B4-BE49-F238E27FC236}">
                <a16:creationId xmlns:a16="http://schemas.microsoft.com/office/drawing/2014/main" id="{F6A03C2D-CE27-460F-91E2-55E068343F9A}"/>
              </a:ext>
            </a:extLst>
          </p:cNvPr>
          <p:cNvSpPr txBox="1"/>
          <p:nvPr/>
        </p:nvSpPr>
        <p:spPr>
          <a:xfrm>
            <a:off x="789482" y="4768996"/>
            <a:ext cx="29883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1" i="0" u="none" strike="noStrike" kern="1200" cap="none" spc="0" normalizeH="0" baseline="0" noProof="0" dirty="0" err="1">
                <a:ln>
                  <a:noFill/>
                </a:ln>
                <a:solidFill>
                  <a:srgbClr val="000000"/>
                </a:solidFill>
                <a:effectLst/>
                <a:uLnTx/>
                <a:uFillTx/>
                <a:latin typeface="+mn-lt"/>
                <a:ea typeface="ヒラギノ角ゴ ProN W3"/>
              </a:rPr>
              <a:t>Fee</a:t>
            </a:r>
            <a:r>
              <a:rPr kumimoji="0" lang="es-CL" sz="1200" b="1" i="0" u="none" strike="noStrike" kern="1200" cap="none" spc="0" normalizeH="0" baseline="0" noProof="0" dirty="0">
                <a:ln>
                  <a:noFill/>
                </a:ln>
                <a:solidFill>
                  <a:srgbClr val="000000"/>
                </a:solidFill>
                <a:effectLst/>
                <a:uLnTx/>
                <a:uFillTx/>
                <a:latin typeface="+mn-lt"/>
                <a:ea typeface="ヒラギノ角ゴ ProN W3"/>
              </a:rPr>
              <a:t> de administración 1 a 2,5%/año</a:t>
            </a:r>
          </a:p>
        </p:txBody>
      </p:sp>
      <p:cxnSp>
        <p:nvCxnSpPr>
          <p:cNvPr id="11" name="Conector recto 10">
            <a:extLst>
              <a:ext uri="{FF2B5EF4-FFF2-40B4-BE49-F238E27FC236}">
                <a16:creationId xmlns:a16="http://schemas.microsoft.com/office/drawing/2014/main" id="{527DD41B-4898-4B36-860B-95BEBFEF30FA}"/>
              </a:ext>
            </a:extLst>
          </p:cNvPr>
          <p:cNvCxnSpPr/>
          <p:nvPr/>
        </p:nvCxnSpPr>
        <p:spPr bwMode="auto">
          <a:xfrm flipV="1">
            <a:off x="4017364" y="1081415"/>
            <a:ext cx="4332157" cy="3687581"/>
          </a:xfrm>
          <a:prstGeom prst="line">
            <a:avLst/>
          </a:prstGeom>
          <a:solidFill>
            <a:schemeClr val="accent1"/>
          </a:solidFill>
          <a:ln w="254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ector recto 12">
            <a:extLst>
              <a:ext uri="{FF2B5EF4-FFF2-40B4-BE49-F238E27FC236}">
                <a16:creationId xmlns:a16="http://schemas.microsoft.com/office/drawing/2014/main" id="{DEEF1CC0-461F-45A8-BE91-5C80678D627F}"/>
              </a:ext>
            </a:extLst>
          </p:cNvPr>
          <p:cNvCxnSpPr/>
          <p:nvPr/>
        </p:nvCxnSpPr>
        <p:spPr bwMode="auto">
          <a:xfrm>
            <a:off x="8349521" y="1073441"/>
            <a:ext cx="0" cy="3995358"/>
          </a:xfrm>
          <a:prstGeom prst="line">
            <a:avLst/>
          </a:prstGeom>
          <a:solidFill>
            <a:schemeClr val="accent1"/>
          </a:solidFill>
          <a:ln w="2540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CuadroTexto 13">
            <a:extLst>
              <a:ext uri="{FF2B5EF4-FFF2-40B4-BE49-F238E27FC236}">
                <a16:creationId xmlns:a16="http://schemas.microsoft.com/office/drawing/2014/main" id="{D9E49DB5-CB0A-43B0-A39F-A92AD2E7F9F0}"/>
              </a:ext>
            </a:extLst>
          </p:cNvPr>
          <p:cNvSpPr txBox="1"/>
          <p:nvPr/>
        </p:nvSpPr>
        <p:spPr>
          <a:xfrm>
            <a:off x="5115583" y="4116297"/>
            <a:ext cx="222689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1" i="0" u="none" strike="noStrike" kern="1200" cap="none" spc="0" normalizeH="0" baseline="0" noProof="0" dirty="0">
                <a:ln>
                  <a:noFill/>
                </a:ln>
                <a:solidFill>
                  <a:srgbClr val="000000"/>
                </a:solidFill>
                <a:effectLst/>
                <a:uLnTx/>
                <a:uFillTx/>
                <a:latin typeface="+mn-lt"/>
                <a:ea typeface="ヒラギノ角ゴ ProN W3"/>
              </a:rPr>
              <a:t>Época de inversión</a:t>
            </a:r>
          </a:p>
        </p:txBody>
      </p:sp>
      <p:sp>
        <p:nvSpPr>
          <p:cNvPr id="15" name="CuadroTexto 14">
            <a:extLst>
              <a:ext uri="{FF2B5EF4-FFF2-40B4-BE49-F238E27FC236}">
                <a16:creationId xmlns:a16="http://schemas.microsoft.com/office/drawing/2014/main" id="{59B7E4E2-CA79-4389-911F-61ABFA6C595A}"/>
              </a:ext>
            </a:extLst>
          </p:cNvPr>
          <p:cNvSpPr txBox="1"/>
          <p:nvPr/>
        </p:nvSpPr>
        <p:spPr>
          <a:xfrm>
            <a:off x="6116304" y="5482876"/>
            <a:ext cx="3414180" cy="338554"/>
          </a:xfrm>
          <a:prstGeom prst="rect">
            <a:avLst/>
          </a:prstGeom>
          <a:noFill/>
        </p:spPr>
        <p:txBody>
          <a:bodyPr wrap="square" rtlCol="0">
            <a:spAutoFit/>
          </a:bodyPr>
          <a:lstStyle>
            <a:defPPr>
              <a:defRPr lang="es-CL"/>
            </a:defPPr>
            <a:lvl1pPr>
              <a:defRPr>
                <a:latin typeface="Gotham" panose="02000604030000020004" pitchFamily="50"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1" i="0" u="none" strike="noStrike" kern="1200" cap="none" spc="0" normalizeH="0" baseline="0" noProof="0" dirty="0">
                <a:ln>
                  <a:noFill/>
                </a:ln>
                <a:solidFill>
                  <a:srgbClr val="000000"/>
                </a:solidFill>
                <a:effectLst/>
                <a:uLnTx/>
                <a:uFillTx/>
                <a:latin typeface="+mn-lt"/>
                <a:ea typeface="ヒラギノ角ゴ ProN W3"/>
              </a:rPr>
              <a:t>Años de ejecución del fondo</a:t>
            </a:r>
          </a:p>
        </p:txBody>
      </p:sp>
      <p:sp>
        <p:nvSpPr>
          <p:cNvPr id="16" name="Cerrar llave 15">
            <a:extLst>
              <a:ext uri="{FF2B5EF4-FFF2-40B4-BE49-F238E27FC236}">
                <a16:creationId xmlns:a16="http://schemas.microsoft.com/office/drawing/2014/main" id="{F936A17C-ACFE-4216-931C-0CFE7E302184}"/>
              </a:ext>
            </a:extLst>
          </p:cNvPr>
          <p:cNvSpPr/>
          <p:nvPr/>
        </p:nvSpPr>
        <p:spPr bwMode="auto">
          <a:xfrm rot="5400000">
            <a:off x="7670993" y="1535146"/>
            <a:ext cx="304802" cy="7520134"/>
          </a:xfrm>
          <a:prstGeom prst="rightBrac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CL" sz="3600" b="0" i="0" u="none" strike="noStrike" kern="1200" cap="none" spc="0" normalizeH="0" baseline="0" noProof="0">
              <a:ln>
                <a:noFill/>
              </a:ln>
              <a:solidFill>
                <a:srgbClr val="000000"/>
              </a:solidFill>
              <a:effectLst/>
              <a:uLnTx/>
              <a:uFillTx/>
              <a:ea typeface="ヒラギノ角ゴ ProN W3" charset="0"/>
              <a:cs typeface="ヒラギノ角ゴ ProN W3" charset="0"/>
              <a:sym typeface="Gill Sans" charset="0"/>
            </a:endParaRPr>
          </a:p>
        </p:txBody>
      </p:sp>
      <p:sp>
        <p:nvSpPr>
          <p:cNvPr id="17" name="CuadroTexto 16">
            <a:extLst>
              <a:ext uri="{FF2B5EF4-FFF2-40B4-BE49-F238E27FC236}">
                <a16:creationId xmlns:a16="http://schemas.microsoft.com/office/drawing/2014/main" id="{AF5398ED-83DB-4145-B95F-2F16BBDF8302}"/>
              </a:ext>
            </a:extLst>
          </p:cNvPr>
          <p:cNvSpPr txBox="1"/>
          <p:nvPr/>
        </p:nvSpPr>
        <p:spPr>
          <a:xfrm>
            <a:off x="8685741" y="4116297"/>
            <a:ext cx="253146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1" i="0" u="none" strike="noStrike" kern="1200" cap="none" spc="0" normalizeH="0" baseline="0" noProof="0" dirty="0">
                <a:ln>
                  <a:noFill/>
                </a:ln>
                <a:solidFill>
                  <a:srgbClr val="000000"/>
                </a:solidFill>
                <a:effectLst/>
                <a:uLnTx/>
                <a:uFillTx/>
                <a:latin typeface="+mn-lt"/>
                <a:ea typeface="ヒラギノ角ゴ ProN W3"/>
              </a:rPr>
              <a:t>Época de crecimiento</a:t>
            </a:r>
          </a:p>
        </p:txBody>
      </p:sp>
      <p:sp>
        <p:nvSpPr>
          <p:cNvPr id="18" name="CuadroTexto 17">
            <a:extLst>
              <a:ext uri="{FF2B5EF4-FFF2-40B4-BE49-F238E27FC236}">
                <a16:creationId xmlns:a16="http://schemas.microsoft.com/office/drawing/2014/main" id="{3E762BF5-F980-49A2-B0F0-35002BE828DA}"/>
              </a:ext>
            </a:extLst>
          </p:cNvPr>
          <p:cNvSpPr txBox="1"/>
          <p:nvPr/>
        </p:nvSpPr>
        <p:spPr>
          <a:xfrm>
            <a:off x="789482" y="5241438"/>
            <a:ext cx="445207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1" i="0" u="none" strike="noStrike" kern="1200" cap="none" spc="0" normalizeH="0" baseline="0" noProof="0" dirty="0">
                <a:ln>
                  <a:noFill/>
                </a:ln>
                <a:solidFill>
                  <a:srgbClr val="000000"/>
                </a:solidFill>
                <a:effectLst/>
                <a:highlight>
                  <a:srgbClr val="FDC405"/>
                </a:highlight>
                <a:uLnTx/>
                <a:uFillTx/>
                <a:latin typeface="+mn-lt"/>
                <a:ea typeface="ヒラギノ角ゴ ProN W3"/>
              </a:rPr>
              <a:t>Tesis de inversión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000000"/>
                </a:solidFill>
                <a:effectLst/>
                <a:uLnTx/>
                <a:uFillTx/>
                <a:latin typeface="+mn-lt"/>
                <a:ea typeface="ヒラギノ角ゴ ProN W3"/>
              </a:rPr>
              <a:t>Explica cómo se invertirá, desde sectores y tipos de empresas, a forma de ingreso y salida.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noProof="0" dirty="0">
                <a:ln>
                  <a:noFill/>
                </a:ln>
                <a:solidFill>
                  <a:srgbClr val="000000"/>
                </a:solidFill>
                <a:effectLst/>
                <a:uLnTx/>
                <a:uFillTx/>
                <a:latin typeface="+mn-lt"/>
                <a:ea typeface="ヒラギノ角ゴ ProN W3"/>
              </a:rPr>
              <a:t>Número de inversiones y rentabilidad esperada.</a:t>
            </a:r>
          </a:p>
        </p:txBody>
      </p:sp>
    </p:spTree>
    <p:extLst>
      <p:ext uri="{BB962C8B-B14F-4D97-AF65-F5344CB8AC3E}">
        <p14:creationId xmlns:p14="http://schemas.microsoft.com/office/powerpoint/2010/main" val="3618391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B9020B0-8E0A-4570-8B3D-B67C9E1D9FFE}"/>
              </a:ext>
            </a:extLst>
          </p:cNvPr>
          <p:cNvSpPr txBox="1"/>
          <p:nvPr/>
        </p:nvSpPr>
        <p:spPr>
          <a:xfrm>
            <a:off x="2343037" y="3907163"/>
            <a:ext cx="1646605" cy="307777"/>
          </a:xfrm>
          <a:prstGeom prst="rect">
            <a:avLst/>
          </a:prstGeom>
          <a:solidFill>
            <a:schemeClr val="bg1"/>
          </a:solidFill>
        </p:spPr>
        <p:txBody>
          <a:bodyPr wrap="none" rtlCol="0">
            <a:spAutoFit/>
          </a:bodyPr>
          <a:lstStyle>
            <a:defPPr>
              <a:defRPr lang="es-CL"/>
            </a:defPPr>
            <a:lvl1pPr algn="ctr">
              <a:defRPr sz="20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Lógica </a:t>
            </a:r>
            <a:r>
              <a:rPr kumimoji="0" lang="en-US" sz="1400" i="1" u="none" strike="noStrike" kern="1200" cap="none" spc="0" normalizeH="0" baseline="0" noProof="0" dirty="0">
                <a:ln>
                  <a:noFill/>
                </a:ln>
                <a:effectLst/>
                <a:uLnTx/>
                <a:uFillTx/>
                <a:latin typeface="Avenir Next" panose="020B0503020202020204" pitchFamily="34" charset="0"/>
                <a:ea typeface="ヒラギノ角ゴ ProN W3"/>
              </a:rPr>
              <a:t>bottom Up</a:t>
            </a:r>
          </a:p>
        </p:txBody>
      </p:sp>
      <p:sp>
        <p:nvSpPr>
          <p:cNvPr id="5" name="CuadroTexto 4">
            <a:extLst>
              <a:ext uri="{FF2B5EF4-FFF2-40B4-BE49-F238E27FC236}">
                <a16:creationId xmlns:a16="http://schemas.microsoft.com/office/drawing/2014/main" id="{06735718-F48C-4FFD-910C-1CFE671E6F0C}"/>
              </a:ext>
            </a:extLst>
          </p:cNvPr>
          <p:cNvSpPr txBox="1"/>
          <p:nvPr/>
        </p:nvSpPr>
        <p:spPr>
          <a:xfrm>
            <a:off x="8418659" y="3870806"/>
            <a:ext cx="1545615" cy="307777"/>
          </a:xfrm>
          <a:prstGeom prst="rect">
            <a:avLst/>
          </a:prstGeom>
          <a:solidFill>
            <a:schemeClr val="bg1"/>
          </a:solidFill>
        </p:spPr>
        <p:txBody>
          <a:bodyPr wrap="none" rtlCol="0">
            <a:spAutoFit/>
          </a:bodyPr>
          <a:lstStyle>
            <a:defPPr>
              <a:defRPr lang="es-CL"/>
            </a:defPPr>
            <a:lvl1pPr algn="ctr">
              <a:defRPr sz="20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Lógica </a:t>
            </a:r>
            <a:r>
              <a:rPr kumimoji="0" lang="en-US" sz="1400" i="1" u="none" strike="noStrike" kern="1200" cap="none" spc="0" normalizeH="0" baseline="0" noProof="0" dirty="0">
                <a:ln>
                  <a:noFill/>
                </a:ln>
                <a:effectLst/>
                <a:uLnTx/>
                <a:uFillTx/>
                <a:latin typeface="Avenir Next" panose="020B0503020202020204" pitchFamily="34" charset="0"/>
                <a:ea typeface="ヒラギノ角ゴ ProN W3"/>
              </a:rPr>
              <a:t>top down</a:t>
            </a:r>
          </a:p>
        </p:txBody>
      </p:sp>
      <p:sp>
        <p:nvSpPr>
          <p:cNvPr id="6" name="CuadroTexto 5">
            <a:extLst>
              <a:ext uri="{FF2B5EF4-FFF2-40B4-BE49-F238E27FC236}">
                <a16:creationId xmlns:a16="http://schemas.microsoft.com/office/drawing/2014/main" id="{D0859672-B61C-49EF-A976-F9FD2313769D}"/>
              </a:ext>
            </a:extLst>
          </p:cNvPr>
          <p:cNvSpPr txBox="1"/>
          <p:nvPr/>
        </p:nvSpPr>
        <p:spPr>
          <a:xfrm>
            <a:off x="1201609" y="198494"/>
            <a:ext cx="3036409" cy="156966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800" b="1" i="0" u="none" strike="noStrike" kern="1200" cap="none" spc="0" normalizeH="0" baseline="0" noProof="0" dirty="0">
                <a:ln>
                  <a:noFill/>
                </a:ln>
                <a:solidFill>
                  <a:srgbClr val="000000"/>
                </a:solidFill>
                <a:effectLst/>
                <a:uLnTx/>
                <a:uFillTx/>
                <a:latin typeface="+mn-lt"/>
                <a:ea typeface="ヒラギノ角ゴ ProN W3"/>
              </a:rPr>
              <a:t>SEARCH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800" b="1" i="0" u="none" strike="noStrike" kern="1200" cap="none" spc="0" normalizeH="0" baseline="0" noProof="0" dirty="0">
                <a:ln>
                  <a:noFill/>
                </a:ln>
                <a:solidFill>
                  <a:srgbClr val="000000"/>
                </a:solidFill>
                <a:effectLst/>
                <a:uLnTx/>
                <a:uFillTx/>
                <a:latin typeface="+mn-lt"/>
                <a:ea typeface="ヒラギノ角ゴ ProN W3"/>
              </a:rPr>
              <a:t>FUND</a:t>
            </a:r>
          </a:p>
        </p:txBody>
      </p:sp>
      <p:sp>
        <p:nvSpPr>
          <p:cNvPr id="7" name="CuadroTexto 6">
            <a:extLst>
              <a:ext uri="{FF2B5EF4-FFF2-40B4-BE49-F238E27FC236}">
                <a16:creationId xmlns:a16="http://schemas.microsoft.com/office/drawing/2014/main" id="{E5DA2F31-6857-4453-BA2B-9F8F0987769D}"/>
              </a:ext>
            </a:extLst>
          </p:cNvPr>
          <p:cNvSpPr txBox="1"/>
          <p:nvPr/>
        </p:nvSpPr>
        <p:spPr>
          <a:xfrm>
            <a:off x="7314994" y="198494"/>
            <a:ext cx="3752951" cy="156966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800" b="1" i="0" u="none" strike="noStrike" kern="1200" cap="none" spc="0" normalizeH="0" baseline="0" noProof="0" dirty="0">
                <a:ln>
                  <a:noFill/>
                </a:ln>
                <a:solidFill>
                  <a:srgbClr val="000000"/>
                </a:solidFill>
                <a:effectLst/>
                <a:uLnTx/>
                <a:uFillTx/>
                <a:latin typeface="+mn-lt"/>
                <a:ea typeface="ヒラギノ角ゴ ProN W3"/>
              </a:rPr>
              <a:t>COMPANY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4800" b="1" i="0" u="none" strike="noStrike" kern="1200" cap="none" spc="0" normalizeH="0" baseline="0" noProof="0" dirty="0">
                <a:ln>
                  <a:noFill/>
                </a:ln>
                <a:solidFill>
                  <a:srgbClr val="000000"/>
                </a:solidFill>
                <a:effectLst/>
                <a:uLnTx/>
                <a:uFillTx/>
                <a:latin typeface="+mn-lt"/>
                <a:ea typeface="ヒラギノ角ゴ ProN W3"/>
              </a:rPr>
              <a:t>BUILDER</a:t>
            </a:r>
          </a:p>
        </p:txBody>
      </p:sp>
      <p:cxnSp>
        <p:nvCxnSpPr>
          <p:cNvPr id="9" name="Conector recto 8">
            <a:extLst>
              <a:ext uri="{FF2B5EF4-FFF2-40B4-BE49-F238E27FC236}">
                <a16:creationId xmlns:a16="http://schemas.microsoft.com/office/drawing/2014/main" id="{7415C9A6-7999-46D9-817F-0507EB32CFA3}"/>
              </a:ext>
            </a:extLst>
          </p:cNvPr>
          <p:cNvCxnSpPr/>
          <p:nvPr/>
        </p:nvCxnSpPr>
        <p:spPr bwMode="auto">
          <a:xfrm>
            <a:off x="6096000" y="198494"/>
            <a:ext cx="0" cy="6286761"/>
          </a:xfrm>
          <a:prstGeom prst="line">
            <a:avLst/>
          </a:prstGeom>
          <a:solidFill>
            <a:schemeClr val="accent1"/>
          </a:solidFill>
          <a:ln w="28575" cap="flat" cmpd="sng" algn="ctr">
            <a:solidFill>
              <a:srgbClr val="FDC405"/>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CuadroTexto 9">
            <a:extLst>
              <a:ext uri="{FF2B5EF4-FFF2-40B4-BE49-F238E27FC236}">
                <a16:creationId xmlns:a16="http://schemas.microsoft.com/office/drawing/2014/main" id="{D83F29DC-5EA8-4CAB-B2D6-B239A06A3511}"/>
              </a:ext>
            </a:extLst>
          </p:cNvPr>
          <p:cNvSpPr txBox="1"/>
          <p:nvPr/>
        </p:nvSpPr>
        <p:spPr>
          <a:xfrm>
            <a:off x="6332722" y="1918614"/>
            <a:ext cx="5385833" cy="307777"/>
          </a:xfrm>
          <a:prstGeom prst="rect">
            <a:avLst/>
          </a:prstGeom>
          <a:solidFill>
            <a:schemeClr val="bg1"/>
          </a:solidFill>
        </p:spPr>
        <p:txBody>
          <a:bodyPr wrap="none" rtlCol="0">
            <a:spAutoFit/>
          </a:bodyPr>
          <a:lstStyle>
            <a:defPPr>
              <a:defRPr lang="es-CL"/>
            </a:defPPr>
            <a:lvl1pPr algn="ctr">
              <a:defRPr sz="48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Buscan empresas que partan en 1 y lleguen a 5 entre 3 a 5 años</a:t>
            </a:r>
          </a:p>
        </p:txBody>
      </p:sp>
      <p:sp>
        <p:nvSpPr>
          <p:cNvPr id="11" name="CuadroTexto 10">
            <a:extLst>
              <a:ext uri="{FF2B5EF4-FFF2-40B4-BE49-F238E27FC236}">
                <a16:creationId xmlns:a16="http://schemas.microsoft.com/office/drawing/2014/main" id="{E52C3A99-F020-4E3F-856A-9B19C878F724}"/>
              </a:ext>
            </a:extLst>
          </p:cNvPr>
          <p:cNvSpPr txBox="1"/>
          <p:nvPr/>
        </p:nvSpPr>
        <p:spPr>
          <a:xfrm>
            <a:off x="6332722" y="2462327"/>
            <a:ext cx="4321889" cy="307777"/>
          </a:xfrm>
          <a:prstGeom prst="rect">
            <a:avLst/>
          </a:prstGeom>
          <a:solidFill>
            <a:schemeClr val="bg1"/>
          </a:solidFill>
        </p:spPr>
        <p:txBody>
          <a:bodyPr wrap="none" rtlCol="0">
            <a:spAutoFit/>
          </a:bodyPr>
          <a:lstStyle>
            <a:defPPr>
              <a:defRPr lang="es-CL"/>
            </a:defPPr>
            <a:lvl1pPr algn="ctr">
              <a:defRPr sz="48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En general, toman participación mayoritaria 50 + 1</a:t>
            </a:r>
          </a:p>
        </p:txBody>
      </p:sp>
      <p:sp>
        <p:nvSpPr>
          <p:cNvPr id="12" name="CuadroTexto 11">
            <a:extLst>
              <a:ext uri="{FF2B5EF4-FFF2-40B4-BE49-F238E27FC236}">
                <a16:creationId xmlns:a16="http://schemas.microsoft.com/office/drawing/2014/main" id="{FA9A7F19-5370-4493-8765-A3A1F003AD33}"/>
              </a:ext>
            </a:extLst>
          </p:cNvPr>
          <p:cNvSpPr txBox="1"/>
          <p:nvPr/>
        </p:nvSpPr>
        <p:spPr>
          <a:xfrm>
            <a:off x="6332722" y="3054104"/>
            <a:ext cx="3657796" cy="307777"/>
          </a:xfrm>
          <a:prstGeom prst="rect">
            <a:avLst/>
          </a:prstGeom>
          <a:solidFill>
            <a:schemeClr val="bg1"/>
          </a:solidFill>
        </p:spPr>
        <p:txBody>
          <a:bodyPr wrap="none" rtlCol="0">
            <a:spAutoFit/>
          </a:bodyPr>
          <a:lstStyle>
            <a:defPPr>
              <a:defRPr lang="es-CL"/>
            </a:defPPr>
            <a:lvl1pPr algn="ctr">
              <a:defRPr sz="48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Influyen directamente en la administración</a:t>
            </a:r>
          </a:p>
        </p:txBody>
      </p:sp>
      <p:cxnSp>
        <p:nvCxnSpPr>
          <p:cNvPr id="14" name="Conector recto 13">
            <a:extLst>
              <a:ext uri="{FF2B5EF4-FFF2-40B4-BE49-F238E27FC236}">
                <a16:creationId xmlns:a16="http://schemas.microsoft.com/office/drawing/2014/main" id="{8690EC3F-3DAA-44CE-A1D2-FD3920F985D6}"/>
              </a:ext>
            </a:extLst>
          </p:cNvPr>
          <p:cNvCxnSpPr/>
          <p:nvPr/>
        </p:nvCxnSpPr>
        <p:spPr bwMode="auto">
          <a:xfrm>
            <a:off x="314794" y="3666230"/>
            <a:ext cx="11223695" cy="0"/>
          </a:xfrm>
          <a:prstGeom prst="line">
            <a:avLst/>
          </a:prstGeom>
          <a:solidFill>
            <a:schemeClr val="accent1"/>
          </a:solidFill>
          <a:ln w="28575" cap="flat" cmpd="sng" algn="ctr">
            <a:solidFill>
              <a:srgbClr val="FDC405"/>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CuadroTexto 14">
            <a:extLst>
              <a:ext uri="{FF2B5EF4-FFF2-40B4-BE49-F238E27FC236}">
                <a16:creationId xmlns:a16="http://schemas.microsoft.com/office/drawing/2014/main" id="{03AE5378-9FE9-4DF6-9EC0-DCFA1D17884B}"/>
              </a:ext>
            </a:extLst>
          </p:cNvPr>
          <p:cNvSpPr txBox="1"/>
          <p:nvPr/>
        </p:nvSpPr>
        <p:spPr>
          <a:xfrm>
            <a:off x="1601430" y="4497437"/>
            <a:ext cx="3129831" cy="307777"/>
          </a:xfrm>
          <a:prstGeom prst="rect">
            <a:avLst/>
          </a:prstGeom>
          <a:solidFill>
            <a:schemeClr val="bg1"/>
          </a:solidFill>
        </p:spPr>
        <p:txBody>
          <a:bodyPr wrap="none" rtlCol="0">
            <a:spAutoFit/>
          </a:bodyPr>
          <a:lstStyle>
            <a:defPPr>
              <a:defRPr lang="es-CL"/>
            </a:defPPr>
            <a:lvl1pPr algn="ctr">
              <a:defRPr sz="20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Más centrado en liderazgo y equipo</a:t>
            </a:r>
            <a:endParaRPr kumimoji="0" lang="en-US" sz="1400" i="1" u="none" strike="noStrike" kern="1200" cap="none" spc="0" normalizeH="0" baseline="0" noProof="0" dirty="0">
              <a:ln>
                <a:noFill/>
              </a:ln>
              <a:effectLst/>
              <a:uLnTx/>
              <a:uFillTx/>
              <a:latin typeface="Avenir Next" panose="020B0503020202020204" pitchFamily="34" charset="0"/>
              <a:ea typeface="ヒラギノ角ゴ ProN W3"/>
            </a:endParaRPr>
          </a:p>
        </p:txBody>
      </p:sp>
      <p:sp>
        <p:nvSpPr>
          <p:cNvPr id="16" name="CuadroTexto 15">
            <a:extLst>
              <a:ext uri="{FF2B5EF4-FFF2-40B4-BE49-F238E27FC236}">
                <a16:creationId xmlns:a16="http://schemas.microsoft.com/office/drawing/2014/main" id="{1A41471F-F753-4FC9-957B-A205B5956A52}"/>
              </a:ext>
            </a:extLst>
          </p:cNvPr>
          <p:cNvSpPr txBox="1"/>
          <p:nvPr/>
        </p:nvSpPr>
        <p:spPr>
          <a:xfrm>
            <a:off x="7348521" y="4497437"/>
            <a:ext cx="3354252" cy="307777"/>
          </a:xfrm>
          <a:prstGeom prst="rect">
            <a:avLst/>
          </a:prstGeom>
          <a:solidFill>
            <a:schemeClr val="bg1"/>
          </a:solidFill>
        </p:spPr>
        <p:txBody>
          <a:bodyPr wrap="none" rtlCol="0">
            <a:spAutoFit/>
          </a:bodyPr>
          <a:lstStyle>
            <a:defPPr>
              <a:defRPr lang="es-CL"/>
            </a:defPPr>
            <a:lvl1pPr algn="ctr">
              <a:defRPr sz="20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Más centrado en metodología, gestión</a:t>
            </a:r>
            <a:endParaRPr kumimoji="0" lang="en-US" sz="1400" i="1" u="none" strike="noStrike" kern="1200" cap="none" spc="0" normalizeH="0" baseline="0" noProof="0" dirty="0">
              <a:ln>
                <a:noFill/>
              </a:ln>
              <a:effectLst/>
              <a:uLnTx/>
              <a:uFillTx/>
              <a:latin typeface="Avenir Next" panose="020B0503020202020204" pitchFamily="34" charset="0"/>
              <a:ea typeface="ヒラギノ角ゴ ProN W3"/>
            </a:endParaRPr>
          </a:p>
        </p:txBody>
      </p:sp>
      <p:sp>
        <p:nvSpPr>
          <p:cNvPr id="17" name="CuadroTexto 16">
            <a:extLst>
              <a:ext uri="{FF2B5EF4-FFF2-40B4-BE49-F238E27FC236}">
                <a16:creationId xmlns:a16="http://schemas.microsoft.com/office/drawing/2014/main" id="{290A11F6-3794-4EA5-AABF-80233E7D99AB}"/>
              </a:ext>
            </a:extLst>
          </p:cNvPr>
          <p:cNvSpPr txBox="1"/>
          <p:nvPr/>
        </p:nvSpPr>
        <p:spPr>
          <a:xfrm>
            <a:off x="1837321" y="5087711"/>
            <a:ext cx="2611549" cy="307777"/>
          </a:xfrm>
          <a:prstGeom prst="rect">
            <a:avLst/>
          </a:prstGeom>
          <a:solidFill>
            <a:schemeClr val="bg1"/>
          </a:solidFill>
        </p:spPr>
        <p:txBody>
          <a:bodyPr wrap="none" rtlCol="0">
            <a:spAutoFit/>
          </a:bodyPr>
          <a:lstStyle>
            <a:defPPr>
              <a:defRPr lang="es-CL"/>
            </a:defPPr>
            <a:lvl1pPr algn="ctr">
              <a:defRPr sz="20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“darle vuelo al emprendedor”</a:t>
            </a:r>
            <a:endParaRPr kumimoji="0" lang="en-US" sz="1400" i="1" u="none" strike="noStrike" kern="1200" cap="none" spc="0" normalizeH="0" baseline="0" noProof="0" dirty="0">
              <a:ln>
                <a:noFill/>
              </a:ln>
              <a:effectLst/>
              <a:uLnTx/>
              <a:uFillTx/>
              <a:latin typeface="Avenir Next" panose="020B0503020202020204" pitchFamily="34" charset="0"/>
              <a:ea typeface="ヒラギノ角ゴ ProN W3"/>
            </a:endParaRPr>
          </a:p>
        </p:txBody>
      </p:sp>
      <p:sp>
        <p:nvSpPr>
          <p:cNvPr id="18" name="CuadroTexto 17">
            <a:extLst>
              <a:ext uri="{FF2B5EF4-FFF2-40B4-BE49-F238E27FC236}">
                <a16:creationId xmlns:a16="http://schemas.microsoft.com/office/drawing/2014/main" id="{D3913271-91CF-46D7-B9DF-065688295D61}"/>
              </a:ext>
            </a:extLst>
          </p:cNvPr>
          <p:cNvSpPr txBox="1"/>
          <p:nvPr/>
        </p:nvSpPr>
        <p:spPr>
          <a:xfrm>
            <a:off x="7410922" y="5087711"/>
            <a:ext cx="3561103" cy="307777"/>
          </a:xfrm>
          <a:prstGeom prst="rect">
            <a:avLst/>
          </a:prstGeom>
          <a:solidFill>
            <a:schemeClr val="bg1"/>
          </a:solidFill>
        </p:spPr>
        <p:txBody>
          <a:bodyPr wrap="none" rtlCol="0">
            <a:spAutoFit/>
          </a:bodyPr>
          <a:lstStyle>
            <a:defPPr>
              <a:defRPr lang="es-CL"/>
            </a:defPPr>
            <a:lvl1pPr algn="ctr">
              <a:defRPr sz="20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“los negocios son disciplina y constancia”</a:t>
            </a:r>
            <a:endParaRPr kumimoji="0" lang="en-US" sz="1400" i="1" u="none" strike="noStrike" kern="1200" cap="none" spc="0" normalizeH="0" baseline="0" noProof="0" dirty="0">
              <a:ln>
                <a:noFill/>
              </a:ln>
              <a:effectLst/>
              <a:uLnTx/>
              <a:uFillTx/>
              <a:latin typeface="Avenir Next" panose="020B0503020202020204" pitchFamily="34" charset="0"/>
              <a:ea typeface="ヒラギノ角ゴ ProN W3"/>
            </a:endParaRPr>
          </a:p>
        </p:txBody>
      </p:sp>
      <p:sp>
        <p:nvSpPr>
          <p:cNvPr id="19" name="CuadroTexto 18">
            <a:extLst>
              <a:ext uri="{FF2B5EF4-FFF2-40B4-BE49-F238E27FC236}">
                <a16:creationId xmlns:a16="http://schemas.microsoft.com/office/drawing/2014/main" id="{E1F0DDC4-5163-4DCC-BA8A-8151696FF340}"/>
              </a:ext>
            </a:extLst>
          </p:cNvPr>
          <p:cNvSpPr txBox="1"/>
          <p:nvPr/>
        </p:nvSpPr>
        <p:spPr>
          <a:xfrm>
            <a:off x="1416795" y="5677985"/>
            <a:ext cx="3492686" cy="307777"/>
          </a:xfrm>
          <a:prstGeom prst="rect">
            <a:avLst/>
          </a:prstGeom>
          <a:solidFill>
            <a:schemeClr val="bg1"/>
          </a:solidFill>
        </p:spPr>
        <p:txBody>
          <a:bodyPr wrap="none" rtlCol="0">
            <a:spAutoFit/>
          </a:bodyPr>
          <a:lstStyle>
            <a:defPPr>
              <a:defRPr lang="es-CL"/>
            </a:defPPr>
            <a:lvl1pPr algn="ctr">
              <a:defRPr sz="20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Negocios de lógica startup tecnológicos</a:t>
            </a:r>
          </a:p>
        </p:txBody>
      </p:sp>
      <p:sp>
        <p:nvSpPr>
          <p:cNvPr id="20" name="CuadroTexto 19">
            <a:extLst>
              <a:ext uri="{FF2B5EF4-FFF2-40B4-BE49-F238E27FC236}">
                <a16:creationId xmlns:a16="http://schemas.microsoft.com/office/drawing/2014/main" id="{E4B54A11-BE98-4B70-B688-FA40ACAE047D}"/>
              </a:ext>
            </a:extLst>
          </p:cNvPr>
          <p:cNvSpPr txBox="1"/>
          <p:nvPr/>
        </p:nvSpPr>
        <p:spPr>
          <a:xfrm>
            <a:off x="7639971" y="5677985"/>
            <a:ext cx="2771336" cy="307777"/>
          </a:xfrm>
          <a:prstGeom prst="rect">
            <a:avLst/>
          </a:prstGeom>
          <a:solidFill>
            <a:schemeClr val="bg1"/>
          </a:solidFill>
        </p:spPr>
        <p:txBody>
          <a:bodyPr wrap="none" rtlCol="0">
            <a:spAutoFit/>
          </a:bodyPr>
          <a:lstStyle>
            <a:defPPr>
              <a:defRPr lang="es-CL"/>
            </a:defPPr>
            <a:lvl1pPr algn="ctr">
              <a:defRPr sz="20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Negocios con lógica tradicional</a:t>
            </a:r>
          </a:p>
        </p:txBody>
      </p:sp>
      <p:sp>
        <p:nvSpPr>
          <p:cNvPr id="2" name="CuadroTexto 1">
            <a:extLst>
              <a:ext uri="{FF2B5EF4-FFF2-40B4-BE49-F238E27FC236}">
                <a16:creationId xmlns:a16="http://schemas.microsoft.com/office/drawing/2014/main" id="{4C6C7B1A-03D8-CEE8-FC8F-ECB6B5383C95}"/>
              </a:ext>
            </a:extLst>
          </p:cNvPr>
          <p:cNvSpPr txBox="1"/>
          <p:nvPr/>
        </p:nvSpPr>
        <p:spPr>
          <a:xfrm>
            <a:off x="1678936" y="1918614"/>
            <a:ext cx="3211585" cy="307777"/>
          </a:xfrm>
          <a:prstGeom prst="rect">
            <a:avLst/>
          </a:prstGeom>
          <a:solidFill>
            <a:schemeClr val="bg1"/>
          </a:solidFill>
        </p:spPr>
        <p:txBody>
          <a:bodyPr wrap="none" rtlCol="0">
            <a:spAutoFit/>
          </a:bodyPr>
          <a:lstStyle>
            <a:defPPr>
              <a:defRPr lang="es-CL"/>
            </a:defPPr>
            <a:lvl1pPr algn="ctr">
              <a:defRPr sz="4800">
                <a:latin typeface="Bahnschrift SemiBold"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i="0" u="none" strike="noStrike" kern="1200" cap="none" spc="0" normalizeH="0" baseline="0" noProof="0" dirty="0">
                <a:ln>
                  <a:noFill/>
                </a:ln>
                <a:effectLst/>
                <a:uLnTx/>
                <a:uFillTx/>
                <a:latin typeface="Avenir Next" panose="020B0503020202020204" pitchFamily="34" charset="0"/>
                <a:ea typeface="ヒラギノ角ゴ ProN W3"/>
              </a:rPr>
              <a:t>Siguen la lógica de inversión Venture</a:t>
            </a:r>
          </a:p>
        </p:txBody>
      </p:sp>
    </p:spTree>
    <p:extLst>
      <p:ext uri="{BB962C8B-B14F-4D97-AF65-F5344CB8AC3E}">
        <p14:creationId xmlns:p14="http://schemas.microsoft.com/office/powerpoint/2010/main" val="863012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BEB2F-42E5-F9F5-07F6-438349D24B84}"/>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F93738BF-73E2-7C56-3520-43AB7D2620A4}"/>
              </a:ext>
            </a:extLst>
          </p:cNvPr>
          <p:cNvSpPr>
            <a:spLocks noGrp="1"/>
          </p:cNvSpPr>
          <p:nvPr>
            <p:ph type="title"/>
          </p:nvPr>
        </p:nvSpPr>
        <p:spPr/>
        <p:txBody>
          <a:bodyPr/>
          <a:lstStyle/>
          <a:p>
            <a:r>
              <a:rPr lang="es-CL" dirty="0"/>
              <a:t>Valorización de empresas y métodos</a:t>
            </a:r>
          </a:p>
        </p:txBody>
      </p:sp>
    </p:spTree>
    <p:extLst>
      <p:ext uri="{BB962C8B-B14F-4D97-AF65-F5344CB8AC3E}">
        <p14:creationId xmlns:p14="http://schemas.microsoft.com/office/powerpoint/2010/main" val="1598006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256961"/>
            <a:ext cx="10761392" cy="523220"/>
          </a:xfrm>
          <a:prstGeom prst="rect">
            <a:avLst/>
          </a:prstGeom>
          <a:noFill/>
        </p:spPr>
        <p:txBody>
          <a:bodyPr wrap="square" rtlCol="0">
            <a:spAutoFit/>
          </a:bodyPr>
          <a:lstStyle/>
          <a:p>
            <a:pPr algn="ctr"/>
            <a:r>
              <a:rPr lang="es-ES" sz="2800" dirty="0">
                <a:latin typeface="Montserrat SemiBold" pitchFamily="2" charset="0"/>
              </a:rPr>
              <a:t>Qué es valorizar una empresa</a:t>
            </a:r>
            <a:endParaRPr lang="es-CL" sz="2800" dirty="0">
              <a:latin typeface="Montserrat SemiBold" pitchFamily="2" charset="0"/>
            </a:endParaRPr>
          </a:p>
        </p:txBody>
      </p:sp>
      <p:sp>
        <p:nvSpPr>
          <p:cNvPr id="4" name="CuadroTexto 3">
            <a:extLst>
              <a:ext uri="{FF2B5EF4-FFF2-40B4-BE49-F238E27FC236}">
                <a16:creationId xmlns:a16="http://schemas.microsoft.com/office/drawing/2014/main" id="{35015A84-F539-4347-B6AE-60964B3BC79B}"/>
              </a:ext>
            </a:extLst>
          </p:cNvPr>
          <p:cNvSpPr txBox="1"/>
          <p:nvPr/>
        </p:nvSpPr>
        <p:spPr>
          <a:xfrm>
            <a:off x="663218" y="1140115"/>
            <a:ext cx="6032737" cy="5262979"/>
          </a:xfrm>
          <a:prstGeom prst="rect">
            <a:avLst/>
          </a:prstGeom>
          <a:noFill/>
        </p:spPr>
        <p:txBody>
          <a:bodyPr wrap="square">
            <a:spAutoFit/>
          </a:bodyPr>
          <a:lstStyle/>
          <a:p>
            <a:pPr algn="just"/>
            <a:r>
              <a:rPr lang="es-ES" sz="1600" b="1" dirty="0">
                <a:latin typeface="Montserrat" panose="00000500000000000000" pitchFamily="2" charset="0"/>
              </a:rPr>
              <a:t>Importancia de la valorización para un startup:</a:t>
            </a:r>
            <a:r>
              <a:rPr lang="es-ES" sz="1600" dirty="0">
                <a:latin typeface="Montserrat" panose="00000500000000000000" pitchFamily="2" charset="0"/>
              </a:rPr>
              <a:t> para los startups, la valorización es esencial para negociar con inversores y determinar la cantidad de equidad que se intercambia por inversión. Así, permite a los emprendedores mantener el control sobre su empresa y asegurar el crecimiento futuro.</a:t>
            </a:r>
          </a:p>
          <a:p>
            <a:pPr algn="just"/>
            <a:endParaRPr lang="es-ES" sz="1600" dirty="0">
              <a:latin typeface="Montserrat" panose="00000500000000000000" pitchFamily="2" charset="0"/>
            </a:endParaRPr>
          </a:p>
          <a:p>
            <a:pPr algn="just"/>
            <a:r>
              <a:rPr lang="es-ES" sz="1600" b="1" dirty="0">
                <a:latin typeface="Montserrat" panose="00000500000000000000" pitchFamily="2" charset="0"/>
              </a:rPr>
              <a:t>Inversión y Financiamiento:</a:t>
            </a:r>
            <a:r>
              <a:rPr lang="es-ES" sz="1600" dirty="0">
                <a:latin typeface="Montserrat" panose="00000500000000000000" pitchFamily="2" charset="0"/>
              </a:rPr>
              <a:t> Entender el valor real de una empresa permite a los emprendedores e inversores tomar decisiones de financiamiento más informadas.</a:t>
            </a:r>
          </a:p>
          <a:p>
            <a:pPr algn="just"/>
            <a:endParaRPr lang="es-ES" sz="1600" dirty="0">
              <a:latin typeface="Montserrat" panose="00000500000000000000" pitchFamily="2" charset="0"/>
            </a:endParaRPr>
          </a:p>
          <a:p>
            <a:pPr algn="just"/>
            <a:r>
              <a:rPr lang="es-ES" sz="1600" b="1" dirty="0">
                <a:latin typeface="Montserrat" panose="00000500000000000000" pitchFamily="2" charset="0"/>
              </a:rPr>
              <a:t>Importancia de la valorización para Inversores:</a:t>
            </a:r>
            <a:r>
              <a:rPr lang="es-ES" sz="1600" dirty="0">
                <a:latin typeface="Montserrat" panose="00000500000000000000" pitchFamily="2" charset="0"/>
              </a:rPr>
              <a:t> Para los inversores, la valorización es clave para determinar el potencial de retorno de su inversión. Permite calcular la relación riesgo-recompensa y tomar decisiones de inversión informadas.</a:t>
            </a:r>
          </a:p>
          <a:p>
            <a:pPr algn="just"/>
            <a:endParaRPr lang="es-ES" sz="1600" dirty="0">
              <a:latin typeface="Montserrat" panose="00000500000000000000" pitchFamily="2" charset="0"/>
            </a:endParaRPr>
          </a:p>
          <a:p>
            <a:pPr algn="just"/>
            <a:r>
              <a:rPr lang="es-ES" sz="1600" b="1" dirty="0">
                <a:latin typeface="Montserrat" panose="00000500000000000000" pitchFamily="2" charset="0"/>
              </a:rPr>
              <a:t>Estrategia y Toma de Decisiones:</a:t>
            </a:r>
            <a:r>
              <a:rPr lang="es-ES" sz="1600" dirty="0">
                <a:latin typeface="Montserrat" panose="00000500000000000000" pitchFamily="2" charset="0"/>
              </a:rPr>
              <a:t> Una valoración precisa puede ser la clave para decisiones estratégicas como adquisiciones, fusiones o incluso la venta de la empresa.</a:t>
            </a:r>
            <a:endParaRPr lang="es-CL" sz="1600" dirty="0">
              <a:latin typeface="Montserrat" panose="00000500000000000000" pitchFamily="2" charset="0"/>
            </a:endParaRPr>
          </a:p>
        </p:txBody>
      </p:sp>
      <p:sp>
        <p:nvSpPr>
          <p:cNvPr id="5" name="CuadroTexto 4">
            <a:extLst>
              <a:ext uri="{FF2B5EF4-FFF2-40B4-BE49-F238E27FC236}">
                <a16:creationId xmlns:a16="http://schemas.microsoft.com/office/drawing/2014/main" id="{F0818CF2-3C88-64FB-2BC8-65BFCC3BE5B0}"/>
              </a:ext>
            </a:extLst>
          </p:cNvPr>
          <p:cNvSpPr txBox="1"/>
          <p:nvPr/>
        </p:nvSpPr>
        <p:spPr>
          <a:xfrm>
            <a:off x="7454096" y="2136338"/>
            <a:ext cx="3970514" cy="2585323"/>
          </a:xfrm>
          <a:prstGeom prst="rect">
            <a:avLst/>
          </a:prstGeom>
          <a:noFill/>
        </p:spPr>
        <p:txBody>
          <a:bodyPr wrap="square">
            <a:spAutoFit/>
          </a:bodyPr>
          <a:lstStyle/>
          <a:p>
            <a:pPr algn="just"/>
            <a:r>
              <a:rPr lang="es-ES" sz="1800" dirty="0">
                <a:latin typeface="Montserrat" panose="00000500000000000000" pitchFamily="2" charset="0"/>
              </a:rPr>
              <a:t>La valorización de empresas es el proceso de determinar el valor económico actual de una empresa. Se utiliza para establecer un precio justo en diversas situaciones, como ventas de empresas, inversiones de capital y fusiones o adquisiciones.</a:t>
            </a:r>
          </a:p>
        </p:txBody>
      </p:sp>
    </p:spTree>
    <p:extLst>
      <p:ext uri="{BB962C8B-B14F-4D97-AF65-F5344CB8AC3E}">
        <p14:creationId xmlns:p14="http://schemas.microsoft.com/office/powerpoint/2010/main" val="11955354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A2E706-AFAB-3EAE-E614-0EB0C8415FA0}"/>
              </a:ext>
            </a:extLst>
          </p:cNvPr>
          <p:cNvSpPr txBox="1"/>
          <p:nvPr/>
        </p:nvSpPr>
        <p:spPr>
          <a:xfrm>
            <a:off x="663218" y="572322"/>
            <a:ext cx="10874374" cy="523220"/>
          </a:xfrm>
          <a:prstGeom prst="rect">
            <a:avLst/>
          </a:prstGeom>
          <a:noFill/>
        </p:spPr>
        <p:txBody>
          <a:bodyPr wrap="square" rtlCol="0">
            <a:spAutoFit/>
          </a:bodyPr>
          <a:lstStyle/>
          <a:p>
            <a:pPr algn="ctr"/>
            <a:r>
              <a:rPr lang="es-ES" sz="2800" dirty="0">
                <a:latin typeface="Montserrat SemiBold" pitchFamily="2" charset="0"/>
              </a:rPr>
              <a:t>Valorización de empresa tradicional vs startup</a:t>
            </a:r>
            <a:endParaRPr lang="es-CL" sz="2800" dirty="0">
              <a:latin typeface="Montserrat SemiBold" pitchFamily="2" charset="0"/>
            </a:endParaRPr>
          </a:p>
        </p:txBody>
      </p:sp>
      <p:sp>
        <p:nvSpPr>
          <p:cNvPr id="8" name="CuadroTexto 7">
            <a:extLst>
              <a:ext uri="{FF2B5EF4-FFF2-40B4-BE49-F238E27FC236}">
                <a16:creationId xmlns:a16="http://schemas.microsoft.com/office/drawing/2014/main" id="{51AE3C1A-EA0E-4631-B125-DB936D28020E}"/>
              </a:ext>
            </a:extLst>
          </p:cNvPr>
          <p:cNvSpPr txBox="1"/>
          <p:nvPr/>
        </p:nvSpPr>
        <p:spPr>
          <a:xfrm>
            <a:off x="663218" y="6136070"/>
            <a:ext cx="10865564" cy="246221"/>
          </a:xfrm>
          <a:prstGeom prst="rect">
            <a:avLst/>
          </a:prstGeom>
          <a:noFill/>
        </p:spPr>
        <p:txBody>
          <a:bodyPr wrap="square">
            <a:spAutoFit/>
          </a:bodyPr>
          <a:lstStyle/>
          <a:p>
            <a:r>
              <a:rPr lang="es-CL" sz="1000" dirty="0">
                <a:latin typeface="Montserrat" panose="00000500000000000000" pitchFamily="2" charset="0"/>
              </a:rPr>
              <a:t>Fuente: basado en…</a:t>
            </a:r>
          </a:p>
        </p:txBody>
      </p:sp>
      <p:graphicFrame>
        <p:nvGraphicFramePr>
          <p:cNvPr id="3" name="object 4">
            <a:extLst>
              <a:ext uri="{FF2B5EF4-FFF2-40B4-BE49-F238E27FC236}">
                <a16:creationId xmlns:a16="http://schemas.microsoft.com/office/drawing/2014/main" id="{C6AFFA55-7F2A-96C3-AD04-FC1D54F5AD7F}"/>
              </a:ext>
            </a:extLst>
          </p:cNvPr>
          <p:cNvGraphicFramePr>
            <a:graphicFrameLocks noGrp="1"/>
          </p:cNvGraphicFramePr>
          <p:nvPr/>
        </p:nvGraphicFramePr>
        <p:xfrm>
          <a:off x="663218" y="1617498"/>
          <a:ext cx="10874375" cy="3997880"/>
        </p:xfrm>
        <a:graphic>
          <a:graphicData uri="http://schemas.openxmlformats.org/drawingml/2006/table">
            <a:tbl>
              <a:tblPr firstRow="1" bandRow="1">
                <a:tableStyleId>{2D5ABB26-0587-4C30-8999-92F81FD0307C}</a:tableStyleId>
              </a:tblPr>
              <a:tblGrid>
                <a:gridCol w="2584268">
                  <a:extLst>
                    <a:ext uri="{9D8B030D-6E8A-4147-A177-3AD203B41FA5}">
                      <a16:colId xmlns:a16="http://schemas.microsoft.com/office/drawing/2014/main" val="2364383865"/>
                    </a:ext>
                  </a:extLst>
                </a:gridCol>
                <a:gridCol w="4210554">
                  <a:extLst>
                    <a:ext uri="{9D8B030D-6E8A-4147-A177-3AD203B41FA5}">
                      <a16:colId xmlns:a16="http://schemas.microsoft.com/office/drawing/2014/main" val="20000"/>
                    </a:ext>
                  </a:extLst>
                </a:gridCol>
                <a:gridCol w="4079553">
                  <a:extLst>
                    <a:ext uri="{9D8B030D-6E8A-4147-A177-3AD203B41FA5}">
                      <a16:colId xmlns:a16="http://schemas.microsoft.com/office/drawing/2014/main" val="3396954697"/>
                    </a:ext>
                  </a:extLst>
                </a:gridCol>
              </a:tblGrid>
              <a:tr h="437435">
                <a:tc>
                  <a:txBody>
                    <a:bodyPr/>
                    <a:lstStyle/>
                    <a:p>
                      <a:pPr marL="90805" algn="ctr">
                        <a:lnSpc>
                          <a:spcPct val="100000"/>
                        </a:lnSpc>
                        <a:spcBef>
                          <a:spcPts val="280"/>
                        </a:spcBef>
                      </a:pPr>
                      <a:endParaRPr lang="es-419" sz="1200">
                        <a:solidFill>
                          <a:srgbClr val="3C5154"/>
                        </a:solidFill>
                        <a:latin typeface="+mj-lt"/>
                        <a:cs typeface="Montserrat"/>
                      </a:endParaRPr>
                    </a:p>
                  </a:txBody>
                  <a:tcPr marL="0" marR="0" marT="3556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90805" algn="ctr">
                        <a:lnSpc>
                          <a:spcPct val="100000"/>
                        </a:lnSpc>
                        <a:spcBef>
                          <a:spcPts val="280"/>
                        </a:spcBef>
                      </a:pPr>
                      <a:r>
                        <a:rPr lang="es-419" sz="1200" b="1" spc="-5">
                          <a:solidFill>
                            <a:srgbClr val="3C5154"/>
                          </a:solidFill>
                          <a:latin typeface="+mj-lt"/>
                        </a:rPr>
                        <a:t>Empresa Tradicional</a:t>
                      </a:r>
                      <a:endParaRPr lang="es-419" sz="1200" b="1">
                        <a:solidFill>
                          <a:srgbClr val="3C5154"/>
                        </a:solidFill>
                        <a:latin typeface="+mj-lt"/>
                        <a:cs typeface="Montserrat"/>
                      </a:endParaRPr>
                    </a:p>
                  </a:txBody>
                  <a:tcPr marL="0" marR="0" marT="35560" marB="0" anchor="ctr">
                    <a:lnL w="12700" cap="flat" cmpd="sng" algn="ctr">
                      <a:no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90805" algn="ctr">
                        <a:lnSpc>
                          <a:spcPct val="100000"/>
                        </a:lnSpc>
                        <a:spcBef>
                          <a:spcPts val="280"/>
                        </a:spcBef>
                      </a:pPr>
                      <a:r>
                        <a:rPr lang="es-419" sz="1200" b="1">
                          <a:solidFill>
                            <a:srgbClr val="3C5154"/>
                          </a:solidFill>
                          <a:latin typeface="+mj-lt"/>
                          <a:cs typeface="Montserrat"/>
                        </a:rPr>
                        <a:t>Startup</a:t>
                      </a:r>
                    </a:p>
                  </a:txBody>
                  <a:tcPr marL="0" marR="0" marT="35560" marB="0" anchor="ctr">
                    <a:lnL w="1270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0"/>
                  </a:ext>
                </a:extLst>
              </a:tr>
              <a:tr h="532935">
                <a:tc>
                  <a:txBody>
                    <a:bodyPr/>
                    <a:lstStyle/>
                    <a:p>
                      <a:pPr marL="90805" algn="ctr">
                        <a:lnSpc>
                          <a:spcPct val="100000"/>
                        </a:lnSpc>
                        <a:spcBef>
                          <a:spcPts val="300"/>
                        </a:spcBef>
                      </a:pPr>
                      <a:r>
                        <a:rPr lang="es-MX" sz="1200" b="1" kern="1200" dirty="0">
                          <a:solidFill>
                            <a:schemeClr val="tx2"/>
                          </a:solidFill>
                          <a:latin typeface="+mn-lt"/>
                          <a:ea typeface="Open Sans SemiBold" panose="020B0706030804020204" pitchFamily="34" charset="0"/>
                          <a:cs typeface="Open Sans SemiBold" panose="020B0706030804020204" pitchFamily="34" charset="0"/>
                        </a:rPr>
                        <a:t>Base de la valorización</a:t>
                      </a:r>
                      <a:endParaRPr sz="1200" b="1" kern="1200" dirty="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0805" algn="ctr">
                        <a:lnSpc>
                          <a:spcPct val="100000"/>
                        </a:lnSpc>
                        <a:spcBef>
                          <a:spcPts val="300"/>
                        </a:spcBef>
                      </a:pPr>
                      <a:r>
                        <a:rPr lang="es-MX" sz="1200" kern="1200">
                          <a:solidFill>
                            <a:schemeClr val="tx2"/>
                          </a:solidFill>
                          <a:latin typeface="+mn-lt"/>
                          <a:ea typeface="Open Sans SemiBold" panose="020B0706030804020204" pitchFamily="34" charset="0"/>
                          <a:cs typeface="Open Sans SemiBold" panose="020B0706030804020204" pitchFamily="34" charset="0"/>
                        </a:rPr>
                        <a:t>Datos financieros históricos y tangibles: ingresos, beneficios, activos, flujos de efectivo.</a:t>
                      </a:r>
                      <a:endParaRPr sz="1200"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0805" algn="ctr">
                        <a:lnSpc>
                          <a:spcPct val="100000"/>
                        </a:lnSpc>
                        <a:spcBef>
                          <a:spcPts val="300"/>
                        </a:spcBef>
                      </a:pPr>
                      <a:r>
                        <a:rPr lang="es-MX" sz="1200" kern="1200">
                          <a:solidFill>
                            <a:schemeClr val="tx2"/>
                          </a:solidFill>
                          <a:latin typeface="+mn-lt"/>
                          <a:ea typeface="Open Sans SemiBold" panose="020B0706030804020204" pitchFamily="34" charset="0"/>
                          <a:cs typeface="Open Sans SemiBold" panose="020B0706030804020204" pitchFamily="34" charset="0"/>
                        </a:rPr>
                        <a:t>Indicadores menos tangibles: potencial del mercado, talento del equipo, avance tecnológico, escalabilidad.</a:t>
                      </a:r>
                      <a:endParaRPr sz="1200"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1"/>
                  </a:ext>
                </a:extLst>
              </a:tr>
              <a:tr h="384407">
                <a:tc>
                  <a:txBody>
                    <a:bodyPr/>
                    <a:lstStyle/>
                    <a:p>
                      <a:pPr marL="90805" algn="ctr">
                        <a:lnSpc>
                          <a:spcPct val="100000"/>
                        </a:lnSpc>
                        <a:spcBef>
                          <a:spcPts val="300"/>
                        </a:spcBef>
                      </a:pPr>
                      <a:r>
                        <a:rPr lang="es-MX" sz="1200" b="1" kern="1200">
                          <a:solidFill>
                            <a:schemeClr val="tx2"/>
                          </a:solidFill>
                          <a:latin typeface="+mn-lt"/>
                          <a:ea typeface="Open Sans SemiBold" panose="020B0706030804020204" pitchFamily="34" charset="0"/>
                          <a:cs typeface="Open Sans SemiBold" panose="020B0706030804020204" pitchFamily="34" charset="0"/>
                        </a:rPr>
                        <a:t>Datos Financieros</a:t>
                      </a:r>
                      <a:endParaRPr sz="1200" b="1"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MX" sz="1200" kern="1200">
                          <a:solidFill>
                            <a:schemeClr val="tx2"/>
                          </a:solidFill>
                          <a:latin typeface="+mn-lt"/>
                          <a:ea typeface="Open Sans SemiBold" panose="020B0706030804020204" pitchFamily="34" charset="0"/>
                          <a:cs typeface="Open Sans SemiBold" panose="020B0706030804020204" pitchFamily="34" charset="0"/>
                        </a:rPr>
                        <a:t>Historia de ingresos y beneficios estables.</a:t>
                      </a:r>
                      <a:endParaRPr sz="1200"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CL" sz="1200" kern="1200">
                          <a:solidFill>
                            <a:schemeClr val="tx2"/>
                          </a:solidFill>
                          <a:latin typeface="+mn-lt"/>
                          <a:ea typeface="Open Sans SemiBold" panose="020B0706030804020204" pitchFamily="34" charset="0"/>
                          <a:cs typeface="Open Sans SemiBold" panose="020B0706030804020204" pitchFamily="34" charset="0"/>
                        </a:rPr>
                        <a:t>Carecen de ingresos o beneficios, especialmente en etapas tempranas.</a:t>
                      </a:r>
                      <a:endParaRPr sz="1200"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2"/>
                  </a:ext>
                </a:extLst>
              </a:tr>
              <a:tr h="486010">
                <a:tc>
                  <a:txBody>
                    <a:bodyPr/>
                    <a:lstStyle/>
                    <a:p>
                      <a:pPr marL="90805" algn="ctr">
                        <a:lnSpc>
                          <a:spcPct val="100000"/>
                        </a:lnSpc>
                        <a:spcBef>
                          <a:spcPts val="300"/>
                        </a:spcBef>
                      </a:pPr>
                      <a:r>
                        <a:rPr lang="es-MX" sz="1200" b="1" kern="1200">
                          <a:solidFill>
                            <a:schemeClr val="tx2"/>
                          </a:solidFill>
                          <a:latin typeface="+mn-lt"/>
                          <a:ea typeface="Open Sans SemiBold" panose="020B0706030804020204" pitchFamily="34" charset="0"/>
                          <a:cs typeface="Open Sans SemiBold" panose="020B0706030804020204" pitchFamily="34" charset="0"/>
                        </a:rPr>
                        <a:t>Métodos de valorización más comunes</a:t>
                      </a:r>
                      <a:endParaRPr sz="1200" b="1"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CL" sz="1200" kern="1200">
                          <a:solidFill>
                            <a:schemeClr val="tx2"/>
                          </a:solidFill>
                          <a:latin typeface="+mn-lt"/>
                          <a:ea typeface="Open Sans SemiBold" panose="020B0706030804020204" pitchFamily="34" charset="0"/>
                          <a:cs typeface="Open Sans SemiBold" panose="020B0706030804020204" pitchFamily="34" charset="0"/>
                        </a:rPr>
                        <a:t>Descuento de Flujos de Caja, Valor Económico Agregado.</a:t>
                      </a:r>
                      <a:endParaRPr sz="1200"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CL" sz="1200" kern="1200">
                          <a:solidFill>
                            <a:schemeClr val="tx2"/>
                          </a:solidFill>
                          <a:latin typeface="+mn-lt"/>
                          <a:ea typeface="Open Sans SemiBold" panose="020B0706030804020204" pitchFamily="34" charset="0"/>
                          <a:cs typeface="Open Sans SemiBold" panose="020B0706030804020204" pitchFamily="34" charset="0"/>
                        </a:rPr>
                        <a:t>Depende de la etapa de madurez.</a:t>
                      </a: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3"/>
                  </a:ext>
                </a:extLst>
              </a:tr>
              <a:tr h="562875">
                <a:tc>
                  <a:txBody>
                    <a:bodyPr/>
                    <a:lstStyle/>
                    <a:p>
                      <a:pPr marL="90805" algn="ctr">
                        <a:lnSpc>
                          <a:spcPct val="100000"/>
                        </a:lnSpc>
                        <a:spcBef>
                          <a:spcPts val="300"/>
                        </a:spcBef>
                      </a:pPr>
                      <a:r>
                        <a:rPr lang="es-MX" sz="1200" b="1" kern="1200">
                          <a:solidFill>
                            <a:schemeClr val="tx2"/>
                          </a:solidFill>
                          <a:latin typeface="+mn-lt"/>
                          <a:ea typeface="Open Sans SemiBold" panose="020B0706030804020204" pitchFamily="34" charset="0"/>
                          <a:cs typeface="Open Sans SemiBold" panose="020B0706030804020204" pitchFamily="34" charset="0"/>
                        </a:rPr>
                        <a:t>Factores de Riesgo</a:t>
                      </a:r>
                      <a:endParaRPr sz="1200" b="1"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MX" sz="1200" kern="1200">
                          <a:solidFill>
                            <a:schemeClr val="tx2"/>
                          </a:solidFill>
                          <a:latin typeface="+mn-lt"/>
                          <a:ea typeface="Open Sans SemiBold" panose="020B0706030804020204" pitchFamily="34" charset="0"/>
                          <a:cs typeface="Open Sans SemiBold" panose="020B0706030804020204" pitchFamily="34" charset="0"/>
                        </a:rPr>
                        <a:t>Menor riesgo debido a la estabilidad y predictibilidad.</a:t>
                      </a:r>
                      <a:endParaRPr sz="1200"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MX" sz="1200" kern="1200">
                          <a:solidFill>
                            <a:schemeClr val="tx2"/>
                          </a:solidFill>
                          <a:latin typeface="+mn-lt"/>
                          <a:ea typeface="Open Sans SemiBold" panose="020B0706030804020204" pitchFamily="34" charset="0"/>
                          <a:cs typeface="Open Sans SemiBold" panose="020B0706030804020204" pitchFamily="34" charset="0"/>
                        </a:rPr>
                        <a:t>Mayor riesgo debido a la incertidumbre y a la falta de historial financiero.</a:t>
                      </a: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4"/>
                  </a:ext>
                </a:extLst>
              </a:tr>
              <a:tr h="562875">
                <a:tc>
                  <a:txBody>
                    <a:bodyPr/>
                    <a:lstStyle/>
                    <a:p>
                      <a:pPr marL="90805" algn="ctr">
                        <a:lnSpc>
                          <a:spcPct val="100000"/>
                        </a:lnSpc>
                        <a:spcBef>
                          <a:spcPts val="300"/>
                        </a:spcBef>
                      </a:pPr>
                      <a:r>
                        <a:rPr lang="es-MX" sz="1200" b="1" kern="1200">
                          <a:solidFill>
                            <a:schemeClr val="tx2"/>
                          </a:solidFill>
                          <a:latin typeface="+mn-lt"/>
                          <a:ea typeface="Open Sans SemiBold" panose="020B0706030804020204" pitchFamily="34" charset="0"/>
                          <a:cs typeface="Open Sans SemiBold" panose="020B0706030804020204" pitchFamily="34" charset="0"/>
                        </a:rPr>
                        <a:t>Tiempo hasta rentabilidad</a:t>
                      </a:r>
                      <a:endParaRPr sz="1200" b="1"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MX" sz="1200" kern="1200">
                          <a:solidFill>
                            <a:schemeClr val="tx2"/>
                          </a:solidFill>
                          <a:latin typeface="+mn-lt"/>
                          <a:ea typeface="Open Sans SemiBold" panose="020B0706030804020204" pitchFamily="34" charset="0"/>
                          <a:cs typeface="Open Sans SemiBold" panose="020B0706030804020204" pitchFamily="34" charset="0"/>
                        </a:rPr>
                        <a:t>Suelen ser</a:t>
                      </a:r>
                      <a:r>
                        <a:rPr lang="es-MX" sz="1200" kern="1200" baseline="0">
                          <a:solidFill>
                            <a:schemeClr val="tx2"/>
                          </a:solidFill>
                          <a:latin typeface="+mn-lt"/>
                          <a:ea typeface="Open Sans SemiBold" panose="020B0706030804020204" pitchFamily="34" charset="0"/>
                          <a:cs typeface="Open Sans SemiBold" panose="020B0706030804020204" pitchFamily="34" charset="0"/>
                        </a:rPr>
                        <a:t> rentables en un plazo menor</a:t>
                      </a:r>
                      <a:endParaRPr sz="1200"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MX" sz="1200" kern="1200" dirty="0">
                          <a:solidFill>
                            <a:schemeClr val="tx2"/>
                          </a:solidFill>
                          <a:latin typeface="+mn-lt"/>
                          <a:ea typeface="Open Sans SemiBold" panose="020B0706030804020204" pitchFamily="34" charset="0"/>
                          <a:cs typeface="Open Sans SemiBold" panose="020B0706030804020204" pitchFamily="34" charset="0"/>
                        </a:rPr>
                        <a:t>Puede tomar muchos años hasta que un startup se vuelva rentable.</a:t>
                      </a: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5"/>
                  </a:ext>
                </a:extLst>
              </a:tr>
              <a:tr h="395210">
                <a:tc>
                  <a:txBody>
                    <a:bodyPr/>
                    <a:lstStyle/>
                    <a:p>
                      <a:pPr marL="90805" algn="ctr">
                        <a:lnSpc>
                          <a:spcPct val="100000"/>
                        </a:lnSpc>
                        <a:spcBef>
                          <a:spcPts val="300"/>
                        </a:spcBef>
                      </a:pPr>
                      <a:r>
                        <a:rPr lang="es-MX" sz="1200" b="1" kern="1200">
                          <a:solidFill>
                            <a:schemeClr val="tx2"/>
                          </a:solidFill>
                          <a:latin typeface="+mn-lt"/>
                          <a:ea typeface="Open Sans SemiBold" panose="020B0706030804020204" pitchFamily="34" charset="0"/>
                          <a:cs typeface="Open Sans SemiBold" panose="020B0706030804020204" pitchFamily="34" charset="0"/>
                        </a:rPr>
                        <a:t>Expectativas de crecimiento</a:t>
                      </a:r>
                      <a:endParaRPr sz="1200" b="1"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MX" sz="1200" kern="1200">
                          <a:solidFill>
                            <a:schemeClr val="tx2"/>
                          </a:solidFill>
                          <a:latin typeface="+mn-lt"/>
                          <a:ea typeface="Open Sans SemiBold" panose="020B0706030804020204" pitchFamily="34" charset="0"/>
                          <a:cs typeface="Open Sans SemiBold" panose="020B0706030804020204" pitchFamily="34" charset="0"/>
                        </a:rPr>
                        <a:t>Crecimiento más lento y estable.</a:t>
                      </a:r>
                      <a:endParaRPr sz="1200"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MX" sz="1200" kern="1200">
                          <a:solidFill>
                            <a:schemeClr val="tx2"/>
                          </a:solidFill>
                          <a:latin typeface="+mn-lt"/>
                          <a:ea typeface="Open Sans SemiBold" panose="020B0706030804020204" pitchFamily="34" charset="0"/>
                          <a:cs typeface="Open Sans SemiBold" panose="020B0706030804020204" pitchFamily="34" charset="0"/>
                        </a:rPr>
                        <a:t>Crecimiento rápido y a gran escala</a:t>
                      </a: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4793865"/>
                  </a:ext>
                </a:extLst>
              </a:tr>
              <a:tr h="562875">
                <a:tc>
                  <a:txBody>
                    <a:bodyPr/>
                    <a:lstStyle/>
                    <a:p>
                      <a:pPr marL="90805" algn="ctr">
                        <a:lnSpc>
                          <a:spcPct val="100000"/>
                        </a:lnSpc>
                        <a:spcBef>
                          <a:spcPts val="300"/>
                        </a:spcBef>
                      </a:pPr>
                      <a:r>
                        <a:rPr lang="es-MX" sz="1200" b="1" kern="1200">
                          <a:solidFill>
                            <a:schemeClr val="tx2"/>
                          </a:solidFill>
                          <a:latin typeface="+mn-lt"/>
                          <a:ea typeface="Open Sans SemiBold" panose="020B0706030804020204" pitchFamily="34" charset="0"/>
                          <a:cs typeface="Open Sans SemiBold" panose="020B0706030804020204" pitchFamily="34" charset="0"/>
                        </a:rPr>
                        <a:t>Inversión Inicial</a:t>
                      </a:r>
                      <a:endParaRPr sz="1200" b="1"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CL" sz="1200" kern="1200">
                          <a:solidFill>
                            <a:schemeClr val="tx2"/>
                          </a:solidFill>
                          <a:latin typeface="+mn-lt"/>
                          <a:ea typeface="Open Sans SemiBold" panose="020B0706030804020204" pitchFamily="34" charset="0"/>
                          <a:cs typeface="Open Sans SemiBold" panose="020B0706030804020204" pitchFamily="34" charset="0"/>
                        </a:rPr>
                        <a:t>Suelen autofinanciarse o recurrir a préstamos bancarios.</a:t>
                      </a:r>
                      <a:endParaRPr sz="1200" kern="1200">
                        <a:solidFill>
                          <a:schemeClr val="tx2"/>
                        </a:solidFill>
                        <a:latin typeface="+mn-lt"/>
                        <a:ea typeface="Open Sans SemiBold" panose="020B0706030804020204" pitchFamily="34" charset="0"/>
                        <a:cs typeface="Open Sans SemiBold" panose="020B0706030804020204" pitchFamily="34" charset="0"/>
                      </a:endParaRP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0805" algn="ctr">
                        <a:lnSpc>
                          <a:spcPct val="100000"/>
                        </a:lnSpc>
                        <a:spcBef>
                          <a:spcPts val="300"/>
                        </a:spcBef>
                      </a:pPr>
                      <a:r>
                        <a:rPr lang="es-MX" sz="1200" kern="1200" dirty="0">
                          <a:solidFill>
                            <a:schemeClr val="tx2"/>
                          </a:solidFill>
                          <a:latin typeface="+mn-lt"/>
                          <a:ea typeface="Open Sans SemiBold" panose="020B0706030804020204" pitchFamily="34" charset="0"/>
                          <a:cs typeface="Open Sans SemiBold" panose="020B0706030804020204" pitchFamily="34" charset="0"/>
                        </a:rPr>
                        <a:t>Suelen requerir capital de riesgo para financiar el crecimiento.</a:t>
                      </a:r>
                    </a:p>
                  </a:txBody>
                  <a:tcPr marL="0" marR="0" marT="38100" marB="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203211650"/>
                  </a:ext>
                </a:extLst>
              </a:tr>
            </a:tbl>
          </a:graphicData>
        </a:graphic>
      </p:graphicFrame>
    </p:spTree>
    <p:extLst>
      <p:ext uri="{BB962C8B-B14F-4D97-AF65-F5344CB8AC3E}">
        <p14:creationId xmlns:p14="http://schemas.microsoft.com/office/powerpoint/2010/main" val="86261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F9FFF0D-C711-0A0A-0F60-AF456862599A}"/>
              </a:ext>
            </a:extLst>
          </p:cNvPr>
          <p:cNvSpPr/>
          <p:nvPr/>
        </p:nvSpPr>
        <p:spPr>
          <a:xfrm>
            <a:off x="6096000" y="-2"/>
            <a:ext cx="6096000" cy="6858001"/>
          </a:xfrm>
          <a:prstGeom prst="rect">
            <a:avLst/>
          </a:prstGeom>
          <a:solidFill>
            <a:srgbClr val="593B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Título 3">
            <a:extLst>
              <a:ext uri="{FF2B5EF4-FFF2-40B4-BE49-F238E27FC236}">
                <a16:creationId xmlns:a16="http://schemas.microsoft.com/office/drawing/2014/main" id="{ACF7057D-F58B-C697-79AA-794C84B4C906}"/>
              </a:ext>
            </a:extLst>
          </p:cNvPr>
          <p:cNvSpPr txBox="1">
            <a:spLocks/>
          </p:cNvSpPr>
          <p:nvPr/>
        </p:nvSpPr>
        <p:spPr>
          <a:xfrm>
            <a:off x="6807200" y="0"/>
            <a:ext cx="4725988" cy="6021387"/>
          </a:xfrm>
          <a:prstGeom prst="rect">
            <a:avLst/>
          </a:prstGeom>
        </p:spPr>
        <p:txBody>
          <a:bodyPr anchor="ct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pPr algn="ctr"/>
            <a:r>
              <a:rPr lang="es-CL" sz="4000" dirty="0">
                <a:solidFill>
                  <a:schemeClr val="bg2"/>
                </a:solidFill>
              </a:rPr>
              <a:t>Etapas de un startup y métodos de valorización</a:t>
            </a:r>
          </a:p>
        </p:txBody>
      </p:sp>
      <p:pic>
        <p:nvPicPr>
          <p:cNvPr id="6" name="Imagen 5">
            <a:extLst>
              <a:ext uri="{FF2B5EF4-FFF2-40B4-BE49-F238E27FC236}">
                <a16:creationId xmlns:a16="http://schemas.microsoft.com/office/drawing/2014/main" id="{0374EFBC-97FF-C7D0-D048-65A6357D302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6213" y="1194543"/>
            <a:ext cx="5879787" cy="3942601"/>
          </a:xfrm>
          <a:prstGeom prst="rect">
            <a:avLst/>
          </a:prstGeom>
        </p:spPr>
      </p:pic>
    </p:spTree>
    <p:extLst>
      <p:ext uri="{BB962C8B-B14F-4D97-AF65-F5344CB8AC3E}">
        <p14:creationId xmlns:p14="http://schemas.microsoft.com/office/powerpoint/2010/main" val="816425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D948268-8616-1C82-8EC5-E10DCB54FB8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6213" y="1194543"/>
            <a:ext cx="5879787" cy="3942601"/>
          </a:xfrm>
          <a:prstGeom prst="rect">
            <a:avLst/>
          </a:prstGeom>
        </p:spPr>
      </p:pic>
      <p:sp>
        <p:nvSpPr>
          <p:cNvPr id="3" name="Rectángulo 2">
            <a:extLst>
              <a:ext uri="{FF2B5EF4-FFF2-40B4-BE49-F238E27FC236}">
                <a16:creationId xmlns:a16="http://schemas.microsoft.com/office/drawing/2014/main" id="{03D1C139-81C7-CA17-5FD8-D175EACCE923}"/>
              </a:ext>
            </a:extLst>
          </p:cNvPr>
          <p:cNvSpPr/>
          <p:nvPr/>
        </p:nvSpPr>
        <p:spPr>
          <a:xfrm>
            <a:off x="193810" y="1020096"/>
            <a:ext cx="425670" cy="4566317"/>
          </a:xfrm>
          <a:prstGeom prst="rect">
            <a:avLst/>
          </a:prstGeom>
          <a:solidFill>
            <a:schemeClr val="tx2">
              <a:lumMod val="20000"/>
              <a:lumOff val="80000"/>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55454CC8-EB93-1474-E81F-C1818617F526}"/>
              </a:ext>
            </a:extLst>
          </p:cNvPr>
          <p:cNvSpPr/>
          <p:nvPr/>
        </p:nvSpPr>
        <p:spPr>
          <a:xfrm>
            <a:off x="619480" y="1020096"/>
            <a:ext cx="5425090" cy="514825"/>
          </a:xfrm>
          <a:prstGeom prst="rect">
            <a:avLst/>
          </a:prstGeom>
          <a:solidFill>
            <a:schemeClr val="tx2">
              <a:lumMod val="20000"/>
              <a:lumOff val="80000"/>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Rectángulo 4">
            <a:extLst>
              <a:ext uri="{FF2B5EF4-FFF2-40B4-BE49-F238E27FC236}">
                <a16:creationId xmlns:a16="http://schemas.microsoft.com/office/drawing/2014/main" id="{C7B91ECB-E8FB-C444-AB06-9749FD1818DC}"/>
              </a:ext>
            </a:extLst>
          </p:cNvPr>
          <p:cNvSpPr/>
          <p:nvPr/>
        </p:nvSpPr>
        <p:spPr>
          <a:xfrm>
            <a:off x="1800225" y="1534921"/>
            <a:ext cx="4244345" cy="3536667"/>
          </a:xfrm>
          <a:prstGeom prst="rect">
            <a:avLst/>
          </a:prstGeom>
          <a:solidFill>
            <a:schemeClr val="tx2">
              <a:lumMod val="20000"/>
              <a:lumOff val="80000"/>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CuadroTexto 5">
            <a:extLst>
              <a:ext uri="{FF2B5EF4-FFF2-40B4-BE49-F238E27FC236}">
                <a16:creationId xmlns:a16="http://schemas.microsoft.com/office/drawing/2014/main" id="{752F8976-D008-9412-736B-8BCB1A234E66}"/>
              </a:ext>
            </a:extLst>
          </p:cNvPr>
          <p:cNvSpPr txBox="1"/>
          <p:nvPr/>
        </p:nvSpPr>
        <p:spPr>
          <a:xfrm>
            <a:off x="6447837" y="2411724"/>
            <a:ext cx="4756888" cy="2554545"/>
          </a:xfrm>
          <a:prstGeom prst="rect">
            <a:avLst/>
          </a:prstGeom>
          <a:noFill/>
        </p:spPr>
        <p:txBody>
          <a:bodyPr wrap="square">
            <a:spAutoFit/>
          </a:bodyPr>
          <a:lstStyle/>
          <a:p>
            <a:pPr marL="285750" indent="-285750" algn="just">
              <a:buFont typeface="Arial" panose="020B0604020202020204" pitchFamily="34" charset="0"/>
              <a:buChar char="•"/>
            </a:pPr>
            <a:r>
              <a:rPr lang="es-MX" sz="1600" dirty="0">
                <a:latin typeface="Montserrat" panose="00000500000000000000" pitchFamily="2" charset="0"/>
              </a:rPr>
              <a:t>Idea/Concepto: Es la etapa inicial donde el emprendedor tiene una idea de negocio, pero no ha construido aún un producto.</a:t>
            </a:r>
          </a:p>
          <a:p>
            <a:pPr marL="285750" indent="-285750" algn="just">
              <a:buFont typeface="Arial" panose="020B0604020202020204" pitchFamily="34" charset="0"/>
              <a:buChar char="•"/>
            </a:pPr>
            <a:endParaRPr lang="es-MX" sz="1600" dirty="0">
              <a:latin typeface="Montserrat" panose="00000500000000000000" pitchFamily="2" charset="0"/>
            </a:endParaRPr>
          </a:p>
          <a:p>
            <a:pPr marL="285750" indent="-285750" algn="just">
              <a:buFont typeface="Arial" panose="020B0604020202020204" pitchFamily="34" charset="0"/>
              <a:buChar char="•"/>
            </a:pPr>
            <a:r>
              <a:rPr lang="es-MX" sz="1600" dirty="0">
                <a:latin typeface="Montserrat" panose="00000500000000000000" pitchFamily="2" charset="0"/>
              </a:rPr>
              <a:t>Seed (Semilla): En esta etapa, el startup tiene un prototipo o versión beta de su producto que ha sido probado en el mercado y ha recibido comentarios iniciales de los usuarios.</a:t>
            </a:r>
          </a:p>
        </p:txBody>
      </p:sp>
      <p:sp>
        <p:nvSpPr>
          <p:cNvPr id="7" name="Rectángulo 6">
            <a:extLst>
              <a:ext uri="{FF2B5EF4-FFF2-40B4-BE49-F238E27FC236}">
                <a16:creationId xmlns:a16="http://schemas.microsoft.com/office/drawing/2014/main" id="{FF6034BB-E6E3-7BD5-0781-680B93A28150}"/>
              </a:ext>
            </a:extLst>
          </p:cNvPr>
          <p:cNvSpPr/>
          <p:nvPr/>
        </p:nvSpPr>
        <p:spPr>
          <a:xfrm>
            <a:off x="619480" y="5071588"/>
            <a:ext cx="5425090" cy="514825"/>
          </a:xfrm>
          <a:prstGeom prst="rect">
            <a:avLst/>
          </a:prstGeom>
          <a:solidFill>
            <a:schemeClr val="tx2">
              <a:lumMod val="20000"/>
              <a:lumOff val="80000"/>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Title 5">
            <a:extLst>
              <a:ext uri="{FF2B5EF4-FFF2-40B4-BE49-F238E27FC236}">
                <a16:creationId xmlns:a16="http://schemas.microsoft.com/office/drawing/2014/main" id="{FD9F69EF-A1F5-1D97-767C-0C14C0773129}"/>
              </a:ext>
            </a:extLst>
          </p:cNvPr>
          <p:cNvSpPr txBox="1">
            <a:spLocks/>
          </p:cNvSpPr>
          <p:nvPr/>
        </p:nvSpPr>
        <p:spPr>
          <a:xfrm>
            <a:off x="6593937" y="1397468"/>
            <a:ext cx="4610788"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CL" dirty="0">
                <a:latin typeface="Montserrat SemiBold" pitchFamily="2" charset="0"/>
                <a:ea typeface="+mn-ea"/>
                <a:cs typeface="+mn-cs"/>
              </a:rPr>
              <a:t>Etapas de un startup</a:t>
            </a:r>
          </a:p>
        </p:txBody>
      </p:sp>
      <p:sp>
        <p:nvSpPr>
          <p:cNvPr id="9" name="Rectángulo 8">
            <a:extLst>
              <a:ext uri="{FF2B5EF4-FFF2-40B4-BE49-F238E27FC236}">
                <a16:creationId xmlns:a16="http://schemas.microsoft.com/office/drawing/2014/main" id="{36BDDCFF-437B-9FD8-4E82-C2364E27E879}"/>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0" name="Rectángulo 9">
            <a:extLst>
              <a:ext uri="{FF2B5EF4-FFF2-40B4-BE49-F238E27FC236}">
                <a16:creationId xmlns:a16="http://schemas.microsoft.com/office/drawing/2014/main" id="{AD854721-67D7-0BB8-088F-49FB89C728DD}"/>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1" name="Rectángulo 10">
            <a:extLst>
              <a:ext uri="{FF2B5EF4-FFF2-40B4-BE49-F238E27FC236}">
                <a16:creationId xmlns:a16="http://schemas.microsoft.com/office/drawing/2014/main" id="{8B6C7FED-6A38-F777-3109-2EC32C016155}"/>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2" name="Rectángulo 11">
            <a:extLst>
              <a:ext uri="{FF2B5EF4-FFF2-40B4-BE49-F238E27FC236}">
                <a16:creationId xmlns:a16="http://schemas.microsoft.com/office/drawing/2014/main" id="{C24BF583-5B38-75F4-D89C-799528D2F7AB}"/>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3" name="Rectángulo 12">
            <a:extLst>
              <a:ext uri="{FF2B5EF4-FFF2-40B4-BE49-F238E27FC236}">
                <a16:creationId xmlns:a16="http://schemas.microsoft.com/office/drawing/2014/main" id="{90041BBA-7DE0-B9AE-DE4A-C7CB35D62523}"/>
              </a:ext>
            </a:extLst>
          </p:cNvPr>
          <p:cNvSpPr/>
          <p:nvPr/>
        </p:nvSpPr>
        <p:spPr>
          <a:xfrm>
            <a:off x="0" y="354692"/>
            <a:ext cx="10116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4" name="Rectángulo 13">
            <a:extLst>
              <a:ext uri="{FF2B5EF4-FFF2-40B4-BE49-F238E27FC236}">
                <a16:creationId xmlns:a16="http://schemas.microsoft.com/office/drawing/2014/main" id="{4D6821D3-B879-8236-901C-55A490F46CB7}"/>
              </a:ext>
            </a:extLst>
          </p:cNvPr>
          <p:cNvSpPr/>
          <p:nvPr/>
        </p:nvSpPr>
        <p:spPr>
          <a:xfrm>
            <a:off x="984251" y="354693"/>
            <a:ext cx="1047386"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15" name="Rectángulo 14">
            <a:extLst>
              <a:ext uri="{FF2B5EF4-FFF2-40B4-BE49-F238E27FC236}">
                <a16:creationId xmlns:a16="http://schemas.microsoft.com/office/drawing/2014/main" id="{D7A12651-729D-3FD6-C93F-001BE355B624}"/>
              </a:ext>
            </a:extLst>
          </p:cNvPr>
          <p:cNvSpPr/>
          <p:nvPr/>
        </p:nvSpPr>
        <p:spPr>
          <a:xfrm>
            <a:off x="2031637" y="354694"/>
            <a:ext cx="10020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LATE SEED</a:t>
            </a:r>
          </a:p>
        </p:txBody>
      </p:sp>
    </p:spTree>
    <p:extLst>
      <p:ext uri="{BB962C8B-B14F-4D97-AF65-F5344CB8AC3E}">
        <p14:creationId xmlns:p14="http://schemas.microsoft.com/office/powerpoint/2010/main" val="1954636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41CF1AE-20E8-4D4F-5445-F75A3444B92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49976" y="844818"/>
            <a:ext cx="4998469" cy="5168363"/>
          </a:xfrm>
          <a:prstGeom prst="rect">
            <a:avLst/>
          </a:prstGeom>
        </p:spPr>
      </p:pic>
      <p:pic>
        <p:nvPicPr>
          <p:cNvPr id="3" name="Imagen 2">
            <a:extLst>
              <a:ext uri="{FF2B5EF4-FFF2-40B4-BE49-F238E27FC236}">
                <a16:creationId xmlns:a16="http://schemas.microsoft.com/office/drawing/2014/main" id="{294F093A-A31F-2E95-75C2-41973967E46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96000" y="1079272"/>
            <a:ext cx="5983007" cy="4699455"/>
          </a:xfrm>
          <a:prstGeom prst="rect">
            <a:avLst/>
          </a:prstGeom>
        </p:spPr>
      </p:pic>
    </p:spTree>
    <p:extLst>
      <p:ext uri="{BB962C8B-B14F-4D97-AF65-F5344CB8AC3E}">
        <p14:creationId xmlns:p14="http://schemas.microsoft.com/office/powerpoint/2010/main" val="662421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12E928-D7A6-DF11-F941-B40429F90CC9}"/>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de Idea/Concepto</a:t>
            </a:r>
            <a:endParaRPr lang="es-CL" sz="2400" b="1">
              <a:solidFill>
                <a:schemeClr val="accent2"/>
              </a:solidFill>
            </a:endParaRPr>
          </a:p>
        </p:txBody>
      </p:sp>
      <p:graphicFrame>
        <p:nvGraphicFramePr>
          <p:cNvPr id="7" name="Tabla 15">
            <a:extLst>
              <a:ext uri="{FF2B5EF4-FFF2-40B4-BE49-F238E27FC236}">
                <a16:creationId xmlns:a16="http://schemas.microsoft.com/office/drawing/2014/main" id="{DA4DC26F-AB7D-1163-C2A2-749ADDDE8733}"/>
              </a:ext>
            </a:extLst>
          </p:cNvPr>
          <p:cNvGraphicFramePr>
            <a:graphicFrameLocks noGrp="1"/>
          </p:cNvGraphicFramePr>
          <p:nvPr/>
        </p:nvGraphicFramePr>
        <p:xfrm>
          <a:off x="483735" y="1602190"/>
          <a:ext cx="10874375" cy="94488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400"/>
                    </a:p>
                  </a:txBody>
                  <a:tcPr>
                    <a:lnB w="12700" cap="flat" cmpd="sng" algn="ctr">
                      <a:solidFill>
                        <a:schemeClr val="tx2"/>
                      </a:solidFill>
                      <a:prstDash val="dash"/>
                      <a:round/>
                      <a:headEnd type="none" w="med" len="med"/>
                      <a:tailEnd type="none" w="med" len="med"/>
                    </a:lnB>
                    <a:noFill/>
                  </a:tcPr>
                </a:tc>
                <a:tc>
                  <a:txBody>
                    <a:bodyPr/>
                    <a:lstStyle/>
                    <a:p>
                      <a:endParaRPr lang="es-CL" sz="14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Método de Valorización Comparativa</a:t>
                      </a:r>
                    </a:p>
                    <a:p>
                      <a:endParaRPr lang="es-CL" sz="14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Este método implica comparar el startup con otras empresas similares en términos de tamaño, industria, etapa de desarrollo, y otros factores. Esta es una forma muy temprana y subjetiva de valorización.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CL" sz="14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8" name="Rectángulo 7">
            <a:extLst>
              <a:ext uri="{FF2B5EF4-FFF2-40B4-BE49-F238E27FC236}">
                <a16:creationId xmlns:a16="http://schemas.microsoft.com/office/drawing/2014/main" id="{47C39398-BC6A-3CF8-C651-18C2769C5007}"/>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a:latin typeface="+mj-lt"/>
              </a:rPr>
              <a:t>1</a:t>
            </a:r>
          </a:p>
        </p:txBody>
      </p:sp>
      <p:sp>
        <p:nvSpPr>
          <p:cNvPr id="9" name="Text Placeholder 9">
            <a:extLst>
              <a:ext uri="{FF2B5EF4-FFF2-40B4-BE49-F238E27FC236}">
                <a16:creationId xmlns:a16="http://schemas.microsoft.com/office/drawing/2014/main" id="{D5CF3AB2-F765-42E6-482B-48DEA47D3376}"/>
              </a:ext>
            </a:extLst>
          </p:cNvPr>
          <p:cNvSpPr txBox="1">
            <a:spLocks/>
          </p:cNvSpPr>
          <p:nvPr/>
        </p:nvSpPr>
        <p:spPr>
          <a:xfrm>
            <a:off x="658813" y="2547070"/>
            <a:ext cx="10874375" cy="3510830"/>
          </a:xfrm>
          <a:prstGeom prst="rect">
            <a:avLst/>
          </a:prstGeom>
          <a:ln>
            <a:noFill/>
          </a:ln>
        </p:spPr>
        <p:txBody>
          <a:bodyPr anchor="ctr"/>
          <a:lstStyle>
            <a:lvl1pPr marL="228600" indent="-228600" algn="l" defTabSz="914400" rtl="0" eaLnBrk="1" latinLnBrk="0" hangingPunct="1">
              <a:lnSpc>
                <a:spcPct val="90000"/>
              </a:lnSpc>
              <a:spcBef>
                <a:spcPts val="1000"/>
              </a:spcBef>
              <a:buFontTx/>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FontTx/>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Tx/>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Tx/>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Tx/>
              <a:buNone/>
            </a:pPr>
            <a:r>
              <a:rPr lang="es-MX" sz="1200" b="1" dirty="0">
                <a:latin typeface="Montserrat" panose="00000500000000000000" pitchFamily="2" charset="0"/>
              </a:rPr>
              <a:t>Veamos un ejemplo:</a:t>
            </a:r>
          </a:p>
          <a:p>
            <a:pPr marL="0" indent="0" algn="just">
              <a:lnSpc>
                <a:spcPct val="100000"/>
              </a:lnSpc>
              <a:buFontTx/>
              <a:buNone/>
            </a:pPr>
            <a:r>
              <a:rPr lang="es-MX" sz="1100" dirty="0">
                <a:latin typeface="Montserrat" panose="00000500000000000000" pitchFamily="2" charset="0"/>
              </a:rPr>
              <a:t>Supongamos que estás lanzando "IndoorVeggies", un startup en la fase de idea/concepto que usa IA para cultivar vegetales orgánicos en interiores.</a:t>
            </a:r>
          </a:p>
          <a:p>
            <a:pPr marL="0" indent="0" algn="just">
              <a:lnSpc>
                <a:spcPct val="100000"/>
              </a:lnSpc>
              <a:buFontTx/>
              <a:buNone/>
            </a:pPr>
            <a:r>
              <a:rPr lang="es-MX" sz="1100" dirty="0">
                <a:latin typeface="Montserrat" panose="00000500000000000000" pitchFamily="2" charset="0"/>
              </a:rPr>
              <a:t>Para aplicar el método de valorización comparativa, se debe buscar otros startups en el campo de la tecnología de alimentos. Imaginemos que encontramos tres empresas que se ajustan a nuestro criterio y sus valoraciones se muestran a continuación:</a:t>
            </a:r>
          </a:p>
          <a:p>
            <a:pPr algn="just">
              <a:lnSpc>
                <a:spcPct val="100000"/>
              </a:lnSpc>
            </a:pPr>
            <a:r>
              <a:rPr lang="es-MX" sz="1100" dirty="0">
                <a:latin typeface="Montserrat" panose="00000500000000000000" pitchFamily="2" charset="0"/>
              </a:rPr>
              <a:t>"AgriTechOne" - Uso de robótica para agricultura de precisión, valorada en $1.5M en la etapa de concepto.</a:t>
            </a:r>
          </a:p>
          <a:p>
            <a:pPr algn="just">
              <a:lnSpc>
                <a:spcPct val="100000"/>
              </a:lnSpc>
            </a:pPr>
            <a:r>
              <a:rPr lang="es-MX" sz="1100" dirty="0">
                <a:latin typeface="Montserrat" panose="00000500000000000000" pitchFamily="2" charset="0"/>
              </a:rPr>
              <a:t>"</a:t>
            </a:r>
            <a:r>
              <a:rPr lang="es-CL" sz="1100" dirty="0" err="1">
                <a:latin typeface="Montserrat" panose="00000500000000000000" pitchFamily="2" charset="0"/>
              </a:rPr>
              <a:t>IndoorGreens</a:t>
            </a:r>
            <a:r>
              <a:rPr lang="es-MX" sz="1100" dirty="0">
                <a:latin typeface="Montserrat" panose="00000500000000000000" pitchFamily="2" charset="0"/>
              </a:rPr>
              <a:t>" - Cultivo de vegetales en interiores con tecnología, valorada en $2M en la etapa de semilla.</a:t>
            </a:r>
          </a:p>
          <a:p>
            <a:pPr algn="just">
              <a:lnSpc>
                <a:spcPct val="100000"/>
              </a:lnSpc>
            </a:pPr>
            <a:r>
              <a:rPr lang="es-MX" sz="1100" dirty="0">
                <a:latin typeface="Montserrat" panose="00000500000000000000" pitchFamily="2" charset="0"/>
              </a:rPr>
              <a:t>"</a:t>
            </a:r>
            <a:r>
              <a:rPr lang="es-CL" sz="1100" dirty="0" err="1">
                <a:latin typeface="Montserrat" panose="00000500000000000000" pitchFamily="2" charset="0"/>
              </a:rPr>
              <a:t>EcoHarvest</a:t>
            </a:r>
            <a:r>
              <a:rPr lang="es-MX" sz="1100" dirty="0">
                <a:latin typeface="Montserrat" panose="00000500000000000000" pitchFamily="2" charset="0"/>
              </a:rPr>
              <a:t>" - Cultivo de productos orgánicos en interiores con tecnología, valorada en $3M en la etapa de crecimiento.</a:t>
            </a:r>
          </a:p>
          <a:p>
            <a:pPr marL="0" indent="0" algn="just">
              <a:lnSpc>
                <a:spcPct val="100000"/>
              </a:lnSpc>
              <a:buFontTx/>
              <a:buNone/>
            </a:pPr>
            <a:r>
              <a:rPr lang="es-MX" sz="1100" dirty="0">
                <a:latin typeface="Montserrat" panose="00000500000000000000" pitchFamily="2" charset="0"/>
              </a:rPr>
              <a:t>El promedio de estas valoraciones es $2.2M. Pero, dada la etapa más temprana de "IndoorVeggies", aplicamos un descuento para reflejar el riesgo adicional, lo que nos dará una valorización ajustada.</a:t>
            </a:r>
          </a:p>
          <a:p>
            <a:pPr marL="0" indent="0" algn="just">
              <a:lnSpc>
                <a:spcPct val="100000"/>
              </a:lnSpc>
              <a:buFontTx/>
              <a:buNone/>
            </a:pPr>
            <a:r>
              <a:rPr lang="es-MX" sz="1100" b="1" dirty="0">
                <a:latin typeface="Montserrat" panose="00000500000000000000" pitchFamily="2" charset="0"/>
              </a:rPr>
              <a:t>Este método es subjetivo y depende de los startups comparables que encontremos</a:t>
            </a:r>
            <a:r>
              <a:rPr lang="es-MX" sz="1100" dirty="0">
                <a:latin typeface="Montserrat" panose="00000500000000000000" pitchFamily="2" charset="0"/>
              </a:rPr>
              <a:t>. Sin embargo, </a:t>
            </a:r>
            <a:r>
              <a:rPr lang="es-MX" sz="1100" b="1" dirty="0">
                <a:latin typeface="Montserrat" panose="00000500000000000000" pitchFamily="2" charset="0"/>
              </a:rPr>
              <a:t>proporciona una estimación inicial útil </a:t>
            </a:r>
            <a:r>
              <a:rPr lang="es-MX" sz="1100" dirty="0">
                <a:latin typeface="Montserrat" panose="00000500000000000000" pitchFamily="2" charset="0"/>
              </a:rPr>
              <a:t>de la valorización.</a:t>
            </a:r>
            <a:endParaRPr lang="es-MX" sz="1050" dirty="0">
              <a:latin typeface="Montserrat" panose="00000500000000000000" pitchFamily="2" charset="0"/>
            </a:endParaRPr>
          </a:p>
        </p:txBody>
      </p:sp>
      <p:sp>
        <p:nvSpPr>
          <p:cNvPr id="13" name="Rectángulo 12">
            <a:extLst>
              <a:ext uri="{FF2B5EF4-FFF2-40B4-BE49-F238E27FC236}">
                <a16:creationId xmlns:a16="http://schemas.microsoft.com/office/drawing/2014/main" id="{9C1EAF67-3C96-B72A-A5B0-55404F0A889E}"/>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4" name="Rectángulo 13">
            <a:extLst>
              <a:ext uri="{FF2B5EF4-FFF2-40B4-BE49-F238E27FC236}">
                <a16:creationId xmlns:a16="http://schemas.microsoft.com/office/drawing/2014/main" id="{22558337-599B-C607-97B6-A3E37E31BC9E}"/>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5" name="Rectángulo 14">
            <a:extLst>
              <a:ext uri="{FF2B5EF4-FFF2-40B4-BE49-F238E27FC236}">
                <a16:creationId xmlns:a16="http://schemas.microsoft.com/office/drawing/2014/main" id="{8BC79E7A-F55C-BBB8-743F-A10759878732}"/>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6" name="Rectángulo 15">
            <a:extLst>
              <a:ext uri="{FF2B5EF4-FFF2-40B4-BE49-F238E27FC236}">
                <a16:creationId xmlns:a16="http://schemas.microsoft.com/office/drawing/2014/main" id="{B79B5A4A-23C7-4FB5-7A9F-E4C437064816}"/>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7" name="Rectángulo 16">
            <a:extLst>
              <a:ext uri="{FF2B5EF4-FFF2-40B4-BE49-F238E27FC236}">
                <a16:creationId xmlns:a16="http://schemas.microsoft.com/office/drawing/2014/main" id="{9D47167D-AC87-1178-3C34-96AF8A0086E8}"/>
              </a:ext>
            </a:extLst>
          </p:cNvPr>
          <p:cNvSpPr/>
          <p:nvPr/>
        </p:nvSpPr>
        <p:spPr>
          <a:xfrm>
            <a:off x="0" y="354692"/>
            <a:ext cx="10116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8" name="Rectángulo 17">
            <a:extLst>
              <a:ext uri="{FF2B5EF4-FFF2-40B4-BE49-F238E27FC236}">
                <a16:creationId xmlns:a16="http://schemas.microsoft.com/office/drawing/2014/main" id="{C66A3FCD-20F0-01AF-3FAD-54E1D8F5E7A8}"/>
              </a:ext>
            </a:extLst>
          </p:cNvPr>
          <p:cNvSpPr/>
          <p:nvPr/>
        </p:nvSpPr>
        <p:spPr>
          <a:xfrm>
            <a:off x="984251" y="354693"/>
            <a:ext cx="1047386"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19" name="Rectángulo 18">
            <a:extLst>
              <a:ext uri="{FF2B5EF4-FFF2-40B4-BE49-F238E27FC236}">
                <a16:creationId xmlns:a16="http://schemas.microsoft.com/office/drawing/2014/main" id="{7F8A55AE-4465-A103-78CB-E87290190DB2}"/>
              </a:ext>
            </a:extLst>
          </p:cNvPr>
          <p:cNvSpPr/>
          <p:nvPr/>
        </p:nvSpPr>
        <p:spPr>
          <a:xfrm>
            <a:off x="2031637" y="354694"/>
            <a:ext cx="10020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LATE SEED</a:t>
            </a:r>
          </a:p>
        </p:txBody>
      </p:sp>
    </p:spTree>
    <p:extLst>
      <p:ext uri="{BB962C8B-B14F-4D97-AF65-F5344CB8AC3E}">
        <p14:creationId xmlns:p14="http://schemas.microsoft.com/office/powerpoint/2010/main" val="40206567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1C0D3DE-E7B9-7D5B-0CB5-70144A4B887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69502" y="761035"/>
            <a:ext cx="11052995" cy="5335929"/>
          </a:xfrm>
          <a:prstGeom prst="rect">
            <a:avLst/>
          </a:prstGeom>
        </p:spPr>
      </p:pic>
    </p:spTree>
    <p:extLst>
      <p:ext uri="{BB962C8B-B14F-4D97-AF65-F5344CB8AC3E}">
        <p14:creationId xmlns:p14="http://schemas.microsoft.com/office/powerpoint/2010/main" val="15801389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CDE7B888-189F-7D44-99B2-497D8C63119E}"/>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8" name="Rectángulo 7">
            <a:extLst>
              <a:ext uri="{FF2B5EF4-FFF2-40B4-BE49-F238E27FC236}">
                <a16:creationId xmlns:a16="http://schemas.microsoft.com/office/drawing/2014/main" id="{C73360ED-7DBA-D10B-BF07-45D2FE4E9968}"/>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9" name="Rectángulo 8">
            <a:extLst>
              <a:ext uri="{FF2B5EF4-FFF2-40B4-BE49-F238E27FC236}">
                <a16:creationId xmlns:a16="http://schemas.microsoft.com/office/drawing/2014/main" id="{A19D6639-8A10-5126-5F6D-FBC362717576}"/>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0" name="Rectángulo 9">
            <a:extLst>
              <a:ext uri="{FF2B5EF4-FFF2-40B4-BE49-F238E27FC236}">
                <a16:creationId xmlns:a16="http://schemas.microsoft.com/office/drawing/2014/main" id="{C2161D0E-50B8-52F7-AB4B-4C04960F66D8}"/>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graphicFrame>
        <p:nvGraphicFramePr>
          <p:cNvPr id="11" name="Tabla 15">
            <a:extLst>
              <a:ext uri="{FF2B5EF4-FFF2-40B4-BE49-F238E27FC236}">
                <a16:creationId xmlns:a16="http://schemas.microsoft.com/office/drawing/2014/main" id="{86E91E98-F29F-8A0C-F58D-A26EC338E1E6}"/>
              </a:ext>
            </a:extLst>
          </p:cNvPr>
          <p:cNvGraphicFramePr>
            <a:graphicFrameLocks noGrp="1"/>
          </p:cNvGraphicFramePr>
          <p:nvPr/>
        </p:nvGraphicFramePr>
        <p:xfrm>
          <a:off x="483735" y="1602190"/>
          <a:ext cx="10874375" cy="118872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Método Berkus</a:t>
                      </a:r>
                    </a:p>
                    <a:p>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El Método Berkus, al valorar startups en etapas tempranas, adopta </a:t>
                      </a:r>
                      <a:r>
                        <a:rPr kumimoji="0" lang="es-MX" sz="1200" b="1"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un enfoque pragmático y adaptativo, centrándose en los aspectos estratégicos, operativos y de mercado, más allá de los datos financieros concretos. </a:t>
                      </a: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Este enfoque se materializa en la valoración de cinco factores fundamentales: la idea, el equipo fundador, el prototipo funcional, las relaciones estratégicas y la tracción.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12" name="Rectángulo 11">
            <a:extLst>
              <a:ext uri="{FF2B5EF4-FFF2-40B4-BE49-F238E27FC236}">
                <a16:creationId xmlns:a16="http://schemas.microsoft.com/office/drawing/2014/main" id="{FB788EDB-B614-4C9A-14DB-0839858F796E}"/>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latin typeface="+mj-lt"/>
              </a:rPr>
              <a:t>2</a:t>
            </a:r>
          </a:p>
        </p:txBody>
      </p:sp>
      <p:sp>
        <p:nvSpPr>
          <p:cNvPr id="13" name="Rectángulo 12">
            <a:extLst>
              <a:ext uri="{FF2B5EF4-FFF2-40B4-BE49-F238E27FC236}">
                <a16:creationId xmlns:a16="http://schemas.microsoft.com/office/drawing/2014/main" id="{74DD0C32-BA19-B089-95E6-7DE2460B266A}"/>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4" name="Rectángulo 13">
            <a:extLst>
              <a:ext uri="{FF2B5EF4-FFF2-40B4-BE49-F238E27FC236}">
                <a16:creationId xmlns:a16="http://schemas.microsoft.com/office/drawing/2014/main" id="{6D5B7D42-BD05-74DF-9774-8A421B0743F2}"/>
              </a:ext>
            </a:extLst>
          </p:cNvPr>
          <p:cNvSpPr/>
          <p:nvPr/>
        </p:nvSpPr>
        <p:spPr>
          <a:xfrm>
            <a:off x="984251" y="354693"/>
            <a:ext cx="1047386"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15" name="Rectángulo 14">
            <a:extLst>
              <a:ext uri="{FF2B5EF4-FFF2-40B4-BE49-F238E27FC236}">
                <a16:creationId xmlns:a16="http://schemas.microsoft.com/office/drawing/2014/main" id="{B000CC0F-E754-00FD-1118-139733640CFC}"/>
              </a:ext>
            </a:extLst>
          </p:cNvPr>
          <p:cNvSpPr/>
          <p:nvPr/>
        </p:nvSpPr>
        <p:spPr>
          <a:xfrm>
            <a:off x="2031637" y="354694"/>
            <a:ext cx="10020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dirty="0"/>
              <a:t>LATE SEED</a:t>
            </a:r>
          </a:p>
        </p:txBody>
      </p:sp>
      <p:sp>
        <p:nvSpPr>
          <p:cNvPr id="16" name="Title 5">
            <a:extLst>
              <a:ext uri="{FF2B5EF4-FFF2-40B4-BE49-F238E27FC236}">
                <a16:creationId xmlns:a16="http://schemas.microsoft.com/office/drawing/2014/main" id="{8F9CA6B1-ED2C-64D0-93BE-BA786426C29F}"/>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Early Seed/Late Seed</a:t>
            </a:r>
            <a:endParaRPr lang="es-CL" sz="2400" b="1">
              <a:solidFill>
                <a:schemeClr val="accent2"/>
              </a:solidFill>
            </a:endParaRPr>
          </a:p>
        </p:txBody>
      </p:sp>
      <p:graphicFrame>
        <p:nvGraphicFramePr>
          <p:cNvPr id="17" name="Tabla 4">
            <a:extLst>
              <a:ext uri="{FF2B5EF4-FFF2-40B4-BE49-F238E27FC236}">
                <a16:creationId xmlns:a16="http://schemas.microsoft.com/office/drawing/2014/main" id="{601BB97D-BD90-EAEA-7F04-603F9824DA2B}"/>
              </a:ext>
            </a:extLst>
          </p:cNvPr>
          <p:cNvGraphicFramePr>
            <a:graphicFrameLocks noGrp="1"/>
          </p:cNvGraphicFramePr>
          <p:nvPr/>
        </p:nvGraphicFramePr>
        <p:xfrm>
          <a:off x="658813" y="3021645"/>
          <a:ext cx="6609090" cy="2773680"/>
        </p:xfrm>
        <a:graphic>
          <a:graphicData uri="http://schemas.openxmlformats.org/drawingml/2006/table">
            <a:tbl>
              <a:tblPr firstRow="1" bandRow="1">
                <a:tableStyleId>{72833802-FEF1-4C79-8D5D-14CF1EAF98D9}</a:tableStyleId>
              </a:tblPr>
              <a:tblGrid>
                <a:gridCol w="1626365">
                  <a:extLst>
                    <a:ext uri="{9D8B030D-6E8A-4147-A177-3AD203B41FA5}">
                      <a16:colId xmlns:a16="http://schemas.microsoft.com/office/drawing/2014/main" val="1621049068"/>
                    </a:ext>
                  </a:extLst>
                </a:gridCol>
                <a:gridCol w="4982725">
                  <a:extLst>
                    <a:ext uri="{9D8B030D-6E8A-4147-A177-3AD203B41FA5}">
                      <a16:colId xmlns:a16="http://schemas.microsoft.com/office/drawing/2014/main" val="1418022918"/>
                    </a:ext>
                  </a:extLst>
                </a:gridCol>
              </a:tblGrid>
              <a:tr h="292607">
                <a:tc>
                  <a:txBody>
                    <a:bodyPr/>
                    <a:lstStyle/>
                    <a:p>
                      <a:r>
                        <a:rPr lang="es-MX" sz="1400"/>
                        <a:t>Factor</a:t>
                      </a:r>
                      <a:endParaRPr lang="es-CL" sz="14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s-MX" sz="1400"/>
                        <a:t>Descripción</a:t>
                      </a:r>
                      <a:endParaRPr lang="es-CL" sz="14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347445216"/>
                  </a:ext>
                </a:extLst>
              </a:tr>
              <a:tr h="455167">
                <a:tc>
                  <a:txBody>
                    <a:bodyPr/>
                    <a:lstStyle/>
                    <a:p>
                      <a:pPr algn="ctr"/>
                      <a:r>
                        <a:rPr lang="es-MX" sz="1200" kern="1200">
                          <a:solidFill>
                            <a:srgbClr val="4E696D"/>
                          </a:solidFill>
                          <a:latin typeface="+mn-lt"/>
                          <a:ea typeface="+mn-ea"/>
                          <a:cs typeface="+mn-cs"/>
                        </a:rPr>
                        <a:t>Equipo Fundador </a:t>
                      </a:r>
                      <a:endParaRPr lang="es-CL" sz="1200" kern="1200">
                        <a:solidFill>
                          <a:srgbClr val="4E696D"/>
                        </a:solidFill>
                        <a:latin typeface="+mn-lt"/>
                        <a:ea typeface="+mn-ea"/>
                        <a:cs typeface="+mn-cs"/>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s-MX" sz="1200" kern="1200">
                          <a:solidFill>
                            <a:srgbClr val="4E696D"/>
                          </a:solidFill>
                          <a:latin typeface="+mn-lt"/>
                          <a:ea typeface="+mn-ea"/>
                          <a:cs typeface="+mn-cs"/>
                        </a:rPr>
                        <a:t>Se evalúa la cohesión del equipo, la diversidad de habilidades y la orientación hacia los mismos objetivos.</a:t>
                      </a:r>
                      <a:endParaRPr lang="es-CL" sz="1200" kern="1200">
                        <a:solidFill>
                          <a:srgbClr val="4E696D"/>
                        </a:solidFill>
                        <a:latin typeface="+mn-lt"/>
                        <a:ea typeface="+mn-ea"/>
                        <a:cs typeface="+mn-cs"/>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086022731"/>
                  </a:ext>
                </a:extLst>
              </a:tr>
              <a:tr h="485730">
                <a:tc>
                  <a:txBody>
                    <a:bodyPr/>
                    <a:lstStyle/>
                    <a:p>
                      <a:pPr algn="ctr"/>
                      <a:r>
                        <a:rPr lang="es-MX" sz="1200" kern="1200">
                          <a:solidFill>
                            <a:srgbClr val="4E696D"/>
                          </a:solidFill>
                          <a:latin typeface="+mn-lt"/>
                          <a:ea typeface="+mn-ea"/>
                          <a:cs typeface="+mn-cs"/>
                        </a:rPr>
                        <a:t>Idea</a:t>
                      </a:r>
                      <a:endParaRPr lang="es-CL" sz="1200" kern="1200">
                        <a:solidFill>
                          <a:srgbClr val="4E696D"/>
                        </a:solidFill>
                        <a:latin typeface="+mn-lt"/>
                        <a:ea typeface="+mn-ea"/>
                        <a:cs typeface="+mn-cs"/>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s-MX" sz="1200" kern="1200">
                          <a:solidFill>
                            <a:srgbClr val="4E696D"/>
                          </a:solidFill>
                          <a:latin typeface="+mn-lt"/>
                          <a:ea typeface="+mn-ea"/>
                          <a:cs typeface="+mn-cs"/>
                        </a:rPr>
                        <a:t>Implica una evaluación de la innovación y singularidad de la idea, así como su aplicabilidad y relevancia en el mercado actual.</a:t>
                      </a:r>
                      <a:endParaRPr lang="es-CL" sz="1200" kern="1200">
                        <a:solidFill>
                          <a:srgbClr val="4E696D"/>
                        </a:solidFill>
                        <a:latin typeface="+mn-lt"/>
                        <a:ea typeface="+mn-ea"/>
                        <a:cs typeface="+mn-cs"/>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477978264"/>
                  </a:ext>
                </a:extLst>
              </a:tr>
              <a:tr h="455167">
                <a:tc>
                  <a:txBody>
                    <a:bodyPr/>
                    <a:lstStyle/>
                    <a:p>
                      <a:pPr algn="ctr"/>
                      <a:r>
                        <a:rPr lang="es-MX" sz="1200" kern="1200">
                          <a:solidFill>
                            <a:srgbClr val="4E696D"/>
                          </a:solidFill>
                          <a:latin typeface="+mn-lt"/>
                          <a:ea typeface="+mn-ea"/>
                          <a:cs typeface="+mn-cs"/>
                        </a:rPr>
                        <a:t>Prototipo Funcional</a:t>
                      </a:r>
                      <a:endParaRPr lang="es-CL" sz="1200" kern="1200">
                        <a:solidFill>
                          <a:srgbClr val="4E696D"/>
                        </a:solidFill>
                        <a:latin typeface="+mn-lt"/>
                        <a:ea typeface="+mn-ea"/>
                        <a:cs typeface="+mn-cs"/>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s-MX" sz="1200" kern="1200">
                          <a:solidFill>
                            <a:srgbClr val="4E696D"/>
                          </a:solidFill>
                          <a:latin typeface="+mn-lt"/>
                          <a:ea typeface="+mn-ea"/>
                          <a:cs typeface="+mn-cs"/>
                        </a:rPr>
                        <a:t>Se valora la existencia de un prototipo operativo y su recepción por parte de los consumidores.</a:t>
                      </a:r>
                      <a:endParaRPr lang="es-CL" sz="1200" kern="1200">
                        <a:solidFill>
                          <a:srgbClr val="4E696D"/>
                        </a:solidFill>
                        <a:latin typeface="+mn-lt"/>
                        <a:ea typeface="+mn-ea"/>
                        <a:cs typeface="+mn-cs"/>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28840916"/>
                  </a:ext>
                </a:extLst>
              </a:tr>
              <a:tr h="455167">
                <a:tc>
                  <a:txBody>
                    <a:bodyPr/>
                    <a:lstStyle/>
                    <a:p>
                      <a:pPr algn="ctr"/>
                      <a:r>
                        <a:rPr lang="es-MX" sz="1200" kern="1200">
                          <a:solidFill>
                            <a:srgbClr val="4E696D"/>
                          </a:solidFill>
                          <a:latin typeface="+mn-lt"/>
                          <a:ea typeface="+mn-ea"/>
                          <a:cs typeface="+mn-cs"/>
                        </a:rPr>
                        <a:t>Relaciones Estratégicas</a:t>
                      </a:r>
                      <a:endParaRPr lang="es-CL" sz="1200" kern="1200">
                        <a:solidFill>
                          <a:srgbClr val="4E696D"/>
                        </a:solidFill>
                        <a:latin typeface="+mn-lt"/>
                        <a:ea typeface="+mn-ea"/>
                        <a:cs typeface="+mn-cs"/>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s-MX" sz="1200" kern="1200" dirty="0">
                          <a:solidFill>
                            <a:srgbClr val="4E696D"/>
                          </a:solidFill>
                          <a:latin typeface="+mn-lt"/>
                          <a:ea typeface="+mn-ea"/>
                          <a:cs typeface="+mn-cs"/>
                        </a:rPr>
                        <a:t>Esto incluye una evaluación de las conexiones comerciales y asesores que el startup puede tener.</a:t>
                      </a:r>
                      <a:endParaRPr lang="es-CL" sz="1200" kern="1200" dirty="0">
                        <a:solidFill>
                          <a:srgbClr val="4E696D"/>
                        </a:solidFill>
                        <a:latin typeface="+mn-lt"/>
                        <a:ea typeface="+mn-ea"/>
                        <a:cs typeface="+mn-cs"/>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61510911"/>
                  </a:ext>
                </a:extLst>
              </a:tr>
              <a:tr h="455167">
                <a:tc>
                  <a:txBody>
                    <a:bodyPr/>
                    <a:lstStyle/>
                    <a:p>
                      <a:pPr algn="ctr"/>
                      <a:r>
                        <a:rPr lang="es-MX" sz="1200" kern="1200">
                          <a:solidFill>
                            <a:srgbClr val="4E696D"/>
                          </a:solidFill>
                          <a:latin typeface="+mn-lt"/>
                          <a:ea typeface="+mn-ea"/>
                          <a:cs typeface="+mn-cs"/>
                        </a:rPr>
                        <a:t>Tracción</a:t>
                      </a:r>
                      <a:endParaRPr lang="es-CL" sz="1200" kern="1200">
                        <a:solidFill>
                          <a:srgbClr val="4E696D"/>
                        </a:solidFill>
                        <a:latin typeface="+mn-lt"/>
                        <a:ea typeface="+mn-ea"/>
                        <a:cs typeface="+mn-cs"/>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s-MX" sz="1200" kern="1200" dirty="0">
                          <a:solidFill>
                            <a:srgbClr val="4E696D"/>
                          </a:solidFill>
                          <a:latin typeface="+mn-lt"/>
                          <a:ea typeface="+mn-ea"/>
                          <a:cs typeface="+mn-cs"/>
                        </a:rPr>
                        <a:t>Se evalúa si el startup ha lanzado su producto o servicio al mercado y cómo han respondido los clientes/usuarios.</a:t>
                      </a:r>
                      <a:endParaRPr lang="es-CL" sz="1200" kern="1200" dirty="0">
                        <a:solidFill>
                          <a:srgbClr val="4E696D"/>
                        </a:solidFill>
                        <a:latin typeface="+mn-lt"/>
                        <a:ea typeface="+mn-ea"/>
                        <a:cs typeface="+mn-cs"/>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706764502"/>
                  </a:ext>
                </a:extLst>
              </a:tr>
            </a:tbl>
          </a:graphicData>
        </a:graphic>
      </p:graphicFrame>
      <p:sp>
        <p:nvSpPr>
          <p:cNvPr id="18" name="CuadroTexto 17">
            <a:extLst>
              <a:ext uri="{FF2B5EF4-FFF2-40B4-BE49-F238E27FC236}">
                <a16:creationId xmlns:a16="http://schemas.microsoft.com/office/drawing/2014/main" id="{90EBF5B4-47CA-34E8-4779-A96F78E26D2E}"/>
              </a:ext>
            </a:extLst>
          </p:cNvPr>
          <p:cNvSpPr txBox="1"/>
          <p:nvPr/>
        </p:nvSpPr>
        <p:spPr>
          <a:xfrm>
            <a:off x="7607300" y="3084709"/>
            <a:ext cx="3925887" cy="2492990"/>
          </a:xfrm>
          <a:prstGeom prst="rect">
            <a:avLst/>
          </a:prstGeom>
          <a:noFill/>
        </p:spPr>
        <p:txBody>
          <a:bodyPr wrap="square">
            <a:spAutoFit/>
          </a:bodyPr>
          <a:lstStyle/>
          <a:p>
            <a:pPr marR="0" lvl="0" algn="just" defTabSz="914400" rtl="0" eaLnBrk="1" fontAlgn="auto" latinLnBrk="0" hangingPunct="1">
              <a:lnSpc>
                <a:spcPct val="100000"/>
              </a:lnSpc>
              <a:spcBef>
                <a:spcPts val="0"/>
              </a:spcBef>
              <a:spcAft>
                <a:spcPts val="0"/>
              </a:spcAft>
              <a:buClrTx/>
              <a:buSzTx/>
              <a:tabLst/>
              <a:defRPr/>
            </a:pPr>
            <a:r>
              <a:rPr kumimoji="0" lang="es-MX" sz="13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La </a:t>
            </a:r>
            <a:r>
              <a:rPr kumimoji="0" lang="es-MX" sz="13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evaluación de estos factores es intrínsecamente subjetiva </a:t>
            </a:r>
            <a:r>
              <a:rPr kumimoji="0" lang="es-MX" sz="13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y </a:t>
            </a:r>
            <a:r>
              <a:rPr kumimoji="0" lang="es-MX" sz="13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depende en gran medida del juicio y la perspectiva del analista.</a:t>
            </a:r>
            <a:r>
              <a:rPr kumimoji="0" lang="es-MX" sz="13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Según las directrices de Berkus, </a:t>
            </a:r>
            <a:r>
              <a:rPr kumimoji="0" lang="es-MX" sz="13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cada uno de estos factores puede tener asignado un valor máximo de $500,000. </a:t>
            </a:r>
            <a:r>
              <a:rPr kumimoji="0" lang="es-MX" sz="13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Esto significa que </a:t>
            </a:r>
            <a:r>
              <a:rPr kumimoji="0" lang="es-MX" sz="13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el valor agregado máximo del startup, tras sumar todos los factores, puede alcanzar los $2.5 millones</a:t>
            </a:r>
            <a:r>
              <a:rPr kumimoji="0" lang="es-MX" sz="13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proporcionando una orientación sobre el valor pre-money del startup y el riesgo asociado a la inversión en ella.</a:t>
            </a:r>
          </a:p>
        </p:txBody>
      </p:sp>
    </p:spTree>
    <p:extLst>
      <p:ext uri="{BB962C8B-B14F-4D97-AF65-F5344CB8AC3E}">
        <p14:creationId xmlns:p14="http://schemas.microsoft.com/office/powerpoint/2010/main" val="26727081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15">
            <a:extLst>
              <a:ext uri="{FF2B5EF4-FFF2-40B4-BE49-F238E27FC236}">
                <a16:creationId xmlns:a16="http://schemas.microsoft.com/office/drawing/2014/main" id="{0C1C7E6B-E67D-2054-A654-CD810F0B63AC}"/>
              </a:ext>
            </a:extLst>
          </p:cNvPr>
          <p:cNvGraphicFramePr>
            <a:graphicFrameLocks noGrp="1"/>
          </p:cNvGraphicFramePr>
          <p:nvPr/>
        </p:nvGraphicFramePr>
        <p:xfrm>
          <a:off x="483735" y="1602190"/>
          <a:ext cx="10874375" cy="118872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pPr marL="0" algn="l" defTabSz="914400" rtl="0" eaLnBrk="1" latinLnBrk="0" hangingPunct="1"/>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Método Berkus</a:t>
                      </a:r>
                    </a:p>
                    <a:p>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El Método </a:t>
                      </a:r>
                      <a:r>
                        <a:rPr kumimoji="0" lang="es-MX" sz="1200" i="0" u="none" strike="noStrike" kern="1200" cap="none" spc="0" normalizeH="0" baseline="0" noProof="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Berkus</a:t>
                      </a: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al valorar startups en etapas tempranas, adopta </a:t>
                      </a:r>
                      <a:r>
                        <a:rPr kumimoji="0" lang="es-MX" sz="1200" b="1"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un enfoque pragmático y adaptativo, centrándose en los aspectos estratégicos, operativos y de mercado, más allá de los datos financieros concretos. </a:t>
                      </a: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Este enfoque se materializa en la valoración de cinco factores fundamentales: la idea, el equipo fundador, el prototipo funcional, las relaciones estratégicas y la tracción.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7" name="Rectángulo 6">
            <a:extLst>
              <a:ext uri="{FF2B5EF4-FFF2-40B4-BE49-F238E27FC236}">
                <a16:creationId xmlns:a16="http://schemas.microsoft.com/office/drawing/2014/main" id="{88B78FFC-59D7-1F27-0B44-F87573111648}"/>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latin typeface="+mj-lt"/>
              </a:rPr>
              <a:t>2</a:t>
            </a:r>
          </a:p>
        </p:txBody>
      </p:sp>
      <p:sp>
        <p:nvSpPr>
          <p:cNvPr id="11" name="Title 5">
            <a:extLst>
              <a:ext uri="{FF2B5EF4-FFF2-40B4-BE49-F238E27FC236}">
                <a16:creationId xmlns:a16="http://schemas.microsoft.com/office/drawing/2014/main" id="{26252E83-3159-B668-F355-62D3186398A5}"/>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Early Seed/Late Seed</a:t>
            </a:r>
            <a:endParaRPr lang="es-CL" sz="2400" b="1">
              <a:solidFill>
                <a:schemeClr val="accent2"/>
              </a:solidFill>
            </a:endParaRPr>
          </a:p>
        </p:txBody>
      </p:sp>
      <p:sp>
        <p:nvSpPr>
          <p:cNvPr id="12" name="Text Placeholder 9">
            <a:extLst>
              <a:ext uri="{FF2B5EF4-FFF2-40B4-BE49-F238E27FC236}">
                <a16:creationId xmlns:a16="http://schemas.microsoft.com/office/drawing/2014/main" id="{D99B1DC4-14D5-290D-14B3-6145300CD07E}"/>
              </a:ext>
            </a:extLst>
          </p:cNvPr>
          <p:cNvSpPr txBox="1">
            <a:spLocks/>
          </p:cNvSpPr>
          <p:nvPr/>
        </p:nvSpPr>
        <p:spPr>
          <a:xfrm>
            <a:off x="658813" y="3137752"/>
            <a:ext cx="10874375" cy="2437680"/>
          </a:xfrm>
          <a:prstGeom prst="rect">
            <a:avLst/>
          </a:prstGeom>
          <a:ln>
            <a:noFill/>
          </a:ln>
        </p:spPr>
        <p:txBody>
          <a:bodyPr anchor="t"/>
          <a:lstStyle>
            <a:lvl1pPr marL="228600" indent="-228600" algn="l" defTabSz="914400" rtl="0" eaLnBrk="1" latinLnBrk="0" hangingPunct="1">
              <a:lnSpc>
                <a:spcPct val="90000"/>
              </a:lnSpc>
              <a:spcBef>
                <a:spcPts val="1000"/>
              </a:spcBef>
              <a:buFontTx/>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FontTx/>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Tx/>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Tx/>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s-MX" sz="1200" b="1">
                <a:latin typeface="Montserrat" panose="00000500000000000000" pitchFamily="2" charset="0"/>
              </a:rPr>
              <a:t>Veamos un ejemplo:</a:t>
            </a:r>
            <a:endParaRPr lang="es-MX" sz="1200">
              <a:solidFill>
                <a:schemeClr val="tx2"/>
              </a:solidFill>
              <a:latin typeface="Montserrat" panose="00000500000000000000" pitchFamily="2" charset="0"/>
            </a:endParaRPr>
          </a:p>
        </p:txBody>
      </p:sp>
      <p:graphicFrame>
        <p:nvGraphicFramePr>
          <p:cNvPr id="13" name="Tabla 4">
            <a:extLst>
              <a:ext uri="{FF2B5EF4-FFF2-40B4-BE49-F238E27FC236}">
                <a16:creationId xmlns:a16="http://schemas.microsoft.com/office/drawing/2014/main" id="{4AD89725-6064-6EFB-EC98-047BF12662EC}"/>
              </a:ext>
            </a:extLst>
          </p:cNvPr>
          <p:cNvGraphicFramePr>
            <a:graphicFrameLocks noGrp="1"/>
          </p:cNvGraphicFramePr>
          <p:nvPr/>
        </p:nvGraphicFramePr>
        <p:xfrm>
          <a:off x="658813" y="3489096"/>
          <a:ext cx="6609090" cy="2251071"/>
        </p:xfrm>
        <a:graphic>
          <a:graphicData uri="http://schemas.openxmlformats.org/drawingml/2006/table">
            <a:tbl>
              <a:tblPr firstRow="1" bandRow="1">
                <a:tableStyleId>{72833802-FEF1-4C79-8D5D-14CF1EAF98D9}</a:tableStyleId>
              </a:tblPr>
              <a:tblGrid>
                <a:gridCol w="1998394">
                  <a:extLst>
                    <a:ext uri="{9D8B030D-6E8A-4147-A177-3AD203B41FA5}">
                      <a16:colId xmlns:a16="http://schemas.microsoft.com/office/drawing/2014/main" val="3294938146"/>
                    </a:ext>
                  </a:extLst>
                </a:gridCol>
                <a:gridCol w="1217920">
                  <a:extLst>
                    <a:ext uri="{9D8B030D-6E8A-4147-A177-3AD203B41FA5}">
                      <a16:colId xmlns:a16="http://schemas.microsoft.com/office/drawing/2014/main" val="2584210331"/>
                    </a:ext>
                  </a:extLst>
                </a:gridCol>
                <a:gridCol w="1722487">
                  <a:extLst>
                    <a:ext uri="{9D8B030D-6E8A-4147-A177-3AD203B41FA5}">
                      <a16:colId xmlns:a16="http://schemas.microsoft.com/office/drawing/2014/main" val="87118510"/>
                    </a:ext>
                  </a:extLst>
                </a:gridCol>
                <a:gridCol w="1670289">
                  <a:extLst>
                    <a:ext uri="{9D8B030D-6E8A-4147-A177-3AD203B41FA5}">
                      <a16:colId xmlns:a16="http://schemas.microsoft.com/office/drawing/2014/main" val="1551652700"/>
                    </a:ext>
                  </a:extLst>
                </a:gridCol>
              </a:tblGrid>
              <a:tr h="368142">
                <a:tc>
                  <a:txBody>
                    <a:bodyPr/>
                    <a:lstStyle/>
                    <a:p>
                      <a:pPr algn="ctr"/>
                      <a:r>
                        <a:rPr lang="es-MX" sz="1400" dirty="0"/>
                        <a:t>Criterio</a:t>
                      </a:r>
                      <a:endParaRPr lang="es-CL" sz="1400" dirty="0"/>
                    </a:p>
                  </a:txBody>
                  <a:tcPr>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CL" sz="1400"/>
                        <a:t>Calificación</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MX" sz="1400"/>
                        <a:t>Valor base (USD)</a:t>
                      </a:r>
                      <a:endParaRPr lang="es-CL" sz="14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MX" sz="1400"/>
                        <a:t>Valoración (USD)</a:t>
                      </a:r>
                      <a:endParaRPr lang="es-CL" sz="1400"/>
                    </a:p>
                  </a:txBody>
                  <a:tcPr>
                    <a:lnL w="12700" cap="flat" cmpd="sng" algn="ctr">
                      <a:solidFill>
                        <a:schemeClr val="accent2"/>
                      </a:solidFill>
                      <a:prstDash val="solid"/>
                      <a:round/>
                      <a:headEnd type="none" w="med" len="med"/>
                      <a:tailEnd type="none" w="med" len="med"/>
                    </a:lnL>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808368982"/>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Equipo Fundador</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60%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300.000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79775632"/>
                  </a:ext>
                </a:extLst>
              </a:tr>
              <a:tr h="291609">
                <a:tc>
                  <a:txBody>
                    <a:bodyPr/>
                    <a:lstStyle/>
                    <a:p>
                      <a:pPr algn="ctr"/>
                      <a:r>
                        <a:rPr lang="es-MX" sz="1200" kern="1200">
                          <a:solidFill>
                            <a:srgbClr val="4E696D"/>
                          </a:solidFill>
                        </a:rPr>
                        <a:t>Idea</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100%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519710073"/>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Prototipo funcional</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100%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89548680"/>
                  </a:ext>
                </a:extLst>
              </a:tr>
              <a:tr h="291609">
                <a:tc>
                  <a:txBody>
                    <a:bodyPr/>
                    <a:lstStyle/>
                    <a:p>
                      <a:pPr algn="ctr"/>
                      <a:r>
                        <a:rPr lang="es-MX" sz="1200" kern="1200">
                          <a:solidFill>
                            <a:srgbClr val="4E696D"/>
                          </a:solidFill>
                        </a:rPr>
                        <a:t>Relaciones estratégicas</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458774989"/>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Tracción</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100%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57180122"/>
                  </a:ext>
                </a:extLst>
              </a:tr>
              <a:tr h="274866">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no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200" b="1"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TOTAL valoración</a:t>
                      </a:r>
                      <a:endParaRPr lang="es-CL" sz="1200" b="1"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1.800.000</a:t>
                      </a:r>
                      <a:endParaRPr lang="es-CL" sz="1200"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413701143"/>
                  </a:ext>
                </a:extLst>
              </a:tr>
            </a:tbl>
          </a:graphicData>
        </a:graphic>
      </p:graphicFrame>
      <p:sp>
        <p:nvSpPr>
          <p:cNvPr id="14" name="CuadroTexto 13">
            <a:extLst>
              <a:ext uri="{FF2B5EF4-FFF2-40B4-BE49-F238E27FC236}">
                <a16:creationId xmlns:a16="http://schemas.microsoft.com/office/drawing/2014/main" id="{939D9CFD-293C-5CBB-DBBD-6E43A87FF55C}"/>
              </a:ext>
            </a:extLst>
          </p:cNvPr>
          <p:cNvSpPr txBox="1"/>
          <p:nvPr/>
        </p:nvSpPr>
        <p:spPr>
          <a:xfrm>
            <a:off x="7516923" y="3277738"/>
            <a:ext cx="4056390" cy="252376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Ejemplo </a:t>
            </a:r>
            <a:r>
              <a:rPr kumimoji="0" lang="es-MX" sz="1400" b="1" i="0" u="sng"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Método de </a:t>
            </a:r>
            <a:r>
              <a:rPr kumimoji="0" lang="es-MX" sz="1400" b="1" i="0" u="sng" strike="noStrike" kern="1200" cap="none" spc="0" normalizeH="0" baseline="0" noProof="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Berkus</a:t>
            </a:r>
            <a:r>
              <a:rPr kumimoji="0" lang="es-MX" sz="1400" b="1" i="0" u="sng"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342900" indent="-342900" algn="just">
              <a:buFont typeface="+mj-lt"/>
              <a:buAutoNum type="arabicPeriod"/>
              <a:defRPr/>
            </a:pPr>
            <a:r>
              <a:rPr lang="es-MX" sz="1200" b="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Equipo Fundador: </a:t>
            </a: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Cuenta con un equipo multidisciplinario de alta calidad, pero carece de un experto en ventas.</a:t>
            </a:r>
            <a:endParaRPr lang="es-MX" sz="1200" b="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lang="es-MX" sz="1200" b="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Idea: </a:t>
            </a: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Posee una idea innovadora con un modelo de negocio validado.</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lang="es-MX" sz="1200" b="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Prototipo Funcional: </a:t>
            </a: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Han desarrollado y probado un prototipo funcional.</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lang="es-MX" sz="1200" b="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Relaciones Estratégicas: </a:t>
            </a: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No han establecido aún relaciones estratégicas.</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lang="es-MX" sz="1200" b="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Tracción: </a:t>
            </a: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Han conseguido un nivel de ventas sostenible y positivo y no tienen deudas.</a:t>
            </a:r>
          </a:p>
        </p:txBody>
      </p:sp>
      <p:sp>
        <p:nvSpPr>
          <p:cNvPr id="15" name="Rectángulo 14">
            <a:extLst>
              <a:ext uri="{FF2B5EF4-FFF2-40B4-BE49-F238E27FC236}">
                <a16:creationId xmlns:a16="http://schemas.microsoft.com/office/drawing/2014/main" id="{6A952660-B321-6F84-E2D2-60721C9D70FE}"/>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6" name="Rectángulo 15">
            <a:extLst>
              <a:ext uri="{FF2B5EF4-FFF2-40B4-BE49-F238E27FC236}">
                <a16:creationId xmlns:a16="http://schemas.microsoft.com/office/drawing/2014/main" id="{35BB2B91-E18B-D59F-7361-D4711DB783F9}"/>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7" name="Rectángulo 16">
            <a:extLst>
              <a:ext uri="{FF2B5EF4-FFF2-40B4-BE49-F238E27FC236}">
                <a16:creationId xmlns:a16="http://schemas.microsoft.com/office/drawing/2014/main" id="{11E103CE-F059-A2C0-591E-D0C1334C1A55}"/>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8" name="Rectángulo 17">
            <a:extLst>
              <a:ext uri="{FF2B5EF4-FFF2-40B4-BE49-F238E27FC236}">
                <a16:creationId xmlns:a16="http://schemas.microsoft.com/office/drawing/2014/main" id="{642B33DF-25FA-A66E-6F22-EEA6B70E667B}"/>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9" name="Rectángulo 18">
            <a:extLst>
              <a:ext uri="{FF2B5EF4-FFF2-40B4-BE49-F238E27FC236}">
                <a16:creationId xmlns:a16="http://schemas.microsoft.com/office/drawing/2014/main" id="{2EEB6944-C652-B9AE-9E7A-FE46DE2143D0}"/>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20" name="Rectángulo 19">
            <a:extLst>
              <a:ext uri="{FF2B5EF4-FFF2-40B4-BE49-F238E27FC236}">
                <a16:creationId xmlns:a16="http://schemas.microsoft.com/office/drawing/2014/main" id="{3EE77A19-FF55-F1D6-BB96-FD538910DAA3}"/>
              </a:ext>
            </a:extLst>
          </p:cNvPr>
          <p:cNvSpPr/>
          <p:nvPr/>
        </p:nvSpPr>
        <p:spPr>
          <a:xfrm>
            <a:off x="984251" y="354693"/>
            <a:ext cx="1047386"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21" name="Rectángulo 20">
            <a:extLst>
              <a:ext uri="{FF2B5EF4-FFF2-40B4-BE49-F238E27FC236}">
                <a16:creationId xmlns:a16="http://schemas.microsoft.com/office/drawing/2014/main" id="{7E20BEDB-53D6-3EE9-627C-847AE21BCEAE}"/>
              </a:ext>
            </a:extLst>
          </p:cNvPr>
          <p:cNvSpPr/>
          <p:nvPr/>
        </p:nvSpPr>
        <p:spPr>
          <a:xfrm>
            <a:off x="2031637" y="354694"/>
            <a:ext cx="10020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dirty="0"/>
              <a:t>LATE SEED</a:t>
            </a:r>
          </a:p>
        </p:txBody>
      </p:sp>
    </p:spTree>
    <p:extLst>
      <p:ext uri="{BB962C8B-B14F-4D97-AF65-F5344CB8AC3E}">
        <p14:creationId xmlns:p14="http://schemas.microsoft.com/office/powerpoint/2010/main" val="28682216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5">
            <a:extLst>
              <a:ext uri="{FF2B5EF4-FFF2-40B4-BE49-F238E27FC236}">
                <a16:creationId xmlns:a16="http://schemas.microsoft.com/office/drawing/2014/main" id="{F97214BF-4D1E-4175-4A11-9C4BE125EADF}"/>
              </a:ext>
            </a:extLst>
          </p:cNvPr>
          <p:cNvGraphicFramePr>
            <a:graphicFrameLocks noGrp="1"/>
          </p:cNvGraphicFramePr>
          <p:nvPr/>
        </p:nvGraphicFramePr>
        <p:xfrm>
          <a:off x="483735" y="1602190"/>
          <a:ext cx="10874375" cy="118872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pPr marL="0" algn="l" defTabSz="914400" rtl="0" eaLnBrk="1" latinLnBrk="0" hangingPunct="1"/>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Método </a:t>
                      </a:r>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Berkus</a:t>
                      </a:r>
                      <a:endPar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endParaRPr>
                    </a:p>
                    <a:p>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El Método </a:t>
                      </a:r>
                      <a:r>
                        <a:rPr kumimoji="0" lang="es-MX" sz="1200" i="0" u="none" strike="noStrike" kern="1200" cap="none" spc="0" normalizeH="0" baseline="0" noProof="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Berkus</a:t>
                      </a: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al valorar startups en etapas tempranas, adopta </a:t>
                      </a:r>
                      <a:r>
                        <a:rPr kumimoji="0" lang="es-MX" sz="1200" b="1"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un enfoque pragmático y adaptativo, centrándose en los aspectos estratégicos, operativos y de mercado, más allá de los datos financieros concretos. </a:t>
                      </a: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Este enfoque se materializa en la valoración de cinco factores fundamentales: la idea, el equipo fundador, el prototipo funcional, las relaciones estratégicas y la tracción.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7" name="Rectángulo 6">
            <a:extLst>
              <a:ext uri="{FF2B5EF4-FFF2-40B4-BE49-F238E27FC236}">
                <a16:creationId xmlns:a16="http://schemas.microsoft.com/office/drawing/2014/main" id="{466D68CE-1689-CE14-0F65-294A7D480B12}"/>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latin typeface="+mj-lt"/>
              </a:rPr>
              <a:t>2</a:t>
            </a:r>
          </a:p>
        </p:txBody>
      </p:sp>
      <p:sp>
        <p:nvSpPr>
          <p:cNvPr id="11" name="Title 5">
            <a:extLst>
              <a:ext uri="{FF2B5EF4-FFF2-40B4-BE49-F238E27FC236}">
                <a16:creationId xmlns:a16="http://schemas.microsoft.com/office/drawing/2014/main" id="{A3F5BEAF-A170-8B55-870D-F43C6534D0CF}"/>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Early Seed/Late Seed</a:t>
            </a:r>
            <a:endParaRPr lang="es-CL" sz="2400" b="1">
              <a:solidFill>
                <a:schemeClr val="accent2"/>
              </a:solidFill>
            </a:endParaRPr>
          </a:p>
        </p:txBody>
      </p:sp>
      <p:sp>
        <p:nvSpPr>
          <p:cNvPr id="12" name="Text Placeholder 9">
            <a:extLst>
              <a:ext uri="{FF2B5EF4-FFF2-40B4-BE49-F238E27FC236}">
                <a16:creationId xmlns:a16="http://schemas.microsoft.com/office/drawing/2014/main" id="{B2A7801D-895B-F889-A69F-9E23F132FF7A}"/>
              </a:ext>
            </a:extLst>
          </p:cNvPr>
          <p:cNvSpPr txBox="1">
            <a:spLocks/>
          </p:cNvSpPr>
          <p:nvPr/>
        </p:nvSpPr>
        <p:spPr>
          <a:xfrm>
            <a:off x="658814" y="3137752"/>
            <a:ext cx="6609090" cy="2437680"/>
          </a:xfrm>
          <a:prstGeom prst="rect">
            <a:avLst/>
          </a:prstGeom>
          <a:ln>
            <a:noFill/>
          </a:ln>
        </p:spPr>
        <p:txBody>
          <a:bodyPr anchor="t"/>
          <a:lstStyle>
            <a:lvl1pPr marL="228600" indent="-228600" algn="l" defTabSz="914400" rtl="0" eaLnBrk="1" latinLnBrk="0" hangingPunct="1">
              <a:lnSpc>
                <a:spcPct val="90000"/>
              </a:lnSpc>
              <a:spcBef>
                <a:spcPts val="1000"/>
              </a:spcBef>
              <a:buFontTx/>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FontTx/>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Tx/>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Tx/>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s-MX" sz="1200" b="1">
                <a:latin typeface="Montserrat" panose="00000500000000000000" pitchFamily="2" charset="0"/>
              </a:rPr>
              <a:t>Veamos un ejemplo:</a:t>
            </a:r>
            <a:endParaRPr lang="es-MX" sz="1200">
              <a:solidFill>
                <a:schemeClr val="tx2"/>
              </a:solidFill>
              <a:latin typeface="Montserrat" panose="00000500000000000000" pitchFamily="2" charset="0"/>
            </a:endParaRPr>
          </a:p>
        </p:txBody>
      </p:sp>
      <p:graphicFrame>
        <p:nvGraphicFramePr>
          <p:cNvPr id="13" name="Tabla 4">
            <a:extLst>
              <a:ext uri="{FF2B5EF4-FFF2-40B4-BE49-F238E27FC236}">
                <a16:creationId xmlns:a16="http://schemas.microsoft.com/office/drawing/2014/main" id="{EEF32B11-44CA-5FF0-CBC9-CB3CEB85815E}"/>
              </a:ext>
            </a:extLst>
          </p:cNvPr>
          <p:cNvGraphicFramePr>
            <a:graphicFrameLocks noGrp="1"/>
          </p:cNvGraphicFramePr>
          <p:nvPr/>
        </p:nvGraphicFramePr>
        <p:xfrm>
          <a:off x="658813" y="3489096"/>
          <a:ext cx="6609090" cy="2251071"/>
        </p:xfrm>
        <a:graphic>
          <a:graphicData uri="http://schemas.openxmlformats.org/drawingml/2006/table">
            <a:tbl>
              <a:tblPr firstRow="1" bandRow="1">
                <a:tableStyleId>{72833802-FEF1-4C79-8D5D-14CF1EAF98D9}</a:tableStyleId>
              </a:tblPr>
              <a:tblGrid>
                <a:gridCol w="1998394">
                  <a:extLst>
                    <a:ext uri="{9D8B030D-6E8A-4147-A177-3AD203B41FA5}">
                      <a16:colId xmlns:a16="http://schemas.microsoft.com/office/drawing/2014/main" val="3294938146"/>
                    </a:ext>
                  </a:extLst>
                </a:gridCol>
                <a:gridCol w="1217920">
                  <a:extLst>
                    <a:ext uri="{9D8B030D-6E8A-4147-A177-3AD203B41FA5}">
                      <a16:colId xmlns:a16="http://schemas.microsoft.com/office/drawing/2014/main" val="2584210331"/>
                    </a:ext>
                  </a:extLst>
                </a:gridCol>
                <a:gridCol w="1722487">
                  <a:extLst>
                    <a:ext uri="{9D8B030D-6E8A-4147-A177-3AD203B41FA5}">
                      <a16:colId xmlns:a16="http://schemas.microsoft.com/office/drawing/2014/main" val="87118510"/>
                    </a:ext>
                  </a:extLst>
                </a:gridCol>
                <a:gridCol w="1670289">
                  <a:extLst>
                    <a:ext uri="{9D8B030D-6E8A-4147-A177-3AD203B41FA5}">
                      <a16:colId xmlns:a16="http://schemas.microsoft.com/office/drawing/2014/main" val="1551652700"/>
                    </a:ext>
                  </a:extLst>
                </a:gridCol>
              </a:tblGrid>
              <a:tr h="368142">
                <a:tc>
                  <a:txBody>
                    <a:bodyPr/>
                    <a:lstStyle/>
                    <a:p>
                      <a:pPr algn="ctr"/>
                      <a:r>
                        <a:rPr lang="es-MX" sz="1400"/>
                        <a:t>Criterio</a:t>
                      </a:r>
                      <a:endParaRPr lang="es-CL" sz="1400"/>
                    </a:p>
                  </a:txBody>
                  <a:tcPr>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CL" sz="1400"/>
                        <a:t>Calificación</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MX" sz="1400"/>
                        <a:t>Valor base (USD)</a:t>
                      </a:r>
                      <a:endParaRPr lang="es-CL" sz="14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MX" sz="1400"/>
                        <a:t>Valoración (USD)</a:t>
                      </a:r>
                      <a:endParaRPr lang="es-CL" sz="1400"/>
                    </a:p>
                  </a:txBody>
                  <a:tcPr>
                    <a:lnL w="12700" cap="flat" cmpd="sng" algn="ctr">
                      <a:solidFill>
                        <a:schemeClr val="accent2"/>
                      </a:solidFill>
                      <a:prstDash val="solid"/>
                      <a:round/>
                      <a:headEnd type="none" w="med" len="med"/>
                      <a:tailEnd type="none" w="med" len="med"/>
                    </a:lnL>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808368982"/>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Equipo Fundador</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60%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300.000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79775632"/>
                  </a:ext>
                </a:extLst>
              </a:tr>
              <a:tr h="291609">
                <a:tc>
                  <a:txBody>
                    <a:bodyPr/>
                    <a:lstStyle/>
                    <a:p>
                      <a:pPr algn="ctr"/>
                      <a:r>
                        <a:rPr lang="es-MX" sz="1200" kern="1200">
                          <a:solidFill>
                            <a:srgbClr val="4E696D"/>
                          </a:solidFill>
                        </a:rPr>
                        <a:t>Idea</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100%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519710073"/>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Prototipo funcional</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100%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89548680"/>
                  </a:ext>
                </a:extLst>
              </a:tr>
              <a:tr h="291609">
                <a:tc>
                  <a:txBody>
                    <a:bodyPr/>
                    <a:lstStyle/>
                    <a:p>
                      <a:pPr algn="ctr"/>
                      <a:r>
                        <a:rPr lang="es-MX" sz="1200" kern="1200">
                          <a:solidFill>
                            <a:srgbClr val="4E696D"/>
                          </a:solidFill>
                        </a:rPr>
                        <a:t>Relaciones estratégicas</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458774989"/>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Tracción</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100%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500.000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57180122"/>
                  </a:ext>
                </a:extLst>
              </a:tr>
              <a:tr h="274866">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no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200" b="1"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TOTAL valoración</a:t>
                      </a:r>
                      <a:endParaRPr lang="es-CL" sz="1200" b="1"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1.800.000</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413701143"/>
                  </a:ext>
                </a:extLst>
              </a:tr>
            </a:tbl>
          </a:graphicData>
        </a:graphic>
      </p:graphicFrame>
      <p:sp>
        <p:nvSpPr>
          <p:cNvPr id="14" name="CuadroTexto 13">
            <a:extLst>
              <a:ext uri="{FF2B5EF4-FFF2-40B4-BE49-F238E27FC236}">
                <a16:creationId xmlns:a16="http://schemas.microsoft.com/office/drawing/2014/main" id="{0DFB354B-C08E-DCAA-4536-E0150D012565}"/>
              </a:ext>
            </a:extLst>
          </p:cNvPr>
          <p:cNvSpPr txBox="1"/>
          <p:nvPr/>
        </p:nvSpPr>
        <p:spPr>
          <a:xfrm>
            <a:off x="7540156" y="3219396"/>
            <a:ext cx="3993030" cy="2492990"/>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Según el Método Berkus, la valoración pre-money de este startup es de $1.8 millones.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Esta valoración, sugiere que el startup se encuentra en buen estado en relación a los cinco factores valorados.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El área principal para mejorar sería en las relaciones estratégicas.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El inversor puede buscar sinergias que podrían aumentar el valor de estas variables, en base a su experiencia y conocimientos.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Es importante recordar que el Método Berkus es altamente subjetivo y debe ser adaptado a las condiciones específicas de cada mercado.</a:t>
            </a:r>
          </a:p>
        </p:txBody>
      </p:sp>
      <p:sp>
        <p:nvSpPr>
          <p:cNvPr id="15" name="Rectángulo 14">
            <a:extLst>
              <a:ext uri="{FF2B5EF4-FFF2-40B4-BE49-F238E27FC236}">
                <a16:creationId xmlns:a16="http://schemas.microsoft.com/office/drawing/2014/main" id="{E2E7F768-D66E-F3A9-43E5-848F71DAD27F}"/>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6" name="Rectángulo 15">
            <a:extLst>
              <a:ext uri="{FF2B5EF4-FFF2-40B4-BE49-F238E27FC236}">
                <a16:creationId xmlns:a16="http://schemas.microsoft.com/office/drawing/2014/main" id="{DC09F4EF-1DC7-C452-2424-01E2F26EBAF8}"/>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7" name="Rectángulo 16">
            <a:extLst>
              <a:ext uri="{FF2B5EF4-FFF2-40B4-BE49-F238E27FC236}">
                <a16:creationId xmlns:a16="http://schemas.microsoft.com/office/drawing/2014/main" id="{33CE6B61-85C8-0950-A8C1-C1115D6F72BE}"/>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8" name="Rectángulo 17">
            <a:extLst>
              <a:ext uri="{FF2B5EF4-FFF2-40B4-BE49-F238E27FC236}">
                <a16:creationId xmlns:a16="http://schemas.microsoft.com/office/drawing/2014/main" id="{B8C9A26C-7713-61C6-D6B3-D999411E43B6}"/>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9" name="Rectángulo 18">
            <a:extLst>
              <a:ext uri="{FF2B5EF4-FFF2-40B4-BE49-F238E27FC236}">
                <a16:creationId xmlns:a16="http://schemas.microsoft.com/office/drawing/2014/main" id="{56DC5D4B-14B1-C988-5E0A-73AEFE716C43}"/>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20" name="Rectángulo 19">
            <a:extLst>
              <a:ext uri="{FF2B5EF4-FFF2-40B4-BE49-F238E27FC236}">
                <a16:creationId xmlns:a16="http://schemas.microsoft.com/office/drawing/2014/main" id="{9C9193CB-36BB-6396-D0E4-4840A7D1CD10}"/>
              </a:ext>
            </a:extLst>
          </p:cNvPr>
          <p:cNvSpPr/>
          <p:nvPr/>
        </p:nvSpPr>
        <p:spPr>
          <a:xfrm>
            <a:off x="984251" y="354693"/>
            <a:ext cx="1047386"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21" name="Rectángulo 20">
            <a:extLst>
              <a:ext uri="{FF2B5EF4-FFF2-40B4-BE49-F238E27FC236}">
                <a16:creationId xmlns:a16="http://schemas.microsoft.com/office/drawing/2014/main" id="{77B1371E-824C-7A57-F5EE-478C73433CBB}"/>
              </a:ext>
            </a:extLst>
          </p:cNvPr>
          <p:cNvSpPr/>
          <p:nvPr/>
        </p:nvSpPr>
        <p:spPr>
          <a:xfrm>
            <a:off x="2031637" y="354694"/>
            <a:ext cx="10020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dirty="0"/>
              <a:t>LATE SEED</a:t>
            </a:r>
          </a:p>
        </p:txBody>
      </p:sp>
    </p:spTree>
    <p:extLst>
      <p:ext uri="{BB962C8B-B14F-4D97-AF65-F5344CB8AC3E}">
        <p14:creationId xmlns:p14="http://schemas.microsoft.com/office/powerpoint/2010/main" val="914153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E4901EC-FF46-D34F-B8E4-2467FB877C5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01982" y="645289"/>
            <a:ext cx="11188035" cy="5567421"/>
          </a:xfrm>
          <a:prstGeom prst="rect">
            <a:avLst/>
          </a:prstGeom>
        </p:spPr>
      </p:pic>
    </p:spTree>
    <p:extLst>
      <p:ext uri="{BB962C8B-B14F-4D97-AF65-F5344CB8AC3E}">
        <p14:creationId xmlns:p14="http://schemas.microsoft.com/office/powerpoint/2010/main" val="22999908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15">
            <a:extLst>
              <a:ext uri="{FF2B5EF4-FFF2-40B4-BE49-F238E27FC236}">
                <a16:creationId xmlns:a16="http://schemas.microsoft.com/office/drawing/2014/main" id="{76E95BA5-ED3F-62DB-8B57-5785285B9739}"/>
              </a:ext>
            </a:extLst>
          </p:cNvPr>
          <p:cNvGraphicFramePr>
            <a:graphicFrameLocks noGrp="1"/>
          </p:cNvGraphicFramePr>
          <p:nvPr/>
        </p:nvGraphicFramePr>
        <p:xfrm>
          <a:off x="483735" y="1602190"/>
          <a:ext cx="10874375" cy="82296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Scorecard</a:t>
                      </a:r>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 </a:t>
                      </a:r>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Valuation</a:t>
                      </a:r>
                      <a:endPar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endParaRPr>
                    </a:p>
                    <a:p>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Este enfoque se basa en la comparación del startup con otros startups similares en su sector o industria. Es una adaptación del método </a:t>
                      </a:r>
                      <a:r>
                        <a:rPr kumimoji="0" lang="es-MX" sz="1200" b="0" i="0" u="none" strike="noStrike" kern="1200" cap="none" spc="0" normalizeH="0" baseline="0" noProof="0" dirty="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Berkus</a:t>
                      </a: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que adicionalmente considera la inversión adicional y el mercado total.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t>
                      </a: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7" name="Rectángulo 6">
            <a:extLst>
              <a:ext uri="{FF2B5EF4-FFF2-40B4-BE49-F238E27FC236}">
                <a16:creationId xmlns:a16="http://schemas.microsoft.com/office/drawing/2014/main" id="{87A8DC6D-22A5-C4A2-3256-3D1C9F4407F8}"/>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latin typeface="+mj-lt"/>
              </a:rPr>
              <a:t>3</a:t>
            </a:r>
          </a:p>
        </p:txBody>
      </p:sp>
      <p:sp>
        <p:nvSpPr>
          <p:cNvPr id="11" name="Title 5">
            <a:extLst>
              <a:ext uri="{FF2B5EF4-FFF2-40B4-BE49-F238E27FC236}">
                <a16:creationId xmlns:a16="http://schemas.microsoft.com/office/drawing/2014/main" id="{01D69BAB-226B-BDF3-27A2-15A776DC75EC}"/>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Early Seed/Late Seed</a:t>
            </a:r>
            <a:endParaRPr lang="es-CL" sz="2400" b="1">
              <a:solidFill>
                <a:schemeClr val="accent2"/>
              </a:solidFill>
            </a:endParaRPr>
          </a:p>
        </p:txBody>
      </p:sp>
      <p:graphicFrame>
        <p:nvGraphicFramePr>
          <p:cNvPr id="12" name="Tabla 4">
            <a:extLst>
              <a:ext uri="{FF2B5EF4-FFF2-40B4-BE49-F238E27FC236}">
                <a16:creationId xmlns:a16="http://schemas.microsoft.com/office/drawing/2014/main" id="{459EBB32-79B3-188B-D5A3-7026B901795D}"/>
              </a:ext>
            </a:extLst>
          </p:cNvPr>
          <p:cNvGraphicFramePr>
            <a:graphicFrameLocks noGrp="1"/>
          </p:cNvGraphicFramePr>
          <p:nvPr/>
        </p:nvGraphicFramePr>
        <p:xfrm>
          <a:off x="658813" y="2880538"/>
          <a:ext cx="6609090" cy="2834289"/>
        </p:xfrm>
        <a:graphic>
          <a:graphicData uri="http://schemas.openxmlformats.org/drawingml/2006/table">
            <a:tbl>
              <a:tblPr firstRow="1" bandRow="1">
                <a:tableStyleId>{72833802-FEF1-4C79-8D5D-14CF1EAF98D9}</a:tableStyleId>
              </a:tblPr>
              <a:tblGrid>
                <a:gridCol w="1998394">
                  <a:extLst>
                    <a:ext uri="{9D8B030D-6E8A-4147-A177-3AD203B41FA5}">
                      <a16:colId xmlns:a16="http://schemas.microsoft.com/office/drawing/2014/main" val="3294938146"/>
                    </a:ext>
                  </a:extLst>
                </a:gridCol>
                <a:gridCol w="1217920">
                  <a:extLst>
                    <a:ext uri="{9D8B030D-6E8A-4147-A177-3AD203B41FA5}">
                      <a16:colId xmlns:a16="http://schemas.microsoft.com/office/drawing/2014/main" val="2584210331"/>
                    </a:ext>
                  </a:extLst>
                </a:gridCol>
                <a:gridCol w="1722487">
                  <a:extLst>
                    <a:ext uri="{9D8B030D-6E8A-4147-A177-3AD203B41FA5}">
                      <a16:colId xmlns:a16="http://schemas.microsoft.com/office/drawing/2014/main" val="87118510"/>
                    </a:ext>
                  </a:extLst>
                </a:gridCol>
                <a:gridCol w="1670289">
                  <a:extLst>
                    <a:ext uri="{9D8B030D-6E8A-4147-A177-3AD203B41FA5}">
                      <a16:colId xmlns:a16="http://schemas.microsoft.com/office/drawing/2014/main" val="1551652700"/>
                    </a:ext>
                  </a:extLst>
                </a:gridCol>
              </a:tblGrid>
              <a:tr h="368142">
                <a:tc>
                  <a:txBody>
                    <a:bodyPr/>
                    <a:lstStyle/>
                    <a:p>
                      <a:pPr algn="ctr"/>
                      <a:r>
                        <a:rPr lang="es-MX" sz="1400"/>
                        <a:t>Criterio</a:t>
                      </a:r>
                      <a:endParaRPr lang="es-CL" sz="1400"/>
                    </a:p>
                  </a:txBody>
                  <a:tcPr>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CL" sz="1400"/>
                        <a:t>Calificación</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MX" sz="1400"/>
                        <a:t>Rating</a:t>
                      </a:r>
                      <a:endParaRPr lang="es-CL" sz="14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MX" sz="1400" err="1"/>
                        <a:t>Weight</a:t>
                      </a:r>
                      <a:r>
                        <a:rPr lang="es-MX" sz="1400"/>
                        <a:t> rating</a:t>
                      </a:r>
                      <a:endParaRPr lang="es-CL" sz="1400"/>
                    </a:p>
                  </a:txBody>
                  <a:tcPr>
                    <a:lnL w="12700" cap="flat" cmpd="sng" algn="ctr">
                      <a:solidFill>
                        <a:schemeClr val="accent2"/>
                      </a:solidFill>
                      <a:prstDash val="solid"/>
                      <a:round/>
                      <a:headEnd type="none" w="med" len="med"/>
                      <a:tailEnd type="none" w="med" len="med"/>
                    </a:lnL>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808368982"/>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Equipo Fundador</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30%]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79775632"/>
                  </a:ext>
                </a:extLst>
              </a:tr>
              <a:tr h="291609">
                <a:tc>
                  <a:txBody>
                    <a:bodyPr/>
                    <a:lstStyle/>
                    <a:p>
                      <a:pPr algn="ctr"/>
                      <a:r>
                        <a:rPr lang="es-MX" sz="1200" kern="1200">
                          <a:solidFill>
                            <a:srgbClr val="4E696D"/>
                          </a:solidFill>
                        </a:rPr>
                        <a:t>Idea</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25%]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519710073"/>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Prototipo funcional</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15%]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89548680"/>
                  </a:ext>
                </a:extLst>
              </a:tr>
              <a:tr h="291609">
                <a:tc>
                  <a:txBody>
                    <a:bodyPr/>
                    <a:lstStyle/>
                    <a:p>
                      <a:pPr algn="ctr"/>
                      <a:r>
                        <a:rPr lang="es-MX" sz="1200" kern="1200">
                          <a:solidFill>
                            <a:srgbClr val="4E696D"/>
                          </a:solidFill>
                        </a:rPr>
                        <a:t>Relaciones estratégicas</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10%]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458774989"/>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Tracción</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10%]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57180122"/>
                  </a:ext>
                </a:extLst>
              </a:tr>
              <a:tr h="291609">
                <a:tc>
                  <a:txBody>
                    <a:bodyPr/>
                    <a:lstStyle/>
                    <a:p>
                      <a:pPr algn="ct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Inversión adicional</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556829759"/>
                  </a:ext>
                </a:extLst>
              </a:tr>
              <a:tr h="291609">
                <a:tc>
                  <a:txBody>
                    <a:bodyPr/>
                    <a:lstStyle/>
                    <a:p>
                      <a:pPr algn="ct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Mercado total</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4239167180"/>
                  </a:ext>
                </a:extLst>
              </a:tr>
              <a:tr h="274866">
                <a:tc>
                  <a:txBody>
                    <a:bodyPr/>
                    <a:lstStyle/>
                    <a:p>
                      <a:pPr algn="ct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Total</a:t>
                      </a:r>
                    </a:p>
                  </a:txBody>
                  <a:tcP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no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b="1"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413701143"/>
                  </a:ext>
                </a:extLst>
              </a:tr>
            </a:tbl>
          </a:graphicData>
        </a:graphic>
      </p:graphicFrame>
      <p:sp>
        <p:nvSpPr>
          <p:cNvPr id="13" name="CuadroTexto 12">
            <a:extLst>
              <a:ext uri="{FF2B5EF4-FFF2-40B4-BE49-F238E27FC236}">
                <a16:creationId xmlns:a16="http://schemas.microsoft.com/office/drawing/2014/main" id="{D62B5CD1-A58C-4E0F-990F-0E7BA8BF5A28}"/>
              </a:ext>
            </a:extLst>
          </p:cNvPr>
          <p:cNvSpPr txBox="1"/>
          <p:nvPr/>
        </p:nvSpPr>
        <p:spPr>
          <a:xfrm>
            <a:off x="7587117" y="2880538"/>
            <a:ext cx="4049712" cy="2677656"/>
          </a:xfrm>
          <a:prstGeom prst="rect">
            <a:avLst/>
          </a:prstGeom>
          <a:noFill/>
        </p:spPr>
        <p:txBody>
          <a:bodyPr wrap="square">
            <a:spAutoFit/>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El primer paso consiste en determinar el valor </a:t>
            </a:r>
            <a:r>
              <a:rPr kumimoji="0" lang="es-MX" sz="1200" i="0" u="none" strike="noStrike" kern="1200" cap="none" spc="0" normalizeH="0" baseline="0" noProof="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pre-money</a:t>
            </a: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de la startup y de otras empresas similares. Para ello, se pueden emplear fuentes de datos como las páginas web de </a:t>
            </a:r>
            <a:r>
              <a:rPr kumimoji="0" lang="es-MX" sz="1200" i="0" u="none" strike="noStrike" kern="1200" cap="none" spc="0" normalizeH="0" baseline="0" noProof="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Crunchbase</a:t>
            </a: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o </a:t>
            </a:r>
            <a:r>
              <a:rPr kumimoji="0" lang="es-MX" sz="1200" i="0" u="none" strike="noStrike" kern="1200" cap="none" spc="0" normalizeH="0" baseline="0" noProof="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Angel</a:t>
            </a: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t>
            </a:r>
            <a:r>
              <a:rPr kumimoji="0" lang="es-MX" sz="1200" i="0" u="none" strike="noStrike" kern="1200" cap="none" spc="0" normalizeH="0" baseline="0" noProof="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List</a:t>
            </a: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y levantar información sobre las transacciones pasadas de dichas empresas.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Una vez completado este proceso, procederemos a recopilar y analizar la media, la moda, el valor </a:t>
            </a:r>
            <a:r>
              <a:rPr kumimoji="0" lang="es-MX" sz="1200" i="0" u="none" strike="noStrike" kern="1200" cap="none" spc="0" normalizeH="0" baseline="0" noProof="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pre-money</a:t>
            </a: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más bajo y el más alto de las empresas seleccionadas.</a:t>
            </a:r>
            <a:endPar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Una vez establecido este valor de base, se procede a la evaluación y ponderación de diversos factores clave de la startup. </a:t>
            </a:r>
            <a:endParaRPr kumimoji="0" lang="es-CL"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p:txBody>
      </p:sp>
      <p:sp>
        <p:nvSpPr>
          <p:cNvPr id="14" name="Rectángulo 13">
            <a:extLst>
              <a:ext uri="{FF2B5EF4-FFF2-40B4-BE49-F238E27FC236}">
                <a16:creationId xmlns:a16="http://schemas.microsoft.com/office/drawing/2014/main" id="{A53E1B3E-635C-02AE-E5C1-BAE5A8DCC09F}"/>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5" name="Rectángulo 14">
            <a:extLst>
              <a:ext uri="{FF2B5EF4-FFF2-40B4-BE49-F238E27FC236}">
                <a16:creationId xmlns:a16="http://schemas.microsoft.com/office/drawing/2014/main" id="{02B6889D-B3B4-1930-4641-E02C714B6014}"/>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6" name="Rectángulo 15">
            <a:extLst>
              <a:ext uri="{FF2B5EF4-FFF2-40B4-BE49-F238E27FC236}">
                <a16:creationId xmlns:a16="http://schemas.microsoft.com/office/drawing/2014/main" id="{587E46CA-826E-048F-F9A5-77F63B0CBE92}"/>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7" name="Rectángulo 16">
            <a:extLst>
              <a:ext uri="{FF2B5EF4-FFF2-40B4-BE49-F238E27FC236}">
                <a16:creationId xmlns:a16="http://schemas.microsoft.com/office/drawing/2014/main" id="{31BFCAA6-9426-D4F4-4519-6437011C207F}"/>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8" name="Rectángulo 17">
            <a:extLst>
              <a:ext uri="{FF2B5EF4-FFF2-40B4-BE49-F238E27FC236}">
                <a16:creationId xmlns:a16="http://schemas.microsoft.com/office/drawing/2014/main" id="{BB84087D-BC02-572C-0E90-E86548A27D0D}"/>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9" name="Rectángulo 18">
            <a:extLst>
              <a:ext uri="{FF2B5EF4-FFF2-40B4-BE49-F238E27FC236}">
                <a16:creationId xmlns:a16="http://schemas.microsoft.com/office/drawing/2014/main" id="{E5E839FD-55C2-ECDA-E297-D66F7BA31FFE}"/>
              </a:ext>
            </a:extLst>
          </p:cNvPr>
          <p:cNvSpPr/>
          <p:nvPr/>
        </p:nvSpPr>
        <p:spPr>
          <a:xfrm>
            <a:off x="984251" y="354693"/>
            <a:ext cx="1047386"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20" name="Rectángulo 19">
            <a:extLst>
              <a:ext uri="{FF2B5EF4-FFF2-40B4-BE49-F238E27FC236}">
                <a16:creationId xmlns:a16="http://schemas.microsoft.com/office/drawing/2014/main" id="{0E8BE69E-50FC-C85F-BB14-29291BBCED04}"/>
              </a:ext>
            </a:extLst>
          </p:cNvPr>
          <p:cNvSpPr/>
          <p:nvPr/>
        </p:nvSpPr>
        <p:spPr>
          <a:xfrm>
            <a:off x="2031637" y="354694"/>
            <a:ext cx="10020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dirty="0"/>
              <a:t>LATE SEED</a:t>
            </a:r>
          </a:p>
        </p:txBody>
      </p:sp>
    </p:spTree>
    <p:extLst>
      <p:ext uri="{BB962C8B-B14F-4D97-AF65-F5344CB8AC3E}">
        <p14:creationId xmlns:p14="http://schemas.microsoft.com/office/powerpoint/2010/main" val="25849957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15">
            <a:extLst>
              <a:ext uri="{FF2B5EF4-FFF2-40B4-BE49-F238E27FC236}">
                <a16:creationId xmlns:a16="http://schemas.microsoft.com/office/drawing/2014/main" id="{3B6B68D6-387E-D1F0-0094-A4299F6A4651}"/>
              </a:ext>
            </a:extLst>
          </p:cNvPr>
          <p:cNvGraphicFramePr>
            <a:graphicFrameLocks noGrp="1"/>
          </p:cNvGraphicFramePr>
          <p:nvPr/>
        </p:nvGraphicFramePr>
        <p:xfrm>
          <a:off x="483735" y="1602190"/>
          <a:ext cx="10874375" cy="82296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Scorecard</a:t>
                      </a:r>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 </a:t>
                      </a:r>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Valuation</a:t>
                      </a:r>
                      <a:endPar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endParaRPr>
                    </a:p>
                    <a:p>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Este enfoque se basa en la comparación del startup con otros startups similares en su sector o industria. Es una adaptación del método Berkus, que adicionalmente considera la inversión adicional y el mercado total.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t>
                      </a: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7" name="Rectángulo 6">
            <a:extLst>
              <a:ext uri="{FF2B5EF4-FFF2-40B4-BE49-F238E27FC236}">
                <a16:creationId xmlns:a16="http://schemas.microsoft.com/office/drawing/2014/main" id="{EF77CEDE-E8E6-3206-2E2A-74D9318F95A0}"/>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latin typeface="+mj-lt"/>
              </a:rPr>
              <a:t>3</a:t>
            </a:r>
          </a:p>
        </p:txBody>
      </p:sp>
      <p:sp>
        <p:nvSpPr>
          <p:cNvPr id="11" name="Title 5">
            <a:extLst>
              <a:ext uri="{FF2B5EF4-FFF2-40B4-BE49-F238E27FC236}">
                <a16:creationId xmlns:a16="http://schemas.microsoft.com/office/drawing/2014/main" id="{520BD85B-D33F-B19E-FEC9-7BAA4D911F62}"/>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Early Seed/Late Seed</a:t>
            </a:r>
            <a:endParaRPr lang="es-CL" sz="2400" b="1">
              <a:solidFill>
                <a:schemeClr val="accent2"/>
              </a:solidFill>
            </a:endParaRPr>
          </a:p>
        </p:txBody>
      </p:sp>
      <p:graphicFrame>
        <p:nvGraphicFramePr>
          <p:cNvPr id="12" name="Tabla 4">
            <a:extLst>
              <a:ext uri="{FF2B5EF4-FFF2-40B4-BE49-F238E27FC236}">
                <a16:creationId xmlns:a16="http://schemas.microsoft.com/office/drawing/2014/main" id="{DA03F28F-A718-B9EA-CAF1-A5A0DADDF8A9}"/>
              </a:ext>
            </a:extLst>
          </p:cNvPr>
          <p:cNvGraphicFramePr>
            <a:graphicFrameLocks noGrp="1"/>
          </p:cNvGraphicFramePr>
          <p:nvPr/>
        </p:nvGraphicFramePr>
        <p:xfrm>
          <a:off x="658813" y="2880538"/>
          <a:ext cx="6609090" cy="2834289"/>
        </p:xfrm>
        <a:graphic>
          <a:graphicData uri="http://schemas.openxmlformats.org/drawingml/2006/table">
            <a:tbl>
              <a:tblPr firstRow="1" bandRow="1">
                <a:tableStyleId>{72833802-FEF1-4C79-8D5D-14CF1EAF98D9}</a:tableStyleId>
              </a:tblPr>
              <a:tblGrid>
                <a:gridCol w="1998394">
                  <a:extLst>
                    <a:ext uri="{9D8B030D-6E8A-4147-A177-3AD203B41FA5}">
                      <a16:colId xmlns:a16="http://schemas.microsoft.com/office/drawing/2014/main" val="3294938146"/>
                    </a:ext>
                  </a:extLst>
                </a:gridCol>
                <a:gridCol w="1217920">
                  <a:extLst>
                    <a:ext uri="{9D8B030D-6E8A-4147-A177-3AD203B41FA5}">
                      <a16:colId xmlns:a16="http://schemas.microsoft.com/office/drawing/2014/main" val="2584210331"/>
                    </a:ext>
                  </a:extLst>
                </a:gridCol>
                <a:gridCol w="1722487">
                  <a:extLst>
                    <a:ext uri="{9D8B030D-6E8A-4147-A177-3AD203B41FA5}">
                      <a16:colId xmlns:a16="http://schemas.microsoft.com/office/drawing/2014/main" val="87118510"/>
                    </a:ext>
                  </a:extLst>
                </a:gridCol>
                <a:gridCol w="1670289">
                  <a:extLst>
                    <a:ext uri="{9D8B030D-6E8A-4147-A177-3AD203B41FA5}">
                      <a16:colId xmlns:a16="http://schemas.microsoft.com/office/drawing/2014/main" val="1551652700"/>
                    </a:ext>
                  </a:extLst>
                </a:gridCol>
              </a:tblGrid>
              <a:tr h="368142">
                <a:tc>
                  <a:txBody>
                    <a:bodyPr/>
                    <a:lstStyle/>
                    <a:p>
                      <a:pPr algn="ctr"/>
                      <a:r>
                        <a:rPr lang="es-MX" sz="1400"/>
                        <a:t>Criterio</a:t>
                      </a:r>
                      <a:endParaRPr lang="es-CL" sz="1400"/>
                    </a:p>
                  </a:txBody>
                  <a:tcPr>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CL" sz="1400"/>
                        <a:t>Calificación</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MX" sz="1400"/>
                        <a:t>Rating</a:t>
                      </a:r>
                      <a:endParaRPr lang="es-CL" sz="1400"/>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algn="ctr"/>
                      <a:r>
                        <a:rPr lang="es-MX" sz="1400" err="1"/>
                        <a:t>Weight</a:t>
                      </a:r>
                      <a:r>
                        <a:rPr lang="es-MX" sz="1400"/>
                        <a:t> rating</a:t>
                      </a:r>
                      <a:endParaRPr lang="es-CL" sz="1400"/>
                    </a:p>
                  </a:txBody>
                  <a:tcPr>
                    <a:lnL w="12700" cap="flat" cmpd="sng" algn="ctr">
                      <a:solidFill>
                        <a:schemeClr val="accent2"/>
                      </a:solidFill>
                      <a:prstDash val="solid"/>
                      <a:round/>
                      <a:headEnd type="none" w="med" len="med"/>
                      <a:tailEnd type="none" w="med" len="med"/>
                    </a:lnL>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808368982"/>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Equipo Fundador</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30%]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79775632"/>
                  </a:ext>
                </a:extLst>
              </a:tr>
              <a:tr h="291609">
                <a:tc>
                  <a:txBody>
                    <a:bodyPr/>
                    <a:lstStyle/>
                    <a:p>
                      <a:pPr algn="ctr"/>
                      <a:r>
                        <a:rPr lang="es-MX" sz="1200" kern="1200">
                          <a:solidFill>
                            <a:srgbClr val="4E696D"/>
                          </a:solidFill>
                        </a:rPr>
                        <a:t>Idea</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25%]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519710073"/>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Prototipo funcional</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15%]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689548680"/>
                  </a:ext>
                </a:extLst>
              </a:tr>
              <a:tr h="291609">
                <a:tc>
                  <a:txBody>
                    <a:bodyPr/>
                    <a:lstStyle/>
                    <a:p>
                      <a:pPr algn="ctr"/>
                      <a:r>
                        <a:rPr lang="es-MX" sz="1200" kern="1200">
                          <a:solidFill>
                            <a:srgbClr val="4E696D"/>
                          </a:solidFill>
                        </a:rPr>
                        <a:t>Relaciones estratégicas</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10%]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458774989"/>
                  </a:ext>
                </a:extLst>
              </a:tr>
              <a:tr h="291609">
                <a:tc>
                  <a:txBody>
                    <a:bodyPr/>
                    <a:lstStyle/>
                    <a:p>
                      <a:pPr algn="ct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Tracción</a:t>
                      </a: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10%]</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57180122"/>
                  </a:ext>
                </a:extLst>
              </a:tr>
              <a:tr h="291609">
                <a:tc>
                  <a:txBody>
                    <a:bodyPr/>
                    <a:lstStyle/>
                    <a:p>
                      <a:pPr algn="ct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Inversión adicional</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556829759"/>
                  </a:ext>
                </a:extLst>
              </a:tr>
              <a:tr h="291609">
                <a:tc>
                  <a:txBody>
                    <a:bodyPr/>
                    <a:lstStyle/>
                    <a:p>
                      <a:pPr algn="ct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Mercado total</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fontAlgn="base"/>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[ 0 – 5%]</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4239167180"/>
                  </a:ext>
                </a:extLst>
              </a:tr>
              <a:tr h="274866">
                <a:tc>
                  <a:txBody>
                    <a:bodyPr/>
                    <a:lstStyle/>
                    <a:p>
                      <a:pPr algn="ctr"/>
                      <a:r>
                        <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Total</a:t>
                      </a:r>
                    </a:p>
                  </a:txBody>
                  <a:tcPr>
                    <a:lnL w="6350" cap="flat" cmpd="sng" algn="ctr">
                      <a:noFill/>
                      <a:prstDash val="solid"/>
                      <a:miter lim="800000"/>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no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CL" sz="1200" b="1"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endParaRPr lang="es-CL"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413701143"/>
                  </a:ext>
                </a:extLst>
              </a:tr>
            </a:tbl>
          </a:graphicData>
        </a:graphic>
      </p:graphicFrame>
      <p:sp>
        <p:nvSpPr>
          <p:cNvPr id="13" name="CuadroTexto 12">
            <a:extLst>
              <a:ext uri="{FF2B5EF4-FFF2-40B4-BE49-F238E27FC236}">
                <a16:creationId xmlns:a16="http://schemas.microsoft.com/office/drawing/2014/main" id="{1FCBBD17-8785-DCC7-6081-80B187D66368}"/>
              </a:ext>
            </a:extLst>
          </p:cNvPr>
          <p:cNvSpPr txBox="1"/>
          <p:nvPr/>
        </p:nvSpPr>
        <p:spPr>
          <a:xfrm>
            <a:off x="7587117" y="2880538"/>
            <a:ext cx="4049712" cy="2862322"/>
          </a:xfrm>
          <a:prstGeom prst="rect">
            <a:avLst/>
          </a:prstGeom>
          <a:noFill/>
        </p:spPr>
        <p:txBody>
          <a:bodyPr wrap="square">
            <a:spAutoFit/>
          </a:bodyPr>
          <a:lstStyle/>
          <a:p>
            <a:pPr marL="285750" indent="-285750" algn="just">
              <a:buFont typeface="Arial" panose="020B0604020202020204" pitchFamily="34" charset="0"/>
              <a:buChar char="•"/>
            </a:pP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Cada uno de estos </a:t>
            </a:r>
            <a:r>
              <a:rPr lang="es-MX" sz="1200" b="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factores se califica en base a la comparación con startups similares y se le asigna un porcentaje de comparación. </a:t>
            </a: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Esto da lugar a una puntuación ponderada para cada factor.</a:t>
            </a:r>
          </a:p>
          <a:p>
            <a:pPr marL="285750" indent="-285750" algn="just">
              <a:buFont typeface="Arial" panose="020B0604020202020204" pitchFamily="34" charset="0"/>
              <a:buChar char="•"/>
            </a:pP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Determinar todos los atributos y pesos relativos </a:t>
            </a:r>
            <a:r>
              <a:rPr lang="es-MX" sz="120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Berkus</a:t>
            </a: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a:t>
            </a:r>
          </a:p>
          <a:p>
            <a:pPr marL="285750" indent="-285750" algn="just">
              <a:buFont typeface="Arial" panose="020B0604020202020204" pitchFamily="34" charset="0"/>
              <a:buChar char="•"/>
            </a:pP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Calificar todos los atributos: 100% si están a la par, menor a 100% si están por debajo del promedio y superior a 100% si están por encima de la base de comparación.</a:t>
            </a:r>
          </a:p>
          <a:p>
            <a:pPr marL="285750" indent="-285750" algn="just">
              <a:buFont typeface="Arial" panose="020B0604020202020204" pitchFamily="34" charset="0"/>
              <a:buChar char="•"/>
            </a:pP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Sumar los factores</a:t>
            </a:r>
          </a:p>
          <a:p>
            <a:pPr marL="285750" indent="-285750" algn="just">
              <a:buFont typeface="Arial" panose="020B0604020202020204" pitchFamily="34" charset="0"/>
              <a:buChar char="•"/>
            </a:pP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Multiplicar el factor por el valor de transacción diferente.</a:t>
            </a:r>
            <a:endParaRPr lang="es-CL"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p:txBody>
      </p:sp>
      <p:sp>
        <p:nvSpPr>
          <p:cNvPr id="14" name="Rectángulo 13">
            <a:extLst>
              <a:ext uri="{FF2B5EF4-FFF2-40B4-BE49-F238E27FC236}">
                <a16:creationId xmlns:a16="http://schemas.microsoft.com/office/drawing/2014/main" id="{52B8167E-B959-9D0A-9BF3-CD874F1DDD92}"/>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5" name="Rectángulo 14">
            <a:extLst>
              <a:ext uri="{FF2B5EF4-FFF2-40B4-BE49-F238E27FC236}">
                <a16:creationId xmlns:a16="http://schemas.microsoft.com/office/drawing/2014/main" id="{FE418BB5-C38B-82D3-3978-9471A929D917}"/>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6" name="Rectángulo 15">
            <a:extLst>
              <a:ext uri="{FF2B5EF4-FFF2-40B4-BE49-F238E27FC236}">
                <a16:creationId xmlns:a16="http://schemas.microsoft.com/office/drawing/2014/main" id="{D85D902D-AA34-46AE-5402-FF554AD4DA8A}"/>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7" name="Rectángulo 16">
            <a:extLst>
              <a:ext uri="{FF2B5EF4-FFF2-40B4-BE49-F238E27FC236}">
                <a16:creationId xmlns:a16="http://schemas.microsoft.com/office/drawing/2014/main" id="{EC10284D-D44B-F065-C2F4-2A32A5318966}"/>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8" name="Rectángulo 17">
            <a:extLst>
              <a:ext uri="{FF2B5EF4-FFF2-40B4-BE49-F238E27FC236}">
                <a16:creationId xmlns:a16="http://schemas.microsoft.com/office/drawing/2014/main" id="{B7BE3ED8-1846-7E6D-858C-485E9C23AEDE}"/>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9" name="Rectángulo 18">
            <a:extLst>
              <a:ext uri="{FF2B5EF4-FFF2-40B4-BE49-F238E27FC236}">
                <a16:creationId xmlns:a16="http://schemas.microsoft.com/office/drawing/2014/main" id="{E88474A2-73A4-E390-971A-74D87C023A8F}"/>
              </a:ext>
            </a:extLst>
          </p:cNvPr>
          <p:cNvSpPr/>
          <p:nvPr/>
        </p:nvSpPr>
        <p:spPr>
          <a:xfrm>
            <a:off x="984251" y="354693"/>
            <a:ext cx="1047386"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20" name="Rectángulo 19">
            <a:extLst>
              <a:ext uri="{FF2B5EF4-FFF2-40B4-BE49-F238E27FC236}">
                <a16:creationId xmlns:a16="http://schemas.microsoft.com/office/drawing/2014/main" id="{D9920BE7-7211-D7BB-8FBC-981955E0EB45}"/>
              </a:ext>
            </a:extLst>
          </p:cNvPr>
          <p:cNvSpPr/>
          <p:nvPr/>
        </p:nvSpPr>
        <p:spPr>
          <a:xfrm>
            <a:off x="2031637" y="354694"/>
            <a:ext cx="10020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dirty="0"/>
              <a:t>LATE SEED</a:t>
            </a:r>
          </a:p>
        </p:txBody>
      </p:sp>
    </p:spTree>
    <p:extLst>
      <p:ext uri="{BB962C8B-B14F-4D97-AF65-F5344CB8AC3E}">
        <p14:creationId xmlns:p14="http://schemas.microsoft.com/office/powerpoint/2010/main" val="5510036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15">
            <a:extLst>
              <a:ext uri="{FF2B5EF4-FFF2-40B4-BE49-F238E27FC236}">
                <a16:creationId xmlns:a16="http://schemas.microsoft.com/office/drawing/2014/main" id="{4B2B818E-92EF-A67E-90A0-004DAEA89F0A}"/>
              </a:ext>
            </a:extLst>
          </p:cNvPr>
          <p:cNvGraphicFramePr>
            <a:graphicFrameLocks noGrp="1"/>
          </p:cNvGraphicFramePr>
          <p:nvPr/>
        </p:nvGraphicFramePr>
        <p:xfrm>
          <a:off x="483735" y="1602190"/>
          <a:ext cx="10874375" cy="82296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Scorecard</a:t>
                      </a:r>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 </a:t>
                      </a:r>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Valuation</a:t>
                      </a:r>
                      <a:endPar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endParaRPr>
                    </a:p>
                    <a:p>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Este enfoque se basa en la comparación del startup con otros startups similares en su sector o industria. Es una adaptación del método Berkus, que adicionalmente considera la inversión adicional y el mercado total.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t>
                      </a: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7" name="Rectángulo 6">
            <a:extLst>
              <a:ext uri="{FF2B5EF4-FFF2-40B4-BE49-F238E27FC236}">
                <a16:creationId xmlns:a16="http://schemas.microsoft.com/office/drawing/2014/main" id="{67A9F37C-9497-E7B4-A039-0B361336B884}"/>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latin typeface="+mj-lt"/>
              </a:rPr>
              <a:t>3</a:t>
            </a:r>
          </a:p>
        </p:txBody>
      </p:sp>
      <p:sp>
        <p:nvSpPr>
          <p:cNvPr id="11" name="Title 5">
            <a:extLst>
              <a:ext uri="{FF2B5EF4-FFF2-40B4-BE49-F238E27FC236}">
                <a16:creationId xmlns:a16="http://schemas.microsoft.com/office/drawing/2014/main" id="{3085549C-4ACB-C318-8C9E-3DA6D77AC9A1}"/>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Ejemplo Scorecard Valuation</a:t>
            </a:r>
            <a:endParaRPr lang="es-CL" sz="2400" b="1">
              <a:solidFill>
                <a:schemeClr val="accent2"/>
              </a:solidFill>
            </a:endParaRPr>
          </a:p>
        </p:txBody>
      </p:sp>
      <p:sp>
        <p:nvSpPr>
          <p:cNvPr id="12" name="CuadroTexto 11">
            <a:extLst>
              <a:ext uri="{FF2B5EF4-FFF2-40B4-BE49-F238E27FC236}">
                <a16:creationId xmlns:a16="http://schemas.microsoft.com/office/drawing/2014/main" id="{B98D6D7C-19A8-4EEF-A823-17506F5EBEA4}"/>
              </a:ext>
            </a:extLst>
          </p:cNvPr>
          <p:cNvSpPr txBox="1"/>
          <p:nvPr/>
        </p:nvSpPr>
        <p:spPr>
          <a:xfrm>
            <a:off x="658811" y="2690336"/>
            <a:ext cx="10874377" cy="738664"/>
          </a:xfrm>
          <a:prstGeom prst="rect">
            <a:avLst/>
          </a:prstGeom>
          <a:noFill/>
        </p:spPr>
        <p:txBody>
          <a:bodyPr wrap="square">
            <a:spAutoFit/>
          </a:bodyPr>
          <a:lstStyle/>
          <a:p>
            <a:pPr marR="0" lvl="0" algn="just" defTabSz="914400" rtl="0" eaLnBrk="1" fontAlgn="auto" latinLnBrk="0" hangingPunct="1">
              <a:lnSpc>
                <a:spcPct val="100000"/>
              </a:lnSpc>
              <a:spcBef>
                <a:spcPts val="0"/>
              </a:spcBef>
              <a:spcAft>
                <a:spcPts val="0"/>
              </a:spcAft>
              <a:buClrTx/>
              <a:buSzTx/>
              <a:tabLst/>
              <a:defRPr/>
            </a:pPr>
            <a:r>
              <a:rPr kumimoji="0" lang="es-MX" sz="14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Para empezar, se realiza un análisis comparativo de los startups competidoras en la industria. Se deben </a:t>
            </a:r>
            <a:r>
              <a:rPr lang="es-MX" sz="14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obtener </a:t>
            </a:r>
            <a:r>
              <a:rPr kumimoji="0" lang="es-MX" sz="14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los siguientes datos de: valor pre-money: media, moda, mínimo y máximo. Este análisis permite tener una visión inicial sobre el rango de valoración de las empresas similares a nuestro startup.</a:t>
            </a:r>
          </a:p>
        </p:txBody>
      </p:sp>
      <p:graphicFrame>
        <p:nvGraphicFramePr>
          <p:cNvPr id="13" name="Tabla 4">
            <a:extLst>
              <a:ext uri="{FF2B5EF4-FFF2-40B4-BE49-F238E27FC236}">
                <a16:creationId xmlns:a16="http://schemas.microsoft.com/office/drawing/2014/main" id="{0D4BF8BC-B447-06A3-E113-BD83F6BAE62A}"/>
              </a:ext>
            </a:extLst>
          </p:cNvPr>
          <p:cNvGraphicFramePr>
            <a:graphicFrameLocks noGrp="1"/>
          </p:cNvGraphicFramePr>
          <p:nvPr/>
        </p:nvGraphicFramePr>
        <p:xfrm>
          <a:off x="3483428" y="3953057"/>
          <a:ext cx="5471885" cy="1554480"/>
        </p:xfrm>
        <a:graphic>
          <a:graphicData uri="http://schemas.openxmlformats.org/drawingml/2006/table">
            <a:tbl>
              <a:tblPr firstRow="1" bandRow="1">
                <a:tableStyleId>{72833802-FEF1-4C79-8D5D-14CF1EAF98D9}</a:tableStyleId>
              </a:tblPr>
              <a:tblGrid>
                <a:gridCol w="2633388">
                  <a:extLst>
                    <a:ext uri="{9D8B030D-6E8A-4147-A177-3AD203B41FA5}">
                      <a16:colId xmlns:a16="http://schemas.microsoft.com/office/drawing/2014/main" val="3294938146"/>
                    </a:ext>
                  </a:extLst>
                </a:gridCol>
                <a:gridCol w="2838497">
                  <a:extLst>
                    <a:ext uri="{9D8B030D-6E8A-4147-A177-3AD203B41FA5}">
                      <a16:colId xmlns:a16="http://schemas.microsoft.com/office/drawing/2014/main" val="2584210331"/>
                    </a:ext>
                  </a:extLst>
                </a:gridCol>
              </a:tblGrid>
              <a:tr h="150223">
                <a:tc>
                  <a:txBody>
                    <a:bodyPr/>
                    <a:lstStyle/>
                    <a:p>
                      <a:pPr algn="ctr"/>
                      <a:r>
                        <a:rPr lang="es-MX" sz="1600"/>
                        <a:t>Parámetro</a:t>
                      </a:r>
                      <a:endParaRPr lang="es-CL" sz="1600"/>
                    </a:p>
                  </a:txBody>
                  <a:tcPr>
                    <a:lnR w="12700" cap="flat" cmpd="sng" algn="ctr">
                      <a:solidFill>
                        <a:schemeClr val="accent2"/>
                      </a:solidFill>
                      <a:prstDash val="solid"/>
                      <a:round/>
                      <a:headEnd type="none" w="med" len="med"/>
                      <a:tailEnd type="none" w="med" len="med"/>
                    </a:lnR>
                  </a:tcPr>
                </a:tc>
                <a:tc>
                  <a:txBody>
                    <a:bodyPr/>
                    <a:lstStyle/>
                    <a:p>
                      <a:pPr algn="ctr"/>
                      <a:r>
                        <a:rPr lang="es-CL" sz="1600"/>
                        <a:t>Valor (US$)</a:t>
                      </a:r>
                    </a:p>
                  </a:txBody>
                  <a:tcPr>
                    <a:lnL w="12700" cap="flat" cmpd="sng" algn="ctr">
                      <a:solidFill>
                        <a:schemeClr val="accent2"/>
                      </a:solidFill>
                      <a:prstDash val="solid"/>
                      <a:round/>
                      <a:headEnd type="none" w="med" len="med"/>
                      <a:tailEnd type="none" w="med" len="med"/>
                    </a:lnL>
                  </a:tcPr>
                </a:tc>
                <a:extLst>
                  <a:ext uri="{0D108BD9-81ED-4DB2-BD59-A6C34878D82A}">
                    <a16:rowId xmlns:a16="http://schemas.microsoft.com/office/drawing/2014/main" val="808368982"/>
                  </a:ext>
                </a:extLst>
              </a:tr>
              <a:tr h="150223">
                <a:tc>
                  <a:txBody>
                    <a:bodyPr/>
                    <a:lstStyle/>
                    <a:p>
                      <a:pPr algn="ctr"/>
                      <a:r>
                        <a:rPr lang="es-MX" sz="1400" kern="1200">
                          <a:solidFill>
                            <a:srgbClr val="4E696D"/>
                          </a:solidFill>
                        </a:rPr>
                        <a:t>Media</a:t>
                      </a:r>
                      <a:endParaRPr lang="es-CL" sz="14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R w="12700" cap="flat" cmpd="sng" algn="ctr">
                      <a:solidFill>
                        <a:schemeClr val="accent2"/>
                      </a:solidFill>
                      <a:prstDash val="solid"/>
                      <a:round/>
                      <a:headEnd type="none" w="med" len="med"/>
                      <a:tailEnd type="none" w="med" len="med"/>
                    </a:lnR>
                  </a:tcPr>
                </a:tc>
                <a:tc>
                  <a:txBody>
                    <a:bodyPr/>
                    <a:lstStyle/>
                    <a:p>
                      <a:pPr algn="ctr"/>
                      <a:r>
                        <a:rPr lang="es-CL" sz="1400" kern="1200">
                          <a:solidFill>
                            <a:srgbClr val="4E696D"/>
                          </a:solidFill>
                        </a:rPr>
                        <a:t>1.67 millones</a:t>
                      </a:r>
                      <a:endParaRPr lang="es-CL" sz="14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tcPr>
                </a:tc>
                <a:extLst>
                  <a:ext uri="{0D108BD9-81ED-4DB2-BD59-A6C34878D82A}">
                    <a16:rowId xmlns:a16="http://schemas.microsoft.com/office/drawing/2014/main" val="2079775632"/>
                  </a:ext>
                </a:extLst>
              </a:tr>
              <a:tr h="150223">
                <a:tc>
                  <a:txBody>
                    <a:bodyPr/>
                    <a:lstStyle/>
                    <a:p>
                      <a:pPr algn="ctr"/>
                      <a:r>
                        <a:rPr lang="es-MX" sz="1400" kern="1200">
                          <a:solidFill>
                            <a:srgbClr val="4E696D"/>
                          </a:solidFill>
                        </a:rPr>
                        <a:t>Moda</a:t>
                      </a:r>
                      <a:endParaRPr lang="es-CL" sz="14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R w="12700" cap="flat" cmpd="sng" algn="ctr">
                      <a:solidFill>
                        <a:schemeClr val="accent2"/>
                      </a:solidFill>
                      <a:prstDash val="solid"/>
                      <a:round/>
                      <a:headEnd type="none" w="med" len="med"/>
                      <a:tailEnd type="none" w="med" len="med"/>
                    </a:lnR>
                  </a:tcPr>
                </a:tc>
                <a:tc>
                  <a:txBody>
                    <a:bodyPr/>
                    <a:lstStyle/>
                    <a:p>
                      <a:pPr algn="ctr"/>
                      <a:r>
                        <a:rPr lang="es-CL" sz="1400" kern="1200">
                          <a:solidFill>
                            <a:srgbClr val="4E696D"/>
                          </a:solidFill>
                        </a:rPr>
                        <a:t>1.50 millones</a:t>
                      </a:r>
                      <a:endParaRPr lang="es-CL" sz="14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tcPr>
                </a:tc>
                <a:extLst>
                  <a:ext uri="{0D108BD9-81ED-4DB2-BD59-A6C34878D82A}">
                    <a16:rowId xmlns:a16="http://schemas.microsoft.com/office/drawing/2014/main" val="519710073"/>
                  </a:ext>
                </a:extLst>
              </a:tr>
              <a:tr h="150223">
                <a:tc>
                  <a:txBody>
                    <a:bodyPr/>
                    <a:lstStyle/>
                    <a:p>
                      <a:pPr algn="ctr"/>
                      <a:r>
                        <a:rPr lang="es-MX" sz="1400" kern="1200">
                          <a:solidFill>
                            <a:srgbClr val="4E696D"/>
                          </a:solidFill>
                        </a:rPr>
                        <a:t>Mínimo </a:t>
                      </a:r>
                      <a:endParaRPr lang="es-CL" sz="14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R w="12700" cap="flat" cmpd="sng" algn="ctr">
                      <a:solidFill>
                        <a:schemeClr val="accent2"/>
                      </a:solidFill>
                      <a:prstDash val="solid"/>
                      <a:round/>
                      <a:headEnd type="none" w="med" len="med"/>
                      <a:tailEnd type="none" w="med" len="med"/>
                    </a:lnR>
                  </a:tcPr>
                </a:tc>
                <a:tc>
                  <a:txBody>
                    <a:bodyPr/>
                    <a:lstStyle/>
                    <a:p>
                      <a:pPr algn="ctr"/>
                      <a:r>
                        <a:rPr lang="es-CL" sz="1400" kern="1200">
                          <a:solidFill>
                            <a:srgbClr val="4E696D"/>
                          </a:solidFill>
                        </a:rPr>
                        <a:t>1.00 millones</a:t>
                      </a:r>
                      <a:endParaRPr lang="es-CL" sz="14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tcPr>
                </a:tc>
                <a:extLst>
                  <a:ext uri="{0D108BD9-81ED-4DB2-BD59-A6C34878D82A}">
                    <a16:rowId xmlns:a16="http://schemas.microsoft.com/office/drawing/2014/main" val="2689548680"/>
                  </a:ext>
                </a:extLst>
              </a:tr>
              <a:tr h="150223">
                <a:tc>
                  <a:txBody>
                    <a:bodyPr/>
                    <a:lstStyle/>
                    <a:p>
                      <a:pPr algn="ctr"/>
                      <a:r>
                        <a:rPr lang="es-MX" sz="1400" kern="1200">
                          <a:solidFill>
                            <a:srgbClr val="4E696D"/>
                          </a:solidFill>
                        </a:rPr>
                        <a:t>Máximo</a:t>
                      </a:r>
                      <a:endParaRPr lang="es-CL" sz="14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R w="12700" cap="flat" cmpd="sng" algn="ctr">
                      <a:solidFill>
                        <a:schemeClr val="accent2"/>
                      </a:solidFill>
                      <a:prstDash val="solid"/>
                      <a:round/>
                      <a:headEnd type="none" w="med" len="med"/>
                      <a:tailEnd type="none" w="med" len="med"/>
                    </a:lnR>
                  </a:tcPr>
                </a:tc>
                <a:tc>
                  <a:txBody>
                    <a:bodyPr/>
                    <a:lstStyle/>
                    <a:p>
                      <a:pPr algn="ctr"/>
                      <a:r>
                        <a:rPr lang="es-CL" sz="1400" kern="1200">
                          <a:solidFill>
                            <a:srgbClr val="4E696D"/>
                          </a:solidFill>
                        </a:rPr>
                        <a:t>2.70 millones</a:t>
                      </a:r>
                      <a:endParaRPr lang="es-CL" sz="14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tcPr>
                </a:tc>
                <a:extLst>
                  <a:ext uri="{0D108BD9-81ED-4DB2-BD59-A6C34878D82A}">
                    <a16:rowId xmlns:a16="http://schemas.microsoft.com/office/drawing/2014/main" val="3458774989"/>
                  </a:ext>
                </a:extLst>
              </a:tr>
            </a:tbl>
          </a:graphicData>
        </a:graphic>
      </p:graphicFrame>
      <p:sp>
        <p:nvSpPr>
          <p:cNvPr id="14" name="Rectángulo 13">
            <a:extLst>
              <a:ext uri="{FF2B5EF4-FFF2-40B4-BE49-F238E27FC236}">
                <a16:creationId xmlns:a16="http://schemas.microsoft.com/office/drawing/2014/main" id="{4DCF9E84-E8E6-A06B-739B-05E2B165954F}"/>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5" name="Rectángulo 14">
            <a:extLst>
              <a:ext uri="{FF2B5EF4-FFF2-40B4-BE49-F238E27FC236}">
                <a16:creationId xmlns:a16="http://schemas.microsoft.com/office/drawing/2014/main" id="{2735CA0A-AEB6-0F8B-E724-69EED07B809E}"/>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6" name="Rectángulo 15">
            <a:extLst>
              <a:ext uri="{FF2B5EF4-FFF2-40B4-BE49-F238E27FC236}">
                <a16:creationId xmlns:a16="http://schemas.microsoft.com/office/drawing/2014/main" id="{71740025-88B3-1A66-2EC3-5E675F44A761}"/>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7" name="Rectángulo 16">
            <a:extLst>
              <a:ext uri="{FF2B5EF4-FFF2-40B4-BE49-F238E27FC236}">
                <a16:creationId xmlns:a16="http://schemas.microsoft.com/office/drawing/2014/main" id="{E4C4EC4B-E680-3ED2-CE33-FA4A98D384EC}"/>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8" name="Rectángulo 17">
            <a:extLst>
              <a:ext uri="{FF2B5EF4-FFF2-40B4-BE49-F238E27FC236}">
                <a16:creationId xmlns:a16="http://schemas.microsoft.com/office/drawing/2014/main" id="{F339B9F6-7E2E-A305-0BAF-89F4E31B9525}"/>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9" name="Rectángulo 18">
            <a:extLst>
              <a:ext uri="{FF2B5EF4-FFF2-40B4-BE49-F238E27FC236}">
                <a16:creationId xmlns:a16="http://schemas.microsoft.com/office/drawing/2014/main" id="{92E016C4-46F2-4F3E-E0FD-CE1AB05BFB9C}"/>
              </a:ext>
            </a:extLst>
          </p:cNvPr>
          <p:cNvSpPr/>
          <p:nvPr/>
        </p:nvSpPr>
        <p:spPr>
          <a:xfrm>
            <a:off x="984251" y="354693"/>
            <a:ext cx="1047386"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20" name="Rectángulo 19">
            <a:extLst>
              <a:ext uri="{FF2B5EF4-FFF2-40B4-BE49-F238E27FC236}">
                <a16:creationId xmlns:a16="http://schemas.microsoft.com/office/drawing/2014/main" id="{8CAA25EE-59F4-B45F-017D-B2E48D4C78F0}"/>
              </a:ext>
            </a:extLst>
          </p:cNvPr>
          <p:cNvSpPr/>
          <p:nvPr/>
        </p:nvSpPr>
        <p:spPr>
          <a:xfrm>
            <a:off x="2031637" y="354694"/>
            <a:ext cx="10020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dirty="0"/>
              <a:t>LATE SEED</a:t>
            </a:r>
          </a:p>
        </p:txBody>
      </p:sp>
    </p:spTree>
    <p:extLst>
      <p:ext uri="{BB962C8B-B14F-4D97-AF65-F5344CB8AC3E}">
        <p14:creationId xmlns:p14="http://schemas.microsoft.com/office/powerpoint/2010/main" val="25132086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15">
            <a:extLst>
              <a:ext uri="{FF2B5EF4-FFF2-40B4-BE49-F238E27FC236}">
                <a16:creationId xmlns:a16="http://schemas.microsoft.com/office/drawing/2014/main" id="{3149C5A3-F2A1-871F-60E4-5171FFC226C8}"/>
              </a:ext>
            </a:extLst>
          </p:cNvPr>
          <p:cNvGraphicFramePr>
            <a:graphicFrameLocks noGrp="1"/>
          </p:cNvGraphicFramePr>
          <p:nvPr/>
        </p:nvGraphicFramePr>
        <p:xfrm>
          <a:off x="483735" y="1602190"/>
          <a:ext cx="10874375" cy="82296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Scorecard</a:t>
                      </a:r>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 </a:t>
                      </a:r>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Valuation</a:t>
                      </a:r>
                      <a:endPar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endParaRPr>
                    </a:p>
                    <a:p>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Este enfoque se basa en la comparación del startup con otros startups similares en su sector o industria. Es una adaptación del método Berkus, que adicionalmente considera la inversión adicional y el mercado total.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t>
                      </a: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7" name="Rectángulo 6">
            <a:extLst>
              <a:ext uri="{FF2B5EF4-FFF2-40B4-BE49-F238E27FC236}">
                <a16:creationId xmlns:a16="http://schemas.microsoft.com/office/drawing/2014/main" id="{F4A57127-A20E-171B-3E74-52B5C7E12CB7}"/>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latin typeface="+mj-lt"/>
              </a:rPr>
              <a:t>3</a:t>
            </a:r>
          </a:p>
        </p:txBody>
      </p:sp>
      <p:sp>
        <p:nvSpPr>
          <p:cNvPr id="11" name="Title 5">
            <a:extLst>
              <a:ext uri="{FF2B5EF4-FFF2-40B4-BE49-F238E27FC236}">
                <a16:creationId xmlns:a16="http://schemas.microsoft.com/office/drawing/2014/main" id="{CF142A42-5986-EBAD-D8DD-BE6DA72A35C8}"/>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Ejemplo Scorecard Valuation</a:t>
            </a:r>
            <a:endParaRPr lang="es-CL" sz="2400" b="1">
              <a:solidFill>
                <a:schemeClr val="accent2"/>
              </a:solidFill>
            </a:endParaRPr>
          </a:p>
        </p:txBody>
      </p:sp>
      <p:sp>
        <p:nvSpPr>
          <p:cNvPr id="12" name="CuadroTexto 11">
            <a:extLst>
              <a:ext uri="{FF2B5EF4-FFF2-40B4-BE49-F238E27FC236}">
                <a16:creationId xmlns:a16="http://schemas.microsoft.com/office/drawing/2014/main" id="{C230F986-350A-A8E4-9B3E-50C002A5BDF8}"/>
              </a:ext>
            </a:extLst>
          </p:cNvPr>
          <p:cNvSpPr txBox="1"/>
          <p:nvPr/>
        </p:nvSpPr>
        <p:spPr>
          <a:xfrm>
            <a:off x="658810" y="2551837"/>
            <a:ext cx="10874377" cy="830997"/>
          </a:xfrm>
          <a:prstGeom prst="rect">
            <a:avLst/>
          </a:prstGeom>
          <a:noFill/>
        </p:spPr>
        <p:txBody>
          <a:bodyPr wrap="square">
            <a:spAutoFit/>
          </a:bodyPr>
          <a:lstStyle/>
          <a:p>
            <a:pPr algn="just">
              <a:defRPr/>
            </a:pPr>
            <a:r>
              <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Después del análisis comparativo, se procede a asignar factores de comparación a los pesos relativos, los cuales fueron previamente identificados. En nuestro ejemplo, todos los factores tienen el valor relativo máximo, sumando 100%. Para asignar los porcentajes comparativos, se debe realizar un análisis extenso de la industria.</a:t>
            </a:r>
            <a:endParaRPr lang="es-CL"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endParaRPr kumimoji="0" lang="es-MX" sz="1200" i="0"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p:txBody>
      </p:sp>
      <p:graphicFrame>
        <p:nvGraphicFramePr>
          <p:cNvPr id="13" name="Tabla 6">
            <a:extLst>
              <a:ext uri="{FF2B5EF4-FFF2-40B4-BE49-F238E27FC236}">
                <a16:creationId xmlns:a16="http://schemas.microsoft.com/office/drawing/2014/main" id="{7F5F7545-2987-69A4-C506-33C39D0ECD45}"/>
              </a:ext>
            </a:extLst>
          </p:cNvPr>
          <p:cNvGraphicFramePr>
            <a:graphicFrameLocks noGrp="1"/>
          </p:cNvGraphicFramePr>
          <p:nvPr/>
        </p:nvGraphicFramePr>
        <p:xfrm>
          <a:off x="2032000" y="3360902"/>
          <a:ext cx="8128000" cy="2514600"/>
        </p:xfrm>
        <a:graphic>
          <a:graphicData uri="http://schemas.openxmlformats.org/drawingml/2006/table">
            <a:tbl>
              <a:tblPr firstRow="1" bandRow="1">
                <a:tableStyleId>{72833802-FEF1-4C79-8D5D-14CF1EAF98D9}</a:tableStyleId>
              </a:tblPr>
              <a:tblGrid>
                <a:gridCol w="2032000">
                  <a:extLst>
                    <a:ext uri="{9D8B030D-6E8A-4147-A177-3AD203B41FA5}">
                      <a16:colId xmlns:a16="http://schemas.microsoft.com/office/drawing/2014/main" val="500627610"/>
                    </a:ext>
                  </a:extLst>
                </a:gridCol>
                <a:gridCol w="2032000">
                  <a:extLst>
                    <a:ext uri="{9D8B030D-6E8A-4147-A177-3AD203B41FA5}">
                      <a16:colId xmlns:a16="http://schemas.microsoft.com/office/drawing/2014/main" val="4276980575"/>
                    </a:ext>
                  </a:extLst>
                </a:gridCol>
                <a:gridCol w="2032000">
                  <a:extLst>
                    <a:ext uri="{9D8B030D-6E8A-4147-A177-3AD203B41FA5}">
                      <a16:colId xmlns:a16="http://schemas.microsoft.com/office/drawing/2014/main" val="1554742130"/>
                    </a:ext>
                  </a:extLst>
                </a:gridCol>
                <a:gridCol w="2032000">
                  <a:extLst>
                    <a:ext uri="{9D8B030D-6E8A-4147-A177-3AD203B41FA5}">
                      <a16:colId xmlns:a16="http://schemas.microsoft.com/office/drawing/2014/main" val="4148741883"/>
                    </a:ext>
                  </a:extLst>
                </a:gridCol>
              </a:tblGrid>
              <a:tr h="228197">
                <a:tc>
                  <a:txBody>
                    <a:bodyPr/>
                    <a:lstStyle/>
                    <a:p>
                      <a:pPr algn="ctr"/>
                      <a:r>
                        <a:rPr lang="es-MX" sz="1200"/>
                        <a:t>Factor</a:t>
                      </a:r>
                      <a:endParaRPr lang="es-CL" sz="1200"/>
                    </a:p>
                  </a:txBody>
                  <a:tcPr>
                    <a:lnB w="12700" cap="flat" cmpd="sng" algn="ctr">
                      <a:solidFill>
                        <a:schemeClr val="accent2"/>
                      </a:solidFill>
                      <a:prstDash val="solid"/>
                      <a:round/>
                      <a:headEnd type="none" w="med" len="med"/>
                      <a:tailEnd type="none" w="med" len="med"/>
                    </a:lnB>
                  </a:tcPr>
                </a:tc>
                <a:tc>
                  <a:txBody>
                    <a:bodyPr/>
                    <a:lstStyle/>
                    <a:p>
                      <a:pPr algn="ctr"/>
                      <a:r>
                        <a:rPr lang="es-MX" sz="1200"/>
                        <a:t>Peso Relativo</a:t>
                      </a:r>
                      <a:endParaRPr lang="es-CL" sz="1200"/>
                    </a:p>
                  </a:txBody>
                  <a:tcPr>
                    <a:lnB w="12700" cap="flat" cmpd="sng" algn="ctr">
                      <a:solidFill>
                        <a:schemeClr val="accent2"/>
                      </a:solidFill>
                      <a:prstDash val="solid"/>
                      <a:round/>
                      <a:headEnd type="none" w="med" len="med"/>
                      <a:tailEnd type="none" w="med" len="med"/>
                    </a:lnB>
                  </a:tcPr>
                </a:tc>
                <a:tc>
                  <a:txBody>
                    <a:bodyPr/>
                    <a:lstStyle/>
                    <a:p>
                      <a:pPr algn="ctr"/>
                      <a:r>
                        <a:rPr lang="es-MX" sz="1200"/>
                        <a:t>% Comparativo</a:t>
                      </a:r>
                      <a:endParaRPr lang="es-CL" sz="1200"/>
                    </a:p>
                  </a:txBody>
                  <a:tcPr>
                    <a:lnB w="12700" cap="flat" cmpd="sng" algn="ctr">
                      <a:solidFill>
                        <a:schemeClr val="accent2"/>
                      </a:solidFill>
                      <a:prstDash val="solid"/>
                      <a:round/>
                      <a:headEnd type="none" w="med" len="med"/>
                      <a:tailEnd type="none" w="med" len="med"/>
                    </a:lnB>
                  </a:tcPr>
                </a:tc>
                <a:tc>
                  <a:txBody>
                    <a:bodyPr/>
                    <a:lstStyle/>
                    <a:p>
                      <a:pPr algn="ctr"/>
                      <a:r>
                        <a:rPr lang="es-MX" sz="1200"/>
                        <a:t>Factor (</a:t>
                      </a:r>
                      <a:r>
                        <a:rPr lang="es-MX" sz="1200" err="1"/>
                        <a:t>PRxC</a:t>
                      </a:r>
                      <a:r>
                        <a:rPr lang="es-MX" sz="1200"/>
                        <a:t>)</a:t>
                      </a:r>
                      <a:endParaRPr lang="es-CL" sz="1200"/>
                    </a:p>
                  </a:txBody>
                  <a:tcPr>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86202135"/>
                  </a:ext>
                </a:extLst>
              </a:tr>
              <a:tr h="228197">
                <a:tc>
                  <a:txBody>
                    <a:bodyPr/>
                    <a:lstStyle/>
                    <a:p>
                      <a:pPr algn="ctr"/>
                      <a:r>
                        <a:rPr lang="es-MX" sz="1100" kern="1200">
                          <a:solidFill>
                            <a:srgbClr val="4E696D"/>
                          </a:solidFill>
                        </a:rPr>
                        <a:t>Equipo Fundador</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30%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100%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0,300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886774892"/>
                  </a:ext>
                </a:extLst>
              </a:tr>
              <a:tr h="228197">
                <a:tc>
                  <a:txBody>
                    <a:bodyPr/>
                    <a:lstStyle/>
                    <a:p>
                      <a:pPr algn="ctr"/>
                      <a:r>
                        <a:rPr lang="es-MX" sz="1100" kern="1200">
                          <a:solidFill>
                            <a:srgbClr val="4E696D"/>
                          </a:solidFill>
                        </a:rPr>
                        <a:t>Tamaño del Mercado</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25%</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125%</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0,3125</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494449965"/>
                  </a:ext>
                </a:extLst>
              </a:tr>
              <a:tr h="228197">
                <a:tc>
                  <a:txBody>
                    <a:bodyPr/>
                    <a:lstStyle/>
                    <a:p>
                      <a:pPr algn="ctr"/>
                      <a:r>
                        <a:rPr lang="es-MX" sz="1100" kern="1200">
                          <a:solidFill>
                            <a:srgbClr val="4E696D"/>
                          </a:solidFill>
                        </a:rPr>
                        <a:t>Producto y Tecnología</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15%</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150%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0,2250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510241924"/>
                  </a:ext>
                </a:extLst>
              </a:tr>
              <a:tr h="228197">
                <a:tc>
                  <a:txBody>
                    <a:bodyPr/>
                    <a:lstStyle/>
                    <a:p>
                      <a:pPr algn="ctr"/>
                      <a:r>
                        <a:rPr lang="es-MX" sz="1100" kern="1200">
                          <a:solidFill>
                            <a:srgbClr val="4E696D"/>
                          </a:solidFill>
                        </a:rPr>
                        <a:t>Entorno Competitivo</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10%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80%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0,080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806104071"/>
                  </a:ext>
                </a:extLst>
              </a:tr>
              <a:tr h="228197">
                <a:tc>
                  <a:txBody>
                    <a:bodyPr/>
                    <a:lstStyle/>
                    <a:p>
                      <a:pPr algn="ctr"/>
                      <a:r>
                        <a:rPr lang="es-MX" sz="1100" kern="1200">
                          <a:solidFill>
                            <a:srgbClr val="4E696D"/>
                          </a:solidFill>
                        </a:rPr>
                        <a:t>Tracción</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10%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100%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0,100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64499824"/>
                  </a:ext>
                </a:extLst>
              </a:tr>
              <a:tr h="262583">
                <a:tc>
                  <a:txBody>
                    <a:bodyPr/>
                    <a:lstStyle/>
                    <a:p>
                      <a:pPr algn="ctr"/>
                      <a:r>
                        <a:rPr lang="es-MX" sz="1100" kern="1200">
                          <a:solidFill>
                            <a:srgbClr val="4E696D"/>
                          </a:solidFill>
                        </a:rPr>
                        <a:t>Necesidad extra de Financiación</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5%</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100%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0,050</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4185987314"/>
                  </a:ext>
                </a:extLst>
              </a:tr>
              <a:tr h="228197">
                <a:tc>
                  <a:txBody>
                    <a:bodyPr/>
                    <a:lstStyle/>
                    <a:p>
                      <a:pPr algn="ctr"/>
                      <a:r>
                        <a:rPr lang="es-MX" sz="1100" kern="1200">
                          <a:solidFill>
                            <a:srgbClr val="4E696D"/>
                          </a:solidFill>
                        </a:rPr>
                        <a:t>Otros </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5%</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125%</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pPr algn="ctr"/>
                      <a:r>
                        <a:rPr lang="es-MX" sz="1100" kern="1200">
                          <a:solidFill>
                            <a:srgbClr val="4E696D"/>
                          </a:solidFill>
                        </a:rPr>
                        <a:t>0,0625</a:t>
                      </a:r>
                      <a:endParaRPr lang="es-CL" sz="11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477235461"/>
                  </a:ext>
                </a:extLst>
              </a:tr>
              <a:tr h="228197">
                <a:tc>
                  <a:txBody>
                    <a:bodyPr/>
                    <a:lstStyle/>
                    <a:p>
                      <a:pPr algn="ctr"/>
                      <a:r>
                        <a:rPr lang="es-MX" sz="1100" b="1" kern="1200">
                          <a:solidFill>
                            <a:srgbClr val="4E696D"/>
                          </a:solidFill>
                        </a:rPr>
                        <a:t>TOTAL</a:t>
                      </a:r>
                      <a:endParaRPr lang="es-CL" sz="1100" b="1"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T w="12700" cap="flat" cmpd="sng" algn="ctr">
                      <a:solidFill>
                        <a:schemeClr val="accent2"/>
                      </a:solidFill>
                      <a:prstDash val="solid"/>
                      <a:round/>
                      <a:headEnd type="none" w="med" len="med"/>
                      <a:tailEnd type="none" w="med" len="med"/>
                    </a:lnT>
                  </a:tcPr>
                </a:tc>
                <a:tc>
                  <a:txBody>
                    <a:bodyPr/>
                    <a:lstStyle/>
                    <a:p>
                      <a:pPr algn="ctr"/>
                      <a:endParaRPr lang="es-CL" sz="1100" b="1"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T w="12700" cap="flat" cmpd="sng" algn="ctr">
                      <a:solidFill>
                        <a:schemeClr val="accent2"/>
                      </a:solidFill>
                      <a:prstDash val="solid"/>
                      <a:round/>
                      <a:headEnd type="none" w="med" len="med"/>
                      <a:tailEnd type="none" w="med" len="med"/>
                    </a:lnT>
                  </a:tcPr>
                </a:tc>
                <a:tc>
                  <a:txBody>
                    <a:bodyPr/>
                    <a:lstStyle/>
                    <a:p>
                      <a:pPr algn="ctr"/>
                      <a:endParaRPr lang="es-CL" sz="1100" b="1"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T w="12700" cap="flat" cmpd="sng" algn="ctr">
                      <a:solidFill>
                        <a:schemeClr val="accent2"/>
                      </a:solidFill>
                      <a:prstDash val="solid"/>
                      <a:round/>
                      <a:headEnd type="none" w="med" len="med"/>
                      <a:tailEnd type="none" w="med" len="med"/>
                    </a:lnT>
                  </a:tcPr>
                </a:tc>
                <a:tc>
                  <a:txBody>
                    <a:bodyPr/>
                    <a:lstStyle/>
                    <a:p>
                      <a:pPr algn="ctr"/>
                      <a:r>
                        <a:rPr lang="es-MX" sz="1100" b="1" kern="1200" dirty="0">
                          <a:solidFill>
                            <a:srgbClr val="4E696D"/>
                          </a:solidFill>
                        </a:rPr>
                        <a:t>1,130</a:t>
                      </a:r>
                      <a:endParaRPr lang="es-CL" sz="1100" b="1"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T w="12700" cap="flat" cmpd="sng" algn="ctr">
                      <a:solidFill>
                        <a:schemeClr val="accent2"/>
                      </a:solidFill>
                      <a:prstDash val="solid"/>
                      <a:round/>
                      <a:headEnd type="none" w="med" len="med"/>
                      <a:tailEnd type="none" w="med" len="med"/>
                    </a:lnT>
                  </a:tcPr>
                </a:tc>
                <a:extLst>
                  <a:ext uri="{0D108BD9-81ED-4DB2-BD59-A6C34878D82A}">
                    <a16:rowId xmlns:a16="http://schemas.microsoft.com/office/drawing/2014/main" val="2337864208"/>
                  </a:ext>
                </a:extLst>
              </a:tr>
            </a:tbl>
          </a:graphicData>
        </a:graphic>
      </p:graphicFrame>
      <p:sp>
        <p:nvSpPr>
          <p:cNvPr id="14" name="Rectángulo 13">
            <a:extLst>
              <a:ext uri="{FF2B5EF4-FFF2-40B4-BE49-F238E27FC236}">
                <a16:creationId xmlns:a16="http://schemas.microsoft.com/office/drawing/2014/main" id="{32EC7DC6-D0DB-6915-6B0C-732331830CE5}"/>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5" name="Rectángulo 14">
            <a:extLst>
              <a:ext uri="{FF2B5EF4-FFF2-40B4-BE49-F238E27FC236}">
                <a16:creationId xmlns:a16="http://schemas.microsoft.com/office/drawing/2014/main" id="{77A0B6F1-E259-FDCA-587E-7C6D36B115E3}"/>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6" name="Rectángulo 15">
            <a:extLst>
              <a:ext uri="{FF2B5EF4-FFF2-40B4-BE49-F238E27FC236}">
                <a16:creationId xmlns:a16="http://schemas.microsoft.com/office/drawing/2014/main" id="{985EF0D6-4DEC-85B9-B8C8-5D848883025C}"/>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7" name="Rectángulo 16">
            <a:extLst>
              <a:ext uri="{FF2B5EF4-FFF2-40B4-BE49-F238E27FC236}">
                <a16:creationId xmlns:a16="http://schemas.microsoft.com/office/drawing/2014/main" id="{4EB43DDD-7B82-1870-DF7C-C063BF6B5836}"/>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8" name="Rectángulo 17">
            <a:extLst>
              <a:ext uri="{FF2B5EF4-FFF2-40B4-BE49-F238E27FC236}">
                <a16:creationId xmlns:a16="http://schemas.microsoft.com/office/drawing/2014/main" id="{B8ED3D33-D5F8-D4B9-3AA2-0D6BA156C85A}"/>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9" name="Rectángulo 18">
            <a:extLst>
              <a:ext uri="{FF2B5EF4-FFF2-40B4-BE49-F238E27FC236}">
                <a16:creationId xmlns:a16="http://schemas.microsoft.com/office/drawing/2014/main" id="{04C6EDCD-9106-0956-7F9B-2ACA298F2151}"/>
              </a:ext>
            </a:extLst>
          </p:cNvPr>
          <p:cNvSpPr/>
          <p:nvPr/>
        </p:nvSpPr>
        <p:spPr>
          <a:xfrm>
            <a:off x="984251" y="354693"/>
            <a:ext cx="1047386"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20" name="Rectángulo 19">
            <a:extLst>
              <a:ext uri="{FF2B5EF4-FFF2-40B4-BE49-F238E27FC236}">
                <a16:creationId xmlns:a16="http://schemas.microsoft.com/office/drawing/2014/main" id="{296495E0-6028-6E3D-EA45-5063A352E129}"/>
              </a:ext>
            </a:extLst>
          </p:cNvPr>
          <p:cNvSpPr/>
          <p:nvPr/>
        </p:nvSpPr>
        <p:spPr>
          <a:xfrm>
            <a:off x="2031637" y="354694"/>
            <a:ext cx="10020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dirty="0"/>
              <a:t>LATE SEED</a:t>
            </a:r>
          </a:p>
        </p:txBody>
      </p:sp>
    </p:spTree>
    <p:extLst>
      <p:ext uri="{BB962C8B-B14F-4D97-AF65-F5344CB8AC3E}">
        <p14:creationId xmlns:p14="http://schemas.microsoft.com/office/powerpoint/2010/main" val="13503506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15">
            <a:extLst>
              <a:ext uri="{FF2B5EF4-FFF2-40B4-BE49-F238E27FC236}">
                <a16:creationId xmlns:a16="http://schemas.microsoft.com/office/drawing/2014/main" id="{B2C2DB49-FD78-6CF2-6F78-057CB1557544}"/>
              </a:ext>
            </a:extLst>
          </p:cNvPr>
          <p:cNvGraphicFramePr>
            <a:graphicFrameLocks noGrp="1"/>
          </p:cNvGraphicFramePr>
          <p:nvPr/>
        </p:nvGraphicFramePr>
        <p:xfrm>
          <a:off x="483735" y="1602190"/>
          <a:ext cx="10874375" cy="82296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Scorecard</a:t>
                      </a:r>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 </a:t>
                      </a:r>
                      <a:r>
                        <a:rPr lang="es-CL" sz="1400" b="1" kern="1200" err="1">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Valuation</a:t>
                      </a:r>
                      <a:endPar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endParaRPr>
                    </a:p>
                    <a:p>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Este enfoque se basa en la comparación del startup con otros startups similares en su sector o industria. Es una adaptación del método Berkus, que adicionalmente considera la inversión adicional y el mercado total.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t>
                      </a: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7" name="Rectángulo 6">
            <a:extLst>
              <a:ext uri="{FF2B5EF4-FFF2-40B4-BE49-F238E27FC236}">
                <a16:creationId xmlns:a16="http://schemas.microsoft.com/office/drawing/2014/main" id="{E21E9B95-0461-85A8-C763-38852CD2C87D}"/>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latin typeface="+mj-lt"/>
              </a:rPr>
              <a:t>3</a:t>
            </a:r>
          </a:p>
        </p:txBody>
      </p:sp>
      <p:sp>
        <p:nvSpPr>
          <p:cNvPr id="11" name="Title 5">
            <a:extLst>
              <a:ext uri="{FF2B5EF4-FFF2-40B4-BE49-F238E27FC236}">
                <a16:creationId xmlns:a16="http://schemas.microsoft.com/office/drawing/2014/main" id="{6170F4AF-1D83-D2D7-C4F0-5BF76D066642}"/>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Ejemplo Scorecard Valuation</a:t>
            </a:r>
            <a:endParaRPr lang="es-CL" sz="2400" b="1">
              <a:solidFill>
                <a:schemeClr val="accent2"/>
              </a:solidFill>
            </a:endParaRPr>
          </a:p>
        </p:txBody>
      </p:sp>
      <p:sp>
        <p:nvSpPr>
          <p:cNvPr id="13" name="CuadroTexto 12">
            <a:extLst>
              <a:ext uri="{FF2B5EF4-FFF2-40B4-BE49-F238E27FC236}">
                <a16:creationId xmlns:a16="http://schemas.microsoft.com/office/drawing/2014/main" id="{94AB30A4-B38D-0DC3-A709-C474A4077350}"/>
              </a:ext>
            </a:extLst>
          </p:cNvPr>
          <p:cNvSpPr txBox="1"/>
          <p:nvPr/>
        </p:nvSpPr>
        <p:spPr>
          <a:xfrm>
            <a:off x="658811" y="2813268"/>
            <a:ext cx="10874377" cy="954107"/>
          </a:xfrm>
          <a:prstGeom prst="rect">
            <a:avLst/>
          </a:prstGeom>
          <a:noFill/>
        </p:spPr>
        <p:txBody>
          <a:bodyPr wrap="square">
            <a:spAutoFit/>
          </a:bodyPr>
          <a:lstStyle/>
          <a:p>
            <a:pPr algn="just">
              <a:defRPr/>
            </a:pPr>
            <a:r>
              <a:rPr kumimoji="0" lang="es-MX" sz="14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Finalmente, se calcula la valoración del startup </a:t>
            </a:r>
            <a:r>
              <a:rPr kumimoji="0" lang="es-MX" sz="1400" b="1"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multiplicando la suma de factores</a:t>
            </a:r>
            <a:r>
              <a:rPr kumimoji="0" lang="es-MX" sz="14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(1,1300) </a:t>
            </a:r>
            <a:r>
              <a:rPr kumimoji="0" lang="es-MX" sz="1400" b="1"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por la moda de la valoración pre-money </a:t>
            </a:r>
            <a:r>
              <a:rPr kumimoji="0" lang="es-MX" sz="14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(US$ 1.50 millones). Esto nos brinda una valoración final del startup de US$ 1.695 millones, </a:t>
            </a:r>
            <a:r>
              <a:rPr kumimoji="0" lang="es-MX" sz="1400" b="1"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tomando en cuenta tanto los datos de competidores como los factores específicos del startup.</a:t>
            </a:r>
            <a:endParaRPr lang="es-CL" sz="14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endParaRPr kumimoji="0" lang="es-MX" sz="14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p:txBody>
      </p:sp>
      <p:pic>
        <p:nvPicPr>
          <p:cNvPr id="14" name="Imagen 13">
            <a:extLst>
              <a:ext uri="{FF2B5EF4-FFF2-40B4-BE49-F238E27FC236}">
                <a16:creationId xmlns:a16="http://schemas.microsoft.com/office/drawing/2014/main" id="{3D44B17E-1D5B-BAB6-5E09-CEEA58BC21B5}"/>
              </a:ext>
            </a:extLst>
          </p:cNvPr>
          <p:cNvPicPr>
            <a:picLocks noChangeAspect="1"/>
          </p:cNvPicPr>
          <p:nvPr/>
        </p:nvPicPr>
        <p:blipFill>
          <a:blip r:embed="rId2"/>
          <a:stretch>
            <a:fillRect/>
          </a:stretch>
        </p:blipFill>
        <p:spPr>
          <a:xfrm>
            <a:off x="3528654" y="4029392"/>
            <a:ext cx="5134692" cy="1162212"/>
          </a:xfrm>
          <a:prstGeom prst="rect">
            <a:avLst/>
          </a:prstGeom>
        </p:spPr>
      </p:pic>
      <p:sp>
        <p:nvSpPr>
          <p:cNvPr id="15" name="Rectángulo 14">
            <a:extLst>
              <a:ext uri="{FF2B5EF4-FFF2-40B4-BE49-F238E27FC236}">
                <a16:creationId xmlns:a16="http://schemas.microsoft.com/office/drawing/2014/main" id="{1AA3D31E-D697-9D11-FB70-D534F01DA56B}"/>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6" name="Rectángulo 15">
            <a:extLst>
              <a:ext uri="{FF2B5EF4-FFF2-40B4-BE49-F238E27FC236}">
                <a16:creationId xmlns:a16="http://schemas.microsoft.com/office/drawing/2014/main" id="{CE6E1355-4DD5-5EBE-CE84-BFC1909D6DA6}"/>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7" name="Rectángulo 16">
            <a:extLst>
              <a:ext uri="{FF2B5EF4-FFF2-40B4-BE49-F238E27FC236}">
                <a16:creationId xmlns:a16="http://schemas.microsoft.com/office/drawing/2014/main" id="{05C352BF-6B1E-88D1-E79C-51719959C9E4}"/>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8" name="Rectángulo 17">
            <a:extLst>
              <a:ext uri="{FF2B5EF4-FFF2-40B4-BE49-F238E27FC236}">
                <a16:creationId xmlns:a16="http://schemas.microsoft.com/office/drawing/2014/main" id="{A02EF7BE-CF49-9FB9-D654-25F0511EAD49}"/>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9" name="Rectángulo 18">
            <a:extLst>
              <a:ext uri="{FF2B5EF4-FFF2-40B4-BE49-F238E27FC236}">
                <a16:creationId xmlns:a16="http://schemas.microsoft.com/office/drawing/2014/main" id="{4C8A6C0E-9595-44A7-17E9-E7C708B4C3A8}"/>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20" name="Rectángulo 19">
            <a:extLst>
              <a:ext uri="{FF2B5EF4-FFF2-40B4-BE49-F238E27FC236}">
                <a16:creationId xmlns:a16="http://schemas.microsoft.com/office/drawing/2014/main" id="{763304F8-78B5-C57D-4D9A-A7D2A5DB02DE}"/>
              </a:ext>
            </a:extLst>
          </p:cNvPr>
          <p:cNvSpPr/>
          <p:nvPr/>
        </p:nvSpPr>
        <p:spPr>
          <a:xfrm>
            <a:off x="984251" y="354693"/>
            <a:ext cx="1047386"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21" name="Rectángulo 20">
            <a:extLst>
              <a:ext uri="{FF2B5EF4-FFF2-40B4-BE49-F238E27FC236}">
                <a16:creationId xmlns:a16="http://schemas.microsoft.com/office/drawing/2014/main" id="{5C3AF29B-E3B1-EC03-FB6A-0284E5771D80}"/>
              </a:ext>
            </a:extLst>
          </p:cNvPr>
          <p:cNvSpPr/>
          <p:nvPr/>
        </p:nvSpPr>
        <p:spPr>
          <a:xfrm>
            <a:off x="2031637" y="354694"/>
            <a:ext cx="10020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dirty="0"/>
              <a:t>LATE SEED</a:t>
            </a:r>
          </a:p>
        </p:txBody>
      </p:sp>
    </p:spTree>
    <p:extLst>
      <p:ext uri="{BB962C8B-B14F-4D97-AF65-F5344CB8AC3E}">
        <p14:creationId xmlns:p14="http://schemas.microsoft.com/office/powerpoint/2010/main" val="29296900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E79B924C-9890-6C26-1DB4-071BFAFDDBC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98448" y="575840"/>
            <a:ext cx="10995103" cy="5706319"/>
          </a:xfrm>
          <a:prstGeom prst="rect">
            <a:avLst/>
          </a:prstGeom>
        </p:spPr>
      </p:pic>
    </p:spTree>
    <p:extLst>
      <p:ext uri="{BB962C8B-B14F-4D97-AF65-F5344CB8AC3E}">
        <p14:creationId xmlns:p14="http://schemas.microsoft.com/office/powerpoint/2010/main" val="18566687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15">
            <a:extLst>
              <a:ext uri="{FF2B5EF4-FFF2-40B4-BE49-F238E27FC236}">
                <a16:creationId xmlns:a16="http://schemas.microsoft.com/office/drawing/2014/main" id="{4BF3F3A9-7530-DD7F-5326-B4C028C18CE6}"/>
              </a:ext>
            </a:extLst>
          </p:cNvPr>
          <p:cNvGraphicFramePr>
            <a:graphicFrameLocks noGrp="1"/>
          </p:cNvGraphicFramePr>
          <p:nvPr/>
        </p:nvGraphicFramePr>
        <p:xfrm>
          <a:off x="483735" y="1602190"/>
          <a:ext cx="10874375" cy="64008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Método Venture Capital</a:t>
                      </a:r>
                    </a:p>
                    <a:p>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El Método de Valorización de Venture Capital, desarrollado por el profesor Bill Sahlman, es un enfoque que </a:t>
                      </a:r>
                      <a:r>
                        <a:rPr kumimoji="0" lang="es-MX" sz="12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 basa en estimar el valor actual de un startup en base a las expectativas de retorno futuras de un inversor.</a:t>
                      </a: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t>
                      </a: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7" name="Rectángulo 6">
            <a:extLst>
              <a:ext uri="{FF2B5EF4-FFF2-40B4-BE49-F238E27FC236}">
                <a16:creationId xmlns:a16="http://schemas.microsoft.com/office/drawing/2014/main" id="{E611412C-962B-A33C-54BC-CF9AD73F2B02}"/>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latin typeface="+mj-lt"/>
              </a:rPr>
              <a:t>4</a:t>
            </a:r>
          </a:p>
        </p:txBody>
      </p:sp>
      <p:sp>
        <p:nvSpPr>
          <p:cNvPr id="11" name="Title 5">
            <a:extLst>
              <a:ext uri="{FF2B5EF4-FFF2-40B4-BE49-F238E27FC236}">
                <a16:creationId xmlns:a16="http://schemas.microsoft.com/office/drawing/2014/main" id="{600FD63B-B5F1-ADC8-0714-9020C5EBF2DD}"/>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Early Seed/Late Seed</a:t>
            </a:r>
            <a:endParaRPr lang="es-CL" sz="2400" b="1">
              <a:solidFill>
                <a:schemeClr val="accent2"/>
              </a:solidFill>
            </a:endParaRPr>
          </a:p>
        </p:txBody>
      </p:sp>
      <p:sp>
        <p:nvSpPr>
          <p:cNvPr id="12" name="CuadroTexto 11">
            <a:extLst>
              <a:ext uri="{FF2B5EF4-FFF2-40B4-BE49-F238E27FC236}">
                <a16:creationId xmlns:a16="http://schemas.microsoft.com/office/drawing/2014/main" id="{CD99C6E1-BDDB-F23F-9ADA-71B8310780F7}"/>
              </a:ext>
            </a:extLst>
          </p:cNvPr>
          <p:cNvSpPr txBox="1"/>
          <p:nvPr/>
        </p:nvSpPr>
        <p:spPr>
          <a:xfrm>
            <a:off x="658810" y="2551837"/>
            <a:ext cx="10874377" cy="3539430"/>
          </a:xfrm>
          <a:prstGeom prst="rect">
            <a:avLst/>
          </a:prstGeom>
          <a:noFill/>
        </p:spPr>
        <p:txBody>
          <a:bodyPr wrap="square">
            <a:spAutoFit/>
          </a:bodyPr>
          <a:lstStyle/>
          <a:p>
            <a:pPr algn="just">
              <a:defRPr/>
            </a:pPr>
            <a:r>
              <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El valor de un startup se calcula considerando su valor antes (Pre-Money) y después (Post-Money) de una ronda de financiación. La fórmula para calcular el valor Pre-Money es:</a:t>
            </a:r>
            <a:endParaRPr lang="es-MX" sz="1200" u="none"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endParaRPr lang="es-CL"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s-CL"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Valor Pre-Money = Valor Post-Money - Inversión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Para obtener el Valor Post-Money, usamos la siguiente ecuación: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Valor Post-Money = (Valor Terminal del startup / ROI)</a:t>
            </a:r>
          </a:p>
          <a:p>
            <a:pPr marR="0" lvl="0" algn="just" defTabSz="914400" rtl="0" eaLnBrk="1" fontAlgn="auto" latinLnBrk="0" hangingPunct="1">
              <a:lnSpc>
                <a:spcPct val="100000"/>
              </a:lnSpc>
              <a:spcBef>
                <a:spcPts val="0"/>
              </a:spcBef>
              <a:spcAft>
                <a:spcPts val="0"/>
              </a:spcAft>
              <a:buClrTx/>
              <a:buSzTx/>
              <a:tabLst/>
              <a:defRPr/>
            </a:pPr>
            <a:endPar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El Valor Terminal se refiere al valor que tendrá el startup cuando se produzca el ”exit” o el evento de desinversión en el futuro (es posible estimarlo en función del plan de negocios),</a:t>
            </a:r>
          </a:p>
          <a:p>
            <a:pPr marR="0" lvl="0" algn="just" defTabSz="914400" rtl="0" eaLnBrk="1" fontAlgn="auto" latinLnBrk="0" hangingPunct="1">
              <a:lnSpc>
                <a:spcPct val="100000"/>
              </a:lnSpc>
              <a:spcBef>
                <a:spcPts val="0"/>
              </a:spcBef>
              <a:spcAft>
                <a:spcPts val="0"/>
              </a:spcAft>
              <a:buClrTx/>
              <a:buSzTx/>
              <a:tabLst/>
              <a:defRPr/>
            </a:pPr>
            <a:r>
              <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Por otra parte, el ROI (Retorno de la Inversión) es la cifra por la que se espera multiplicar la inversión en el startup en términos económicos.</a:t>
            </a:r>
          </a:p>
          <a:p>
            <a:pPr marR="0" lvl="0" algn="just" defTabSz="914400" rtl="0" eaLnBrk="1" fontAlgn="auto" latinLnBrk="0" hangingPunct="1">
              <a:lnSpc>
                <a:spcPct val="100000"/>
              </a:lnSpc>
              <a:spcBef>
                <a:spcPts val="0"/>
              </a:spcBef>
              <a:spcAft>
                <a:spcPts val="0"/>
              </a:spcAft>
              <a:buClrTx/>
              <a:buSzTx/>
              <a:tabLst/>
              <a:defRPr/>
            </a:pPr>
            <a:endPar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algn="just">
              <a:defRPr/>
            </a:pPr>
            <a:r>
              <a:rPr lang="es-MX" sz="1100" i="1"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Nota : Es importante considerar que en este método se asume que no van a venderse más acciones del startup desde el momento de la ronda de financiación hasta su desinversión final. Por tanto, se asume que el porcentaje que adquiere el inversor se mantiene constante. Esta consideración implica una hipótesis irreal, pues como sabemos los startups tienen necesidad de financiación constante y es usual que emitan nuevas participaciones durante su ciclo de vida, produciendo así un efecto dilución de los primeros inversores.</a:t>
            </a:r>
            <a:endParaRPr lang="es-CL" sz="1100" i="1"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endParaRPr lang="es-CL"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algn="just">
              <a:defRPr/>
            </a:pP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p:txBody>
      </p:sp>
      <p:sp>
        <p:nvSpPr>
          <p:cNvPr id="13" name="Rectángulo 12">
            <a:extLst>
              <a:ext uri="{FF2B5EF4-FFF2-40B4-BE49-F238E27FC236}">
                <a16:creationId xmlns:a16="http://schemas.microsoft.com/office/drawing/2014/main" id="{006627DA-9985-6F9F-66EF-AEC92BE10F2A}"/>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4" name="Rectángulo 13">
            <a:extLst>
              <a:ext uri="{FF2B5EF4-FFF2-40B4-BE49-F238E27FC236}">
                <a16:creationId xmlns:a16="http://schemas.microsoft.com/office/drawing/2014/main" id="{8CF3B338-0838-A252-F307-D95F0B2F1C38}"/>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5" name="Rectángulo 14">
            <a:extLst>
              <a:ext uri="{FF2B5EF4-FFF2-40B4-BE49-F238E27FC236}">
                <a16:creationId xmlns:a16="http://schemas.microsoft.com/office/drawing/2014/main" id="{C784A8BB-B196-1FB8-C4F6-E595EE7A3956}"/>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6" name="Rectángulo 15">
            <a:extLst>
              <a:ext uri="{FF2B5EF4-FFF2-40B4-BE49-F238E27FC236}">
                <a16:creationId xmlns:a16="http://schemas.microsoft.com/office/drawing/2014/main" id="{13460F94-8590-3588-B3A9-4F0A2E3E30AC}"/>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7" name="Rectángulo 16">
            <a:extLst>
              <a:ext uri="{FF2B5EF4-FFF2-40B4-BE49-F238E27FC236}">
                <a16:creationId xmlns:a16="http://schemas.microsoft.com/office/drawing/2014/main" id="{560D2435-16BC-D3E4-C6E4-B5E06BCB7C14}"/>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8" name="Rectángulo 17">
            <a:extLst>
              <a:ext uri="{FF2B5EF4-FFF2-40B4-BE49-F238E27FC236}">
                <a16:creationId xmlns:a16="http://schemas.microsoft.com/office/drawing/2014/main" id="{2CC0F1F0-841B-39E4-E7D1-F215DF2CE0B7}"/>
              </a:ext>
            </a:extLst>
          </p:cNvPr>
          <p:cNvSpPr/>
          <p:nvPr/>
        </p:nvSpPr>
        <p:spPr>
          <a:xfrm>
            <a:off x="984251" y="354693"/>
            <a:ext cx="1047386"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19" name="Rectángulo 18">
            <a:extLst>
              <a:ext uri="{FF2B5EF4-FFF2-40B4-BE49-F238E27FC236}">
                <a16:creationId xmlns:a16="http://schemas.microsoft.com/office/drawing/2014/main" id="{936AED2F-303E-DF5F-19D6-6397562F4E57}"/>
              </a:ext>
            </a:extLst>
          </p:cNvPr>
          <p:cNvSpPr/>
          <p:nvPr/>
        </p:nvSpPr>
        <p:spPr>
          <a:xfrm>
            <a:off x="2031637" y="354694"/>
            <a:ext cx="10020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dirty="0"/>
              <a:t>LATE SEED</a:t>
            </a:r>
          </a:p>
        </p:txBody>
      </p:sp>
    </p:spTree>
    <p:extLst>
      <p:ext uri="{BB962C8B-B14F-4D97-AF65-F5344CB8AC3E}">
        <p14:creationId xmlns:p14="http://schemas.microsoft.com/office/powerpoint/2010/main" val="42347207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15">
            <a:extLst>
              <a:ext uri="{FF2B5EF4-FFF2-40B4-BE49-F238E27FC236}">
                <a16:creationId xmlns:a16="http://schemas.microsoft.com/office/drawing/2014/main" id="{54896001-26FF-6F2A-0098-9C31FD91218F}"/>
              </a:ext>
            </a:extLst>
          </p:cNvPr>
          <p:cNvGraphicFramePr>
            <a:graphicFrameLocks noGrp="1"/>
          </p:cNvGraphicFramePr>
          <p:nvPr/>
        </p:nvGraphicFramePr>
        <p:xfrm>
          <a:off x="483735" y="1602190"/>
          <a:ext cx="10874375" cy="64008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Método Venture Capital</a:t>
                      </a:r>
                    </a:p>
                    <a:p>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El Método de Valorización de Venture Capital, desarrollado por el profesor Bill Sahlman, es un enfoque que </a:t>
                      </a:r>
                      <a:r>
                        <a:rPr kumimoji="0" lang="es-MX" sz="1200" b="1"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 basa en estimar el valor actual de un startup en base a las expectativas de retorno futuras de un inversor.</a:t>
                      </a: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t>
                      </a: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7" name="Rectángulo 6">
            <a:extLst>
              <a:ext uri="{FF2B5EF4-FFF2-40B4-BE49-F238E27FC236}">
                <a16:creationId xmlns:a16="http://schemas.microsoft.com/office/drawing/2014/main" id="{44A5CA5F-2840-9FCF-9CB2-D0C880D4BD0D}"/>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latin typeface="+mj-lt"/>
              </a:rPr>
              <a:t>4</a:t>
            </a:r>
          </a:p>
        </p:txBody>
      </p:sp>
      <p:sp>
        <p:nvSpPr>
          <p:cNvPr id="11" name="Title 5">
            <a:extLst>
              <a:ext uri="{FF2B5EF4-FFF2-40B4-BE49-F238E27FC236}">
                <a16:creationId xmlns:a16="http://schemas.microsoft.com/office/drawing/2014/main" id="{E019CA96-D4A8-37FE-1366-E4DB613AD7E2}"/>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Early Seed/Late Seed</a:t>
            </a:r>
            <a:endParaRPr lang="es-CL" sz="2400" b="1">
              <a:solidFill>
                <a:schemeClr val="accent2"/>
              </a:solidFill>
            </a:endParaRPr>
          </a:p>
        </p:txBody>
      </p:sp>
      <p:pic>
        <p:nvPicPr>
          <p:cNvPr id="12" name="Imagen 11">
            <a:extLst>
              <a:ext uri="{FF2B5EF4-FFF2-40B4-BE49-F238E27FC236}">
                <a16:creationId xmlns:a16="http://schemas.microsoft.com/office/drawing/2014/main" id="{6A892F38-6825-1069-B2AE-5F59B5EADB11}"/>
              </a:ext>
            </a:extLst>
          </p:cNvPr>
          <p:cNvPicPr>
            <a:picLocks noChangeAspect="1"/>
          </p:cNvPicPr>
          <p:nvPr/>
        </p:nvPicPr>
        <p:blipFill>
          <a:blip r:embed="rId2"/>
          <a:stretch>
            <a:fillRect/>
          </a:stretch>
        </p:blipFill>
        <p:spPr>
          <a:xfrm>
            <a:off x="12387162" y="1055812"/>
            <a:ext cx="1438476" cy="1562318"/>
          </a:xfrm>
          <a:prstGeom prst="rect">
            <a:avLst/>
          </a:prstGeom>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AA1E46E2-1F8F-9529-A3DF-79105C0F58EA}"/>
                  </a:ext>
                </a:extLst>
              </p:cNvPr>
              <p:cNvSpPr txBox="1"/>
              <p:nvPr/>
            </p:nvSpPr>
            <p:spPr>
              <a:xfrm>
                <a:off x="658810" y="2551837"/>
                <a:ext cx="10874377" cy="3154069"/>
              </a:xfrm>
              <a:prstGeom prst="rect">
                <a:avLst/>
              </a:prstGeom>
              <a:noFill/>
            </p:spPr>
            <p:txBody>
              <a:bodyPr wrap="square">
                <a:spAutoFit/>
              </a:bodyPr>
              <a:lstStyle/>
              <a:p>
                <a:pPr algn="just">
                  <a:defRPr/>
                </a:pPr>
                <a:r>
                  <a:rPr kumimoji="0" lang="es-CL"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Veamos un ejemplo:</a:t>
                </a:r>
              </a:p>
              <a:p>
                <a:pPr algn="just">
                  <a:defRPr/>
                </a:pPr>
                <a:endParaRPr lang="es-CL"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S</a:t>
                </a:r>
                <a:r>
                  <a:rPr kumimoji="0" lang="es-MX" sz="11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i estimamos que el valor terminal de un startup es de USD$35 millones, y deseamos un ROI de 20 veces (es decir, esperamos obtener 20 veces nuestra inversión en el momento del "exit"), y que la ampliación de capital que necesita el startup es de USD$500.000.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s-MX" sz="11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kumimoji="0" lang="es-MX" sz="11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Aplicando el procedimiento explicado anteriormente, el cálculo sería el siguiente: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1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14:m>
                  <m:oMathPara xmlns:m="http://schemas.openxmlformats.org/officeDocument/2006/math">
                    <m:oMathParaPr>
                      <m:jc m:val="centerGroup"/>
                    </m:oMathParaPr>
                    <m:oMath xmlns:m="http://schemas.openxmlformats.org/officeDocument/2006/math">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𝑉𝑎𝑙𝑜𝑟𝑎𝑐𝑖</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ó</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𝑛</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𝑝𝑜𝑠𝑡𝑚𝑜𝑛𝑒𝑦</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f>
                        <m:fPr>
                          <m:ctrlP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ctrlPr>
                        </m:fPr>
                        <m:num>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𝑉𝑎𝑙𝑜𝑟</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𝑇𝑒𝑟𝑚𝑖𝑛𝑎𝑙</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𝑠𝑡𝑎𝑟𝑡𝑢𝑝</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m:t>
                          </m:r>
                        </m:num>
                        <m:den>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𝑅𝑂𝐼</m:t>
                          </m:r>
                        </m:den>
                      </m:f>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f>
                        <m:fPr>
                          <m:ctrlP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ctrlPr>
                        </m:fPr>
                        <m:num>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35</m:t>
                          </m:r>
                        </m:num>
                        <m:den>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20</m:t>
                          </m:r>
                        </m:den>
                      </m:f>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𝑈𝑆𝐷</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$ 1,75 </m:t>
                      </m:r>
                      <m:r>
                        <a:rPr kumimoji="0" lang="es-MX" sz="1100" b="0" i="1"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𝑚𝑖𝑙𝑙𝑜𝑛𝑒𝑠</m:t>
                      </m:r>
                    </m:oMath>
                  </m:oMathPara>
                </a14:m>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s-MX" sz="1100" b="0" dirty="0">
                    <a:solidFill>
                      <a:srgbClr val="4E696D"/>
                    </a:solidFill>
                    <a:ea typeface="Open Sans SemiBold" panose="020B0706030804020204" pitchFamily="34" charset="0"/>
                    <a:cs typeface="Open Sans SemiBold" panose="020B0706030804020204" pitchFamily="34" charset="0"/>
                  </a:rPr>
                  <a:t>                                      </a:t>
                </a:r>
                <a14:m>
                  <m:oMath xmlns:m="http://schemas.openxmlformats.org/officeDocument/2006/math">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𝑉𝑎𝑙𝑜𝑟𝑎𝑐𝑖</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ó</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𝑛</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 </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𝑝𝑟𝑒𝑚𝑜𝑛𝑒𝑦</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𝑣𝑎𝑙𝑜𝑟𝑎𝑐𝑖</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ó</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𝑛</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 </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𝑝𝑜𝑠𝑡𝑚𝑜𝑛𝑒𝑦</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 −</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𝑖𝑛𝑣𝑒𝑟𝑠𝑖</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ó</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𝑛</m:t>
                    </m:r>
                  </m:oMath>
                </a14:m>
                <a:endParaRPr lang="es-MX" sz="1100" b="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endParaRPr lang="es-MX" sz="1100" b="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s-MX" sz="1100" b="0" dirty="0">
                    <a:solidFill>
                      <a:srgbClr val="4E696D"/>
                    </a:solidFill>
                    <a:ea typeface="Open Sans SemiBold" panose="020B0706030804020204" pitchFamily="34" charset="0"/>
                    <a:cs typeface="Open Sans SemiBold" panose="020B0706030804020204" pitchFamily="34" charset="0"/>
                  </a:rPr>
                  <a:t>                                                                  </a:t>
                </a:r>
                <a14:m>
                  <m:oMath xmlns:m="http://schemas.openxmlformats.org/officeDocument/2006/math">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1,75 −05=</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𝑈𝑆𝐷</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$ 1,25 </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𝑚𝑖𝑙𝑙𝑜𝑛𝑒𝑠</m:t>
                    </m:r>
                  </m:oMath>
                </a14:m>
                <a:endParaRPr kumimoji="0" lang="es-MX" sz="11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kumimoji="0" lang="es-MX" sz="1100" i="0"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Una suposición clave de este método es que no habrá más ventas de acciones desde la ronda de financiación hasta la desinversión. Sin embargo, los startups a menudo necesitan más financiación y emiten nuevas acciones, lo que puede diluir la participación de los inversores. En este caso, se puede ajustar la valoración pre-money para tener en cuenta esta dilución. Por ejemplo, si se espera que la participación se reduzca a la mitad, la valoración pre-money se ajustaría a la mitad, en este caso a USD$625,000.</a:t>
                </a: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p:txBody>
          </p:sp>
        </mc:Choice>
        <mc:Fallback xmlns="">
          <p:sp>
            <p:nvSpPr>
              <p:cNvPr id="13" name="CuadroTexto 12">
                <a:extLst>
                  <a:ext uri="{FF2B5EF4-FFF2-40B4-BE49-F238E27FC236}">
                    <a16:creationId xmlns:a16="http://schemas.microsoft.com/office/drawing/2014/main" id="{AA1E46E2-1F8F-9529-A3DF-79105C0F58EA}"/>
                  </a:ext>
                </a:extLst>
              </p:cNvPr>
              <p:cNvSpPr txBox="1">
                <a:spLocks noRot="1" noChangeAspect="1" noMove="1" noResize="1" noEditPoints="1" noAdjustHandles="1" noChangeArrowheads="1" noChangeShapeType="1" noTextEdit="1"/>
              </p:cNvSpPr>
              <p:nvPr/>
            </p:nvSpPr>
            <p:spPr>
              <a:xfrm>
                <a:off x="658810" y="2551837"/>
                <a:ext cx="10874377" cy="3154069"/>
              </a:xfrm>
              <a:prstGeom prst="rect">
                <a:avLst/>
              </a:prstGeom>
              <a:blipFill>
                <a:blip r:embed="rId3"/>
                <a:stretch>
                  <a:fillRect t="-402" b="-402"/>
                </a:stretch>
              </a:blipFill>
            </p:spPr>
            <p:txBody>
              <a:bodyPr/>
              <a:lstStyle/>
              <a:p>
                <a:r>
                  <a:rPr lang="es-CL">
                    <a:noFill/>
                  </a:rPr>
                  <a:t> </a:t>
                </a:r>
              </a:p>
            </p:txBody>
          </p:sp>
        </mc:Fallback>
      </mc:AlternateContent>
      <p:sp>
        <p:nvSpPr>
          <p:cNvPr id="14" name="Rectángulo 13">
            <a:extLst>
              <a:ext uri="{FF2B5EF4-FFF2-40B4-BE49-F238E27FC236}">
                <a16:creationId xmlns:a16="http://schemas.microsoft.com/office/drawing/2014/main" id="{610FD172-5BFD-3AAD-21CD-A6599C636E8C}"/>
              </a:ext>
            </a:extLst>
          </p:cNvPr>
          <p:cNvSpPr/>
          <p:nvPr/>
        </p:nvSpPr>
        <p:spPr>
          <a:xfrm>
            <a:off x="0" y="0"/>
            <a:ext cx="3038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5" name="Rectángulo 14">
            <a:extLst>
              <a:ext uri="{FF2B5EF4-FFF2-40B4-BE49-F238E27FC236}">
                <a16:creationId xmlns:a16="http://schemas.microsoft.com/office/drawing/2014/main" id="{2C5A0C35-7FF0-1575-796F-30DD70598BD1}"/>
              </a:ext>
            </a:extLst>
          </p:cNvPr>
          <p:cNvSpPr/>
          <p:nvPr/>
        </p:nvSpPr>
        <p:spPr>
          <a:xfrm>
            <a:off x="3048000" y="0"/>
            <a:ext cx="30226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CRECIMIENTO</a:t>
            </a:r>
          </a:p>
        </p:txBody>
      </p:sp>
      <p:sp>
        <p:nvSpPr>
          <p:cNvPr id="16" name="Rectángulo 15">
            <a:extLst>
              <a:ext uri="{FF2B5EF4-FFF2-40B4-BE49-F238E27FC236}">
                <a16:creationId xmlns:a16="http://schemas.microsoft.com/office/drawing/2014/main" id="{F471388F-5DE5-0D9F-5D71-22C32BB7F3F7}"/>
              </a:ext>
            </a:extLst>
          </p:cNvPr>
          <p:cNvSpPr/>
          <p:nvPr/>
        </p:nvSpPr>
        <p:spPr>
          <a:xfrm>
            <a:off x="6070600" y="-2744"/>
            <a:ext cx="3073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7" name="Rectángulo 16">
            <a:extLst>
              <a:ext uri="{FF2B5EF4-FFF2-40B4-BE49-F238E27FC236}">
                <a16:creationId xmlns:a16="http://schemas.microsoft.com/office/drawing/2014/main" id="{7D0FC4F3-BF5D-6DF6-218C-C83295E5DD4F}"/>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8" name="Rectángulo 17">
            <a:extLst>
              <a:ext uri="{FF2B5EF4-FFF2-40B4-BE49-F238E27FC236}">
                <a16:creationId xmlns:a16="http://schemas.microsoft.com/office/drawing/2014/main" id="{F33FD5A1-5E0D-A26A-B536-C35D4AFC70F0}"/>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9" name="Rectángulo 18">
            <a:extLst>
              <a:ext uri="{FF2B5EF4-FFF2-40B4-BE49-F238E27FC236}">
                <a16:creationId xmlns:a16="http://schemas.microsoft.com/office/drawing/2014/main" id="{0724F459-3BBB-825F-B067-A12FEB839B0A}"/>
              </a:ext>
            </a:extLst>
          </p:cNvPr>
          <p:cNvSpPr/>
          <p:nvPr/>
        </p:nvSpPr>
        <p:spPr>
          <a:xfrm>
            <a:off x="984251" y="354693"/>
            <a:ext cx="1047386"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20" name="Rectángulo 19">
            <a:extLst>
              <a:ext uri="{FF2B5EF4-FFF2-40B4-BE49-F238E27FC236}">
                <a16:creationId xmlns:a16="http://schemas.microsoft.com/office/drawing/2014/main" id="{A250092B-51DB-270A-C5AE-F92FDA882B6B}"/>
              </a:ext>
            </a:extLst>
          </p:cNvPr>
          <p:cNvSpPr/>
          <p:nvPr/>
        </p:nvSpPr>
        <p:spPr>
          <a:xfrm>
            <a:off x="2031637" y="354694"/>
            <a:ext cx="1002000" cy="194582"/>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dirty="0"/>
              <a:t>LATE SEED</a:t>
            </a:r>
          </a:p>
        </p:txBody>
      </p:sp>
    </p:spTree>
    <p:extLst>
      <p:ext uri="{BB962C8B-B14F-4D97-AF65-F5344CB8AC3E}">
        <p14:creationId xmlns:p14="http://schemas.microsoft.com/office/powerpoint/2010/main" val="33910670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4145CA5-8C61-3F8F-1090-2E196EC878B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33116" y="696965"/>
            <a:ext cx="10725768" cy="5464070"/>
          </a:xfrm>
          <a:prstGeom prst="rect">
            <a:avLst/>
          </a:prstGeom>
        </p:spPr>
      </p:pic>
    </p:spTree>
    <p:extLst>
      <p:ext uri="{BB962C8B-B14F-4D97-AF65-F5344CB8AC3E}">
        <p14:creationId xmlns:p14="http://schemas.microsoft.com/office/powerpoint/2010/main" val="20755432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1DCDBBA-4046-7C47-875B-5A6180FCA680}"/>
              </a:ext>
            </a:extLst>
          </p:cNvPr>
          <p:cNvSpPr>
            <a:spLocks noGrp="1"/>
          </p:cNvSpPr>
          <p:nvPr>
            <p:ph type="title" idx="4294967295"/>
          </p:nvPr>
        </p:nvSpPr>
        <p:spPr>
          <a:xfrm>
            <a:off x="695325" y="549276"/>
            <a:ext cx="10515600" cy="5519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n-US"/>
              <a:t>Click to edit Master title style</a:t>
            </a:r>
            <a:endParaRPr lang="es-CL" dirty="0"/>
          </a:p>
        </p:txBody>
      </p:sp>
      <p:sp>
        <p:nvSpPr>
          <p:cNvPr id="4" name="Marcador de texto 3">
            <a:extLst>
              <a:ext uri="{FF2B5EF4-FFF2-40B4-BE49-F238E27FC236}">
                <a16:creationId xmlns:a16="http://schemas.microsoft.com/office/drawing/2014/main" id="{3C1A7925-A467-AF12-325E-C087C45840E6}"/>
              </a:ext>
            </a:extLst>
          </p:cNvPr>
          <p:cNvSpPr>
            <a:spLocks noGrp="1"/>
          </p:cNvSpPr>
          <p:nvPr>
            <p:ph type="body" sz="quarter" idx="4294967295"/>
          </p:nvPr>
        </p:nvSpPr>
        <p:spPr>
          <a:xfrm>
            <a:off x="695325" y="1567007"/>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Tx/>
              <a:buChar char="–"/>
              <a:defRPr sz="1800" kern="1200">
                <a:solidFill>
                  <a:schemeClr val="tx1"/>
                </a:solidFill>
                <a:latin typeface="+mn-lt"/>
                <a:ea typeface="Open Sans SemiBold" panose="020B0706030804020204" pitchFamily="34" charset="0"/>
                <a:cs typeface="Open Sans SemiBold" panose="020B0706030804020204" pitchFamily="34" charset="0"/>
              </a:defRPr>
            </a:lvl1pPr>
            <a:lvl2pPr marL="685800" indent="-228600" algn="l" defTabSz="914400" rtl="0" eaLnBrk="1" latinLnBrk="0" hangingPunct="1">
              <a:lnSpc>
                <a:spcPct val="90000"/>
              </a:lnSpc>
              <a:spcBef>
                <a:spcPts val="500"/>
              </a:spcBef>
              <a:buFontTx/>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Tx/>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Tx/>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dirty="0"/>
          </a:p>
        </p:txBody>
      </p:sp>
      <p:graphicFrame>
        <p:nvGraphicFramePr>
          <p:cNvPr id="2" name="Tabla 1">
            <a:extLst>
              <a:ext uri="{FF2B5EF4-FFF2-40B4-BE49-F238E27FC236}">
                <a16:creationId xmlns:a16="http://schemas.microsoft.com/office/drawing/2014/main" id="{938E0094-374E-8FB5-F331-8C2B837DA63C}"/>
              </a:ext>
            </a:extLst>
          </p:cNvPr>
          <p:cNvGraphicFramePr>
            <a:graphicFrameLocks noGrp="1"/>
          </p:cNvGraphicFramePr>
          <p:nvPr/>
        </p:nvGraphicFramePr>
        <p:xfrm>
          <a:off x="658812" y="2083439"/>
          <a:ext cx="5437188" cy="2352040"/>
        </p:xfrm>
        <a:graphic>
          <a:graphicData uri="http://schemas.openxmlformats.org/drawingml/2006/table">
            <a:tbl>
              <a:tblPr firstRow="1" bandRow="1">
                <a:tableStyleId>{5940675A-B579-460E-94D1-54222C63F5DA}</a:tableStyleId>
              </a:tblPr>
              <a:tblGrid>
                <a:gridCol w="1812396">
                  <a:extLst>
                    <a:ext uri="{9D8B030D-6E8A-4147-A177-3AD203B41FA5}">
                      <a16:colId xmlns:a16="http://schemas.microsoft.com/office/drawing/2014/main" val="2837012287"/>
                    </a:ext>
                  </a:extLst>
                </a:gridCol>
                <a:gridCol w="1812396">
                  <a:extLst>
                    <a:ext uri="{9D8B030D-6E8A-4147-A177-3AD203B41FA5}">
                      <a16:colId xmlns:a16="http://schemas.microsoft.com/office/drawing/2014/main" val="386244906"/>
                    </a:ext>
                  </a:extLst>
                </a:gridCol>
                <a:gridCol w="1812396">
                  <a:extLst>
                    <a:ext uri="{9D8B030D-6E8A-4147-A177-3AD203B41FA5}">
                      <a16:colId xmlns:a16="http://schemas.microsoft.com/office/drawing/2014/main" val="1171635645"/>
                    </a:ext>
                  </a:extLst>
                </a:gridCol>
              </a:tblGrid>
              <a:tr h="370840">
                <a:tc gridSpan="3">
                  <a:txBody>
                    <a:bodyPr/>
                    <a:lstStyle/>
                    <a:p>
                      <a:pPr algn="ctr"/>
                      <a:r>
                        <a:rPr lang="es-CL" sz="1400" dirty="0"/>
                        <a:t>Mi plan de crecimiento 1er año</a:t>
                      </a:r>
                    </a:p>
                  </a:txBody>
                  <a:tcPr/>
                </a:tc>
                <a:tc hMerge="1">
                  <a:txBody>
                    <a:bodyPr/>
                    <a:lstStyle/>
                    <a:p>
                      <a:endParaRPr lang="es-CL" dirty="0"/>
                    </a:p>
                  </a:txBody>
                  <a:tcPr/>
                </a:tc>
                <a:tc hMerge="1">
                  <a:txBody>
                    <a:bodyPr/>
                    <a:lstStyle/>
                    <a:p>
                      <a:endParaRPr lang="es-CL" dirty="0"/>
                    </a:p>
                  </a:txBody>
                  <a:tcPr/>
                </a:tc>
                <a:extLst>
                  <a:ext uri="{0D108BD9-81ED-4DB2-BD59-A6C34878D82A}">
                    <a16:rowId xmlns:a16="http://schemas.microsoft.com/office/drawing/2014/main" val="1694198660"/>
                  </a:ext>
                </a:extLst>
              </a:tr>
              <a:tr h="370840">
                <a:tc>
                  <a:txBody>
                    <a:bodyPr/>
                    <a:lstStyle/>
                    <a:p>
                      <a:pPr algn="ctr"/>
                      <a:r>
                        <a:rPr lang="es-CL" sz="1400" dirty="0"/>
                        <a:t>Objetivo #1</a:t>
                      </a:r>
                    </a:p>
                  </a:txBody>
                  <a:tcPr/>
                </a:tc>
                <a:tc>
                  <a:txBody>
                    <a:bodyPr/>
                    <a:lstStyle/>
                    <a:p>
                      <a:pPr algn="ctr"/>
                      <a:r>
                        <a:rPr lang="es-CL" sz="1400" dirty="0"/>
                        <a:t>Descripción del objetivo</a:t>
                      </a:r>
                    </a:p>
                  </a:txBody>
                  <a:tcPr/>
                </a:tc>
                <a:tc>
                  <a:txBody>
                    <a:bodyPr/>
                    <a:lstStyle/>
                    <a:p>
                      <a:pPr algn="ctr"/>
                      <a:r>
                        <a:rPr lang="es-CL" sz="1400" dirty="0"/>
                        <a:t>Indicador del objetivo</a:t>
                      </a:r>
                    </a:p>
                  </a:txBody>
                  <a:tcPr/>
                </a:tc>
                <a:extLst>
                  <a:ext uri="{0D108BD9-81ED-4DB2-BD59-A6C34878D82A}">
                    <a16:rowId xmlns:a16="http://schemas.microsoft.com/office/drawing/2014/main" val="2192387757"/>
                  </a:ext>
                </a:extLst>
              </a:tr>
              <a:tr h="370840">
                <a:tc>
                  <a:txBody>
                    <a:bodyPr/>
                    <a:lstStyle/>
                    <a:p>
                      <a:pPr algn="ctr"/>
                      <a:r>
                        <a:rPr lang="es-CL" sz="1400" dirty="0"/>
                        <a:t>Objetivo #2</a:t>
                      </a:r>
                    </a:p>
                  </a:txBody>
                  <a:tcPr/>
                </a:tc>
                <a:tc>
                  <a:txBody>
                    <a:bodyPr/>
                    <a:lstStyle/>
                    <a:p>
                      <a:pPr algn="ctr"/>
                      <a:r>
                        <a:rPr lang="es-CL" sz="1400" dirty="0"/>
                        <a:t>Ejemplo, consolidar mercado nacional</a:t>
                      </a:r>
                    </a:p>
                  </a:txBody>
                  <a:tcPr/>
                </a:tc>
                <a:tc>
                  <a:txBody>
                    <a:bodyPr/>
                    <a:lstStyle/>
                    <a:p>
                      <a:pPr algn="ctr"/>
                      <a:r>
                        <a:rPr lang="es-CL" sz="1400" dirty="0"/>
                        <a:t>30 equipos instalados</a:t>
                      </a:r>
                    </a:p>
                  </a:txBody>
                  <a:tcPr/>
                </a:tc>
                <a:extLst>
                  <a:ext uri="{0D108BD9-81ED-4DB2-BD59-A6C34878D82A}">
                    <a16:rowId xmlns:a16="http://schemas.microsoft.com/office/drawing/2014/main" val="318432733"/>
                  </a:ext>
                </a:extLst>
              </a:tr>
              <a:tr h="370840">
                <a:tc>
                  <a:txBody>
                    <a:bodyPr/>
                    <a:lstStyle/>
                    <a:p>
                      <a:pPr algn="ctr"/>
                      <a:r>
                        <a:rPr lang="es-CL" sz="1400" dirty="0"/>
                        <a:t>Objetivo #3</a:t>
                      </a:r>
                    </a:p>
                  </a:txBody>
                  <a:tcPr/>
                </a:tc>
                <a:tc>
                  <a:txBody>
                    <a:bodyPr/>
                    <a:lstStyle/>
                    <a:p>
                      <a:pPr algn="ctr"/>
                      <a:r>
                        <a:rPr lang="es-CL" sz="1400" dirty="0"/>
                        <a:t>Ejemplo, iniciar internacionalización</a:t>
                      </a:r>
                    </a:p>
                  </a:txBody>
                  <a:tcPr/>
                </a:tc>
                <a:tc>
                  <a:txBody>
                    <a:bodyPr/>
                    <a:lstStyle/>
                    <a:p>
                      <a:pPr algn="ctr"/>
                      <a:r>
                        <a:rPr lang="es-CL" sz="1400" dirty="0"/>
                        <a:t>2 nuevos mercados</a:t>
                      </a:r>
                    </a:p>
                  </a:txBody>
                  <a:tcPr/>
                </a:tc>
                <a:extLst>
                  <a:ext uri="{0D108BD9-81ED-4DB2-BD59-A6C34878D82A}">
                    <a16:rowId xmlns:a16="http://schemas.microsoft.com/office/drawing/2014/main" val="1034418756"/>
                  </a:ext>
                </a:extLst>
              </a:tr>
            </a:tbl>
          </a:graphicData>
        </a:graphic>
      </p:graphicFrame>
      <p:grpSp>
        <p:nvGrpSpPr>
          <p:cNvPr id="9" name="Grupo 8">
            <a:extLst>
              <a:ext uri="{FF2B5EF4-FFF2-40B4-BE49-F238E27FC236}">
                <a16:creationId xmlns:a16="http://schemas.microsoft.com/office/drawing/2014/main" id="{8472C801-2E6F-E868-21D3-B559AE369762}"/>
              </a:ext>
            </a:extLst>
          </p:cNvPr>
          <p:cNvGrpSpPr/>
          <p:nvPr/>
        </p:nvGrpSpPr>
        <p:grpSpPr>
          <a:xfrm>
            <a:off x="6778488" y="1435958"/>
            <a:ext cx="4575313" cy="3311203"/>
            <a:chOff x="6778488" y="997184"/>
            <a:chExt cx="4575313" cy="3311203"/>
          </a:xfrm>
        </p:grpSpPr>
        <p:pic>
          <p:nvPicPr>
            <p:cNvPr id="5" name="Gráfico 4">
              <a:extLst>
                <a:ext uri="{FF2B5EF4-FFF2-40B4-BE49-F238E27FC236}">
                  <a16:creationId xmlns:a16="http://schemas.microsoft.com/office/drawing/2014/main" id="{74F9C532-F293-D2BA-5827-CDA650551F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78488" y="1600200"/>
              <a:ext cx="4575312" cy="2708187"/>
            </a:xfrm>
            <a:prstGeom prst="rect">
              <a:avLst/>
            </a:prstGeom>
          </p:spPr>
        </p:pic>
        <p:sp>
          <p:nvSpPr>
            <p:cNvPr id="6" name="CuadroTexto 5">
              <a:extLst>
                <a:ext uri="{FF2B5EF4-FFF2-40B4-BE49-F238E27FC236}">
                  <a16:creationId xmlns:a16="http://schemas.microsoft.com/office/drawing/2014/main" id="{A4BD2F62-B0D0-E444-D638-B7B05ADADC54}"/>
                </a:ext>
              </a:extLst>
            </p:cNvPr>
            <p:cNvSpPr txBox="1"/>
            <p:nvPr/>
          </p:nvSpPr>
          <p:spPr>
            <a:xfrm>
              <a:off x="6778489" y="997184"/>
              <a:ext cx="4575312" cy="276999"/>
            </a:xfrm>
            <a:prstGeom prst="rect">
              <a:avLst/>
            </a:prstGeom>
            <a:noFill/>
          </p:spPr>
          <p:txBody>
            <a:bodyPr wrap="square" rtlCol="0">
              <a:spAutoFit/>
            </a:bodyPr>
            <a:lstStyle/>
            <a:p>
              <a:r>
                <a:rPr lang="es-CL" sz="1200" dirty="0">
                  <a:latin typeface="Avenir Next" panose="020B0503020202020204" pitchFamily="34" charset="0"/>
                </a:rPr>
                <a:t>Expansión esperada en el mercado nacional 2020 - 2028</a:t>
              </a:r>
            </a:p>
          </p:txBody>
        </p:sp>
      </p:grpSp>
      <p:graphicFrame>
        <p:nvGraphicFramePr>
          <p:cNvPr id="10" name="Tabla 9">
            <a:extLst>
              <a:ext uri="{FF2B5EF4-FFF2-40B4-BE49-F238E27FC236}">
                <a16:creationId xmlns:a16="http://schemas.microsoft.com/office/drawing/2014/main" id="{49A49918-A09E-A40F-1B14-29ACF18CE34B}"/>
              </a:ext>
            </a:extLst>
          </p:cNvPr>
          <p:cNvGraphicFramePr>
            <a:graphicFrameLocks noGrp="1"/>
          </p:cNvGraphicFramePr>
          <p:nvPr/>
        </p:nvGraphicFramePr>
        <p:xfrm>
          <a:off x="658811" y="4521704"/>
          <a:ext cx="5437188" cy="1483360"/>
        </p:xfrm>
        <a:graphic>
          <a:graphicData uri="http://schemas.openxmlformats.org/drawingml/2006/table">
            <a:tbl>
              <a:tblPr firstRow="1" bandRow="1">
                <a:tableStyleId>{5940675A-B579-460E-94D1-54222C63F5DA}</a:tableStyleId>
              </a:tblPr>
              <a:tblGrid>
                <a:gridCol w="1812396">
                  <a:extLst>
                    <a:ext uri="{9D8B030D-6E8A-4147-A177-3AD203B41FA5}">
                      <a16:colId xmlns:a16="http://schemas.microsoft.com/office/drawing/2014/main" val="2837012287"/>
                    </a:ext>
                  </a:extLst>
                </a:gridCol>
                <a:gridCol w="1812396">
                  <a:extLst>
                    <a:ext uri="{9D8B030D-6E8A-4147-A177-3AD203B41FA5}">
                      <a16:colId xmlns:a16="http://schemas.microsoft.com/office/drawing/2014/main" val="386244906"/>
                    </a:ext>
                  </a:extLst>
                </a:gridCol>
                <a:gridCol w="1812396">
                  <a:extLst>
                    <a:ext uri="{9D8B030D-6E8A-4147-A177-3AD203B41FA5}">
                      <a16:colId xmlns:a16="http://schemas.microsoft.com/office/drawing/2014/main" val="1171635645"/>
                    </a:ext>
                  </a:extLst>
                </a:gridCol>
              </a:tblGrid>
              <a:tr h="370840">
                <a:tc gridSpan="3">
                  <a:txBody>
                    <a:bodyPr/>
                    <a:lstStyle/>
                    <a:p>
                      <a:pPr algn="ctr"/>
                      <a:r>
                        <a:rPr lang="es-CL" sz="1400" dirty="0"/>
                        <a:t>Mi plan de crecimiento 2do año</a:t>
                      </a:r>
                    </a:p>
                  </a:txBody>
                  <a:tcPr/>
                </a:tc>
                <a:tc hMerge="1">
                  <a:txBody>
                    <a:bodyPr/>
                    <a:lstStyle/>
                    <a:p>
                      <a:endParaRPr lang="es-CL" dirty="0"/>
                    </a:p>
                  </a:txBody>
                  <a:tcPr/>
                </a:tc>
                <a:tc hMerge="1">
                  <a:txBody>
                    <a:bodyPr/>
                    <a:lstStyle/>
                    <a:p>
                      <a:endParaRPr lang="es-CL" dirty="0"/>
                    </a:p>
                  </a:txBody>
                  <a:tcPr/>
                </a:tc>
                <a:extLst>
                  <a:ext uri="{0D108BD9-81ED-4DB2-BD59-A6C34878D82A}">
                    <a16:rowId xmlns:a16="http://schemas.microsoft.com/office/drawing/2014/main" val="1694198660"/>
                  </a:ext>
                </a:extLst>
              </a:tr>
              <a:tr h="370840">
                <a:tc>
                  <a:txBody>
                    <a:bodyPr/>
                    <a:lstStyle/>
                    <a:p>
                      <a:pPr algn="ctr"/>
                      <a:r>
                        <a:rPr lang="es-CL" sz="1400" dirty="0"/>
                        <a:t>Objetivo #1</a:t>
                      </a:r>
                    </a:p>
                  </a:txBody>
                  <a:tcPr/>
                </a:tc>
                <a:tc>
                  <a:txBody>
                    <a:bodyPr/>
                    <a:lstStyle/>
                    <a:p>
                      <a:pPr algn="ctr"/>
                      <a:endParaRPr lang="es-CL" sz="1400" dirty="0"/>
                    </a:p>
                  </a:txBody>
                  <a:tcPr/>
                </a:tc>
                <a:tc>
                  <a:txBody>
                    <a:bodyPr/>
                    <a:lstStyle/>
                    <a:p>
                      <a:pPr algn="ctr"/>
                      <a:endParaRPr lang="es-CL" sz="1400" dirty="0"/>
                    </a:p>
                  </a:txBody>
                  <a:tcPr/>
                </a:tc>
                <a:extLst>
                  <a:ext uri="{0D108BD9-81ED-4DB2-BD59-A6C34878D82A}">
                    <a16:rowId xmlns:a16="http://schemas.microsoft.com/office/drawing/2014/main" val="2192387757"/>
                  </a:ext>
                </a:extLst>
              </a:tr>
              <a:tr h="370840">
                <a:tc>
                  <a:txBody>
                    <a:bodyPr/>
                    <a:lstStyle/>
                    <a:p>
                      <a:pPr algn="ctr"/>
                      <a:r>
                        <a:rPr lang="es-CL" sz="1400" dirty="0"/>
                        <a:t>Objetivo #2</a:t>
                      </a:r>
                    </a:p>
                  </a:txBody>
                  <a:tcPr/>
                </a:tc>
                <a:tc>
                  <a:txBody>
                    <a:bodyPr/>
                    <a:lstStyle/>
                    <a:p>
                      <a:pPr algn="ctr"/>
                      <a:endParaRPr lang="es-CL" sz="1400" dirty="0"/>
                    </a:p>
                  </a:txBody>
                  <a:tcPr/>
                </a:tc>
                <a:tc>
                  <a:txBody>
                    <a:bodyPr/>
                    <a:lstStyle/>
                    <a:p>
                      <a:pPr algn="ctr"/>
                      <a:endParaRPr lang="es-CL" sz="1400" dirty="0"/>
                    </a:p>
                  </a:txBody>
                  <a:tcPr/>
                </a:tc>
                <a:extLst>
                  <a:ext uri="{0D108BD9-81ED-4DB2-BD59-A6C34878D82A}">
                    <a16:rowId xmlns:a16="http://schemas.microsoft.com/office/drawing/2014/main" val="318432733"/>
                  </a:ext>
                </a:extLst>
              </a:tr>
              <a:tr h="370840">
                <a:tc>
                  <a:txBody>
                    <a:bodyPr/>
                    <a:lstStyle/>
                    <a:p>
                      <a:pPr algn="ctr"/>
                      <a:r>
                        <a:rPr lang="es-CL" sz="1400" dirty="0"/>
                        <a:t>Objetivo #3</a:t>
                      </a:r>
                    </a:p>
                  </a:txBody>
                  <a:tcPr/>
                </a:tc>
                <a:tc>
                  <a:txBody>
                    <a:bodyPr/>
                    <a:lstStyle/>
                    <a:p>
                      <a:pPr algn="ctr"/>
                      <a:endParaRPr lang="es-CL" sz="1400" dirty="0"/>
                    </a:p>
                  </a:txBody>
                  <a:tcPr/>
                </a:tc>
                <a:tc>
                  <a:txBody>
                    <a:bodyPr/>
                    <a:lstStyle/>
                    <a:p>
                      <a:pPr algn="ctr"/>
                      <a:endParaRPr lang="es-CL" sz="1400" dirty="0"/>
                    </a:p>
                  </a:txBody>
                  <a:tcPr/>
                </a:tc>
                <a:extLst>
                  <a:ext uri="{0D108BD9-81ED-4DB2-BD59-A6C34878D82A}">
                    <a16:rowId xmlns:a16="http://schemas.microsoft.com/office/drawing/2014/main" val="1034418756"/>
                  </a:ext>
                </a:extLst>
              </a:tr>
            </a:tbl>
          </a:graphicData>
        </a:graphic>
      </p:graphicFrame>
      <p:sp>
        <p:nvSpPr>
          <p:cNvPr id="11" name="CuadroTexto 10">
            <a:extLst>
              <a:ext uri="{FF2B5EF4-FFF2-40B4-BE49-F238E27FC236}">
                <a16:creationId xmlns:a16="http://schemas.microsoft.com/office/drawing/2014/main" id="{9F2AF985-5EEA-A0C8-ED2D-01B5CA6DEA83}"/>
              </a:ext>
            </a:extLst>
          </p:cNvPr>
          <p:cNvSpPr txBox="1"/>
          <p:nvPr/>
        </p:nvSpPr>
        <p:spPr>
          <a:xfrm>
            <a:off x="6778489" y="4884270"/>
            <a:ext cx="4575312" cy="1446550"/>
          </a:xfrm>
          <a:prstGeom prst="rect">
            <a:avLst/>
          </a:prstGeom>
          <a:noFill/>
        </p:spPr>
        <p:txBody>
          <a:bodyPr wrap="square" rtlCol="0">
            <a:spAutoFit/>
          </a:bodyPr>
          <a:lstStyle/>
          <a:p>
            <a:r>
              <a:rPr lang="es-CL" dirty="0"/>
              <a:t>Consejo:</a:t>
            </a:r>
          </a:p>
          <a:p>
            <a:r>
              <a:rPr lang="es-CL" sz="1400" dirty="0"/>
              <a:t>Para esto defina una unidad de venta o crecimiento, ejemplos número de locales, cantidad de clientes, maquinas instaladas. Y luego una velocidad de crecimiento o ventas por unidad de tiempo, trimestres, años.</a:t>
            </a:r>
          </a:p>
        </p:txBody>
      </p:sp>
    </p:spTree>
    <p:extLst>
      <p:ext uri="{BB962C8B-B14F-4D97-AF65-F5344CB8AC3E}">
        <p14:creationId xmlns:p14="http://schemas.microsoft.com/office/powerpoint/2010/main" val="3741721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1DCDBBA-4046-7C47-875B-5A6180FCA680}"/>
              </a:ext>
            </a:extLst>
          </p:cNvPr>
          <p:cNvSpPr>
            <a:spLocks noGrp="1"/>
          </p:cNvSpPr>
          <p:nvPr>
            <p:ph type="title" idx="4294967295"/>
          </p:nvPr>
        </p:nvSpPr>
        <p:spPr>
          <a:xfrm>
            <a:off x="695325" y="549276"/>
            <a:ext cx="10515600" cy="5519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n-US"/>
              <a:t>Click to edit Master title style</a:t>
            </a:r>
            <a:endParaRPr lang="es-CL" dirty="0"/>
          </a:p>
        </p:txBody>
      </p:sp>
      <p:graphicFrame>
        <p:nvGraphicFramePr>
          <p:cNvPr id="2" name="Tabla 1">
            <a:extLst>
              <a:ext uri="{FF2B5EF4-FFF2-40B4-BE49-F238E27FC236}">
                <a16:creationId xmlns:a16="http://schemas.microsoft.com/office/drawing/2014/main" id="{329AA15A-723F-5976-6C13-25824BA275D5}"/>
              </a:ext>
            </a:extLst>
          </p:cNvPr>
          <p:cNvGraphicFramePr>
            <a:graphicFrameLocks noGrp="1"/>
          </p:cNvGraphicFramePr>
          <p:nvPr/>
        </p:nvGraphicFramePr>
        <p:xfrm>
          <a:off x="763929" y="1888709"/>
          <a:ext cx="8128002" cy="222504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3269188744"/>
                    </a:ext>
                  </a:extLst>
                </a:gridCol>
                <a:gridCol w="1354667">
                  <a:extLst>
                    <a:ext uri="{9D8B030D-6E8A-4147-A177-3AD203B41FA5}">
                      <a16:colId xmlns:a16="http://schemas.microsoft.com/office/drawing/2014/main" val="681351952"/>
                    </a:ext>
                  </a:extLst>
                </a:gridCol>
                <a:gridCol w="1354667">
                  <a:extLst>
                    <a:ext uri="{9D8B030D-6E8A-4147-A177-3AD203B41FA5}">
                      <a16:colId xmlns:a16="http://schemas.microsoft.com/office/drawing/2014/main" val="24107179"/>
                    </a:ext>
                  </a:extLst>
                </a:gridCol>
                <a:gridCol w="1354667">
                  <a:extLst>
                    <a:ext uri="{9D8B030D-6E8A-4147-A177-3AD203B41FA5}">
                      <a16:colId xmlns:a16="http://schemas.microsoft.com/office/drawing/2014/main" val="1790906411"/>
                    </a:ext>
                  </a:extLst>
                </a:gridCol>
                <a:gridCol w="1354667">
                  <a:extLst>
                    <a:ext uri="{9D8B030D-6E8A-4147-A177-3AD203B41FA5}">
                      <a16:colId xmlns:a16="http://schemas.microsoft.com/office/drawing/2014/main" val="155307701"/>
                    </a:ext>
                  </a:extLst>
                </a:gridCol>
                <a:gridCol w="1354667">
                  <a:extLst>
                    <a:ext uri="{9D8B030D-6E8A-4147-A177-3AD203B41FA5}">
                      <a16:colId xmlns:a16="http://schemas.microsoft.com/office/drawing/2014/main" val="3879349766"/>
                    </a:ext>
                  </a:extLst>
                </a:gridCol>
              </a:tblGrid>
              <a:tr h="370840">
                <a:tc>
                  <a:txBody>
                    <a:bodyPr/>
                    <a:lstStyle/>
                    <a:p>
                      <a:pPr algn="ctr"/>
                      <a:r>
                        <a:rPr lang="es-CL" sz="1200" dirty="0"/>
                        <a:t>60 - 80</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3475886725"/>
                  </a:ext>
                </a:extLst>
              </a:tr>
              <a:tr h="370840">
                <a:tc>
                  <a:txBody>
                    <a:bodyPr/>
                    <a:lstStyle/>
                    <a:p>
                      <a:pPr algn="ctr"/>
                      <a:r>
                        <a:rPr lang="es-CL" sz="1200" dirty="0"/>
                        <a:t>60 - 40</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3527897137"/>
                  </a:ext>
                </a:extLst>
              </a:tr>
              <a:tr h="370840">
                <a:tc>
                  <a:txBody>
                    <a:bodyPr/>
                    <a:lstStyle/>
                    <a:p>
                      <a:pPr algn="ctr"/>
                      <a:r>
                        <a:rPr lang="es-CL" sz="1200" dirty="0"/>
                        <a:t>40 - 60</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2586705712"/>
                  </a:ext>
                </a:extLst>
              </a:tr>
              <a:tr h="370840">
                <a:tc>
                  <a:txBody>
                    <a:bodyPr/>
                    <a:lstStyle/>
                    <a:p>
                      <a:pPr algn="ctr"/>
                      <a:r>
                        <a:rPr lang="es-CL" sz="1200" dirty="0"/>
                        <a:t>20 – 40</a:t>
                      </a:r>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382873299"/>
                  </a:ext>
                </a:extLst>
              </a:tr>
              <a:tr h="370840">
                <a:tc>
                  <a:txBody>
                    <a:bodyPr/>
                    <a:lstStyle/>
                    <a:p>
                      <a:pPr algn="ctr"/>
                      <a:r>
                        <a:rPr lang="es-CL" sz="1200" dirty="0"/>
                        <a:t>0 a 20</a:t>
                      </a:r>
                    </a:p>
                  </a:txBody>
                  <a:tcPr anchor="ctr"/>
                </a:tc>
                <a:tc>
                  <a:txBody>
                    <a:bodyPr/>
                    <a:lstStyle/>
                    <a:p>
                      <a:endParaRPr lang="es-CL" sz="1200" dirty="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tc>
                  <a:txBody>
                    <a:bodyPr/>
                    <a:lstStyle/>
                    <a:p>
                      <a:endParaRPr lang="es-CL" sz="1200"/>
                    </a:p>
                  </a:txBody>
                  <a:tcPr anchor="ctr"/>
                </a:tc>
                <a:extLst>
                  <a:ext uri="{0D108BD9-81ED-4DB2-BD59-A6C34878D82A}">
                    <a16:rowId xmlns:a16="http://schemas.microsoft.com/office/drawing/2014/main" val="192168962"/>
                  </a:ext>
                </a:extLst>
              </a:tr>
              <a:tr h="370840">
                <a:tc>
                  <a:txBody>
                    <a:bodyPr/>
                    <a:lstStyle/>
                    <a:p>
                      <a:pPr algn="ctr"/>
                      <a:r>
                        <a:rPr lang="es-CL" sz="1000" dirty="0"/>
                        <a:t>Ventas / Tiempo</a:t>
                      </a:r>
                    </a:p>
                  </a:txBody>
                  <a:tcPr anchor="ctr"/>
                </a:tc>
                <a:tc>
                  <a:txBody>
                    <a:bodyPr/>
                    <a:lstStyle/>
                    <a:p>
                      <a:pPr algn="ctr"/>
                      <a:r>
                        <a:rPr lang="es-CL" sz="1200" dirty="0"/>
                        <a:t>1er año</a:t>
                      </a:r>
                    </a:p>
                  </a:txBody>
                  <a:tcPr anchor="ctr"/>
                </a:tc>
                <a:tc>
                  <a:txBody>
                    <a:bodyPr/>
                    <a:lstStyle/>
                    <a:p>
                      <a:pPr algn="ctr"/>
                      <a:r>
                        <a:rPr lang="es-CL" sz="1200" dirty="0"/>
                        <a:t>2do año</a:t>
                      </a:r>
                    </a:p>
                  </a:txBody>
                  <a:tcPr anchor="ctr"/>
                </a:tc>
                <a:tc>
                  <a:txBody>
                    <a:bodyPr/>
                    <a:lstStyle/>
                    <a:p>
                      <a:pPr algn="ctr"/>
                      <a:r>
                        <a:rPr lang="es-CL" sz="1200" dirty="0"/>
                        <a:t>3er año</a:t>
                      </a:r>
                    </a:p>
                  </a:txBody>
                  <a:tcPr anchor="ctr"/>
                </a:tc>
                <a:tc>
                  <a:txBody>
                    <a:bodyPr/>
                    <a:lstStyle/>
                    <a:p>
                      <a:pPr algn="ctr"/>
                      <a:r>
                        <a:rPr lang="es-CL" sz="1200" dirty="0"/>
                        <a:t>4to año</a:t>
                      </a:r>
                    </a:p>
                  </a:txBody>
                  <a:tcPr anchor="ctr"/>
                </a:tc>
                <a:tc>
                  <a:txBody>
                    <a:bodyPr/>
                    <a:lstStyle/>
                    <a:p>
                      <a:pPr algn="ctr"/>
                      <a:r>
                        <a:rPr lang="es-CL" sz="1200" dirty="0"/>
                        <a:t>5to año</a:t>
                      </a:r>
                    </a:p>
                  </a:txBody>
                  <a:tcPr anchor="ctr"/>
                </a:tc>
                <a:extLst>
                  <a:ext uri="{0D108BD9-81ED-4DB2-BD59-A6C34878D82A}">
                    <a16:rowId xmlns:a16="http://schemas.microsoft.com/office/drawing/2014/main" val="2497154790"/>
                  </a:ext>
                </a:extLst>
              </a:tr>
            </a:tbl>
          </a:graphicData>
        </a:graphic>
      </p:graphicFrame>
      <p:sp>
        <p:nvSpPr>
          <p:cNvPr id="6" name="Triángulo 5">
            <a:extLst>
              <a:ext uri="{FF2B5EF4-FFF2-40B4-BE49-F238E27FC236}">
                <a16:creationId xmlns:a16="http://schemas.microsoft.com/office/drawing/2014/main" id="{DA3043D0-A0E4-12DA-16AB-4D2391E261A9}"/>
              </a:ext>
            </a:extLst>
          </p:cNvPr>
          <p:cNvSpPr/>
          <p:nvPr/>
        </p:nvSpPr>
        <p:spPr>
          <a:xfrm>
            <a:off x="2870521" y="4241071"/>
            <a:ext cx="231493" cy="46982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Triángulo 6">
            <a:extLst>
              <a:ext uri="{FF2B5EF4-FFF2-40B4-BE49-F238E27FC236}">
                <a16:creationId xmlns:a16="http://schemas.microsoft.com/office/drawing/2014/main" id="{8B679781-28CF-ABB6-30AA-F494791716F2}"/>
              </a:ext>
            </a:extLst>
          </p:cNvPr>
          <p:cNvSpPr/>
          <p:nvPr/>
        </p:nvSpPr>
        <p:spPr>
          <a:xfrm>
            <a:off x="4481331" y="4241071"/>
            <a:ext cx="231493" cy="46982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Triángulo 7">
            <a:extLst>
              <a:ext uri="{FF2B5EF4-FFF2-40B4-BE49-F238E27FC236}">
                <a16:creationId xmlns:a16="http://schemas.microsoft.com/office/drawing/2014/main" id="{7B65D9EB-E19E-D4DD-C4C0-826C81428A23}"/>
              </a:ext>
            </a:extLst>
          </p:cNvPr>
          <p:cNvSpPr/>
          <p:nvPr/>
        </p:nvSpPr>
        <p:spPr>
          <a:xfrm>
            <a:off x="6657371" y="4241071"/>
            <a:ext cx="231493" cy="46982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CuadroTexto 8">
            <a:extLst>
              <a:ext uri="{FF2B5EF4-FFF2-40B4-BE49-F238E27FC236}">
                <a16:creationId xmlns:a16="http://schemas.microsoft.com/office/drawing/2014/main" id="{1A51441A-8CA1-4057-89FD-05677E9FFFE5}"/>
              </a:ext>
            </a:extLst>
          </p:cNvPr>
          <p:cNvSpPr txBox="1"/>
          <p:nvPr/>
        </p:nvSpPr>
        <p:spPr>
          <a:xfrm>
            <a:off x="1486429" y="4241071"/>
            <a:ext cx="1362874" cy="646331"/>
          </a:xfrm>
          <a:prstGeom prst="rect">
            <a:avLst/>
          </a:prstGeom>
          <a:noFill/>
        </p:spPr>
        <p:txBody>
          <a:bodyPr wrap="none" rtlCol="0">
            <a:spAutoFit/>
          </a:bodyPr>
          <a:lstStyle/>
          <a:p>
            <a:r>
              <a:rPr lang="es-CL" sz="1200" dirty="0"/>
              <a:t>FFF</a:t>
            </a:r>
          </a:p>
          <a:p>
            <a:r>
              <a:rPr lang="es-CL" sz="1200" dirty="0"/>
              <a:t>Fondos públicos</a:t>
            </a:r>
          </a:p>
          <a:p>
            <a:r>
              <a:rPr lang="es-CL" sz="1200" dirty="0"/>
              <a:t>USD$ 0,2 mill</a:t>
            </a:r>
          </a:p>
        </p:txBody>
      </p:sp>
      <p:sp>
        <p:nvSpPr>
          <p:cNvPr id="10" name="CuadroTexto 9">
            <a:extLst>
              <a:ext uri="{FF2B5EF4-FFF2-40B4-BE49-F238E27FC236}">
                <a16:creationId xmlns:a16="http://schemas.microsoft.com/office/drawing/2014/main" id="{7B5D6283-5D47-6D5A-613A-ECD365096FC0}"/>
              </a:ext>
            </a:extLst>
          </p:cNvPr>
          <p:cNvSpPr txBox="1"/>
          <p:nvPr/>
        </p:nvSpPr>
        <p:spPr>
          <a:xfrm>
            <a:off x="3118453" y="4241071"/>
            <a:ext cx="1362874" cy="646331"/>
          </a:xfrm>
          <a:prstGeom prst="rect">
            <a:avLst/>
          </a:prstGeom>
          <a:noFill/>
        </p:spPr>
        <p:txBody>
          <a:bodyPr wrap="none" rtlCol="0">
            <a:spAutoFit/>
          </a:bodyPr>
          <a:lstStyle/>
          <a:p>
            <a:r>
              <a:rPr lang="es-CL" sz="1200" dirty="0"/>
              <a:t>Ángeles</a:t>
            </a:r>
          </a:p>
          <a:p>
            <a:r>
              <a:rPr lang="es-CL" sz="1200" dirty="0"/>
              <a:t>Fondos públicos</a:t>
            </a:r>
          </a:p>
          <a:p>
            <a:r>
              <a:rPr lang="es-CL" sz="1200" dirty="0"/>
              <a:t>USD$ 1 mill</a:t>
            </a:r>
          </a:p>
        </p:txBody>
      </p:sp>
      <p:sp>
        <p:nvSpPr>
          <p:cNvPr id="11" name="CuadroTexto 10">
            <a:extLst>
              <a:ext uri="{FF2B5EF4-FFF2-40B4-BE49-F238E27FC236}">
                <a16:creationId xmlns:a16="http://schemas.microsoft.com/office/drawing/2014/main" id="{1728DD82-5D90-D0DC-8C86-B0F58BD0EF44}"/>
              </a:ext>
            </a:extLst>
          </p:cNvPr>
          <p:cNvSpPr txBox="1"/>
          <p:nvPr/>
        </p:nvSpPr>
        <p:spPr>
          <a:xfrm>
            <a:off x="5268410" y="4249232"/>
            <a:ext cx="1013419" cy="461665"/>
          </a:xfrm>
          <a:prstGeom prst="rect">
            <a:avLst/>
          </a:prstGeom>
          <a:noFill/>
        </p:spPr>
        <p:txBody>
          <a:bodyPr wrap="none" rtlCol="0">
            <a:spAutoFit/>
          </a:bodyPr>
          <a:lstStyle/>
          <a:p>
            <a:r>
              <a:rPr lang="es-CL" sz="1200" dirty="0"/>
              <a:t>Serie A</a:t>
            </a:r>
          </a:p>
          <a:p>
            <a:r>
              <a:rPr lang="es-CL" sz="1200" dirty="0"/>
              <a:t>USD$ 2 mill</a:t>
            </a:r>
          </a:p>
        </p:txBody>
      </p:sp>
      <p:sp>
        <p:nvSpPr>
          <p:cNvPr id="12" name="Elipse 11">
            <a:extLst>
              <a:ext uri="{FF2B5EF4-FFF2-40B4-BE49-F238E27FC236}">
                <a16:creationId xmlns:a16="http://schemas.microsoft.com/office/drawing/2014/main" id="{21EF2E35-4118-AA61-B0DB-30C24A2469C5}"/>
              </a:ext>
            </a:extLst>
          </p:cNvPr>
          <p:cNvSpPr/>
          <p:nvPr/>
        </p:nvSpPr>
        <p:spPr>
          <a:xfrm>
            <a:off x="4514122" y="3460830"/>
            <a:ext cx="144000" cy="144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Elipse 12">
            <a:extLst>
              <a:ext uri="{FF2B5EF4-FFF2-40B4-BE49-F238E27FC236}">
                <a16:creationId xmlns:a16="http://schemas.microsoft.com/office/drawing/2014/main" id="{AF8D0C5B-5A2F-A4E4-EC02-8FF0DBBB4565}"/>
              </a:ext>
            </a:extLst>
          </p:cNvPr>
          <p:cNvSpPr/>
          <p:nvPr/>
        </p:nvSpPr>
        <p:spPr>
          <a:xfrm>
            <a:off x="5870291" y="2930322"/>
            <a:ext cx="144000" cy="144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4" name="Elipse 13">
            <a:extLst>
              <a:ext uri="{FF2B5EF4-FFF2-40B4-BE49-F238E27FC236}">
                <a16:creationId xmlns:a16="http://schemas.microsoft.com/office/drawing/2014/main" id="{0F6B910C-5409-8406-9B21-CE960FF3176D}"/>
              </a:ext>
            </a:extLst>
          </p:cNvPr>
          <p:cNvSpPr/>
          <p:nvPr/>
        </p:nvSpPr>
        <p:spPr>
          <a:xfrm>
            <a:off x="7282400" y="2015928"/>
            <a:ext cx="144000" cy="144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Elipse 14">
            <a:extLst>
              <a:ext uri="{FF2B5EF4-FFF2-40B4-BE49-F238E27FC236}">
                <a16:creationId xmlns:a16="http://schemas.microsoft.com/office/drawing/2014/main" id="{38741145-ACD6-D0EE-231E-01399F88A049}"/>
              </a:ext>
            </a:extLst>
          </p:cNvPr>
          <p:cNvSpPr/>
          <p:nvPr/>
        </p:nvSpPr>
        <p:spPr>
          <a:xfrm>
            <a:off x="2632651" y="3024378"/>
            <a:ext cx="720000" cy="720000"/>
          </a:xfrm>
          <a:prstGeom prst="ellipse">
            <a:avLst/>
          </a:prstGeom>
          <a:solidFill>
            <a:srgbClr val="593BB9">
              <a:alpha val="50980"/>
            </a:srgb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CL" sz="800" dirty="0">
                <a:solidFill>
                  <a:schemeClr val="tx1"/>
                </a:solidFill>
              </a:rPr>
              <a:t>Proyecto estratégico #1</a:t>
            </a:r>
          </a:p>
        </p:txBody>
      </p:sp>
      <p:sp>
        <p:nvSpPr>
          <p:cNvPr id="16" name="Elipse 15">
            <a:extLst>
              <a:ext uri="{FF2B5EF4-FFF2-40B4-BE49-F238E27FC236}">
                <a16:creationId xmlns:a16="http://schemas.microsoft.com/office/drawing/2014/main" id="{C9A76909-27C4-5F93-D8C4-E07ED79655BE}"/>
              </a:ext>
            </a:extLst>
          </p:cNvPr>
          <p:cNvSpPr/>
          <p:nvPr/>
        </p:nvSpPr>
        <p:spPr>
          <a:xfrm>
            <a:off x="3766965" y="2812830"/>
            <a:ext cx="720000" cy="720000"/>
          </a:xfrm>
          <a:prstGeom prst="ellipse">
            <a:avLst/>
          </a:prstGeom>
          <a:solidFill>
            <a:srgbClr val="593BB9">
              <a:alpha val="50980"/>
            </a:srgb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CL" sz="800" dirty="0">
                <a:solidFill>
                  <a:schemeClr val="tx1"/>
                </a:solidFill>
              </a:rPr>
              <a:t>Proyecto estratégico #2</a:t>
            </a:r>
          </a:p>
        </p:txBody>
      </p:sp>
      <p:sp>
        <p:nvSpPr>
          <p:cNvPr id="17" name="Elipse 16">
            <a:extLst>
              <a:ext uri="{FF2B5EF4-FFF2-40B4-BE49-F238E27FC236}">
                <a16:creationId xmlns:a16="http://schemas.microsoft.com/office/drawing/2014/main" id="{30FED07D-BA46-2AC7-1356-D9CBCBBA98B8}"/>
              </a:ext>
            </a:extLst>
          </p:cNvPr>
          <p:cNvSpPr/>
          <p:nvPr/>
        </p:nvSpPr>
        <p:spPr>
          <a:xfrm>
            <a:off x="4192854" y="2541083"/>
            <a:ext cx="720000" cy="720000"/>
          </a:xfrm>
          <a:prstGeom prst="ellipse">
            <a:avLst/>
          </a:prstGeom>
          <a:solidFill>
            <a:srgbClr val="593BB9">
              <a:alpha val="50980"/>
            </a:srgb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s-CL" sz="800" dirty="0">
                <a:solidFill>
                  <a:schemeClr val="tx1"/>
                </a:solidFill>
              </a:rPr>
              <a:t>Proyecto estratégico #3</a:t>
            </a:r>
          </a:p>
        </p:txBody>
      </p:sp>
      <p:sp>
        <p:nvSpPr>
          <p:cNvPr id="18" name="CuadroTexto 17">
            <a:extLst>
              <a:ext uri="{FF2B5EF4-FFF2-40B4-BE49-F238E27FC236}">
                <a16:creationId xmlns:a16="http://schemas.microsoft.com/office/drawing/2014/main" id="{B637CA0E-D702-621F-1D76-3F3AE64F5EBF}"/>
              </a:ext>
            </a:extLst>
          </p:cNvPr>
          <p:cNvSpPr txBox="1"/>
          <p:nvPr/>
        </p:nvSpPr>
        <p:spPr>
          <a:xfrm>
            <a:off x="763929" y="5155362"/>
            <a:ext cx="8128002" cy="307777"/>
          </a:xfrm>
          <a:prstGeom prst="rect">
            <a:avLst/>
          </a:prstGeom>
          <a:noFill/>
        </p:spPr>
        <p:txBody>
          <a:bodyPr wrap="square" rtlCol="0">
            <a:spAutoFit/>
          </a:bodyPr>
          <a:lstStyle/>
          <a:p>
            <a:r>
              <a:rPr lang="es-CL" sz="1400" dirty="0"/>
              <a:t>Explicar el plan y principales indicadores y riesgos</a:t>
            </a:r>
          </a:p>
        </p:txBody>
      </p:sp>
      <p:graphicFrame>
        <p:nvGraphicFramePr>
          <p:cNvPr id="19" name="Tabla 18">
            <a:extLst>
              <a:ext uri="{FF2B5EF4-FFF2-40B4-BE49-F238E27FC236}">
                <a16:creationId xmlns:a16="http://schemas.microsoft.com/office/drawing/2014/main" id="{93DF7922-A439-8533-A397-FB080FA2F7EB}"/>
              </a:ext>
            </a:extLst>
          </p:cNvPr>
          <p:cNvGraphicFramePr>
            <a:graphicFrameLocks noGrp="1"/>
          </p:cNvGraphicFramePr>
          <p:nvPr/>
        </p:nvGraphicFramePr>
        <p:xfrm>
          <a:off x="9094437" y="1888709"/>
          <a:ext cx="2800530" cy="2225041"/>
        </p:xfrm>
        <a:graphic>
          <a:graphicData uri="http://schemas.openxmlformats.org/drawingml/2006/table">
            <a:tbl>
              <a:tblPr firstRow="1" bandRow="1">
                <a:tableStyleId>{5940675A-B579-460E-94D1-54222C63F5DA}</a:tableStyleId>
              </a:tblPr>
              <a:tblGrid>
                <a:gridCol w="933510">
                  <a:extLst>
                    <a:ext uri="{9D8B030D-6E8A-4147-A177-3AD203B41FA5}">
                      <a16:colId xmlns:a16="http://schemas.microsoft.com/office/drawing/2014/main" val="3552759365"/>
                    </a:ext>
                  </a:extLst>
                </a:gridCol>
                <a:gridCol w="933510">
                  <a:extLst>
                    <a:ext uri="{9D8B030D-6E8A-4147-A177-3AD203B41FA5}">
                      <a16:colId xmlns:a16="http://schemas.microsoft.com/office/drawing/2014/main" val="3579175587"/>
                    </a:ext>
                  </a:extLst>
                </a:gridCol>
                <a:gridCol w="933510">
                  <a:extLst>
                    <a:ext uri="{9D8B030D-6E8A-4147-A177-3AD203B41FA5}">
                      <a16:colId xmlns:a16="http://schemas.microsoft.com/office/drawing/2014/main" val="1888180784"/>
                    </a:ext>
                  </a:extLst>
                </a:gridCol>
              </a:tblGrid>
              <a:tr h="416266">
                <a:tc>
                  <a:txBody>
                    <a:bodyPr/>
                    <a:lstStyle/>
                    <a:p>
                      <a:pPr algn="ctr"/>
                      <a:r>
                        <a:rPr lang="es-CL" sz="800" b="1" dirty="0"/>
                        <a:t>INDICADORES DE ÉXITO</a:t>
                      </a:r>
                    </a:p>
                  </a:txBody>
                  <a:tcPr anchor="ctr"/>
                </a:tc>
                <a:tc>
                  <a:txBody>
                    <a:bodyPr/>
                    <a:lstStyle/>
                    <a:p>
                      <a:pPr algn="ctr"/>
                      <a:r>
                        <a:rPr lang="es-CL" sz="1100" b="1" dirty="0"/>
                        <a:t>4to año</a:t>
                      </a:r>
                    </a:p>
                  </a:txBody>
                  <a:tcPr anchor="ctr"/>
                </a:tc>
                <a:tc>
                  <a:txBody>
                    <a:bodyPr/>
                    <a:lstStyle/>
                    <a:p>
                      <a:pPr algn="ctr"/>
                      <a:r>
                        <a:rPr lang="es-CL" sz="1100" b="1" dirty="0"/>
                        <a:t>5to año</a:t>
                      </a:r>
                    </a:p>
                  </a:txBody>
                  <a:tcPr anchor="ctr"/>
                </a:tc>
                <a:extLst>
                  <a:ext uri="{0D108BD9-81ED-4DB2-BD59-A6C34878D82A}">
                    <a16:rowId xmlns:a16="http://schemas.microsoft.com/office/drawing/2014/main" val="3762796135"/>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754347163"/>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4293141614"/>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1272607573"/>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2741043591"/>
                  </a:ext>
                </a:extLst>
              </a:tr>
              <a:tr h="361755">
                <a:tc>
                  <a:txBody>
                    <a:bodyPr/>
                    <a:lstStyle/>
                    <a:p>
                      <a:endParaRPr lang="es-CL" sz="1100" dirty="0"/>
                    </a:p>
                  </a:txBody>
                  <a:tcPr anchor="ctr"/>
                </a:tc>
                <a:tc>
                  <a:txBody>
                    <a:bodyPr/>
                    <a:lstStyle/>
                    <a:p>
                      <a:endParaRPr lang="es-CL" sz="1100" dirty="0"/>
                    </a:p>
                  </a:txBody>
                  <a:tcPr anchor="ctr"/>
                </a:tc>
                <a:tc>
                  <a:txBody>
                    <a:bodyPr/>
                    <a:lstStyle/>
                    <a:p>
                      <a:endParaRPr lang="es-CL" sz="1100" dirty="0"/>
                    </a:p>
                  </a:txBody>
                  <a:tcPr anchor="ctr"/>
                </a:tc>
                <a:extLst>
                  <a:ext uri="{0D108BD9-81ED-4DB2-BD59-A6C34878D82A}">
                    <a16:rowId xmlns:a16="http://schemas.microsoft.com/office/drawing/2014/main" val="1992390671"/>
                  </a:ext>
                </a:extLst>
              </a:tr>
            </a:tbl>
          </a:graphicData>
        </a:graphic>
      </p:graphicFrame>
    </p:spTree>
    <p:extLst>
      <p:ext uri="{BB962C8B-B14F-4D97-AF65-F5344CB8AC3E}">
        <p14:creationId xmlns:p14="http://schemas.microsoft.com/office/powerpoint/2010/main" val="28071349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Rectangle 5"/>
          <p:cNvSpPr>
            <a:spLocks/>
          </p:cNvSpPr>
          <p:nvPr/>
        </p:nvSpPr>
        <p:spPr bwMode="auto">
          <a:xfrm>
            <a:off x="860653" y="2077853"/>
            <a:ext cx="5076893" cy="2233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round/>
                <a:headEnd/>
                <a:tailEnd/>
              </a14:hiddenLine>
            </a:ext>
          </a:extLst>
        </p:spPr>
        <p:txBody>
          <a:bodyPr lIns="0" tIns="0" rIns="0" bIns="0" anchor="ctr"/>
          <a:lstStyle/>
          <a:p>
            <a:pPr marL="27430" marR="0" lvl="0" indent="0" algn="l" defTabSz="607721" rtl="0" eaLnBrk="1" fontAlgn="base" latinLnBrk="0" hangingPunct="1">
              <a:lnSpc>
                <a:spcPct val="100000"/>
              </a:lnSpc>
              <a:spcBef>
                <a:spcPct val="0"/>
              </a:spcBef>
              <a:spcAft>
                <a:spcPct val="0"/>
              </a:spcAft>
              <a:buClrTx/>
              <a:buSzTx/>
              <a:buFontTx/>
              <a:buNone/>
              <a:tabLst/>
              <a:defRPr/>
            </a:pPr>
            <a:r>
              <a:rPr kumimoji="0" lang="en-US" sz="20800" b="0" i="0" u="none" strike="noStrike" kern="1200" cap="none" spc="0" normalizeH="0" baseline="0" noProof="0">
                <a:ln>
                  <a:noFill/>
                </a:ln>
                <a:effectLst/>
                <a:uLnTx/>
                <a:uFillTx/>
                <a:latin typeface="Gotham Medium" panose="02000603030000020004" pitchFamily="2" charset="0"/>
                <a:ea typeface="Helvetica Neue" charset="0"/>
                <a:cs typeface="Helvetica Neue" charset="0"/>
                <a:sym typeface="Helvetica Neue" charset="0"/>
              </a:rPr>
              <a:t>02</a:t>
            </a:r>
          </a:p>
        </p:txBody>
      </p:sp>
      <p:sp>
        <p:nvSpPr>
          <p:cNvPr id="31751" name="Rectangle 6"/>
          <p:cNvSpPr>
            <a:spLocks/>
          </p:cNvSpPr>
          <p:nvPr/>
        </p:nvSpPr>
        <p:spPr bwMode="auto">
          <a:xfrm>
            <a:off x="4994862" y="1721972"/>
            <a:ext cx="6903355" cy="482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round/>
                <a:headEnd/>
                <a:tailEnd/>
              </a14:hiddenLine>
            </a:ext>
          </a:extLst>
        </p:spPr>
        <p:txBody>
          <a:bodyPr lIns="0" tIns="0" rIns="0" bIns="0"/>
          <a:lstStyle/>
          <a:p>
            <a:pPr marL="0" marR="0" lvl="0" indent="0" algn="l" defTabSz="607721" rtl="0" eaLnBrk="1" fontAlgn="base" latinLnBrk="0" hangingPunct="1">
              <a:lnSpc>
                <a:spcPct val="100000"/>
              </a:lnSpc>
              <a:spcBef>
                <a:spcPts val="0"/>
              </a:spcBef>
              <a:spcAft>
                <a:spcPct val="0"/>
              </a:spcAft>
              <a:buClrTx/>
              <a:buSzTx/>
              <a:buFontTx/>
              <a:buNone/>
              <a:tabLst/>
              <a:defRPr/>
            </a:pPr>
            <a:r>
              <a:rPr lang="es-CL" sz="2400" dirty="0">
                <a:latin typeface="Montserrat SemiBold" panose="00000700000000000000" pitchFamily="2" charset="0"/>
                <a:ea typeface="Lucida Grande" charset="0"/>
                <a:cs typeface="Lucida Grande" charset="0"/>
                <a:sym typeface="Helvetica Neue" charset="0"/>
              </a:rPr>
              <a:t>Valorizando emprendimientos tempranos</a:t>
            </a:r>
            <a:endParaRPr kumimoji="0" lang="es-CL" sz="2400" b="0" i="0" u="none" strike="noStrike" kern="1200" cap="none" spc="0" normalizeH="0" baseline="0" noProof="0" dirty="0">
              <a:ln>
                <a:noFill/>
              </a:ln>
              <a:effectLst/>
              <a:uLnTx/>
              <a:uFillTx/>
              <a:latin typeface="Montserrat SemiBold" panose="00000700000000000000" pitchFamily="2" charset="0"/>
              <a:ea typeface="Lucida Grande" charset="0"/>
              <a:cs typeface="Lucida Grande" charset="0"/>
              <a:sym typeface="Helvetica Neue" charset="0"/>
            </a:endParaRPr>
          </a:p>
        </p:txBody>
      </p:sp>
      <p:graphicFrame>
        <p:nvGraphicFramePr>
          <p:cNvPr id="3" name="Tabla 3">
            <a:extLst>
              <a:ext uri="{FF2B5EF4-FFF2-40B4-BE49-F238E27FC236}">
                <a16:creationId xmlns:a16="http://schemas.microsoft.com/office/drawing/2014/main" id="{42BAAC6F-AF48-432A-9AD6-7AF18F4687EE}"/>
              </a:ext>
            </a:extLst>
          </p:cNvPr>
          <p:cNvGraphicFramePr>
            <a:graphicFrameLocks noGrp="1"/>
          </p:cNvGraphicFramePr>
          <p:nvPr/>
        </p:nvGraphicFramePr>
        <p:xfrm>
          <a:off x="4994863" y="2384425"/>
          <a:ext cx="7197138" cy="2051177"/>
        </p:xfrm>
        <a:graphic>
          <a:graphicData uri="http://schemas.openxmlformats.org/drawingml/2006/table">
            <a:tbl>
              <a:tblPr firstRow="1" bandRow="1">
                <a:tableStyleId>{5940675A-B579-460E-94D1-54222C63F5DA}</a:tableStyleId>
              </a:tblPr>
              <a:tblGrid>
                <a:gridCol w="802220">
                  <a:extLst>
                    <a:ext uri="{9D8B030D-6E8A-4147-A177-3AD203B41FA5}">
                      <a16:colId xmlns:a16="http://schemas.microsoft.com/office/drawing/2014/main" val="1106256936"/>
                    </a:ext>
                  </a:extLst>
                </a:gridCol>
                <a:gridCol w="6394918">
                  <a:extLst>
                    <a:ext uri="{9D8B030D-6E8A-4147-A177-3AD203B41FA5}">
                      <a16:colId xmlns:a16="http://schemas.microsoft.com/office/drawing/2014/main" val="377512402"/>
                    </a:ext>
                  </a:extLst>
                </a:gridCol>
              </a:tblGrid>
              <a:tr h="0">
                <a:tc>
                  <a:txBody>
                    <a:bodyPr/>
                    <a:lstStyle/>
                    <a:p>
                      <a:pPr algn="l"/>
                      <a:r>
                        <a:rPr lang="es-CL" sz="1100" b="1">
                          <a:solidFill>
                            <a:schemeClr val="tx1"/>
                          </a:solidFill>
                          <a:latin typeface="+mn-lt"/>
                        </a:rPr>
                        <a:t>UNIDAD</a:t>
                      </a:r>
                    </a:p>
                  </a:txBody>
                  <a:tcPr>
                    <a:lnL w="12700" cmpd="sng">
                      <a:noFill/>
                    </a:lnL>
                    <a:lnR w="12700" cmpd="sng">
                      <a:noFill/>
                    </a:lnR>
                    <a:lnT w="12700" cmpd="sng">
                      <a:noFill/>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noFill/>
                  </a:tcPr>
                </a:tc>
                <a:tc>
                  <a:txBody>
                    <a:bodyPr/>
                    <a:lstStyle/>
                    <a:p>
                      <a:pPr algn="l"/>
                      <a:r>
                        <a:rPr lang="es-CL" sz="1100" b="1">
                          <a:solidFill>
                            <a:schemeClr val="tx1"/>
                          </a:solidFill>
                          <a:latin typeface="+mn-lt"/>
                        </a:rPr>
                        <a:t>TEMA</a:t>
                      </a:r>
                    </a:p>
                  </a:txBody>
                  <a:tcPr>
                    <a:lnL w="12700" cmpd="sng">
                      <a:noFill/>
                    </a:lnL>
                    <a:lnR w="12700" cmpd="sng">
                      <a:noFill/>
                    </a:lnR>
                    <a:lnT w="12700" cmpd="sng">
                      <a:noFill/>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5678819"/>
                  </a:ext>
                </a:extLst>
              </a:tr>
              <a:tr h="370840">
                <a:tc>
                  <a:txBody>
                    <a:bodyPr/>
                    <a:lstStyle/>
                    <a:p>
                      <a:pPr marL="0" algn="l" defTabSz="914400" rtl="0" eaLnBrk="1" latinLnBrk="0" hangingPunct="1">
                        <a:lnSpc>
                          <a:spcPct val="114000"/>
                        </a:lnSpc>
                      </a:pPr>
                      <a:r>
                        <a:rPr lang="es-CL" sz="1600" kern="1200" dirty="0">
                          <a:solidFill>
                            <a:schemeClr val="tx1"/>
                          </a:solidFill>
                          <a:latin typeface="+mn-lt"/>
                          <a:ea typeface="+mn-ea"/>
                          <a:cs typeface="+mn-cs"/>
                        </a:rPr>
                        <a:t>01</a:t>
                      </a:r>
                    </a:p>
                  </a:txBody>
                  <a:tcPr>
                    <a:lnL w="12700" cmpd="sng">
                      <a:noFill/>
                    </a:lnL>
                    <a:lnR w="12700" cmpd="sng">
                      <a:noFill/>
                    </a:lnR>
                    <a:lnT w="6350" cap="flat" cmpd="sng" algn="ctr">
                      <a:solidFill>
                        <a:schemeClr val="bg1"/>
                      </a:solidFill>
                      <a:prstDash val="dot"/>
                      <a:round/>
                      <a:headEnd type="none" w="med" len="med"/>
                      <a:tailEnd type="none" w="med" len="med"/>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lnSpc>
                          <a:spcPct val="114000"/>
                        </a:lnSpc>
                      </a:pPr>
                      <a:r>
                        <a:rPr lang="es-CL" sz="1600" kern="1200" dirty="0">
                          <a:solidFill>
                            <a:schemeClr val="tx1"/>
                          </a:solidFill>
                          <a:latin typeface="+mn-lt"/>
                          <a:ea typeface="+mn-ea"/>
                          <a:cs typeface="+mn-cs"/>
                        </a:rPr>
                        <a:t>Qué es levantar capital</a:t>
                      </a:r>
                    </a:p>
                  </a:txBody>
                  <a:tcPr>
                    <a:lnL w="12700" cmpd="sng">
                      <a:noFill/>
                    </a:lnL>
                    <a:lnR w="12700" cmpd="sng">
                      <a:noFill/>
                    </a:lnR>
                    <a:lnT w="6350" cap="flat" cmpd="sng" algn="ctr">
                      <a:solidFill>
                        <a:schemeClr val="bg1"/>
                      </a:solidFill>
                      <a:prstDash val="dot"/>
                      <a:round/>
                      <a:headEnd type="none" w="med" len="med"/>
                      <a:tailEnd type="none" w="med" len="med"/>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2328654"/>
                  </a:ext>
                </a:extLst>
              </a:tr>
              <a:tr h="0">
                <a:tc>
                  <a:txBody>
                    <a:bodyPr/>
                    <a:lstStyle/>
                    <a:p>
                      <a:pPr algn="l">
                        <a:lnSpc>
                          <a:spcPct val="114000"/>
                        </a:lnSpc>
                      </a:pPr>
                      <a:r>
                        <a:rPr lang="es-CL" sz="1600" kern="1200" dirty="0">
                          <a:solidFill>
                            <a:schemeClr val="tx1"/>
                          </a:solidFill>
                          <a:latin typeface="+mn-lt"/>
                          <a:ea typeface="+mn-ea"/>
                          <a:cs typeface="+mn-cs"/>
                        </a:rPr>
                        <a:t>02</a:t>
                      </a:r>
                    </a:p>
                  </a:txBody>
                  <a:tcPr>
                    <a:lnL w="12700" cmpd="sng">
                      <a:noFill/>
                    </a:lnL>
                    <a:lnR w="12700" cmpd="sng">
                      <a:noFill/>
                    </a:lnR>
                    <a:lnT w="6350" cap="flat" cmpd="sng" algn="ctr">
                      <a:solidFill>
                        <a:schemeClr val="bg1"/>
                      </a:solidFill>
                      <a:prstDash val="dot"/>
                      <a:round/>
                      <a:headEnd type="none" w="med" len="med"/>
                      <a:tailEnd type="none" w="med" len="med"/>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noFill/>
                  </a:tcPr>
                </a:tc>
                <a:tc>
                  <a:txBody>
                    <a:bodyPr/>
                    <a:lstStyle/>
                    <a:p>
                      <a:pPr>
                        <a:lnSpc>
                          <a:spcPct val="114000"/>
                        </a:lnSpc>
                      </a:pPr>
                      <a:r>
                        <a:rPr lang="es-CL" sz="1600" kern="1200" dirty="0">
                          <a:solidFill>
                            <a:schemeClr val="tx1"/>
                          </a:solidFill>
                          <a:latin typeface="+mn-lt"/>
                          <a:ea typeface="+mn-ea"/>
                          <a:cs typeface="+mn-cs"/>
                        </a:rPr>
                        <a:t>Métodos de valorización en etapas tempranas</a:t>
                      </a:r>
                    </a:p>
                  </a:txBody>
                  <a:tcPr>
                    <a:lnL w="12700" cmpd="sng">
                      <a:noFill/>
                    </a:lnL>
                    <a:lnR w="12700" cmpd="sng">
                      <a:noFill/>
                    </a:lnR>
                    <a:lnT w="6350" cap="flat" cmpd="sng" algn="ctr">
                      <a:solidFill>
                        <a:schemeClr val="bg1"/>
                      </a:solidFill>
                      <a:prstDash val="dot"/>
                      <a:round/>
                      <a:headEnd type="none" w="med" len="med"/>
                      <a:tailEnd type="none" w="med" len="med"/>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0711119"/>
                  </a:ext>
                </a:extLst>
              </a:tr>
              <a:tr h="0">
                <a:tc>
                  <a:txBody>
                    <a:bodyPr/>
                    <a:lstStyle/>
                    <a:p>
                      <a:pPr algn="l">
                        <a:lnSpc>
                          <a:spcPct val="114000"/>
                        </a:lnSpc>
                      </a:pPr>
                      <a:r>
                        <a:rPr lang="es-CL" sz="1600" kern="1200">
                          <a:solidFill>
                            <a:schemeClr val="bg1"/>
                          </a:solidFill>
                          <a:latin typeface="Montserrat SemiBold" panose="00000700000000000000" pitchFamily="2" charset="0"/>
                          <a:ea typeface="+mn-ea"/>
                          <a:cs typeface="+mn-cs"/>
                        </a:rPr>
                        <a:t>03</a:t>
                      </a:r>
                    </a:p>
                  </a:txBody>
                  <a:tcPr>
                    <a:lnL w="12700" cmpd="sng">
                      <a:noFill/>
                    </a:lnL>
                    <a:lnR w="12700" cmpd="sng">
                      <a:noFill/>
                    </a:lnR>
                    <a:lnT w="6350" cap="flat" cmpd="sng" algn="ctr">
                      <a:solidFill>
                        <a:schemeClr val="bg1"/>
                      </a:solidFill>
                      <a:prstDash val="dot"/>
                      <a:round/>
                      <a:headEnd type="none" w="med" len="med"/>
                      <a:tailEnd type="none" w="med" len="med"/>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nSpc>
                          <a:spcPct val="114000"/>
                        </a:lnSpc>
                      </a:pPr>
                      <a:r>
                        <a:rPr lang="es-ES" sz="1600" kern="1200" dirty="0">
                          <a:solidFill>
                            <a:schemeClr val="bg1"/>
                          </a:solidFill>
                          <a:latin typeface="Montserrat SemiBold" panose="00000700000000000000" pitchFamily="2" charset="0"/>
                          <a:ea typeface="+mn-ea"/>
                          <a:cs typeface="+mn-cs"/>
                        </a:rPr>
                        <a:t>Métodos de valorización en crecimiento y madurez</a:t>
                      </a:r>
                    </a:p>
                  </a:txBody>
                  <a:tcPr>
                    <a:lnL w="12700" cmpd="sng">
                      <a:noFill/>
                    </a:lnL>
                    <a:lnR w="12700" cmpd="sng">
                      <a:noFill/>
                    </a:lnR>
                    <a:lnT w="6350" cap="flat" cmpd="sng" algn="ctr">
                      <a:solidFill>
                        <a:schemeClr val="bg1"/>
                      </a:solidFill>
                      <a:prstDash val="dot"/>
                      <a:round/>
                      <a:headEnd type="none" w="med" len="med"/>
                      <a:tailEnd type="none" w="med" len="med"/>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2442209333"/>
                  </a:ext>
                </a:extLst>
              </a:tr>
              <a:tr h="0">
                <a:tc>
                  <a:txBody>
                    <a:bodyPr/>
                    <a:lstStyle/>
                    <a:p>
                      <a:pPr algn="l">
                        <a:lnSpc>
                          <a:spcPct val="114000"/>
                        </a:lnSpc>
                      </a:pPr>
                      <a:r>
                        <a:rPr lang="es-CL" sz="1600">
                          <a:solidFill>
                            <a:schemeClr val="tx1"/>
                          </a:solidFill>
                          <a:latin typeface="+mn-lt"/>
                        </a:rPr>
                        <a:t>04</a:t>
                      </a:r>
                    </a:p>
                  </a:txBody>
                  <a:tcPr>
                    <a:lnL w="12700" cmpd="sng">
                      <a:noFill/>
                    </a:lnL>
                    <a:lnR w="12700" cmpd="sng">
                      <a:noFill/>
                    </a:lnR>
                    <a:lnT w="6350" cap="flat" cmpd="sng" algn="ctr">
                      <a:solidFill>
                        <a:schemeClr val="bg1"/>
                      </a:solidFill>
                      <a:prstDash val="dot"/>
                      <a:round/>
                      <a:headEnd type="none" w="med" len="med"/>
                      <a:tailEnd type="none" w="med" len="med"/>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lnSpc>
                          <a:spcPct val="114000"/>
                        </a:lnSpc>
                      </a:pPr>
                      <a:r>
                        <a:rPr lang="es-CL" sz="1600" kern="1200" dirty="0" err="1">
                          <a:solidFill>
                            <a:schemeClr val="tx1"/>
                          </a:solidFill>
                          <a:latin typeface="+mn-lt"/>
                          <a:ea typeface="+mn-ea"/>
                          <a:cs typeface="+mn-cs"/>
                        </a:rPr>
                        <a:t>Deck</a:t>
                      </a:r>
                      <a:r>
                        <a:rPr lang="es-CL" sz="1600" kern="1200" dirty="0">
                          <a:solidFill>
                            <a:schemeClr val="tx1"/>
                          </a:solidFill>
                          <a:latin typeface="+mn-lt"/>
                          <a:ea typeface="+mn-ea"/>
                          <a:cs typeface="+mn-cs"/>
                        </a:rPr>
                        <a:t> de inversión (Investor </a:t>
                      </a:r>
                      <a:r>
                        <a:rPr lang="es-CL" sz="1600" kern="1200" dirty="0" err="1">
                          <a:solidFill>
                            <a:schemeClr val="tx1"/>
                          </a:solidFill>
                          <a:latin typeface="+mn-lt"/>
                          <a:ea typeface="+mn-ea"/>
                          <a:cs typeface="+mn-cs"/>
                        </a:rPr>
                        <a:t>deck</a:t>
                      </a:r>
                      <a:r>
                        <a:rPr lang="es-CL" sz="1600" kern="1200" dirty="0">
                          <a:solidFill>
                            <a:schemeClr val="tx1"/>
                          </a:solidFill>
                          <a:latin typeface="+mn-lt"/>
                          <a:ea typeface="+mn-ea"/>
                          <a:cs typeface="+mn-cs"/>
                        </a:rPr>
                        <a:t>)</a:t>
                      </a:r>
                    </a:p>
                  </a:txBody>
                  <a:tcPr>
                    <a:lnL w="12700" cmpd="sng">
                      <a:noFill/>
                    </a:lnL>
                    <a:lnR w="12700" cmpd="sng">
                      <a:noFill/>
                    </a:lnR>
                    <a:lnT w="6350" cap="flat" cmpd="sng" algn="ctr">
                      <a:solidFill>
                        <a:schemeClr val="bg1"/>
                      </a:solidFill>
                      <a:prstDash val="dot"/>
                      <a:round/>
                      <a:headEnd type="none" w="med" len="med"/>
                      <a:tailEnd type="none" w="med" len="med"/>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5706755"/>
                  </a:ext>
                </a:extLst>
              </a:tr>
              <a:tr h="370840">
                <a:tc>
                  <a:txBody>
                    <a:bodyPr/>
                    <a:lstStyle/>
                    <a:p>
                      <a:pPr algn="l">
                        <a:lnSpc>
                          <a:spcPct val="114000"/>
                        </a:lnSpc>
                      </a:pPr>
                      <a:endParaRPr lang="es-CL" sz="1600" dirty="0">
                        <a:solidFill>
                          <a:schemeClr val="tx1"/>
                        </a:solidFill>
                      </a:endParaRPr>
                    </a:p>
                  </a:txBody>
                  <a:tcPr>
                    <a:lnL w="12700" cmpd="sng">
                      <a:noFill/>
                    </a:lnL>
                    <a:lnR w="12700" cmpd="sng">
                      <a:noFill/>
                    </a:lnR>
                    <a:lnT w="6350" cap="flat" cmpd="sng" algn="ctr">
                      <a:solidFill>
                        <a:schemeClr val="bg1"/>
                      </a:solidFill>
                      <a:prstDash val="dot"/>
                      <a:round/>
                      <a:headEnd type="none" w="med" len="med"/>
                      <a:tailEnd type="none" w="med" len="med"/>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tcPr>
                </a:tc>
                <a:tc>
                  <a:txBody>
                    <a:bodyPr/>
                    <a:lstStyle/>
                    <a:p>
                      <a:pPr>
                        <a:lnSpc>
                          <a:spcPct val="114000"/>
                        </a:lnSpc>
                      </a:pPr>
                      <a:endParaRPr lang="es-CL" sz="1600" dirty="0">
                        <a:solidFill>
                          <a:schemeClr val="tx1"/>
                        </a:solidFill>
                        <a:latin typeface="+mn-lt"/>
                      </a:endParaRPr>
                    </a:p>
                  </a:txBody>
                  <a:tcPr>
                    <a:lnL w="12700" cmpd="sng">
                      <a:noFill/>
                    </a:lnL>
                    <a:lnR w="12700" cmpd="sng">
                      <a:noFill/>
                    </a:lnR>
                    <a:lnT w="6350" cap="flat" cmpd="sng" algn="ctr">
                      <a:solidFill>
                        <a:schemeClr val="bg1"/>
                      </a:solidFill>
                      <a:prstDash val="dot"/>
                      <a:round/>
                      <a:headEnd type="none" w="med" len="med"/>
                      <a:tailEnd type="none" w="med" len="med"/>
                    </a:lnT>
                    <a:lnB w="6350" cap="flat" cmpd="sng" algn="ctr">
                      <a:solidFill>
                        <a:schemeClr val="bg1"/>
                      </a:solidFill>
                      <a:prstDash val="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406556"/>
                  </a:ext>
                </a:extLst>
              </a:tr>
            </a:tbl>
          </a:graphicData>
        </a:graphic>
      </p:graphicFrame>
      <p:cxnSp>
        <p:nvCxnSpPr>
          <p:cNvPr id="4" name="Straight Connector 3">
            <a:extLst>
              <a:ext uri="{FF2B5EF4-FFF2-40B4-BE49-F238E27FC236}">
                <a16:creationId xmlns:a16="http://schemas.microsoft.com/office/drawing/2014/main" id="{AD98194A-141F-4760-9B60-83B08B27FB09}"/>
              </a:ext>
            </a:extLst>
          </p:cNvPr>
          <p:cNvCxnSpPr/>
          <p:nvPr/>
        </p:nvCxnSpPr>
        <p:spPr>
          <a:xfrm>
            <a:off x="4994862" y="2204100"/>
            <a:ext cx="73495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25796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2C180D3-6026-8B65-ED4A-1C68D7D1ED90}"/>
              </a:ext>
            </a:extLst>
          </p:cNvPr>
          <p:cNvPicPr>
            <a:picLocks noChangeAspect="1"/>
          </p:cNvPicPr>
          <p:nvPr/>
        </p:nvPicPr>
        <p:blipFill>
          <a:blip r:embed="rId2"/>
          <a:stretch>
            <a:fillRect/>
          </a:stretch>
        </p:blipFill>
        <p:spPr>
          <a:xfrm>
            <a:off x="216213" y="1194543"/>
            <a:ext cx="5879787" cy="3942601"/>
          </a:xfrm>
          <a:prstGeom prst="rect">
            <a:avLst/>
          </a:prstGeom>
        </p:spPr>
      </p:pic>
      <p:sp>
        <p:nvSpPr>
          <p:cNvPr id="3" name="Rectángulo 2">
            <a:extLst>
              <a:ext uri="{FF2B5EF4-FFF2-40B4-BE49-F238E27FC236}">
                <a16:creationId xmlns:a16="http://schemas.microsoft.com/office/drawing/2014/main" id="{178206C2-0605-8DD0-0791-03B1D5023654}"/>
              </a:ext>
            </a:extLst>
          </p:cNvPr>
          <p:cNvSpPr/>
          <p:nvPr/>
        </p:nvSpPr>
        <p:spPr>
          <a:xfrm>
            <a:off x="193809" y="1020096"/>
            <a:ext cx="1531267" cy="4566317"/>
          </a:xfrm>
          <a:prstGeom prst="rect">
            <a:avLst/>
          </a:prstGeom>
          <a:solidFill>
            <a:schemeClr val="tx2">
              <a:lumMod val="20000"/>
              <a:lumOff val="80000"/>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FB4A8225-9C8D-821D-AF47-315B790DB2E0}"/>
              </a:ext>
            </a:extLst>
          </p:cNvPr>
          <p:cNvSpPr/>
          <p:nvPr/>
        </p:nvSpPr>
        <p:spPr>
          <a:xfrm>
            <a:off x="1725078" y="1020096"/>
            <a:ext cx="4319491" cy="514825"/>
          </a:xfrm>
          <a:prstGeom prst="rect">
            <a:avLst/>
          </a:prstGeom>
          <a:solidFill>
            <a:schemeClr val="tx2">
              <a:lumMod val="20000"/>
              <a:lumOff val="80000"/>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Rectángulo 4">
            <a:extLst>
              <a:ext uri="{FF2B5EF4-FFF2-40B4-BE49-F238E27FC236}">
                <a16:creationId xmlns:a16="http://schemas.microsoft.com/office/drawing/2014/main" id="{72769C40-B7F9-1A85-039C-D442B0D46181}"/>
              </a:ext>
            </a:extLst>
          </p:cNvPr>
          <p:cNvSpPr/>
          <p:nvPr/>
        </p:nvSpPr>
        <p:spPr>
          <a:xfrm>
            <a:off x="4130566" y="1534921"/>
            <a:ext cx="1914004" cy="3536667"/>
          </a:xfrm>
          <a:prstGeom prst="rect">
            <a:avLst/>
          </a:prstGeom>
          <a:solidFill>
            <a:schemeClr val="tx2">
              <a:lumMod val="20000"/>
              <a:lumOff val="80000"/>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CuadroTexto 5">
            <a:extLst>
              <a:ext uri="{FF2B5EF4-FFF2-40B4-BE49-F238E27FC236}">
                <a16:creationId xmlns:a16="http://schemas.microsoft.com/office/drawing/2014/main" id="{77DBF5E8-754D-D51E-B499-8AE978D3E4BD}"/>
              </a:ext>
            </a:extLst>
          </p:cNvPr>
          <p:cNvSpPr txBox="1"/>
          <p:nvPr/>
        </p:nvSpPr>
        <p:spPr>
          <a:xfrm>
            <a:off x="6447837" y="2411724"/>
            <a:ext cx="4756888" cy="2862322"/>
          </a:xfrm>
          <a:prstGeom prst="rect">
            <a:avLst/>
          </a:prstGeom>
          <a:noFill/>
        </p:spPr>
        <p:txBody>
          <a:bodyPr wrap="square">
            <a:spAutoFit/>
          </a:bodyPr>
          <a:lstStyle/>
          <a:p>
            <a:pPr marL="285750" indent="-285750" algn="just">
              <a:buFont typeface="Arial" panose="020B0604020202020204" pitchFamily="34" charset="0"/>
              <a:buChar char="•"/>
            </a:pPr>
            <a:r>
              <a:rPr lang="es-MX" sz="1800" b="1"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Crecimiento: </a:t>
            </a:r>
            <a:r>
              <a:rPr lang="es-MX" sz="18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En esta fase, el startup ha demostrado su modelo de negocio y ha comenzado a crecer y escalar.</a:t>
            </a:r>
          </a:p>
          <a:p>
            <a:pPr marL="285750" indent="-285750" algn="just">
              <a:buFont typeface="Arial" panose="020B0604020202020204" pitchFamily="34" charset="0"/>
              <a:buChar char="•"/>
            </a:pPr>
            <a:endParaRPr lang="es-MX" sz="18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endParaRPr>
          </a:p>
          <a:p>
            <a:pPr marL="285750" indent="-285750" algn="just">
              <a:buFont typeface="Arial" panose="020B0604020202020204" pitchFamily="34" charset="0"/>
              <a:buChar char="•"/>
            </a:pPr>
            <a:r>
              <a:rPr lang="es-MX" sz="1800" b="1"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Madurez: </a:t>
            </a:r>
            <a:r>
              <a:rPr lang="es-MX" sz="1800" dirty="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En la etapa de madurez, el startup ha alcanzado un crecimiento constante y sostenido, ha demostrado rentabilidad, y tiene una participación de mercado estable.</a:t>
            </a:r>
          </a:p>
        </p:txBody>
      </p:sp>
      <p:sp>
        <p:nvSpPr>
          <p:cNvPr id="7" name="Rectángulo 6">
            <a:extLst>
              <a:ext uri="{FF2B5EF4-FFF2-40B4-BE49-F238E27FC236}">
                <a16:creationId xmlns:a16="http://schemas.microsoft.com/office/drawing/2014/main" id="{DDC3D5D2-3DBC-7699-F9F2-EE17A261F03A}"/>
              </a:ext>
            </a:extLst>
          </p:cNvPr>
          <p:cNvSpPr/>
          <p:nvPr/>
        </p:nvSpPr>
        <p:spPr>
          <a:xfrm>
            <a:off x="1725078" y="5071588"/>
            <a:ext cx="4319492" cy="514825"/>
          </a:xfrm>
          <a:prstGeom prst="rect">
            <a:avLst/>
          </a:prstGeom>
          <a:solidFill>
            <a:schemeClr val="tx2">
              <a:lumMod val="20000"/>
              <a:lumOff val="80000"/>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Title 5">
            <a:extLst>
              <a:ext uri="{FF2B5EF4-FFF2-40B4-BE49-F238E27FC236}">
                <a16:creationId xmlns:a16="http://schemas.microsoft.com/office/drawing/2014/main" id="{3769BD48-F2A8-A4E4-6E4E-58BB7B47795D}"/>
              </a:ext>
            </a:extLst>
          </p:cNvPr>
          <p:cNvSpPr txBox="1">
            <a:spLocks/>
          </p:cNvSpPr>
          <p:nvPr/>
        </p:nvSpPr>
        <p:spPr>
          <a:xfrm>
            <a:off x="6593937" y="1397468"/>
            <a:ext cx="4610788"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CL" b="1" dirty="0"/>
              <a:t>Etapas de un startup</a:t>
            </a:r>
            <a:endParaRPr lang="es-CL" b="1" dirty="0">
              <a:solidFill>
                <a:schemeClr val="accent2"/>
              </a:solidFill>
            </a:endParaRPr>
          </a:p>
        </p:txBody>
      </p:sp>
      <p:sp>
        <p:nvSpPr>
          <p:cNvPr id="9" name="Rectángulo 8">
            <a:extLst>
              <a:ext uri="{FF2B5EF4-FFF2-40B4-BE49-F238E27FC236}">
                <a16:creationId xmlns:a16="http://schemas.microsoft.com/office/drawing/2014/main" id="{F8817960-6A93-7FA6-2DC8-D6FA677A8BE6}"/>
              </a:ext>
            </a:extLst>
          </p:cNvPr>
          <p:cNvSpPr/>
          <p:nvPr/>
        </p:nvSpPr>
        <p:spPr>
          <a:xfrm>
            <a:off x="0" y="0"/>
            <a:ext cx="3038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0" name="Rectángulo 9">
            <a:extLst>
              <a:ext uri="{FF2B5EF4-FFF2-40B4-BE49-F238E27FC236}">
                <a16:creationId xmlns:a16="http://schemas.microsoft.com/office/drawing/2014/main" id="{327BF516-825E-81AB-C233-86B30E024FF2}"/>
              </a:ext>
            </a:extLst>
          </p:cNvPr>
          <p:cNvSpPr/>
          <p:nvPr/>
        </p:nvSpPr>
        <p:spPr>
          <a:xfrm>
            <a:off x="3048000" y="0"/>
            <a:ext cx="30226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dirty="0"/>
              <a:t>CRECIMIENTO</a:t>
            </a:r>
          </a:p>
        </p:txBody>
      </p:sp>
      <p:sp>
        <p:nvSpPr>
          <p:cNvPr id="11" name="Rectángulo 10">
            <a:extLst>
              <a:ext uri="{FF2B5EF4-FFF2-40B4-BE49-F238E27FC236}">
                <a16:creationId xmlns:a16="http://schemas.microsoft.com/office/drawing/2014/main" id="{EDE1FFF3-809B-1B8C-832D-735A205B7C20}"/>
              </a:ext>
            </a:extLst>
          </p:cNvPr>
          <p:cNvSpPr/>
          <p:nvPr/>
        </p:nvSpPr>
        <p:spPr>
          <a:xfrm>
            <a:off x="6070600" y="-2744"/>
            <a:ext cx="3073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2" name="Rectángulo 11">
            <a:extLst>
              <a:ext uri="{FF2B5EF4-FFF2-40B4-BE49-F238E27FC236}">
                <a16:creationId xmlns:a16="http://schemas.microsoft.com/office/drawing/2014/main" id="{D376005C-D589-8D9D-770C-9B2904A6F7B2}"/>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3" name="Rectángulo 12">
            <a:extLst>
              <a:ext uri="{FF2B5EF4-FFF2-40B4-BE49-F238E27FC236}">
                <a16:creationId xmlns:a16="http://schemas.microsoft.com/office/drawing/2014/main" id="{48053F71-C163-A23F-FDC9-33C22C0067E2}"/>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4" name="Rectángulo 13">
            <a:extLst>
              <a:ext uri="{FF2B5EF4-FFF2-40B4-BE49-F238E27FC236}">
                <a16:creationId xmlns:a16="http://schemas.microsoft.com/office/drawing/2014/main" id="{334CDFF3-3E6B-4FE6-B5C2-199711A8A61E}"/>
              </a:ext>
            </a:extLst>
          </p:cNvPr>
          <p:cNvSpPr/>
          <p:nvPr/>
        </p:nvSpPr>
        <p:spPr>
          <a:xfrm>
            <a:off x="984251" y="354693"/>
            <a:ext cx="1047386"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15" name="Rectángulo 14">
            <a:extLst>
              <a:ext uri="{FF2B5EF4-FFF2-40B4-BE49-F238E27FC236}">
                <a16:creationId xmlns:a16="http://schemas.microsoft.com/office/drawing/2014/main" id="{94F71D03-91F4-6C94-6D00-6593E0739A29}"/>
              </a:ext>
            </a:extLst>
          </p:cNvPr>
          <p:cNvSpPr/>
          <p:nvPr/>
        </p:nvSpPr>
        <p:spPr>
          <a:xfrm>
            <a:off x="2031637" y="354694"/>
            <a:ext cx="10020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LATE SEED</a:t>
            </a:r>
          </a:p>
        </p:txBody>
      </p:sp>
    </p:spTree>
    <p:extLst>
      <p:ext uri="{BB962C8B-B14F-4D97-AF65-F5344CB8AC3E}">
        <p14:creationId xmlns:p14="http://schemas.microsoft.com/office/powerpoint/2010/main" val="28876663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a 15">
            <a:extLst>
              <a:ext uri="{FF2B5EF4-FFF2-40B4-BE49-F238E27FC236}">
                <a16:creationId xmlns:a16="http://schemas.microsoft.com/office/drawing/2014/main" id="{7EC24A73-296A-B526-8831-11D82C9C82B1}"/>
              </a:ext>
            </a:extLst>
          </p:cNvPr>
          <p:cNvGraphicFramePr>
            <a:graphicFrameLocks noGrp="1"/>
          </p:cNvGraphicFramePr>
          <p:nvPr/>
        </p:nvGraphicFramePr>
        <p:xfrm>
          <a:off x="483735" y="1602190"/>
          <a:ext cx="10874375" cy="137160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pPr algn="just"/>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Flujo de caja descontado</a:t>
                      </a:r>
                    </a:p>
                    <a:p>
                      <a:pPr algn="just"/>
                      <a:endParaRPr lang="es-CL" sz="1200"/>
                    </a:p>
                  </a:txBody>
                  <a:tcPr>
                    <a:lnB w="12700" cap="flat" cmpd="sng" algn="ctr">
                      <a:solidFill>
                        <a:schemeClr val="tx2"/>
                      </a:solidFill>
                      <a:prstDash val="dash"/>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El Método de</a:t>
                      </a:r>
                      <a:r>
                        <a:rPr lang="es-MX" sz="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Descuento de Flujos de Caja (DFC) es un método de valoración de empresas ampliamente utilizado que se basa en las perspectivas futuras de la empresa en lugar de su estado actual. Este método dinámico considera que el valor de una empresa es equivalente al valor presente de sus flujos de caja futuros descontados a una tasa que mide el riesgo asociado a estos flujos. Por lo tanto, no se basa en el balance de la empresa, sino en proyecciones futuras de sus cuentas de resultados.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t>
                      </a: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10" name="Rectángulo 9">
            <a:extLst>
              <a:ext uri="{FF2B5EF4-FFF2-40B4-BE49-F238E27FC236}">
                <a16:creationId xmlns:a16="http://schemas.microsoft.com/office/drawing/2014/main" id="{BA10F6CA-F680-8FA7-FC45-3C50B6B7C719}"/>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a:latin typeface="+mj-lt"/>
              </a:rPr>
              <a:t>6</a:t>
            </a:r>
          </a:p>
        </p:txBody>
      </p:sp>
      <p:sp>
        <p:nvSpPr>
          <p:cNvPr id="11" name="Title 5">
            <a:extLst>
              <a:ext uri="{FF2B5EF4-FFF2-40B4-BE49-F238E27FC236}">
                <a16:creationId xmlns:a16="http://schemas.microsoft.com/office/drawing/2014/main" id="{3DED704E-61EB-E532-A50D-47D61B727AD3}"/>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Crecimiento/Madurez</a:t>
            </a:r>
            <a:endParaRPr lang="es-CL" sz="2400" b="1">
              <a:solidFill>
                <a:schemeClr val="accent2"/>
              </a:solidFill>
            </a:endParaRPr>
          </a:p>
        </p:txBody>
      </p:sp>
      <p:sp>
        <p:nvSpPr>
          <p:cNvPr id="12" name="CuadroTexto 11">
            <a:extLst>
              <a:ext uri="{FF2B5EF4-FFF2-40B4-BE49-F238E27FC236}">
                <a16:creationId xmlns:a16="http://schemas.microsoft.com/office/drawing/2014/main" id="{ED855878-F042-E341-1E07-F305154320A3}"/>
              </a:ext>
            </a:extLst>
          </p:cNvPr>
          <p:cNvSpPr txBox="1"/>
          <p:nvPr/>
        </p:nvSpPr>
        <p:spPr>
          <a:xfrm>
            <a:off x="658813" y="4026706"/>
            <a:ext cx="6103256" cy="369332"/>
          </a:xfrm>
          <a:prstGeom prst="rect">
            <a:avLst/>
          </a:prstGeom>
          <a:noFill/>
        </p:spPr>
        <p:txBody>
          <a:bodyPr wrap="square">
            <a:spAutoFit/>
          </a:bodyPr>
          <a:lstStyle/>
          <a:p>
            <a:r>
              <a:rPr lang="es-MX" sz="1800" b="1"/>
              <a:t>¡Vamos a la planilla!</a:t>
            </a:r>
            <a:endParaRPr lang="es-CL"/>
          </a:p>
        </p:txBody>
      </p:sp>
      <p:sp>
        <p:nvSpPr>
          <p:cNvPr id="13" name="Rectángulo 12">
            <a:extLst>
              <a:ext uri="{FF2B5EF4-FFF2-40B4-BE49-F238E27FC236}">
                <a16:creationId xmlns:a16="http://schemas.microsoft.com/office/drawing/2014/main" id="{F17465D9-6A33-061F-B148-1BE0BBFF75F4}"/>
              </a:ext>
            </a:extLst>
          </p:cNvPr>
          <p:cNvSpPr/>
          <p:nvPr/>
        </p:nvSpPr>
        <p:spPr>
          <a:xfrm>
            <a:off x="0" y="0"/>
            <a:ext cx="3038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4" name="Rectángulo 13">
            <a:extLst>
              <a:ext uri="{FF2B5EF4-FFF2-40B4-BE49-F238E27FC236}">
                <a16:creationId xmlns:a16="http://schemas.microsoft.com/office/drawing/2014/main" id="{A26B6E13-3C99-0551-DD95-DC273B659FFF}"/>
              </a:ext>
            </a:extLst>
          </p:cNvPr>
          <p:cNvSpPr/>
          <p:nvPr/>
        </p:nvSpPr>
        <p:spPr>
          <a:xfrm>
            <a:off x="3048000" y="0"/>
            <a:ext cx="30226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dirty="0"/>
              <a:t>CRECIMIENTO</a:t>
            </a:r>
          </a:p>
        </p:txBody>
      </p:sp>
      <p:sp>
        <p:nvSpPr>
          <p:cNvPr id="15" name="Rectángulo 14">
            <a:extLst>
              <a:ext uri="{FF2B5EF4-FFF2-40B4-BE49-F238E27FC236}">
                <a16:creationId xmlns:a16="http://schemas.microsoft.com/office/drawing/2014/main" id="{B1082D77-6367-519D-8135-5256469A0EF0}"/>
              </a:ext>
            </a:extLst>
          </p:cNvPr>
          <p:cNvSpPr/>
          <p:nvPr/>
        </p:nvSpPr>
        <p:spPr>
          <a:xfrm>
            <a:off x="6070600" y="-2744"/>
            <a:ext cx="3073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6" name="Rectángulo 15">
            <a:extLst>
              <a:ext uri="{FF2B5EF4-FFF2-40B4-BE49-F238E27FC236}">
                <a16:creationId xmlns:a16="http://schemas.microsoft.com/office/drawing/2014/main" id="{A07D3A15-D853-AE86-5B04-1A7D38C7BAD7}"/>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7" name="Rectángulo 16">
            <a:extLst>
              <a:ext uri="{FF2B5EF4-FFF2-40B4-BE49-F238E27FC236}">
                <a16:creationId xmlns:a16="http://schemas.microsoft.com/office/drawing/2014/main" id="{38836043-95BC-FC0D-14C0-E3998A1B0107}"/>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8" name="Rectángulo 17">
            <a:extLst>
              <a:ext uri="{FF2B5EF4-FFF2-40B4-BE49-F238E27FC236}">
                <a16:creationId xmlns:a16="http://schemas.microsoft.com/office/drawing/2014/main" id="{24E7FF50-EE21-9D0F-F326-EFFFD2227A59}"/>
              </a:ext>
            </a:extLst>
          </p:cNvPr>
          <p:cNvSpPr/>
          <p:nvPr/>
        </p:nvSpPr>
        <p:spPr>
          <a:xfrm>
            <a:off x="984251" y="354693"/>
            <a:ext cx="1047386"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19" name="Rectángulo 18">
            <a:extLst>
              <a:ext uri="{FF2B5EF4-FFF2-40B4-BE49-F238E27FC236}">
                <a16:creationId xmlns:a16="http://schemas.microsoft.com/office/drawing/2014/main" id="{5F6B9EAE-351F-0E99-3F83-06B08557A77D}"/>
              </a:ext>
            </a:extLst>
          </p:cNvPr>
          <p:cNvSpPr/>
          <p:nvPr/>
        </p:nvSpPr>
        <p:spPr>
          <a:xfrm>
            <a:off x="2031637" y="354694"/>
            <a:ext cx="10020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LATE SEED</a:t>
            </a:r>
          </a:p>
        </p:txBody>
      </p:sp>
    </p:spTree>
    <p:extLst>
      <p:ext uri="{BB962C8B-B14F-4D97-AF65-F5344CB8AC3E}">
        <p14:creationId xmlns:p14="http://schemas.microsoft.com/office/powerpoint/2010/main" val="6742087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3DE2115-97F1-6AE2-5901-84E81BB6BE5E}"/>
              </a:ext>
            </a:extLst>
          </p:cNvPr>
          <p:cNvSpPr txBox="1"/>
          <p:nvPr/>
        </p:nvSpPr>
        <p:spPr>
          <a:xfrm>
            <a:off x="939478" y="625032"/>
            <a:ext cx="10313043" cy="461665"/>
          </a:xfrm>
          <a:prstGeom prst="rect">
            <a:avLst/>
          </a:prstGeom>
          <a:noFill/>
        </p:spPr>
        <p:txBody>
          <a:bodyPr wrap="square" rtlCol="0">
            <a:spAutoFit/>
          </a:bodyPr>
          <a:lstStyle/>
          <a:p>
            <a:pPr algn="ctr"/>
            <a:r>
              <a:rPr lang="es-CL" sz="2400" b="1" dirty="0"/>
              <a:t>¿En qué consiste el flujo de caja descontado?</a:t>
            </a:r>
          </a:p>
        </p:txBody>
      </p:sp>
      <p:sp>
        <p:nvSpPr>
          <p:cNvPr id="3" name="CuadroTexto 2">
            <a:extLst>
              <a:ext uri="{FF2B5EF4-FFF2-40B4-BE49-F238E27FC236}">
                <a16:creationId xmlns:a16="http://schemas.microsoft.com/office/drawing/2014/main" id="{BC249EF4-296E-44E9-A33F-440B12EAF177}"/>
              </a:ext>
            </a:extLst>
          </p:cNvPr>
          <p:cNvSpPr txBox="1"/>
          <p:nvPr/>
        </p:nvSpPr>
        <p:spPr>
          <a:xfrm>
            <a:off x="939478" y="1828561"/>
            <a:ext cx="4257555" cy="2585323"/>
          </a:xfrm>
          <a:prstGeom prst="rect">
            <a:avLst/>
          </a:prstGeom>
          <a:noFill/>
        </p:spPr>
        <p:txBody>
          <a:bodyPr wrap="square" rtlCol="0">
            <a:spAutoFit/>
          </a:bodyPr>
          <a:lstStyle/>
          <a:p>
            <a:r>
              <a:rPr lang="es-CL" dirty="0"/>
              <a:t>La idea es </a:t>
            </a:r>
            <a:r>
              <a:rPr lang="es-CL" b="1" dirty="0"/>
              <a:t>traer a Valor Presente </a:t>
            </a:r>
            <a:r>
              <a:rPr lang="es-CL" dirty="0"/>
              <a:t>(dinero de hoy) </a:t>
            </a:r>
            <a:r>
              <a:rPr lang="es-CL" b="1" dirty="0"/>
              <a:t>todos los flujos futuros</a:t>
            </a:r>
            <a:r>
              <a:rPr lang="es-CL" dirty="0"/>
              <a:t> (entonces puedo saber cuánto me va a ingresar), y descontar por el costo de oportunidad, o riesgo de la inversión, </a:t>
            </a:r>
            <a:r>
              <a:rPr lang="es-CL" b="1" dirty="0"/>
              <a:t>a través de la Tasa de descuento </a:t>
            </a:r>
            <a:r>
              <a:rPr lang="es-CL" dirty="0"/>
              <a:t>(para poder hacer comparable la inversión).</a:t>
            </a:r>
          </a:p>
        </p:txBody>
      </p:sp>
      <p:cxnSp>
        <p:nvCxnSpPr>
          <p:cNvPr id="5" name="Conector recto 4">
            <a:extLst>
              <a:ext uri="{FF2B5EF4-FFF2-40B4-BE49-F238E27FC236}">
                <a16:creationId xmlns:a16="http://schemas.microsoft.com/office/drawing/2014/main" id="{085B5237-65EA-A1D2-5717-68ABF08DC754}"/>
              </a:ext>
            </a:extLst>
          </p:cNvPr>
          <p:cNvCxnSpPr/>
          <p:nvPr/>
        </p:nvCxnSpPr>
        <p:spPr>
          <a:xfrm>
            <a:off x="6454816" y="1747777"/>
            <a:ext cx="0" cy="3634451"/>
          </a:xfrm>
          <a:prstGeom prst="line">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05B486CB-3F2B-A153-F8B6-01852A856049}"/>
              </a:ext>
            </a:extLst>
          </p:cNvPr>
          <p:cNvCxnSpPr/>
          <p:nvPr/>
        </p:nvCxnSpPr>
        <p:spPr>
          <a:xfrm>
            <a:off x="6454816" y="4155311"/>
            <a:ext cx="4737905" cy="0"/>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96A7D264-CD8C-30A4-EB58-DE385309C956}"/>
              </a:ext>
            </a:extLst>
          </p:cNvPr>
          <p:cNvSpPr txBox="1"/>
          <p:nvPr/>
        </p:nvSpPr>
        <p:spPr>
          <a:xfrm>
            <a:off x="7307213" y="4155311"/>
            <a:ext cx="268022" cy="369332"/>
          </a:xfrm>
          <a:prstGeom prst="rect">
            <a:avLst/>
          </a:prstGeom>
          <a:noFill/>
        </p:spPr>
        <p:txBody>
          <a:bodyPr wrap="none" rtlCol="0">
            <a:spAutoFit/>
          </a:bodyPr>
          <a:lstStyle/>
          <a:p>
            <a:r>
              <a:rPr lang="es-CL" dirty="0"/>
              <a:t>1</a:t>
            </a:r>
          </a:p>
        </p:txBody>
      </p:sp>
      <p:sp>
        <p:nvSpPr>
          <p:cNvPr id="13" name="CuadroTexto 12">
            <a:extLst>
              <a:ext uri="{FF2B5EF4-FFF2-40B4-BE49-F238E27FC236}">
                <a16:creationId xmlns:a16="http://schemas.microsoft.com/office/drawing/2014/main" id="{9D3D7E9E-BCE1-A96F-FBCA-1A7C33D15C23}"/>
              </a:ext>
            </a:extLst>
          </p:cNvPr>
          <p:cNvSpPr txBox="1"/>
          <p:nvPr/>
        </p:nvSpPr>
        <p:spPr>
          <a:xfrm>
            <a:off x="8222904" y="4162159"/>
            <a:ext cx="316112" cy="369332"/>
          </a:xfrm>
          <a:prstGeom prst="rect">
            <a:avLst/>
          </a:prstGeom>
          <a:noFill/>
        </p:spPr>
        <p:txBody>
          <a:bodyPr wrap="none" rtlCol="0">
            <a:spAutoFit/>
          </a:bodyPr>
          <a:lstStyle/>
          <a:p>
            <a:r>
              <a:rPr lang="es-CL" dirty="0"/>
              <a:t>2</a:t>
            </a:r>
          </a:p>
        </p:txBody>
      </p:sp>
      <p:sp>
        <p:nvSpPr>
          <p:cNvPr id="14" name="CuadroTexto 13">
            <a:extLst>
              <a:ext uri="{FF2B5EF4-FFF2-40B4-BE49-F238E27FC236}">
                <a16:creationId xmlns:a16="http://schemas.microsoft.com/office/drawing/2014/main" id="{F81E4E8F-6C3C-0407-4684-E396888D633C}"/>
              </a:ext>
            </a:extLst>
          </p:cNvPr>
          <p:cNvSpPr txBox="1"/>
          <p:nvPr/>
        </p:nvSpPr>
        <p:spPr>
          <a:xfrm>
            <a:off x="9172026" y="4167411"/>
            <a:ext cx="314510" cy="369332"/>
          </a:xfrm>
          <a:prstGeom prst="rect">
            <a:avLst/>
          </a:prstGeom>
          <a:noFill/>
        </p:spPr>
        <p:txBody>
          <a:bodyPr wrap="none" rtlCol="0">
            <a:spAutoFit/>
          </a:bodyPr>
          <a:lstStyle/>
          <a:p>
            <a:r>
              <a:rPr lang="es-CL" dirty="0"/>
              <a:t>3</a:t>
            </a:r>
          </a:p>
        </p:txBody>
      </p:sp>
      <p:sp>
        <p:nvSpPr>
          <p:cNvPr id="15" name="CuadroTexto 14">
            <a:extLst>
              <a:ext uri="{FF2B5EF4-FFF2-40B4-BE49-F238E27FC236}">
                <a16:creationId xmlns:a16="http://schemas.microsoft.com/office/drawing/2014/main" id="{7DDCF7EF-203B-E6EF-D1ED-8E02EBCFFA2A}"/>
              </a:ext>
            </a:extLst>
          </p:cNvPr>
          <p:cNvSpPr txBox="1"/>
          <p:nvPr/>
        </p:nvSpPr>
        <p:spPr>
          <a:xfrm>
            <a:off x="10106937" y="4162703"/>
            <a:ext cx="336952" cy="369332"/>
          </a:xfrm>
          <a:prstGeom prst="rect">
            <a:avLst/>
          </a:prstGeom>
          <a:noFill/>
        </p:spPr>
        <p:txBody>
          <a:bodyPr wrap="none" rtlCol="0">
            <a:spAutoFit/>
          </a:bodyPr>
          <a:lstStyle/>
          <a:p>
            <a:r>
              <a:rPr lang="es-CL" dirty="0"/>
              <a:t>4</a:t>
            </a:r>
          </a:p>
        </p:txBody>
      </p:sp>
      <p:sp>
        <p:nvSpPr>
          <p:cNvPr id="16" name="CuadroTexto 15">
            <a:extLst>
              <a:ext uri="{FF2B5EF4-FFF2-40B4-BE49-F238E27FC236}">
                <a16:creationId xmlns:a16="http://schemas.microsoft.com/office/drawing/2014/main" id="{DD9C82D8-4F1C-3ACB-8968-AEA40094EB1E}"/>
              </a:ext>
            </a:extLst>
          </p:cNvPr>
          <p:cNvSpPr txBox="1"/>
          <p:nvPr/>
        </p:nvSpPr>
        <p:spPr>
          <a:xfrm>
            <a:off x="10811011" y="4307104"/>
            <a:ext cx="256802" cy="307777"/>
          </a:xfrm>
          <a:prstGeom prst="rect">
            <a:avLst/>
          </a:prstGeom>
          <a:noFill/>
        </p:spPr>
        <p:txBody>
          <a:bodyPr wrap="none" rtlCol="0">
            <a:spAutoFit/>
          </a:bodyPr>
          <a:lstStyle/>
          <a:p>
            <a:r>
              <a:rPr lang="es-CL" sz="1400" i="1" dirty="0"/>
              <a:t>t</a:t>
            </a:r>
          </a:p>
        </p:txBody>
      </p:sp>
      <p:sp>
        <p:nvSpPr>
          <p:cNvPr id="17" name="CuadroTexto 16">
            <a:extLst>
              <a:ext uri="{FF2B5EF4-FFF2-40B4-BE49-F238E27FC236}">
                <a16:creationId xmlns:a16="http://schemas.microsoft.com/office/drawing/2014/main" id="{4D18403E-F51D-9A57-FF7C-209B555E146B}"/>
              </a:ext>
            </a:extLst>
          </p:cNvPr>
          <p:cNvSpPr txBox="1"/>
          <p:nvPr/>
        </p:nvSpPr>
        <p:spPr>
          <a:xfrm>
            <a:off x="6024941" y="1828561"/>
            <a:ext cx="292068" cy="307777"/>
          </a:xfrm>
          <a:prstGeom prst="rect">
            <a:avLst/>
          </a:prstGeom>
          <a:noFill/>
        </p:spPr>
        <p:txBody>
          <a:bodyPr wrap="none" rtlCol="0">
            <a:spAutoFit/>
          </a:bodyPr>
          <a:lstStyle/>
          <a:p>
            <a:r>
              <a:rPr lang="es-CL" sz="1400" i="1" dirty="0"/>
              <a:t>k</a:t>
            </a:r>
          </a:p>
        </p:txBody>
      </p:sp>
      <p:sp>
        <p:nvSpPr>
          <p:cNvPr id="18" name="Rectángulo 17">
            <a:extLst>
              <a:ext uri="{FF2B5EF4-FFF2-40B4-BE49-F238E27FC236}">
                <a16:creationId xmlns:a16="http://schemas.microsoft.com/office/drawing/2014/main" id="{977D2480-DC0B-B36D-BA35-D536A318FCFD}"/>
              </a:ext>
            </a:extLst>
          </p:cNvPr>
          <p:cNvSpPr/>
          <p:nvPr/>
        </p:nvSpPr>
        <p:spPr>
          <a:xfrm>
            <a:off x="7307213" y="4614880"/>
            <a:ext cx="268022" cy="432000"/>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Rectángulo 18">
            <a:extLst>
              <a:ext uri="{FF2B5EF4-FFF2-40B4-BE49-F238E27FC236}">
                <a16:creationId xmlns:a16="http://schemas.microsoft.com/office/drawing/2014/main" id="{B431D8B0-37E8-45B7-D021-EA0A2C577BD2}"/>
              </a:ext>
            </a:extLst>
          </p:cNvPr>
          <p:cNvSpPr/>
          <p:nvPr/>
        </p:nvSpPr>
        <p:spPr>
          <a:xfrm>
            <a:off x="8230881" y="3540100"/>
            <a:ext cx="268022" cy="216000"/>
          </a:xfrm>
          <a:prstGeom prst="rect">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8C291E53-7EBB-29A2-5F58-7340287877C2}"/>
              </a:ext>
            </a:extLst>
          </p:cNvPr>
          <p:cNvSpPr/>
          <p:nvPr/>
        </p:nvSpPr>
        <p:spPr>
          <a:xfrm>
            <a:off x="9172026" y="2699544"/>
            <a:ext cx="268022" cy="504000"/>
          </a:xfrm>
          <a:prstGeom prst="rect">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1" name="Rectángulo 20">
            <a:extLst>
              <a:ext uri="{FF2B5EF4-FFF2-40B4-BE49-F238E27FC236}">
                <a16:creationId xmlns:a16="http://schemas.microsoft.com/office/drawing/2014/main" id="{C479A88E-CF99-6689-2E9C-5AD8748180D9}"/>
              </a:ext>
            </a:extLst>
          </p:cNvPr>
          <p:cNvSpPr/>
          <p:nvPr/>
        </p:nvSpPr>
        <p:spPr>
          <a:xfrm>
            <a:off x="10175867" y="2923427"/>
            <a:ext cx="268022" cy="360000"/>
          </a:xfrm>
          <a:prstGeom prst="rect">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grpSp>
        <p:nvGrpSpPr>
          <p:cNvPr id="31" name="Grupo 30">
            <a:extLst>
              <a:ext uri="{FF2B5EF4-FFF2-40B4-BE49-F238E27FC236}">
                <a16:creationId xmlns:a16="http://schemas.microsoft.com/office/drawing/2014/main" id="{55356187-878E-F3E4-4DFF-2869AB8803B3}"/>
              </a:ext>
            </a:extLst>
          </p:cNvPr>
          <p:cNvGrpSpPr/>
          <p:nvPr/>
        </p:nvGrpSpPr>
        <p:grpSpPr>
          <a:xfrm>
            <a:off x="1193663" y="4830880"/>
            <a:ext cx="4543522" cy="1521873"/>
            <a:chOff x="919730" y="4850717"/>
            <a:chExt cx="4543522" cy="1521873"/>
          </a:xfrm>
        </p:grpSpPr>
        <p:pic>
          <p:nvPicPr>
            <p:cNvPr id="2052" name="Picture 4" descr="RPubs - propiedades de la sumatoria">
              <a:extLst>
                <a:ext uri="{FF2B5EF4-FFF2-40B4-BE49-F238E27FC236}">
                  <a16:creationId xmlns:a16="http://schemas.microsoft.com/office/drawing/2014/main" id="{A80F5E59-A694-5A6C-D0A3-F9E4FAFD0E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6396" y="4850717"/>
              <a:ext cx="1077322" cy="1063021"/>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E644DC6-5E66-EF46-AD4E-2327C7CC6DE5}"/>
                </a:ext>
              </a:extLst>
            </p:cNvPr>
            <p:cNvSpPr/>
            <p:nvPr/>
          </p:nvSpPr>
          <p:spPr>
            <a:xfrm>
              <a:off x="3433217" y="5166227"/>
              <a:ext cx="268022" cy="432000"/>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4" name="Rectángulo 23">
              <a:extLst>
                <a:ext uri="{FF2B5EF4-FFF2-40B4-BE49-F238E27FC236}">
                  <a16:creationId xmlns:a16="http://schemas.microsoft.com/office/drawing/2014/main" id="{85A9C989-CE8F-8317-A941-F33AC6C6BAD2}"/>
                </a:ext>
              </a:extLst>
            </p:cNvPr>
            <p:cNvSpPr/>
            <p:nvPr/>
          </p:nvSpPr>
          <p:spPr>
            <a:xfrm>
              <a:off x="3914778" y="5274227"/>
              <a:ext cx="268022" cy="216000"/>
            </a:xfrm>
            <a:prstGeom prst="rect">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5" name="Rectángulo 24">
              <a:extLst>
                <a:ext uri="{FF2B5EF4-FFF2-40B4-BE49-F238E27FC236}">
                  <a16:creationId xmlns:a16="http://schemas.microsoft.com/office/drawing/2014/main" id="{F80F73FE-A53C-EC05-86CC-DA5637ADC74C}"/>
                </a:ext>
              </a:extLst>
            </p:cNvPr>
            <p:cNvSpPr/>
            <p:nvPr/>
          </p:nvSpPr>
          <p:spPr>
            <a:xfrm>
              <a:off x="4396340" y="5130227"/>
              <a:ext cx="268022" cy="504000"/>
            </a:xfrm>
            <a:prstGeom prst="rect">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6" name="Rectángulo 25">
              <a:extLst>
                <a:ext uri="{FF2B5EF4-FFF2-40B4-BE49-F238E27FC236}">
                  <a16:creationId xmlns:a16="http://schemas.microsoft.com/office/drawing/2014/main" id="{7A1345DC-F1F2-E1D3-12B2-E25E846DF84B}"/>
                </a:ext>
              </a:extLst>
            </p:cNvPr>
            <p:cNvSpPr/>
            <p:nvPr/>
          </p:nvSpPr>
          <p:spPr>
            <a:xfrm>
              <a:off x="4877901" y="5202227"/>
              <a:ext cx="268022" cy="360000"/>
            </a:xfrm>
            <a:prstGeom prst="rect">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cxnSp>
          <p:nvCxnSpPr>
            <p:cNvPr id="28" name="Conector recto 27">
              <a:extLst>
                <a:ext uri="{FF2B5EF4-FFF2-40B4-BE49-F238E27FC236}">
                  <a16:creationId xmlns:a16="http://schemas.microsoft.com/office/drawing/2014/main" id="{DE221782-CDD5-EE41-ABA4-4DE54A7EDD31}"/>
                </a:ext>
              </a:extLst>
            </p:cNvPr>
            <p:cNvCxnSpPr/>
            <p:nvPr/>
          </p:nvCxnSpPr>
          <p:spPr>
            <a:xfrm>
              <a:off x="2002422" y="5913738"/>
              <a:ext cx="3460830" cy="0"/>
            </a:xfrm>
            <a:prstGeom prst="line">
              <a:avLst/>
            </a:prstGeom>
            <a:ln w="19050"/>
          </p:spPr>
          <p:style>
            <a:lnRef idx="1">
              <a:schemeClr val="dk1"/>
            </a:lnRef>
            <a:fillRef idx="0">
              <a:schemeClr val="dk1"/>
            </a:fillRef>
            <a:effectRef idx="0">
              <a:schemeClr val="dk1"/>
            </a:effectRef>
            <a:fontRef idx="minor">
              <a:schemeClr val="tx1"/>
            </a:fontRef>
          </p:style>
        </p:cxnSp>
        <p:sp>
          <p:nvSpPr>
            <p:cNvPr id="29" name="CuadroTexto 28">
              <a:extLst>
                <a:ext uri="{FF2B5EF4-FFF2-40B4-BE49-F238E27FC236}">
                  <a16:creationId xmlns:a16="http://schemas.microsoft.com/office/drawing/2014/main" id="{D1822370-C24B-66FC-E03B-F1E7B2B98B1A}"/>
                </a:ext>
              </a:extLst>
            </p:cNvPr>
            <p:cNvSpPr txBox="1"/>
            <p:nvPr/>
          </p:nvSpPr>
          <p:spPr>
            <a:xfrm>
              <a:off x="2866833" y="6064813"/>
              <a:ext cx="1685077" cy="307777"/>
            </a:xfrm>
            <a:prstGeom prst="rect">
              <a:avLst/>
            </a:prstGeom>
            <a:noFill/>
          </p:spPr>
          <p:txBody>
            <a:bodyPr wrap="none" rtlCol="0">
              <a:spAutoFit/>
            </a:bodyPr>
            <a:lstStyle/>
            <a:p>
              <a:r>
                <a:rPr lang="es-CL" sz="1400" i="1" dirty="0">
                  <a:latin typeface="Avenir Next" panose="020B0503020202020204" pitchFamily="34" charset="0"/>
                </a:rPr>
                <a:t>tasa de descuento</a:t>
              </a:r>
            </a:p>
          </p:txBody>
        </p:sp>
        <p:sp>
          <p:nvSpPr>
            <p:cNvPr id="30" name="CuadroTexto 29">
              <a:extLst>
                <a:ext uri="{FF2B5EF4-FFF2-40B4-BE49-F238E27FC236}">
                  <a16:creationId xmlns:a16="http://schemas.microsoft.com/office/drawing/2014/main" id="{6F44B253-9D2D-021E-0256-BE8F63E8DDF4}"/>
                </a:ext>
              </a:extLst>
            </p:cNvPr>
            <p:cNvSpPr txBox="1"/>
            <p:nvPr/>
          </p:nvSpPr>
          <p:spPr>
            <a:xfrm>
              <a:off x="919730" y="5729072"/>
              <a:ext cx="893193" cy="369332"/>
            </a:xfrm>
            <a:prstGeom prst="rect">
              <a:avLst/>
            </a:prstGeom>
            <a:noFill/>
          </p:spPr>
          <p:txBody>
            <a:bodyPr wrap="none" rtlCol="0">
              <a:spAutoFit/>
            </a:bodyPr>
            <a:lstStyle/>
            <a:p>
              <a:r>
                <a:rPr lang="es-CL" dirty="0"/>
                <a:t>VPN =</a:t>
              </a:r>
            </a:p>
          </p:txBody>
        </p:sp>
      </p:grpSp>
    </p:spTree>
    <p:extLst>
      <p:ext uri="{BB962C8B-B14F-4D97-AF65-F5344CB8AC3E}">
        <p14:creationId xmlns:p14="http://schemas.microsoft.com/office/powerpoint/2010/main" val="25929302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516B436-9C6D-5FC2-1A1C-8251B1B065EF}"/>
              </a:ext>
            </a:extLst>
          </p:cNvPr>
          <p:cNvSpPr txBox="1"/>
          <p:nvPr/>
        </p:nvSpPr>
        <p:spPr>
          <a:xfrm>
            <a:off x="939478" y="625032"/>
            <a:ext cx="10313043" cy="461665"/>
          </a:xfrm>
          <a:prstGeom prst="rect">
            <a:avLst/>
          </a:prstGeom>
          <a:noFill/>
        </p:spPr>
        <p:txBody>
          <a:bodyPr wrap="square" rtlCol="0">
            <a:spAutoFit/>
          </a:bodyPr>
          <a:lstStyle/>
          <a:p>
            <a:pPr algn="ctr"/>
            <a:r>
              <a:rPr lang="es-CL" sz="2400" b="1" dirty="0"/>
              <a:t>Temas del flujo de caja descontado en Startups</a:t>
            </a:r>
          </a:p>
        </p:txBody>
      </p:sp>
      <p:cxnSp>
        <p:nvCxnSpPr>
          <p:cNvPr id="3" name="Conector recto 2">
            <a:extLst>
              <a:ext uri="{FF2B5EF4-FFF2-40B4-BE49-F238E27FC236}">
                <a16:creationId xmlns:a16="http://schemas.microsoft.com/office/drawing/2014/main" id="{6B5974EC-2747-37FF-E7F3-DDEFA454DB86}"/>
              </a:ext>
            </a:extLst>
          </p:cNvPr>
          <p:cNvCxnSpPr/>
          <p:nvPr/>
        </p:nvCxnSpPr>
        <p:spPr>
          <a:xfrm>
            <a:off x="6454816" y="1747777"/>
            <a:ext cx="0" cy="3634451"/>
          </a:xfrm>
          <a:prstGeom prst="line">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 name="Conector recto 3">
            <a:extLst>
              <a:ext uri="{FF2B5EF4-FFF2-40B4-BE49-F238E27FC236}">
                <a16:creationId xmlns:a16="http://schemas.microsoft.com/office/drawing/2014/main" id="{78B14761-4DD8-3933-BEA4-AEA88855142E}"/>
              </a:ext>
            </a:extLst>
          </p:cNvPr>
          <p:cNvCxnSpPr/>
          <p:nvPr/>
        </p:nvCxnSpPr>
        <p:spPr>
          <a:xfrm>
            <a:off x="6454816" y="4155311"/>
            <a:ext cx="4737905" cy="0"/>
          </a:xfrm>
          <a:prstGeom prst="line">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0941F5B1-01EF-FD62-FFE4-E17D5F8622FF}"/>
              </a:ext>
            </a:extLst>
          </p:cNvPr>
          <p:cNvSpPr txBox="1"/>
          <p:nvPr/>
        </p:nvSpPr>
        <p:spPr>
          <a:xfrm>
            <a:off x="7307213" y="4155311"/>
            <a:ext cx="268022" cy="369332"/>
          </a:xfrm>
          <a:prstGeom prst="rect">
            <a:avLst/>
          </a:prstGeom>
          <a:noFill/>
        </p:spPr>
        <p:txBody>
          <a:bodyPr wrap="none" rtlCol="0">
            <a:spAutoFit/>
          </a:bodyPr>
          <a:lstStyle/>
          <a:p>
            <a:r>
              <a:rPr lang="es-CL" dirty="0"/>
              <a:t>1</a:t>
            </a:r>
          </a:p>
        </p:txBody>
      </p:sp>
      <p:sp>
        <p:nvSpPr>
          <p:cNvPr id="6" name="CuadroTexto 5">
            <a:extLst>
              <a:ext uri="{FF2B5EF4-FFF2-40B4-BE49-F238E27FC236}">
                <a16:creationId xmlns:a16="http://schemas.microsoft.com/office/drawing/2014/main" id="{EED442B0-4052-F46C-E70C-428BEE19DA79}"/>
              </a:ext>
            </a:extLst>
          </p:cNvPr>
          <p:cNvSpPr txBox="1"/>
          <p:nvPr/>
        </p:nvSpPr>
        <p:spPr>
          <a:xfrm>
            <a:off x="8222904" y="4162159"/>
            <a:ext cx="316112" cy="369332"/>
          </a:xfrm>
          <a:prstGeom prst="rect">
            <a:avLst/>
          </a:prstGeom>
          <a:noFill/>
        </p:spPr>
        <p:txBody>
          <a:bodyPr wrap="none" rtlCol="0">
            <a:spAutoFit/>
          </a:bodyPr>
          <a:lstStyle/>
          <a:p>
            <a:r>
              <a:rPr lang="es-CL" dirty="0"/>
              <a:t>2</a:t>
            </a:r>
          </a:p>
        </p:txBody>
      </p:sp>
      <p:sp>
        <p:nvSpPr>
          <p:cNvPr id="7" name="CuadroTexto 6">
            <a:extLst>
              <a:ext uri="{FF2B5EF4-FFF2-40B4-BE49-F238E27FC236}">
                <a16:creationId xmlns:a16="http://schemas.microsoft.com/office/drawing/2014/main" id="{3A98D96B-5C8B-9B5C-DD71-0F2FD1BD28A6}"/>
              </a:ext>
            </a:extLst>
          </p:cNvPr>
          <p:cNvSpPr txBox="1"/>
          <p:nvPr/>
        </p:nvSpPr>
        <p:spPr>
          <a:xfrm>
            <a:off x="9172026" y="4167411"/>
            <a:ext cx="314510" cy="369332"/>
          </a:xfrm>
          <a:prstGeom prst="rect">
            <a:avLst/>
          </a:prstGeom>
          <a:noFill/>
        </p:spPr>
        <p:txBody>
          <a:bodyPr wrap="none" rtlCol="0">
            <a:spAutoFit/>
          </a:bodyPr>
          <a:lstStyle/>
          <a:p>
            <a:r>
              <a:rPr lang="es-CL" dirty="0"/>
              <a:t>3</a:t>
            </a:r>
          </a:p>
        </p:txBody>
      </p:sp>
      <p:sp>
        <p:nvSpPr>
          <p:cNvPr id="8" name="CuadroTexto 7">
            <a:extLst>
              <a:ext uri="{FF2B5EF4-FFF2-40B4-BE49-F238E27FC236}">
                <a16:creationId xmlns:a16="http://schemas.microsoft.com/office/drawing/2014/main" id="{6FA86A64-B2D9-AC77-32EF-48FB92005A38}"/>
              </a:ext>
            </a:extLst>
          </p:cNvPr>
          <p:cNvSpPr txBox="1"/>
          <p:nvPr/>
        </p:nvSpPr>
        <p:spPr>
          <a:xfrm>
            <a:off x="10106937" y="4162703"/>
            <a:ext cx="336952" cy="369332"/>
          </a:xfrm>
          <a:prstGeom prst="rect">
            <a:avLst/>
          </a:prstGeom>
          <a:noFill/>
        </p:spPr>
        <p:txBody>
          <a:bodyPr wrap="none" rtlCol="0">
            <a:spAutoFit/>
          </a:bodyPr>
          <a:lstStyle/>
          <a:p>
            <a:r>
              <a:rPr lang="es-CL" dirty="0"/>
              <a:t>4</a:t>
            </a:r>
          </a:p>
        </p:txBody>
      </p:sp>
      <p:sp>
        <p:nvSpPr>
          <p:cNvPr id="9" name="CuadroTexto 8">
            <a:extLst>
              <a:ext uri="{FF2B5EF4-FFF2-40B4-BE49-F238E27FC236}">
                <a16:creationId xmlns:a16="http://schemas.microsoft.com/office/drawing/2014/main" id="{59052F2A-6D04-805A-449A-4CB85C5D7E3C}"/>
              </a:ext>
            </a:extLst>
          </p:cNvPr>
          <p:cNvSpPr txBox="1"/>
          <p:nvPr/>
        </p:nvSpPr>
        <p:spPr>
          <a:xfrm>
            <a:off x="10811011" y="4307104"/>
            <a:ext cx="256802" cy="307777"/>
          </a:xfrm>
          <a:prstGeom prst="rect">
            <a:avLst/>
          </a:prstGeom>
          <a:noFill/>
        </p:spPr>
        <p:txBody>
          <a:bodyPr wrap="none" rtlCol="0">
            <a:spAutoFit/>
          </a:bodyPr>
          <a:lstStyle/>
          <a:p>
            <a:r>
              <a:rPr lang="es-CL" sz="1400" i="1" dirty="0"/>
              <a:t>t</a:t>
            </a:r>
          </a:p>
        </p:txBody>
      </p:sp>
      <p:sp>
        <p:nvSpPr>
          <p:cNvPr id="10" name="CuadroTexto 9">
            <a:extLst>
              <a:ext uri="{FF2B5EF4-FFF2-40B4-BE49-F238E27FC236}">
                <a16:creationId xmlns:a16="http://schemas.microsoft.com/office/drawing/2014/main" id="{511916FE-E3CC-20B0-3BE4-22B1A14123DF}"/>
              </a:ext>
            </a:extLst>
          </p:cNvPr>
          <p:cNvSpPr txBox="1"/>
          <p:nvPr/>
        </p:nvSpPr>
        <p:spPr>
          <a:xfrm>
            <a:off x="6024941" y="1828561"/>
            <a:ext cx="292068" cy="307777"/>
          </a:xfrm>
          <a:prstGeom prst="rect">
            <a:avLst/>
          </a:prstGeom>
          <a:noFill/>
        </p:spPr>
        <p:txBody>
          <a:bodyPr wrap="none" rtlCol="0">
            <a:spAutoFit/>
          </a:bodyPr>
          <a:lstStyle/>
          <a:p>
            <a:r>
              <a:rPr lang="es-CL" sz="1400" i="1" dirty="0"/>
              <a:t>k</a:t>
            </a:r>
          </a:p>
        </p:txBody>
      </p:sp>
      <p:sp>
        <p:nvSpPr>
          <p:cNvPr id="11" name="Rectángulo 10">
            <a:extLst>
              <a:ext uri="{FF2B5EF4-FFF2-40B4-BE49-F238E27FC236}">
                <a16:creationId xmlns:a16="http://schemas.microsoft.com/office/drawing/2014/main" id="{AFC6D7E0-5734-0FBE-6249-6FBA362B99D5}"/>
              </a:ext>
            </a:extLst>
          </p:cNvPr>
          <p:cNvSpPr/>
          <p:nvPr/>
        </p:nvSpPr>
        <p:spPr>
          <a:xfrm>
            <a:off x="7307213" y="4614880"/>
            <a:ext cx="268022" cy="432000"/>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C69E711C-2D97-EE42-F9E9-52A6408EBF3E}"/>
              </a:ext>
            </a:extLst>
          </p:cNvPr>
          <p:cNvSpPr/>
          <p:nvPr/>
        </p:nvSpPr>
        <p:spPr>
          <a:xfrm>
            <a:off x="8230881" y="3540100"/>
            <a:ext cx="268022" cy="216000"/>
          </a:xfrm>
          <a:prstGeom prst="rect">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0700CF96-6EE6-058E-CBAB-478B42B7ABD6}"/>
              </a:ext>
            </a:extLst>
          </p:cNvPr>
          <p:cNvSpPr/>
          <p:nvPr/>
        </p:nvSpPr>
        <p:spPr>
          <a:xfrm>
            <a:off x="9172026" y="2699544"/>
            <a:ext cx="268022" cy="504000"/>
          </a:xfrm>
          <a:prstGeom prst="rect">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D4E32B8A-B7C6-D076-7C48-3597E875F633}"/>
              </a:ext>
            </a:extLst>
          </p:cNvPr>
          <p:cNvSpPr/>
          <p:nvPr/>
        </p:nvSpPr>
        <p:spPr>
          <a:xfrm>
            <a:off x="10175867" y="2923427"/>
            <a:ext cx="268022" cy="360000"/>
          </a:xfrm>
          <a:prstGeom prst="rect">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cxnSp>
        <p:nvCxnSpPr>
          <p:cNvPr id="16" name="Conector recto 15">
            <a:extLst>
              <a:ext uri="{FF2B5EF4-FFF2-40B4-BE49-F238E27FC236}">
                <a16:creationId xmlns:a16="http://schemas.microsoft.com/office/drawing/2014/main" id="{A7671BA3-0479-C3E7-5B8D-5973DA0AE4C5}"/>
              </a:ext>
            </a:extLst>
          </p:cNvPr>
          <p:cNvCxnSpPr/>
          <p:nvPr/>
        </p:nvCxnSpPr>
        <p:spPr>
          <a:xfrm flipV="1">
            <a:off x="6829063" y="3090441"/>
            <a:ext cx="4238750" cy="665659"/>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7" name="CuadroTexto 16">
            <a:extLst>
              <a:ext uri="{FF2B5EF4-FFF2-40B4-BE49-F238E27FC236}">
                <a16:creationId xmlns:a16="http://schemas.microsoft.com/office/drawing/2014/main" id="{16607F58-7AB2-4A63-E4F1-E8168A7B1CA1}"/>
              </a:ext>
            </a:extLst>
          </p:cNvPr>
          <p:cNvSpPr txBox="1"/>
          <p:nvPr/>
        </p:nvSpPr>
        <p:spPr>
          <a:xfrm>
            <a:off x="10811011" y="3170768"/>
            <a:ext cx="920445" cy="369332"/>
          </a:xfrm>
          <a:prstGeom prst="rect">
            <a:avLst/>
          </a:prstGeom>
          <a:noFill/>
        </p:spPr>
        <p:txBody>
          <a:bodyPr wrap="none" rtlCol="0">
            <a:spAutoFit/>
          </a:bodyPr>
          <a:lstStyle/>
          <a:p>
            <a:r>
              <a:rPr lang="es-CL" dirty="0"/>
              <a:t>costos</a:t>
            </a:r>
          </a:p>
        </p:txBody>
      </p:sp>
      <p:cxnSp>
        <p:nvCxnSpPr>
          <p:cNvPr id="19" name="Conector recto 18">
            <a:extLst>
              <a:ext uri="{FF2B5EF4-FFF2-40B4-BE49-F238E27FC236}">
                <a16:creationId xmlns:a16="http://schemas.microsoft.com/office/drawing/2014/main" id="{2DBC9C52-1AE8-FC08-4E42-C990253863F4}"/>
              </a:ext>
            </a:extLst>
          </p:cNvPr>
          <p:cNvCxnSpPr/>
          <p:nvPr/>
        </p:nvCxnSpPr>
        <p:spPr>
          <a:xfrm flipV="1">
            <a:off x="6956385" y="1539433"/>
            <a:ext cx="3854626" cy="1883837"/>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20" name="CuadroTexto 19">
            <a:extLst>
              <a:ext uri="{FF2B5EF4-FFF2-40B4-BE49-F238E27FC236}">
                <a16:creationId xmlns:a16="http://schemas.microsoft.com/office/drawing/2014/main" id="{BA066062-0389-65AD-ABDA-97E23F3CC001}"/>
              </a:ext>
            </a:extLst>
          </p:cNvPr>
          <p:cNvSpPr txBox="1"/>
          <p:nvPr/>
        </p:nvSpPr>
        <p:spPr>
          <a:xfrm>
            <a:off x="10568958" y="1643895"/>
            <a:ext cx="1162498" cy="369332"/>
          </a:xfrm>
          <a:prstGeom prst="rect">
            <a:avLst/>
          </a:prstGeom>
          <a:noFill/>
        </p:spPr>
        <p:txBody>
          <a:bodyPr wrap="none" rtlCol="0">
            <a:spAutoFit/>
          </a:bodyPr>
          <a:lstStyle/>
          <a:p>
            <a:r>
              <a:rPr lang="es-CL" dirty="0"/>
              <a:t>ingresos</a:t>
            </a:r>
          </a:p>
        </p:txBody>
      </p:sp>
      <p:sp>
        <p:nvSpPr>
          <p:cNvPr id="21" name="CuadroTexto 20">
            <a:extLst>
              <a:ext uri="{FF2B5EF4-FFF2-40B4-BE49-F238E27FC236}">
                <a16:creationId xmlns:a16="http://schemas.microsoft.com/office/drawing/2014/main" id="{8C2FE110-0A7B-FB53-0B81-4303D0811CE6}"/>
              </a:ext>
            </a:extLst>
          </p:cNvPr>
          <p:cNvSpPr txBox="1"/>
          <p:nvPr/>
        </p:nvSpPr>
        <p:spPr>
          <a:xfrm>
            <a:off x="7771457" y="5345989"/>
            <a:ext cx="1627369" cy="276999"/>
          </a:xfrm>
          <a:prstGeom prst="rect">
            <a:avLst/>
          </a:prstGeom>
          <a:noFill/>
        </p:spPr>
        <p:txBody>
          <a:bodyPr wrap="none" rtlCol="0">
            <a:spAutoFit/>
          </a:bodyPr>
          <a:lstStyle/>
          <a:p>
            <a:r>
              <a:rPr lang="es-CL" sz="1200" i="1" dirty="0"/>
              <a:t>tasa de descuento</a:t>
            </a:r>
          </a:p>
        </p:txBody>
      </p:sp>
      <p:sp>
        <p:nvSpPr>
          <p:cNvPr id="22" name="CuadroTexto 21">
            <a:extLst>
              <a:ext uri="{FF2B5EF4-FFF2-40B4-BE49-F238E27FC236}">
                <a16:creationId xmlns:a16="http://schemas.microsoft.com/office/drawing/2014/main" id="{9FCF6E3B-F5DA-3362-6CE6-16F10D1EBBA1}"/>
              </a:ext>
            </a:extLst>
          </p:cNvPr>
          <p:cNvSpPr txBox="1"/>
          <p:nvPr/>
        </p:nvSpPr>
        <p:spPr>
          <a:xfrm>
            <a:off x="10771522" y="5678819"/>
            <a:ext cx="716863" cy="553998"/>
          </a:xfrm>
          <a:prstGeom prst="rect">
            <a:avLst/>
          </a:prstGeom>
          <a:noFill/>
        </p:spPr>
        <p:txBody>
          <a:bodyPr wrap="none" rtlCol="0">
            <a:spAutoFit/>
          </a:bodyPr>
          <a:lstStyle/>
          <a:p>
            <a:pPr algn="r"/>
            <a:r>
              <a:rPr lang="es-CL" dirty="0"/>
              <a:t>-</a:t>
            </a:r>
          </a:p>
          <a:p>
            <a:pPr algn="r"/>
            <a:r>
              <a:rPr lang="es-CL" sz="1200" dirty="0"/>
              <a:t>menos</a:t>
            </a:r>
            <a:endParaRPr lang="es-CL" dirty="0"/>
          </a:p>
        </p:txBody>
      </p:sp>
      <p:cxnSp>
        <p:nvCxnSpPr>
          <p:cNvPr id="24" name="Conector recto de flecha 23">
            <a:extLst>
              <a:ext uri="{FF2B5EF4-FFF2-40B4-BE49-F238E27FC236}">
                <a16:creationId xmlns:a16="http://schemas.microsoft.com/office/drawing/2014/main" id="{4C90348F-6484-AF13-04B9-65ABBAE20E0C}"/>
              </a:ext>
            </a:extLst>
          </p:cNvPr>
          <p:cNvCxnSpPr>
            <a:stCxn id="21" idx="2"/>
            <a:endCxn id="22" idx="1"/>
          </p:cNvCxnSpPr>
          <p:nvPr/>
        </p:nvCxnSpPr>
        <p:spPr>
          <a:xfrm>
            <a:off x="8585142" y="5622988"/>
            <a:ext cx="2186380" cy="3328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CuadroTexto 24">
            <a:extLst>
              <a:ext uri="{FF2B5EF4-FFF2-40B4-BE49-F238E27FC236}">
                <a16:creationId xmlns:a16="http://schemas.microsoft.com/office/drawing/2014/main" id="{5B86F590-A723-9276-8610-BF83E24AD871}"/>
              </a:ext>
            </a:extLst>
          </p:cNvPr>
          <p:cNvSpPr txBox="1"/>
          <p:nvPr/>
        </p:nvSpPr>
        <p:spPr>
          <a:xfrm>
            <a:off x="939478" y="1858307"/>
            <a:ext cx="4257555" cy="3416320"/>
          </a:xfrm>
          <a:prstGeom prst="rect">
            <a:avLst/>
          </a:prstGeom>
          <a:noFill/>
        </p:spPr>
        <p:txBody>
          <a:bodyPr wrap="square" rtlCol="0">
            <a:spAutoFit/>
          </a:bodyPr>
          <a:lstStyle/>
          <a:p>
            <a:r>
              <a:rPr lang="es-CL" dirty="0"/>
              <a:t>En emprendimiento dinámico, lo que va ocurriendo es que la operación de economías de escala, avances. En la curva de aprendizaje, eficiencia de la tecnología, ajustes del modelo de negocios, van prometiendo mayores márgenes en años futuros. Y por la adquisición de historia, la tasa de descuento va bajando, con esto las valorizaciones van aumentando en el tiempo.</a:t>
            </a:r>
          </a:p>
        </p:txBody>
      </p:sp>
      <p:sp>
        <p:nvSpPr>
          <p:cNvPr id="15" name="CuadroTexto 14">
            <a:extLst>
              <a:ext uri="{FF2B5EF4-FFF2-40B4-BE49-F238E27FC236}">
                <a16:creationId xmlns:a16="http://schemas.microsoft.com/office/drawing/2014/main" id="{9E6B1309-D6BE-04D7-6BA0-10AFFC6D14D6}"/>
              </a:ext>
            </a:extLst>
          </p:cNvPr>
          <p:cNvSpPr txBox="1"/>
          <p:nvPr/>
        </p:nvSpPr>
        <p:spPr>
          <a:xfrm>
            <a:off x="9811378" y="2308323"/>
            <a:ext cx="1999265" cy="276999"/>
          </a:xfrm>
          <a:prstGeom prst="rect">
            <a:avLst/>
          </a:prstGeom>
          <a:noFill/>
        </p:spPr>
        <p:txBody>
          <a:bodyPr wrap="none" rtlCol="0">
            <a:spAutoFit/>
          </a:bodyPr>
          <a:lstStyle/>
          <a:p>
            <a:r>
              <a:rPr lang="es-CL" sz="1200" i="1" dirty="0"/>
              <a:t>tasa crecimiento anual</a:t>
            </a:r>
          </a:p>
        </p:txBody>
      </p:sp>
    </p:spTree>
    <p:extLst>
      <p:ext uri="{BB962C8B-B14F-4D97-AF65-F5344CB8AC3E}">
        <p14:creationId xmlns:p14="http://schemas.microsoft.com/office/powerpoint/2010/main" val="27558463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1710CCF-6D79-02A5-F6AF-51E1E89E71F9}"/>
              </a:ext>
            </a:extLst>
          </p:cNvPr>
          <p:cNvSpPr txBox="1"/>
          <p:nvPr/>
        </p:nvSpPr>
        <p:spPr>
          <a:xfrm>
            <a:off x="939478" y="625032"/>
            <a:ext cx="10313043" cy="461665"/>
          </a:xfrm>
          <a:prstGeom prst="rect">
            <a:avLst/>
          </a:prstGeom>
          <a:noFill/>
        </p:spPr>
        <p:txBody>
          <a:bodyPr wrap="square" rtlCol="0">
            <a:spAutoFit/>
          </a:bodyPr>
          <a:lstStyle/>
          <a:p>
            <a:r>
              <a:rPr lang="es-CL" sz="2400" b="1" dirty="0"/>
              <a:t>La tasa de descuento es muy importante… </a:t>
            </a:r>
          </a:p>
        </p:txBody>
      </p:sp>
      <p:sp>
        <p:nvSpPr>
          <p:cNvPr id="4" name="CuadroTexto 3">
            <a:extLst>
              <a:ext uri="{FF2B5EF4-FFF2-40B4-BE49-F238E27FC236}">
                <a16:creationId xmlns:a16="http://schemas.microsoft.com/office/drawing/2014/main" id="{1CE01396-32A2-FB61-D94A-44A6102DA60C}"/>
              </a:ext>
            </a:extLst>
          </p:cNvPr>
          <p:cNvSpPr txBox="1"/>
          <p:nvPr/>
        </p:nvSpPr>
        <p:spPr>
          <a:xfrm>
            <a:off x="939479" y="5945863"/>
            <a:ext cx="10313042" cy="461665"/>
          </a:xfrm>
          <a:prstGeom prst="rect">
            <a:avLst/>
          </a:prstGeom>
          <a:noFill/>
        </p:spPr>
        <p:txBody>
          <a:bodyPr wrap="square">
            <a:spAutoFit/>
          </a:bodyPr>
          <a:lstStyle/>
          <a:p>
            <a:pPr algn="r"/>
            <a:r>
              <a:rPr lang="es-CL" sz="2400" b="1" dirty="0"/>
              <a:t>…debe traducir el riesgo</a:t>
            </a:r>
            <a:endParaRPr lang="es-CL" sz="2400" dirty="0"/>
          </a:p>
        </p:txBody>
      </p:sp>
      <p:pic>
        <p:nvPicPr>
          <p:cNvPr id="5" name="Imagen 4">
            <a:extLst>
              <a:ext uri="{FF2B5EF4-FFF2-40B4-BE49-F238E27FC236}">
                <a16:creationId xmlns:a16="http://schemas.microsoft.com/office/drawing/2014/main" id="{79FEBF37-9F4A-593E-813C-799510CEE90B}"/>
              </a:ext>
            </a:extLst>
          </p:cNvPr>
          <p:cNvPicPr>
            <a:picLocks noChangeAspect="1"/>
          </p:cNvPicPr>
          <p:nvPr/>
        </p:nvPicPr>
        <p:blipFill>
          <a:blip r:embed="rId2"/>
          <a:stretch>
            <a:fillRect/>
          </a:stretch>
        </p:blipFill>
        <p:spPr>
          <a:xfrm>
            <a:off x="0" y="1828800"/>
            <a:ext cx="4596434" cy="5025673"/>
          </a:xfrm>
          <a:prstGeom prst="rect">
            <a:avLst/>
          </a:prstGeom>
        </p:spPr>
      </p:pic>
      <p:sp>
        <p:nvSpPr>
          <p:cNvPr id="6" name="Llamada rectangular 5">
            <a:extLst>
              <a:ext uri="{FF2B5EF4-FFF2-40B4-BE49-F238E27FC236}">
                <a16:creationId xmlns:a16="http://schemas.microsoft.com/office/drawing/2014/main" id="{73117C53-8A8A-96D1-B412-C71AC53BAA18}"/>
              </a:ext>
            </a:extLst>
          </p:cNvPr>
          <p:cNvSpPr/>
          <p:nvPr/>
        </p:nvSpPr>
        <p:spPr>
          <a:xfrm>
            <a:off x="2141317" y="1507205"/>
            <a:ext cx="2766350" cy="1169043"/>
          </a:xfrm>
          <a:prstGeom prst="wedgeRectCallout">
            <a:avLst>
              <a:gd name="adj1" fmla="val -46355"/>
              <a:gd name="adj2" fmla="val 11101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¿Qué hago el fin de semana?</a:t>
            </a:r>
          </a:p>
        </p:txBody>
      </p:sp>
      <p:sp>
        <p:nvSpPr>
          <p:cNvPr id="7" name="Rectángulo 6">
            <a:extLst>
              <a:ext uri="{FF2B5EF4-FFF2-40B4-BE49-F238E27FC236}">
                <a16:creationId xmlns:a16="http://schemas.microsoft.com/office/drawing/2014/main" id="{3CFB3F52-00AB-3922-CD3B-0048770A33C8}"/>
              </a:ext>
            </a:extLst>
          </p:cNvPr>
          <p:cNvSpPr/>
          <p:nvPr/>
        </p:nvSpPr>
        <p:spPr>
          <a:xfrm>
            <a:off x="5157806" y="1507205"/>
            <a:ext cx="2990771" cy="1169043"/>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Ir a la playa… e invitar unos amigos</a:t>
            </a:r>
          </a:p>
        </p:txBody>
      </p:sp>
      <p:sp>
        <p:nvSpPr>
          <p:cNvPr id="8" name="Rectángulo 7">
            <a:extLst>
              <a:ext uri="{FF2B5EF4-FFF2-40B4-BE49-F238E27FC236}">
                <a16:creationId xmlns:a16="http://schemas.microsoft.com/office/drawing/2014/main" id="{3531E573-7603-B15B-FC7C-51F91FB17360}"/>
              </a:ext>
            </a:extLst>
          </p:cNvPr>
          <p:cNvSpPr/>
          <p:nvPr/>
        </p:nvSpPr>
        <p:spPr>
          <a:xfrm>
            <a:off x="8398716" y="1507204"/>
            <a:ext cx="2990771" cy="1169043"/>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Ver la final del deporte en la casa</a:t>
            </a:r>
          </a:p>
        </p:txBody>
      </p:sp>
      <p:sp>
        <p:nvSpPr>
          <p:cNvPr id="9" name="CuadroTexto 8">
            <a:extLst>
              <a:ext uri="{FF2B5EF4-FFF2-40B4-BE49-F238E27FC236}">
                <a16:creationId xmlns:a16="http://schemas.microsoft.com/office/drawing/2014/main" id="{3C768A0D-4096-E789-1E89-121F9CB49091}"/>
              </a:ext>
            </a:extLst>
          </p:cNvPr>
          <p:cNvSpPr txBox="1"/>
          <p:nvPr/>
        </p:nvSpPr>
        <p:spPr>
          <a:xfrm>
            <a:off x="5157806" y="2676247"/>
            <a:ext cx="800219" cy="307777"/>
          </a:xfrm>
          <a:prstGeom prst="rect">
            <a:avLst/>
          </a:prstGeom>
          <a:noFill/>
        </p:spPr>
        <p:txBody>
          <a:bodyPr wrap="none" rtlCol="0">
            <a:spAutoFit/>
          </a:bodyPr>
          <a:lstStyle/>
          <a:p>
            <a:r>
              <a:rPr lang="es-CL" sz="1400" b="1" dirty="0"/>
              <a:t>FLUJO</a:t>
            </a:r>
          </a:p>
        </p:txBody>
      </p:sp>
      <p:sp>
        <p:nvSpPr>
          <p:cNvPr id="10" name="Elipse 9">
            <a:extLst>
              <a:ext uri="{FF2B5EF4-FFF2-40B4-BE49-F238E27FC236}">
                <a16:creationId xmlns:a16="http://schemas.microsoft.com/office/drawing/2014/main" id="{26093286-AA65-74B7-9289-95D2CE47C7F6}"/>
              </a:ext>
            </a:extLst>
          </p:cNvPr>
          <p:cNvSpPr/>
          <p:nvPr/>
        </p:nvSpPr>
        <p:spPr>
          <a:xfrm>
            <a:off x="5157806" y="3268901"/>
            <a:ext cx="2990771" cy="724365"/>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tx1"/>
                </a:solidFill>
              </a:rPr>
              <a:t>Quizás llueva…</a:t>
            </a:r>
          </a:p>
        </p:txBody>
      </p:sp>
      <p:sp>
        <p:nvSpPr>
          <p:cNvPr id="11" name="Elipse 10">
            <a:extLst>
              <a:ext uri="{FF2B5EF4-FFF2-40B4-BE49-F238E27FC236}">
                <a16:creationId xmlns:a16="http://schemas.microsoft.com/office/drawing/2014/main" id="{F10D026F-EB33-0218-F2AE-042134557191}"/>
              </a:ext>
            </a:extLst>
          </p:cNvPr>
          <p:cNvSpPr/>
          <p:nvPr/>
        </p:nvSpPr>
        <p:spPr>
          <a:xfrm>
            <a:off x="5157806" y="4134760"/>
            <a:ext cx="2990771" cy="724365"/>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tx1"/>
                </a:solidFill>
              </a:rPr>
              <a:t>No es seguro que vayan los amigos…</a:t>
            </a:r>
          </a:p>
        </p:txBody>
      </p:sp>
      <p:sp>
        <p:nvSpPr>
          <p:cNvPr id="12" name="Elipse 11">
            <a:extLst>
              <a:ext uri="{FF2B5EF4-FFF2-40B4-BE49-F238E27FC236}">
                <a16:creationId xmlns:a16="http://schemas.microsoft.com/office/drawing/2014/main" id="{50826324-C91C-9FB7-6AC4-53E529FA3563}"/>
              </a:ext>
            </a:extLst>
          </p:cNvPr>
          <p:cNvSpPr/>
          <p:nvPr/>
        </p:nvSpPr>
        <p:spPr>
          <a:xfrm>
            <a:off x="5157806" y="4941060"/>
            <a:ext cx="2990771" cy="724365"/>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400" dirty="0">
                <a:solidFill>
                  <a:schemeClr val="tx1"/>
                </a:solidFill>
              </a:rPr>
              <a:t>No veríamos la final con amigos.</a:t>
            </a:r>
          </a:p>
        </p:txBody>
      </p:sp>
      <p:sp>
        <p:nvSpPr>
          <p:cNvPr id="13" name="Cerrar llave 12">
            <a:extLst>
              <a:ext uri="{FF2B5EF4-FFF2-40B4-BE49-F238E27FC236}">
                <a16:creationId xmlns:a16="http://schemas.microsoft.com/office/drawing/2014/main" id="{5CC7FF7B-DFE5-5B6D-AD73-7D3A6BE61525}"/>
              </a:ext>
            </a:extLst>
          </p:cNvPr>
          <p:cNvSpPr/>
          <p:nvPr/>
        </p:nvSpPr>
        <p:spPr>
          <a:xfrm>
            <a:off x="8398716" y="3159889"/>
            <a:ext cx="178125" cy="2505536"/>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CL"/>
          </a:p>
        </p:txBody>
      </p:sp>
      <p:sp>
        <p:nvSpPr>
          <p:cNvPr id="14" name="CuadroTexto 13">
            <a:extLst>
              <a:ext uri="{FF2B5EF4-FFF2-40B4-BE49-F238E27FC236}">
                <a16:creationId xmlns:a16="http://schemas.microsoft.com/office/drawing/2014/main" id="{5093CC48-EA82-F468-162D-9E00481CC7A6}"/>
              </a:ext>
            </a:extLst>
          </p:cNvPr>
          <p:cNvSpPr txBox="1"/>
          <p:nvPr/>
        </p:nvSpPr>
        <p:spPr>
          <a:xfrm>
            <a:off x="8912506" y="4151047"/>
            <a:ext cx="2476981" cy="523220"/>
          </a:xfrm>
          <a:prstGeom prst="rect">
            <a:avLst/>
          </a:prstGeom>
          <a:noFill/>
        </p:spPr>
        <p:txBody>
          <a:bodyPr wrap="square" rtlCol="0">
            <a:spAutoFit/>
          </a:bodyPr>
          <a:lstStyle/>
          <a:p>
            <a:r>
              <a:rPr lang="es-CL" sz="1400" b="1" dirty="0"/>
              <a:t>Riesgo y costo de oportunidad</a:t>
            </a:r>
          </a:p>
        </p:txBody>
      </p:sp>
    </p:spTree>
    <p:extLst>
      <p:ext uri="{BB962C8B-B14F-4D97-AF65-F5344CB8AC3E}">
        <p14:creationId xmlns:p14="http://schemas.microsoft.com/office/powerpoint/2010/main" val="8898981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a 15">
            <a:extLst>
              <a:ext uri="{FF2B5EF4-FFF2-40B4-BE49-F238E27FC236}">
                <a16:creationId xmlns:a16="http://schemas.microsoft.com/office/drawing/2014/main" id="{896606AE-9549-820B-D75D-044CD71BAD93}"/>
              </a:ext>
            </a:extLst>
          </p:cNvPr>
          <p:cNvGraphicFramePr>
            <a:graphicFrameLocks noGrp="1"/>
          </p:cNvGraphicFramePr>
          <p:nvPr/>
        </p:nvGraphicFramePr>
        <p:xfrm>
          <a:off x="483735" y="1602190"/>
          <a:ext cx="10874375" cy="82296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Múltiplos EBITDA</a:t>
                      </a:r>
                    </a:p>
                    <a:p>
                      <a:endParaRPr lang="es-CL" sz="1200"/>
                    </a:p>
                  </a:txBody>
                  <a:tcPr>
                    <a:lnB w="12700" cap="flat" cmpd="sng" algn="ctr">
                      <a:solidFill>
                        <a:schemeClr val="tx2"/>
                      </a:solidFill>
                      <a:prstDash val="dash"/>
                      <a:round/>
                      <a:headEnd type="none" w="med" len="med"/>
                      <a:tailEnd type="none" w="med" len="med"/>
                    </a:lnB>
                    <a:noFill/>
                  </a:tcPr>
                </a:tc>
                <a:tc>
                  <a:txBody>
                    <a:bodyPr/>
                    <a:lstStyle/>
                    <a:p>
                      <a:pPr algn="just">
                        <a:lnSpc>
                          <a:spcPct val="100000"/>
                        </a:lnSpc>
                        <a:spcBef>
                          <a:spcPts val="0"/>
                        </a:spcBef>
                        <a:buClrTx/>
                        <a:defRPr/>
                      </a:pPr>
                      <a:r>
                        <a:rPr lang="es-MX" sz="1200"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Esta metodología implica la multiplicación del EBITDA de la empresa (</a:t>
                      </a:r>
                      <a:r>
                        <a:rPr lang="es-MX" sz="1200" kern="1200" dirty="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Earnings</a:t>
                      </a:r>
                      <a:r>
                        <a:rPr lang="es-MX" sz="1200"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a:t>
                      </a:r>
                      <a:r>
                        <a:rPr lang="es-MX" sz="1200" kern="1200" dirty="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Before</a:t>
                      </a:r>
                      <a:r>
                        <a:rPr lang="es-MX" sz="1200"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a:t>
                      </a:r>
                      <a:r>
                        <a:rPr lang="es-MX" sz="1200" kern="1200" dirty="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Interests</a:t>
                      </a:r>
                      <a:r>
                        <a:rPr lang="es-MX" sz="1200"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a:t>
                      </a:r>
                      <a:r>
                        <a:rPr lang="es-MX" sz="1200" kern="1200" dirty="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Taxes</a:t>
                      </a:r>
                      <a:r>
                        <a:rPr lang="es-MX" sz="1200"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a:t>
                      </a:r>
                      <a:r>
                        <a:rPr lang="es-MX" sz="1200" kern="1200" dirty="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Depreciation</a:t>
                      </a:r>
                      <a:r>
                        <a:rPr lang="es-MX" sz="1200"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and </a:t>
                      </a:r>
                      <a:r>
                        <a:rPr lang="es-MX" sz="1200" kern="1200" dirty="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Amortization</a:t>
                      </a:r>
                      <a:r>
                        <a:rPr lang="es-MX" sz="1200"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por un múltiplo que refleje el estándar de la industria en la que opera la empresa.</a:t>
                      </a:r>
                    </a:p>
                    <a:p>
                      <a:pPr>
                        <a:lnSpc>
                          <a:spcPct val="100000"/>
                        </a:lnSpc>
                        <a:spcBef>
                          <a:spcPts val="0"/>
                        </a:spcBef>
                        <a:buClrTx/>
                        <a:defRPr/>
                      </a:pPr>
                      <a:endParaRPr lang="es-MX" sz="1200" kern="12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10" name="Rectángulo 9">
            <a:extLst>
              <a:ext uri="{FF2B5EF4-FFF2-40B4-BE49-F238E27FC236}">
                <a16:creationId xmlns:a16="http://schemas.microsoft.com/office/drawing/2014/main" id="{19FB8ADF-31DE-3270-9351-94DBDA2612C1}"/>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a:latin typeface="+mj-lt"/>
              </a:rPr>
              <a:t>7</a:t>
            </a:r>
          </a:p>
        </p:txBody>
      </p:sp>
      <p:sp>
        <p:nvSpPr>
          <p:cNvPr id="11" name="Title 5">
            <a:extLst>
              <a:ext uri="{FF2B5EF4-FFF2-40B4-BE49-F238E27FC236}">
                <a16:creationId xmlns:a16="http://schemas.microsoft.com/office/drawing/2014/main" id="{215E565E-D65B-BC37-56AB-C317C697787D}"/>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Crecimiento/Madurez</a:t>
            </a:r>
            <a:endParaRPr lang="es-CL" sz="2400" b="1">
              <a:solidFill>
                <a:schemeClr val="accent2"/>
              </a:solidFill>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3CBDB29-B20B-C53C-3ED6-DB7AB1B978E8}"/>
                  </a:ext>
                </a:extLst>
              </p:cNvPr>
              <p:cNvSpPr txBox="1"/>
              <p:nvPr/>
            </p:nvSpPr>
            <p:spPr>
              <a:xfrm>
                <a:off x="658813" y="2788714"/>
                <a:ext cx="10874377" cy="3198824"/>
              </a:xfrm>
              <a:prstGeom prst="rect">
                <a:avLst/>
              </a:prstGeom>
              <a:noFill/>
            </p:spPr>
            <p:txBody>
              <a:bodyPr wrap="square">
                <a:spAutoFit/>
              </a:bodyPr>
              <a:lstStyle/>
              <a:p>
                <a:pPr marL="261938" indent="-261938" algn="just">
                  <a:lnSpc>
                    <a:spcPct val="100000"/>
                  </a:lnSpc>
                  <a:spcBef>
                    <a:spcPts val="0"/>
                  </a:spcBef>
                  <a:buClrTx/>
                  <a:buFont typeface="+mj-lt"/>
                  <a:buAutoNum type="arabicPeriod"/>
                  <a:defRPr/>
                </a:pPr>
                <a:r>
                  <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Selección de empresas comparables: En primer lugar, se seleccionan las empresas que sean comparables con la empresa que se quiere valorar. Es importante encontrar empresas con características similares en cuanto al sector, modelo de negocio, etapa de crecimiento y contexto geográfico.</a:t>
                </a:r>
              </a:p>
              <a:p>
                <a:pPr marL="261938" indent="-261938" algn="just">
                  <a:lnSpc>
                    <a:spcPct val="100000"/>
                  </a:lnSpc>
                  <a:spcBef>
                    <a:spcPts val="0"/>
                  </a:spcBef>
                  <a:buClrTx/>
                  <a:buFont typeface="+mj-lt"/>
                  <a:buAutoNum type="arabicPeriod"/>
                  <a:defRPr/>
                </a:pPr>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261938" indent="-261938" algn="just">
                  <a:lnSpc>
                    <a:spcPct val="100000"/>
                  </a:lnSpc>
                  <a:spcBef>
                    <a:spcPts val="0"/>
                  </a:spcBef>
                  <a:buClrTx/>
                  <a:buFont typeface="+mj-lt"/>
                  <a:buAutoNum type="arabicPeriod"/>
                  <a:defRPr/>
                </a:pPr>
                <a:r>
                  <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Cálculo de los múltiplos de las empresas comparables: Una vez seleccionadas las empresas comparables, se calcula su múltiplo de EBITDA. Este cálculo se puede hacer utilizando la siguiente fórmula:</a:t>
                </a:r>
              </a:p>
              <a:p>
                <a:pPr marL="0" indent="0" algn="just">
                  <a:lnSpc>
                    <a:spcPct val="100000"/>
                  </a:lnSpc>
                  <a:spcBef>
                    <a:spcPts val="0"/>
                  </a:spcBef>
                  <a:buClrTx/>
                  <a:buNone/>
                  <a:defRPr/>
                </a:pPr>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0" indent="0" algn="just">
                  <a:lnSpc>
                    <a:spcPct val="100000"/>
                  </a:lnSpc>
                  <a:buNone/>
                </a:pPr>
                <a14:m>
                  <m:oMathPara xmlns:m="http://schemas.openxmlformats.org/officeDocument/2006/math">
                    <m:oMathParaPr>
                      <m:jc m:val="centerGroup"/>
                    </m:oMathParaPr>
                    <m:oMath xmlns:m="http://schemas.openxmlformats.org/officeDocument/2006/math">
                      <m:f>
                        <m:fPr>
                          <m:ctrlPr>
                            <a:rPr lang="es-MX" sz="1100" i="1">
                              <a:solidFill>
                                <a:srgbClr val="4E696D"/>
                              </a:solidFill>
                              <a:latin typeface="Cambria Math" panose="02040503050406030204" pitchFamily="18" charset="0"/>
                            </a:rPr>
                          </m:ctrlPr>
                        </m:fPr>
                        <m:num>
                          <m:r>
                            <a:rPr lang="es-MX" sz="1100">
                              <a:solidFill>
                                <a:srgbClr val="4E696D"/>
                              </a:solidFill>
                              <a:latin typeface="Cambria Math" panose="02040503050406030204" pitchFamily="18" charset="0"/>
                            </a:rPr>
                            <m:t>𝑉𝑎𝑙𝑜𝑟</m:t>
                          </m:r>
                          <m:r>
                            <a:rPr lang="es-MX" sz="1100">
                              <a:solidFill>
                                <a:srgbClr val="4E696D"/>
                              </a:solidFill>
                              <a:latin typeface="Cambria Math" panose="02040503050406030204" pitchFamily="18" charset="0"/>
                            </a:rPr>
                            <m:t> </m:t>
                          </m:r>
                          <m:r>
                            <a:rPr lang="es-MX" sz="1100">
                              <a:solidFill>
                                <a:srgbClr val="4E696D"/>
                              </a:solidFill>
                              <a:latin typeface="Cambria Math" panose="02040503050406030204" pitchFamily="18" charset="0"/>
                            </a:rPr>
                            <m:t>𝑑𝑒</m:t>
                          </m:r>
                          <m:r>
                            <a:rPr lang="es-MX" sz="1100">
                              <a:solidFill>
                                <a:srgbClr val="4E696D"/>
                              </a:solidFill>
                              <a:latin typeface="Cambria Math" panose="02040503050406030204" pitchFamily="18" charset="0"/>
                            </a:rPr>
                            <m:t> </m:t>
                          </m:r>
                          <m:r>
                            <a:rPr lang="es-MX" sz="1100">
                              <a:solidFill>
                                <a:srgbClr val="4E696D"/>
                              </a:solidFill>
                              <a:latin typeface="Cambria Math" panose="02040503050406030204" pitchFamily="18" charset="0"/>
                            </a:rPr>
                            <m:t>𝑙𝑎</m:t>
                          </m:r>
                          <m:r>
                            <a:rPr lang="es-MX" sz="1100">
                              <a:solidFill>
                                <a:srgbClr val="4E696D"/>
                              </a:solidFill>
                              <a:latin typeface="Cambria Math" panose="02040503050406030204" pitchFamily="18" charset="0"/>
                            </a:rPr>
                            <m:t> </m:t>
                          </m:r>
                          <m:r>
                            <a:rPr lang="es-MX" sz="1100">
                              <a:solidFill>
                                <a:srgbClr val="4E696D"/>
                              </a:solidFill>
                              <a:latin typeface="Cambria Math" panose="02040503050406030204" pitchFamily="18" charset="0"/>
                            </a:rPr>
                            <m:t>𝐸𝑚𝑝𝑟𝑒𝑠𝑎</m:t>
                          </m:r>
                        </m:num>
                        <m:den>
                          <m:r>
                            <a:rPr lang="es-MX" sz="1100">
                              <a:solidFill>
                                <a:srgbClr val="4E696D"/>
                              </a:solidFill>
                              <a:latin typeface="Cambria Math" panose="02040503050406030204" pitchFamily="18" charset="0"/>
                            </a:rPr>
                            <m:t>𝐸𝐵𝐼𝑇𝐷𝐴</m:t>
                          </m:r>
                        </m:den>
                      </m:f>
                      <m:r>
                        <a:rPr lang="es-MX" sz="1100">
                          <a:solidFill>
                            <a:srgbClr val="4E696D"/>
                          </a:solidFill>
                          <a:latin typeface="Cambria Math" panose="02040503050406030204" pitchFamily="18" charset="0"/>
                        </a:rPr>
                        <m:t>= </m:t>
                      </m:r>
                      <m:f>
                        <m:fPr>
                          <m:ctrlPr>
                            <a:rPr lang="es-MX" sz="1100" i="1">
                              <a:solidFill>
                                <a:srgbClr val="4E696D"/>
                              </a:solidFill>
                              <a:latin typeface="Cambria Math" panose="02040503050406030204" pitchFamily="18" charset="0"/>
                            </a:rPr>
                          </m:ctrlPr>
                        </m:fPr>
                        <m:num>
                          <m:r>
                            <a:rPr lang="es-MX" sz="1100">
                              <a:solidFill>
                                <a:srgbClr val="4E696D"/>
                              </a:solidFill>
                              <a:latin typeface="Cambria Math" panose="02040503050406030204" pitchFamily="18" charset="0"/>
                            </a:rPr>
                            <m:t>𝐶𝑎𝑝𝑖𝑡𝑎𝑙𝑖𝑧𝑎𝑐𝑖</m:t>
                          </m:r>
                          <m:r>
                            <a:rPr lang="es-MX" sz="1100">
                              <a:solidFill>
                                <a:srgbClr val="4E696D"/>
                              </a:solidFill>
                              <a:latin typeface="Cambria Math" panose="02040503050406030204" pitchFamily="18" charset="0"/>
                            </a:rPr>
                            <m:t>ó</m:t>
                          </m:r>
                          <m:r>
                            <a:rPr lang="es-MX" sz="1100">
                              <a:solidFill>
                                <a:srgbClr val="4E696D"/>
                              </a:solidFill>
                              <a:latin typeface="Cambria Math" panose="02040503050406030204" pitchFamily="18" charset="0"/>
                            </a:rPr>
                            <m:t>𝑛</m:t>
                          </m:r>
                          <m:r>
                            <a:rPr lang="es-MX" sz="1100">
                              <a:solidFill>
                                <a:srgbClr val="4E696D"/>
                              </a:solidFill>
                              <a:latin typeface="Cambria Math" panose="02040503050406030204" pitchFamily="18" charset="0"/>
                            </a:rPr>
                            <m:t> </m:t>
                          </m:r>
                          <m:r>
                            <a:rPr lang="es-MX" sz="1100">
                              <a:solidFill>
                                <a:srgbClr val="4E696D"/>
                              </a:solidFill>
                              <a:latin typeface="Cambria Math" panose="02040503050406030204" pitchFamily="18" charset="0"/>
                            </a:rPr>
                            <m:t>𝑏𝑢𝑟𝑠</m:t>
                          </m:r>
                          <m:r>
                            <a:rPr lang="es-MX" sz="1100">
                              <a:solidFill>
                                <a:srgbClr val="4E696D"/>
                              </a:solidFill>
                              <a:latin typeface="Cambria Math" panose="02040503050406030204" pitchFamily="18" charset="0"/>
                            </a:rPr>
                            <m:t>á</m:t>
                          </m:r>
                          <m:r>
                            <a:rPr lang="es-MX" sz="1100">
                              <a:solidFill>
                                <a:srgbClr val="4E696D"/>
                              </a:solidFill>
                              <a:latin typeface="Cambria Math" panose="02040503050406030204" pitchFamily="18" charset="0"/>
                            </a:rPr>
                            <m:t>𝑡𝑖𝑙</m:t>
                          </m:r>
                          <m:r>
                            <a:rPr lang="es-MX" sz="1100">
                              <a:solidFill>
                                <a:srgbClr val="4E696D"/>
                              </a:solidFill>
                              <a:latin typeface="Cambria Math" panose="02040503050406030204" pitchFamily="18" charset="0"/>
                            </a:rPr>
                            <m:t>+</m:t>
                          </m:r>
                          <m:r>
                            <a:rPr lang="es-MX" sz="1100">
                              <a:solidFill>
                                <a:srgbClr val="4E696D"/>
                              </a:solidFill>
                              <a:latin typeface="Cambria Math" panose="02040503050406030204" pitchFamily="18" charset="0"/>
                            </a:rPr>
                            <m:t>𝐷𝑒𝑢𝑑𝑎</m:t>
                          </m:r>
                          <m:r>
                            <a:rPr lang="es-MX" sz="1100">
                              <a:solidFill>
                                <a:srgbClr val="4E696D"/>
                              </a:solidFill>
                              <a:latin typeface="Cambria Math" panose="02040503050406030204" pitchFamily="18" charset="0"/>
                            </a:rPr>
                            <m:t> </m:t>
                          </m:r>
                          <m:r>
                            <a:rPr lang="es-MX" sz="1100">
                              <a:solidFill>
                                <a:srgbClr val="4E696D"/>
                              </a:solidFill>
                              <a:latin typeface="Cambria Math" panose="02040503050406030204" pitchFamily="18" charset="0"/>
                            </a:rPr>
                            <m:t>𝑁𝑒𝑡𝑎</m:t>
                          </m:r>
                        </m:num>
                        <m:den>
                          <m:r>
                            <a:rPr lang="es-MX" sz="1100">
                              <a:solidFill>
                                <a:srgbClr val="4E696D"/>
                              </a:solidFill>
                              <a:latin typeface="Cambria Math" panose="02040503050406030204" pitchFamily="18" charset="0"/>
                            </a:rPr>
                            <m:t>𝐸𝐵𝐼𝑇𝐷𝐴</m:t>
                          </m:r>
                        </m:den>
                      </m:f>
                    </m:oMath>
                  </m:oMathPara>
                </a14:m>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0" indent="0" algn="just">
                  <a:lnSpc>
                    <a:spcPct val="100000"/>
                  </a:lnSpc>
                  <a:buNone/>
                </a:pPr>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0" indent="0" algn="just">
                  <a:lnSpc>
                    <a:spcPct val="100000"/>
                  </a:lnSpc>
                  <a:buNone/>
                </a:pPr>
                <a:r>
                  <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Donde:   - La capitalización bursátil es el valor total de las acciones de la empresa en el mercado.</a:t>
                </a:r>
              </a:p>
              <a:p>
                <a:pPr marL="0" indent="0" algn="just">
                  <a:lnSpc>
                    <a:spcPct val="100000"/>
                  </a:lnSpc>
                  <a:buNone/>
                </a:pPr>
                <a:r>
                  <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 La deuda neta es la deuda total de la empresa menos sus activos líquidos.</a:t>
                </a:r>
              </a:p>
              <a:p>
                <a:pPr marL="0" indent="0" algn="just">
                  <a:lnSpc>
                    <a:spcPct val="100000"/>
                  </a:lnSpc>
                  <a:buNone/>
                </a:pPr>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228600" indent="-228600" algn="just">
                  <a:buAutoNum type="arabicPeriod" startAt="3"/>
                </a:pPr>
                <a:r>
                  <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Cálculo del múltiplo de referencia: Una vez calculados los múltiplos de todas las empresas comparables, se hace una media para obtener el múltiplo que se utilizará para valorar el startup en cuestión.</a:t>
                </a:r>
                <a:r>
                  <a:rPr lang="es-MX" sz="1200" b="1" dirty="0">
                    <a:latin typeface="Montserrat" panose="00000500000000000000" pitchFamily="2" charset="0"/>
                  </a:rPr>
                  <a:t> </a:t>
                </a:r>
              </a:p>
              <a:p>
                <a:pPr marL="228600" indent="-228600" algn="just">
                  <a:buAutoNum type="arabicPeriod" startAt="3"/>
                </a:pPr>
                <a:endParaRPr lang="es-MX" sz="1200" b="1" dirty="0">
                  <a:latin typeface="Montserrat" panose="00000500000000000000" pitchFamily="2" charset="0"/>
                </a:endParaRPr>
              </a:p>
              <a:p>
                <a:pPr marL="228600" indent="-228600" algn="just">
                  <a:buAutoNum type="arabicPeriod" startAt="3"/>
                </a:pPr>
                <a:r>
                  <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Estimación del valor de la empresa: Finalmente, se multiplica la media de todos los múltiplos por el EBITDA del startup, obteniendo así el valor estimado de la empresa.</a:t>
                </a:r>
              </a:p>
              <a:p>
                <a:pPr marL="0" indent="0" algn="just">
                  <a:lnSpc>
                    <a:spcPct val="100000"/>
                  </a:lnSpc>
                  <a:buNone/>
                </a:pPr>
                <a:endParaRPr kumimoji="0" lang="es-MX" sz="12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p:txBody>
          </p:sp>
        </mc:Choice>
        <mc:Fallback xmlns="">
          <p:sp>
            <p:nvSpPr>
              <p:cNvPr id="12" name="CuadroTexto 11">
                <a:extLst>
                  <a:ext uri="{FF2B5EF4-FFF2-40B4-BE49-F238E27FC236}">
                    <a16:creationId xmlns:a16="http://schemas.microsoft.com/office/drawing/2014/main" id="{D3CBDB29-B20B-C53C-3ED6-DB7AB1B978E8}"/>
                  </a:ext>
                </a:extLst>
              </p:cNvPr>
              <p:cNvSpPr txBox="1">
                <a:spLocks noRot="1" noChangeAspect="1" noMove="1" noResize="1" noEditPoints="1" noAdjustHandles="1" noChangeArrowheads="1" noChangeShapeType="1" noTextEdit="1"/>
              </p:cNvSpPr>
              <p:nvPr/>
            </p:nvSpPr>
            <p:spPr>
              <a:xfrm>
                <a:off x="658813" y="2788714"/>
                <a:ext cx="10874377" cy="3198824"/>
              </a:xfrm>
              <a:prstGeom prst="rect">
                <a:avLst/>
              </a:prstGeom>
              <a:blipFill>
                <a:blip r:embed="rId2"/>
                <a:stretch>
                  <a:fillRect t="-395"/>
                </a:stretch>
              </a:blipFill>
            </p:spPr>
            <p:txBody>
              <a:bodyPr/>
              <a:lstStyle/>
              <a:p>
                <a:r>
                  <a:rPr lang="es-CL">
                    <a:noFill/>
                  </a:rPr>
                  <a:t> </a:t>
                </a:r>
              </a:p>
            </p:txBody>
          </p:sp>
        </mc:Fallback>
      </mc:AlternateContent>
      <p:sp>
        <p:nvSpPr>
          <p:cNvPr id="13" name="Rectángulo 12">
            <a:extLst>
              <a:ext uri="{FF2B5EF4-FFF2-40B4-BE49-F238E27FC236}">
                <a16:creationId xmlns:a16="http://schemas.microsoft.com/office/drawing/2014/main" id="{28884356-D263-99DC-41CF-418BE8A91B83}"/>
              </a:ext>
            </a:extLst>
          </p:cNvPr>
          <p:cNvSpPr/>
          <p:nvPr/>
        </p:nvSpPr>
        <p:spPr>
          <a:xfrm>
            <a:off x="0" y="0"/>
            <a:ext cx="3038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4" name="Rectángulo 13">
            <a:extLst>
              <a:ext uri="{FF2B5EF4-FFF2-40B4-BE49-F238E27FC236}">
                <a16:creationId xmlns:a16="http://schemas.microsoft.com/office/drawing/2014/main" id="{8C02E855-05CD-A95E-582A-8FD524106796}"/>
              </a:ext>
            </a:extLst>
          </p:cNvPr>
          <p:cNvSpPr/>
          <p:nvPr/>
        </p:nvSpPr>
        <p:spPr>
          <a:xfrm>
            <a:off x="3048000" y="0"/>
            <a:ext cx="30226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dirty="0"/>
              <a:t>CRECIMIENTO</a:t>
            </a:r>
          </a:p>
        </p:txBody>
      </p:sp>
      <p:sp>
        <p:nvSpPr>
          <p:cNvPr id="15" name="Rectángulo 14">
            <a:extLst>
              <a:ext uri="{FF2B5EF4-FFF2-40B4-BE49-F238E27FC236}">
                <a16:creationId xmlns:a16="http://schemas.microsoft.com/office/drawing/2014/main" id="{E3AB65B5-68BE-A796-266C-061C7BB4FBBF}"/>
              </a:ext>
            </a:extLst>
          </p:cNvPr>
          <p:cNvSpPr/>
          <p:nvPr/>
        </p:nvSpPr>
        <p:spPr>
          <a:xfrm>
            <a:off x="6070600" y="-2744"/>
            <a:ext cx="3073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6" name="Rectángulo 15">
            <a:extLst>
              <a:ext uri="{FF2B5EF4-FFF2-40B4-BE49-F238E27FC236}">
                <a16:creationId xmlns:a16="http://schemas.microsoft.com/office/drawing/2014/main" id="{255C0B3A-9580-6DA2-8B4F-BD8016F12AB6}"/>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7" name="Rectángulo 16">
            <a:extLst>
              <a:ext uri="{FF2B5EF4-FFF2-40B4-BE49-F238E27FC236}">
                <a16:creationId xmlns:a16="http://schemas.microsoft.com/office/drawing/2014/main" id="{870D5A31-3A84-025A-A01E-DAC54BFDABC7}"/>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8" name="Rectángulo 17">
            <a:extLst>
              <a:ext uri="{FF2B5EF4-FFF2-40B4-BE49-F238E27FC236}">
                <a16:creationId xmlns:a16="http://schemas.microsoft.com/office/drawing/2014/main" id="{031CAE76-5019-B961-DB18-0391FAEE76C7}"/>
              </a:ext>
            </a:extLst>
          </p:cNvPr>
          <p:cNvSpPr/>
          <p:nvPr/>
        </p:nvSpPr>
        <p:spPr>
          <a:xfrm>
            <a:off x="984251" y="354693"/>
            <a:ext cx="1047386"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19" name="Rectángulo 18">
            <a:extLst>
              <a:ext uri="{FF2B5EF4-FFF2-40B4-BE49-F238E27FC236}">
                <a16:creationId xmlns:a16="http://schemas.microsoft.com/office/drawing/2014/main" id="{616B641D-5C54-1ECF-9C86-54E608ACD8B9}"/>
              </a:ext>
            </a:extLst>
          </p:cNvPr>
          <p:cNvSpPr/>
          <p:nvPr/>
        </p:nvSpPr>
        <p:spPr>
          <a:xfrm>
            <a:off x="2031637" y="354694"/>
            <a:ext cx="10020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LATE SEED</a:t>
            </a:r>
          </a:p>
        </p:txBody>
      </p:sp>
    </p:spTree>
    <p:extLst>
      <p:ext uri="{BB962C8B-B14F-4D97-AF65-F5344CB8AC3E}">
        <p14:creationId xmlns:p14="http://schemas.microsoft.com/office/powerpoint/2010/main" val="32256906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a 15">
            <a:extLst>
              <a:ext uri="{FF2B5EF4-FFF2-40B4-BE49-F238E27FC236}">
                <a16:creationId xmlns:a16="http://schemas.microsoft.com/office/drawing/2014/main" id="{7A4D5110-7B29-CB3C-E4F5-01DC282816E5}"/>
              </a:ext>
            </a:extLst>
          </p:cNvPr>
          <p:cNvGraphicFramePr>
            <a:graphicFrameLocks noGrp="1"/>
          </p:cNvGraphicFramePr>
          <p:nvPr/>
        </p:nvGraphicFramePr>
        <p:xfrm>
          <a:off x="483735" y="1602190"/>
          <a:ext cx="10874375" cy="82296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Múltiplos EBITDA</a:t>
                      </a:r>
                    </a:p>
                    <a:p>
                      <a:endParaRPr lang="es-CL" sz="1200"/>
                    </a:p>
                  </a:txBody>
                  <a:tcPr>
                    <a:lnB w="12700" cap="flat" cmpd="sng" algn="ctr">
                      <a:solidFill>
                        <a:schemeClr val="tx2"/>
                      </a:solidFill>
                      <a:prstDash val="dash"/>
                      <a:round/>
                      <a:headEnd type="none" w="med" len="med"/>
                      <a:tailEnd type="none" w="med" len="med"/>
                    </a:lnB>
                    <a:noFill/>
                  </a:tcPr>
                </a:tc>
                <a:tc>
                  <a:txBody>
                    <a:bodyPr/>
                    <a:lstStyle/>
                    <a:p>
                      <a:pPr algn="just">
                        <a:lnSpc>
                          <a:spcPct val="100000"/>
                        </a:lnSpc>
                        <a:spcBef>
                          <a:spcPts val="0"/>
                        </a:spcBef>
                        <a:buClrTx/>
                        <a:defRPr/>
                      </a:pP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Esta metodología implica la multiplicación del EBITDA de la empresa (Earnings Before Interests, Taxes, Depreciation, and Amortization) por un múltiplo que refleje el estándar de la industria en la que opera la empresa.</a:t>
                      </a:r>
                    </a:p>
                    <a:p>
                      <a:pPr>
                        <a:lnSpc>
                          <a:spcPct val="100000"/>
                        </a:lnSpc>
                        <a:spcBef>
                          <a:spcPts val="0"/>
                        </a:spcBef>
                        <a:buClrTx/>
                        <a:defRPr/>
                      </a:pPr>
                      <a:endPar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10" name="Rectángulo 9">
            <a:extLst>
              <a:ext uri="{FF2B5EF4-FFF2-40B4-BE49-F238E27FC236}">
                <a16:creationId xmlns:a16="http://schemas.microsoft.com/office/drawing/2014/main" id="{5CF33133-59C4-8460-A3A0-D00437A3C69E}"/>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a:latin typeface="+mj-lt"/>
              </a:rPr>
              <a:t>7</a:t>
            </a:r>
          </a:p>
        </p:txBody>
      </p:sp>
      <p:sp>
        <p:nvSpPr>
          <p:cNvPr id="11" name="Title 5">
            <a:extLst>
              <a:ext uri="{FF2B5EF4-FFF2-40B4-BE49-F238E27FC236}">
                <a16:creationId xmlns:a16="http://schemas.microsoft.com/office/drawing/2014/main" id="{87FB0A70-2B2C-2C0D-A2F1-2873A51279B9}"/>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Crecimiento/Madurez</a:t>
            </a:r>
            <a:endParaRPr lang="es-CL" sz="2400" b="1">
              <a:solidFill>
                <a:schemeClr val="accent2"/>
              </a:solidFill>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52F7F683-FD12-C985-AC0F-726042864B15}"/>
                  </a:ext>
                </a:extLst>
              </p:cNvPr>
              <p:cNvSpPr txBox="1"/>
              <p:nvPr/>
            </p:nvSpPr>
            <p:spPr>
              <a:xfrm>
                <a:off x="658813" y="2594759"/>
                <a:ext cx="10874377" cy="3527312"/>
              </a:xfrm>
              <a:prstGeom prst="rect">
                <a:avLst/>
              </a:prstGeom>
              <a:noFill/>
            </p:spPr>
            <p:txBody>
              <a:bodyPr wrap="square">
                <a:spAutoFit/>
              </a:bodyPr>
              <a:lstStyle/>
              <a:p>
                <a:pPr algn="just">
                  <a:lnSpc>
                    <a:spcPct val="100000"/>
                  </a:lnSpc>
                  <a:spcBef>
                    <a:spcPts val="0"/>
                  </a:spcBef>
                  <a:buClrTx/>
                  <a:defRPr/>
                </a:pPr>
                <a:r>
                  <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Veamos un ejemplo:</a:t>
                </a:r>
              </a:p>
              <a:p>
                <a:pPr algn="just">
                  <a:lnSpc>
                    <a:spcPct val="100000"/>
                  </a:lnSpc>
                  <a:spcBef>
                    <a:spcPts val="0"/>
                  </a:spcBef>
                  <a:buClrTx/>
                  <a:defRPr/>
                </a:pPr>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Imaginemos un startup llamado “HBS". Esta compañía se encuentra en una etapa de crecimiento y tiene un EBITDA anual de $2 millones. Para valorar “HBS”, necesitamos identificar algunas empresas comparables en el sector de la tecnología.</a:t>
                </a:r>
              </a:p>
              <a:p>
                <a:pPr marR="0" lvl="0" algn="just"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S</a:t>
                </a:r>
                <a:r>
                  <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upongamos que encontramos tres empresas comparables, las cuales poseen los siguientes datos:</a:t>
                </a:r>
              </a:p>
              <a:p>
                <a:pPr marR="0" lvl="0" algn="just" defTabSz="914400" rtl="0" eaLnBrk="1" fontAlgn="auto" latinLnBrk="0" hangingPunct="1">
                  <a:lnSpc>
                    <a:spcPct val="100000"/>
                  </a:lnSpc>
                  <a:spcBef>
                    <a:spcPts val="0"/>
                  </a:spcBef>
                  <a:spcAft>
                    <a:spcPts val="0"/>
                  </a:spcAft>
                  <a:buClrTx/>
                  <a:buSzTx/>
                  <a:tabLst/>
                  <a:defRPr/>
                </a:pPr>
                <a:endPar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Empresa A: Capitalización bursátil de $100 millones, Deuda Neta de $20 millones, EBITDA de $15 millones.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Empresa B: Capitalización bursátil de $150 millones, Deuda Neta de $30 millones, EBITDA de $20 millones.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Empresa C: Capitalización bursátil de $200 millones, Deuda Neta de $40 millones, EBITDA de $25 millones.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lvl="0" algn="just">
                  <a:defRPr/>
                </a:pPr>
                <a:r>
                  <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Luego, procedemos a realizar el cálculo de los múltiplos de EBITDA de estas empresas comparables utilizando la fórmula: </a:t>
                </a:r>
                <a:endParaRPr lang="es-CL" sz="1100" b="0" i="1" dirty="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endParaRPr>
              </a:p>
              <a:p>
                <a:pPr lvl="0" algn="just">
                  <a:defRPr/>
                </a:pPr>
                <a14:m>
                  <m:oMathPara xmlns:m="http://schemas.openxmlformats.org/officeDocument/2006/math">
                    <m:oMathParaPr>
                      <m:jc m:val="centerGroup"/>
                    </m:oMathParaPr>
                    <m:oMath xmlns:m="http://schemas.openxmlformats.org/officeDocument/2006/math">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𝑀</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ú</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𝑙𝑡𝑖𝑝𝑙𝑜</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 </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𝑑𝑒</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 </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𝐸𝐵𝐼𝑇𝐷𝐴</m:t>
                      </m:r>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 </m:t>
                      </m:r>
                      <m:f>
                        <m:fPr>
                          <m:ctrlP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ctrlPr>
                        </m:fPr>
                        <m:num>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𝐶𝑎𝑝𝑖𝑡𝑎𝑙𝑖𝑧𝑎𝑐𝑖</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ó</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𝑛</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 </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𝑏𝑢𝑟𝑠</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á</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𝑡𝑖𝑙</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 + </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𝐷𝑒𝑢𝑑𝑎</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 </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𝑁𝑒𝑡𝑎</m:t>
                          </m:r>
                          <m:r>
                            <a:rPr lang="es-MX" sz="1100" i="1">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m:t>
                          </m:r>
                        </m:num>
                        <m:den>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𝐸𝐵𝐼𝑇𝐷𝐴</m:t>
                          </m:r>
                        </m:den>
                      </m:f>
                    </m:oMath>
                  </m:oMathPara>
                </a14:m>
                <a:endParaRPr lang="es-MX" sz="1100" dirty="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Empresa A:  </a:t>
                </a:r>
                <a14:m>
                  <m:oMath xmlns:m="http://schemas.openxmlformats.org/officeDocument/2006/math">
                    <m:f>
                      <m:fPr>
                        <m:ctrlP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ctrlPr>
                      </m:fPr>
                      <m:num>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(100 </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+20 </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m:t>
                        </m:r>
                      </m:num>
                      <m:den>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15 </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den>
                    </m:f>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=8</m:t>
                    </m:r>
                  </m:oMath>
                </a14:m>
                <a:endPar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L="285750" indent="-285750" algn="just">
                  <a:buFont typeface="Arial" panose="020B0604020202020204" pitchFamily="34" charset="0"/>
                  <a:buChar char="•"/>
                  <a:defRPr/>
                </a:pPr>
                <a:r>
                  <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Empresa B:  </a:t>
                </a:r>
                <a14:m>
                  <m:oMath xmlns:m="http://schemas.openxmlformats.org/officeDocument/2006/math">
                    <m:f>
                      <m:fPr>
                        <m:ctrlP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ctrlPr>
                      </m:fPr>
                      <m:num>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(150 </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+30 </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m:t>
                        </m:r>
                      </m:num>
                      <m:den>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20 </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den>
                    </m:f>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m:t>
                    </m:r>
                  </m:oMath>
                </a14:m>
                <a:r>
                  <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9</a:t>
                </a:r>
              </a:p>
              <a:p>
                <a:pPr marL="285750" indent="-285750" algn="just">
                  <a:buFont typeface="Arial" panose="020B0604020202020204" pitchFamily="34" charset="0"/>
                  <a:buChar char="•"/>
                  <a:defRPr/>
                </a:pPr>
                <a:r>
                  <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Empresa C:  </a:t>
                </a:r>
                <a14:m>
                  <m:oMath xmlns:m="http://schemas.openxmlformats.org/officeDocument/2006/math">
                    <m:f>
                      <m:fPr>
                        <m:ctrlP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ctrlPr>
                      </m:fPr>
                      <m:num>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(200 </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+40 </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m:t>
                        </m:r>
                      </m:num>
                      <m:den>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25 </m:t>
                        </m:r>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den>
                    </m:f>
                    <m:r>
                      <a:rPr kumimoji="0" lang="es-MX" sz="11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=9,6</m:t>
                    </m:r>
                  </m:oMath>
                </a14:m>
                <a:endParaRPr kumimoji="0" lang="es-MX" sz="1100" b="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L="0" indent="0" algn="just">
                  <a:lnSpc>
                    <a:spcPct val="100000"/>
                  </a:lnSpc>
                  <a:buNone/>
                </a:pPr>
                <a:endParaRPr kumimoji="0" lang="es-MX" sz="1100" i="0" u="none" strike="noStrike" kern="1200" cap="none" spc="0" normalizeH="0" baseline="0" noProof="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p:txBody>
          </p:sp>
        </mc:Choice>
        <mc:Fallback xmlns="">
          <p:sp>
            <p:nvSpPr>
              <p:cNvPr id="12" name="CuadroTexto 11">
                <a:extLst>
                  <a:ext uri="{FF2B5EF4-FFF2-40B4-BE49-F238E27FC236}">
                    <a16:creationId xmlns:a16="http://schemas.microsoft.com/office/drawing/2014/main" id="{52F7F683-FD12-C985-AC0F-726042864B15}"/>
                  </a:ext>
                </a:extLst>
              </p:cNvPr>
              <p:cNvSpPr txBox="1">
                <a:spLocks noRot="1" noChangeAspect="1" noMove="1" noResize="1" noEditPoints="1" noAdjustHandles="1" noChangeArrowheads="1" noChangeShapeType="1" noTextEdit="1"/>
              </p:cNvSpPr>
              <p:nvPr/>
            </p:nvSpPr>
            <p:spPr>
              <a:xfrm>
                <a:off x="658813" y="2594759"/>
                <a:ext cx="10874377" cy="3527312"/>
              </a:xfrm>
              <a:prstGeom prst="rect">
                <a:avLst/>
              </a:prstGeom>
              <a:blipFill>
                <a:blip r:embed="rId2"/>
                <a:stretch>
                  <a:fillRect/>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2D0F82E-78B8-951B-B34A-5F307DA44409}"/>
                  </a:ext>
                </a:extLst>
              </p:cNvPr>
              <p:cNvSpPr txBox="1"/>
              <p:nvPr/>
            </p:nvSpPr>
            <p:spPr>
              <a:xfrm>
                <a:off x="3410857" y="5184770"/>
                <a:ext cx="5249196" cy="684226"/>
              </a:xfrm>
              <a:prstGeom prst="rect">
                <a:avLst/>
              </a:prstGeom>
              <a:noFill/>
            </p:spPr>
            <p:txBody>
              <a:bodyPr wrap="square" rtlCol="0">
                <a:spAutoFit/>
              </a:bodyPr>
              <a:lstStyle/>
              <a:p>
                <a:pPr marL="285750" indent="-285750">
                  <a:buFont typeface="Wingdings" panose="05000000000000000000" pitchFamily="2" charset="2"/>
                  <a:buChar char="§"/>
                </a:pPr>
                <a:r>
                  <a:rPr lang="es-MX" sz="11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A continuación, calculamos el múltiplo de EBITDA promedio para obtener el múltiplo de referencia:</a:t>
                </a:r>
              </a:p>
              <a:p>
                <a:pPr marL="285750" indent="-285750">
                  <a:buFont typeface="Wingdings" panose="05000000000000000000" pitchFamily="2" charset="2"/>
                  <a:buChar char="§"/>
                </a:pPr>
                <a:r>
                  <a:rPr lang="es-CL" sz="11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Múltiplo de referencia = </a:t>
                </a:r>
                <a14:m>
                  <m:oMath xmlns:m="http://schemas.openxmlformats.org/officeDocument/2006/math">
                    <m:d>
                      <m:dPr>
                        <m:ctrlP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ctrlPr>
                      </m:dPr>
                      <m:e>
                        <m:f>
                          <m:fPr>
                            <m:ctrlP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ctrlPr>
                          </m:fPr>
                          <m:num>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8+9+9,6</m:t>
                            </m:r>
                          </m:num>
                          <m:den>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3</m:t>
                            </m:r>
                          </m:den>
                        </m:f>
                      </m:e>
                    </m:d>
                    <m:r>
                      <a:rPr lang="es-MX" sz="1100" b="0" i="1" smtClean="0">
                        <a:solidFill>
                          <a:srgbClr val="4E696D"/>
                        </a:solidFill>
                        <a:latin typeface="Cambria Math" panose="02040503050406030204" pitchFamily="18" charset="0"/>
                        <a:ea typeface="Open Sans SemiBold" panose="020B0706030804020204" pitchFamily="34" charset="0"/>
                        <a:cs typeface="Open Sans SemiBold" panose="020B0706030804020204" pitchFamily="34" charset="0"/>
                      </a:rPr>
                      <m:t>=8.87</m:t>
                    </m:r>
                  </m:oMath>
                </a14:m>
                <a:endParaRPr lang="es-CL" sz="11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p:txBody>
          </p:sp>
        </mc:Choice>
        <mc:Fallback xmlns="">
          <p:sp>
            <p:nvSpPr>
              <p:cNvPr id="13" name="CuadroTexto 12">
                <a:extLst>
                  <a:ext uri="{FF2B5EF4-FFF2-40B4-BE49-F238E27FC236}">
                    <a16:creationId xmlns:a16="http://schemas.microsoft.com/office/drawing/2014/main" id="{72D0F82E-78B8-951B-B34A-5F307DA44409}"/>
                  </a:ext>
                </a:extLst>
              </p:cNvPr>
              <p:cNvSpPr txBox="1">
                <a:spLocks noRot="1" noChangeAspect="1" noMove="1" noResize="1" noEditPoints="1" noAdjustHandles="1" noChangeArrowheads="1" noChangeShapeType="1" noTextEdit="1"/>
              </p:cNvSpPr>
              <p:nvPr/>
            </p:nvSpPr>
            <p:spPr>
              <a:xfrm>
                <a:off x="3410857" y="5184770"/>
                <a:ext cx="5249196" cy="684226"/>
              </a:xfrm>
              <a:prstGeom prst="rect">
                <a:avLst/>
              </a:prstGeom>
              <a:blipFill>
                <a:blip r:embed="rId3"/>
                <a:stretch>
                  <a:fillRect/>
                </a:stretch>
              </a:blipFill>
            </p:spPr>
            <p:txBody>
              <a:bodyPr/>
              <a:lstStyle/>
              <a:p>
                <a:r>
                  <a:rPr lang="es-CL">
                    <a:noFill/>
                  </a:rPr>
                  <a:t> </a:t>
                </a:r>
              </a:p>
            </p:txBody>
          </p:sp>
        </mc:Fallback>
      </mc:AlternateContent>
      <p:sp>
        <p:nvSpPr>
          <p:cNvPr id="14" name="Cerrar llave 13">
            <a:extLst>
              <a:ext uri="{FF2B5EF4-FFF2-40B4-BE49-F238E27FC236}">
                <a16:creationId xmlns:a16="http://schemas.microsoft.com/office/drawing/2014/main" id="{903E6F47-80DC-5702-DCEE-F8815168EDEC}"/>
              </a:ext>
            </a:extLst>
          </p:cNvPr>
          <p:cNvSpPr/>
          <p:nvPr/>
        </p:nvSpPr>
        <p:spPr>
          <a:xfrm>
            <a:off x="3164114" y="5090493"/>
            <a:ext cx="246743" cy="853503"/>
          </a:xfrm>
          <a:prstGeom prst="rightBrac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L"/>
          </a:p>
        </p:txBody>
      </p:sp>
      <p:sp>
        <p:nvSpPr>
          <p:cNvPr id="15" name="Rectángulo 14">
            <a:extLst>
              <a:ext uri="{FF2B5EF4-FFF2-40B4-BE49-F238E27FC236}">
                <a16:creationId xmlns:a16="http://schemas.microsoft.com/office/drawing/2014/main" id="{774B6D95-A943-5219-C490-344558089A09}"/>
              </a:ext>
            </a:extLst>
          </p:cNvPr>
          <p:cNvSpPr/>
          <p:nvPr/>
        </p:nvSpPr>
        <p:spPr>
          <a:xfrm>
            <a:off x="0" y="0"/>
            <a:ext cx="3038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6" name="Rectángulo 15">
            <a:extLst>
              <a:ext uri="{FF2B5EF4-FFF2-40B4-BE49-F238E27FC236}">
                <a16:creationId xmlns:a16="http://schemas.microsoft.com/office/drawing/2014/main" id="{7AC932A9-D4FE-E654-4BAC-A40850C803A8}"/>
              </a:ext>
            </a:extLst>
          </p:cNvPr>
          <p:cNvSpPr/>
          <p:nvPr/>
        </p:nvSpPr>
        <p:spPr>
          <a:xfrm>
            <a:off x="3048000" y="0"/>
            <a:ext cx="30226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dirty="0"/>
              <a:t>CRECIMIENTO</a:t>
            </a:r>
          </a:p>
        </p:txBody>
      </p:sp>
      <p:sp>
        <p:nvSpPr>
          <p:cNvPr id="17" name="Rectángulo 16">
            <a:extLst>
              <a:ext uri="{FF2B5EF4-FFF2-40B4-BE49-F238E27FC236}">
                <a16:creationId xmlns:a16="http://schemas.microsoft.com/office/drawing/2014/main" id="{5E97AFDC-ABA1-7363-EDA0-F4B559B67DB7}"/>
              </a:ext>
            </a:extLst>
          </p:cNvPr>
          <p:cNvSpPr/>
          <p:nvPr/>
        </p:nvSpPr>
        <p:spPr>
          <a:xfrm>
            <a:off x="6070600" y="-2744"/>
            <a:ext cx="3073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8" name="Rectángulo 17">
            <a:extLst>
              <a:ext uri="{FF2B5EF4-FFF2-40B4-BE49-F238E27FC236}">
                <a16:creationId xmlns:a16="http://schemas.microsoft.com/office/drawing/2014/main" id="{FD06728D-2587-F890-11BA-29EC675ED866}"/>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9" name="Rectángulo 18">
            <a:extLst>
              <a:ext uri="{FF2B5EF4-FFF2-40B4-BE49-F238E27FC236}">
                <a16:creationId xmlns:a16="http://schemas.microsoft.com/office/drawing/2014/main" id="{7E278F03-EC78-677F-91B6-EFB87CAB0AFF}"/>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20" name="Rectángulo 19">
            <a:extLst>
              <a:ext uri="{FF2B5EF4-FFF2-40B4-BE49-F238E27FC236}">
                <a16:creationId xmlns:a16="http://schemas.microsoft.com/office/drawing/2014/main" id="{0ADAD1B3-2AF9-6568-1A0A-9AA12C64DBA0}"/>
              </a:ext>
            </a:extLst>
          </p:cNvPr>
          <p:cNvSpPr/>
          <p:nvPr/>
        </p:nvSpPr>
        <p:spPr>
          <a:xfrm>
            <a:off x="984251" y="354693"/>
            <a:ext cx="1047386"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21" name="Rectángulo 20">
            <a:extLst>
              <a:ext uri="{FF2B5EF4-FFF2-40B4-BE49-F238E27FC236}">
                <a16:creationId xmlns:a16="http://schemas.microsoft.com/office/drawing/2014/main" id="{1F6EF943-DB7B-F8F7-3A36-99FE344B1E4F}"/>
              </a:ext>
            </a:extLst>
          </p:cNvPr>
          <p:cNvSpPr/>
          <p:nvPr/>
        </p:nvSpPr>
        <p:spPr>
          <a:xfrm>
            <a:off x="2031637" y="354694"/>
            <a:ext cx="10020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LATE SEED</a:t>
            </a:r>
          </a:p>
        </p:txBody>
      </p:sp>
    </p:spTree>
    <p:extLst>
      <p:ext uri="{BB962C8B-B14F-4D97-AF65-F5344CB8AC3E}">
        <p14:creationId xmlns:p14="http://schemas.microsoft.com/office/powerpoint/2010/main" val="37096327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a 15">
            <a:extLst>
              <a:ext uri="{FF2B5EF4-FFF2-40B4-BE49-F238E27FC236}">
                <a16:creationId xmlns:a16="http://schemas.microsoft.com/office/drawing/2014/main" id="{454382BF-7DF5-2C0C-8A46-F851AB9137F6}"/>
              </a:ext>
            </a:extLst>
          </p:cNvPr>
          <p:cNvGraphicFramePr>
            <a:graphicFrameLocks noGrp="1"/>
          </p:cNvGraphicFramePr>
          <p:nvPr/>
        </p:nvGraphicFramePr>
        <p:xfrm>
          <a:off x="483735" y="1602190"/>
          <a:ext cx="10874375" cy="822960"/>
        </p:xfrm>
        <a:graphic>
          <a:graphicData uri="http://schemas.openxmlformats.org/drawingml/2006/table">
            <a:tbl>
              <a:tblPr bandRow="1">
                <a:tableStyleId>{5C22544A-7EE6-4342-B048-85BDC9FD1C3A}</a:tableStyleId>
              </a:tblPr>
              <a:tblGrid>
                <a:gridCol w="514961">
                  <a:extLst>
                    <a:ext uri="{9D8B030D-6E8A-4147-A177-3AD203B41FA5}">
                      <a16:colId xmlns:a16="http://schemas.microsoft.com/office/drawing/2014/main" val="1152616170"/>
                    </a:ext>
                  </a:extLst>
                </a:gridCol>
                <a:gridCol w="208280">
                  <a:extLst>
                    <a:ext uri="{9D8B030D-6E8A-4147-A177-3AD203B41FA5}">
                      <a16:colId xmlns:a16="http://schemas.microsoft.com/office/drawing/2014/main" val="3038015053"/>
                    </a:ext>
                  </a:extLst>
                </a:gridCol>
                <a:gridCol w="3151846">
                  <a:extLst>
                    <a:ext uri="{9D8B030D-6E8A-4147-A177-3AD203B41FA5}">
                      <a16:colId xmlns:a16="http://schemas.microsoft.com/office/drawing/2014/main" val="3418457701"/>
                    </a:ext>
                  </a:extLst>
                </a:gridCol>
                <a:gridCol w="6999288">
                  <a:extLst>
                    <a:ext uri="{9D8B030D-6E8A-4147-A177-3AD203B41FA5}">
                      <a16:colId xmlns:a16="http://schemas.microsoft.com/office/drawing/2014/main" val="2288996512"/>
                    </a:ext>
                  </a:extLst>
                </a:gridCol>
              </a:tblGrid>
              <a:tr h="455391">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endParaRPr lang="es-CL" sz="1200"/>
                    </a:p>
                  </a:txBody>
                  <a:tcPr>
                    <a:lnB w="12700" cap="flat" cmpd="sng" algn="ctr">
                      <a:solidFill>
                        <a:schemeClr val="tx2"/>
                      </a:solidFill>
                      <a:prstDash val="dash"/>
                      <a:round/>
                      <a:headEnd type="none" w="med" len="med"/>
                      <a:tailEnd type="none" w="med" len="med"/>
                    </a:lnB>
                    <a:noFill/>
                  </a:tcPr>
                </a:tc>
                <a:tc>
                  <a:txBody>
                    <a:bodyPr/>
                    <a:lstStyle/>
                    <a:p>
                      <a:r>
                        <a:rPr lang="es-CL" sz="1400" b="1" kern="1200">
                          <a:solidFill>
                            <a:schemeClr val="tx2"/>
                          </a:solidFill>
                          <a:latin typeface="Montserrat" panose="00000500000000000000" pitchFamily="2" charset="0"/>
                          <a:ea typeface="Open Sans SemiBold" panose="020B0706030804020204" pitchFamily="34" charset="0"/>
                          <a:cs typeface="Open Sans SemiBold" panose="020B0706030804020204" pitchFamily="34" charset="0"/>
                        </a:rPr>
                        <a:t>Múltiplos EBITDA</a:t>
                      </a:r>
                    </a:p>
                    <a:p>
                      <a:endParaRPr lang="es-CL" sz="1200"/>
                    </a:p>
                  </a:txBody>
                  <a:tcPr>
                    <a:lnB w="12700" cap="flat" cmpd="sng" algn="ctr">
                      <a:solidFill>
                        <a:schemeClr val="tx2"/>
                      </a:solidFill>
                      <a:prstDash val="dash"/>
                      <a:round/>
                      <a:headEnd type="none" w="med" len="med"/>
                      <a:tailEnd type="none" w="med" len="med"/>
                    </a:lnB>
                    <a:noFill/>
                  </a:tcPr>
                </a:tc>
                <a:tc>
                  <a:txBody>
                    <a:bodyPr/>
                    <a:lstStyle/>
                    <a:p>
                      <a:pPr>
                        <a:lnSpc>
                          <a:spcPct val="100000"/>
                        </a:lnSpc>
                        <a:spcBef>
                          <a:spcPts val="0"/>
                        </a:spcBef>
                        <a:buClrTx/>
                        <a:defRPr/>
                      </a:pP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Esta metodología implica la multiplicación del EBITDA de la empresa (</a:t>
                      </a:r>
                      <a:r>
                        <a:rPr lang="es-MX" sz="1200" kern="120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Earnings</a:t>
                      </a: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a:t>
                      </a:r>
                      <a:r>
                        <a:rPr lang="es-MX" sz="1200" kern="120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Before</a:t>
                      </a: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a:t>
                      </a:r>
                      <a:r>
                        <a:rPr lang="es-MX" sz="1200" kern="120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Interests</a:t>
                      </a: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a:t>
                      </a:r>
                      <a:r>
                        <a:rPr lang="es-MX" sz="1200" kern="120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Taxes</a:t>
                      </a: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a:t>
                      </a:r>
                      <a:r>
                        <a:rPr lang="es-MX" sz="1200" kern="120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Depreciation</a:t>
                      </a: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and </a:t>
                      </a:r>
                      <a:r>
                        <a:rPr lang="es-MX" sz="1200" kern="1200" err="1">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Amortization</a:t>
                      </a:r>
                      <a:r>
                        <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 por un múltiplo que refleje el estándar de la industria en la que opera la empresa.</a:t>
                      </a:r>
                    </a:p>
                    <a:p>
                      <a:pPr>
                        <a:lnSpc>
                          <a:spcPct val="100000"/>
                        </a:lnSpc>
                        <a:spcBef>
                          <a:spcPts val="0"/>
                        </a:spcBef>
                        <a:buClrTx/>
                        <a:defRPr/>
                      </a:pPr>
                      <a:endParaRPr lang="es-MX" sz="1200" kern="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txBody>
                  <a:tcPr>
                    <a:lnB w="12700" cap="flat" cmpd="sng" algn="ctr">
                      <a:solidFill>
                        <a:schemeClr val="tx2"/>
                      </a:solidFill>
                      <a:prstDash val="dash"/>
                      <a:round/>
                      <a:headEnd type="none" w="med" len="med"/>
                      <a:tailEnd type="none" w="med" len="med"/>
                    </a:lnB>
                    <a:noFill/>
                  </a:tcPr>
                </a:tc>
                <a:extLst>
                  <a:ext uri="{0D108BD9-81ED-4DB2-BD59-A6C34878D82A}">
                    <a16:rowId xmlns:a16="http://schemas.microsoft.com/office/drawing/2014/main" val="3998120154"/>
                  </a:ext>
                </a:extLst>
              </a:tr>
            </a:tbl>
          </a:graphicData>
        </a:graphic>
      </p:graphicFrame>
      <p:sp>
        <p:nvSpPr>
          <p:cNvPr id="10" name="Rectángulo 9">
            <a:extLst>
              <a:ext uri="{FF2B5EF4-FFF2-40B4-BE49-F238E27FC236}">
                <a16:creationId xmlns:a16="http://schemas.microsoft.com/office/drawing/2014/main" id="{224A903B-5BD3-C6F9-6AEC-F14EF646F146}"/>
              </a:ext>
            </a:extLst>
          </p:cNvPr>
          <p:cNvSpPr/>
          <p:nvPr/>
        </p:nvSpPr>
        <p:spPr>
          <a:xfrm>
            <a:off x="658811" y="1608540"/>
            <a:ext cx="484188" cy="518577"/>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a:latin typeface="+mj-lt"/>
              </a:rPr>
              <a:t>7</a:t>
            </a:r>
          </a:p>
        </p:txBody>
      </p:sp>
      <p:sp>
        <p:nvSpPr>
          <p:cNvPr id="11" name="Title 5">
            <a:extLst>
              <a:ext uri="{FF2B5EF4-FFF2-40B4-BE49-F238E27FC236}">
                <a16:creationId xmlns:a16="http://schemas.microsoft.com/office/drawing/2014/main" id="{EDD0341C-F5FF-8D33-DBB1-F39AE961E2AF}"/>
              </a:ext>
            </a:extLst>
          </p:cNvPr>
          <p:cNvSpPr txBox="1">
            <a:spLocks/>
          </p:cNvSpPr>
          <p:nvPr/>
        </p:nvSpPr>
        <p:spPr>
          <a:xfrm>
            <a:off x="658813" y="870462"/>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2400" b="1"/>
              <a:t>Valorización en Etapa Crecimiento/Madurez</a:t>
            </a:r>
            <a:endParaRPr lang="es-CL" sz="2400" b="1">
              <a:solidFill>
                <a:schemeClr val="accent2"/>
              </a:solidFill>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79621A7-2545-C1D4-D047-A5B886DECE10}"/>
                  </a:ext>
                </a:extLst>
              </p:cNvPr>
              <p:cNvSpPr txBox="1"/>
              <p:nvPr/>
            </p:nvSpPr>
            <p:spPr>
              <a:xfrm>
                <a:off x="658813" y="2638301"/>
                <a:ext cx="10874377" cy="1923604"/>
              </a:xfrm>
              <a:prstGeom prst="rect">
                <a:avLst/>
              </a:prstGeom>
              <a:noFill/>
            </p:spPr>
            <p:txBody>
              <a:bodyPr wrap="square">
                <a:spAutoFit/>
              </a:bodyPr>
              <a:lstStyle/>
              <a:p>
                <a:pPr algn="just">
                  <a:lnSpc>
                    <a:spcPct val="100000"/>
                  </a:lnSpc>
                  <a:spcBef>
                    <a:spcPts val="0"/>
                  </a:spcBef>
                  <a:buClrTx/>
                  <a:defRPr/>
                </a:pPr>
                <a:r>
                  <a:rPr lang="es-MX" sz="11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rPr>
                  <a:t>Veamos un ejemplo:</a:t>
                </a:r>
              </a:p>
              <a:p>
                <a:pPr marR="0" lvl="0" algn="just" defTabSz="914400" rtl="0" eaLnBrk="1" fontAlgn="auto" latinLnBrk="0" hangingPunct="1">
                  <a:lnSpc>
                    <a:spcPct val="100000"/>
                  </a:lnSpc>
                  <a:spcBef>
                    <a:spcPts val="0"/>
                  </a:spcBef>
                  <a:spcAft>
                    <a:spcPts val="0"/>
                  </a:spcAft>
                  <a:buClrTx/>
                  <a:buSzTx/>
                  <a:tabLst/>
                  <a:defRPr/>
                </a:pPr>
                <a:endParaRPr kumimoji="0" lang="es-MX" sz="1200" b="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200" b="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Finalmente, valoramos “HBS” multiplicando su EBITDA de $2 millones por el múltiplo de referencia de 8.87:</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14:m>
                  <m:oMathPara xmlns:m="http://schemas.openxmlformats.org/officeDocument/2006/math">
                    <m:oMathParaPr>
                      <m:jc m:val="centerGroup"/>
                    </m:oMathParaPr>
                    <m:oMath xmlns:m="http://schemas.openxmlformats.org/officeDocument/2006/math">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𝑉𝑎𝑙𝑜𝑟</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𝑑𝑒</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𝐻𝐵𝑆</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𝐸𝐵𝐼𝑇𝐷𝐴</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ú</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𝑙𝑡𝑖𝑝𝑙𝑜</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𝑑𝑒</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𝑟𝑒𝑓𝑒𝑟𝑒𝑛𝑐𝑖𝑎</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=2 </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𝑀</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 ∗8,87=$ 17,74 </m:t>
                      </m:r>
                      <m:r>
                        <a:rPr kumimoji="0" lang="es-MX" sz="1200" b="0" i="1" u="none" strike="noStrike" kern="1200" cap="none" spc="0" normalizeH="0" baseline="0" noProof="0" smtClean="0">
                          <a:ln>
                            <a:noFill/>
                          </a:ln>
                          <a:solidFill>
                            <a:srgbClr val="4E696D"/>
                          </a:solidFill>
                          <a:effectLst/>
                          <a:uLnTx/>
                          <a:uFillTx/>
                          <a:latin typeface="Cambria Math" panose="02040503050406030204" pitchFamily="18" charset="0"/>
                          <a:ea typeface="Open Sans SemiBold" panose="020B0706030804020204" pitchFamily="34" charset="0"/>
                          <a:cs typeface="Open Sans SemiBold" panose="020B0706030804020204" pitchFamily="34" charset="0"/>
                        </a:rPr>
                        <m:t>𝑚𝑖𝑙𝑙𝑜𝑛𝑒𝑠</m:t>
                      </m:r>
                    </m:oMath>
                  </m:oMathPara>
                </a14:m>
                <a:endParaRPr kumimoji="0" lang="es-MX" sz="1200" b="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p>
                <a:pPr marR="0" lvl="0" algn="just" defTabSz="914400" rtl="0" eaLnBrk="1" fontAlgn="auto" latinLnBrk="0" hangingPunct="1">
                  <a:lnSpc>
                    <a:spcPct val="100000"/>
                  </a:lnSpc>
                  <a:spcBef>
                    <a:spcPts val="0"/>
                  </a:spcBef>
                  <a:spcAft>
                    <a:spcPts val="0"/>
                  </a:spcAft>
                  <a:buClrTx/>
                  <a:buSzTx/>
                  <a:tabLst/>
                  <a:defRPr/>
                </a:pPr>
                <a:endPar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200" b="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Por lo tanto, según el método de múltiplos de EBITDA, “HBS” tendría una valoración de $17,74 millones.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es-MX" sz="1200">
                  <a:solidFill>
                    <a:srgbClr val="4E696D"/>
                  </a:solidFill>
                  <a:latin typeface="Montserrat" panose="00000500000000000000" pitchFamily="2" charset="0"/>
                  <a:ea typeface="Open Sans SemiBold" panose="020B0706030804020204" pitchFamily="34" charset="0"/>
                  <a:cs typeface="Open Sans SemiBold" panose="020B0706030804020204" pitchFamily="34"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MX" sz="1200" b="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Recordar que esta es una estimación y puede variar dependiendo de otros factores específicos de la empresa y el mercado.</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s-MX" sz="1200" i="0" u="none" strike="noStrike" kern="1200" cap="none" spc="0" normalizeH="0" baseline="0" noProof="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p:txBody>
          </p:sp>
        </mc:Choice>
        <mc:Fallback xmlns="">
          <p:sp>
            <p:nvSpPr>
              <p:cNvPr id="12" name="CuadroTexto 11">
                <a:extLst>
                  <a:ext uri="{FF2B5EF4-FFF2-40B4-BE49-F238E27FC236}">
                    <a16:creationId xmlns:a16="http://schemas.microsoft.com/office/drawing/2014/main" id="{D79621A7-2545-C1D4-D047-A5B886DECE10}"/>
                  </a:ext>
                </a:extLst>
              </p:cNvPr>
              <p:cNvSpPr txBox="1">
                <a:spLocks noRot="1" noChangeAspect="1" noMove="1" noResize="1" noEditPoints="1" noAdjustHandles="1" noChangeArrowheads="1" noChangeShapeType="1" noTextEdit="1"/>
              </p:cNvSpPr>
              <p:nvPr/>
            </p:nvSpPr>
            <p:spPr>
              <a:xfrm>
                <a:off x="658813" y="2638301"/>
                <a:ext cx="10874377" cy="1923604"/>
              </a:xfrm>
              <a:prstGeom prst="rect">
                <a:avLst/>
              </a:prstGeom>
              <a:blipFill>
                <a:blip r:embed="rId2"/>
                <a:stretch>
                  <a:fillRect/>
                </a:stretch>
              </a:blipFill>
            </p:spPr>
            <p:txBody>
              <a:bodyPr/>
              <a:lstStyle/>
              <a:p>
                <a:r>
                  <a:rPr lang="es-CL">
                    <a:noFill/>
                  </a:rPr>
                  <a:t> </a:t>
                </a:r>
              </a:p>
            </p:txBody>
          </p:sp>
        </mc:Fallback>
      </mc:AlternateContent>
      <p:sp>
        <p:nvSpPr>
          <p:cNvPr id="13" name="Rectángulo 12">
            <a:extLst>
              <a:ext uri="{FF2B5EF4-FFF2-40B4-BE49-F238E27FC236}">
                <a16:creationId xmlns:a16="http://schemas.microsoft.com/office/drawing/2014/main" id="{B7EF3E56-E692-410C-9C4A-443759D265F9}"/>
              </a:ext>
            </a:extLst>
          </p:cNvPr>
          <p:cNvSpPr/>
          <p:nvPr/>
        </p:nvSpPr>
        <p:spPr>
          <a:xfrm>
            <a:off x="0" y="0"/>
            <a:ext cx="30384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SEED</a:t>
            </a:r>
          </a:p>
        </p:txBody>
      </p:sp>
      <p:sp>
        <p:nvSpPr>
          <p:cNvPr id="14" name="Rectángulo 13">
            <a:extLst>
              <a:ext uri="{FF2B5EF4-FFF2-40B4-BE49-F238E27FC236}">
                <a16:creationId xmlns:a16="http://schemas.microsoft.com/office/drawing/2014/main" id="{16C53E63-23C5-5ADE-0E1D-71F302ADB6A0}"/>
              </a:ext>
            </a:extLst>
          </p:cNvPr>
          <p:cNvSpPr/>
          <p:nvPr/>
        </p:nvSpPr>
        <p:spPr>
          <a:xfrm>
            <a:off x="3048000" y="0"/>
            <a:ext cx="30226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dirty="0"/>
              <a:t>CRECIMIENTO</a:t>
            </a:r>
          </a:p>
        </p:txBody>
      </p:sp>
      <p:sp>
        <p:nvSpPr>
          <p:cNvPr id="15" name="Rectángulo 14">
            <a:extLst>
              <a:ext uri="{FF2B5EF4-FFF2-40B4-BE49-F238E27FC236}">
                <a16:creationId xmlns:a16="http://schemas.microsoft.com/office/drawing/2014/main" id="{76D1C511-4375-DF4C-780A-2A46E4F1C53B}"/>
              </a:ext>
            </a:extLst>
          </p:cNvPr>
          <p:cNvSpPr/>
          <p:nvPr/>
        </p:nvSpPr>
        <p:spPr>
          <a:xfrm>
            <a:off x="6070600" y="-2744"/>
            <a:ext cx="3073400" cy="348343"/>
          </a:xfrm>
          <a:prstGeom prst="rect">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MADUREZ</a:t>
            </a:r>
          </a:p>
        </p:txBody>
      </p:sp>
      <p:sp>
        <p:nvSpPr>
          <p:cNvPr id="16" name="Rectángulo 15">
            <a:extLst>
              <a:ext uri="{FF2B5EF4-FFF2-40B4-BE49-F238E27FC236}">
                <a16:creationId xmlns:a16="http://schemas.microsoft.com/office/drawing/2014/main" id="{65AAB7E3-0C9A-0687-8B44-6BDAC19851D7}"/>
              </a:ext>
            </a:extLst>
          </p:cNvPr>
          <p:cNvSpPr/>
          <p:nvPr/>
        </p:nvSpPr>
        <p:spPr>
          <a:xfrm>
            <a:off x="9144000" y="-2744"/>
            <a:ext cx="3048000" cy="348343"/>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pc="300"/>
              <a:t>SALIDA A BOLSA</a:t>
            </a:r>
          </a:p>
        </p:txBody>
      </p:sp>
      <p:sp>
        <p:nvSpPr>
          <p:cNvPr id="17" name="Rectángulo 16">
            <a:extLst>
              <a:ext uri="{FF2B5EF4-FFF2-40B4-BE49-F238E27FC236}">
                <a16:creationId xmlns:a16="http://schemas.microsoft.com/office/drawing/2014/main" id="{7734B2B4-98A3-29C2-E629-2E6B830EC847}"/>
              </a:ext>
            </a:extLst>
          </p:cNvPr>
          <p:cNvSpPr/>
          <p:nvPr/>
        </p:nvSpPr>
        <p:spPr>
          <a:xfrm>
            <a:off x="0" y="354692"/>
            <a:ext cx="10116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IDEA</a:t>
            </a:r>
          </a:p>
        </p:txBody>
      </p:sp>
      <p:sp>
        <p:nvSpPr>
          <p:cNvPr id="18" name="Rectángulo 17">
            <a:extLst>
              <a:ext uri="{FF2B5EF4-FFF2-40B4-BE49-F238E27FC236}">
                <a16:creationId xmlns:a16="http://schemas.microsoft.com/office/drawing/2014/main" id="{28F4F198-0829-A7AB-16E1-819B4404BDC9}"/>
              </a:ext>
            </a:extLst>
          </p:cNvPr>
          <p:cNvSpPr/>
          <p:nvPr/>
        </p:nvSpPr>
        <p:spPr>
          <a:xfrm>
            <a:off x="984251" y="354693"/>
            <a:ext cx="1047386"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EARLY SEED</a:t>
            </a:r>
          </a:p>
        </p:txBody>
      </p:sp>
      <p:sp>
        <p:nvSpPr>
          <p:cNvPr id="19" name="Rectángulo 18">
            <a:extLst>
              <a:ext uri="{FF2B5EF4-FFF2-40B4-BE49-F238E27FC236}">
                <a16:creationId xmlns:a16="http://schemas.microsoft.com/office/drawing/2014/main" id="{6EC231CA-4AA7-E86C-5842-99639BB5D4C7}"/>
              </a:ext>
            </a:extLst>
          </p:cNvPr>
          <p:cNvSpPr/>
          <p:nvPr/>
        </p:nvSpPr>
        <p:spPr>
          <a:xfrm>
            <a:off x="2031637" y="354694"/>
            <a:ext cx="1002000" cy="194582"/>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600" spc="300"/>
              <a:t>LATE SEED</a:t>
            </a:r>
          </a:p>
        </p:txBody>
      </p:sp>
    </p:spTree>
    <p:extLst>
      <p:ext uri="{BB962C8B-B14F-4D97-AF65-F5344CB8AC3E}">
        <p14:creationId xmlns:p14="http://schemas.microsoft.com/office/powerpoint/2010/main" val="13317560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2E71F58-43A2-0852-71DC-AE72BD866CC6}"/>
              </a:ext>
            </a:extLst>
          </p:cNvPr>
          <p:cNvSpPr txBox="1"/>
          <p:nvPr/>
        </p:nvSpPr>
        <p:spPr>
          <a:xfrm>
            <a:off x="939478" y="625032"/>
            <a:ext cx="10313043" cy="461665"/>
          </a:xfrm>
          <a:prstGeom prst="rect">
            <a:avLst/>
          </a:prstGeom>
          <a:noFill/>
        </p:spPr>
        <p:txBody>
          <a:bodyPr wrap="square" rtlCol="0">
            <a:spAutoFit/>
          </a:bodyPr>
          <a:lstStyle/>
          <a:p>
            <a:pPr algn="ctr"/>
            <a:r>
              <a:rPr lang="es-CL" sz="2400" b="1" dirty="0"/>
              <a:t>¿En qué consiste la valorización por múltiplo?</a:t>
            </a:r>
          </a:p>
        </p:txBody>
      </p:sp>
      <p:sp>
        <p:nvSpPr>
          <p:cNvPr id="3" name="CuadroTexto 2">
            <a:extLst>
              <a:ext uri="{FF2B5EF4-FFF2-40B4-BE49-F238E27FC236}">
                <a16:creationId xmlns:a16="http://schemas.microsoft.com/office/drawing/2014/main" id="{BD0CDD3E-D1AA-B959-FF5D-DF8EF72B2DD4}"/>
              </a:ext>
            </a:extLst>
          </p:cNvPr>
          <p:cNvSpPr txBox="1"/>
          <p:nvPr/>
        </p:nvSpPr>
        <p:spPr>
          <a:xfrm>
            <a:off x="740779" y="2083442"/>
            <a:ext cx="4517985" cy="923330"/>
          </a:xfrm>
          <a:prstGeom prst="rect">
            <a:avLst/>
          </a:prstGeom>
          <a:noFill/>
        </p:spPr>
        <p:txBody>
          <a:bodyPr wrap="square" rtlCol="0">
            <a:spAutoFit/>
          </a:bodyPr>
          <a:lstStyle/>
          <a:p>
            <a:r>
              <a:rPr lang="es-CL" dirty="0"/>
              <a:t>Para calcular la </a:t>
            </a:r>
            <a:r>
              <a:rPr lang="es-CL" b="1" dirty="0"/>
              <a:t>perpetuidad</a:t>
            </a:r>
            <a:r>
              <a:rPr lang="es-CL" dirty="0"/>
              <a:t> de un activo, se divide el flujo anualizado por la tasa de descuento.</a:t>
            </a:r>
          </a:p>
        </p:txBody>
      </p:sp>
      <p:pic>
        <p:nvPicPr>
          <p:cNvPr id="5122" name="Picture 2" descr="Cómo calcular el valor presente de una anualidad perpetua y su comprobación">
            <a:extLst>
              <a:ext uri="{FF2B5EF4-FFF2-40B4-BE49-F238E27FC236}">
                <a16:creationId xmlns:a16="http://schemas.microsoft.com/office/drawing/2014/main" id="{B818D14A-873B-4770-ACAA-9AD50249D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779" y="3429000"/>
            <a:ext cx="4517985" cy="2541367"/>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8FE0D7BF-DEE3-E332-B9E6-AC679FB49675}"/>
              </a:ext>
            </a:extLst>
          </p:cNvPr>
          <p:cNvSpPr txBox="1"/>
          <p:nvPr/>
        </p:nvSpPr>
        <p:spPr>
          <a:xfrm>
            <a:off x="5474825" y="1611517"/>
            <a:ext cx="5777696" cy="1477328"/>
          </a:xfrm>
          <a:prstGeom prst="rect">
            <a:avLst/>
          </a:prstGeom>
          <a:noFill/>
        </p:spPr>
        <p:txBody>
          <a:bodyPr wrap="square" rtlCol="0">
            <a:spAutoFit/>
          </a:bodyPr>
          <a:lstStyle/>
          <a:p>
            <a:r>
              <a:rPr lang="es-CL" dirty="0"/>
              <a:t>Entonces este método, asume el </a:t>
            </a:r>
            <a:r>
              <a:rPr lang="es-CL" b="1" dirty="0"/>
              <a:t>EBIDTA</a:t>
            </a:r>
            <a:r>
              <a:rPr lang="es-CL" dirty="0"/>
              <a:t> como el posible flujo anual, y el </a:t>
            </a:r>
            <a:r>
              <a:rPr lang="es-CL" b="1" dirty="0"/>
              <a:t>multiplicador</a:t>
            </a:r>
            <a:r>
              <a:rPr lang="es-CL" dirty="0"/>
              <a:t>, como un reemplazo de la tasa de descuento (pero, no sólo considera costo de oportunidad y riesgo, puede sumar potencial de crecimiento). </a:t>
            </a:r>
          </a:p>
        </p:txBody>
      </p:sp>
      <p:pic>
        <p:nvPicPr>
          <p:cNvPr id="5124" name="Picture 4" descr="Que es el EBITDA – Analisis y Valoración de Empresas">
            <a:extLst>
              <a:ext uri="{FF2B5EF4-FFF2-40B4-BE49-F238E27FC236}">
                <a16:creationId xmlns:a16="http://schemas.microsoft.com/office/drawing/2014/main" id="{2BA7F8BA-ED7D-4955-A302-AC3FFBE79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8764" y="3429000"/>
            <a:ext cx="3289300" cy="246380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0B521536-1599-B161-7DFA-604B0D50E3B0}"/>
              </a:ext>
            </a:extLst>
          </p:cNvPr>
          <p:cNvSpPr txBox="1"/>
          <p:nvPr/>
        </p:nvSpPr>
        <p:spPr>
          <a:xfrm>
            <a:off x="8674260" y="4376517"/>
            <a:ext cx="458780" cy="646331"/>
          </a:xfrm>
          <a:prstGeom prst="rect">
            <a:avLst/>
          </a:prstGeom>
          <a:noFill/>
        </p:spPr>
        <p:txBody>
          <a:bodyPr wrap="none" rtlCol="0">
            <a:spAutoFit/>
          </a:bodyPr>
          <a:lstStyle/>
          <a:p>
            <a:r>
              <a:rPr lang="es-CL" sz="3600" b="1" dirty="0"/>
              <a:t>x</a:t>
            </a:r>
          </a:p>
        </p:txBody>
      </p:sp>
      <p:sp>
        <p:nvSpPr>
          <p:cNvPr id="6" name="CuadroTexto 5">
            <a:extLst>
              <a:ext uri="{FF2B5EF4-FFF2-40B4-BE49-F238E27FC236}">
                <a16:creationId xmlns:a16="http://schemas.microsoft.com/office/drawing/2014/main" id="{0B743FD0-9266-FD9B-F13C-45A6287F83AA}"/>
              </a:ext>
            </a:extLst>
          </p:cNvPr>
          <p:cNvSpPr txBox="1"/>
          <p:nvPr/>
        </p:nvSpPr>
        <p:spPr>
          <a:xfrm>
            <a:off x="9819245" y="3808071"/>
            <a:ext cx="1181735" cy="646331"/>
          </a:xfrm>
          <a:prstGeom prst="rect">
            <a:avLst/>
          </a:prstGeom>
          <a:noFill/>
        </p:spPr>
        <p:txBody>
          <a:bodyPr wrap="none" rtlCol="0">
            <a:spAutoFit/>
          </a:bodyPr>
          <a:lstStyle/>
          <a:p>
            <a:pPr algn="ctr"/>
            <a:r>
              <a:rPr lang="es-CL" b="1" dirty="0"/>
              <a:t>Múltiplo</a:t>
            </a:r>
          </a:p>
          <a:p>
            <a:pPr algn="ctr"/>
            <a:r>
              <a:rPr lang="es-CL" dirty="0"/>
              <a:t>5,  10</a:t>
            </a:r>
          </a:p>
        </p:txBody>
      </p:sp>
      <p:sp>
        <p:nvSpPr>
          <p:cNvPr id="7" name="CuadroTexto 6">
            <a:extLst>
              <a:ext uri="{FF2B5EF4-FFF2-40B4-BE49-F238E27FC236}">
                <a16:creationId xmlns:a16="http://schemas.microsoft.com/office/drawing/2014/main" id="{72CB4952-6E9F-82A0-191F-DB3204E870C7}"/>
              </a:ext>
            </a:extLst>
          </p:cNvPr>
          <p:cNvSpPr txBox="1"/>
          <p:nvPr/>
        </p:nvSpPr>
        <p:spPr>
          <a:xfrm>
            <a:off x="10776031" y="5450627"/>
            <a:ext cx="782587" cy="369332"/>
          </a:xfrm>
          <a:prstGeom prst="rect">
            <a:avLst/>
          </a:prstGeom>
          <a:noFill/>
        </p:spPr>
        <p:txBody>
          <a:bodyPr wrap="none" rtlCol="0">
            <a:spAutoFit/>
          </a:bodyPr>
          <a:lstStyle/>
          <a:p>
            <a:r>
              <a:rPr lang="es-CL" dirty="0"/>
              <a:t>1/0,10</a:t>
            </a:r>
          </a:p>
        </p:txBody>
      </p:sp>
      <p:cxnSp>
        <p:nvCxnSpPr>
          <p:cNvPr id="9" name="Conector recto de flecha 8">
            <a:extLst>
              <a:ext uri="{FF2B5EF4-FFF2-40B4-BE49-F238E27FC236}">
                <a16:creationId xmlns:a16="http://schemas.microsoft.com/office/drawing/2014/main" id="{808AE9E8-8EB8-B7F2-506F-F2B9D0BBC018}"/>
              </a:ext>
            </a:extLst>
          </p:cNvPr>
          <p:cNvCxnSpPr>
            <a:stCxn id="7" idx="0"/>
          </p:cNvCxnSpPr>
          <p:nvPr/>
        </p:nvCxnSpPr>
        <p:spPr>
          <a:xfrm flipH="1" flipV="1">
            <a:off x="10776031" y="4548851"/>
            <a:ext cx="391294" cy="9017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CuadroTexto 9">
            <a:extLst>
              <a:ext uri="{FF2B5EF4-FFF2-40B4-BE49-F238E27FC236}">
                <a16:creationId xmlns:a16="http://schemas.microsoft.com/office/drawing/2014/main" id="{38C8C7BF-0CD2-0187-32D3-2EC6A90E2BFE}"/>
              </a:ext>
            </a:extLst>
          </p:cNvPr>
          <p:cNvSpPr txBox="1"/>
          <p:nvPr/>
        </p:nvSpPr>
        <p:spPr>
          <a:xfrm>
            <a:off x="9427951" y="5450627"/>
            <a:ext cx="830677" cy="369332"/>
          </a:xfrm>
          <a:prstGeom prst="rect">
            <a:avLst/>
          </a:prstGeom>
          <a:noFill/>
        </p:spPr>
        <p:txBody>
          <a:bodyPr wrap="none" rtlCol="0">
            <a:spAutoFit/>
          </a:bodyPr>
          <a:lstStyle/>
          <a:p>
            <a:r>
              <a:rPr lang="es-CL" dirty="0"/>
              <a:t>1/0,20</a:t>
            </a:r>
          </a:p>
        </p:txBody>
      </p:sp>
      <p:cxnSp>
        <p:nvCxnSpPr>
          <p:cNvPr id="12" name="Conector recto de flecha 11">
            <a:extLst>
              <a:ext uri="{FF2B5EF4-FFF2-40B4-BE49-F238E27FC236}">
                <a16:creationId xmlns:a16="http://schemas.microsoft.com/office/drawing/2014/main" id="{C3E79FA2-1D16-F9AC-5F45-8619145830AA}"/>
              </a:ext>
            </a:extLst>
          </p:cNvPr>
          <p:cNvCxnSpPr>
            <a:stCxn id="10" idx="0"/>
          </p:cNvCxnSpPr>
          <p:nvPr/>
        </p:nvCxnSpPr>
        <p:spPr>
          <a:xfrm flipV="1">
            <a:off x="9843290" y="4454402"/>
            <a:ext cx="299516" cy="9962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CuadroTexto 12">
            <a:extLst>
              <a:ext uri="{FF2B5EF4-FFF2-40B4-BE49-F238E27FC236}">
                <a16:creationId xmlns:a16="http://schemas.microsoft.com/office/drawing/2014/main" id="{8044E85A-9C91-D902-28D1-633147856385}"/>
              </a:ext>
            </a:extLst>
          </p:cNvPr>
          <p:cNvSpPr txBox="1"/>
          <p:nvPr/>
        </p:nvSpPr>
        <p:spPr>
          <a:xfrm>
            <a:off x="9497682" y="5913049"/>
            <a:ext cx="643125" cy="276999"/>
          </a:xfrm>
          <a:prstGeom prst="rect">
            <a:avLst/>
          </a:prstGeom>
          <a:noFill/>
        </p:spPr>
        <p:txBody>
          <a:bodyPr wrap="none" rtlCol="0">
            <a:spAutoFit/>
          </a:bodyPr>
          <a:lstStyle/>
          <a:p>
            <a:r>
              <a:rPr lang="es-CL" sz="1200" dirty="0"/>
              <a:t>PYME</a:t>
            </a:r>
          </a:p>
        </p:txBody>
      </p:sp>
      <p:sp>
        <p:nvSpPr>
          <p:cNvPr id="14" name="CuadroTexto 13">
            <a:extLst>
              <a:ext uri="{FF2B5EF4-FFF2-40B4-BE49-F238E27FC236}">
                <a16:creationId xmlns:a16="http://schemas.microsoft.com/office/drawing/2014/main" id="{B383118E-650D-370A-7D52-5EAB290F2D33}"/>
              </a:ext>
            </a:extLst>
          </p:cNvPr>
          <p:cNvSpPr txBox="1"/>
          <p:nvPr/>
        </p:nvSpPr>
        <p:spPr>
          <a:xfrm>
            <a:off x="10699087" y="5882271"/>
            <a:ext cx="859531" cy="307777"/>
          </a:xfrm>
          <a:prstGeom prst="rect">
            <a:avLst/>
          </a:prstGeom>
          <a:noFill/>
        </p:spPr>
        <p:txBody>
          <a:bodyPr wrap="none" rtlCol="0">
            <a:spAutoFit/>
          </a:bodyPr>
          <a:lstStyle/>
          <a:p>
            <a:r>
              <a:rPr lang="es-CL" sz="1400" dirty="0"/>
              <a:t>Startup</a:t>
            </a:r>
          </a:p>
        </p:txBody>
      </p:sp>
    </p:spTree>
    <p:extLst>
      <p:ext uri="{BB962C8B-B14F-4D97-AF65-F5344CB8AC3E}">
        <p14:creationId xmlns:p14="http://schemas.microsoft.com/office/powerpoint/2010/main" val="32641596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2E71F58-43A2-0852-71DC-AE72BD866CC6}"/>
              </a:ext>
            </a:extLst>
          </p:cNvPr>
          <p:cNvSpPr txBox="1"/>
          <p:nvPr/>
        </p:nvSpPr>
        <p:spPr>
          <a:xfrm>
            <a:off x="939478" y="625032"/>
            <a:ext cx="10313043" cy="461665"/>
          </a:xfrm>
          <a:prstGeom prst="rect">
            <a:avLst/>
          </a:prstGeom>
          <a:noFill/>
        </p:spPr>
        <p:txBody>
          <a:bodyPr wrap="square" rtlCol="0">
            <a:spAutoFit/>
          </a:bodyPr>
          <a:lstStyle/>
          <a:p>
            <a:pPr algn="ctr"/>
            <a:r>
              <a:rPr lang="es-CL" sz="2400" b="1" dirty="0"/>
              <a:t>Utilizando un </a:t>
            </a:r>
            <a:r>
              <a:rPr lang="en-US" sz="2400" b="1" dirty="0">
                <a:solidFill>
                  <a:schemeClr val="accent1"/>
                </a:solidFill>
              </a:rPr>
              <a:t>Quarter</a:t>
            </a:r>
            <a:r>
              <a:rPr lang="es-CL" sz="2400" b="1" dirty="0"/>
              <a:t> (trimestre) estabilizado</a:t>
            </a:r>
          </a:p>
        </p:txBody>
      </p:sp>
      <p:sp>
        <p:nvSpPr>
          <p:cNvPr id="3" name="CuadroTexto 2">
            <a:extLst>
              <a:ext uri="{FF2B5EF4-FFF2-40B4-BE49-F238E27FC236}">
                <a16:creationId xmlns:a16="http://schemas.microsoft.com/office/drawing/2014/main" id="{6A7216B8-C1A0-C7D4-31CE-0E9EDED5BA64}"/>
              </a:ext>
            </a:extLst>
          </p:cNvPr>
          <p:cNvSpPr txBox="1"/>
          <p:nvPr/>
        </p:nvSpPr>
        <p:spPr>
          <a:xfrm>
            <a:off x="740779" y="2083442"/>
            <a:ext cx="4074289" cy="3416320"/>
          </a:xfrm>
          <a:prstGeom prst="rect">
            <a:avLst/>
          </a:prstGeom>
          <a:noFill/>
        </p:spPr>
        <p:txBody>
          <a:bodyPr wrap="square" rtlCol="0">
            <a:spAutoFit/>
          </a:bodyPr>
          <a:lstStyle/>
          <a:p>
            <a:r>
              <a:rPr lang="es-CL" dirty="0"/>
              <a:t>En la lógica norteamericana, los resultados de las empresas se miden trimestralmente (</a:t>
            </a:r>
            <a:r>
              <a:rPr lang="en-US" b="1" dirty="0"/>
              <a:t>Quarters</a:t>
            </a:r>
            <a:r>
              <a:rPr lang="es-CL" b="1" dirty="0"/>
              <a:t>:</a:t>
            </a:r>
            <a:r>
              <a:rPr lang="es-CL" dirty="0"/>
              <a:t> Q1, Q2, Q3, Q4).</a:t>
            </a:r>
          </a:p>
          <a:p>
            <a:endParaRPr lang="es-CL" dirty="0"/>
          </a:p>
          <a:p>
            <a:r>
              <a:rPr lang="es-CL" dirty="0"/>
              <a:t>Entonces, los emprendimientos deben apuntar a un Q estabilizado –que significa estandarizado-.</a:t>
            </a:r>
          </a:p>
          <a:p>
            <a:endParaRPr lang="es-CL" dirty="0"/>
          </a:p>
          <a:p>
            <a:r>
              <a:rPr lang="es-CL" dirty="0"/>
              <a:t>Esto se ve en la lógica de las acciones del Nasdaq.</a:t>
            </a:r>
          </a:p>
        </p:txBody>
      </p:sp>
      <p:grpSp>
        <p:nvGrpSpPr>
          <p:cNvPr id="20" name="Grupo 19">
            <a:extLst>
              <a:ext uri="{FF2B5EF4-FFF2-40B4-BE49-F238E27FC236}">
                <a16:creationId xmlns:a16="http://schemas.microsoft.com/office/drawing/2014/main" id="{EF55826A-997B-FA54-755F-0700AEC2F1FE}"/>
              </a:ext>
            </a:extLst>
          </p:cNvPr>
          <p:cNvGrpSpPr/>
          <p:nvPr/>
        </p:nvGrpSpPr>
        <p:grpSpPr>
          <a:xfrm>
            <a:off x="6539696" y="2083442"/>
            <a:ext cx="4039565" cy="4099532"/>
            <a:chOff x="6539696" y="1805651"/>
            <a:chExt cx="4039565" cy="4099532"/>
          </a:xfrm>
        </p:grpSpPr>
        <p:sp>
          <p:nvSpPr>
            <p:cNvPr id="4" name="Rectángulo 3">
              <a:extLst>
                <a:ext uri="{FF2B5EF4-FFF2-40B4-BE49-F238E27FC236}">
                  <a16:creationId xmlns:a16="http://schemas.microsoft.com/office/drawing/2014/main" id="{FBD2C3E1-505C-AE9A-23F0-5F4D72B15339}"/>
                </a:ext>
              </a:extLst>
            </p:cNvPr>
            <p:cNvSpPr/>
            <p:nvPr/>
          </p:nvSpPr>
          <p:spPr>
            <a:xfrm>
              <a:off x="6805913" y="2118167"/>
              <a:ext cx="360000" cy="3171463"/>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CL" dirty="0"/>
            </a:p>
          </p:txBody>
        </p:sp>
        <p:cxnSp>
          <p:nvCxnSpPr>
            <p:cNvPr id="6" name="Conector recto de flecha 5">
              <a:extLst>
                <a:ext uri="{FF2B5EF4-FFF2-40B4-BE49-F238E27FC236}">
                  <a16:creationId xmlns:a16="http://schemas.microsoft.com/office/drawing/2014/main" id="{FFD11C57-8969-114E-7D45-C1E332AFE287}"/>
                </a:ext>
              </a:extLst>
            </p:cNvPr>
            <p:cNvCxnSpPr/>
            <p:nvPr/>
          </p:nvCxnSpPr>
          <p:spPr>
            <a:xfrm flipV="1">
              <a:off x="6539696" y="1805651"/>
              <a:ext cx="0" cy="3588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Conector recto de flecha 7">
              <a:extLst>
                <a:ext uri="{FF2B5EF4-FFF2-40B4-BE49-F238E27FC236}">
                  <a16:creationId xmlns:a16="http://schemas.microsoft.com/office/drawing/2014/main" id="{786E9964-F8F4-EC28-BDEB-96FE89C79A38}"/>
                </a:ext>
              </a:extLst>
            </p:cNvPr>
            <p:cNvCxnSpPr/>
            <p:nvPr/>
          </p:nvCxnSpPr>
          <p:spPr>
            <a:xfrm>
              <a:off x="6562846" y="5393803"/>
              <a:ext cx="40164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CuadroTexto 8">
              <a:extLst>
                <a:ext uri="{FF2B5EF4-FFF2-40B4-BE49-F238E27FC236}">
                  <a16:creationId xmlns:a16="http://schemas.microsoft.com/office/drawing/2014/main" id="{0C68FFD0-9CDC-BAC4-D3A3-E96CB8874B42}"/>
                </a:ext>
              </a:extLst>
            </p:cNvPr>
            <p:cNvSpPr txBox="1"/>
            <p:nvPr/>
          </p:nvSpPr>
          <p:spPr>
            <a:xfrm>
              <a:off x="6794342" y="1871947"/>
              <a:ext cx="728084" cy="246221"/>
            </a:xfrm>
            <a:prstGeom prst="rect">
              <a:avLst/>
            </a:prstGeom>
            <a:noFill/>
          </p:spPr>
          <p:txBody>
            <a:bodyPr wrap="none" rtlCol="0">
              <a:spAutoFit/>
            </a:bodyPr>
            <a:lstStyle/>
            <a:p>
              <a:r>
                <a:rPr lang="es-CL" sz="1000" dirty="0"/>
                <a:t>ingresos</a:t>
              </a:r>
            </a:p>
          </p:txBody>
        </p:sp>
        <p:sp>
          <p:nvSpPr>
            <p:cNvPr id="10" name="Rectángulo 9">
              <a:extLst>
                <a:ext uri="{FF2B5EF4-FFF2-40B4-BE49-F238E27FC236}">
                  <a16:creationId xmlns:a16="http://schemas.microsoft.com/office/drawing/2014/main" id="{388510E0-FA8E-E628-3EDE-A2CDD85D8EDB}"/>
                </a:ext>
              </a:extLst>
            </p:cNvPr>
            <p:cNvSpPr/>
            <p:nvPr/>
          </p:nvSpPr>
          <p:spPr>
            <a:xfrm>
              <a:off x="7766680" y="2442264"/>
              <a:ext cx="360000" cy="2847366"/>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CL" dirty="0"/>
            </a:p>
          </p:txBody>
        </p:sp>
        <p:sp>
          <p:nvSpPr>
            <p:cNvPr id="11" name="CuadroTexto 10">
              <a:extLst>
                <a:ext uri="{FF2B5EF4-FFF2-40B4-BE49-F238E27FC236}">
                  <a16:creationId xmlns:a16="http://schemas.microsoft.com/office/drawing/2014/main" id="{6CFE31C6-E709-5E8C-AD5D-309F192780B0}"/>
                </a:ext>
              </a:extLst>
            </p:cNvPr>
            <p:cNvSpPr txBox="1"/>
            <p:nvPr/>
          </p:nvSpPr>
          <p:spPr>
            <a:xfrm>
              <a:off x="7767865" y="2196043"/>
              <a:ext cx="593432" cy="246221"/>
            </a:xfrm>
            <a:prstGeom prst="rect">
              <a:avLst/>
            </a:prstGeom>
            <a:noFill/>
          </p:spPr>
          <p:txBody>
            <a:bodyPr wrap="none" rtlCol="0">
              <a:spAutoFit/>
            </a:bodyPr>
            <a:lstStyle/>
            <a:p>
              <a:r>
                <a:rPr lang="es-CL" sz="1000" dirty="0"/>
                <a:t>costos</a:t>
              </a:r>
            </a:p>
          </p:txBody>
        </p:sp>
        <p:sp>
          <p:nvSpPr>
            <p:cNvPr id="13" name="Rectángulo 12">
              <a:extLst>
                <a:ext uri="{FF2B5EF4-FFF2-40B4-BE49-F238E27FC236}">
                  <a16:creationId xmlns:a16="http://schemas.microsoft.com/office/drawing/2014/main" id="{6CB3191B-DE4D-FEF7-1858-9A503510F660}"/>
                </a:ext>
              </a:extLst>
            </p:cNvPr>
            <p:cNvSpPr/>
            <p:nvPr/>
          </p:nvSpPr>
          <p:spPr>
            <a:xfrm>
              <a:off x="9574259" y="2118167"/>
              <a:ext cx="360000" cy="246219"/>
            </a:xfrm>
            <a:prstGeom prst="rect">
              <a:avLst/>
            </a:prstGeom>
            <a:solidFill>
              <a:schemeClr val="bg2">
                <a:lumMod val="90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endParaRPr lang="es-CL" dirty="0"/>
            </a:p>
          </p:txBody>
        </p:sp>
        <p:sp>
          <p:nvSpPr>
            <p:cNvPr id="14" name="CuadroTexto 13">
              <a:extLst>
                <a:ext uri="{FF2B5EF4-FFF2-40B4-BE49-F238E27FC236}">
                  <a16:creationId xmlns:a16="http://schemas.microsoft.com/office/drawing/2014/main" id="{C0F45739-9889-875A-6ECE-790F902F79CD}"/>
                </a:ext>
              </a:extLst>
            </p:cNvPr>
            <p:cNvSpPr txBox="1"/>
            <p:nvPr/>
          </p:nvSpPr>
          <p:spPr>
            <a:xfrm>
              <a:off x="9574259" y="1871952"/>
              <a:ext cx="692818" cy="246221"/>
            </a:xfrm>
            <a:prstGeom prst="rect">
              <a:avLst/>
            </a:prstGeom>
            <a:noFill/>
          </p:spPr>
          <p:txBody>
            <a:bodyPr wrap="none" rtlCol="0">
              <a:spAutoFit/>
            </a:bodyPr>
            <a:lstStyle/>
            <a:p>
              <a:r>
                <a:rPr lang="es-CL" sz="1000" b="1" dirty="0"/>
                <a:t>EBIDTA</a:t>
              </a:r>
            </a:p>
          </p:txBody>
        </p:sp>
        <p:sp>
          <p:nvSpPr>
            <p:cNvPr id="15" name="Rectángulo 14">
              <a:extLst>
                <a:ext uri="{FF2B5EF4-FFF2-40B4-BE49-F238E27FC236}">
                  <a16:creationId xmlns:a16="http://schemas.microsoft.com/office/drawing/2014/main" id="{3DAD9803-8E82-6D68-311D-1A35479E537B}"/>
                </a:ext>
              </a:extLst>
            </p:cNvPr>
            <p:cNvSpPr/>
            <p:nvPr/>
          </p:nvSpPr>
          <p:spPr>
            <a:xfrm>
              <a:off x="8727447" y="2442264"/>
              <a:ext cx="360000" cy="60187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CL" dirty="0"/>
            </a:p>
          </p:txBody>
        </p:sp>
        <p:sp>
          <p:nvSpPr>
            <p:cNvPr id="16" name="Rectángulo 15">
              <a:extLst>
                <a:ext uri="{FF2B5EF4-FFF2-40B4-BE49-F238E27FC236}">
                  <a16:creationId xmlns:a16="http://schemas.microsoft.com/office/drawing/2014/main" id="{7B9E98D8-79B0-BE9F-BF7F-021982212587}"/>
                </a:ext>
              </a:extLst>
            </p:cNvPr>
            <p:cNvSpPr/>
            <p:nvPr/>
          </p:nvSpPr>
          <p:spPr>
            <a:xfrm>
              <a:off x="8727447" y="3102023"/>
              <a:ext cx="360000" cy="2187603"/>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CL" dirty="0"/>
            </a:p>
          </p:txBody>
        </p:sp>
        <p:sp>
          <p:nvSpPr>
            <p:cNvPr id="17" name="CuadroTexto 16">
              <a:extLst>
                <a:ext uri="{FF2B5EF4-FFF2-40B4-BE49-F238E27FC236}">
                  <a16:creationId xmlns:a16="http://schemas.microsoft.com/office/drawing/2014/main" id="{9F6DDBE7-14B5-B751-0577-0AF742A50E32}"/>
                </a:ext>
              </a:extLst>
            </p:cNvPr>
            <p:cNvSpPr txBox="1"/>
            <p:nvPr/>
          </p:nvSpPr>
          <p:spPr>
            <a:xfrm>
              <a:off x="8730189" y="2190250"/>
              <a:ext cx="465192" cy="246221"/>
            </a:xfrm>
            <a:prstGeom prst="rect">
              <a:avLst/>
            </a:prstGeom>
            <a:noFill/>
          </p:spPr>
          <p:txBody>
            <a:bodyPr wrap="none" rtlCol="0">
              <a:spAutoFit/>
            </a:bodyPr>
            <a:lstStyle/>
            <a:p>
              <a:r>
                <a:rPr lang="es-CL" sz="1000" dirty="0"/>
                <a:t>GAV</a:t>
              </a:r>
            </a:p>
          </p:txBody>
        </p:sp>
        <p:sp>
          <p:nvSpPr>
            <p:cNvPr id="18" name="CuadroTexto 17">
              <a:extLst>
                <a:ext uri="{FF2B5EF4-FFF2-40B4-BE49-F238E27FC236}">
                  <a16:creationId xmlns:a16="http://schemas.microsoft.com/office/drawing/2014/main" id="{608A3FF8-54CD-0A83-4CDB-DB56644C2906}"/>
                </a:ext>
              </a:extLst>
            </p:cNvPr>
            <p:cNvSpPr txBox="1"/>
            <p:nvPr/>
          </p:nvSpPr>
          <p:spPr>
            <a:xfrm>
              <a:off x="9102952" y="3102023"/>
              <a:ext cx="700833" cy="400110"/>
            </a:xfrm>
            <a:prstGeom prst="rect">
              <a:avLst/>
            </a:prstGeom>
            <a:noFill/>
          </p:spPr>
          <p:txBody>
            <a:bodyPr wrap="none" rtlCol="0">
              <a:spAutoFit/>
            </a:bodyPr>
            <a:lstStyle/>
            <a:p>
              <a:r>
                <a:rPr lang="es-CL" sz="1000" dirty="0"/>
                <a:t>Costos</a:t>
              </a:r>
            </a:p>
            <a:p>
              <a:r>
                <a:rPr lang="es-CL" sz="1000" dirty="0"/>
                <a:t>directos</a:t>
              </a:r>
            </a:p>
          </p:txBody>
        </p:sp>
        <p:sp>
          <p:nvSpPr>
            <p:cNvPr id="19" name="CuadroTexto 18">
              <a:extLst>
                <a:ext uri="{FF2B5EF4-FFF2-40B4-BE49-F238E27FC236}">
                  <a16:creationId xmlns:a16="http://schemas.microsoft.com/office/drawing/2014/main" id="{03268412-D755-6CA8-D3FF-5323BE72C8D5}"/>
                </a:ext>
              </a:extLst>
            </p:cNvPr>
            <p:cNvSpPr txBox="1"/>
            <p:nvPr/>
          </p:nvSpPr>
          <p:spPr>
            <a:xfrm>
              <a:off x="8130304" y="5535851"/>
              <a:ext cx="461986" cy="369332"/>
            </a:xfrm>
            <a:prstGeom prst="rect">
              <a:avLst/>
            </a:prstGeom>
            <a:noFill/>
          </p:spPr>
          <p:txBody>
            <a:bodyPr wrap="none" rtlCol="0">
              <a:spAutoFit/>
            </a:bodyPr>
            <a:lstStyle/>
            <a:p>
              <a:r>
                <a:rPr lang="es-CL" dirty="0"/>
                <a:t>Q1</a:t>
              </a:r>
            </a:p>
          </p:txBody>
        </p:sp>
      </p:grpSp>
    </p:spTree>
    <p:extLst>
      <p:ext uri="{BB962C8B-B14F-4D97-AF65-F5344CB8AC3E}">
        <p14:creationId xmlns:p14="http://schemas.microsoft.com/office/powerpoint/2010/main" val="26338093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2E71F58-43A2-0852-71DC-AE72BD866CC6}"/>
              </a:ext>
            </a:extLst>
          </p:cNvPr>
          <p:cNvSpPr txBox="1"/>
          <p:nvPr/>
        </p:nvSpPr>
        <p:spPr>
          <a:xfrm>
            <a:off x="939478" y="625032"/>
            <a:ext cx="10313043" cy="461665"/>
          </a:xfrm>
          <a:prstGeom prst="rect">
            <a:avLst/>
          </a:prstGeom>
          <a:noFill/>
        </p:spPr>
        <p:txBody>
          <a:bodyPr wrap="square" rtlCol="0">
            <a:spAutoFit/>
          </a:bodyPr>
          <a:lstStyle/>
          <a:p>
            <a:pPr algn="ctr"/>
            <a:r>
              <a:rPr lang="es-ES" sz="2400" b="1" dirty="0"/>
              <a:t>La lógica del múltiplo</a:t>
            </a:r>
            <a:endParaRPr lang="es-CL" sz="2400" b="1" dirty="0"/>
          </a:p>
        </p:txBody>
      </p:sp>
      <p:cxnSp>
        <p:nvCxnSpPr>
          <p:cNvPr id="4" name="Conector recto 3">
            <a:extLst>
              <a:ext uri="{FF2B5EF4-FFF2-40B4-BE49-F238E27FC236}">
                <a16:creationId xmlns:a16="http://schemas.microsoft.com/office/drawing/2014/main" id="{DA5AACDB-98AA-854F-D295-BE3C3627080D}"/>
              </a:ext>
            </a:extLst>
          </p:cNvPr>
          <p:cNvCxnSpPr/>
          <p:nvPr/>
        </p:nvCxnSpPr>
        <p:spPr>
          <a:xfrm>
            <a:off x="939478" y="2361235"/>
            <a:ext cx="10426861" cy="0"/>
          </a:xfrm>
          <a:prstGeom prst="line">
            <a:avLst/>
          </a:prstGeom>
          <a:ln w="38100">
            <a:headEnd type="diamond" w="med" len="med"/>
            <a:tailEnd type="diamond" w="med" len="med"/>
          </a:ln>
        </p:spPr>
        <p:style>
          <a:lnRef idx="1">
            <a:schemeClr val="dk1"/>
          </a:lnRef>
          <a:fillRef idx="0">
            <a:schemeClr val="dk1"/>
          </a:fillRef>
          <a:effectRef idx="0">
            <a:schemeClr val="dk1"/>
          </a:effectRef>
          <a:fontRef idx="minor">
            <a:schemeClr val="tx1"/>
          </a:fontRef>
        </p:style>
      </p:cxnSp>
      <p:sp>
        <p:nvSpPr>
          <p:cNvPr id="5" name="CuadroTexto 4">
            <a:extLst>
              <a:ext uri="{FF2B5EF4-FFF2-40B4-BE49-F238E27FC236}">
                <a16:creationId xmlns:a16="http://schemas.microsoft.com/office/drawing/2014/main" id="{469D967C-961A-CC0C-64E3-C932D9213C3E}"/>
              </a:ext>
            </a:extLst>
          </p:cNvPr>
          <p:cNvSpPr txBox="1"/>
          <p:nvPr/>
        </p:nvSpPr>
        <p:spPr>
          <a:xfrm>
            <a:off x="782223" y="2720051"/>
            <a:ext cx="314510" cy="369332"/>
          </a:xfrm>
          <a:prstGeom prst="rect">
            <a:avLst/>
          </a:prstGeom>
          <a:noFill/>
        </p:spPr>
        <p:txBody>
          <a:bodyPr wrap="none" rtlCol="0">
            <a:spAutoFit/>
          </a:bodyPr>
          <a:lstStyle/>
          <a:p>
            <a:r>
              <a:rPr lang="es-CL" dirty="0"/>
              <a:t>3</a:t>
            </a:r>
          </a:p>
        </p:txBody>
      </p:sp>
      <p:sp>
        <p:nvSpPr>
          <p:cNvPr id="6" name="CuadroTexto 5">
            <a:extLst>
              <a:ext uri="{FF2B5EF4-FFF2-40B4-BE49-F238E27FC236}">
                <a16:creationId xmlns:a16="http://schemas.microsoft.com/office/drawing/2014/main" id="{FFA38101-6DF3-43CE-5D02-0055D87BF161}"/>
              </a:ext>
            </a:extLst>
          </p:cNvPr>
          <p:cNvSpPr txBox="1"/>
          <p:nvPr/>
        </p:nvSpPr>
        <p:spPr>
          <a:xfrm>
            <a:off x="11179154" y="2720051"/>
            <a:ext cx="420308" cy="369332"/>
          </a:xfrm>
          <a:prstGeom prst="rect">
            <a:avLst/>
          </a:prstGeom>
          <a:noFill/>
        </p:spPr>
        <p:txBody>
          <a:bodyPr wrap="none" rtlCol="0">
            <a:spAutoFit/>
          </a:bodyPr>
          <a:lstStyle/>
          <a:p>
            <a:r>
              <a:rPr lang="es-CL" dirty="0"/>
              <a:t>10</a:t>
            </a:r>
          </a:p>
        </p:txBody>
      </p:sp>
      <p:sp>
        <p:nvSpPr>
          <p:cNvPr id="7" name="CuadroTexto 6">
            <a:extLst>
              <a:ext uri="{FF2B5EF4-FFF2-40B4-BE49-F238E27FC236}">
                <a16:creationId xmlns:a16="http://schemas.microsoft.com/office/drawing/2014/main" id="{4BF479D7-9E7B-3234-69AA-CFB11B20193D}"/>
              </a:ext>
            </a:extLst>
          </p:cNvPr>
          <p:cNvSpPr txBox="1"/>
          <p:nvPr/>
        </p:nvSpPr>
        <p:spPr>
          <a:xfrm>
            <a:off x="939478" y="3312608"/>
            <a:ext cx="2622834" cy="1169551"/>
          </a:xfrm>
          <a:prstGeom prst="rect">
            <a:avLst/>
          </a:prstGeom>
          <a:noFill/>
        </p:spPr>
        <p:txBody>
          <a:bodyPr wrap="none" rtlCol="0">
            <a:spAutoFit/>
          </a:bodyPr>
          <a:lstStyle/>
          <a:p>
            <a:r>
              <a:rPr lang="es-CL" sz="1400" dirty="0"/>
              <a:t>PYME tradicional</a:t>
            </a:r>
          </a:p>
          <a:p>
            <a:r>
              <a:rPr lang="es-CL" sz="1400" dirty="0"/>
              <a:t>Modelo de negocios básico</a:t>
            </a:r>
          </a:p>
          <a:p>
            <a:r>
              <a:rPr lang="es-CL" sz="1400" dirty="0"/>
              <a:t>Poca diferenciación</a:t>
            </a:r>
          </a:p>
          <a:p>
            <a:r>
              <a:rPr lang="es-CL" sz="1400" dirty="0"/>
              <a:t>Baja innovación</a:t>
            </a:r>
          </a:p>
          <a:p>
            <a:r>
              <a:rPr lang="es-CL" sz="1400" dirty="0"/>
              <a:t>Sin propiedad intelectual</a:t>
            </a:r>
          </a:p>
        </p:txBody>
      </p:sp>
      <p:sp>
        <p:nvSpPr>
          <p:cNvPr id="8" name="CuadroTexto 7">
            <a:extLst>
              <a:ext uri="{FF2B5EF4-FFF2-40B4-BE49-F238E27FC236}">
                <a16:creationId xmlns:a16="http://schemas.microsoft.com/office/drawing/2014/main" id="{1D029640-79E3-521B-AFEF-35829FE6C502}"/>
              </a:ext>
            </a:extLst>
          </p:cNvPr>
          <p:cNvSpPr txBox="1"/>
          <p:nvPr/>
        </p:nvSpPr>
        <p:spPr>
          <a:xfrm>
            <a:off x="8361928" y="3312608"/>
            <a:ext cx="3004412" cy="1384995"/>
          </a:xfrm>
          <a:prstGeom prst="rect">
            <a:avLst/>
          </a:prstGeom>
          <a:noFill/>
        </p:spPr>
        <p:txBody>
          <a:bodyPr wrap="none" rtlCol="0">
            <a:spAutoFit/>
          </a:bodyPr>
          <a:lstStyle/>
          <a:p>
            <a:pPr algn="r"/>
            <a:r>
              <a:rPr lang="es-CL" sz="1400" dirty="0"/>
              <a:t>Startup tecnológico</a:t>
            </a:r>
          </a:p>
          <a:p>
            <a:pPr algn="r"/>
            <a:r>
              <a:rPr lang="es-CL" sz="1400" dirty="0"/>
              <a:t>Modelo de negocios sofisticado</a:t>
            </a:r>
          </a:p>
          <a:p>
            <a:pPr algn="r"/>
            <a:r>
              <a:rPr lang="es-CL" sz="1400" dirty="0"/>
              <a:t>Gasto estable en innovación</a:t>
            </a:r>
          </a:p>
          <a:p>
            <a:pPr algn="r"/>
            <a:r>
              <a:rPr lang="es-CL" sz="1400" dirty="0"/>
              <a:t>Talento</a:t>
            </a:r>
          </a:p>
          <a:p>
            <a:pPr algn="r"/>
            <a:r>
              <a:rPr lang="es-CL" sz="1400" dirty="0"/>
              <a:t>Propiedad intelectual</a:t>
            </a:r>
          </a:p>
          <a:p>
            <a:pPr algn="r"/>
            <a:r>
              <a:rPr lang="es-CL" sz="1400" dirty="0"/>
              <a:t>Mercado atractivo</a:t>
            </a:r>
          </a:p>
        </p:txBody>
      </p:sp>
      <p:sp>
        <p:nvSpPr>
          <p:cNvPr id="9" name="CuadroTexto 8">
            <a:extLst>
              <a:ext uri="{FF2B5EF4-FFF2-40B4-BE49-F238E27FC236}">
                <a16:creationId xmlns:a16="http://schemas.microsoft.com/office/drawing/2014/main" id="{4F57D58D-0D76-49DF-0F5C-84BE67B7B7D1}"/>
              </a:ext>
            </a:extLst>
          </p:cNvPr>
          <p:cNvSpPr txBox="1"/>
          <p:nvPr/>
        </p:nvSpPr>
        <p:spPr>
          <a:xfrm>
            <a:off x="4004841" y="5312779"/>
            <a:ext cx="3842795" cy="646331"/>
          </a:xfrm>
          <a:prstGeom prst="rect">
            <a:avLst/>
          </a:prstGeom>
          <a:noFill/>
        </p:spPr>
        <p:txBody>
          <a:bodyPr wrap="square" rtlCol="0">
            <a:spAutoFit/>
          </a:bodyPr>
          <a:lstStyle/>
          <a:p>
            <a:r>
              <a:rPr lang="es-CL" dirty="0">
                <a:highlight>
                  <a:srgbClr val="FFFF00"/>
                </a:highlight>
                <a:latin typeface="Ink Free" panose="03080402000500000000" pitchFamily="66" charset="0"/>
              </a:rPr>
              <a:t>Los startups “dinamizan” su modelo de negocios para mejorar el múltiplo</a:t>
            </a:r>
          </a:p>
        </p:txBody>
      </p:sp>
      <p:cxnSp>
        <p:nvCxnSpPr>
          <p:cNvPr id="11" name="Conector curvado 10">
            <a:extLst>
              <a:ext uri="{FF2B5EF4-FFF2-40B4-BE49-F238E27FC236}">
                <a16:creationId xmlns:a16="http://schemas.microsoft.com/office/drawing/2014/main" id="{821F1655-EDF0-949D-FC95-1377B57EE0C3}"/>
              </a:ext>
            </a:extLst>
          </p:cNvPr>
          <p:cNvCxnSpPr>
            <a:stCxn id="9" idx="3"/>
            <a:endCxn id="8" idx="1"/>
          </p:cNvCxnSpPr>
          <p:nvPr/>
        </p:nvCxnSpPr>
        <p:spPr>
          <a:xfrm flipV="1">
            <a:off x="7847636" y="4005106"/>
            <a:ext cx="514292" cy="1630839"/>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962046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2E95B1B8-46D2-0168-EA72-C4EFAFDFA9DF}"/>
              </a:ext>
            </a:extLst>
          </p:cNvPr>
          <p:cNvSpPr txBox="1">
            <a:spLocks/>
          </p:cNvSpPr>
          <p:nvPr/>
        </p:nvSpPr>
        <p:spPr>
          <a:xfrm>
            <a:off x="1317625" y="185307"/>
            <a:ext cx="10874375" cy="518577"/>
          </a:xfrm>
          <a:prstGeom prst="rect">
            <a:avLst/>
          </a:prstGeom>
        </p:spPr>
        <p:txBody>
          <a:bodyPr/>
          <a:lstStyle>
            <a:lvl1pPr algn="l" defTabSz="914400" rtl="0" eaLnBrk="1" latinLnBrk="0" hangingPunct="1">
              <a:lnSpc>
                <a:spcPct val="90000"/>
              </a:lnSpc>
              <a:spcBef>
                <a:spcPct val="0"/>
              </a:spcBef>
              <a:buNone/>
              <a:defRPr sz="2800" kern="1200">
                <a:solidFill>
                  <a:schemeClr val="tx1"/>
                </a:solidFill>
                <a:latin typeface="Montserrat ExtraBold" panose="00000900000000000000" pitchFamily="2" charset="0"/>
                <a:ea typeface="+mj-ea"/>
                <a:cs typeface="+mj-cs"/>
              </a:defRPr>
            </a:lvl1pPr>
          </a:lstStyle>
          <a:p>
            <a:r>
              <a:rPr lang="es-MX" sz="3200" b="1"/>
              <a:t>Tabla resumen de Valoración de Startup</a:t>
            </a:r>
            <a:endParaRPr lang="es-CL" sz="3200" b="1">
              <a:solidFill>
                <a:schemeClr val="accent2"/>
              </a:solidFill>
            </a:endParaRPr>
          </a:p>
        </p:txBody>
      </p:sp>
      <p:graphicFrame>
        <p:nvGraphicFramePr>
          <p:cNvPr id="3" name="Tabla 2">
            <a:extLst>
              <a:ext uri="{FF2B5EF4-FFF2-40B4-BE49-F238E27FC236}">
                <a16:creationId xmlns:a16="http://schemas.microsoft.com/office/drawing/2014/main" id="{5CED0EAF-5C81-CE4F-8B3F-38CCCC14205A}"/>
              </a:ext>
            </a:extLst>
          </p:cNvPr>
          <p:cNvGraphicFramePr>
            <a:graphicFrameLocks noGrp="1"/>
          </p:cNvGraphicFramePr>
          <p:nvPr/>
        </p:nvGraphicFramePr>
        <p:xfrm>
          <a:off x="241852" y="914400"/>
          <a:ext cx="11708296" cy="4560996"/>
        </p:xfrm>
        <a:graphic>
          <a:graphicData uri="http://schemas.openxmlformats.org/drawingml/2006/table">
            <a:tbl>
              <a:tblPr/>
              <a:tblGrid>
                <a:gridCol w="1856901">
                  <a:extLst>
                    <a:ext uri="{9D8B030D-6E8A-4147-A177-3AD203B41FA5}">
                      <a16:colId xmlns:a16="http://schemas.microsoft.com/office/drawing/2014/main" val="2200425160"/>
                    </a:ext>
                  </a:extLst>
                </a:gridCol>
                <a:gridCol w="1787645">
                  <a:extLst>
                    <a:ext uri="{9D8B030D-6E8A-4147-A177-3AD203B41FA5}">
                      <a16:colId xmlns:a16="http://schemas.microsoft.com/office/drawing/2014/main" val="722243275"/>
                    </a:ext>
                  </a:extLst>
                </a:gridCol>
                <a:gridCol w="8063750">
                  <a:extLst>
                    <a:ext uri="{9D8B030D-6E8A-4147-A177-3AD203B41FA5}">
                      <a16:colId xmlns:a16="http://schemas.microsoft.com/office/drawing/2014/main" val="1743172585"/>
                    </a:ext>
                  </a:extLst>
                </a:gridCol>
              </a:tblGrid>
              <a:tr h="315097">
                <a:tc>
                  <a:txBody>
                    <a:bodyPr/>
                    <a:lstStyle/>
                    <a:p>
                      <a:pPr algn="ctr" fontAlgn="base"/>
                      <a:r>
                        <a:rPr lang="en-US" sz="1600" b="1" i="0" err="1">
                          <a:solidFill>
                            <a:srgbClr val="4E696D"/>
                          </a:solidFill>
                          <a:effectLst/>
                          <a:latin typeface="Raleway" pitchFamily="2" charset="0"/>
                        </a:rPr>
                        <a:t>Método</a:t>
                      </a:r>
                      <a:endParaRPr lang="en-US" sz="1600" b="0" i="0">
                        <a:solidFill>
                          <a:srgbClr val="000000"/>
                        </a:solidFill>
                        <a:effectLst/>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rgbClr val="79F7D5"/>
                    </a:solidFill>
                  </a:tcPr>
                </a:tc>
                <a:tc>
                  <a:txBody>
                    <a:bodyPr/>
                    <a:lstStyle/>
                    <a:p>
                      <a:pPr algn="ctr" fontAlgn="base"/>
                      <a:r>
                        <a:rPr lang="en-US" sz="1600" b="1" i="0" kern="1200">
                          <a:solidFill>
                            <a:srgbClr val="4E696D"/>
                          </a:solidFill>
                          <a:effectLst/>
                          <a:latin typeface="Raleway" pitchFamily="2" charset="0"/>
                          <a:ea typeface="+mn-ea"/>
                          <a:cs typeface="+mn-cs"/>
                        </a:rPr>
                        <a:t>Etapa</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rgbClr val="79F7D5"/>
                    </a:solidFill>
                  </a:tcPr>
                </a:tc>
                <a:tc>
                  <a:txBody>
                    <a:bodyPr/>
                    <a:lstStyle/>
                    <a:p>
                      <a:pPr algn="ctr" fontAlgn="base"/>
                      <a:r>
                        <a:rPr lang="es-MX" sz="1600" b="1" i="0" kern="1200">
                          <a:solidFill>
                            <a:srgbClr val="4E696D"/>
                          </a:solidFill>
                          <a:effectLst/>
                          <a:latin typeface="Raleway" pitchFamily="2" charset="0"/>
                          <a:ea typeface="+mn-ea"/>
                          <a:cs typeface="+mn-cs"/>
                        </a:rPr>
                        <a:t>Característica</a:t>
                      </a:r>
                      <a:endParaRPr lang="es-CL" sz="1600" b="1" i="0" kern="1200" noProof="0">
                        <a:solidFill>
                          <a:srgbClr val="4E696D"/>
                        </a:solidFill>
                        <a:effectLst/>
                        <a:latin typeface="Raleway" pitchFamily="2" charset="0"/>
                        <a:ea typeface="+mn-ea"/>
                        <a:cs typeface="+mn-cs"/>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rgbClr val="79F7D5"/>
                    </a:solidFill>
                  </a:tcPr>
                </a:tc>
                <a:extLst>
                  <a:ext uri="{0D108BD9-81ED-4DB2-BD59-A6C34878D82A}">
                    <a16:rowId xmlns:a16="http://schemas.microsoft.com/office/drawing/2014/main" val="1049266011"/>
                  </a:ext>
                </a:extLst>
              </a:tr>
              <a:tr h="401032">
                <a:tc>
                  <a:txBody>
                    <a:bodyPr/>
                    <a:lstStyle/>
                    <a:p>
                      <a:pPr algn="ctr" fontAlgn="base"/>
                      <a:r>
                        <a:rPr kumimoji="0" lang="es-CL"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Valorización Comparativa</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tx2">
                        <a:lumMod val="20000"/>
                        <a:lumOff val="80000"/>
                      </a:schemeClr>
                    </a:solidFill>
                  </a:tcPr>
                </a:tc>
                <a:tc>
                  <a:txBody>
                    <a:bodyPr/>
                    <a:lstStyle/>
                    <a:p>
                      <a:pPr algn="ctr" fontAlgn="base"/>
                      <a:r>
                        <a:rPr kumimoji="0" lang="es-CL"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Idea- Concepto</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tx2">
                        <a:lumMod val="20000"/>
                        <a:lumOff val="80000"/>
                      </a:schemeClr>
                    </a:solidFill>
                  </a:tcPr>
                </a:tc>
                <a:tc>
                  <a:txBody>
                    <a:bodyPr/>
                    <a:lstStyle/>
                    <a:p>
                      <a:pPr algn="ctr" fontAlgn="base"/>
                      <a:r>
                        <a:rPr kumimoji="0" lang="es-MX" sz="1100" i="0" u="none" strike="noStrike" kern="1200" cap="none" spc="0" normalizeH="0" baseline="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Compara el startup con otras empresas similares en términos de tamaño, industria, etapa de desarrollo, y otros factores. </a:t>
                      </a:r>
                      <a:endParaRPr kumimoji="0" lang="es-MX" sz="1100" i="0" u="none" strike="noStrike" kern="1200" cap="none" spc="0" normalizeH="0" baseline="0" dirty="0">
                        <a:ln>
                          <a:noFill/>
                        </a:ln>
                        <a:solidFill>
                          <a:srgbClr val="4E696D"/>
                        </a:solidFill>
                        <a:effectLst/>
                        <a:highlight>
                          <a:srgbClr val="FFFF00"/>
                        </a:highligh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60872642"/>
                  </a:ext>
                </a:extLst>
              </a:tr>
              <a:tr h="401032">
                <a:tc>
                  <a:txBody>
                    <a:bodyPr/>
                    <a:lstStyle/>
                    <a:p>
                      <a:pPr algn="ctr" fontAlgn="base"/>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V</a:t>
                      </a:r>
                      <a:r>
                        <a:rPr kumimoji="0" lang="es-CL" sz="1100" i="0" u="none" strike="noStrike" kern="1200" cap="none" spc="0" normalizeH="0" baseline="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alor</a:t>
                      </a:r>
                      <a:r>
                        <a:rPr kumimoji="0" lang="es-CL"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Total de Costo</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Seed</a:t>
                      </a:r>
                      <a:endPar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Estima el valor del startup sumando todos los costos en los que ha incurrido hasta el momento de la valoración.</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18579107"/>
                  </a:ext>
                </a:extLst>
              </a:tr>
              <a:tr h="401032">
                <a:tc>
                  <a:txBody>
                    <a:bodyPr/>
                    <a:lstStyle/>
                    <a:p>
                      <a:pPr algn="ctr" fontAlgn="base"/>
                      <a:r>
                        <a:rPr kumimoji="0" lang="es-CL"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Valor Neto Contable</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Seed</a:t>
                      </a:r>
                      <a:endPar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Obtiene el neto entre las inversiones y la financiación externa. En términos simples, resta el total del pasivo al total del activo en balance</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274106723"/>
                  </a:ext>
                </a:extLst>
              </a:tr>
              <a:tr h="314294">
                <a:tc>
                  <a:txBody>
                    <a:bodyPr/>
                    <a:lstStyle/>
                    <a:p>
                      <a:pPr algn="ctr" fontAlgn="base"/>
                      <a:r>
                        <a:rPr kumimoji="0" lang="es-CL"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Venture Capital</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Seed</a:t>
                      </a:r>
                      <a:endPar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 basa en estimar el valor actual de un startup en base a las expectativas de retorno futuras de un inversor. </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91458977"/>
                  </a:ext>
                </a:extLst>
              </a:tr>
              <a:tr h="558580">
                <a:tc>
                  <a:txBody>
                    <a:bodyPr/>
                    <a:lstStyle/>
                    <a:p>
                      <a:pPr algn="ctr" fontAlgn="base"/>
                      <a:r>
                        <a:rPr kumimoji="0" lang="es-CL" sz="1100" i="0" u="none" strike="noStrike" kern="1200" cap="none" spc="0" normalizeH="0" baseline="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Scorecard</a:t>
                      </a:r>
                      <a:endParaRPr kumimoji="0" lang="es-CL"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a:t>
                      </a:r>
                      <a:r>
                        <a:rPr kumimoji="0" lang="es-MX" sz="1100" i="0" u="none" strike="noStrike" kern="1200" cap="none" spc="0" normalizeH="0" baseline="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Seed</a:t>
                      </a:r>
                      <a:endPar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 basa en la comparación del startup con otros startups similares en su sector o industria en base a 7 factores comparativos: Equipo Fundador, Tamaño de Mercado, Producto y Tecnología, Entorno Competitivo, Tracción, Necesidad de Financiación, otros.</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248371153"/>
                  </a:ext>
                </a:extLst>
              </a:tr>
              <a:tr h="558580">
                <a:tc>
                  <a:txBody>
                    <a:bodyPr/>
                    <a:lstStyle/>
                    <a:p>
                      <a:pPr algn="ctr" fontAlgn="base"/>
                      <a:r>
                        <a:rPr kumimoji="0" lang="es-CL" sz="1100" i="0" u="none" strike="noStrike" kern="1200" cap="none" spc="0" normalizeH="0" baseline="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Berkus</a:t>
                      </a:r>
                      <a:endParaRPr kumimoji="0" lang="es-CL"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Seed</a:t>
                      </a:r>
                      <a:endPar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 centra en los aspectos estratégicos, operativos y de mercado, más allá de los datos financieros concretos. Este enfoque se materializa en la valoración de cinco factores fundamentales: la idea, el equipo fundador, el prototipo funcional, las relaciones estratégicas y la tracción.</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627940527"/>
                  </a:ext>
                </a:extLst>
              </a:tr>
              <a:tr h="447150">
                <a:tc>
                  <a:txBody>
                    <a:bodyPr/>
                    <a:lstStyle/>
                    <a:p>
                      <a:pPr algn="ctr" fontAlgn="base"/>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Múltiplo de Ventas</a:t>
                      </a:r>
                      <a:endParaRPr kumimoji="0" lang="es-CL"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s-MX" sz="1100" i="0" u="none" strike="noStrike" kern="1200" cap="none" spc="0" normalizeH="0" baseline="0" err="1">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Seed</a:t>
                      </a:r>
                      <a:endPar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tc>
                  <a:txBody>
                    <a:bodyPr/>
                    <a:lstStyle/>
                    <a:p>
                      <a:pPr algn="ctr" fontAlgn="base"/>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Este método se basa en comparar los ingresos de una empresa con su valor de mercado o su precio de venta. Esto significa que se divide el valor total de la empresa por los ingresos totales de la empresa.</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738445843"/>
                  </a:ext>
                </a:extLst>
              </a:tr>
              <a:tr h="401032">
                <a:tc>
                  <a:txBody>
                    <a:bodyPr/>
                    <a:lstStyle/>
                    <a:p>
                      <a:pPr algn="ctr" fontAlgn="base"/>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Descuento de Flujos de Caja </a:t>
                      </a:r>
                      <a:endParaRPr kumimoji="0" lang="es-CL"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Crecimiento</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5">
                        <a:lumMod val="20000"/>
                        <a:lumOff val="80000"/>
                      </a:schemeClr>
                    </a:solidFill>
                  </a:tcPr>
                </a:tc>
                <a:tc>
                  <a:txBody>
                    <a:bodyPr/>
                    <a:lstStyle/>
                    <a:p>
                      <a:pPr algn="ctr" fontAlgn="base"/>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Es un método dinámico, el cual considera que el valor de una empresa es equivalente al valor presente de sus flujos de caja futuros descontados a una tasa que mide el riesgo asociado a estos flujos.</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966896676"/>
                  </a:ext>
                </a:extLst>
              </a:tr>
              <a:tr h="571922">
                <a:tc>
                  <a:txBody>
                    <a:bodyPr/>
                    <a:lstStyle/>
                    <a:p>
                      <a:pPr algn="ctr" fontAlgn="base"/>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Múltiplos de EBITDA</a:t>
                      </a:r>
                      <a:endParaRPr kumimoji="0" lang="es-CL"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endParaRP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s-MX" sz="1100" i="0" u="none" strike="noStrike" kern="1200" cap="none" spc="0" normalizeH="0" baseline="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Crecimiento</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5">
                        <a:lumMod val="20000"/>
                        <a:lumOff val="80000"/>
                      </a:schemeClr>
                    </a:solidFill>
                  </a:tcPr>
                </a:tc>
                <a:tc>
                  <a:txBody>
                    <a:bodyPr/>
                    <a:lstStyle/>
                    <a:p>
                      <a:pPr algn="ctr" fontAlgn="base"/>
                      <a:r>
                        <a:rPr kumimoji="0" lang="es-MX" sz="1100" i="0" u="none" strike="noStrike" kern="1200" cap="none" spc="0" normalizeH="0" baseline="0" dirty="0">
                          <a:ln>
                            <a:noFill/>
                          </a:ln>
                          <a:solidFill>
                            <a:srgbClr val="4E696D"/>
                          </a:solidFill>
                          <a:effectLst/>
                          <a:uLnTx/>
                          <a:uFillTx/>
                          <a:latin typeface="Montserrat" panose="00000500000000000000" pitchFamily="2" charset="0"/>
                          <a:ea typeface="Open Sans SemiBold" panose="020B0706030804020204" pitchFamily="34" charset="0"/>
                          <a:cs typeface="Open Sans SemiBold" panose="020B0706030804020204" pitchFamily="34" charset="0"/>
                        </a:rPr>
                        <a:t> Estima el valor de una empresa multiplicando sus ganancias antes de intereses, impuestos, depreciación y amortización (EBITDA) por un múltiplo específico. Este múltiplo se deriva de la comparación con empresas similares dentro de la misma industria, permitiendo una valoración que se ajusta a las condiciones del mercado.</a:t>
                      </a:r>
                    </a:p>
                  </a:txBody>
                  <a:tcPr anchor="ctr">
                    <a:lnL w="16688" cap="flat" cmpd="sng" algn="ctr">
                      <a:solidFill>
                        <a:srgbClr val="79F7D5"/>
                      </a:solidFill>
                      <a:prstDash val="solid"/>
                      <a:round/>
                      <a:headEnd type="none" w="med" len="med"/>
                      <a:tailEnd type="none" w="med" len="med"/>
                    </a:lnL>
                    <a:lnR w="16688" cap="flat" cmpd="sng" algn="ctr">
                      <a:solidFill>
                        <a:srgbClr val="79F7D5"/>
                      </a:solidFill>
                      <a:prstDash val="solid"/>
                      <a:round/>
                      <a:headEnd type="none" w="med" len="med"/>
                      <a:tailEnd type="none" w="med" len="med"/>
                    </a:lnR>
                    <a:lnT w="16688" cap="flat" cmpd="sng" algn="ctr">
                      <a:solidFill>
                        <a:srgbClr val="79F7D5"/>
                      </a:solidFill>
                      <a:prstDash val="solid"/>
                      <a:round/>
                      <a:headEnd type="none" w="med" len="med"/>
                      <a:tailEnd type="none" w="med" len="med"/>
                    </a:lnT>
                    <a:lnB w="16688" cap="flat" cmpd="sng" algn="ctr">
                      <a:solidFill>
                        <a:srgbClr val="79F7D5"/>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85550080"/>
                  </a:ext>
                </a:extLst>
              </a:tr>
            </a:tbl>
          </a:graphicData>
        </a:graphic>
      </p:graphicFrame>
    </p:spTree>
    <p:extLst>
      <p:ext uri="{BB962C8B-B14F-4D97-AF65-F5344CB8AC3E}">
        <p14:creationId xmlns:p14="http://schemas.microsoft.com/office/powerpoint/2010/main" val="1894141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JjbZUH0C0E.WQ28mDvFMp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xO4vZjn2mUeGQMceeKQdh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V6bF7rGUHUe1csXcpS.1g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W3CBmASyKEe_AHDaxGtUe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_UJoCoIuiUePZGN3td.0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39Ht7cFxcUSQSPuqyhUGL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uCAEcKUMz0ew1KWrMi01q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UKKjDQyOTEa0slnL53yDW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TsNMIoA_WU2EROrDHXBku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GYMIilEBGEukYXw1pRQW4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94E9FtveYU66sOvSG818E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mgWqAz5jf0q65MDiXGzv8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uuOKREj6zkqtbr_CBCxWs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MmYPAa2Ba0uscjMI8QzQ9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f4v2kiNmlki9FMVQMyUzb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z.4kbhrT7UapcS8iZC5kb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Nqcop5UDz0edfYajHTDgV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jDtkkO6eK0yLQ1R_VE50y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aofwQyBlYkWwte5UuBH_Y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XOrz3miM10Czb8oXCryG5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j0Av480A.USK2jaq3WwTS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7DmD_0kDQU6FsMtnv2JwK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cm7GYAAN10.1fbO_SBXDJ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ystPNqKdoEChrNSUK08oy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iCmbtLq9kES77MJoIa2Ak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xBZiz2a90EWtowvQ9Qey6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v.c37M7LnkuEWt_RZdBc1Q"/>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115</TotalTime>
  <Words>9082</Words>
  <Application>Microsoft Macintosh PowerPoint</Application>
  <PresentationFormat>Panorámica</PresentationFormat>
  <Paragraphs>1032</Paragraphs>
  <Slides>68</Slides>
  <Notes>6</Notes>
  <HiddenSlides>0</HiddenSlides>
  <MMClips>0</MMClips>
  <ScaleCrop>false</ScaleCrop>
  <HeadingPairs>
    <vt:vector size="8" baseType="variant">
      <vt:variant>
        <vt:lpstr>Fuentes usadas</vt:lpstr>
      </vt:variant>
      <vt:variant>
        <vt:i4>18</vt:i4>
      </vt:variant>
      <vt:variant>
        <vt:lpstr>Tema</vt:lpstr>
      </vt:variant>
      <vt:variant>
        <vt:i4>2</vt:i4>
      </vt:variant>
      <vt:variant>
        <vt:lpstr>Servidores OLE incrustados</vt:lpstr>
      </vt:variant>
      <vt:variant>
        <vt:i4>0</vt:i4>
      </vt:variant>
      <vt:variant>
        <vt:lpstr>Títulos de diapositiva</vt:lpstr>
      </vt:variant>
      <vt:variant>
        <vt:i4>68</vt:i4>
      </vt:variant>
    </vt:vector>
  </HeadingPairs>
  <TitlesOfParts>
    <vt:vector size="88" baseType="lpstr">
      <vt:lpstr>Aptos</vt:lpstr>
      <vt:lpstr>Arial</vt:lpstr>
      <vt:lpstr>Avenir Next</vt:lpstr>
      <vt:lpstr>Calibri</vt:lpstr>
      <vt:lpstr>Cambria Math</vt:lpstr>
      <vt:lpstr>Daniel</vt:lpstr>
      <vt:lpstr>Gill Sans</vt:lpstr>
      <vt:lpstr>Gotham</vt:lpstr>
      <vt:lpstr>Gotham Medium</vt:lpstr>
      <vt:lpstr>Ink Free</vt:lpstr>
      <vt:lpstr>Lao Sangam MN</vt:lpstr>
      <vt:lpstr>Lucida Grande</vt:lpstr>
      <vt:lpstr>Montserrat</vt:lpstr>
      <vt:lpstr>Montserrat SemiBold</vt:lpstr>
      <vt:lpstr>Open Sans SemiBold</vt:lpstr>
      <vt:lpstr>Raleway</vt:lpstr>
      <vt:lpstr>Wingdings</vt:lpstr>
      <vt:lpstr>ヒラギノ角ゴ ProN W3</vt:lpstr>
      <vt:lpstr>Tema de Office</vt:lpstr>
      <vt:lpstr>1_Tema de Office</vt:lpstr>
      <vt:lpstr>VIRALIZA VENTURE STUDIO UINN Programa de financiamiento especializado para startups. </vt:lpstr>
      <vt:lpstr>Presentación de PowerPoint</vt:lpstr>
      <vt:lpstr>Las etapas de un emprendimiento de idea a negocio. Requerimiento de capital y curva de cash.</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¿Qué son las rondas de inversión?</vt:lpstr>
      <vt:lpstr>Presentación de PowerPoint</vt:lpstr>
      <vt:lpstr>Presentación de PowerPoint</vt:lpstr>
      <vt:lpstr>Presentación de PowerPoint</vt:lpstr>
      <vt:lpstr>FINANCIAMIENTO ESPECIALIZADO</vt:lpstr>
      <vt:lpstr>Presentación de PowerPoint</vt:lpstr>
      <vt:lpstr>Levantamiento de capital y fuentes de fondos</vt:lpstr>
      <vt:lpstr>Presentación de PowerPoint</vt:lpstr>
      <vt:lpstr>Presentación de PowerPoint</vt:lpstr>
      <vt:lpstr>Presentación de PowerPoint</vt:lpstr>
      <vt:lpstr>Presentación de PowerPoint</vt:lpstr>
      <vt:lpstr>Presentación de PowerPoint</vt:lpstr>
      <vt:lpstr>Presentación de PowerPoint</vt:lpstr>
      <vt:lpstr>Crowdfunding </vt:lpstr>
      <vt:lpstr>Fondos públicos</vt:lpstr>
      <vt:lpstr>Presentación de PowerPoint</vt:lpstr>
      <vt:lpstr>Presentación de PowerPoint</vt:lpstr>
      <vt:lpstr>Presentación de PowerPoint</vt:lpstr>
      <vt:lpstr>Presentación de PowerPoint</vt:lpstr>
      <vt:lpstr>Valorización de empresas y métodos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Click to edit Master title style</vt:lpstr>
      <vt:lpstr>Click to edit Master title style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Inti Nuñez</dc:creator>
  <cp:lastModifiedBy>Inti Nuñez</cp:lastModifiedBy>
  <cp:revision>4</cp:revision>
  <dcterms:created xsi:type="dcterms:W3CDTF">2026-01-06T18:18:06Z</dcterms:created>
  <dcterms:modified xsi:type="dcterms:W3CDTF">2026-03-05T12:50:16Z</dcterms:modified>
</cp:coreProperties>
</file>