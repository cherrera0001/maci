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6" r:id="rId2"/>
  </p:sldMasterIdLst>
  <p:notesMasterIdLst>
    <p:notesMasterId r:id="rId69"/>
  </p:notesMasterIdLst>
  <p:sldIdLst>
    <p:sldId id="257" r:id="rId3"/>
    <p:sldId id="1802" r:id="rId4"/>
    <p:sldId id="261" r:id="rId5"/>
    <p:sldId id="1777" r:id="rId6"/>
    <p:sldId id="600" r:id="rId7"/>
    <p:sldId id="1853" r:id="rId8"/>
    <p:sldId id="1901" r:id="rId9"/>
    <p:sldId id="1900" r:id="rId10"/>
    <p:sldId id="1903" r:id="rId11"/>
    <p:sldId id="1854" r:id="rId12"/>
    <p:sldId id="1907" r:id="rId13"/>
    <p:sldId id="1906" r:id="rId14"/>
    <p:sldId id="1872" r:id="rId15"/>
    <p:sldId id="1437" r:id="rId16"/>
    <p:sldId id="295" r:id="rId17"/>
    <p:sldId id="296" r:id="rId18"/>
    <p:sldId id="297" r:id="rId19"/>
    <p:sldId id="298" r:id="rId20"/>
    <p:sldId id="1917" r:id="rId21"/>
    <p:sldId id="2074" r:id="rId22"/>
    <p:sldId id="262" r:id="rId23"/>
    <p:sldId id="1932" r:id="rId24"/>
    <p:sldId id="1933" r:id="rId25"/>
    <p:sldId id="1999" r:id="rId26"/>
    <p:sldId id="2067" r:id="rId27"/>
    <p:sldId id="2000" r:id="rId28"/>
    <p:sldId id="619" r:id="rId29"/>
    <p:sldId id="2051" r:id="rId30"/>
    <p:sldId id="2052" r:id="rId31"/>
    <p:sldId id="2070" r:id="rId32"/>
    <p:sldId id="1402" r:id="rId33"/>
    <p:sldId id="603" r:id="rId34"/>
    <p:sldId id="2071" r:id="rId35"/>
    <p:sldId id="2069" r:id="rId36"/>
    <p:sldId id="616" r:id="rId37"/>
    <p:sldId id="1180" r:id="rId38"/>
    <p:sldId id="2072" r:id="rId39"/>
    <p:sldId id="2053" r:id="rId40"/>
    <p:sldId id="1430" r:id="rId41"/>
    <p:sldId id="2060" r:id="rId42"/>
    <p:sldId id="403" r:id="rId43"/>
    <p:sldId id="2061" r:id="rId44"/>
    <p:sldId id="2062" r:id="rId45"/>
    <p:sldId id="2055" r:id="rId46"/>
    <p:sldId id="1936" r:id="rId47"/>
    <p:sldId id="1435" r:id="rId48"/>
    <p:sldId id="882" r:id="rId49"/>
    <p:sldId id="492" r:id="rId50"/>
    <p:sldId id="1205" r:id="rId51"/>
    <p:sldId id="2056" r:id="rId52"/>
    <p:sldId id="2057" r:id="rId53"/>
    <p:sldId id="2058" r:id="rId54"/>
    <p:sldId id="876" r:id="rId55"/>
    <p:sldId id="263" r:id="rId56"/>
    <p:sldId id="2073" r:id="rId57"/>
    <p:sldId id="1986" r:id="rId58"/>
    <p:sldId id="2017" r:id="rId59"/>
    <p:sldId id="679" r:id="rId60"/>
    <p:sldId id="2009" r:id="rId61"/>
    <p:sldId id="2023" r:id="rId62"/>
    <p:sldId id="2024" r:id="rId63"/>
    <p:sldId id="2010" r:id="rId64"/>
    <p:sldId id="264" r:id="rId65"/>
    <p:sldId id="268" r:id="rId66"/>
    <p:sldId id="270" r:id="rId67"/>
    <p:sldId id="269" r:id="rId68"/>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lase 1.2 Modelo de negocios ajuste y escalabilidad" id="{0F5EE2DD-DA99-9D4F-B9BF-0C4B696FC3BD}">
          <p14:sldIdLst>
            <p14:sldId id="257"/>
            <p14:sldId id="1802"/>
          </p14:sldIdLst>
        </p14:section>
        <p14:section name="Por que el modelo de negocios es tán importante" id="{49412171-810A-2644-B079-D369036C4AC9}">
          <p14:sldIdLst>
            <p14:sldId id="261"/>
            <p14:sldId id="1777"/>
            <p14:sldId id="600"/>
            <p14:sldId id="1853"/>
            <p14:sldId id="1901"/>
            <p14:sldId id="1900"/>
            <p14:sldId id="1903"/>
            <p14:sldId id="1854"/>
            <p14:sldId id="1907"/>
            <p14:sldId id="1906"/>
            <p14:sldId id="1872"/>
            <p14:sldId id="1437"/>
            <p14:sldId id="295"/>
            <p14:sldId id="296"/>
            <p14:sldId id="297"/>
            <p14:sldId id="298"/>
            <p14:sldId id="1917"/>
            <p14:sldId id="2074"/>
          </p14:sldIdLst>
        </p14:section>
        <p14:section name="Que implica ajustar el modelo de negocios" id="{2FD6CA10-9A93-C346-AE63-CDE6DC4D19BA}">
          <p14:sldIdLst>
            <p14:sldId id="262"/>
            <p14:sldId id="1932"/>
            <p14:sldId id="1933"/>
            <p14:sldId id="1999"/>
            <p14:sldId id="2067"/>
            <p14:sldId id="2000"/>
            <p14:sldId id="619"/>
            <p14:sldId id="2051"/>
            <p14:sldId id="2052"/>
            <p14:sldId id="2070"/>
            <p14:sldId id="1402"/>
            <p14:sldId id="603"/>
            <p14:sldId id="2071"/>
            <p14:sldId id="2069"/>
            <p14:sldId id="616"/>
            <p14:sldId id="1180"/>
            <p14:sldId id="2072"/>
            <p14:sldId id="2053"/>
            <p14:sldId id="1430"/>
            <p14:sldId id="2060"/>
            <p14:sldId id="403"/>
            <p14:sldId id="2061"/>
            <p14:sldId id="2062"/>
            <p14:sldId id="2055"/>
            <p14:sldId id="1936"/>
            <p14:sldId id="1435"/>
            <p14:sldId id="882"/>
            <p14:sldId id="492"/>
            <p14:sldId id="1205"/>
            <p14:sldId id="2056"/>
            <p14:sldId id="2057"/>
            <p14:sldId id="2058"/>
            <p14:sldId id="876"/>
          </p14:sldIdLst>
        </p14:section>
        <p14:section name="Las finanzas en la lógica de crecimiento" id="{55A3DA15-B1AC-DF43-AA89-9FA3CD5C7F53}">
          <p14:sldIdLst>
            <p14:sldId id="263"/>
            <p14:sldId id="2073"/>
            <p14:sldId id="1986"/>
            <p14:sldId id="2017"/>
            <p14:sldId id="679"/>
            <p14:sldId id="2009"/>
            <p14:sldId id="2023"/>
            <p14:sldId id="2024"/>
            <p14:sldId id="2010"/>
          </p14:sldIdLst>
        </p14:section>
        <p14:section name="Casos en Lean Startup actividad" id="{75DA87C6-AD6E-184B-A947-75B77EE15B66}">
          <p14:sldIdLst>
            <p14:sldId id="264"/>
            <p14:sldId id="268"/>
            <p14:sldId id="270"/>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04F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7352"/>
    <p:restoredTop sz="94643"/>
  </p:normalViewPr>
  <p:slideViewPr>
    <p:cSldViewPr snapToGrid="0">
      <p:cViewPr varScale="1">
        <p:scale>
          <a:sx n="115" d="100"/>
          <a:sy n="115" d="100"/>
        </p:scale>
        <p:origin x="376" y="192"/>
      </p:cViewPr>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microsoft.com/office/2016/11/relationships/changesInfo" Target="changesInfos/changesInfo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ti Nuñez" userId="fc293a4ee38bb93b" providerId="LiveId" clId="{8C091EB5-D9FC-51B9-B601-2F1273399689}"/>
    <pc:docChg chg="custSel addSld delSld modSld sldOrd addMainMaster delMainMaster modMainMaster addSection modSection">
      <pc:chgData name="Inti Nuñez" userId="fc293a4ee38bb93b" providerId="LiveId" clId="{8C091EB5-D9FC-51B9-B601-2F1273399689}" dt="2026-03-05T11:49:25.045" v="719" actId="20578"/>
      <pc:docMkLst>
        <pc:docMk/>
      </pc:docMkLst>
      <pc:sldChg chg="ord">
        <pc:chgData name="Inti Nuñez" userId="fc293a4ee38bb93b" providerId="LiveId" clId="{8C091EB5-D9FC-51B9-B601-2F1273399689}" dt="2026-03-03T13:04:29.673" v="714" actId="20578"/>
        <pc:sldMkLst>
          <pc:docMk/>
          <pc:sldMk cId="3896982101" sldId="263"/>
        </pc:sldMkLst>
      </pc:sldChg>
      <pc:sldChg chg="add">
        <pc:chgData name="Inti Nuñez" userId="fc293a4ee38bb93b" providerId="LiveId" clId="{8C091EB5-D9FC-51B9-B601-2F1273399689}" dt="2026-03-03T13:19:01.412" v="716"/>
        <pc:sldMkLst>
          <pc:docMk/>
          <pc:sldMk cId="3151117238" sldId="268"/>
        </pc:sldMkLst>
      </pc:sldChg>
      <pc:sldChg chg="add">
        <pc:chgData name="Inti Nuñez" userId="fc293a4ee38bb93b" providerId="LiveId" clId="{8C091EB5-D9FC-51B9-B601-2F1273399689}" dt="2026-03-03T13:19:01.412" v="716"/>
        <pc:sldMkLst>
          <pc:docMk/>
          <pc:sldMk cId="3827654244" sldId="269"/>
        </pc:sldMkLst>
      </pc:sldChg>
      <pc:sldChg chg="add">
        <pc:chgData name="Inti Nuñez" userId="fc293a4ee38bb93b" providerId="LiveId" clId="{8C091EB5-D9FC-51B9-B601-2F1273399689}" dt="2026-03-03T13:19:01.412" v="716"/>
        <pc:sldMkLst>
          <pc:docMk/>
          <pc:sldMk cId="664919117" sldId="270"/>
        </pc:sldMkLst>
      </pc:sldChg>
      <pc:sldChg chg="add">
        <pc:chgData name="Inti Nuñez" userId="fc293a4ee38bb93b" providerId="LiveId" clId="{8C091EB5-D9FC-51B9-B601-2F1273399689}" dt="2026-03-03T13:21:50.519" v="718"/>
        <pc:sldMkLst>
          <pc:docMk/>
          <pc:sldMk cId="1326762034" sldId="679"/>
        </pc:sldMkLst>
      </pc:sldChg>
      <pc:sldChg chg="modSp mod">
        <pc:chgData name="Inti Nuñez" userId="fc293a4ee38bb93b" providerId="LiveId" clId="{8C091EB5-D9FC-51B9-B601-2F1273399689}" dt="2026-03-03T13:04:01.397" v="712" actId="1076"/>
        <pc:sldMkLst>
          <pc:docMk/>
          <pc:sldMk cId="2332282451" sldId="1917"/>
        </pc:sldMkLst>
        <pc:spChg chg="mod">
          <ac:chgData name="Inti Nuñez" userId="fc293a4ee38bb93b" providerId="LiveId" clId="{8C091EB5-D9FC-51B9-B601-2F1273399689}" dt="2026-03-03T13:04:01.397" v="712" actId="1076"/>
          <ac:spMkLst>
            <pc:docMk/>
            <pc:sldMk cId="2332282451" sldId="1917"/>
            <ac:spMk id="2" creationId="{F8A2E706-AFAB-3EAE-E614-0EB0C8415FA0}"/>
          </ac:spMkLst>
        </pc:spChg>
        <pc:spChg chg="mod">
          <ac:chgData name="Inti Nuñez" userId="fc293a4ee38bb93b" providerId="LiveId" clId="{8C091EB5-D9FC-51B9-B601-2F1273399689}" dt="2026-03-03T13:03:58.076" v="711" actId="1076"/>
          <ac:spMkLst>
            <pc:docMk/>
            <pc:sldMk cId="2332282451" sldId="1917"/>
            <ac:spMk id="11" creationId="{394EBA3D-666C-EB08-D07A-2B9E4E9071E9}"/>
          </ac:spMkLst>
        </pc:spChg>
        <pc:spChg chg="mod">
          <ac:chgData name="Inti Nuñez" userId="fc293a4ee38bb93b" providerId="LiveId" clId="{8C091EB5-D9FC-51B9-B601-2F1273399689}" dt="2026-03-03T13:03:58.076" v="711" actId="1076"/>
          <ac:spMkLst>
            <pc:docMk/>
            <pc:sldMk cId="2332282451" sldId="1917"/>
            <ac:spMk id="12" creationId="{95AA4CB3-4C72-143C-0D00-FBD5FEAEA7B2}"/>
          </ac:spMkLst>
        </pc:spChg>
        <pc:spChg chg="mod">
          <ac:chgData name="Inti Nuñez" userId="fc293a4ee38bb93b" providerId="LiveId" clId="{8C091EB5-D9FC-51B9-B601-2F1273399689}" dt="2026-03-03T13:03:58.076" v="711" actId="1076"/>
          <ac:spMkLst>
            <pc:docMk/>
            <pc:sldMk cId="2332282451" sldId="1917"/>
            <ac:spMk id="13" creationId="{759DE32D-852C-91F3-1CE4-99CE63DB68AC}"/>
          </ac:spMkLst>
        </pc:spChg>
        <pc:spChg chg="mod">
          <ac:chgData name="Inti Nuñez" userId="fc293a4ee38bb93b" providerId="LiveId" clId="{8C091EB5-D9FC-51B9-B601-2F1273399689}" dt="2026-03-03T13:03:58.076" v="711" actId="1076"/>
          <ac:spMkLst>
            <pc:docMk/>
            <pc:sldMk cId="2332282451" sldId="1917"/>
            <ac:spMk id="18" creationId="{88BCCA48-9B4E-9A50-B1DE-0F81656BA442}"/>
          </ac:spMkLst>
        </pc:spChg>
        <pc:spChg chg="mod">
          <ac:chgData name="Inti Nuñez" userId="fc293a4ee38bb93b" providerId="LiveId" clId="{8C091EB5-D9FC-51B9-B601-2F1273399689}" dt="2026-03-03T13:03:58.076" v="711" actId="1076"/>
          <ac:spMkLst>
            <pc:docMk/>
            <pc:sldMk cId="2332282451" sldId="1917"/>
            <ac:spMk id="19" creationId="{395469D9-6EC3-9D4B-CABA-0A7928080DC4}"/>
          </ac:spMkLst>
        </pc:spChg>
        <pc:spChg chg="mod">
          <ac:chgData name="Inti Nuñez" userId="fc293a4ee38bb93b" providerId="LiveId" clId="{8C091EB5-D9FC-51B9-B601-2F1273399689}" dt="2026-03-03T13:03:58.076" v="711" actId="1076"/>
          <ac:spMkLst>
            <pc:docMk/>
            <pc:sldMk cId="2332282451" sldId="1917"/>
            <ac:spMk id="20" creationId="{AF6D1B27-15CE-7291-1BCF-F236F248DB25}"/>
          </ac:spMkLst>
        </pc:spChg>
        <pc:spChg chg="mod">
          <ac:chgData name="Inti Nuñez" userId="fc293a4ee38bb93b" providerId="LiveId" clId="{8C091EB5-D9FC-51B9-B601-2F1273399689}" dt="2026-03-03T13:03:58.076" v="711" actId="1076"/>
          <ac:spMkLst>
            <pc:docMk/>
            <pc:sldMk cId="2332282451" sldId="1917"/>
            <ac:spMk id="21" creationId="{D5AA36CF-7174-78D0-1BD6-C46B7B7C27E6}"/>
          </ac:spMkLst>
        </pc:spChg>
        <pc:picChg chg="mod">
          <ac:chgData name="Inti Nuñez" userId="fc293a4ee38bb93b" providerId="LiveId" clId="{8C091EB5-D9FC-51B9-B601-2F1273399689}" dt="2026-03-03T13:03:58.076" v="711" actId="1076"/>
          <ac:picMkLst>
            <pc:docMk/>
            <pc:sldMk cId="2332282451" sldId="1917"/>
            <ac:picMk id="3" creationId="{02B831F9-CB94-D8FB-1695-B610CAFE38D7}"/>
          </ac:picMkLst>
        </pc:picChg>
        <pc:picChg chg="mod">
          <ac:chgData name="Inti Nuñez" userId="fc293a4ee38bb93b" providerId="LiveId" clId="{8C091EB5-D9FC-51B9-B601-2F1273399689}" dt="2026-03-03T13:03:58.076" v="711" actId="1076"/>
          <ac:picMkLst>
            <pc:docMk/>
            <pc:sldMk cId="2332282451" sldId="1917"/>
            <ac:picMk id="14" creationId="{FFA3D09F-7F8E-C069-3DCA-AA4A65A1F0A6}"/>
          </ac:picMkLst>
        </pc:picChg>
        <pc:picChg chg="mod">
          <ac:chgData name="Inti Nuñez" userId="fc293a4ee38bb93b" providerId="LiveId" clId="{8C091EB5-D9FC-51B9-B601-2F1273399689}" dt="2026-03-03T13:03:58.076" v="711" actId="1076"/>
          <ac:picMkLst>
            <pc:docMk/>
            <pc:sldMk cId="2332282451" sldId="1917"/>
            <ac:picMk id="16" creationId="{570DFDC1-B439-0F86-60AF-3A8677F4B0CB}"/>
          </ac:picMkLst>
        </pc:picChg>
      </pc:sldChg>
      <pc:sldChg chg="add ord">
        <pc:chgData name="Inti Nuñez" userId="fc293a4ee38bb93b" providerId="LiveId" clId="{8C091EB5-D9FC-51B9-B601-2F1273399689}" dt="2026-03-05T11:49:25.045" v="719" actId="20578"/>
        <pc:sldMkLst>
          <pc:docMk/>
          <pc:sldMk cId="3473886613" sldId="1986"/>
        </pc:sldMkLst>
      </pc:sldChg>
      <pc:sldChg chg="add">
        <pc:chgData name="Inti Nuñez" userId="fc293a4ee38bb93b" providerId="LiveId" clId="{8C091EB5-D9FC-51B9-B601-2F1273399689}" dt="2026-03-03T13:21:50.519" v="718"/>
        <pc:sldMkLst>
          <pc:docMk/>
          <pc:sldMk cId="2739600148" sldId="2009"/>
        </pc:sldMkLst>
      </pc:sldChg>
      <pc:sldChg chg="add">
        <pc:chgData name="Inti Nuñez" userId="fc293a4ee38bb93b" providerId="LiveId" clId="{8C091EB5-D9FC-51B9-B601-2F1273399689}" dt="2026-03-03T13:21:50.519" v="718"/>
        <pc:sldMkLst>
          <pc:docMk/>
          <pc:sldMk cId="928468509" sldId="2010"/>
        </pc:sldMkLst>
      </pc:sldChg>
      <pc:sldChg chg="add">
        <pc:chgData name="Inti Nuñez" userId="fc293a4ee38bb93b" providerId="LiveId" clId="{8C091EB5-D9FC-51B9-B601-2F1273399689}" dt="2026-03-03T13:21:50.519" v="718"/>
        <pc:sldMkLst>
          <pc:docMk/>
          <pc:sldMk cId="2816806203" sldId="2017"/>
        </pc:sldMkLst>
      </pc:sldChg>
      <pc:sldChg chg="add">
        <pc:chgData name="Inti Nuñez" userId="fc293a4ee38bb93b" providerId="LiveId" clId="{8C091EB5-D9FC-51B9-B601-2F1273399689}" dt="2026-03-03T13:21:50.519" v="718"/>
        <pc:sldMkLst>
          <pc:docMk/>
          <pc:sldMk cId="2920037926" sldId="2023"/>
        </pc:sldMkLst>
      </pc:sldChg>
      <pc:sldChg chg="add">
        <pc:chgData name="Inti Nuñez" userId="fc293a4ee38bb93b" providerId="LiveId" clId="{8C091EB5-D9FC-51B9-B601-2F1273399689}" dt="2026-03-03T13:21:50.519" v="718"/>
        <pc:sldMkLst>
          <pc:docMk/>
          <pc:sldMk cId="2467360838" sldId="2024"/>
        </pc:sldMkLst>
      </pc:sldChg>
      <pc:sldChg chg="delSp mod">
        <pc:chgData name="Inti Nuñez" userId="fc293a4ee38bb93b" providerId="LiveId" clId="{8C091EB5-D9FC-51B9-B601-2F1273399689}" dt="2026-03-03T13:03:05.905" v="710" actId="478"/>
        <pc:sldMkLst>
          <pc:docMk/>
          <pc:sldMk cId="504521104" sldId="2072"/>
        </pc:sldMkLst>
      </pc:sldChg>
      <pc:sldChg chg="new">
        <pc:chgData name="Inti Nuñez" userId="fc293a4ee38bb93b" providerId="LiveId" clId="{8C091EB5-D9FC-51B9-B601-2F1273399689}" dt="2026-03-03T13:04:27.314" v="713" actId="680"/>
        <pc:sldMkLst>
          <pc:docMk/>
          <pc:sldMk cId="2407006678" sldId="2073"/>
        </pc:sldMkLst>
      </pc:sldChg>
      <pc:sldChg chg="new">
        <pc:chgData name="Inti Nuñez" userId="fc293a4ee38bb93b" providerId="LiveId" clId="{8C091EB5-D9FC-51B9-B601-2F1273399689}" dt="2026-03-03T13:04:54.453" v="715" actId="680"/>
        <pc:sldMkLst>
          <pc:docMk/>
          <pc:sldMk cId="836538424" sldId="207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78D170-5DD4-AC42-9B42-38681BF200A8}" type="datetimeFigureOut">
              <a:rPr lang="es-CL" smtClean="0"/>
              <a:t>05-03-26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CCA445-6EB0-3945-9E03-B7D555990304}" type="slidenum">
              <a:rPr lang="es-CL" smtClean="0"/>
              <a:t>‹Nº›</a:t>
            </a:fld>
            <a:endParaRPr lang="es-CL"/>
          </a:p>
        </p:txBody>
      </p:sp>
    </p:spTree>
    <p:extLst>
      <p:ext uri="{BB962C8B-B14F-4D97-AF65-F5344CB8AC3E}">
        <p14:creationId xmlns:p14="http://schemas.microsoft.com/office/powerpoint/2010/main" val="4211517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1FD6A4C-D160-CA4B-8B98-1C0C5846C152}" type="slidenum">
              <a:rPr kumimoji="0" lang="es-C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s-C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35791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L" dirty="0"/>
              <a:t>Lo que tiene que ver</a:t>
            </a:r>
            <a:r>
              <a:rPr lang="es-CL" baseline="0" dirty="0"/>
              <a:t> con esas 3 partes del modelo de negocios (fabricación, desarrollo de clientes e ingresos)</a:t>
            </a:r>
            <a:endParaRPr lang="es-CL" dirty="0"/>
          </a:p>
          <a:p>
            <a:endParaRPr lang="es-CL" dirty="0"/>
          </a:p>
          <a:p>
            <a:r>
              <a:rPr lang="es-CL" dirty="0"/>
              <a:t>Van a dar una clase</a:t>
            </a:r>
            <a:r>
              <a:rPr lang="es-CL" baseline="0" dirty="0"/>
              <a:t> de prueba gratis, eso quizás calzaría en hipótesis de deseabilidad, ¿estarán interesados para asistir, con qué van a enganchar?. En viabilidad que algo les pueda costar más de lo pensado, etc. Cosas de preferencias, </a:t>
            </a:r>
            <a:r>
              <a:rPr lang="es-CL" baseline="0" dirty="0" err="1"/>
              <a:t>etc</a:t>
            </a:r>
            <a:endParaRPr lang="es-CL" dirty="0"/>
          </a:p>
          <a:p>
            <a:endParaRPr lang="es-CL" dirty="0"/>
          </a:p>
        </p:txBody>
      </p:sp>
      <p:sp>
        <p:nvSpPr>
          <p:cNvPr id="4" name="Marcador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AB57DB-23AB-4111-B816-C33114DB5C3D}" type="slidenum">
              <a:rPr kumimoji="0" lang="es-CL" sz="1200" b="0" i="0" u="none" strike="noStrike" kern="1200" cap="none" spc="0" normalizeH="0" baseline="0" noProof="0" smtClean="0">
                <a:ln>
                  <a:noFill/>
                </a:ln>
                <a:solidFill>
                  <a:prstClr val="black"/>
                </a:solidFill>
                <a:effectLst/>
                <a:uLnTx/>
                <a:uFillTx/>
                <a:latin typeface="Calibri" panose="020F0502020204030204"/>
                <a:ea typeface="+mn-ea"/>
                <a:cs typeface="+mn-cs"/>
                <a:sym typeface="Gill Sans" charset="0"/>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s-CL" sz="1200" b="0" i="0" u="none" strike="noStrike" kern="1200" cap="none" spc="0" normalizeH="0" baseline="0" noProof="0">
              <a:ln>
                <a:noFill/>
              </a:ln>
              <a:solidFill>
                <a:prstClr val="black"/>
              </a:solidFill>
              <a:effectLst/>
              <a:uLnTx/>
              <a:uFillTx/>
              <a:latin typeface="Calibri" panose="020F0502020204030204"/>
              <a:ea typeface="+mn-ea"/>
              <a:cs typeface="+mn-cs"/>
              <a:sym typeface="Gill Sans" charset="0"/>
            </a:endParaRPr>
          </a:p>
        </p:txBody>
      </p:sp>
    </p:spTree>
    <p:extLst>
      <p:ext uri="{BB962C8B-B14F-4D97-AF65-F5344CB8AC3E}">
        <p14:creationId xmlns:p14="http://schemas.microsoft.com/office/powerpoint/2010/main" val="873181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608481" rtl="0" eaLnBrk="0" fontAlgn="base" latinLnBrk="0" hangingPunct="0">
              <a:lnSpc>
                <a:spcPct val="100000"/>
              </a:lnSpc>
              <a:spcBef>
                <a:spcPct val="30000"/>
              </a:spcBef>
              <a:spcAft>
                <a:spcPct val="0"/>
              </a:spcAft>
              <a:buClrTx/>
              <a:buSzTx/>
              <a:buFontTx/>
              <a:buNone/>
              <a:tabLst/>
              <a:defRPr/>
            </a:pPr>
            <a:r>
              <a:rPr lang="es-CL" dirty="0"/>
              <a:t>Lean </a:t>
            </a:r>
            <a:r>
              <a:rPr lang="es-CL" dirty="0" err="1"/>
              <a:t>Start</a:t>
            </a:r>
            <a:r>
              <a:rPr lang="es-CL" dirty="0"/>
              <a:t> Up consiste en comprobar que el modelo de negocios es viable, repetible y escalable.</a:t>
            </a:r>
          </a:p>
          <a:p>
            <a:endParaRPr lang="es-CL" dirty="0"/>
          </a:p>
        </p:txBody>
      </p:sp>
      <p:sp>
        <p:nvSpPr>
          <p:cNvPr id="4" name="Marcador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AB57DB-23AB-4111-B816-C33114DB5C3D}" type="slidenum">
              <a:rPr kumimoji="0" lang="es-CL" sz="1200" b="0" i="0" u="none" strike="noStrike" kern="1200" cap="none" spc="0" normalizeH="0" baseline="0" noProof="0" smtClean="0">
                <a:ln>
                  <a:noFill/>
                </a:ln>
                <a:solidFill>
                  <a:prstClr val="black"/>
                </a:solidFill>
                <a:effectLst/>
                <a:uLnTx/>
                <a:uFillTx/>
                <a:latin typeface="Calibri" panose="020F0502020204030204"/>
                <a:ea typeface="+mn-ea"/>
                <a:cs typeface="+mn-cs"/>
                <a:sym typeface="Gill Sans" charset="0"/>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s-CL" sz="1200" b="0" i="0" u="none" strike="noStrike" kern="1200" cap="none" spc="0" normalizeH="0" baseline="0" noProof="0">
              <a:ln>
                <a:noFill/>
              </a:ln>
              <a:solidFill>
                <a:prstClr val="black"/>
              </a:solidFill>
              <a:effectLst/>
              <a:uLnTx/>
              <a:uFillTx/>
              <a:latin typeface="Calibri" panose="020F0502020204030204"/>
              <a:ea typeface="+mn-ea"/>
              <a:cs typeface="+mn-cs"/>
              <a:sym typeface="Gill Sans" charset="0"/>
            </a:endParaRPr>
          </a:p>
        </p:txBody>
      </p:sp>
    </p:spTree>
    <p:extLst>
      <p:ext uri="{BB962C8B-B14F-4D97-AF65-F5344CB8AC3E}">
        <p14:creationId xmlns:p14="http://schemas.microsoft.com/office/powerpoint/2010/main" val="1196694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10.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69115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B5AC80-D16F-276F-428A-D0501511E329}"/>
              </a:ext>
            </a:extLst>
          </p:cNvPr>
          <p:cNvSpPr>
            <a:spLocks noGrp="1"/>
          </p:cNvSpPr>
          <p:nvPr>
            <p:ph type="title"/>
          </p:nvPr>
        </p:nvSpPr>
        <p:spPr>
          <a:xfrm>
            <a:off x="838200" y="365125"/>
            <a:ext cx="10515600" cy="1325563"/>
          </a:xfrm>
          <a:prstGeom prst="rect">
            <a:avLst/>
          </a:prstGeom>
        </p:spPr>
        <p:txBody>
          <a:bodyPr anchor="ctr"/>
          <a:lstStyle>
            <a:lvl1pPr>
              <a:defRPr sz="2800">
                <a:latin typeface="Raleway" pitchFamily="2" charset="77"/>
              </a:defRPr>
            </a:lvl1pPr>
          </a:lstStyle>
          <a:p>
            <a:r>
              <a:rPr lang="es-MX"/>
              <a:t>Haz clic para modificar el estilo de título del patrón</a:t>
            </a:r>
            <a:endParaRPr lang="es-CL"/>
          </a:p>
        </p:txBody>
      </p:sp>
      <p:sp>
        <p:nvSpPr>
          <p:cNvPr id="3" name="Marcador de contenido 2">
            <a:extLst>
              <a:ext uri="{FF2B5EF4-FFF2-40B4-BE49-F238E27FC236}">
                <a16:creationId xmlns:a16="http://schemas.microsoft.com/office/drawing/2014/main" id="{97C48075-19FB-7EEF-9680-31290BE2A4E2}"/>
              </a:ext>
            </a:extLst>
          </p:cNvPr>
          <p:cNvSpPr>
            <a:spLocks noGrp="1"/>
          </p:cNvSpPr>
          <p:nvPr>
            <p:ph idx="1"/>
          </p:nvPr>
        </p:nvSpPr>
        <p:spPr>
          <a:xfrm>
            <a:off x="838200" y="1825625"/>
            <a:ext cx="10515600" cy="3462471"/>
          </a:xfrm>
          <a:prstGeom prst="rect">
            <a:avLst/>
          </a:prstGeom>
        </p:spPr>
        <p:txBody>
          <a:bodyPr/>
          <a:lstStyle>
            <a:lvl1pPr>
              <a:defRPr>
                <a:latin typeface="Raleway" pitchFamily="2" charset="77"/>
              </a:defRPr>
            </a:lvl1pPr>
            <a:lvl2pPr>
              <a:defRPr>
                <a:latin typeface="Raleway" pitchFamily="2" charset="77"/>
              </a:defRPr>
            </a:lvl2pPr>
            <a:lvl3pPr>
              <a:defRPr>
                <a:latin typeface="Raleway" pitchFamily="2" charset="77"/>
              </a:defRPr>
            </a:lvl3pPr>
            <a:lvl4pPr>
              <a:defRPr>
                <a:latin typeface="Raleway" pitchFamily="2" charset="77"/>
              </a:defRPr>
            </a:lvl4pPr>
            <a:lvl5pPr>
              <a:defRPr>
                <a:latin typeface="Raleway" pitchFamily="2" charset="77"/>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Tree>
    <p:extLst>
      <p:ext uri="{BB962C8B-B14F-4D97-AF65-F5344CB8AC3E}">
        <p14:creationId xmlns:p14="http://schemas.microsoft.com/office/powerpoint/2010/main" val="18229774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663E75-CAA5-010C-E70B-6295B48CBC62}"/>
              </a:ext>
            </a:extLst>
          </p:cNvPr>
          <p:cNvSpPr>
            <a:spLocks noGrp="1"/>
          </p:cNvSpPr>
          <p:nvPr>
            <p:ph type="title"/>
          </p:nvPr>
        </p:nvSpPr>
        <p:spPr>
          <a:xfrm>
            <a:off x="838200" y="365125"/>
            <a:ext cx="10515600" cy="1325563"/>
          </a:xfrm>
          <a:prstGeom prst="rect">
            <a:avLst/>
          </a:prstGeom>
        </p:spPr>
        <p:txBody>
          <a:bodyPr anchor="ctr"/>
          <a:lstStyle>
            <a:lvl1pPr>
              <a:defRPr sz="2800">
                <a:latin typeface="Raleway" pitchFamily="2" charset="77"/>
              </a:defRPr>
            </a:lvl1pPr>
          </a:lstStyle>
          <a:p>
            <a:r>
              <a:rPr lang="es-MX"/>
              <a:t>Haz clic para modificar el estilo de título del patrón</a:t>
            </a:r>
            <a:endParaRPr lang="es-CL"/>
          </a:p>
        </p:txBody>
      </p:sp>
    </p:spTree>
    <p:extLst>
      <p:ext uri="{BB962C8B-B14F-4D97-AF65-F5344CB8AC3E}">
        <p14:creationId xmlns:p14="http://schemas.microsoft.com/office/powerpoint/2010/main" val="676340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889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sitiva de título">
    <p:bg>
      <p:bgPr>
        <a:solidFill>
          <a:srgbClr val="504FB7"/>
        </a:solidFill>
        <a:effectLst/>
      </p:bgPr>
    </p:bg>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748A6285-A3A5-F8F8-F082-F32E16565A64}"/>
              </a:ext>
            </a:extLst>
          </p:cNvPr>
          <p:cNvSpPr>
            <a:spLocks noGrp="1"/>
          </p:cNvSpPr>
          <p:nvPr>
            <p:ph type="title"/>
          </p:nvPr>
        </p:nvSpPr>
        <p:spPr>
          <a:xfrm>
            <a:off x="838200" y="1477828"/>
            <a:ext cx="5257800" cy="1325563"/>
          </a:xfrm>
          <a:prstGeom prst="rect">
            <a:avLst/>
          </a:prstGeom>
        </p:spPr>
        <p:txBody>
          <a:bodyPr/>
          <a:lstStyle>
            <a:lvl1pPr>
              <a:defRPr sz="2800">
                <a:solidFill>
                  <a:schemeClr val="bg1"/>
                </a:solidFill>
              </a:defRPr>
            </a:lvl1pPr>
          </a:lstStyle>
          <a:p>
            <a:r>
              <a:rPr lang="es-MX"/>
              <a:t>Haz clic para modificar el estilo de título del patrón</a:t>
            </a:r>
            <a:endParaRPr lang="es-CL"/>
          </a:p>
        </p:txBody>
      </p:sp>
    </p:spTree>
    <p:extLst>
      <p:ext uri="{BB962C8B-B14F-4D97-AF65-F5344CB8AC3E}">
        <p14:creationId xmlns:p14="http://schemas.microsoft.com/office/powerpoint/2010/main" val="2165962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1977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ca">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525062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Comparación">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426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ítulo y objetos">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3437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1_Diseño personalizado">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1325658D-C30C-4B17-B780-D8EE00AA75DC}"/>
              </a:ext>
            </a:extLst>
          </p:cNvPr>
          <p:cNvSpPr>
            <a:spLocks noGrp="1"/>
          </p:cNvSpPr>
          <p:nvPr>
            <p:ph type="title"/>
          </p:nvPr>
        </p:nvSpPr>
        <p:spPr>
          <a:xfrm>
            <a:off x="695325" y="549276"/>
            <a:ext cx="10515600" cy="551938"/>
          </a:xfrm>
          <a:prstGeom prst="rect">
            <a:avLst/>
          </a:prstGeom>
        </p:spPr>
        <p:txBody>
          <a:bodyPr vert="horz" lIns="91440" tIns="45720" rIns="91440" bIns="45720" rtlCol="0" anchor="ctr">
            <a:noAutofit/>
          </a:bodyPr>
          <a:lstStyle/>
          <a:p>
            <a:r>
              <a:rPr lang="en-US"/>
              <a:t>Click to edit Master title style</a:t>
            </a:r>
            <a:endParaRPr lang="es-419" dirty="0"/>
          </a:p>
        </p:txBody>
      </p:sp>
      <p:sp>
        <p:nvSpPr>
          <p:cNvPr id="12" name="Text Placeholder 2">
            <a:extLst>
              <a:ext uri="{FF2B5EF4-FFF2-40B4-BE49-F238E27FC236}">
                <a16:creationId xmlns:a16="http://schemas.microsoft.com/office/drawing/2014/main" id="{C7784ADC-5815-4B8E-B6FD-475B0075E3D8}"/>
              </a:ext>
            </a:extLst>
          </p:cNvPr>
          <p:cNvSpPr>
            <a:spLocks noGrp="1"/>
          </p:cNvSpPr>
          <p:nvPr>
            <p:ph idx="1" hasCustomPrompt="1"/>
          </p:nvPr>
        </p:nvSpPr>
        <p:spPr>
          <a:xfrm>
            <a:off x="695325" y="1567008"/>
            <a:ext cx="10515600" cy="4351338"/>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s-419" dirty="0"/>
          </a:p>
        </p:txBody>
      </p:sp>
      <p:sp>
        <p:nvSpPr>
          <p:cNvPr id="24" name="Slide Number Placeholder 5">
            <a:extLst>
              <a:ext uri="{FF2B5EF4-FFF2-40B4-BE49-F238E27FC236}">
                <a16:creationId xmlns:a16="http://schemas.microsoft.com/office/drawing/2014/main" id="{BD4B4A6B-5E64-4C5D-9D5B-93A4F1727121}"/>
              </a:ext>
            </a:extLst>
          </p:cNvPr>
          <p:cNvSpPr>
            <a:spLocks noGrp="1"/>
          </p:cNvSpPr>
          <p:nvPr>
            <p:ph type="sldNum" sz="quarter" idx="4"/>
          </p:nvPr>
        </p:nvSpPr>
        <p:spPr>
          <a:xfrm>
            <a:off x="5911730" y="6186805"/>
            <a:ext cx="368543" cy="243840"/>
          </a:xfrm>
          <a:prstGeom prst="rect">
            <a:avLst/>
          </a:prstGeom>
        </p:spPr>
        <p:txBody>
          <a:bodyPr vert="horz" lIns="91440" tIns="45720" rIns="91440" bIns="45720" rtlCol="0" anchor="ctr"/>
          <a:lstStyle>
            <a:lvl1pPr algn="r">
              <a:defRPr sz="900" b="0">
                <a:solidFill>
                  <a:schemeClr val="tx1"/>
                </a:solidFill>
                <a:latin typeface="+mn-lt"/>
              </a:defRPr>
            </a:lvl1pPr>
          </a:lstStyle>
          <a:p>
            <a:pPr defTabSz="914446" eaLnBrk="1" fontAlgn="auto" hangingPunct="1">
              <a:spcBef>
                <a:spcPts val="0"/>
              </a:spcBef>
              <a:spcAft>
                <a:spcPts val="0"/>
              </a:spcAft>
            </a:pPr>
            <a:fld id="{51ED9358-27BD-4757-8BC3-FCFAB6CB8B4F}" type="slidenum">
              <a:rPr lang="es-CL" smtClean="0">
                <a:solidFill>
                  <a:prstClr val="black"/>
                </a:solidFill>
                <a:cs typeface="+mn-cs"/>
              </a:rPr>
              <a:pPr defTabSz="914446" eaLnBrk="1" fontAlgn="auto" hangingPunct="1">
                <a:spcBef>
                  <a:spcPts val="0"/>
                </a:spcBef>
                <a:spcAft>
                  <a:spcPts val="0"/>
                </a:spcAft>
              </a:pPr>
              <a:t>‹Nº›</a:t>
            </a:fld>
            <a:endParaRPr lang="es-CL" dirty="0">
              <a:solidFill>
                <a:prstClr val="black"/>
              </a:solidFill>
              <a:cs typeface="+mn-cs"/>
            </a:endParaRPr>
          </a:p>
        </p:txBody>
      </p:sp>
      <p:grpSp>
        <p:nvGrpSpPr>
          <p:cNvPr id="21" name="Group 20">
            <a:extLst>
              <a:ext uri="{FF2B5EF4-FFF2-40B4-BE49-F238E27FC236}">
                <a16:creationId xmlns:a16="http://schemas.microsoft.com/office/drawing/2014/main" id="{7B1AAF3E-2C78-401E-8508-23287CE9C3D4}"/>
              </a:ext>
            </a:extLst>
          </p:cNvPr>
          <p:cNvGrpSpPr/>
          <p:nvPr userDrawn="1"/>
        </p:nvGrpSpPr>
        <p:grpSpPr>
          <a:xfrm>
            <a:off x="7572860" y="6142676"/>
            <a:ext cx="3923815" cy="287969"/>
            <a:chOff x="4717228" y="5881402"/>
            <a:chExt cx="3923815" cy="287969"/>
          </a:xfrm>
        </p:grpSpPr>
        <p:grpSp>
          <p:nvGrpSpPr>
            <p:cNvPr id="22" name="Grupo 12">
              <a:extLst>
                <a:ext uri="{FF2B5EF4-FFF2-40B4-BE49-F238E27FC236}">
                  <a16:creationId xmlns:a16="http://schemas.microsoft.com/office/drawing/2014/main" id="{3B177D39-765C-4583-86BA-BC86D56F627F}"/>
                </a:ext>
              </a:extLst>
            </p:cNvPr>
            <p:cNvGrpSpPr/>
            <p:nvPr/>
          </p:nvGrpSpPr>
          <p:grpSpPr>
            <a:xfrm>
              <a:off x="4717228" y="5881402"/>
              <a:ext cx="2606836" cy="287969"/>
              <a:chOff x="8892117" y="6125441"/>
              <a:chExt cx="2606836" cy="287969"/>
            </a:xfrm>
          </p:grpSpPr>
          <p:pic>
            <p:nvPicPr>
              <p:cNvPr id="25" name="Imagen 13">
                <a:extLst>
                  <a:ext uri="{FF2B5EF4-FFF2-40B4-BE49-F238E27FC236}">
                    <a16:creationId xmlns:a16="http://schemas.microsoft.com/office/drawing/2014/main" id="{10F1E627-DFA6-42E2-9EB0-B76BB7B1587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970643" y="6125442"/>
                <a:ext cx="528310" cy="287968"/>
              </a:xfrm>
              <a:prstGeom prst="rect">
                <a:avLst/>
              </a:prstGeom>
            </p:spPr>
          </p:pic>
          <p:pic>
            <p:nvPicPr>
              <p:cNvPr id="26" name="Imagen 14">
                <a:extLst>
                  <a:ext uri="{FF2B5EF4-FFF2-40B4-BE49-F238E27FC236}">
                    <a16:creationId xmlns:a16="http://schemas.microsoft.com/office/drawing/2014/main" id="{C5A72C34-6113-4E8F-B94A-A1830D4B94F6}"/>
                  </a:ext>
                </a:extLst>
              </p:cNvPr>
              <p:cNvPicPr>
                <a:picLocks noChangeAspect="1"/>
              </p:cNvPicPr>
              <p:nvPr/>
            </p:nvPicPr>
            <p:blipFill>
              <a:blip r:embed="rId3" cstate="screen">
                <a:grayscl/>
                <a:extLst>
                  <a:ext uri="{28A0092B-C50C-407E-A947-70E740481C1C}">
                    <a14:useLocalDpi xmlns:a14="http://schemas.microsoft.com/office/drawing/2010/main"/>
                  </a:ext>
                </a:extLst>
              </a:blip>
              <a:stretch>
                <a:fillRect/>
              </a:stretch>
            </p:blipFill>
            <p:spPr>
              <a:xfrm>
                <a:off x="9960892" y="6125441"/>
                <a:ext cx="761058" cy="287968"/>
              </a:xfrm>
              <a:prstGeom prst="rect">
                <a:avLst/>
              </a:prstGeom>
            </p:spPr>
          </p:pic>
          <p:pic>
            <p:nvPicPr>
              <p:cNvPr id="27" name="Imagen 15">
                <a:extLst>
                  <a:ext uri="{FF2B5EF4-FFF2-40B4-BE49-F238E27FC236}">
                    <a16:creationId xmlns:a16="http://schemas.microsoft.com/office/drawing/2014/main" id="{00C0E818-A266-4567-88EC-3CBE99CAC7C9}"/>
                  </a:ext>
                </a:extLst>
              </p:cNvPr>
              <p:cNvPicPr>
                <a:picLocks noChangeAspect="1"/>
              </p:cNvPicPr>
              <p:nvPr/>
            </p:nvPicPr>
            <p:blipFill>
              <a:blip r:embed="rId4" cstate="screen">
                <a:grayscl/>
                <a:extLst>
                  <a:ext uri="{28A0092B-C50C-407E-A947-70E740481C1C}">
                    <a14:useLocalDpi xmlns:a14="http://schemas.microsoft.com/office/drawing/2010/main"/>
                  </a:ext>
                </a:extLst>
              </a:blip>
              <a:stretch>
                <a:fillRect/>
              </a:stretch>
            </p:blipFill>
            <p:spPr>
              <a:xfrm>
                <a:off x="8892117" y="6125442"/>
                <a:ext cx="764222" cy="287968"/>
              </a:xfrm>
              <a:prstGeom prst="rect">
                <a:avLst/>
              </a:prstGeom>
            </p:spPr>
          </p:pic>
        </p:grpSp>
        <p:pic>
          <p:nvPicPr>
            <p:cNvPr id="23" name="Imagen 3">
              <a:extLst>
                <a:ext uri="{FF2B5EF4-FFF2-40B4-BE49-F238E27FC236}">
                  <a16:creationId xmlns:a16="http://schemas.microsoft.com/office/drawing/2014/main" id="{65E88122-723A-4B14-9824-ACFD7938B30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61910" y="5892149"/>
              <a:ext cx="979133" cy="266447"/>
            </a:xfrm>
            <a:prstGeom prst="rect">
              <a:avLst/>
            </a:prstGeom>
          </p:spPr>
        </p:pic>
      </p:grpSp>
    </p:spTree>
    <p:extLst>
      <p:ext uri="{BB962C8B-B14F-4D97-AF65-F5344CB8AC3E}">
        <p14:creationId xmlns:p14="http://schemas.microsoft.com/office/powerpoint/2010/main" val="3129316603"/>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2_Diseño personalizado">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05428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600" y="275167"/>
            <a:ext cx="10972800" cy="1143000"/>
          </a:xfrm>
          <a:prstGeom prst="rect">
            <a:avLst/>
          </a:prstGeom>
        </p:spPr>
        <p:txBody>
          <a:bodyPr lIns="91322" tIns="45662" rIns="91322" bIns="45662"/>
          <a:lstStyle/>
          <a:p>
            <a:r>
              <a:rPr lang="es-ES"/>
              <a:t>Haga clic para modificar el estilo de título del patrón</a:t>
            </a:r>
          </a:p>
        </p:txBody>
      </p:sp>
      <p:sp>
        <p:nvSpPr>
          <p:cNvPr id="3" name="Text Box 1">
            <a:extLst>
              <a:ext uri="{FF2B5EF4-FFF2-40B4-BE49-F238E27FC236}">
                <a16:creationId xmlns:a16="http://schemas.microsoft.com/office/drawing/2014/main" id="{916D9A50-784D-4418-AD53-60F363FD9387}"/>
              </a:ext>
            </a:extLst>
          </p:cNvPr>
          <p:cNvSpPr txBox="1">
            <a:spLocks noGrp="1" noChangeArrowheads="1"/>
          </p:cNvSpPr>
          <p:nvPr>
            <p:ph type="sldNum" sz="quarter" idx="10"/>
          </p:nvPr>
        </p:nvSpPr>
        <p:spPr>
          <a:ln/>
        </p:spPr>
        <p:txBody>
          <a:bodyPr/>
          <a:lstStyle>
            <a:lvl1pPr>
              <a:defRPr/>
            </a:lvl1pPr>
          </a:lstStyle>
          <a:p>
            <a:pPr>
              <a:defRPr/>
            </a:pPr>
            <a:fld id="{B34E7B63-CE73-4BF7-A21D-6DCC698D3949}" type="slidenum">
              <a:rPr lang="en-US" altLang="es-CL"/>
              <a:pPr>
                <a:defRPr/>
              </a:pPr>
              <a:t>‹Nº›</a:t>
            </a:fld>
            <a:endParaRPr lang="en-US" altLang="es-CL"/>
          </a:p>
        </p:txBody>
      </p:sp>
    </p:spTree>
    <p:extLst>
      <p:ext uri="{BB962C8B-B14F-4D97-AF65-F5344CB8AC3E}">
        <p14:creationId xmlns:p14="http://schemas.microsoft.com/office/powerpoint/2010/main" val="3346892736"/>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svg"/><Relationship Id="rId12" Type="http://schemas.openxmlformats.org/officeDocument/2006/relationships/image" Target="../media/image7.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11" Type="http://schemas.openxmlformats.org/officeDocument/2006/relationships/image" Target="../media/image6.png"/><Relationship Id="rId5" Type="http://schemas.openxmlformats.org/officeDocument/2006/relationships/theme" Target="../theme/theme1.xml"/><Relationship Id="rId10" Type="http://schemas.openxmlformats.org/officeDocument/2006/relationships/image" Target="../media/image5.svg"/><Relationship Id="rId4" Type="http://schemas.openxmlformats.org/officeDocument/2006/relationships/slideLayout" Target="../slideLayouts/slideLayout4.xml"/><Relationship Id="rId9" Type="http://schemas.openxmlformats.org/officeDocument/2006/relationships/image" Target="../media/image4.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image" Target="../media/image7.svg"/><Relationship Id="rId5" Type="http://schemas.openxmlformats.org/officeDocument/2006/relationships/slideLayout" Target="../slideLayouts/slideLayout9.xml"/><Relationship Id="rId10" Type="http://schemas.openxmlformats.org/officeDocument/2006/relationships/image" Target="../media/image6.png"/><Relationship Id="rId4" Type="http://schemas.openxmlformats.org/officeDocument/2006/relationships/slideLayout" Target="../slideLayouts/slideLayout8.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2">
            <a:extLst>
              <a:ext uri="{FF2B5EF4-FFF2-40B4-BE49-F238E27FC236}">
                <a16:creationId xmlns:a16="http://schemas.microsoft.com/office/drawing/2014/main" id="{2560BCF9-4D1A-C318-2D53-51A1C8390AF5}"/>
              </a:ext>
            </a:extLst>
          </p:cNvPr>
          <p:cNvSpPr/>
          <p:nvPr userDrawn="1"/>
        </p:nvSpPr>
        <p:spPr>
          <a:xfrm>
            <a:off x="4763" y="5726116"/>
            <a:ext cx="12187237" cy="9525"/>
          </a:xfrm>
          <a:custGeom>
            <a:avLst/>
            <a:gdLst/>
            <a:ahLst/>
            <a:cxnLst/>
            <a:rect l="l" t="t" r="r" b="b"/>
            <a:pathLst>
              <a:path w="18280856" h="14288">
                <a:moveTo>
                  <a:pt x="0" y="0"/>
                </a:moveTo>
                <a:lnTo>
                  <a:pt x="18280856" y="0"/>
                </a:lnTo>
                <a:lnTo>
                  <a:pt x="18280856" y="14287"/>
                </a:lnTo>
                <a:lnTo>
                  <a:pt x="0" y="1428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s-CL" sz="1200"/>
          </a:p>
        </p:txBody>
      </p:sp>
      <p:sp>
        <p:nvSpPr>
          <p:cNvPr id="8" name="Freeform 3">
            <a:extLst>
              <a:ext uri="{FF2B5EF4-FFF2-40B4-BE49-F238E27FC236}">
                <a16:creationId xmlns:a16="http://schemas.microsoft.com/office/drawing/2014/main" id="{DFB5B67B-256E-897C-764A-AE68CF9CB530}"/>
              </a:ext>
            </a:extLst>
          </p:cNvPr>
          <p:cNvSpPr/>
          <p:nvPr userDrawn="1"/>
        </p:nvSpPr>
        <p:spPr>
          <a:xfrm>
            <a:off x="9077896" y="6124574"/>
            <a:ext cx="627962" cy="341737"/>
          </a:xfrm>
          <a:custGeom>
            <a:avLst/>
            <a:gdLst/>
            <a:ahLst/>
            <a:cxnLst/>
            <a:rect l="l" t="t" r="r" b="b"/>
            <a:pathLst>
              <a:path w="785812" h="428625">
                <a:moveTo>
                  <a:pt x="0" y="0"/>
                </a:moveTo>
                <a:lnTo>
                  <a:pt x="785812" y="0"/>
                </a:lnTo>
                <a:lnTo>
                  <a:pt x="785812" y="428626"/>
                </a:lnTo>
                <a:lnTo>
                  <a:pt x="0" y="428626"/>
                </a:lnTo>
                <a:lnTo>
                  <a:pt x="0" y="0"/>
                </a:lnTo>
                <a:close/>
              </a:path>
            </a:pathLst>
          </a:custGeom>
          <a:blipFill>
            <a:blip r:embed="rId8"/>
            <a:stretch>
              <a:fillRect/>
            </a:stretch>
          </a:blipFill>
        </p:spPr>
        <p:txBody>
          <a:bodyPr/>
          <a:lstStyle/>
          <a:p>
            <a:endParaRPr lang="es-CL" sz="1200"/>
          </a:p>
        </p:txBody>
      </p:sp>
      <p:pic>
        <p:nvPicPr>
          <p:cNvPr id="2" name="Graphic 7">
            <a:extLst>
              <a:ext uri="{FF2B5EF4-FFF2-40B4-BE49-F238E27FC236}">
                <a16:creationId xmlns:a16="http://schemas.microsoft.com/office/drawing/2014/main" id="{E96CF3C4-BC8F-BB10-9759-C0786E283787}"/>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7203054" y="6124575"/>
            <a:ext cx="1617133" cy="398893"/>
          </a:xfrm>
          <a:prstGeom prst="rect">
            <a:avLst/>
          </a:prstGeom>
        </p:spPr>
      </p:pic>
      <p:pic>
        <p:nvPicPr>
          <p:cNvPr id="3" name="Graphic 17">
            <a:extLst>
              <a:ext uri="{FF2B5EF4-FFF2-40B4-BE49-F238E27FC236}">
                <a16:creationId xmlns:a16="http://schemas.microsoft.com/office/drawing/2014/main" id="{CD15504B-BF12-8358-B17C-64BCD014BA43}"/>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0582886" y="6124574"/>
            <a:ext cx="808554" cy="412220"/>
          </a:xfrm>
          <a:prstGeom prst="rect">
            <a:avLst/>
          </a:prstGeom>
        </p:spPr>
      </p:pic>
    </p:spTree>
    <p:extLst>
      <p:ext uri="{BB962C8B-B14F-4D97-AF65-F5344CB8AC3E}">
        <p14:creationId xmlns:p14="http://schemas.microsoft.com/office/powerpoint/2010/main" val="1738443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5"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Graphic 17">
            <a:extLst>
              <a:ext uri="{FF2B5EF4-FFF2-40B4-BE49-F238E27FC236}">
                <a16:creationId xmlns:a16="http://schemas.microsoft.com/office/drawing/2014/main" id="{CD15504B-BF12-8358-B17C-64BCD014BA43}"/>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10582886" y="6124574"/>
            <a:ext cx="808554" cy="412220"/>
          </a:xfrm>
          <a:prstGeom prst="rect">
            <a:avLst/>
          </a:prstGeom>
        </p:spPr>
      </p:pic>
    </p:spTree>
    <p:extLst>
      <p:ext uri="{BB962C8B-B14F-4D97-AF65-F5344CB8AC3E}">
        <p14:creationId xmlns:p14="http://schemas.microsoft.com/office/powerpoint/2010/main" val="101096882"/>
      </p:ext>
    </p:extLst>
  </p:cSld>
  <p:clrMap bg1="lt1" tx1="dk1" bg2="lt2" tx2="dk2" accent1="accent1" accent2="accent2" accent3="accent3" accent4="accent4" accent5="accent5" accent6="accent6" hlink="hlink" folHlink="folHlink"/>
  <p:sldLayoutIdLst>
    <p:sldLayoutId id="2147483657" r:id="rId1"/>
    <p:sldLayoutId id="2147483670" r:id="rId2"/>
    <p:sldLayoutId id="2147483671" r:id="rId3"/>
    <p:sldLayoutId id="2147483672" r:id="rId4"/>
    <p:sldLayoutId id="2147483673" r:id="rId5"/>
    <p:sldLayoutId id="2147483674" r:id="rId6"/>
    <p:sldLayoutId id="2147483675" r:id="rId7"/>
    <p:sldLayoutId id="214748367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intinunez@udec.cl" TargetMode="External"/><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6.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slides/_rels/slide26.xml.rels><?xml version="1.0" encoding="UTF-8" standalone="yes"?>
<Relationships xmlns="http://schemas.openxmlformats.org/package/2006/relationships"><Relationship Id="rId3" Type="http://schemas.openxmlformats.org/officeDocument/2006/relationships/image" Target="../media/image28.svg"/><Relationship Id="rId7" Type="http://schemas.openxmlformats.org/officeDocument/2006/relationships/image" Target="../media/image32.sv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svg"/><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6.xml"/><Relationship Id="rId5" Type="http://schemas.openxmlformats.org/officeDocument/2006/relationships/image" Target="../media/image36.jpeg"/><Relationship Id="rId4" Type="http://schemas.openxmlformats.org/officeDocument/2006/relationships/image" Target="../media/image35.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Layout" Target="../slideLayouts/slideLayout7.xml"/><Relationship Id="rId4" Type="http://schemas.openxmlformats.org/officeDocument/2006/relationships/image" Target="../media/image45.jpeg"/></Relationships>
</file>

<file path=ppt/slides/_rels/slide4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 Id="rId4" Type="http://schemas.openxmlformats.org/officeDocument/2006/relationships/image" Target="../media/image55.jpeg"/></Relationships>
</file>

<file path=ppt/slides/_rels/slide5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jpeg"/><Relationship Id="rId1" Type="http://schemas.openxmlformats.org/officeDocument/2006/relationships/slideLayout" Target="../slideLayouts/slideLayout11.xml"/><Relationship Id="rId5" Type="http://schemas.openxmlformats.org/officeDocument/2006/relationships/image" Target="../media/image60.png"/><Relationship Id="rId4" Type="http://schemas.openxmlformats.org/officeDocument/2006/relationships/image" Target="../media/image59.png"/></Relationships>
</file>

<file path=ppt/slides/_rels/slide60.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1.png"/><Relationship Id="rId1" Type="http://schemas.openxmlformats.org/officeDocument/2006/relationships/slideLayout" Target="../slideLayouts/slideLayout11.xml"/><Relationship Id="rId4" Type="http://schemas.openxmlformats.org/officeDocument/2006/relationships/image" Target="../media/image6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64.jpeg"/><Relationship Id="rId1" Type="http://schemas.openxmlformats.org/officeDocument/2006/relationships/slideLayout" Target="../slideLayouts/slideLayout6.xml"/><Relationship Id="rId4" Type="http://schemas.openxmlformats.org/officeDocument/2006/relationships/image" Target="../media/image66.png"/></Relationships>
</file>

<file path=ppt/slides/_rels/slide6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67.jpeg"/><Relationship Id="rId1" Type="http://schemas.openxmlformats.org/officeDocument/2006/relationships/slideLayout" Target="../slideLayouts/slideLayout6.xml"/><Relationship Id="rId6" Type="http://schemas.openxmlformats.org/officeDocument/2006/relationships/image" Target="../media/image70.png"/><Relationship Id="rId5" Type="http://schemas.openxmlformats.org/officeDocument/2006/relationships/image" Target="../media/image69.jpeg"/><Relationship Id="rId4" Type="http://schemas.openxmlformats.org/officeDocument/2006/relationships/image" Target="../media/image68.png"/></Relationships>
</file>

<file path=ppt/slides/_rels/slide6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71.png"/><Relationship Id="rId1" Type="http://schemas.openxmlformats.org/officeDocument/2006/relationships/slideLayout" Target="../slideLayouts/slideLayout6.xml"/><Relationship Id="rId4" Type="http://schemas.openxmlformats.org/officeDocument/2006/relationships/image" Target="../media/image7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8F8C90-C3AD-21A9-6CC0-218AF8F6D5A9}"/>
              </a:ext>
            </a:extLst>
          </p:cNvPr>
          <p:cNvSpPr>
            <a:spLocks noGrp="1"/>
          </p:cNvSpPr>
          <p:nvPr>
            <p:ph type="title"/>
          </p:nvPr>
        </p:nvSpPr>
        <p:spPr>
          <a:xfrm>
            <a:off x="838200" y="749438"/>
            <a:ext cx="10515600" cy="1325563"/>
          </a:xfrm>
        </p:spPr>
        <p:txBody>
          <a:bodyPr>
            <a:normAutofit/>
          </a:bodyPr>
          <a:lstStyle/>
          <a:p>
            <a:r>
              <a:rPr lang="es-CL" sz="1800" b="1" dirty="0">
                <a:solidFill>
                  <a:srgbClr val="504FB7"/>
                </a:solidFill>
                <a:latin typeface="Lao Sangam MN" pitchFamily="2" charset="0"/>
                <a:cs typeface="Lao Sangam MN" pitchFamily="2" charset="0"/>
              </a:rPr>
              <a:t>VIRALIZA</a:t>
            </a:r>
            <a:br>
              <a:rPr lang="es-CL" sz="2800" dirty="0">
                <a:latin typeface="Lao Sangam MN" pitchFamily="2" charset="0"/>
                <a:cs typeface="Lao Sangam MN" pitchFamily="2" charset="0"/>
              </a:rPr>
            </a:br>
            <a:r>
              <a:rPr lang="es-CL" sz="2400" dirty="0">
                <a:latin typeface="Raleway" pitchFamily="2" charset="77"/>
              </a:rPr>
              <a:t>VENTURE STUDIO UINN</a:t>
            </a:r>
            <a:br>
              <a:rPr lang="es-CL" sz="2700" dirty="0">
                <a:latin typeface="Raleway" pitchFamily="2" charset="77"/>
              </a:rPr>
            </a:br>
            <a:r>
              <a:rPr lang="es-CL" sz="2000" dirty="0">
                <a:latin typeface="Raleway" pitchFamily="2" charset="77"/>
              </a:rPr>
              <a:t>Programa de financiamiento especializado para startups.</a:t>
            </a:r>
            <a:r>
              <a:rPr lang="es-CL" sz="2000" dirty="0">
                <a:effectLst/>
                <a:latin typeface="Raleway" pitchFamily="2" charset="77"/>
              </a:rPr>
              <a:t> </a:t>
            </a:r>
            <a:endParaRPr lang="es-CL" sz="2700" dirty="0">
              <a:latin typeface="Raleway" pitchFamily="2" charset="77"/>
              <a:cs typeface="Lao Sangam MN" pitchFamily="2" charset="0"/>
            </a:endParaRPr>
          </a:p>
        </p:txBody>
      </p:sp>
      <p:sp>
        <p:nvSpPr>
          <p:cNvPr id="4" name="Freeform 6">
            <a:extLst>
              <a:ext uri="{FF2B5EF4-FFF2-40B4-BE49-F238E27FC236}">
                <a16:creationId xmlns:a16="http://schemas.microsoft.com/office/drawing/2014/main" id="{E6E937C4-0EE0-1AB1-69A6-F93E72D47C99}"/>
              </a:ext>
            </a:extLst>
          </p:cNvPr>
          <p:cNvSpPr/>
          <p:nvPr/>
        </p:nvSpPr>
        <p:spPr>
          <a:xfrm>
            <a:off x="9900027" y="749438"/>
            <a:ext cx="1453773" cy="1043295"/>
          </a:xfrm>
          <a:custGeom>
            <a:avLst/>
            <a:gdLst/>
            <a:ahLst/>
            <a:cxnLst/>
            <a:rect l="l" t="t" r="r" b="b"/>
            <a:pathLst>
              <a:path w="3643312" h="2614612">
                <a:moveTo>
                  <a:pt x="0" y="0"/>
                </a:moveTo>
                <a:lnTo>
                  <a:pt x="3643312" y="0"/>
                </a:lnTo>
                <a:lnTo>
                  <a:pt x="3643312" y="2614613"/>
                </a:lnTo>
                <a:lnTo>
                  <a:pt x="0" y="2614613"/>
                </a:lnTo>
                <a:lnTo>
                  <a:pt x="0" y="0"/>
                </a:lnTo>
                <a:close/>
              </a:path>
            </a:pathLst>
          </a:custGeom>
          <a:blipFill>
            <a:blip r:embed="rId2"/>
            <a:stretch>
              <a:fillRect/>
            </a:stretch>
          </a:blipFill>
        </p:spPr>
        <p:txBody>
          <a:bodyPr/>
          <a:lstStyle/>
          <a:p>
            <a:endParaRPr lang="es-CL" sz="1200"/>
          </a:p>
        </p:txBody>
      </p:sp>
      <p:sp>
        <p:nvSpPr>
          <p:cNvPr id="5" name="CuadroTexto 4">
            <a:extLst>
              <a:ext uri="{FF2B5EF4-FFF2-40B4-BE49-F238E27FC236}">
                <a16:creationId xmlns:a16="http://schemas.microsoft.com/office/drawing/2014/main" id="{B501B132-CCC4-F801-D8E4-239CCD23112D}"/>
              </a:ext>
            </a:extLst>
          </p:cNvPr>
          <p:cNvSpPr txBox="1"/>
          <p:nvPr/>
        </p:nvSpPr>
        <p:spPr>
          <a:xfrm>
            <a:off x="838200" y="2451652"/>
            <a:ext cx="5257800" cy="2462213"/>
          </a:xfrm>
          <a:prstGeom prst="rect">
            <a:avLst/>
          </a:prstGeom>
          <a:noFill/>
        </p:spPr>
        <p:txBody>
          <a:bodyPr wrap="square" rtlCol="0">
            <a:spAutoFit/>
          </a:bodyPr>
          <a:lstStyle/>
          <a:p>
            <a:r>
              <a:rPr lang="es-CL" dirty="0">
                <a:latin typeface="Raleway" pitchFamily="2" charset="77"/>
              </a:rPr>
              <a:t>CLASE N° 1.2</a:t>
            </a:r>
          </a:p>
          <a:p>
            <a:r>
              <a:rPr lang="es-419" dirty="0">
                <a:latin typeface="Raleway" pitchFamily="2" charset="77"/>
              </a:rPr>
              <a:t>Modelo de negocios ajuste y escalabilidad</a:t>
            </a:r>
            <a:endParaRPr lang="es-CL" dirty="0">
              <a:latin typeface="Raleway" pitchFamily="2" charset="77"/>
            </a:endParaRPr>
          </a:p>
          <a:p>
            <a:endParaRPr lang="es-CL" dirty="0">
              <a:latin typeface="Raleway" pitchFamily="2" charset="77"/>
            </a:endParaRPr>
          </a:p>
          <a:p>
            <a:endParaRPr lang="es-CL" dirty="0">
              <a:latin typeface="Raleway" pitchFamily="2" charset="77"/>
            </a:endParaRPr>
          </a:p>
          <a:p>
            <a:endParaRPr lang="es-CL" dirty="0">
              <a:latin typeface="Raleway" pitchFamily="2" charset="77"/>
            </a:endParaRPr>
          </a:p>
          <a:p>
            <a:endParaRPr lang="es-CL" dirty="0">
              <a:latin typeface="Raleway" pitchFamily="2" charset="77"/>
            </a:endParaRPr>
          </a:p>
          <a:p>
            <a:endParaRPr lang="es-CL" dirty="0">
              <a:latin typeface="Raleway" pitchFamily="2" charset="77"/>
            </a:endParaRPr>
          </a:p>
          <a:p>
            <a:r>
              <a:rPr lang="es-CL" sz="1400" dirty="0">
                <a:latin typeface="Raleway" pitchFamily="2" charset="77"/>
              </a:rPr>
              <a:t>Inti Núñez </a:t>
            </a:r>
            <a:r>
              <a:rPr lang="es-CL" sz="1400" dirty="0" err="1">
                <a:latin typeface="Raleway" pitchFamily="2" charset="77"/>
              </a:rPr>
              <a:t>Ursic</a:t>
            </a:r>
            <a:endParaRPr lang="es-CL" sz="1400" dirty="0">
              <a:latin typeface="Raleway" pitchFamily="2" charset="77"/>
            </a:endParaRPr>
          </a:p>
          <a:p>
            <a:r>
              <a:rPr lang="es-CL" sz="1200" dirty="0">
                <a:latin typeface="Raleway" pitchFamily="2" charset="77"/>
                <a:hlinkClick r:id="rId3"/>
              </a:rPr>
              <a:t>intinunez@udec.cl</a:t>
            </a:r>
            <a:r>
              <a:rPr lang="es-CL" sz="1200" dirty="0">
                <a:latin typeface="Raleway" pitchFamily="2" charset="77"/>
              </a:rPr>
              <a:t> </a:t>
            </a:r>
          </a:p>
        </p:txBody>
      </p:sp>
    </p:spTree>
    <p:extLst>
      <p:ext uri="{BB962C8B-B14F-4D97-AF65-F5344CB8AC3E}">
        <p14:creationId xmlns:p14="http://schemas.microsoft.com/office/powerpoint/2010/main" val="29820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55 ideas de negocios para emprender en 2024">
            <a:extLst>
              <a:ext uri="{FF2B5EF4-FFF2-40B4-BE49-F238E27FC236}">
                <a16:creationId xmlns:a16="http://schemas.microsoft.com/office/drawing/2014/main" id="{39BAD3B3-0DDA-941B-1A4F-2ACD38292E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D0EC4526-A321-215D-11D6-E96135D3E517}"/>
              </a:ext>
            </a:extLst>
          </p:cNvPr>
          <p:cNvSpPr txBox="1"/>
          <p:nvPr/>
        </p:nvSpPr>
        <p:spPr>
          <a:xfrm>
            <a:off x="5105400" y="4119380"/>
            <a:ext cx="6096000" cy="2031325"/>
          </a:xfrm>
          <a:prstGeom prst="rect">
            <a:avLst/>
          </a:prstGeom>
          <a:noFill/>
        </p:spPr>
        <p:txBody>
          <a:bodyPr wrap="square">
            <a:spAutoFit/>
          </a:bodyPr>
          <a:lstStyle/>
          <a:p>
            <a:pPr algn="l"/>
            <a:r>
              <a:rPr lang="en-US" sz="1800" b="0" i="0" u="none" strike="noStrike" dirty="0">
                <a:solidFill>
                  <a:srgbClr val="101010"/>
                </a:solidFill>
                <a:effectLst/>
                <a:highlight>
                  <a:srgbClr val="FFE7CE"/>
                </a:highlight>
                <a:latin typeface="Avenir Next" panose="020B0503020202020204" pitchFamily="34" charset="0"/>
              </a:rPr>
              <a:t>The reason why it is so difficult for existing firms to capitalize on disruptive innovations is that their processes and their business model that make them good at the existing business actually make them bad at competing for the disruption.</a:t>
            </a:r>
          </a:p>
          <a:p>
            <a:pPr algn="l"/>
            <a:endParaRPr lang="en-US" sz="1800" b="0" i="0" u="none" strike="noStrike" dirty="0">
              <a:solidFill>
                <a:srgbClr val="101010"/>
              </a:solidFill>
              <a:effectLst/>
              <a:highlight>
                <a:srgbClr val="FFE7CE"/>
              </a:highlight>
              <a:latin typeface="Avenir Next" panose="020B0503020202020204" pitchFamily="34" charset="0"/>
            </a:endParaRPr>
          </a:p>
          <a:p>
            <a:pPr algn="r"/>
            <a:r>
              <a:rPr lang="en-US" b="1" i="0" strike="noStrike" dirty="0">
                <a:solidFill>
                  <a:srgbClr val="0000AA"/>
                </a:solidFill>
                <a:effectLst/>
                <a:highlight>
                  <a:srgbClr val="FFE7CE"/>
                </a:highlight>
                <a:latin typeface="Avenir Next" panose="020B0503020202020204" pitchFamily="34" charset="0"/>
              </a:rPr>
              <a:t>Clayton M. Christensen</a:t>
            </a:r>
            <a:endParaRPr lang="en-US" b="1" i="0" strike="noStrike" dirty="0">
              <a:solidFill>
                <a:srgbClr val="222222"/>
              </a:solidFill>
              <a:effectLst/>
              <a:highlight>
                <a:srgbClr val="FFE7CE"/>
              </a:highlight>
              <a:latin typeface="Avenir Next" panose="020B0503020202020204" pitchFamily="34" charset="0"/>
            </a:endParaRPr>
          </a:p>
        </p:txBody>
      </p:sp>
    </p:spTree>
    <p:extLst>
      <p:ext uri="{BB962C8B-B14F-4D97-AF65-F5344CB8AC3E}">
        <p14:creationId xmlns:p14="http://schemas.microsoft.com/office/powerpoint/2010/main" val="4099853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7F2249F7-3D6B-F6DE-99F4-62F9C6BCA080}"/>
              </a:ext>
            </a:extLst>
          </p:cNvPr>
          <p:cNvSpPr>
            <a:spLocks noGrp="1"/>
          </p:cNvSpPr>
          <p:nvPr>
            <p:ph type="title"/>
          </p:nvPr>
        </p:nvSpPr>
        <p:spPr/>
        <p:txBody>
          <a:bodyPr/>
          <a:lstStyle/>
          <a:p>
            <a:r>
              <a:rPr lang="es-CL" dirty="0"/>
              <a:t>¿Por qué el modelo de negocios es tan relevante?</a:t>
            </a:r>
          </a:p>
        </p:txBody>
      </p:sp>
    </p:spTree>
    <p:extLst>
      <p:ext uri="{BB962C8B-B14F-4D97-AF65-F5344CB8AC3E}">
        <p14:creationId xmlns:p14="http://schemas.microsoft.com/office/powerpoint/2010/main" val="6240109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C44538E4-8130-2EDA-5E68-7001858095AE}"/>
              </a:ext>
            </a:extLst>
          </p:cNvPr>
          <p:cNvSpPr txBox="1"/>
          <p:nvPr/>
        </p:nvSpPr>
        <p:spPr>
          <a:xfrm>
            <a:off x="957943" y="1720840"/>
            <a:ext cx="5138057" cy="3416320"/>
          </a:xfrm>
          <a:prstGeom prst="rect">
            <a:avLst/>
          </a:prstGeom>
          <a:noFill/>
        </p:spPr>
        <p:txBody>
          <a:bodyPr wrap="square">
            <a:spAutoFit/>
          </a:bodyPr>
          <a:lstStyle/>
          <a:p>
            <a:pPr marL="285750" indent="-285750" algn="just">
              <a:buFont typeface="Arial" panose="020B0604020202020204" pitchFamily="34" charset="0"/>
              <a:buChar char="•"/>
            </a:pPr>
            <a:r>
              <a:rPr lang="es-CL" dirty="0">
                <a:latin typeface="Montserrat" panose="00000500000000000000" pitchFamily="2" charset="0"/>
              </a:rPr>
              <a:t>Es el set de las actividades que la firma hace, cómo las realiza, y que cuando se realizan, como ellas usan los recursos para desarrollar las actividades, dada su industria, creando un valor superior al cliente, y poniendo a la empresa en una posición de apropiarse de ese valor </a:t>
            </a:r>
            <a:r>
              <a:rPr lang="es-CL" b="1" dirty="0">
                <a:latin typeface="Montserrat" panose="00000500000000000000" pitchFamily="2" charset="0"/>
              </a:rPr>
              <a:t>(</a:t>
            </a:r>
            <a:r>
              <a:rPr lang="es-CL" b="1" dirty="0" err="1">
                <a:latin typeface="Montserrat" panose="00000500000000000000" pitchFamily="2" charset="0"/>
              </a:rPr>
              <a:t>Afuah</a:t>
            </a:r>
            <a:r>
              <a:rPr lang="es-CL" b="1" dirty="0">
                <a:latin typeface="Montserrat" panose="00000500000000000000" pitchFamily="2" charset="0"/>
              </a:rPr>
              <a:t>, 2004).</a:t>
            </a:r>
          </a:p>
          <a:p>
            <a:pPr marL="285750" indent="-285750" algn="just">
              <a:buFont typeface="Arial" panose="020B0604020202020204" pitchFamily="34" charset="0"/>
              <a:buChar char="•"/>
            </a:pPr>
            <a:endParaRPr lang="es-CL" b="1" dirty="0">
              <a:latin typeface="Montserrat" panose="00000500000000000000" pitchFamily="2" charset="0"/>
            </a:endParaRPr>
          </a:p>
          <a:p>
            <a:pPr marL="285750" indent="-285750" algn="just">
              <a:buFont typeface="Arial" panose="020B0604020202020204" pitchFamily="34" charset="0"/>
              <a:buChar char="•"/>
            </a:pPr>
            <a:r>
              <a:rPr lang="es-CL" dirty="0">
                <a:latin typeface="Montserrat" panose="00000500000000000000" pitchFamily="2" charset="0"/>
              </a:rPr>
              <a:t>Describe las bases sobre las que una empresa crea, proporciona y capta valor </a:t>
            </a:r>
            <a:r>
              <a:rPr lang="es-CL" b="1" dirty="0">
                <a:latin typeface="Montserrat" panose="00000500000000000000" pitchFamily="2" charset="0"/>
              </a:rPr>
              <a:t>(Osterwalder, 2011).</a:t>
            </a:r>
          </a:p>
        </p:txBody>
      </p:sp>
      <p:sp>
        <p:nvSpPr>
          <p:cNvPr id="2" name="CuadroTexto 1">
            <a:extLst>
              <a:ext uri="{FF2B5EF4-FFF2-40B4-BE49-F238E27FC236}">
                <a16:creationId xmlns:a16="http://schemas.microsoft.com/office/drawing/2014/main" id="{1B1A624C-0E37-D1CF-8303-E0D2E00ECCA4}"/>
              </a:ext>
            </a:extLst>
          </p:cNvPr>
          <p:cNvSpPr txBox="1"/>
          <p:nvPr/>
        </p:nvSpPr>
        <p:spPr>
          <a:xfrm>
            <a:off x="968829" y="620486"/>
            <a:ext cx="10254342" cy="584775"/>
          </a:xfrm>
          <a:prstGeom prst="rect">
            <a:avLst/>
          </a:prstGeom>
          <a:noFill/>
        </p:spPr>
        <p:txBody>
          <a:bodyPr wrap="square" rtlCol="0">
            <a:spAutoFit/>
          </a:bodyPr>
          <a:lstStyle/>
          <a:p>
            <a:pPr algn="ctr"/>
            <a:r>
              <a:rPr lang="es-CL" sz="3200" b="1" dirty="0">
                <a:latin typeface="Montserrat" pitchFamily="2" charset="77"/>
              </a:rPr>
              <a:t>¿Qué es un modelo de negocios?</a:t>
            </a:r>
          </a:p>
        </p:txBody>
      </p:sp>
    </p:spTree>
    <p:extLst>
      <p:ext uri="{BB962C8B-B14F-4D97-AF65-F5344CB8AC3E}">
        <p14:creationId xmlns:p14="http://schemas.microsoft.com/office/powerpoint/2010/main" val="33693931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907CDD8C-12A0-4D79-923F-8FA8643DF9F3}"/>
              </a:ext>
            </a:extLst>
          </p:cNvPr>
          <p:cNvSpPr/>
          <p:nvPr/>
        </p:nvSpPr>
        <p:spPr bwMode="auto">
          <a:xfrm>
            <a:off x="576792" y="1209676"/>
            <a:ext cx="2546350" cy="234632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lIns="91440" tIns="45720" rIns="91440" bIns="45720"/>
          <a:lstStyle/>
          <a:p>
            <a:pPr defTabSz="914446" fontAlgn="base">
              <a:spcBef>
                <a:spcPct val="0"/>
              </a:spcBef>
              <a:spcAft>
                <a:spcPct val="0"/>
              </a:spcAft>
              <a:defRPr/>
            </a:pPr>
            <a:r>
              <a:rPr lang="es-CL" sz="2133" dirty="0">
                <a:solidFill>
                  <a:srgbClr val="000000"/>
                </a:solidFill>
                <a:latin typeface="Montserrat" panose="00000500000000000000" pitchFamily="2" charset="0"/>
                <a:sym typeface="Gill Sans" charset="0"/>
              </a:rPr>
              <a:t>1.</a:t>
            </a:r>
          </a:p>
          <a:p>
            <a:pPr defTabSz="914446" fontAlgn="base">
              <a:spcBef>
                <a:spcPct val="0"/>
              </a:spcBef>
              <a:spcAft>
                <a:spcPct val="0"/>
              </a:spcAft>
              <a:defRPr/>
            </a:pPr>
            <a:r>
              <a:rPr lang="es-CL" sz="2133" dirty="0">
                <a:solidFill>
                  <a:srgbClr val="000000"/>
                </a:solidFill>
                <a:latin typeface="Montserrat" panose="00000500000000000000" pitchFamily="2" charset="0"/>
                <a:sym typeface="Gill Sans" charset="0"/>
              </a:rPr>
              <a:t>Fabrica, Produce</a:t>
            </a:r>
          </a:p>
          <a:p>
            <a:pPr defTabSz="914446" fontAlgn="base">
              <a:spcBef>
                <a:spcPct val="0"/>
              </a:spcBef>
              <a:spcAft>
                <a:spcPct val="0"/>
              </a:spcAft>
              <a:defRPr/>
            </a:pPr>
            <a:r>
              <a:rPr lang="es-CL" sz="1600" dirty="0">
                <a:solidFill>
                  <a:srgbClr val="000000"/>
                </a:solidFill>
                <a:latin typeface="Montserrat" panose="00000500000000000000" pitchFamily="2" charset="0"/>
                <a:sym typeface="Gill Sans" charset="0"/>
              </a:rPr>
              <a:t>(capacidad de hacer)</a:t>
            </a:r>
          </a:p>
        </p:txBody>
      </p:sp>
      <p:sp>
        <p:nvSpPr>
          <p:cNvPr id="30723" name="CuadroTexto 4">
            <a:extLst>
              <a:ext uri="{FF2B5EF4-FFF2-40B4-BE49-F238E27FC236}">
                <a16:creationId xmlns:a16="http://schemas.microsoft.com/office/drawing/2014/main" id="{2BAAA6B6-C021-4948-8898-40347AA2001B}"/>
              </a:ext>
            </a:extLst>
          </p:cNvPr>
          <p:cNvSpPr txBox="1">
            <a:spLocks noChangeArrowheads="1"/>
          </p:cNvSpPr>
          <p:nvPr/>
        </p:nvSpPr>
        <p:spPr bwMode="auto">
          <a:xfrm>
            <a:off x="576792" y="576792"/>
            <a:ext cx="22573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1371600">
              <a:defRPr sz="4300">
                <a:solidFill>
                  <a:srgbClr val="000000"/>
                </a:solidFill>
                <a:latin typeface="Gill Sans" charset="0"/>
                <a:cs typeface="ヒラギノ角ゴ ProN W3" charset="0"/>
                <a:sym typeface="Gill Sans" charset="0"/>
              </a:defRPr>
            </a:lvl1pPr>
            <a:lvl2pPr defTabSz="1371600">
              <a:defRPr sz="4300">
                <a:solidFill>
                  <a:srgbClr val="000000"/>
                </a:solidFill>
                <a:latin typeface="Gill Sans" charset="0"/>
                <a:cs typeface="ヒラギノ角ゴ ProN W3" charset="0"/>
                <a:sym typeface="Gill Sans" charset="0"/>
              </a:defRPr>
            </a:lvl2pPr>
            <a:lvl3pPr defTabSz="1371600">
              <a:defRPr sz="4300">
                <a:solidFill>
                  <a:srgbClr val="000000"/>
                </a:solidFill>
                <a:latin typeface="Gill Sans" charset="0"/>
                <a:cs typeface="ヒラギノ角ゴ ProN W3" charset="0"/>
                <a:sym typeface="Gill Sans" charset="0"/>
              </a:defRPr>
            </a:lvl3pPr>
            <a:lvl4pPr defTabSz="1371600">
              <a:defRPr sz="4300">
                <a:solidFill>
                  <a:srgbClr val="000000"/>
                </a:solidFill>
                <a:latin typeface="Gill Sans" charset="0"/>
                <a:cs typeface="ヒラギノ角ゴ ProN W3" charset="0"/>
                <a:sym typeface="Gill Sans" charset="0"/>
              </a:defRPr>
            </a:lvl4pPr>
            <a:lvl5pPr defTabSz="1371600">
              <a:defRPr sz="4300">
                <a:solidFill>
                  <a:srgbClr val="000000"/>
                </a:solidFill>
                <a:latin typeface="Gill Sans" charset="0"/>
                <a:cs typeface="ヒラギノ角ゴ ProN W3" charset="0"/>
                <a:sym typeface="Gill Sans" charset="0"/>
              </a:defRPr>
            </a:lvl5pPr>
            <a:lvl6pPr marL="22844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6pPr>
            <a:lvl7pPr marL="27416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7pPr>
            <a:lvl8pPr marL="31988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8pPr>
            <a:lvl9pPr marL="36560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9pPr>
          </a:lstStyle>
          <a:p>
            <a:pPr defTabSz="914446" fontAlgn="base">
              <a:spcBef>
                <a:spcPct val="0"/>
              </a:spcBef>
              <a:spcAft>
                <a:spcPct val="0"/>
              </a:spcAft>
            </a:pPr>
            <a:r>
              <a:rPr lang="es-CL" altLang="es-CL" sz="1600">
                <a:latin typeface="Montserrat" panose="00000500000000000000" pitchFamily="2" charset="0"/>
              </a:rPr>
              <a:t>Modelo de negocios</a:t>
            </a:r>
          </a:p>
        </p:txBody>
      </p:sp>
      <p:sp>
        <p:nvSpPr>
          <p:cNvPr id="6" name="Rectángulo 5">
            <a:extLst>
              <a:ext uri="{FF2B5EF4-FFF2-40B4-BE49-F238E27FC236}">
                <a16:creationId xmlns:a16="http://schemas.microsoft.com/office/drawing/2014/main" id="{4E470501-3B0C-4422-AC4A-855D90A0606F}"/>
              </a:ext>
            </a:extLst>
          </p:cNvPr>
          <p:cNvSpPr/>
          <p:nvPr/>
        </p:nvSpPr>
        <p:spPr bwMode="auto">
          <a:xfrm>
            <a:off x="1849967" y="2382309"/>
            <a:ext cx="2546350" cy="234632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lIns="91440" tIns="45720" rIns="91440" bIns="45720"/>
          <a:lstStyle/>
          <a:p>
            <a:pPr defTabSz="914446" fontAlgn="base">
              <a:spcBef>
                <a:spcPct val="0"/>
              </a:spcBef>
              <a:spcAft>
                <a:spcPct val="0"/>
              </a:spcAft>
              <a:defRPr/>
            </a:pPr>
            <a:r>
              <a:rPr lang="es-CL" sz="2133" dirty="0">
                <a:solidFill>
                  <a:srgbClr val="000000"/>
                </a:solidFill>
                <a:latin typeface="Montserrat" panose="00000500000000000000" pitchFamily="2" charset="0"/>
                <a:sym typeface="Gill Sans" charset="0"/>
              </a:rPr>
              <a:t>2.</a:t>
            </a:r>
          </a:p>
          <a:p>
            <a:pPr defTabSz="914446" fontAlgn="base">
              <a:spcBef>
                <a:spcPct val="0"/>
              </a:spcBef>
              <a:spcAft>
                <a:spcPct val="0"/>
              </a:spcAft>
              <a:defRPr/>
            </a:pPr>
            <a:r>
              <a:rPr lang="es-CL" sz="2133" dirty="0">
                <a:solidFill>
                  <a:srgbClr val="000000"/>
                </a:solidFill>
                <a:latin typeface="Montserrat" panose="00000500000000000000" pitchFamily="2" charset="0"/>
                <a:sym typeface="Gill Sans" charset="0"/>
              </a:rPr>
              <a:t>Contacta cliente</a:t>
            </a:r>
          </a:p>
          <a:p>
            <a:pPr defTabSz="914446" fontAlgn="base">
              <a:spcBef>
                <a:spcPct val="0"/>
              </a:spcBef>
              <a:spcAft>
                <a:spcPct val="0"/>
              </a:spcAft>
              <a:defRPr/>
            </a:pPr>
            <a:r>
              <a:rPr lang="es-CL" sz="1600" dirty="0">
                <a:solidFill>
                  <a:srgbClr val="000000"/>
                </a:solidFill>
                <a:latin typeface="Montserrat" panose="00000500000000000000" pitchFamily="2" charset="0"/>
                <a:sym typeface="Gill Sans" charset="0"/>
              </a:rPr>
              <a:t>(capacidad de seducir)</a:t>
            </a:r>
          </a:p>
        </p:txBody>
      </p:sp>
      <p:sp>
        <p:nvSpPr>
          <p:cNvPr id="7" name="Rectángulo 6">
            <a:extLst>
              <a:ext uri="{FF2B5EF4-FFF2-40B4-BE49-F238E27FC236}">
                <a16:creationId xmlns:a16="http://schemas.microsoft.com/office/drawing/2014/main" id="{0BF5B01B-227E-4047-95D6-909E4329C0F5}"/>
              </a:ext>
            </a:extLst>
          </p:cNvPr>
          <p:cNvSpPr/>
          <p:nvPr/>
        </p:nvSpPr>
        <p:spPr bwMode="auto">
          <a:xfrm>
            <a:off x="3123142" y="3556000"/>
            <a:ext cx="2764367" cy="2345267"/>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lIns="91440" tIns="45720" rIns="91440" bIns="45720"/>
          <a:lstStyle/>
          <a:p>
            <a:pPr defTabSz="914446" fontAlgn="base">
              <a:spcBef>
                <a:spcPct val="0"/>
              </a:spcBef>
              <a:spcAft>
                <a:spcPct val="0"/>
              </a:spcAft>
              <a:defRPr/>
            </a:pPr>
            <a:r>
              <a:rPr lang="es-CL" sz="2133" dirty="0">
                <a:solidFill>
                  <a:srgbClr val="000000"/>
                </a:solidFill>
                <a:latin typeface="Montserrat" panose="00000500000000000000" pitchFamily="2" charset="0"/>
                <a:sym typeface="Gill Sans" charset="0"/>
              </a:rPr>
              <a:t>3.</a:t>
            </a:r>
          </a:p>
          <a:p>
            <a:pPr defTabSz="914446" fontAlgn="base">
              <a:spcBef>
                <a:spcPct val="0"/>
              </a:spcBef>
              <a:spcAft>
                <a:spcPct val="0"/>
              </a:spcAft>
              <a:defRPr/>
            </a:pPr>
            <a:r>
              <a:rPr lang="es-CL" sz="2133" dirty="0">
                <a:solidFill>
                  <a:srgbClr val="000000"/>
                </a:solidFill>
                <a:latin typeface="Montserrat" panose="00000500000000000000" pitchFamily="2" charset="0"/>
                <a:sym typeface="Gill Sans" charset="0"/>
              </a:rPr>
              <a:t>Cobrar, Ingresar</a:t>
            </a:r>
          </a:p>
          <a:p>
            <a:pPr defTabSz="914446" fontAlgn="base">
              <a:spcBef>
                <a:spcPct val="0"/>
              </a:spcBef>
              <a:spcAft>
                <a:spcPct val="0"/>
              </a:spcAft>
              <a:defRPr/>
            </a:pPr>
            <a:r>
              <a:rPr lang="es-CL" sz="1600" dirty="0">
                <a:solidFill>
                  <a:srgbClr val="000000"/>
                </a:solidFill>
                <a:latin typeface="Montserrat" panose="00000500000000000000" pitchFamily="2" charset="0"/>
                <a:sym typeface="Gill Sans" charset="0"/>
              </a:rPr>
              <a:t>(capacidad de negociar)</a:t>
            </a:r>
          </a:p>
        </p:txBody>
      </p:sp>
      <p:sp>
        <p:nvSpPr>
          <p:cNvPr id="30726" name="CuadroTexto 7">
            <a:extLst>
              <a:ext uri="{FF2B5EF4-FFF2-40B4-BE49-F238E27FC236}">
                <a16:creationId xmlns:a16="http://schemas.microsoft.com/office/drawing/2014/main" id="{B9D52628-B426-4C84-9E3F-38403D4DF02B}"/>
              </a:ext>
            </a:extLst>
          </p:cNvPr>
          <p:cNvSpPr txBox="1">
            <a:spLocks noChangeArrowheads="1"/>
          </p:cNvSpPr>
          <p:nvPr/>
        </p:nvSpPr>
        <p:spPr bwMode="auto">
          <a:xfrm>
            <a:off x="576792" y="6111931"/>
            <a:ext cx="50927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1371600">
              <a:defRPr sz="4300">
                <a:solidFill>
                  <a:srgbClr val="000000"/>
                </a:solidFill>
                <a:latin typeface="Gill Sans" charset="0"/>
                <a:cs typeface="ヒラギノ角ゴ ProN W3" charset="0"/>
                <a:sym typeface="Gill Sans" charset="0"/>
              </a:defRPr>
            </a:lvl1pPr>
            <a:lvl2pPr defTabSz="1371600">
              <a:defRPr sz="4300">
                <a:solidFill>
                  <a:srgbClr val="000000"/>
                </a:solidFill>
                <a:latin typeface="Gill Sans" charset="0"/>
                <a:cs typeface="ヒラギノ角ゴ ProN W3" charset="0"/>
                <a:sym typeface="Gill Sans" charset="0"/>
              </a:defRPr>
            </a:lvl2pPr>
            <a:lvl3pPr defTabSz="1371600">
              <a:defRPr sz="4300">
                <a:solidFill>
                  <a:srgbClr val="000000"/>
                </a:solidFill>
                <a:latin typeface="Gill Sans" charset="0"/>
                <a:cs typeface="ヒラギノ角ゴ ProN W3" charset="0"/>
                <a:sym typeface="Gill Sans" charset="0"/>
              </a:defRPr>
            </a:lvl3pPr>
            <a:lvl4pPr defTabSz="1371600">
              <a:defRPr sz="4300">
                <a:solidFill>
                  <a:srgbClr val="000000"/>
                </a:solidFill>
                <a:latin typeface="Gill Sans" charset="0"/>
                <a:cs typeface="ヒラギノ角ゴ ProN W3" charset="0"/>
                <a:sym typeface="Gill Sans" charset="0"/>
              </a:defRPr>
            </a:lvl4pPr>
            <a:lvl5pPr defTabSz="1371600">
              <a:defRPr sz="4300">
                <a:solidFill>
                  <a:srgbClr val="000000"/>
                </a:solidFill>
                <a:latin typeface="Gill Sans" charset="0"/>
                <a:cs typeface="ヒラギノ角ゴ ProN W3" charset="0"/>
                <a:sym typeface="Gill Sans" charset="0"/>
              </a:defRPr>
            </a:lvl5pPr>
            <a:lvl6pPr marL="22844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6pPr>
            <a:lvl7pPr marL="27416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7pPr>
            <a:lvl8pPr marL="31988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8pPr>
            <a:lvl9pPr marL="36560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9pPr>
          </a:lstStyle>
          <a:p>
            <a:pPr defTabSz="914446" fontAlgn="base">
              <a:spcBef>
                <a:spcPct val="0"/>
              </a:spcBef>
              <a:spcAft>
                <a:spcPct val="0"/>
              </a:spcAft>
            </a:pPr>
            <a:r>
              <a:rPr lang="es-CL" altLang="es-CL" sz="1600" b="1" dirty="0">
                <a:latin typeface="Montserrat" panose="00000500000000000000" pitchFamily="2" charset="0"/>
              </a:rPr>
              <a:t>Es estático, describe, es una foto.</a:t>
            </a:r>
          </a:p>
        </p:txBody>
      </p:sp>
      <p:sp>
        <p:nvSpPr>
          <p:cNvPr id="30727" name="CuadroTexto 8">
            <a:extLst>
              <a:ext uri="{FF2B5EF4-FFF2-40B4-BE49-F238E27FC236}">
                <a16:creationId xmlns:a16="http://schemas.microsoft.com/office/drawing/2014/main" id="{A416B7CB-D6DF-4592-842B-33C832699381}"/>
              </a:ext>
            </a:extLst>
          </p:cNvPr>
          <p:cNvSpPr txBox="1">
            <a:spLocks noChangeArrowheads="1"/>
          </p:cNvSpPr>
          <p:nvPr/>
        </p:nvSpPr>
        <p:spPr bwMode="auto">
          <a:xfrm>
            <a:off x="6096000" y="576792"/>
            <a:ext cx="36663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1371600">
              <a:defRPr sz="4300">
                <a:solidFill>
                  <a:srgbClr val="000000"/>
                </a:solidFill>
                <a:latin typeface="Gill Sans" charset="0"/>
                <a:cs typeface="ヒラギノ角ゴ ProN W3" charset="0"/>
                <a:sym typeface="Gill Sans" charset="0"/>
              </a:defRPr>
            </a:lvl1pPr>
            <a:lvl2pPr defTabSz="1371600">
              <a:defRPr sz="4300">
                <a:solidFill>
                  <a:srgbClr val="000000"/>
                </a:solidFill>
                <a:latin typeface="Gill Sans" charset="0"/>
                <a:cs typeface="ヒラギノ角ゴ ProN W3" charset="0"/>
                <a:sym typeface="Gill Sans" charset="0"/>
              </a:defRPr>
            </a:lvl2pPr>
            <a:lvl3pPr defTabSz="1371600">
              <a:defRPr sz="4300">
                <a:solidFill>
                  <a:srgbClr val="000000"/>
                </a:solidFill>
                <a:latin typeface="Gill Sans" charset="0"/>
                <a:cs typeface="ヒラギノ角ゴ ProN W3" charset="0"/>
                <a:sym typeface="Gill Sans" charset="0"/>
              </a:defRPr>
            </a:lvl3pPr>
            <a:lvl4pPr defTabSz="1371600">
              <a:defRPr sz="4300">
                <a:solidFill>
                  <a:srgbClr val="000000"/>
                </a:solidFill>
                <a:latin typeface="Gill Sans" charset="0"/>
                <a:cs typeface="ヒラギノ角ゴ ProN W3" charset="0"/>
                <a:sym typeface="Gill Sans" charset="0"/>
              </a:defRPr>
            </a:lvl4pPr>
            <a:lvl5pPr defTabSz="1371600">
              <a:defRPr sz="4300">
                <a:solidFill>
                  <a:srgbClr val="000000"/>
                </a:solidFill>
                <a:latin typeface="Gill Sans" charset="0"/>
                <a:cs typeface="ヒラギノ角ゴ ProN W3" charset="0"/>
                <a:sym typeface="Gill Sans" charset="0"/>
              </a:defRPr>
            </a:lvl5pPr>
            <a:lvl6pPr marL="22844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6pPr>
            <a:lvl7pPr marL="27416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7pPr>
            <a:lvl8pPr marL="31988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8pPr>
            <a:lvl9pPr marL="36560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9pPr>
          </a:lstStyle>
          <a:p>
            <a:pPr defTabSz="914446" fontAlgn="base">
              <a:spcBef>
                <a:spcPct val="0"/>
              </a:spcBef>
              <a:spcAft>
                <a:spcPct val="0"/>
              </a:spcAft>
            </a:pPr>
            <a:r>
              <a:rPr lang="es-CL" altLang="es-CL" sz="1600">
                <a:latin typeface="Montserrat" panose="00000500000000000000" pitchFamily="2" charset="0"/>
              </a:rPr>
              <a:t>Posición de capas administrativas</a:t>
            </a:r>
          </a:p>
        </p:txBody>
      </p:sp>
      <p:cxnSp>
        <p:nvCxnSpPr>
          <p:cNvPr id="30728" name="Conector recto 10">
            <a:extLst>
              <a:ext uri="{FF2B5EF4-FFF2-40B4-BE49-F238E27FC236}">
                <a16:creationId xmlns:a16="http://schemas.microsoft.com/office/drawing/2014/main" id="{1862CE4D-8F8D-488D-9B76-973A1B4F4E27}"/>
              </a:ext>
            </a:extLst>
          </p:cNvPr>
          <p:cNvCxnSpPr>
            <a:cxnSpLocks noChangeShapeType="1"/>
          </p:cNvCxnSpPr>
          <p:nvPr/>
        </p:nvCxnSpPr>
        <p:spPr bwMode="auto">
          <a:xfrm>
            <a:off x="2989385" y="1645709"/>
            <a:ext cx="4171298" cy="0"/>
          </a:xfrm>
          <a:prstGeom prst="line">
            <a:avLst/>
          </a:prstGeom>
          <a:noFill/>
          <a:ln w="25400" algn="ctr">
            <a:solidFill>
              <a:srgbClr val="00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729" name="CuadroTexto 11">
            <a:extLst>
              <a:ext uri="{FF2B5EF4-FFF2-40B4-BE49-F238E27FC236}">
                <a16:creationId xmlns:a16="http://schemas.microsoft.com/office/drawing/2014/main" id="{C7BEA522-C24E-45F5-8221-72A25156470C}"/>
              </a:ext>
            </a:extLst>
          </p:cNvPr>
          <p:cNvSpPr txBox="1">
            <a:spLocks noChangeArrowheads="1"/>
          </p:cNvSpPr>
          <p:nvPr/>
        </p:nvSpPr>
        <p:spPr bwMode="auto">
          <a:xfrm>
            <a:off x="7301442" y="1461559"/>
            <a:ext cx="227658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1371600">
              <a:defRPr sz="4300">
                <a:solidFill>
                  <a:srgbClr val="000000"/>
                </a:solidFill>
                <a:latin typeface="Gill Sans" charset="0"/>
                <a:cs typeface="ヒラギノ角ゴ ProN W3" charset="0"/>
                <a:sym typeface="Gill Sans" charset="0"/>
              </a:defRPr>
            </a:lvl1pPr>
            <a:lvl2pPr defTabSz="1371600">
              <a:defRPr sz="4300">
                <a:solidFill>
                  <a:srgbClr val="000000"/>
                </a:solidFill>
                <a:latin typeface="Gill Sans" charset="0"/>
                <a:cs typeface="ヒラギノ角ゴ ProN W3" charset="0"/>
                <a:sym typeface="Gill Sans" charset="0"/>
              </a:defRPr>
            </a:lvl2pPr>
            <a:lvl3pPr defTabSz="1371600">
              <a:defRPr sz="4300">
                <a:solidFill>
                  <a:srgbClr val="000000"/>
                </a:solidFill>
                <a:latin typeface="Gill Sans" charset="0"/>
                <a:cs typeface="ヒラギノ角ゴ ProN W3" charset="0"/>
                <a:sym typeface="Gill Sans" charset="0"/>
              </a:defRPr>
            </a:lvl3pPr>
            <a:lvl4pPr defTabSz="1371600">
              <a:defRPr sz="4300">
                <a:solidFill>
                  <a:srgbClr val="000000"/>
                </a:solidFill>
                <a:latin typeface="Gill Sans" charset="0"/>
                <a:cs typeface="ヒラギノ角ゴ ProN W3" charset="0"/>
                <a:sym typeface="Gill Sans" charset="0"/>
              </a:defRPr>
            </a:lvl4pPr>
            <a:lvl5pPr defTabSz="1371600">
              <a:defRPr sz="4300">
                <a:solidFill>
                  <a:srgbClr val="000000"/>
                </a:solidFill>
                <a:latin typeface="Gill Sans" charset="0"/>
                <a:cs typeface="ヒラギノ角ゴ ProN W3" charset="0"/>
                <a:sym typeface="Gill Sans" charset="0"/>
              </a:defRPr>
            </a:lvl5pPr>
            <a:lvl6pPr marL="22844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6pPr>
            <a:lvl7pPr marL="27416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7pPr>
            <a:lvl8pPr marL="31988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8pPr>
            <a:lvl9pPr marL="36560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9pPr>
          </a:lstStyle>
          <a:p>
            <a:pPr defTabSz="914446" fontAlgn="base">
              <a:spcBef>
                <a:spcPct val="0"/>
              </a:spcBef>
              <a:spcAft>
                <a:spcPct val="0"/>
              </a:spcAft>
            </a:pPr>
            <a:r>
              <a:rPr lang="es-CL" altLang="es-CL" sz="1600">
                <a:latin typeface="Montserrat" panose="00000500000000000000" pitchFamily="2" charset="0"/>
              </a:rPr>
              <a:t>Operación, procesos</a:t>
            </a:r>
          </a:p>
        </p:txBody>
      </p:sp>
      <p:cxnSp>
        <p:nvCxnSpPr>
          <p:cNvPr id="30730" name="Conector recto 12">
            <a:extLst>
              <a:ext uri="{FF2B5EF4-FFF2-40B4-BE49-F238E27FC236}">
                <a16:creationId xmlns:a16="http://schemas.microsoft.com/office/drawing/2014/main" id="{23468027-9DD5-427F-BDEB-C81657B15C85}"/>
              </a:ext>
            </a:extLst>
          </p:cNvPr>
          <p:cNvCxnSpPr>
            <a:cxnSpLocks noChangeShapeType="1"/>
          </p:cNvCxnSpPr>
          <p:nvPr/>
        </p:nvCxnSpPr>
        <p:spPr bwMode="auto">
          <a:xfrm>
            <a:off x="2989385" y="2051050"/>
            <a:ext cx="6826657" cy="0"/>
          </a:xfrm>
          <a:prstGeom prst="line">
            <a:avLst/>
          </a:prstGeom>
          <a:noFill/>
          <a:ln w="25400" algn="ctr">
            <a:solidFill>
              <a:srgbClr val="00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731" name="CuadroTexto 14">
            <a:extLst>
              <a:ext uri="{FF2B5EF4-FFF2-40B4-BE49-F238E27FC236}">
                <a16:creationId xmlns:a16="http://schemas.microsoft.com/office/drawing/2014/main" id="{939F6E4F-8AF8-4052-83AD-6C9B6DA45C51}"/>
              </a:ext>
            </a:extLst>
          </p:cNvPr>
          <p:cNvSpPr txBox="1">
            <a:spLocks noChangeArrowheads="1"/>
          </p:cNvSpPr>
          <p:nvPr/>
        </p:nvSpPr>
        <p:spPr bwMode="auto">
          <a:xfrm>
            <a:off x="9912350" y="1866900"/>
            <a:ext cx="87395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1371600">
              <a:defRPr sz="4300">
                <a:solidFill>
                  <a:srgbClr val="000000"/>
                </a:solidFill>
                <a:latin typeface="Gill Sans" charset="0"/>
                <a:cs typeface="ヒラギノ角ゴ ProN W3" charset="0"/>
                <a:sym typeface="Gill Sans" charset="0"/>
              </a:defRPr>
            </a:lvl1pPr>
            <a:lvl2pPr defTabSz="1371600">
              <a:defRPr sz="4300">
                <a:solidFill>
                  <a:srgbClr val="000000"/>
                </a:solidFill>
                <a:latin typeface="Gill Sans" charset="0"/>
                <a:cs typeface="ヒラギノ角ゴ ProN W3" charset="0"/>
                <a:sym typeface="Gill Sans" charset="0"/>
              </a:defRPr>
            </a:lvl2pPr>
            <a:lvl3pPr defTabSz="1371600">
              <a:defRPr sz="4300">
                <a:solidFill>
                  <a:srgbClr val="000000"/>
                </a:solidFill>
                <a:latin typeface="Gill Sans" charset="0"/>
                <a:cs typeface="ヒラギノ角ゴ ProN W3" charset="0"/>
                <a:sym typeface="Gill Sans" charset="0"/>
              </a:defRPr>
            </a:lvl3pPr>
            <a:lvl4pPr defTabSz="1371600">
              <a:defRPr sz="4300">
                <a:solidFill>
                  <a:srgbClr val="000000"/>
                </a:solidFill>
                <a:latin typeface="Gill Sans" charset="0"/>
                <a:cs typeface="ヒラギノ角ゴ ProN W3" charset="0"/>
                <a:sym typeface="Gill Sans" charset="0"/>
              </a:defRPr>
            </a:lvl4pPr>
            <a:lvl5pPr defTabSz="1371600">
              <a:defRPr sz="4300">
                <a:solidFill>
                  <a:srgbClr val="000000"/>
                </a:solidFill>
                <a:latin typeface="Gill Sans" charset="0"/>
                <a:cs typeface="ヒラギノ角ゴ ProN W3" charset="0"/>
                <a:sym typeface="Gill Sans" charset="0"/>
              </a:defRPr>
            </a:lvl5pPr>
            <a:lvl6pPr marL="22844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6pPr>
            <a:lvl7pPr marL="27416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7pPr>
            <a:lvl8pPr marL="31988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8pPr>
            <a:lvl9pPr marL="36560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9pPr>
          </a:lstStyle>
          <a:p>
            <a:pPr defTabSz="914446" fontAlgn="base">
              <a:spcBef>
                <a:spcPct val="0"/>
              </a:spcBef>
              <a:spcAft>
                <a:spcPct val="0"/>
              </a:spcAft>
            </a:pPr>
            <a:r>
              <a:rPr lang="es-CL" altLang="es-CL" sz="1600">
                <a:latin typeface="Montserrat" panose="00000500000000000000" pitchFamily="2" charset="0"/>
              </a:rPr>
              <a:t>Costos</a:t>
            </a:r>
          </a:p>
        </p:txBody>
      </p:sp>
      <p:cxnSp>
        <p:nvCxnSpPr>
          <p:cNvPr id="30732" name="Conector recto 15">
            <a:extLst>
              <a:ext uri="{FF2B5EF4-FFF2-40B4-BE49-F238E27FC236}">
                <a16:creationId xmlns:a16="http://schemas.microsoft.com/office/drawing/2014/main" id="{E709802F-B084-4B6B-842B-8379190AB8B7}"/>
              </a:ext>
            </a:extLst>
          </p:cNvPr>
          <p:cNvCxnSpPr>
            <a:cxnSpLocks noChangeShapeType="1"/>
          </p:cNvCxnSpPr>
          <p:nvPr/>
        </p:nvCxnSpPr>
        <p:spPr bwMode="auto">
          <a:xfrm>
            <a:off x="4211515" y="2776009"/>
            <a:ext cx="2949168" cy="0"/>
          </a:xfrm>
          <a:prstGeom prst="line">
            <a:avLst/>
          </a:prstGeom>
          <a:noFill/>
          <a:ln w="25400" algn="ctr">
            <a:solidFill>
              <a:srgbClr val="00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733" name="CuadroTexto 16">
            <a:extLst>
              <a:ext uri="{FF2B5EF4-FFF2-40B4-BE49-F238E27FC236}">
                <a16:creationId xmlns:a16="http://schemas.microsoft.com/office/drawing/2014/main" id="{0C1EC256-9813-4A2F-9790-2851C00B6E5B}"/>
              </a:ext>
            </a:extLst>
          </p:cNvPr>
          <p:cNvSpPr txBox="1">
            <a:spLocks noChangeArrowheads="1"/>
          </p:cNvSpPr>
          <p:nvPr/>
        </p:nvSpPr>
        <p:spPr bwMode="auto">
          <a:xfrm>
            <a:off x="7301442" y="2591859"/>
            <a:ext cx="280717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1371600">
              <a:defRPr sz="4300">
                <a:solidFill>
                  <a:srgbClr val="000000"/>
                </a:solidFill>
                <a:latin typeface="Gill Sans" charset="0"/>
                <a:cs typeface="ヒラギノ角ゴ ProN W3" charset="0"/>
                <a:sym typeface="Gill Sans" charset="0"/>
              </a:defRPr>
            </a:lvl1pPr>
            <a:lvl2pPr defTabSz="1371600">
              <a:defRPr sz="4300">
                <a:solidFill>
                  <a:srgbClr val="000000"/>
                </a:solidFill>
                <a:latin typeface="Gill Sans" charset="0"/>
                <a:cs typeface="ヒラギノ角ゴ ProN W3" charset="0"/>
                <a:sym typeface="Gill Sans" charset="0"/>
              </a:defRPr>
            </a:lvl2pPr>
            <a:lvl3pPr defTabSz="1371600">
              <a:defRPr sz="4300">
                <a:solidFill>
                  <a:srgbClr val="000000"/>
                </a:solidFill>
                <a:latin typeface="Gill Sans" charset="0"/>
                <a:cs typeface="ヒラギノ角ゴ ProN W3" charset="0"/>
                <a:sym typeface="Gill Sans" charset="0"/>
              </a:defRPr>
            </a:lvl3pPr>
            <a:lvl4pPr defTabSz="1371600">
              <a:defRPr sz="4300">
                <a:solidFill>
                  <a:srgbClr val="000000"/>
                </a:solidFill>
                <a:latin typeface="Gill Sans" charset="0"/>
                <a:cs typeface="ヒラギノ角ゴ ProN W3" charset="0"/>
                <a:sym typeface="Gill Sans" charset="0"/>
              </a:defRPr>
            </a:lvl4pPr>
            <a:lvl5pPr defTabSz="1371600">
              <a:defRPr sz="4300">
                <a:solidFill>
                  <a:srgbClr val="000000"/>
                </a:solidFill>
                <a:latin typeface="Gill Sans" charset="0"/>
                <a:cs typeface="ヒラギノ角ゴ ProN W3" charset="0"/>
                <a:sym typeface="Gill Sans" charset="0"/>
              </a:defRPr>
            </a:lvl5pPr>
            <a:lvl6pPr marL="22844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6pPr>
            <a:lvl7pPr marL="27416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7pPr>
            <a:lvl8pPr marL="31988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8pPr>
            <a:lvl9pPr marL="36560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9pPr>
          </a:lstStyle>
          <a:p>
            <a:pPr defTabSz="914446" fontAlgn="base">
              <a:spcBef>
                <a:spcPct val="0"/>
              </a:spcBef>
              <a:spcAft>
                <a:spcPct val="0"/>
              </a:spcAft>
            </a:pPr>
            <a:r>
              <a:rPr lang="es-CL" altLang="es-CL" sz="1600">
                <a:latin typeface="Montserrat" panose="00000500000000000000" pitchFamily="2" charset="0"/>
              </a:rPr>
              <a:t>Marketing, diferenciación</a:t>
            </a:r>
          </a:p>
        </p:txBody>
      </p:sp>
      <p:cxnSp>
        <p:nvCxnSpPr>
          <p:cNvPr id="30734" name="Conector recto 18">
            <a:extLst>
              <a:ext uri="{FF2B5EF4-FFF2-40B4-BE49-F238E27FC236}">
                <a16:creationId xmlns:a16="http://schemas.microsoft.com/office/drawing/2014/main" id="{7B3B1A23-7CBF-4727-8202-BEEA361059A0}"/>
              </a:ext>
            </a:extLst>
          </p:cNvPr>
          <p:cNvCxnSpPr>
            <a:cxnSpLocks noChangeShapeType="1"/>
          </p:cNvCxnSpPr>
          <p:nvPr/>
        </p:nvCxnSpPr>
        <p:spPr bwMode="auto">
          <a:xfrm>
            <a:off x="3669242" y="5236633"/>
            <a:ext cx="3491441" cy="0"/>
          </a:xfrm>
          <a:prstGeom prst="line">
            <a:avLst/>
          </a:prstGeom>
          <a:noFill/>
          <a:ln w="25400" algn="ctr">
            <a:solidFill>
              <a:srgbClr val="00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735" name="CuadroTexto 19">
            <a:extLst>
              <a:ext uri="{FF2B5EF4-FFF2-40B4-BE49-F238E27FC236}">
                <a16:creationId xmlns:a16="http://schemas.microsoft.com/office/drawing/2014/main" id="{1DAE9AE4-E6C5-4CA7-A421-75A9A958BF7F}"/>
              </a:ext>
            </a:extLst>
          </p:cNvPr>
          <p:cNvSpPr txBox="1">
            <a:spLocks noChangeArrowheads="1"/>
          </p:cNvSpPr>
          <p:nvPr/>
        </p:nvSpPr>
        <p:spPr bwMode="auto">
          <a:xfrm>
            <a:off x="7301442" y="5052483"/>
            <a:ext cx="106311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1371600">
              <a:defRPr sz="4300">
                <a:solidFill>
                  <a:srgbClr val="000000"/>
                </a:solidFill>
                <a:latin typeface="Gill Sans" charset="0"/>
                <a:cs typeface="ヒラギノ角ゴ ProN W3" charset="0"/>
                <a:sym typeface="Gill Sans" charset="0"/>
              </a:defRPr>
            </a:lvl1pPr>
            <a:lvl2pPr defTabSz="1371600">
              <a:defRPr sz="4300">
                <a:solidFill>
                  <a:srgbClr val="000000"/>
                </a:solidFill>
                <a:latin typeface="Gill Sans" charset="0"/>
                <a:cs typeface="ヒラギノ角ゴ ProN W3" charset="0"/>
                <a:sym typeface="Gill Sans" charset="0"/>
              </a:defRPr>
            </a:lvl2pPr>
            <a:lvl3pPr defTabSz="1371600">
              <a:defRPr sz="4300">
                <a:solidFill>
                  <a:srgbClr val="000000"/>
                </a:solidFill>
                <a:latin typeface="Gill Sans" charset="0"/>
                <a:cs typeface="ヒラギノ角ゴ ProN W3" charset="0"/>
                <a:sym typeface="Gill Sans" charset="0"/>
              </a:defRPr>
            </a:lvl3pPr>
            <a:lvl4pPr defTabSz="1371600">
              <a:defRPr sz="4300">
                <a:solidFill>
                  <a:srgbClr val="000000"/>
                </a:solidFill>
                <a:latin typeface="Gill Sans" charset="0"/>
                <a:cs typeface="ヒラギノ角ゴ ProN W3" charset="0"/>
                <a:sym typeface="Gill Sans" charset="0"/>
              </a:defRPr>
            </a:lvl4pPr>
            <a:lvl5pPr defTabSz="1371600">
              <a:defRPr sz="4300">
                <a:solidFill>
                  <a:srgbClr val="000000"/>
                </a:solidFill>
                <a:latin typeface="Gill Sans" charset="0"/>
                <a:cs typeface="ヒラギノ角ゴ ProN W3" charset="0"/>
                <a:sym typeface="Gill Sans" charset="0"/>
              </a:defRPr>
            </a:lvl5pPr>
            <a:lvl6pPr marL="22844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6pPr>
            <a:lvl7pPr marL="27416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7pPr>
            <a:lvl8pPr marL="31988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8pPr>
            <a:lvl9pPr marL="36560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9pPr>
          </a:lstStyle>
          <a:p>
            <a:pPr defTabSz="914446" fontAlgn="base">
              <a:spcBef>
                <a:spcPct val="0"/>
              </a:spcBef>
              <a:spcAft>
                <a:spcPct val="0"/>
              </a:spcAft>
            </a:pPr>
            <a:r>
              <a:rPr lang="es-CL" altLang="es-CL" sz="1600">
                <a:latin typeface="Montserrat" panose="00000500000000000000" pitchFamily="2" charset="0"/>
              </a:rPr>
              <a:t>Ingresos</a:t>
            </a:r>
          </a:p>
        </p:txBody>
      </p:sp>
      <p:cxnSp>
        <p:nvCxnSpPr>
          <p:cNvPr id="30736" name="Conector recto 22">
            <a:extLst>
              <a:ext uri="{FF2B5EF4-FFF2-40B4-BE49-F238E27FC236}">
                <a16:creationId xmlns:a16="http://schemas.microsoft.com/office/drawing/2014/main" id="{CF340728-E847-41F7-8371-2E8CB3DA2523}"/>
              </a:ext>
            </a:extLst>
          </p:cNvPr>
          <p:cNvCxnSpPr>
            <a:cxnSpLocks noChangeShapeType="1"/>
          </p:cNvCxnSpPr>
          <p:nvPr/>
        </p:nvCxnSpPr>
        <p:spPr bwMode="auto">
          <a:xfrm>
            <a:off x="11578167" y="2051051"/>
            <a:ext cx="0" cy="3185583"/>
          </a:xfrm>
          <a:prstGeom prst="line">
            <a:avLst/>
          </a:prstGeom>
          <a:noFill/>
          <a:ln w="25400" algn="ctr">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37" name="Conector recto 24">
            <a:extLst>
              <a:ext uri="{FF2B5EF4-FFF2-40B4-BE49-F238E27FC236}">
                <a16:creationId xmlns:a16="http://schemas.microsoft.com/office/drawing/2014/main" id="{3FDB773C-7C77-4C70-A2F7-B5F616BED38E}"/>
              </a:ext>
            </a:extLst>
          </p:cNvPr>
          <p:cNvCxnSpPr>
            <a:cxnSpLocks noChangeShapeType="1"/>
            <a:stCxn id="30731" idx="3"/>
          </p:cNvCxnSpPr>
          <p:nvPr/>
        </p:nvCxnSpPr>
        <p:spPr bwMode="auto">
          <a:xfrm>
            <a:off x="10786307" y="2036177"/>
            <a:ext cx="805619" cy="14873"/>
          </a:xfrm>
          <a:prstGeom prst="line">
            <a:avLst/>
          </a:prstGeom>
          <a:noFill/>
          <a:ln w="25400" algn="ctr">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38" name="Conector recto 25">
            <a:extLst>
              <a:ext uri="{FF2B5EF4-FFF2-40B4-BE49-F238E27FC236}">
                <a16:creationId xmlns:a16="http://schemas.microsoft.com/office/drawing/2014/main" id="{53D51169-1F32-4842-90DD-7B6422D48ED3}"/>
              </a:ext>
            </a:extLst>
          </p:cNvPr>
          <p:cNvCxnSpPr>
            <a:cxnSpLocks noChangeShapeType="1"/>
          </p:cNvCxnSpPr>
          <p:nvPr/>
        </p:nvCxnSpPr>
        <p:spPr bwMode="auto">
          <a:xfrm>
            <a:off x="8812742" y="5232400"/>
            <a:ext cx="2765425" cy="0"/>
          </a:xfrm>
          <a:prstGeom prst="line">
            <a:avLst/>
          </a:prstGeom>
          <a:noFill/>
          <a:ln w="25400" algn="ctr">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739" name="CuadroTexto 27">
            <a:extLst>
              <a:ext uri="{FF2B5EF4-FFF2-40B4-BE49-F238E27FC236}">
                <a16:creationId xmlns:a16="http://schemas.microsoft.com/office/drawing/2014/main" id="{1368C57B-704A-46CD-871C-D3E627DD13C8}"/>
              </a:ext>
            </a:extLst>
          </p:cNvPr>
          <p:cNvSpPr txBox="1">
            <a:spLocks noChangeArrowheads="1"/>
          </p:cNvSpPr>
          <p:nvPr/>
        </p:nvSpPr>
        <p:spPr bwMode="auto">
          <a:xfrm>
            <a:off x="10642600" y="3542242"/>
            <a:ext cx="1096775" cy="3385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1371600">
              <a:defRPr sz="4300">
                <a:solidFill>
                  <a:srgbClr val="000000"/>
                </a:solidFill>
                <a:latin typeface="Gill Sans" charset="0"/>
                <a:cs typeface="ヒラギノ角ゴ ProN W3" charset="0"/>
                <a:sym typeface="Gill Sans" charset="0"/>
              </a:defRPr>
            </a:lvl1pPr>
            <a:lvl2pPr defTabSz="1371600">
              <a:defRPr sz="4300">
                <a:solidFill>
                  <a:srgbClr val="000000"/>
                </a:solidFill>
                <a:latin typeface="Gill Sans" charset="0"/>
                <a:cs typeface="ヒラギノ角ゴ ProN W3" charset="0"/>
                <a:sym typeface="Gill Sans" charset="0"/>
              </a:defRPr>
            </a:lvl2pPr>
            <a:lvl3pPr defTabSz="1371600">
              <a:defRPr sz="4300">
                <a:solidFill>
                  <a:srgbClr val="000000"/>
                </a:solidFill>
                <a:latin typeface="Gill Sans" charset="0"/>
                <a:cs typeface="ヒラギノ角ゴ ProN W3" charset="0"/>
                <a:sym typeface="Gill Sans" charset="0"/>
              </a:defRPr>
            </a:lvl3pPr>
            <a:lvl4pPr defTabSz="1371600">
              <a:defRPr sz="4300">
                <a:solidFill>
                  <a:srgbClr val="000000"/>
                </a:solidFill>
                <a:latin typeface="Gill Sans" charset="0"/>
                <a:cs typeface="ヒラギノ角ゴ ProN W3" charset="0"/>
                <a:sym typeface="Gill Sans" charset="0"/>
              </a:defRPr>
            </a:lvl4pPr>
            <a:lvl5pPr defTabSz="1371600">
              <a:defRPr sz="4300">
                <a:solidFill>
                  <a:srgbClr val="000000"/>
                </a:solidFill>
                <a:latin typeface="Gill Sans" charset="0"/>
                <a:cs typeface="ヒラギノ角ゴ ProN W3" charset="0"/>
                <a:sym typeface="Gill Sans" charset="0"/>
              </a:defRPr>
            </a:lvl5pPr>
            <a:lvl6pPr marL="22844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6pPr>
            <a:lvl7pPr marL="27416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7pPr>
            <a:lvl8pPr marL="31988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8pPr>
            <a:lvl9pPr marL="36560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9pPr>
          </a:lstStyle>
          <a:p>
            <a:pPr defTabSz="914446" fontAlgn="base">
              <a:spcBef>
                <a:spcPct val="0"/>
              </a:spcBef>
              <a:spcAft>
                <a:spcPct val="0"/>
              </a:spcAft>
            </a:pPr>
            <a:r>
              <a:rPr lang="es-CL" altLang="es-CL" sz="1600">
                <a:latin typeface="Montserrat" panose="00000500000000000000" pitchFamily="2" charset="0"/>
              </a:rPr>
              <a:t>Finanzas</a:t>
            </a:r>
          </a:p>
        </p:txBody>
      </p:sp>
      <p:cxnSp>
        <p:nvCxnSpPr>
          <p:cNvPr id="30740" name="Conector recto 29">
            <a:extLst>
              <a:ext uri="{FF2B5EF4-FFF2-40B4-BE49-F238E27FC236}">
                <a16:creationId xmlns:a16="http://schemas.microsoft.com/office/drawing/2014/main" id="{849F8073-426F-4D17-AD59-220430B590F2}"/>
              </a:ext>
            </a:extLst>
          </p:cNvPr>
          <p:cNvCxnSpPr>
            <a:cxnSpLocks noChangeShapeType="1"/>
          </p:cNvCxnSpPr>
          <p:nvPr/>
        </p:nvCxnSpPr>
        <p:spPr bwMode="auto">
          <a:xfrm>
            <a:off x="6265333" y="1209676"/>
            <a:ext cx="0" cy="4726517"/>
          </a:xfrm>
          <a:prstGeom prst="line">
            <a:avLst/>
          </a:prstGeom>
          <a:noFill/>
          <a:ln w="25400" algn="ctr">
            <a:solidFill>
              <a:srgbClr val="0000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741" name="CuadroTexto 30">
            <a:extLst>
              <a:ext uri="{FF2B5EF4-FFF2-40B4-BE49-F238E27FC236}">
                <a16:creationId xmlns:a16="http://schemas.microsoft.com/office/drawing/2014/main" id="{2F9B7CCA-37C6-4AAF-A3EE-09423F1DCB27}"/>
              </a:ext>
            </a:extLst>
          </p:cNvPr>
          <p:cNvSpPr txBox="1">
            <a:spLocks noChangeArrowheads="1"/>
          </p:cNvSpPr>
          <p:nvPr/>
        </p:nvSpPr>
        <p:spPr bwMode="auto">
          <a:xfrm>
            <a:off x="5887509" y="3131609"/>
            <a:ext cx="1128835" cy="3385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1371600">
              <a:defRPr sz="4300">
                <a:solidFill>
                  <a:srgbClr val="000000"/>
                </a:solidFill>
                <a:latin typeface="Gill Sans" charset="0"/>
                <a:cs typeface="ヒラギノ角ゴ ProN W3" charset="0"/>
                <a:sym typeface="Gill Sans" charset="0"/>
              </a:defRPr>
            </a:lvl1pPr>
            <a:lvl2pPr defTabSz="1371600">
              <a:defRPr sz="4300">
                <a:solidFill>
                  <a:srgbClr val="000000"/>
                </a:solidFill>
                <a:latin typeface="Gill Sans" charset="0"/>
                <a:cs typeface="ヒラギノ角ゴ ProN W3" charset="0"/>
                <a:sym typeface="Gill Sans" charset="0"/>
              </a:defRPr>
            </a:lvl2pPr>
            <a:lvl3pPr defTabSz="1371600">
              <a:defRPr sz="4300">
                <a:solidFill>
                  <a:srgbClr val="000000"/>
                </a:solidFill>
                <a:latin typeface="Gill Sans" charset="0"/>
                <a:cs typeface="ヒラギノ角ゴ ProN W3" charset="0"/>
                <a:sym typeface="Gill Sans" charset="0"/>
              </a:defRPr>
            </a:lvl3pPr>
            <a:lvl4pPr defTabSz="1371600">
              <a:defRPr sz="4300">
                <a:solidFill>
                  <a:srgbClr val="000000"/>
                </a:solidFill>
                <a:latin typeface="Gill Sans" charset="0"/>
                <a:cs typeface="ヒラギノ角ゴ ProN W3" charset="0"/>
                <a:sym typeface="Gill Sans" charset="0"/>
              </a:defRPr>
            </a:lvl4pPr>
            <a:lvl5pPr defTabSz="1371600">
              <a:defRPr sz="4300">
                <a:solidFill>
                  <a:srgbClr val="000000"/>
                </a:solidFill>
                <a:latin typeface="Gill Sans" charset="0"/>
                <a:cs typeface="ヒラギノ角ゴ ProN W3" charset="0"/>
                <a:sym typeface="Gill Sans" charset="0"/>
              </a:defRPr>
            </a:lvl5pPr>
            <a:lvl6pPr marL="22844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6pPr>
            <a:lvl7pPr marL="27416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7pPr>
            <a:lvl8pPr marL="31988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8pPr>
            <a:lvl9pPr marL="36560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9pPr>
          </a:lstStyle>
          <a:p>
            <a:pPr defTabSz="914446" fontAlgn="base">
              <a:spcBef>
                <a:spcPct val="0"/>
              </a:spcBef>
              <a:spcAft>
                <a:spcPct val="0"/>
              </a:spcAft>
            </a:pPr>
            <a:r>
              <a:rPr lang="es-CL" altLang="es-CL" sz="1600">
                <a:latin typeface="Montserrat" panose="00000500000000000000" pitchFamily="2" charset="0"/>
              </a:rPr>
              <a:t>Personas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16B8590A-8DCB-401D-9CD9-09A84EE68F8C}"/>
              </a:ext>
            </a:extLst>
          </p:cNvPr>
          <p:cNvSpPr>
            <a:spLocks noGrp="1"/>
          </p:cNvSpPr>
          <p:nvPr>
            <p:ph type="sldNum" sz="quarter" idx="10"/>
          </p:nvPr>
        </p:nvSpPr>
        <p:spPr bwMode="auto">
          <a:xfrm>
            <a:off x="11249026" y="6416675"/>
            <a:ext cx="334433" cy="304800"/>
          </a:xfrm>
          <a:prstGeom prst="rect">
            <a:avLst/>
          </a:prstGeom>
          <a:noFill/>
          <a:ln>
            <a:noFill/>
          </a:ln>
          <a:effectLst/>
        </p:spPr>
        <p:txBody>
          <a:bodyPr vert="horz" wrap="none" lIns="91439" tIns="45719" rIns="91439" bIns="45719" numCol="1" anchor="ctr" anchorCtr="0" compatLnSpc="1">
            <a:prstTxWarp prst="textNoShape">
              <a:avLst/>
            </a:prstTxWarp>
          </a:bodyPr>
          <a:lstStyle>
            <a:defPPr>
              <a:defRPr lang="es-CL"/>
            </a:defPPr>
            <a:lvl1pPr marL="0" algn="r" defTabSz="914400" rtl="0" eaLnBrk="1" latinLnBrk="0" hangingPunct="1">
              <a:defRPr sz="1400" kern="1200">
                <a:solidFill>
                  <a:srgbClr val="878787"/>
                </a:solidFill>
                <a:latin typeface="Lucida Grande"/>
                <a:ea typeface="Lucida Grande"/>
                <a:cs typeface="Lucida Grande"/>
                <a:sym typeface="Lucida Grande"/>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CE098A83-FC9B-4673-9D0B-5DECA82460F3}" type="slidenum">
              <a:rPr lang="en-US" altLang="es-CL" smtClean="0"/>
              <a:pPr>
                <a:defRPr/>
              </a:pPr>
              <a:t>6</a:t>
            </a:fld>
            <a:endParaRPr lang="en-US" altLang="es-CL"/>
          </a:p>
        </p:txBody>
      </p:sp>
      <p:sp>
        <p:nvSpPr>
          <p:cNvPr id="3" name="CuadroTexto 2">
            <a:extLst>
              <a:ext uri="{FF2B5EF4-FFF2-40B4-BE49-F238E27FC236}">
                <a16:creationId xmlns:a16="http://schemas.microsoft.com/office/drawing/2014/main" id="{66289219-DB80-431A-80E2-AB36A0D0102B}"/>
              </a:ext>
            </a:extLst>
          </p:cNvPr>
          <p:cNvSpPr txBox="1"/>
          <p:nvPr/>
        </p:nvSpPr>
        <p:spPr>
          <a:xfrm>
            <a:off x="708690" y="1119105"/>
            <a:ext cx="10874769" cy="738664"/>
          </a:xfrm>
          <a:prstGeom prst="rect">
            <a:avLst/>
          </a:prstGeom>
          <a:noFill/>
        </p:spPr>
        <p:txBody>
          <a:bodyPr wrap="square" lIns="0" tIns="0" rIns="0" bIns="0" rtlCol="0">
            <a:spAutoFit/>
          </a:bodyPr>
          <a:lstStyle/>
          <a:p>
            <a:pPr>
              <a:defRPr/>
            </a:pPr>
            <a:r>
              <a:rPr lang="es-ES_tradnl" sz="2400" b="1" dirty="0">
                <a:solidFill>
                  <a:srgbClr val="000000">
                    <a:lumMod val="95000"/>
                    <a:lumOff val="5000"/>
                  </a:srgbClr>
                </a:solidFill>
                <a:latin typeface="Montserrat" panose="00000500000000000000" pitchFamily="2" charset="0"/>
                <a:ea typeface="SF Pro Display Medium" pitchFamily="2" charset="0"/>
                <a:cs typeface="Maven Pro" charset="0"/>
              </a:rPr>
              <a:t>Como señala Osterwalder en su definición de modelo de negocios, un negocio tiene 3 temas:</a:t>
            </a:r>
            <a:endParaRPr lang="es-ES_tradnl" sz="5400" b="1" dirty="0">
              <a:solidFill>
                <a:srgbClr val="000000">
                  <a:lumMod val="95000"/>
                  <a:lumOff val="5000"/>
                </a:srgbClr>
              </a:solidFill>
              <a:latin typeface="Montserrat" panose="00000500000000000000" pitchFamily="2" charset="0"/>
              <a:ea typeface="SF Pro Display Medium" pitchFamily="2" charset="0"/>
              <a:cs typeface="Maven Pro" charset="0"/>
            </a:endParaRPr>
          </a:p>
        </p:txBody>
      </p:sp>
      <p:sp>
        <p:nvSpPr>
          <p:cNvPr id="4" name="CuadroTexto 3">
            <a:extLst>
              <a:ext uri="{FF2B5EF4-FFF2-40B4-BE49-F238E27FC236}">
                <a16:creationId xmlns:a16="http://schemas.microsoft.com/office/drawing/2014/main" id="{9D2FEFD2-27C3-41AB-A24A-5027DB1838EA}"/>
              </a:ext>
            </a:extLst>
          </p:cNvPr>
          <p:cNvSpPr txBox="1"/>
          <p:nvPr/>
        </p:nvSpPr>
        <p:spPr>
          <a:xfrm>
            <a:off x="708690" y="2346133"/>
            <a:ext cx="2947688" cy="677108"/>
          </a:xfrm>
          <a:prstGeom prst="rect">
            <a:avLst/>
          </a:prstGeom>
          <a:noFill/>
        </p:spPr>
        <p:txBody>
          <a:bodyPr wrap="square" lIns="0" tIns="0" rIns="0" bIns="0" rtlCol="0">
            <a:spAutoFit/>
          </a:bodyPr>
          <a:lstStyle/>
          <a:p>
            <a:pPr>
              <a:defRPr/>
            </a:pPr>
            <a:r>
              <a:rPr lang="es-ES_tradnl" sz="2400" b="1" dirty="0">
                <a:solidFill>
                  <a:srgbClr val="FFFFFF">
                    <a:lumMod val="65000"/>
                  </a:srgbClr>
                </a:solidFill>
                <a:latin typeface="Montserrat" panose="00000500000000000000" pitchFamily="2" charset="0"/>
                <a:ea typeface="SF Pro Display Medium" pitchFamily="2" charset="0"/>
                <a:cs typeface="Maven Pro" charset="0"/>
              </a:rPr>
              <a:t>01</a:t>
            </a:r>
            <a:endParaRPr lang="es-ES_tradnl" sz="1400" b="1" dirty="0">
              <a:solidFill>
                <a:srgbClr val="FFFFFF">
                  <a:lumMod val="65000"/>
                </a:srgbClr>
              </a:solidFill>
              <a:latin typeface="Montserrat" panose="00000500000000000000" pitchFamily="2" charset="0"/>
              <a:ea typeface="SF Pro Display Medium" pitchFamily="2" charset="0"/>
              <a:cs typeface="Maven Pro" charset="0"/>
            </a:endParaRPr>
          </a:p>
          <a:p>
            <a:pPr>
              <a:defRPr/>
            </a:pPr>
            <a:r>
              <a:rPr lang="es-ES_tradnl" sz="2000" b="1" dirty="0">
                <a:solidFill>
                  <a:srgbClr val="000000">
                    <a:lumMod val="95000"/>
                    <a:lumOff val="5000"/>
                  </a:srgbClr>
                </a:solidFill>
                <a:latin typeface="Montserrat" panose="00000500000000000000" pitchFamily="2" charset="0"/>
                <a:ea typeface="SF Pro Display Medium" pitchFamily="2" charset="0"/>
                <a:cs typeface="Maven Pro" charset="0"/>
              </a:rPr>
              <a:t>Creación de valor</a:t>
            </a:r>
          </a:p>
        </p:txBody>
      </p:sp>
      <p:sp>
        <p:nvSpPr>
          <p:cNvPr id="5" name="CuadroTexto 4">
            <a:extLst>
              <a:ext uri="{FF2B5EF4-FFF2-40B4-BE49-F238E27FC236}">
                <a16:creationId xmlns:a16="http://schemas.microsoft.com/office/drawing/2014/main" id="{26BD9EFB-EE35-4E17-8505-B02C10B7E582}"/>
              </a:ext>
            </a:extLst>
          </p:cNvPr>
          <p:cNvSpPr txBox="1"/>
          <p:nvPr/>
        </p:nvSpPr>
        <p:spPr>
          <a:xfrm>
            <a:off x="4635521" y="2346133"/>
            <a:ext cx="2947688" cy="677108"/>
          </a:xfrm>
          <a:prstGeom prst="rect">
            <a:avLst/>
          </a:prstGeom>
          <a:noFill/>
        </p:spPr>
        <p:txBody>
          <a:bodyPr wrap="square" lIns="0" tIns="0" rIns="0" bIns="0" rtlCol="0">
            <a:spAutoFit/>
          </a:bodyPr>
          <a:lstStyle/>
          <a:p>
            <a:pPr>
              <a:defRPr/>
            </a:pPr>
            <a:r>
              <a:rPr lang="es-ES_tradnl" sz="2400" b="1" dirty="0">
                <a:solidFill>
                  <a:srgbClr val="FFFFFF">
                    <a:lumMod val="65000"/>
                  </a:srgbClr>
                </a:solidFill>
                <a:latin typeface="Montserrat" panose="00000500000000000000" pitchFamily="2" charset="0"/>
                <a:ea typeface="SF Pro Display Medium" pitchFamily="2" charset="0"/>
                <a:cs typeface="Maven Pro" charset="0"/>
              </a:rPr>
              <a:t>02</a:t>
            </a:r>
            <a:endParaRPr lang="es-ES_tradnl" sz="1400" b="1" dirty="0">
              <a:solidFill>
                <a:srgbClr val="FFFFFF">
                  <a:lumMod val="65000"/>
                </a:srgbClr>
              </a:solidFill>
              <a:latin typeface="Montserrat" panose="00000500000000000000" pitchFamily="2" charset="0"/>
              <a:ea typeface="SF Pro Display Medium" pitchFamily="2" charset="0"/>
              <a:cs typeface="Maven Pro" charset="0"/>
            </a:endParaRPr>
          </a:p>
          <a:p>
            <a:pPr>
              <a:defRPr/>
            </a:pPr>
            <a:r>
              <a:rPr lang="es-ES_tradnl" sz="2000" b="1" dirty="0">
                <a:solidFill>
                  <a:srgbClr val="000000">
                    <a:lumMod val="95000"/>
                    <a:lumOff val="5000"/>
                  </a:srgbClr>
                </a:solidFill>
                <a:latin typeface="Montserrat" panose="00000500000000000000" pitchFamily="2" charset="0"/>
                <a:ea typeface="SF Pro Display Medium" pitchFamily="2" charset="0"/>
                <a:cs typeface="Maven Pro" charset="0"/>
              </a:rPr>
              <a:t>Distribución de valor</a:t>
            </a:r>
          </a:p>
        </p:txBody>
      </p:sp>
      <p:sp>
        <p:nvSpPr>
          <p:cNvPr id="6" name="CuadroTexto 5">
            <a:extLst>
              <a:ext uri="{FF2B5EF4-FFF2-40B4-BE49-F238E27FC236}">
                <a16:creationId xmlns:a16="http://schemas.microsoft.com/office/drawing/2014/main" id="{B450A75A-38AA-498A-AA74-647CB643057E}"/>
              </a:ext>
            </a:extLst>
          </p:cNvPr>
          <p:cNvSpPr txBox="1"/>
          <p:nvPr/>
        </p:nvSpPr>
        <p:spPr>
          <a:xfrm>
            <a:off x="8562352" y="2346133"/>
            <a:ext cx="2947688" cy="677108"/>
          </a:xfrm>
          <a:prstGeom prst="rect">
            <a:avLst/>
          </a:prstGeom>
          <a:noFill/>
        </p:spPr>
        <p:txBody>
          <a:bodyPr wrap="square" lIns="0" tIns="0" rIns="0" bIns="0" rtlCol="0">
            <a:spAutoFit/>
          </a:bodyPr>
          <a:lstStyle/>
          <a:p>
            <a:pPr>
              <a:defRPr/>
            </a:pPr>
            <a:r>
              <a:rPr lang="es-ES_tradnl" sz="2400" b="1" dirty="0">
                <a:solidFill>
                  <a:srgbClr val="FFFFFF">
                    <a:lumMod val="65000"/>
                  </a:srgbClr>
                </a:solidFill>
                <a:latin typeface="Montserrat" panose="00000500000000000000" pitchFamily="2" charset="0"/>
                <a:ea typeface="SF Pro Display Medium" pitchFamily="2" charset="0"/>
                <a:cs typeface="Maven Pro" charset="0"/>
              </a:rPr>
              <a:t>03</a:t>
            </a:r>
            <a:endParaRPr lang="es-ES_tradnl" sz="1400" b="1" dirty="0">
              <a:solidFill>
                <a:srgbClr val="FFFFFF">
                  <a:lumMod val="65000"/>
                </a:srgbClr>
              </a:solidFill>
              <a:latin typeface="Montserrat" panose="00000500000000000000" pitchFamily="2" charset="0"/>
              <a:ea typeface="SF Pro Display Medium" pitchFamily="2" charset="0"/>
              <a:cs typeface="Maven Pro" charset="0"/>
            </a:endParaRPr>
          </a:p>
          <a:p>
            <a:pPr>
              <a:defRPr/>
            </a:pPr>
            <a:r>
              <a:rPr lang="es-ES_tradnl" sz="2000" b="1" dirty="0">
                <a:solidFill>
                  <a:srgbClr val="000000">
                    <a:lumMod val="95000"/>
                    <a:lumOff val="5000"/>
                  </a:srgbClr>
                </a:solidFill>
                <a:latin typeface="Montserrat" panose="00000500000000000000" pitchFamily="2" charset="0"/>
                <a:ea typeface="SF Pro Display Medium" pitchFamily="2" charset="0"/>
                <a:cs typeface="Maven Pro" charset="0"/>
              </a:rPr>
              <a:t>Captura de valor</a:t>
            </a:r>
          </a:p>
        </p:txBody>
      </p:sp>
      <p:sp>
        <p:nvSpPr>
          <p:cNvPr id="7" name="Rectángulo 6">
            <a:extLst>
              <a:ext uri="{FF2B5EF4-FFF2-40B4-BE49-F238E27FC236}">
                <a16:creationId xmlns:a16="http://schemas.microsoft.com/office/drawing/2014/main" id="{7939384B-F4D3-4728-9CD9-28AC033699C4}"/>
              </a:ext>
            </a:extLst>
          </p:cNvPr>
          <p:cNvSpPr/>
          <p:nvPr/>
        </p:nvSpPr>
        <p:spPr>
          <a:xfrm>
            <a:off x="708689" y="3303207"/>
            <a:ext cx="2947687" cy="1938992"/>
          </a:xfrm>
          <a:prstGeom prst="rect">
            <a:avLst/>
          </a:prstGeom>
        </p:spPr>
        <p:txBody>
          <a:bodyPr wrap="square" lIns="0" tIns="0" rIns="0" bIns="0">
            <a:spAutoFit/>
          </a:bodyPr>
          <a:lstStyle/>
          <a:p>
            <a:pPr>
              <a:defRPr/>
            </a:pPr>
            <a:r>
              <a:rPr lang="es-CL" dirty="0">
                <a:solidFill>
                  <a:srgbClr val="475156"/>
                </a:solidFill>
                <a:latin typeface="Montserrat" panose="00000500000000000000" pitchFamily="2" charset="0"/>
                <a:ea typeface="SF Pro Display Light" pitchFamily="2" charset="0"/>
              </a:rPr>
              <a:t>Realizamos algo y con ciertas condiciones para lograr un </a:t>
            </a:r>
            <a:r>
              <a:rPr lang="es-CL" dirty="0">
                <a:solidFill>
                  <a:srgbClr val="FFFFFF"/>
                </a:solidFill>
                <a:highlight>
                  <a:srgbClr val="00B0F0"/>
                </a:highlight>
                <a:latin typeface="Montserrat" panose="00000500000000000000" pitchFamily="2" charset="0"/>
                <a:ea typeface="SF Pro Display Light" pitchFamily="2" charset="0"/>
              </a:rPr>
              <a:t>producto/resultado.</a:t>
            </a:r>
          </a:p>
          <a:p>
            <a:pPr>
              <a:defRPr/>
            </a:pPr>
            <a:endParaRPr lang="es-CL" dirty="0">
              <a:solidFill>
                <a:srgbClr val="FFFFFF"/>
              </a:solidFill>
              <a:highlight>
                <a:srgbClr val="000080"/>
              </a:highlight>
              <a:latin typeface="Montserrat" panose="00000500000000000000" pitchFamily="2" charset="0"/>
              <a:ea typeface="SF Pro Display Light" pitchFamily="2" charset="0"/>
            </a:endParaRPr>
          </a:p>
          <a:p>
            <a:pPr>
              <a:defRPr/>
            </a:pPr>
            <a:r>
              <a:rPr lang="es-CL" b="1" dirty="0">
                <a:solidFill>
                  <a:srgbClr val="475156"/>
                </a:solidFill>
                <a:latin typeface="Montserrat" panose="00000500000000000000" pitchFamily="2" charset="0"/>
              </a:rPr>
              <a:t>Cómo operativamente se construye la solución. </a:t>
            </a:r>
          </a:p>
        </p:txBody>
      </p:sp>
      <p:sp>
        <p:nvSpPr>
          <p:cNvPr id="8" name="Rectángulo 7">
            <a:extLst>
              <a:ext uri="{FF2B5EF4-FFF2-40B4-BE49-F238E27FC236}">
                <a16:creationId xmlns:a16="http://schemas.microsoft.com/office/drawing/2014/main" id="{B35C2CD4-C43F-4905-A9DA-36EC7AB4F1EA}"/>
              </a:ext>
            </a:extLst>
          </p:cNvPr>
          <p:cNvSpPr/>
          <p:nvPr/>
        </p:nvSpPr>
        <p:spPr>
          <a:xfrm>
            <a:off x="4635521" y="3303207"/>
            <a:ext cx="2947688" cy="1938992"/>
          </a:xfrm>
          <a:prstGeom prst="rect">
            <a:avLst/>
          </a:prstGeom>
        </p:spPr>
        <p:txBody>
          <a:bodyPr wrap="square" lIns="0" tIns="0" rIns="0" bIns="0">
            <a:spAutoFit/>
          </a:bodyPr>
          <a:lstStyle/>
          <a:p>
            <a:pPr>
              <a:defRPr/>
            </a:pPr>
            <a:r>
              <a:rPr lang="es-CL" dirty="0">
                <a:solidFill>
                  <a:srgbClr val="475156"/>
                </a:solidFill>
                <a:latin typeface="Montserrat" panose="00000500000000000000" pitchFamily="2" charset="0"/>
                <a:ea typeface="SF Pro Display Light" pitchFamily="2" charset="0"/>
              </a:rPr>
              <a:t>Tenemos una estructura de entrega que </a:t>
            </a:r>
            <a:r>
              <a:rPr lang="es-CL" dirty="0">
                <a:solidFill>
                  <a:srgbClr val="FFFFFF"/>
                </a:solidFill>
                <a:highlight>
                  <a:srgbClr val="00B0F0"/>
                </a:highlight>
                <a:latin typeface="Montserrat" panose="00000500000000000000" pitchFamily="2" charset="0"/>
                <a:ea typeface="SF Pro Display Light" pitchFamily="2" charset="0"/>
              </a:rPr>
              <a:t>hace que un producto/resultado llegue.</a:t>
            </a:r>
          </a:p>
          <a:p>
            <a:pPr>
              <a:defRPr/>
            </a:pPr>
            <a:endParaRPr lang="es-CL" dirty="0">
              <a:solidFill>
                <a:srgbClr val="FFFFFF"/>
              </a:solidFill>
              <a:highlight>
                <a:srgbClr val="000080"/>
              </a:highlight>
              <a:latin typeface="Montserrat" panose="00000500000000000000" pitchFamily="2" charset="0"/>
              <a:ea typeface="SF Pro Display Light" pitchFamily="2" charset="0"/>
            </a:endParaRPr>
          </a:p>
          <a:p>
            <a:pPr>
              <a:defRPr/>
            </a:pPr>
            <a:r>
              <a:rPr lang="es-CL" b="1" dirty="0">
                <a:solidFill>
                  <a:srgbClr val="475156"/>
                </a:solidFill>
                <a:latin typeface="Montserrat" panose="00000500000000000000" pitchFamily="2" charset="0"/>
              </a:rPr>
              <a:t>Cómo operativamente se entrega la solución.</a:t>
            </a:r>
          </a:p>
        </p:txBody>
      </p:sp>
      <p:sp>
        <p:nvSpPr>
          <p:cNvPr id="9" name="Rectángulo 8">
            <a:extLst>
              <a:ext uri="{FF2B5EF4-FFF2-40B4-BE49-F238E27FC236}">
                <a16:creationId xmlns:a16="http://schemas.microsoft.com/office/drawing/2014/main" id="{FFCB0C3E-B4BC-401C-AD51-0A775BF59EB7}"/>
              </a:ext>
            </a:extLst>
          </p:cNvPr>
          <p:cNvSpPr/>
          <p:nvPr/>
        </p:nvSpPr>
        <p:spPr>
          <a:xfrm>
            <a:off x="8562352" y="3303207"/>
            <a:ext cx="2947688" cy="1938992"/>
          </a:xfrm>
          <a:prstGeom prst="rect">
            <a:avLst/>
          </a:prstGeom>
        </p:spPr>
        <p:txBody>
          <a:bodyPr wrap="square" lIns="0" tIns="0" rIns="0" bIns="0">
            <a:spAutoFit/>
          </a:bodyPr>
          <a:lstStyle/>
          <a:p>
            <a:pPr>
              <a:defRPr/>
            </a:pPr>
            <a:r>
              <a:rPr lang="es-CL" dirty="0">
                <a:solidFill>
                  <a:srgbClr val="475156"/>
                </a:solidFill>
                <a:latin typeface="Montserrat" panose="00000500000000000000" pitchFamily="2" charset="0"/>
                <a:ea typeface="SF Pro Display Light" pitchFamily="2" charset="0"/>
              </a:rPr>
              <a:t>Nuestros productos y su estructura de entrega se manifiestan como un </a:t>
            </a:r>
            <a:r>
              <a:rPr lang="es-CL" dirty="0">
                <a:solidFill>
                  <a:srgbClr val="FFFFFF"/>
                </a:solidFill>
                <a:highlight>
                  <a:srgbClr val="00B0F0"/>
                </a:highlight>
                <a:latin typeface="Montserrat" panose="00000500000000000000" pitchFamily="2" charset="0"/>
                <a:ea typeface="SF Pro Display Light" pitchFamily="2" charset="0"/>
              </a:rPr>
              <a:t>resultado.</a:t>
            </a:r>
          </a:p>
          <a:p>
            <a:pPr>
              <a:defRPr/>
            </a:pPr>
            <a:endParaRPr lang="es-CL" b="1" dirty="0">
              <a:solidFill>
                <a:srgbClr val="475156"/>
              </a:solidFill>
              <a:latin typeface="Montserrat" panose="00000500000000000000" pitchFamily="2" charset="0"/>
            </a:endParaRPr>
          </a:p>
          <a:p>
            <a:pPr>
              <a:defRPr/>
            </a:pPr>
            <a:r>
              <a:rPr lang="es-CL" b="1" dirty="0">
                <a:solidFill>
                  <a:srgbClr val="475156"/>
                </a:solidFill>
                <a:latin typeface="Montserrat" panose="00000500000000000000" pitchFamily="2" charset="0"/>
              </a:rPr>
              <a:t>Cómo el negocio genera resultados</a:t>
            </a:r>
            <a:r>
              <a:rPr lang="es-CL" dirty="0">
                <a:solidFill>
                  <a:srgbClr val="FFFFFF"/>
                </a:solidFill>
                <a:latin typeface="Montserrat" panose="00000500000000000000" pitchFamily="2" charset="0"/>
                <a:ea typeface="SF Pro Display Light" pitchFamily="2" charset="0"/>
              </a:rPr>
              <a:t>.</a:t>
            </a:r>
          </a:p>
        </p:txBody>
      </p:sp>
    </p:spTree>
    <p:extLst>
      <p:ext uri="{BB962C8B-B14F-4D97-AF65-F5344CB8AC3E}">
        <p14:creationId xmlns:p14="http://schemas.microsoft.com/office/powerpoint/2010/main" val="12097131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6ABCA72B-72EB-4511-A24A-EDCAEFAFACEB}"/>
              </a:ext>
            </a:extLst>
          </p:cNvPr>
          <p:cNvSpPr>
            <a:spLocks noGrp="1"/>
          </p:cNvSpPr>
          <p:nvPr>
            <p:ph type="sldNum" sz="quarter" idx="10"/>
          </p:nvPr>
        </p:nvSpPr>
        <p:spPr bwMode="auto">
          <a:xfrm>
            <a:off x="11249026" y="6416675"/>
            <a:ext cx="334433" cy="304800"/>
          </a:xfrm>
          <a:prstGeom prst="rect">
            <a:avLst/>
          </a:prstGeom>
          <a:noFill/>
          <a:ln>
            <a:noFill/>
          </a:ln>
          <a:effectLst/>
        </p:spPr>
        <p:txBody>
          <a:bodyPr vert="horz" wrap="none" lIns="91439" tIns="45719" rIns="91439" bIns="45719" numCol="1" anchor="ctr" anchorCtr="0" compatLnSpc="1">
            <a:prstTxWarp prst="textNoShape">
              <a:avLst/>
            </a:prstTxWarp>
          </a:bodyPr>
          <a:lstStyle>
            <a:defPPr>
              <a:defRPr lang="es-CL"/>
            </a:defPPr>
            <a:lvl1pPr marL="0" algn="r" defTabSz="914400" rtl="0" eaLnBrk="1" latinLnBrk="0" hangingPunct="1">
              <a:defRPr sz="1400" kern="1200">
                <a:solidFill>
                  <a:srgbClr val="878787"/>
                </a:solidFill>
                <a:latin typeface="Lucida Grande"/>
                <a:ea typeface="Lucida Grande"/>
                <a:cs typeface="Lucida Grande"/>
                <a:sym typeface="Lucida Grande"/>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CE098A83-FC9B-4673-9D0B-5DECA82460F3}" type="slidenum">
              <a:rPr lang="en-US" altLang="es-CL" smtClean="0"/>
              <a:pPr>
                <a:defRPr/>
              </a:pPr>
              <a:t>7</a:t>
            </a:fld>
            <a:endParaRPr lang="en-US" altLang="es-CL"/>
          </a:p>
        </p:txBody>
      </p:sp>
      <p:sp>
        <p:nvSpPr>
          <p:cNvPr id="5" name="TextBox 1">
            <a:extLst>
              <a:ext uri="{FF2B5EF4-FFF2-40B4-BE49-F238E27FC236}">
                <a16:creationId xmlns:a16="http://schemas.microsoft.com/office/drawing/2014/main" id="{4CC8FDCF-73B0-4828-B5A1-D44C2051737C}"/>
              </a:ext>
            </a:extLst>
          </p:cNvPr>
          <p:cNvSpPr txBox="1"/>
          <p:nvPr/>
        </p:nvSpPr>
        <p:spPr>
          <a:xfrm>
            <a:off x="663218" y="590443"/>
            <a:ext cx="10585808" cy="584775"/>
          </a:xfrm>
          <a:prstGeom prst="rect">
            <a:avLst/>
          </a:prstGeom>
          <a:noFill/>
        </p:spPr>
        <p:txBody>
          <a:bodyPr wrap="square" rtlCol="0">
            <a:spAutoFit/>
          </a:bodyPr>
          <a:lstStyle/>
          <a:p>
            <a:pPr algn="ctr"/>
            <a:r>
              <a:rPr lang="es-ES" sz="3200" dirty="0">
                <a:latin typeface="Montserrat SemiBold" pitchFamily="2" charset="0"/>
              </a:rPr>
              <a:t>Startup y modelo de negocios</a:t>
            </a:r>
            <a:endParaRPr lang="es-CL" sz="3200" dirty="0">
              <a:latin typeface="Montserrat SemiBold" pitchFamily="2" charset="0"/>
            </a:endParaRPr>
          </a:p>
        </p:txBody>
      </p:sp>
      <p:sp>
        <p:nvSpPr>
          <p:cNvPr id="6" name="CuadroTexto 5">
            <a:extLst>
              <a:ext uri="{FF2B5EF4-FFF2-40B4-BE49-F238E27FC236}">
                <a16:creationId xmlns:a16="http://schemas.microsoft.com/office/drawing/2014/main" id="{60BD1A1F-698C-42A2-9011-B745176EB5D1}"/>
              </a:ext>
            </a:extLst>
          </p:cNvPr>
          <p:cNvSpPr txBox="1"/>
          <p:nvPr/>
        </p:nvSpPr>
        <p:spPr>
          <a:xfrm>
            <a:off x="663218" y="1604073"/>
            <a:ext cx="5432782" cy="4278094"/>
          </a:xfrm>
          <a:prstGeom prst="rect">
            <a:avLst/>
          </a:prstGeom>
          <a:noFill/>
        </p:spPr>
        <p:txBody>
          <a:bodyPr wrap="square">
            <a:spAutoFit/>
          </a:bodyPr>
          <a:lstStyle/>
          <a:p>
            <a:pPr algn="just"/>
            <a:r>
              <a:rPr lang="es-CL" sz="1600" b="1" dirty="0">
                <a:latin typeface="Montserrat" panose="00000500000000000000" pitchFamily="2" charset="0"/>
              </a:rPr>
              <a:t>Un startup es un modelo de negocios que debe ser validado</a:t>
            </a:r>
            <a:r>
              <a:rPr lang="es-CL" sz="1600" dirty="0">
                <a:latin typeface="Montserrat" panose="00000500000000000000" pitchFamily="2" charset="0"/>
              </a:rPr>
              <a:t>, lo más relevante en esta fase es el aprendizaje.</a:t>
            </a:r>
          </a:p>
          <a:p>
            <a:pPr algn="just"/>
            <a:endParaRPr lang="es-CL" sz="1600" dirty="0">
              <a:latin typeface="Montserrat" panose="00000500000000000000" pitchFamily="2" charset="0"/>
            </a:endParaRPr>
          </a:p>
          <a:p>
            <a:pPr algn="just"/>
            <a:r>
              <a:rPr lang="es-CL" sz="1600" dirty="0">
                <a:latin typeface="Montserrat" panose="00000500000000000000" pitchFamily="2" charset="0"/>
              </a:rPr>
              <a:t>Lean Startup es un método que abarca una serie de prácticas diseñadas para aumentar las posibilidades de éxito de emprendedores al crear un startup. Aunque exploraremos este método en detalle más adelante en este módulo, en resumen, se centra en </a:t>
            </a:r>
            <a:r>
              <a:rPr lang="es-CL" sz="1600" b="1" dirty="0">
                <a:latin typeface="Montserrat" panose="00000500000000000000" pitchFamily="2" charset="0"/>
              </a:rPr>
              <a:t>validar que el modelo de negocios es viable, repetible y escalable.</a:t>
            </a:r>
          </a:p>
          <a:p>
            <a:pPr algn="just"/>
            <a:endParaRPr lang="es-CL" sz="1600" b="1" dirty="0">
              <a:latin typeface="Montserrat" panose="00000500000000000000" pitchFamily="2" charset="0"/>
            </a:endParaRPr>
          </a:p>
          <a:p>
            <a:pPr algn="just"/>
            <a:r>
              <a:rPr lang="es-CL" sz="1600" dirty="0">
                <a:latin typeface="Montserrat" panose="00000500000000000000" pitchFamily="2" charset="0"/>
              </a:rPr>
              <a:t>La pretensión es obtener un modelo de negocios viable, repetible y escalable porque </a:t>
            </a:r>
            <a:r>
              <a:rPr lang="es-CL" sz="1600" b="1" dirty="0">
                <a:latin typeface="Montserrat" panose="00000500000000000000" pitchFamily="2" charset="0"/>
              </a:rPr>
              <a:t>es la arquitectura del negocio que asegura ingreso sustentable y que puede crecer y amplificar su impacto</a:t>
            </a:r>
            <a:r>
              <a:rPr lang="es-CL" sz="1600" dirty="0">
                <a:latin typeface="Montserrat" panose="00000500000000000000" pitchFamily="2" charset="0"/>
              </a:rPr>
              <a:t>.</a:t>
            </a:r>
          </a:p>
        </p:txBody>
      </p:sp>
      <p:sp>
        <p:nvSpPr>
          <p:cNvPr id="11" name="CuadroTexto 10">
            <a:extLst>
              <a:ext uri="{FF2B5EF4-FFF2-40B4-BE49-F238E27FC236}">
                <a16:creationId xmlns:a16="http://schemas.microsoft.com/office/drawing/2014/main" id="{91D13230-07A8-4C31-B538-A1B554E6D4F1}"/>
              </a:ext>
            </a:extLst>
          </p:cNvPr>
          <p:cNvSpPr txBox="1"/>
          <p:nvPr/>
        </p:nvSpPr>
        <p:spPr>
          <a:xfrm>
            <a:off x="663218" y="6136070"/>
            <a:ext cx="10865564"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0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Fuente: Ries, E. (2011)</a:t>
            </a:r>
          </a:p>
        </p:txBody>
      </p:sp>
    </p:spTree>
    <p:extLst>
      <p:ext uri="{BB962C8B-B14F-4D97-AF65-F5344CB8AC3E}">
        <p14:creationId xmlns:p14="http://schemas.microsoft.com/office/powerpoint/2010/main" val="376708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A2E706-AFAB-3EAE-E614-0EB0C8415FA0}"/>
              </a:ext>
            </a:extLst>
          </p:cNvPr>
          <p:cNvSpPr txBox="1"/>
          <p:nvPr/>
        </p:nvSpPr>
        <p:spPr>
          <a:xfrm>
            <a:off x="663218" y="547878"/>
            <a:ext cx="10597258" cy="954107"/>
          </a:xfrm>
          <a:prstGeom prst="rect">
            <a:avLst/>
          </a:prstGeom>
          <a:noFill/>
        </p:spPr>
        <p:txBody>
          <a:bodyPr wrap="square" rtlCol="0">
            <a:spAutoFit/>
          </a:bodyPr>
          <a:lstStyle/>
          <a:p>
            <a:pPr algn="ctr"/>
            <a:r>
              <a:rPr lang="es-ES" sz="2800" dirty="0">
                <a:latin typeface="Montserrat SemiBold" pitchFamily="2" charset="0"/>
              </a:rPr>
              <a:t>¿Qué significa que el modelo de negocios sea viable, repetible y escalable?</a:t>
            </a:r>
            <a:endParaRPr lang="es-CL" sz="2800" dirty="0">
              <a:latin typeface="Montserrat SemiBold" pitchFamily="2" charset="0"/>
            </a:endParaRPr>
          </a:p>
        </p:txBody>
      </p:sp>
      <p:sp>
        <p:nvSpPr>
          <p:cNvPr id="4" name="CuadroTexto 3">
            <a:extLst>
              <a:ext uri="{FF2B5EF4-FFF2-40B4-BE49-F238E27FC236}">
                <a16:creationId xmlns:a16="http://schemas.microsoft.com/office/drawing/2014/main" id="{35015A84-F539-4347-B6AE-60964B3BC79B}"/>
              </a:ext>
            </a:extLst>
          </p:cNvPr>
          <p:cNvSpPr txBox="1"/>
          <p:nvPr/>
        </p:nvSpPr>
        <p:spPr>
          <a:xfrm>
            <a:off x="663218" y="2124149"/>
            <a:ext cx="10597258" cy="3293209"/>
          </a:xfrm>
          <a:prstGeom prst="rect">
            <a:avLst/>
          </a:prstGeom>
          <a:noFill/>
        </p:spPr>
        <p:txBody>
          <a:bodyPr wrap="square">
            <a:spAutoFit/>
          </a:bodyPr>
          <a:lstStyle/>
          <a:p>
            <a:pPr marL="342900" indent="-342900" algn="just">
              <a:buFont typeface="+mj-lt"/>
              <a:buAutoNum type="arabicPeriod"/>
            </a:pPr>
            <a:r>
              <a:rPr lang="es-CL" sz="1600" b="1" dirty="0">
                <a:latin typeface="Montserrat" panose="00000500000000000000" pitchFamily="2" charset="0"/>
              </a:rPr>
              <a:t>Viable: </a:t>
            </a:r>
            <a:r>
              <a:rPr lang="es-CL" sz="1600" dirty="0">
                <a:latin typeface="Montserrat" panose="00000500000000000000" pitchFamily="2" charset="0"/>
              </a:rPr>
              <a:t>El modelo de negocio es factible y sostenible en el mercado actual. Debe ser capaz de generar ingresos suficientes para cubrir los costos y proporcionar una ganancia adecuada. Además, debe abordar una necesidad o problema real en el mercado y ofrecer una propuesta de valor única que resuelva los problemas de los clientes de manera efectiva.</a:t>
            </a:r>
          </a:p>
          <a:p>
            <a:pPr marL="342900" indent="-342900" algn="just">
              <a:buFont typeface="+mj-lt"/>
              <a:buAutoNum type="arabicPeriod"/>
            </a:pPr>
            <a:endParaRPr lang="es-CL" sz="1600" dirty="0">
              <a:latin typeface="Montserrat" panose="00000500000000000000" pitchFamily="2" charset="0"/>
            </a:endParaRPr>
          </a:p>
          <a:p>
            <a:pPr marL="342900" indent="-342900" algn="just">
              <a:buFont typeface="+mj-lt"/>
              <a:buAutoNum type="arabicPeriod"/>
            </a:pPr>
            <a:r>
              <a:rPr lang="es-CL" sz="1600" b="1" dirty="0">
                <a:latin typeface="Montserrat" panose="00000500000000000000" pitchFamily="2" charset="0"/>
              </a:rPr>
              <a:t>Repetible: </a:t>
            </a:r>
            <a:r>
              <a:rPr lang="es-CL" sz="1600" dirty="0">
                <a:latin typeface="Montserrat" panose="00000500000000000000" pitchFamily="2" charset="0"/>
              </a:rPr>
              <a:t>El modelo de negocio se puede implementar y replicar con éxito en diferentes contextos o ubicaciones. Esto significa que el emprendimiento puede escalar su operación de manera consistente y expandirse a nuevos mercados sin perder la eficiencia o la calidad de su oferta.</a:t>
            </a:r>
          </a:p>
          <a:p>
            <a:pPr marL="342900" indent="-342900" algn="just">
              <a:buFont typeface="+mj-lt"/>
              <a:buAutoNum type="arabicPeriod"/>
            </a:pPr>
            <a:endParaRPr lang="es-CL" sz="1600" dirty="0">
              <a:latin typeface="Montserrat" panose="00000500000000000000" pitchFamily="2" charset="0"/>
            </a:endParaRPr>
          </a:p>
          <a:p>
            <a:pPr marL="342900" indent="-342900" algn="just">
              <a:buFont typeface="+mj-lt"/>
              <a:buAutoNum type="arabicPeriod"/>
            </a:pPr>
            <a:r>
              <a:rPr lang="es-CL" sz="1600" b="1" dirty="0">
                <a:latin typeface="Montserrat" panose="00000500000000000000" pitchFamily="2" charset="0"/>
              </a:rPr>
              <a:t>Escalable: </a:t>
            </a:r>
            <a:r>
              <a:rPr lang="es-CL" sz="1600" dirty="0">
                <a:latin typeface="Montserrat" panose="00000500000000000000" pitchFamily="2" charset="0"/>
              </a:rPr>
              <a:t>El modelo de negocio tiene la capacidad para crecer rápidamente y de manera rentable. Un modelo de negocio escalable permite aumentar los ingresos sin un aumento proporcional en los costos, lo que conduce a un mayor margen de beneficio. </a:t>
            </a:r>
            <a:endParaRPr lang="es-CL" sz="1600" b="1" dirty="0">
              <a:latin typeface="Montserrat" panose="00000500000000000000" pitchFamily="2" charset="0"/>
            </a:endParaRPr>
          </a:p>
        </p:txBody>
      </p:sp>
    </p:spTree>
    <p:extLst>
      <p:ext uri="{BB962C8B-B14F-4D97-AF65-F5344CB8AC3E}">
        <p14:creationId xmlns:p14="http://schemas.microsoft.com/office/powerpoint/2010/main" val="4201262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a:extLst>
              <a:ext uri="{FF2B5EF4-FFF2-40B4-BE49-F238E27FC236}">
                <a16:creationId xmlns:a16="http://schemas.microsoft.com/office/drawing/2014/main" id="{8EDF2B2F-A672-4F70-B04A-2CB09595C29C}"/>
              </a:ext>
            </a:extLst>
          </p:cNvPr>
          <p:cNvGrpSpPr/>
          <p:nvPr/>
        </p:nvGrpSpPr>
        <p:grpSpPr>
          <a:xfrm>
            <a:off x="2748685" y="1746530"/>
            <a:ext cx="6329442" cy="2899440"/>
            <a:chOff x="658810" y="865199"/>
            <a:chExt cx="10874380" cy="4981420"/>
          </a:xfrm>
        </p:grpSpPr>
        <p:grpSp>
          <p:nvGrpSpPr>
            <p:cNvPr id="3" name="Grupo 2">
              <a:extLst>
                <a:ext uri="{FF2B5EF4-FFF2-40B4-BE49-F238E27FC236}">
                  <a16:creationId xmlns:a16="http://schemas.microsoft.com/office/drawing/2014/main" id="{7364F2D0-972D-47D6-84A9-5FE2A777D1A4}"/>
                </a:ext>
              </a:extLst>
            </p:cNvPr>
            <p:cNvGrpSpPr/>
            <p:nvPr/>
          </p:nvGrpSpPr>
          <p:grpSpPr>
            <a:xfrm>
              <a:off x="658810" y="865199"/>
              <a:ext cx="10874380" cy="4981420"/>
              <a:chOff x="658810" y="865199"/>
              <a:chExt cx="10874380" cy="4541689"/>
            </a:xfrm>
          </p:grpSpPr>
          <p:sp>
            <p:nvSpPr>
              <p:cNvPr id="13" name="Rectángulo 12">
                <a:extLst>
                  <a:ext uri="{FF2B5EF4-FFF2-40B4-BE49-F238E27FC236}">
                    <a16:creationId xmlns:a16="http://schemas.microsoft.com/office/drawing/2014/main" id="{CD202DF0-110E-461B-AEFD-008D13C82849}"/>
                  </a:ext>
                </a:extLst>
              </p:cNvPr>
              <p:cNvSpPr/>
              <p:nvPr/>
            </p:nvSpPr>
            <p:spPr>
              <a:xfrm>
                <a:off x="9358314" y="865199"/>
                <a:ext cx="2174875" cy="3333158"/>
              </a:xfrm>
              <a:prstGeom prst="rect">
                <a:avLst/>
              </a:prstGeom>
              <a:solidFill>
                <a:srgbClr val="FAFC84"/>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lang="es-CL" sz="1400" b="1" dirty="0">
                    <a:solidFill>
                      <a:schemeClr val="tx1"/>
                    </a:solidFill>
                    <a:latin typeface="Montserrat" panose="00000500000000000000" pitchFamily="2" charset="0"/>
                  </a:rPr>
                  <a:t>      </a:t>
                </a:r>
                <a:r>
                  <a:rPr lang="es-CL" sz="1200" b="1" dirty="0">
                    <a:solidFill>
                      <a:schemeClr val="tx1"/>
                    </a:solidFill>
                    <a:latin typeface="Montserrat" panose="00000500000000000000" pitchFamily="2" charset="0"/>
                  </a:rPr>
                  <a:t>Segmentos de Clientes</a:t>
                </a:r>
              </a:p>
              <a:p>
                <a:endParaRPr lang="es-CL" sz="600" dirty="0">
                  <a:solidFill>
                    <a:schemeClr val="tx2"/>
                  </a:solidFill>
                  <a:latin typeface="Montserrat" panose="00000500000000000000" pitchFamily="2" charset="0"/>
                </a:endParaRPr>
              </a:p>
            </p:txBody>
          </p:sp>
          <p:sp>
            <p:nvSpPr>
              <p:cNvPr id="14" name="Rectángulo 13">
                <a:extLst>
                  <a:ext uri="{FF2B5EF4-FFF2-40B4-BE49-F238E27FC236}">
                    <a16:creationId xmlns:a16="http://schemas.microsoft.com/office/drawing/2014/main" id="{E374391A-CE72-46A3-9DF9-477EF76C81A9}"/>
                  </a:ext>
                </a:extLst>
              </p:cNvPr>
              <p:cNvSpPr/>
              <p:nvPr/>
            </p:nvSpPr>
            <p:spPr>
              <a:xfrm>
                <a:off x="2833687" y="865199"/>
                <a:ext cx="2174875" cy="1666579"/>
              </a:xfrm>
              <a:prstGeom prst="rect">
                <a:avLst/>
              </a:prstGeom>
              <a:solidFill>
                <a:srgbClr val="A3EBFC"/>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lang="es-CL" sz="1400" b="1" dirty="0">
                    <a:solidFill>
                      <a:schemeClr val="tx1"/>
                    </a:solidFill>
                    <a:latin typeface="Montserrat" panose="00000500000000000000" pitchFamily="2" charset="0"/>
                  </a:rPr>
                  <a:t>      </a:t>
                </a:r>
                <a:r>
                  <a:rPr lang="es-CL" sz="1200" b="1" dirty="0">
                    <a:solidFill>
                      <a:schemeClr val="tx1"/>
                    </a:solidFill>
                    <a:latin typeface="Montserrat" panose="00000500000000000000" pitchFamily="2" charset="0"/>
                  </a:rPr>
                  <a:t>Actividades Clave</a:t>
                </a:r>
                <a:endParaRPr lang="es-CL" sz="1400" b="1" dirty="0">
                  <a:solidFill>
                    <a:schemeClr val="tx1"/>
                  </a:solidFill>
                  <a:latin typeface="Montserrat" panose="00000500000000000000" pitchFamily="2" charset="0"/>
                </a:endParaRPr>
              </a:p>
              <a:p>
                <a:endParaRPr lang="es-CL" sz="600" dirty="0">
                  <a:solidFill>
                    <a:schemeClr val="tx2"/>
                  </a:solidFill>
                  <a:latin typeface="Montserrat" panose="00000500000000000000" pitchFamily="2" charset="0"/>
                </a:endParaRPr>
              </a:p>
            </p:txBody>
          </p:sp>
          <p:sp>
            <p:nvSpPr>
              <p:cNvPr id="15" name="Rectángulo 14">
                <a:extLst>
                  <a:ext uri="{FF2B5EF4-FFF2-40B4-BE49-F238E27FC236}">
                    <a16:creationId xmlns:a16="http://schemas.microsoft.com/office/drawing/2014/main" id="{664091DA-39CA-458E-BC71-1F8A55BCE7CA}"/>
                  </a:ext>
                </a:extLst>
              </p:cNvPr>
              <p:cNvSpPr/>
              <p:nvPr/>
            </p:nvSpPr>
            <p:spPr>
              <a:xfrm>
                <a:off x="658810" y="865199"/>
                <a:ext cx="2174875" cy="3333158"/>
              </a:xfrm>
              <a:prstGeom prst="rect">
                <a:avLst/>
              </a:prstGeom>
              <a:solidFill>
                <a:srgbClr val="A3EBFC"/>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r>
                  <a:rPr lang="es-CL" sz="1400" b="1" dirty="0">
                    <a:solidFill>
                      <a:schemeClr val="tx2"/>
                    </a:solidFill>
                    <a:latin typeface="Montserrat" panose="00000500000000000000" pitchFamily="2" charset="0"/>
                  </a:rPr>
                  <a:t>     </a:t>
                </a:r>
              </a:p>
              <a:p>
                <a:pPr algn="ctr"/>
                <a:r>
                  <a:rPr lang="es-CL" sz="1200" b="1" dirty="0">
                    <a:solidFill>
                      <a:schemeClr val="tx1"/>
                    </a:solidFill>
                    <a:latin typeface="Montserrat" panose="00000500000000000000" pitchFamily="2" charset="0"/>
                  </a:rPr>
                  <a:t>Socios Clave</a:t>
                </a:r>
              </a:p>
              <a:p>
                <a:endParaRPr lang="es-CL" sz="600" dirty="0">
                  <a:solidFill>
                    <a:schemeClr val="tx2"/>
                  </a:solidFill>
                  <a:latin typeface="Montserrat" panose="00000500000000000000" pitchFamily="2" charset="0"/>
                </a:endParaRPr>
              </a:p>
            </p:txBody>
          </p:sp>
          <p:sp>
            <p:nvSpPr>
              <p:cNvPr id="16" name="Rectángulo 15">
                <a:extLst>
                  <a:ext uri="{FF2B5EF4-FFF2-40B4-BE49-F238E27FC236}">
                    <a16:creationId xmlns:a16="http://schemas.microsoft.com/office/drawing/2014/main" id="{C75AFD67-4D23-4F3E-BA14-11F784488C8C}"/>
                  </a:ext>
                </a:extLst>
              </p:cNvPr>
              <p:cNvSpPr/>
              <p:nvPr/>
            </p:nvSpPr>
            <p:spPr>
              <a:xfrm>
                <a:off x="2833687" y="2531778"/>
                <a:ext cx="2174875" cy="1666579"/>
              </a:xfrm>
              <a:prstGeom prst="rect">
                <a:avLst/>
              </a:prstGeom>
              <a:solidFill>
                <a:srgbClr val="A3EBFC"/>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lang="es-CL" sz="1400" b="1" dirty="0">
                    <a:solidFill>
                      <a:schemeClr val="tx2"/>
                    </a:solidFill>
                    <a:latin typeface="Montserrat" panose="00000500000000000000" pitchFamily="2" charset="0"/>
                  </a:rPr>
                  <a:t>      </a:t>
                </a:r>
              </a:p>
              <a:p>
                <a:pPr algn="ctr"/>
                <a:r>
                  <a:rPr lang="es-CL" sz="1200" b="1" dirty="0">
                    <a:solidFill>
                      <a:schemeClr val="tx1"/>
                    </a:solidFill>
                    <a:latin typeface="Montserrat" panose="00000500000000000000" pitchFamily="2" charset="0"/>
                  </a:rPr>
                  <a:t>Recursos Clave</a:t>
                </a:r>
                <a:endParaRPr lang="es-CL" sz="1400" b="1" dirty="0">
                  <a:solidFill>
                    <a:schemeClr val="tx1"/>
                  </a:solidFill>
                  <a:latin typeface="Montserrat" panose="00000500000000000000" pitchFamily="2" charset="0"/>
                </a:endParaRPr>
              </a:p>
              <a:p>
                <a:endParaRPr lang="es-CL" sz="600" dirty="0">
                  <a:solidFill>
                    <a:schemeClr val="tx2"/>
                  </a:solidFill>
                  <a:latin typeface="Montserrat" panose="00000500000000000000" pitchFamily="2" charset="0"/>
                </a:endParaRPr>
              </a:p>
            </p:txBody>
          </p:sp>
          <p:sp>
            <p:nvSpPr>
              <p:cNvPr id="17" name="Rectángulo 16">
                <a:extLst>
                  <a:ext uri="{FF2B5EF4-FFF2-40B4-BE49-F238E27FC236}">
                    <a16:creationId xmlns:a16="http://schemas.microsoft.com/office/drawing/2014/main" id="{9A99BF85-F247-4DE8-AFDC-153299AD9583}"/>
                  </a:ext>
                </a:extLst>
              </p:cNvPr>
              <p:cNvSpPr/>
              <p:nvPr/>
            </p:nvSpPr>
            <p:spPr>
              <a:xfrm>
                <a:off x="5008562" y="865199"/>
                <a:ext cx="2174875" cy="3333158"/>
              </a:xfrm>
              <a:prstGeom prst="rect">
                <a:avLst/>
              </a:prstGeom>
              <a:solidFill>
                <a:schemeClr val="bg1"/>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r>
                  <a:rPr lang="es-CL" sz="1400" b="1" dirty="0">
                    <a:solidFill>
                      <a:schemeClr val="tx2"/>
                    </a:solidFill>
                    <a:latin typeface="Montserrat" panose="00000500000000000000" pitchFamily="2" charset="0"/>
                  </a:rPr>
                  <a:t>      </a:t>
                </a:r>
              </a:p>
              <a:p>
                <a:pPr algn="ctr"/>
                <a:r>
                  <a:rPr lang="es-CL" sz="1200" b="1" dirty="0">
                    <a:solidFill>
                      <a:schemeClr val="tx1"/>
                    </a:solidFill>
                    <a:latin typeface="Montserrat" panose="00000500000000000000" pitchFamily="2" charset="0"/>
                  </a:rPr>
                  <a:t>Propuesta de Valor</a:t>
                </a:r>
              </a:p>
              <a:p>
                <a:endParaRPr lang="es-CL" sz="600" dirty="0">
                  <a:solidFill>
                    <a:schemeClr val="tx2"/>
                  </a:solidFill>
                  <a:latin typeface="Montserrat" panose="00000500000000000000" pitchFamily="2" charset="0"/>
                </a:endParaRPr>
              </a:p>
            </p:txBody>
          </p:sp>
          <p:sp>
            <p:nvSpPr>
              <p:cNvPr id="18" name="Rectángulo 17">
                <a:extLst>
                  <a:ext uri="{FF2B5EF4-FFF2-40B4-BE49-F238E27FC236}">
                    <a16:creationId xmlns:a16="http://schemas.microsoft.com/office/drawing/2014/main" id="{DE6635D3-4CE8-424B-B076-E84FC30D475B}"/>
                  </a:ext>
                </a:extLst>
              </p:cNvPr>
              <p:cNvSpPr/>
              <p:nvPr/>
            </p:nvSpPr>
            <p:spPr>
              <a:xfrm>
                <a:off x="7183436" y="865199"/>
                <a:ext cx="2174875" cy="1666579"/>
              </a:xfrm>
              <a:prstGeom prst="rect">
                <a:avLst/>
              </a:prstGeom>
              <a:solidFill>
                <a:srgbClr val="FAFC84"/>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r>
                  <a:rPr lang="es-CL" sz="1400" b="1" dirty="0">
                    <a:solidFill>
                      <a:schemeClr val="tx2"/>
                    </a:solidFill>
                    <a:latin typeface="Montserrat" panose="00000500000000000000" pitchFamily="2" charset="0"/>
                  </a:rPr>
                  <a:t>     </a:t>
                </a:r>
              </a:p>
              <a:p>
                <a:pPr algn="ctr"/>
                <a:r>
                  <a:rPr lang="es-CL" sz="1200" b="1" dirty="0">
                    <a:solidFill>
                      <a:schemeClr val="tx1"/>
                    </a:solidFill>
                    <a:latin typeface="Montserrat" panose="00000500000000000000" pitchFamily="2" charset="0"/>
                  </a:rPr>
                  <a:t>Relación con Clientes</a:t>
                </a:r>
                <a:endParaRPr lang="es-CL" sz="1400" b="1" dirty="0">
                  <a:solidFill>
                    <a:schemeClr val="tx1"/>
                  </a:solidFill>
                  <a:latin typeface="Montserrat" panose="00000500000000000000" pitchFamily="2" charset="0"/>
                </a:endParaRPr>
              </a:p>
              <a:p>
                <a:endParaRPr lang="es-CL" sz="600" dirty="0">
                  <a:solidFill>
                    <a:schemeClr val="tx2"/>
                  </a:solidFill>
                  <a:latin typeface="Montserrat" panose="00000500000000000000" pitchFamily="2" charset="0"/>
                </a:endParaRPr>
              </a:p>
            </p:txBody>
          </p:sp>
          <p:sp>
            <p:nvSpPr>
              <p:cNvPr id="19" name="Rectángulo 18">
                <a:extLst>
                  <a:ext uri="{FF2B5EF4-FFF2-40B4-BE49-F238E27FC236}">
                    <a16:creationId xmlns:a16="http://schemas.microsoft.com/office/drawing/2014/main" id="{8191E0CC-EF1B-4F83-984E-21C6CD2416FD}"/>
                  </a:ext>
                </a:extLst>
              </p:cNvPr>
              <p:cNvSpPr/>
              <p:nvPr/>
            </p:nvSpPr>
            <p:spPr>
              <a:xfrm>
                <a:off x="7183436" y="2531778"/>
                <a:ext cx="2174875" cy="1666579"/>
              </a:xfrm>
              <a:prstGeom prst="rect">
                <a:avLst/>
              </a:prstGeom>
              <a:solidFill>
                <a:srgbClr val="FAFC84"/>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r>
                  <a:rPr lang="es-CL" sz="1400" b="1" dirty="0">
                    <a:solidFill>
                      <a:schemeClr val="tx2"/>
                    </a:solidFill>
                    <a:latin typeface="Montserrat" panose="00000500000000000000" pitchFamily="2" charset="0"/>
                  </a:rPr>
                  <a:t>      </a:t>
                </a:r>
              </a:p>
              <a:p>
                <a:pPr algn="ctr"/>
                <a:r>
                  <a:rPr lang="es-CL" sz="1200" b="1" dirty="0">
                    <a:solidFill>
                      <a:schemeClr val="tx1"/>
                    </a:solidFill>
                    <a:latin typeface="Montserrat" panose="00000500000000000000" pitchFamily="2" charset="0"/>
                  </a:rPr>
                  <a:t>Canales</a:t>
                </a:r>
                <a:endParaRPr lang="es-CL" sz="1400" b="1" dirty="0">
                  <a:solidFill>
                    <a:schemeClr val="tx1"/>
                  </a:solidFill>
                  <a:latin typeface="Montserrat" panose="00000500000000000000" pitchFamily="2" charset="0"/>
                </a:endParaRPr>
              </a:p>
              <a:p>
                <a:endParaRPr lang="es-CL" sz="600" dirty="0">
                  <a:solidFill>
                    <a:schemeClr val="tx2"/>
                  </a:solidFill>
                  <a:latin typeface="Montserrat" panose="00000500000000000000" pitchFamily="2" charset="0"/>
                </a:endParaRPr>
              </a:p>
            </p:txBody>
          </p:sp>
          <p:sp>
            <p:nvSpPr>
              <p:cNvPr id="20" name="Rectángulo 19">
                <a:extLst>
                  <a:ext uri="{FF2B5EF4-FFF2-40B4-BE49-F238E27FC236}">
                    <a16:creationId xmlns:a16="http://schemas.microsoft.com/office/drawing/2014/main" id="{ADEFBFE8-32BE-45D5-BE60-622CCD31515C}"/>
                  </a:ext>
                </a:extLst>
              </p:cNvPr>
              <p:cNvSpPr/>
              <p:nvPr/>
            </p:nvSpPr>
            <p:spPr>
              <a:xfrm>
                <a:off x="658810" y="4198358"/>
                <a:ext cx="5437190" cy="1208530"/>
              </a:xfrm>
              <a:prstGeom prst="rect">
                <a:avLst/>
              </a:prstGeom>
              <a:solidFill>
                <a:srgbClr val="FEC2E4"/>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r>
                  <a:rPr lang="es-CL" sz="1400" b="1" dirty="0">
                    <a:solidFill>
                      <a:schemeClr val="tx1"/>
                    </a:solidFill>
                    <a:latin typeface="Montserrat" panose="00000500000000000000" pitchFamily="2" charset="0"/>
                  </a:rPr>
                  <a:t>      </a:t>
                </a:r>
                <a:r>
                  <a:rPr lang="es-CL" sz="1200" b="1" dirty="0">
                    <a:solidFill>
                      <a:schemeClr val="tx1"/>
                    </a:solidFill>
                    <a:latin typeface="Montserrat" panose="00000500000000000000" pitchFamily="2" charset="0"/>
                  </a:rPr>
                  <a:t>Estructura de Costos</a:t>
                </a:r>
                <a:endParaRPr lang="es-CL" sz="1400" b="1" dirty="0">
                  <a:solidFill>
                    <a:schemeClr val="tx1"/>
                  </a:solidFill>
                  <a:latin typeface="Montserrat" panose="00000500000000000000" pitchFamily="2" charset="0"/>
                </a:endParaRPr>
              </a:p>
              <a:p>
                <a:endParaRPr lang="es-CL" sz="600" dirty="0">
                  <a:solidFill>
                    <a:schemeClr val="tx2"/>
                  </a:solidFill>
                  <a:latin typeface="Montserrat" panose="00000500000000000000" pitchFamily="2" charset="0"/>
                </a:endParaRPr>
              </a:p>
            </p:txBody>
          </p:sp>
          <p:sp>
            <p:nvSpPr>
              <p:cNvPr id="21" name="Rectángulo 20">
                <a:extLst>
                  <a:ext uri="{FF2B5EF4-FFF2-40B4-BE49-F238E27FC236}">
                    <a16:creationId xmlns:a16="http://schemas.microsoft.com/office/drawing/2014/main" id="{2346737A-03C4-40F8-9573-D9F055D4765B}"/>
                  </a:ext>
                </a:extLst>
              </p:cNvPr>
              <p:cNvSpPr/>
              <p:nvPr/>
            </p:nvSpPr>
            <p:spPr>
              <a:xfrm>
                <a:off x="6096000" y="4198358"/>
                <a:ext cx="5437190" cy="1208530"/>
              </a:xfrm>
              <a:prstGeom prst="rect">
                <a:avLst/>
              </a:prstGeom>
              <a:solidFill>
                <a:srgbClr val="FEC2E4"/>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r>
                  <a:rPr lang="es-CL" sz="1400" b="1" dirty="0">
                    <a:solidFill>
                      <a:schemeClr val="tx1"/>
                    </a:solidFill>
                    <a:latin typeface="Montserrat" panose="00000500000000000000" pitchFamily="2" charset="0"/>
                  </a:rPr>
                  <a:t>      </a:t>
                </a:r>
                <a:r>
                  <a:rPr lang="es-CL" sz="1200" b="1" dirty="0">
                    <a:solidFill>
                      <a:schemeClr val="tx1"/>
                    </a:solidFill>
                    <a:latin typeface="Montserrat" panose="00000500000000000000" pitchFamily="2" charset="0"/>
                  </a:rPr>
                  <a:t>Fuente de Ingresos</a:t>
                </a:r>
                <a:endParaRPr lang="es-CL" sz="1400" b="1" dirty="0">
                  <a:solidFill>
                    <a:schemeClr val="tx1"/>
                  </a:solidFill>
                  <a:latin typeface="Montserrat" panose="00000500000000000000" pitchFamily="2" charset="0"/>
                </a:endParaRPr>
              </a:p>
            </p:txBody>
          </p:sp>
        </p:grpSp>
        <p:sp>
          <p:nvSpPr>
            <p:cNvPr id="4" name="Rectángulo 3">
              <a:extLst>
                <a:ext uri="{FF2B5EF4-FFF2-40B4-BE49-F238E27FC236}">
                  <a16:creationId xmlns:a16="http://schemas.microsoft.com/office/drawing/2014/main" id="{AF68AE28-8CB5-4624-8E30-41271A55E99D}"/>
                </a:ext>
              </a:extLst>
            </p:cNvPr>
            <p:cNvSpPr/>
            <p:nvPr/>
          </p:nvSpPr>
          <p:spPr>
            <a:xfrm>
              <a:off x="2833687" y="865199"/>
              <a:ext cx="287119" cy="30144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b="1">
                  <a:solidFill>
                    <a:schemeClr val="bg1"/>
                  </a:solidFill>
                  <a:latin typeface="Montserrat" panose="00000500000000000000" pitchFamily="2" charset="0"/>
                </a:rPr>
                <a:t>7</a:t>
              </a:r>
              <a:endParaRPr lang="es-CL" sz="1200">
                <a:solidFill>
                  <a:schemeClr val="bg1"/>
                </a:solidFill>
                <a:latin typeface="Montserrat" panose="00000500000000000000" pitchFamily="2" charset="0"/>
              </a:endParaRPr>
            </a:p>
          </p:txBody>
        </p:sp>
        <p:sp>
          <p:nvSpPr>
            <p:cNvPr id="5" name="Rectángulo 4">
              <a:extLst>
                <a:ext uri="{FF2B5EF4-FFF2-40B4-BE49-F238E27FC236}">
                  <a16:creationId xmlns:a16="http://schemas.microsoft.com/office/drawing/2014/main" id="{920A21F0-E489-4602-A3EB-67D0369B9AD5}"/>
                </a:ext>
              </a:extLst>
            </p:cNvPr>
            <p:cNvSpPr/>
            <p:nvPr/>
          </p:nvSpPr>
          <p:spPr>
            <a:xfrm>
              <a:off x="9358314" y="865199"/>
              <a:ext cx="287119" cy="30144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tIns="0" rtlCol="0" anchor="ctr"/>
            <a:lstStyle/>
            <a:p>
              <a:pPr algn="ctr"/>
              <a:r>
                <a:rPr lang="es-CL" sz="1200" b="1">
                  <a:solidFill>
                    <a:schemeClr val="bg1"/>
                  </a:solidFill>
                  <a:latin typeface="Montserrat" panose="00000500000000000000" pitchFamily="2" charset="0"/>
                </a:rPr>
                <a:t>1</a:t>
              </a:r>
              <a:endParaRPr lang="es-CL" sz="1200">
                <a:solidFill>
                  <a:schemeClr val="bg1"/>
                </a:solidFill>
                <a:latin typeface="Montserrat" panose="00000500000000000000" pitchFamily="2" charset="0"/>
              </a:endParaRPr>
            </a:p>
          </p:txBody>
        </p:sp>
        <p:sp>
          <p:nvSpPr>
            <p:cNvPr id="6" name="Rectángulo 5">
              <a:extLst>
                <a:ext uri="{FF2B5EF4-FFF2-40B4-BE49-F238E27FC236}">
                  <a16:creationId xmlns:a16="http://schemas.microsoft.com/office/drawing/2014/main" id="{5A5C4A21-4B46-438C-AD7F-E37C1CA17CAE}"/>
                </a:ext>
              </a:extLst>
            </p:cNvPr>
            <p:cNvSpPr/>
            <p:nvPr/>
          </p:nvSpPr>
          <p:spPr>
            <a:xfrm>
              <a:off x="658810" y="865199"/>
              <a:ext cx="287119" cy="30144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tIns="0" rtlCol="0" anchor="ctr"/>
            <a:lstStyle/>
            <a:p>
              <a:pPr algn="ctr"/>
              <a:r>
                <a:rPr lang="es-CL" sz="1200" b="1">
                  <a:solidFill>
                    <a:schemeClr val="bg1"/>
                  </a:solidFill>
                  <a:latin typeface="Montserrat" panose="00000500000000000000" pitchFamily="2" charset="0"/>
                </a:rPr>
                <a:t>8</a:t>
              </a:r>
              <a:endParaRPr lang="es-CL" sz="1200">
                <a:solidFill>
                  <a:schemeClr val="bg1"/>
                </a:solidFill>
                <a:latin typeface="Montserrat" panose="00000500000000000000" pitchFamily="2" charset="0"/>
              </a:endParaRPr>
            </a:p>
          </p:txBody>
        </p:sp>
        <p:sp>
          <p:nvSpPr>
            <p:cNvPr id="7" name="Rectángulo 6">
              <a:extLst>
                <a:ext uri="{FF2B5EF4-FFF2-40B4-BE49-F238E27FC236}">
                  <a16:creationId xmlns:a16="http://schemas.microsoft.com/office/drawing/2014/main" id="{8058F5D4-B988-4A70-BB55-360A55C70A7E}"/>
                </a:ext>
              </a:extLst>
            </p:cNvPr>
            <p:cNvSpPr/>
            <p:nvPr/>
          </p:nvSpPr>
          <p:spPr>
            <a:xfrm>
              <a:off x="2833687" y="2695764"/>
              <a:ext cx="287119" cy="30144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b="1">
                  <a:solidFill>
                    <a:schemeClr val="bg1"/>
                  </a:solidFill>
                  <a:latin typeface="Montserrat" panose="00000500000000000000" pitchFamily="2" charset="0"/>
                </a:rPr>
                <a:t>6</a:t>
              </a:r>
              <a:endParaRPr lang="es-CL" sz="1200">
                <a:solidFill>
                  <a:schemeClr val="bg1"/>
                </a:solidFill>
                <a:latin typeface="Montserrat" panose="00000500000000000000" pitchFamily="2" charset="0"/>
              </a:endParaRPr>
            </a:p>
          </p:txBody>
        </p:sp>
        <p:sp>
          <p:nvSpPr>
            <p:cNvPr id="8" name="Rectángulo 7">
              <a:extLst>
                <a:ext uri="{FF2B5EF4-FFF2-40B4-BE49-F238E27FC236}">
                  <a16:creationId xmlns:a16="http://schemas.microsoft.com/office/drawing/2014/main" id="{67E5E10D-1C66-417F-A895-309BE15DEF6D}"/>
                </a:ext>
              </a:extLst>
            </p:cNvPr>
            <p:cNvSpPr/>
            <p:nvPr/>
          </p:nvSpPr>
          <p:spPr>
            <a:xfrm>
              <a:off x="5008562" y="865199"/>
              <a:ext cx="287119" cy="30144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tIns="0" rtlCol="0" anchor="ctr"/>
            <a:lstStyle/>
            <a:p>
              <a:pPr algn="ctr"/>
              <a:r>
                <a:rPr lang="es-CL" sz="1200" b="1">
                  <a:solidFill>
                    <a:schemeClr val="bg1"/>
                  </a:solidFill>
                  <a:latin typeface="Montserrat" panose="00000500000000000000" pitchFamily="2" charset="0"/>
                </a:rPr>
                <a:t>2</a:t>
              </a:r>
              <a:endParaRPr lang="es-CL" sz="1200">
                <a:solidFill>
                  <a:schemeClr val="bg1"/>
                </a:solidFill>
                <a:latin typeface="Montserrat" panose="00000500000000000000" pitchFamily="2" charset="0"/>
              </a:endParaRPr>
            </a:p>
          </p:txBody>
        </p:sp>
        <p:sp>
          <p:nvSpPr>
            <p:cNvPr id="9" name="Rectángulo 8">
              <a:extLst>
                <a:ext uri="{FF2B5EF4-FFF2-40B4-BE49-F238E27FC236}">
                  <a16:creationId xmlns:a16="http://schemas.microsoft.com/office/drawing/2014/main" id="{80EAB347-1359-4A8A-B4AB-4ED71E871222}"/>
                </a:ext>
              </a:extLst>
            </p:cNvPr>
            <p:cNvSpPr/>
            <p:nvPr/>
          </p:nvSpPr>
          <p:spPr>
            <a:xfrm>
              <a:off x="7183436" y="865199"/>
              <a:ext cx="287119" cy="30144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b="1">
                  <a:solidFill>
                    <a:schemeClr val="bg1"/>
                  </a:solidFill>
                  <a:latin typeface="Montserrat" panose="00000500000000000000" pitchFamily="2" charset="0"/>
                </a:rPr>
                <a:t>4</a:t>
              </a:r>
              <a:endParaRPr lang="es-CL" sz="1200">
                <a:solidFill>
                  <a:schemeClr val="bg1"/>
                </a:solidFill>
                <a:latin typeface="Montserrat" panose="00000500000000000000" pitchFamily="2" charset="0"/>
              </a:endParaRPr>
            </a:p>
          </p:txBody>
        </p:sp>
        <p:sp>
          <p:nvSpPr>
            <p:cNvPr id="10" name="Rectángulo 9">
              <a:extLst>
                <a:ext uri="{FF2B5EF4-FFF2-40B4-BE49-F238E27FC236}">
                  <a16:creationId xmlns:a16="http://schemas.microsoft.com/office/drawing/2014/main" id="{706C54DE-4276-4011-B76F-D28AEE4EDBC9}"/>
                </a:ext>
              </a:extLst>
            </p:cNvPr>
            <p:cNvSpPr/>
            <p:nvPr/>
          </p:nvSpPr>
          <p:spPr>
            <a:xfrm>
              <a:off x="7183436" y="2695764"/>
              <a:ext cx="287119" cy="30144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b="1">
                  <a:solidFill>
                    <a:schemeClr val="bg1"/>
                  </a:solidFill>
                  <a:latin typeface="Montserrat" panose="00000500000000000000" pitchFamily="2" charset="0"/>
                </a:rPr>
                <a:t>3</a:t>
              </a:r>
              <a:endParaRPr lang="es-CL" sz="1200">
                <a:solidFill>
                  <a:schemeClr val="bg1"/>
                </a:solidFill>
                <a:latin typeface="Montserrat" panose="00000500000000000000" pitchFamily="2" charset="0"/>
              </a:endParaRPr>
            </a:p>
          </p:txBody>
        </p:sp>
        <p:sp>
          <p:nvSpPr>
            <p:cNvPr id="11" name="Rectángulo 10">
              <a:extLst>
                <a:ext uri="{FF2B5EF4-FFF2-40B4-BE49-F238E27FC236}">
                  <a16:creationId xmlns:a16="http://schemas.microsoft.com/office/drawing/2014/main" id="{6E4D4D89-D848-47FF-B0C1-6CB65055C8FB}"/>
                </a:ext>
              </a:extLst>
            </p:cNvPr>
            <p:cNvSpPr/>
            <p:nvPr/>
          </p:nvSpPr>
          <p:spPr>
            <a:xfrm>
              <a:off x="658810" y="4506472"/>
              <a:ext cx="287119" cy="3014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b="1">
                  <a:solidFill>
                    <a:schemeClr val="bg1"/>
                  </a:solidFill>
                  <a:latin typeface="Montserrat" panose="00000500000000000000" pitchFamily="2" charset="0"/>
                </a:rPr>
                <a:t>9</a:t>
              </a:r>
              <a:endParaRPr lang="es-CL" sz="1200">
                <a:solidFill>
                  <a:schemeClr val="bg1"/>
                </a:solidFill>
                <a:latin typeface="Montserrat" panose="00000500000000000000" pitchFamily="2" charset="0"/>
              </a:endParaRPr>
            </a:p>
          </p:txBody>
        </p:sp>
        <p:sp>
          <p:nvSpPr>
            <p:cNvPr id="12" name="Rectángulo 11">
              <a:extLst>
                <a:ext uri="{FF2B5EF4-FFF2-40B4-BE49-F238E27FC236}">
                  <a16:creationId xmlns:a16="http://schemas.microsoft.com/office/drawing/2014/main" id="{42C9C7BA-A55E-4DB6-8CFD-081356862143}"/>
                </a:ext>
              </a:extLst>
            </p:cNvPr>
            <p:cNvSpPr/>
            <p:nvPr/>
          </p:nvSpPr>
          <p:spPr>
            <a:xfrm>
              <a:off x="6096000" y="4506472"/>
              <a:ext cx="287119" cy="30144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b="1">
                  <a:solidFill>
                    <a:schemeClr val="bg1"/>
                  </a:solidFill>
                  <a:latin typeface="Montserrat" panose="00000500000000000000" pitchFamily="2" charset="0"/>
                </a:rPr>
                <a:t>5</a:t>
              </a:r>
              <a:endParaRPr lang="es-CL" sz="1200">
                <a:solidFill>
                  <a:schemeClr val="bg1"/>
                </a:solidFill>
                <a:latin typeface="Montserrat" panose="00000500000000000000" pitchFamily="2" charset="0"/>
              </a:endParaRPr>
            </a:p>
          </p:txBody>
        </p:sp>
      </p:grpSp>
      <p:sp>
        <p:nvSpPr>
          <p:cNvPr id="22" name="Rectángulo 21">
            <a:extLst>
              <a:ext uri="{FF2B5EF4-FFF2-40B4-BE49-F238E27FC236}">
                <a16:creationId xmlns:a16="http://schemas.microsoft.com/office/drawing/2014/main" id="{50820B94-3D81-4F73-B0D0-9CC06FAEDCE2}"/>
              </a:ext>
            </a:extLst>
          </p:cNvPr>
          <p:cNvSpPr/>
          <p:nvPr/>
        </p:nvSpPr>
        <p:spPr>
          <a:xfrm>
            <a:off x="9230179" y="1745790"/>
            <a:ext cx="2543875" cy="3366419"/>
          </a:xfrm>
          <a:prstGeom prst="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spcAft>
                <a:spcPts val="600"/>
              </a:spcAft>
              <a:buClr>
                <a:schemeClr val="accent1"/>
              </a:buClr>
            </a:pPr>
            <a:r>
              <a:rPr lang="es-CL" sz="1400" b="1">
                <a:solidFill>
                  <a:schemeClr val="tx1"/>
                </a:solidFill>
                <a:latin typeface="Montserrat" panose="00000500000000000000" pitchFamily="2" charset="0"/>
              </a:rPr>
              <a:t>Distribución de valor:</a:t>
            </a:r>
            <a:endParaRPr lang="es-CL" sz="1400">
              <a:solidFill>
                <a:schemeClr val="tx1"/>
              </a:solidFill>
              <a:latin typeface="Montserrat" panose="00000500000000000000" pitchFamily="2" charset="0"/>
            </a:endParaRPr>
          </a:p>
          <a:p>
            <a:pPr algn="r">
              <a:buClr>
                <a:schemeClr val="accent1"/>
              </a:buClr>
            </a:pPr>
            <a:r>
              <a:rPr lang="es-CL" sz="1400">
                <a:solidFill>
                  <a:schemeClr val="tx1"/>
                </a:solidFill>
                <a:latin typeface="Montserrat" panose="00000500000000000000" pitchFamily="2" charset="0"/>
              </a:rPr>
              <a:t>Para diferentes clientes y/o usuarios se distribuyen diferentes propuestas de valor o productos y/o servicios puntuales. Estos productos y servicios se entregan a través de diferentes medios o canales de distribución, cada uno de los cuales es implementado con diferentes dinámicas de relación organización-cliente.</a:t>
            </a:r>
          </a:p>
        </p:txBody>
      </p:sp>
      <p:sp>
        <p:nvSpPr>
          <p:cNvPr id="23" name="Rectángulo 22">
            <a:extLst>
              <a:ext uri="{FF2B5EF4-FFF2-40B4-BE49-F238E27FC236}">
                <a16:creationId xmlns:a16="http://schemas.microsoft.com/office/drawing/2014/main" id="{89268969-725B-4C3F-A365-6C6D07BC0CFD}"/>
              </a:ext>
            </a:extLst>
          </p:cNvPr>
          <p:cNvSpPr/>
          <p:nvPr/>
        </p:nvSpPr>
        <p:spPr>
          <a:xfrm>
            <a:off x="476219" y="1745790"/>
            <a:ext cx="2122208" cy="3366418"/>
          </a:xfrm>
          <a:prstGeom prst="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600"/>
              </a:spcAft>
              <a:buClr>
                <a:schemeClr val="accent1"/>
              </a:buClr>
            </a:pPr>
            <a:r>
              <a:rPr lang="es-CL" sz="1400" b="1" dirty="0">
                <a:solidFill>
                  <a:schemeClr val="tx1"/>
                </a:solidFill>
                <a:latin typeface="Montserrat" panose="00000500000000000000" pitchFamily="2" charset="0"/>
              </a:rPr>
              <a:t>Creación de valor:</a:t>
            </a:r>
            <a:endParaRPr lang="es-CL" sz="1400" dirty="0">
              <a:solidFill>
                <a:schemeClr val="tx1"/>
              </a:solidFill>
              <a:latin typeface="Montserrat" panose="00000500000000000000" pitchFamily="2" charset="0"/>
            </a:endParaRPr>
          </a:p>
          <a:p>
            <a:pPr>
              <a:buClr>
                <a:schemeClr val="accent1"/>
              </a:buClr>
            </a:pPr>
            <a:r>
              <a:rPr lang="es-CL" sz="1400" dirty="0">
                <a:solidFill>
                  <a:schemeClr val="tx1"/>
                </a:solidFill>
                <a:latin typeface="Montserrat" panose="00000500000000000000" pitchFamily="2" charset="0"/>
              </a:rPr>
              <a:t>Para cada propuesta de valor, hay diferentes recursos y actividades claves que permiten lograrlas, siendo complementados con aliados que permiten resolver carencias o bien maximizar los resultados de la organización.</a:t>
            </a:r>
          </a:p>
        </p:txBody>
      </p:sp>
      <p:sp>
        <p:nvSpPr>
          <p:cNvPr id="24" name="Oval 7">
            <a:extLst>
              <a:ext uri="{FF2B5EF4-FFF2-40B4-BE49-F238E27FC236}">
                <a16:creationId xmlns:a16="http://schemas.microsoft.com/office/drawing/2014/main" id="{D7AF8622-848A-473F-B05F-9711596A066D}"/>
              </a:ext>
            </a:extLst>
          </p:cNvPr>
          <p:cNvSpPr/>
          <p:nvPr/>
        </p:nvSpPr>
        <p:spPr>
          <a:xfrm>
            <a:off x="2505538" y="2662443"/>
            <a:ext cx="668268" cy="64700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b="1">
                <a:latin typeface="Montserrat" panose="00000500000000000000" pitchFamily="2" charset="0"/>
              </a:rPr>
              <a:t>B</a:t>
            </a:r>
          </a:p>
        </p:txBody>
      </p:sp>
      <p:sp>
        <p:nvSpPr>
          <p:cNvPr id="25" name="Rectángulo 24">
            <a:extLst>
              <a:ext uri="{FF2B5EF4-FFF2-40B4-BE49-F238E27FC236}">
                <a16:creationId xmlns:a16="http://schemas.microsoft.com/office/drawing/2014/main" id="{1141E224-787B-40D3-A8BE-F6DE533A17C9}"/>
              </a:ext>
            </a:extLst>
          </p:cNvPr>
          <p:cNvSpPr/>
          <p:nvPr/>
        </p:nvSpPr>
        <p:spPr>
          <a:xfrm>
            <a:off x="3533732" y="4774414"/>
            <a:ext cx="4759348" cy="1433754"/>
          </a:xfrm>
          <a:prstGeom prst="rect">
            <a:avLst/>
          </a:prstGeom>
          <a:no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buClr>
                <a:schemeClr val="accent1"/>
              </a:buClr>
            </a:pPr>
            <a:r>
              <a:rPr lang="es-CL" sz="1400" b="1">
                <a:solidFill>
                  <a:schemeClr val="tx1"/>
                </a:solidFill>
                <a:latin typeface="Montserrat" panose="00000500000000000000" pitchFamily="2" charset="0"/>
              </a:rPr>
              <a:t>Captura de valor:</a:t>
            </a:r>
            <a:endParaRPr lang="es-CL" sz="1400">
              <a:solidFill>
                <a:schemeClr val="tx1"/>
              </a:solidFill>
              <a:latin typeface="Montserrat" panose="00000500000000000000" pitchFamily="2" charset="0"/>
            </a:endParaRPr>
          </a:p>
          <a:p>
            <a:pPr algn="ctr">
              <a:buClr>
                <a:schemeClr val="accent1"/>
              </a:buClr>
            </a:pPr>
            <a:r>
              <a:rPr lang="es-CL" sz="1400">
                <a:solidFill>
                  <a:schemeClr val="tx1"/>
                </a:solidFill>
                <a:latin typeface="Montserrat" panose="00000500000000000000" pitchFamily="2" charset="0"/>
              </a:rPr>
              <a:t>Todas las actividades de la organización se traducen en beneficios y costos, que en conjunto logran un equilibrio que manifiesta el resultado que captura la organización.</a:t>
            </a:r>
          </a:p>
        </p:txBody>
      </p:sp>
      <p:sp>
        <p:nvSpPr>
          <p:cNvPr id="26" name="Oval 7">
            <a:extLst>
              <a:ext uri="{FF2B5EF4-FFF2-40B4-BE49-F238E27FC236}">
                <a16:creationId xmlns:a16="http://schemas.microsoft.com/office/drawing/2014/main" id="{6A111950-F33E-47C4-BF4A-E7D0A16CFF29}"/>
              </a:ext>
            </a:extLst>
          </p:cNvPr>
          <p:cNvSpPr/>
          <p:nvPr/>
        </p:nvSpPr>
        <p:spPr>
          <a:xfrm>
            <a:off x="5580979" y="4201992"/>
            <a:ext cx="668268" cy="64700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b="1">
                <a:latin typeface="Montserrat" panose="00000500000000000000" pitchFamily="2" charset="0"/>
              </a:rPr>
              <a:t>C</a:t>
            </a:r>
          </a:p>
        </p:txBody>
      </p:sp>
      <p:sp>
        <p:nvSpPr>
          <p:cNvPr id="27" name="Oval 7">
            <a:extLst>
              <a:ext uri="{FF2B5EF4-FFF2-40B4-BE49-F238E27FC236}">
                <a16:creationId xmlns:a16="http://schemas.microsoft.com/office/drawing/2014/main" id="{2FC5FD8A-3F67-4051-9BFE-5FAE8EBF3289}"/>
              </a:ext>
            </a:extLst>
          </p:cNvPr>
          <p:cNvSpPr/>
          <p:nvPr/>
        </p:nvSpPr>
        <p:spPr>
          <a:xfrm>
            <a:off x="8653006" y="2695457"/>
            <a:ext cx="668268" cy="64700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b="1">
                <a:latin typeface="Montserrat" panose="00000500000000000000" pitchFamily="2" charset="0"/>
              </a:rPr>
              <a:t>A</a:t>
            </a:r>
          </a:p>
        </p:txBody>
      </p:sp>
      <p:sp>
        <p:nvSpPr>
          <p:cNvPr id="28" name="TextBox 1">
            <a:extLst>
              <a:ext uri="{FF2B5EF4-FFF2-40B4-BE49-F238E27FC236}">
                <a16:creationId xmlns:a16="http://schemas.microsoft.com/office/drawing/2014/main" id="{2BA76067-4131-4625-961D-3621A5558076}"/>
              </a:ext>
            </a:extLst>
          </p:cNvPr>
          <p:cNvSpPr txBox="1"/>
          <p:nvPr/>
        </p:nvSpPr>
        <p:spPr>
          <a:xfrm>
            <a:off x="663219" y="721930"/>
            <a:ext cx="10865564" cy="523220"/>
          </a:xfrm>
          <a:prstGeom prst="rect">
            <a:avLst/>
          </a:prstGeom>
          <a:noFill/>
        </p:spPr>
        <p:txBody>
          <a:bodyPr wrap="square" rtlCol="0">
            <a:spAutoFit/>
          </a:bodyPr>
          <a:lstStyle/>
          <a:p>
            <a:r>
              <a:rPr lang="es-ES" sz="2800" dirty="0">
                <a:latin typeface="Montserrat SemiBold" pitchFamily="2" charset="0"/>
              </a:rPr>
              <a:t>El lienzo del modelo de negocios</a:t>
            </a:r>
            <a:endParaRPr lang="es-CL" sz="2800" dirty="0">
              <a:latin typeface="Montserrat SemiBold" pitchFamily="2" charset="0"/>
            </a:endParaRPr>
          </a:p>
        </p:txBody>
      </p:sp>
    </p:spTree>
    <p:extLst>
      <p:ext uri="{BB962C8B-B14F-4D97-AF65-F5344CB8AC3E}">
        <p14:creationId xmlns:p14="http://schemas.microsoft.com/office/powerpoint/2010/main" val="37247777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A2E706-AFAB-3EAE-E614-0EB0C8415FA0}"/>
              </a:ext>
            </a:extLst>
          </p:cNvPr>
          <p:cNvSpPr txBox="1"/>
          <p:nvPr/>
        </p:nvSpPr>
        <p:spPr>
          <a:xfrm>
            <a:off x="663218" y="582198"/>
            <a:ext cx="10865564" cy="584775"/>
          </a:xfrm>
          <a:prstGeom prst="rect">
            <a:avLst/>
          </a:prstGeom>
          <a:noFill/>
        </p:spPr>
        <p:txBody>
          <a:bodyPr wrap="square" rtlCol="0">
            <a:spAutoFit/>
          </a:bodyPr>
          <a:lstStyle/>
          <a:p>
            <a:pPr algn="ctr"/>
            <a:r>
              <a:rPr lang="es-ES" sz="3200" dirty="0">
                <a:latin typeface="Montserrat SemiBold" pitchFamily="2" charset="0"/>
              </a:rPr>
              <a:t>¿Por qué usar el lienzo de modelo de negocio?</a:t>
            </a:r>
            <a:endParaRPr lang="es-CL" sz="3200" dirty="0">
              <a:latin typeface="Montserrat SemiBold" pitchFamily="2" charset="0"/>
            </a:endParaRPr>
          </a:p>
        </p:txBody>
      </p:sp>
      <p:sp>
        <p:nvSpPr>
          <p:cNvPr id="4" name="CuadroTexto 3">
            <a:extLst>
              <a:ext uri="{FF2B5EF4-FFF2-40B4-BE49-F238E27FC236}">
                <a16:creationId xmlns:a16="http://schemas.microsoft.com/office/drawing/2014/main" id="{35015A84-F539-4347-B6AE-60964B3BC79B}"/>
              </a:ext>
            </a:extLst>
          </p:cNvPr>
          <p:cNvSpPr txBox="1"/>
          <p:nvPr/>
        </p:nvSpPr>
        <p:spPr>
          <a:xfrm>
            <a:off x="663218" y="1484970"/>
            <a:ext cx="10865564" cy="1323439"/>
          </a:xfrm>
          <a:prstGeom prst="rect">
            <a:avLst/>
          </a:prstGeom>
          <a:noFill/>
        </p:spPr>
        <p:txBody>
          <a:bodyPr wrap="square">
            <a:spAutoFit/>
          </a:bodyPr>
          <a:lstStyle/>
          <a:p>
            <a:pPr algn="just"/>
            <a:r>
              <a:rPr lang="es-CL" sz="1600" dirty="0">
                <a:latin typeface="Montserrat" panose="00000500000000000000" pitchFamily="2" charset="0"/>
              </a:rPr>
              <a:t>Para aumentar las probabilidades de éxito de una organización, es relevante comprender cómo opera y cómo se relaciona con todos los agentes involucrados en su funcionamiento.</a:t>
            </a:r>
          </a:p>
          <a:p>
            <a:pPr algn="just"/>
            <a:endParaRPr lang="es-CL" sz="1600" dirty="0">
              <a:latin typeface="Montserrat" panose="00000500000000000000" pitchFamily="2" charset="0"/>
            </a:endParaRPr>
          </a:p>
          <a:p>
            <a:pPr algn="just"/>
            <a:r>
              <a:rPr lang="es-CL" sz="1600" dirty="0">
                <a:latin typeface="Montserrat" panose="00000500000000000000" pitchFamily="2" charset="0"/>
              </a:rPr>
              <a:t>Cuando usamos el lienzo de modelo de negocio podemos: </a:t>
            </a:r>
          </a:p>
          <a:p>
            <a:pPr algn="just"/>
            <a:endParaRPr lang="es-CL" sz="1600" dirty="0">
              <a:latin typeface="Montserrat" panose="00000500000000000000" pitchFamily="2" charset="0"/>
            </a:endParaRPr>
          </a:p>
        </p:txBody>
      </p:sp>
      <p:sp>
        <p:nvSpPr>
          <p:cNvPr id="5" name="Rectángulo 4">
            <a:extLst>
              <a:ext uri="{FF2B5EF4-FFF2-40B4-BE49-F238E27FC236}">
                <a16:creationId xmlns:a16="http://schemas.microsoft.com/office/drawing/2014/main" id="{A2579723-E612-436C-9ED9-C223648B3FAE}"/>
              </a:ext>
            </a:extLst>
          </p:cNvPr>
          <p:cNvSpPr/>
          <p:nvPr/>
        </p:nvSpPr>
        <p:spPr>
          <a:xfrm>
            <a:off x="8075857" y="3711180"/>
            <a:ext cx="3457331" cy="182347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251999" tIns="503998" rIns="251999" rtlCol="0" anchor="ctr"/>
          <a:lstStyle/>
          <a:p>
            <a:pPr algn="ctr"/>
            <a:r>
              <a:rPr lang="es-CL" sz="1600" b="1">
                <a:solidFill>
                  <a:schemeClr val="bg1"/>
                </a:solidFill>
              </a:rPr>
              <a:t>Generar</a:t>
            </a:r>
            <a:r>
              <a:rPr lang="es-CL" sz="1600">
                <a:solidFill>
                  <a:schemeClr val="bg1"/>
                </a:solidFill>
              </a:rPr>
              <a:t> una visión general de la organización. </a:t>
            </a:r>
            <a:r>
              <a:rPr lang="es-CL" sz="1600" b="1">
                <a:solidFill>
                  <a:schemeClr val="bg1"/>
                </a:solidFill>
              </a:rPr>
              <a:t>Mostrar</a:t>
            </a:r>
            <a:r>
              <a:rPr lang="es-CL" sz="1600">
                <a:solidFill>
                  <a:schemeClr val="bg1"/>
                </a:solidFill>
              </a:rPr>
              <a:t> qué es relevante y que no.</a:t>
            </a:r>
          </a:p>
        </p:txBody>
      </p:sp>
      <p:sp>
        <p:nvSpPr>
          <p:cNvPr id="6" name="Rectángulo 5">
            <a:extLst>
              <a:ext uri="{FF2B5EF4-FFF2-40B4-BE49-F238E27FC236}">
                <a16:creationId xmlns:a16="http://schemas.microsoft.com/office/drawing/2014/main" id="{752913C7-BA4B-4E1B-8980-4D16A3C546C2}"/>
              </a:ext>
            </a:extLst>
          </p:cNvPr>
          <p:cNvSpPr/>
          <p:nvPr/>
        </p:nvSpPr>
        <p:spPr>
          <a:xfrm>
            <a:off x="4367334" y="3711181"/>
            <a:ext cx="3457331" cy="182347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251999" tIns="503998" rIns="251999" rtlCol="0" anchor="ctr"/>
          <a:lstStyle/>
          <a:p>
            <a:pPr algn="ctr"/>
            <a:r>
              <a:rPr lang="es-CL" sz="1600" b="1">
                <a:solidFill>
                  <a:schemeClr val="bg1"/>
                </a:solidFill>
              </a:rPr>
              <a:t>Comprender </a:t>
            </a:r>
            <a:r>
              <a:rPr lang="es-CL" sz="1600">
                <a:solidFill>
                  <a:schemeClr val="bg1"/>
                </a:solidFill>
              </a:rPr>
              <a:t>la naturaleza de los modelos de negocios.</a:t>
            </a:r>
          </a:p>
        </p:txBody>
      </p:sp>
      <p:sp>
        <p:nvSpPr>
          <p:cNvPr id="7" name="Rectángulo 6">
            <a:extLst>
              <a:ext uri="{FF2B5EF4-FFF2-40B4-BE49-F238E27FC236}">
                <a16:creationId xmlns:a16="http://schemas.microsoft.com/office/drawing/2014/main" id="{41293002-6CC9-4F35-96A1-0249BD55A2A9}"/>
              </a:ext>
            </a:extLst>
          </p:cNvPr>
          <p:cNvSpPr/>
          <p:nvPr/>
        </p:nvSpPr>
        <p:spPr>
          <a:xfrm>
            <a:off x="658381" y="3711180"/>
            <a:ext cx="3457331" cy="182347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251999" tIns="503999" rIns="251999" rtlCol="0" anchor="ctr"/>
          <a:lstStyle/>
          <a:p>
            <a:pPr algn="ctr"/>
            <a:r>
              <a:rPr lang="es-CL" sz="1600" b="1">
                <a:solidFill>
                  <a:schemeClr val="bg1"/>
                </a:solidFill>
              </a:rPr>
              <a:t>Comunicar </a:t>
            </a:r>
            <a:r>
              <a:rPr lang="es-CL" sz="1600">
                <a:solidFill>
                  <a:schemeClr val="bg1"/>
                </a:solidFill>
              </a:rPr>
              <a:t>rápidamente la idea detrás de un </a:t>
            </a:r>
            <a:r>
              <a:rPr lang="es-CL" sz="1600" b="1">
                <a:solidFill>
                  <a:schemeClr val="bg1"/>
                </a:solidFill>
              </a:rPr>
              <a:t>negocio </a:t>
            </a:r>
            <a:r>
              <a:rPr lang="es-CL" sz="1600">
                <a:solidFill>
                  <a:schemeClr val="bg1"/>
                </a:solidFill>
              </a:rPr>
              <a:t>de forma tangible.</a:t>
            </a:r>
          </a:p>
        </p:txBody>
      </p:sp>
      <p:sp>
        <p:nvSpPr>
          <p:cNvPr id="8" name="Oval 7">
            <a:extLst>
              <a:ext uri="{FF2B5EF4-FFF2-40B4-BE49-F238E27FC236}">
                <a16:creationId xmlns:a16="http://schemas.microsoft.com/office/drawing/2014/main" id="{251030BE-93C6-4F7B-BF18-E1565C193355}"/>
              </a:ext>
            </a:extLst>
          </p:cNvPr>
          <p:cNvSpPr/>
          <p:nvPr/>
        </p:nvSpPr>
        <p:spPr>
          <a:xfrm>
            <a:off x="5497408" y="3065142"/>
            <a:ext cx="1196754" cy="1158670"/>
          </a:xfrm>
          <a:prstGeom prst="ellipse">
            <a:avLst/>
          </a:prstGeom>
          <a:solidFill>
            <a:srgbClr val="00B0F0"/>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2000"/>
          </a:p>
        </p:txBody>
      </p:sp>
      <p:sp>
        <p:nvSpPr>
          <p:cNvPr id="9" name="Oval 7">
            <a:extLst>
              <a:ext uri="{FF2B5EF4-FFF2-40B4-BE49-F238E27FC236}">
                <a16:creationId xmlns:a16="http://schemas.microsoft.com/office/drawing/2014/main" id="{1CAD4A91-3593-4B66-A201-879CD27599D4}"/>
              </a:ext>
            </a:extLst>
          </p:cNvPr>
          <p:cNvSpPr/>
          <p:nvPr/>
        </p:nvSpPr>
        <p:spPr>
          <a:xfrm>
            <a:off x="9206146" y="3065142"/>
            <a:ext cx="1196754" cy="1158670"/>
          </a:xfrm>
          <a:prstGeom prst="ellipse">
            <a:avLst/>
          </a:prstGeom>
          <a:solidFill>
            <a:srgbClr val="00B0F0"/>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2000"/>
          </a:p>
        </p:txBody>
      </p:sp>
      <p:sp>
        <p:nvSpPr>
          <p:cNvPr id="10" name="Oval 7">
            <a:extLst>
              <a:ext uri="{FF2B5EF4-FFF2-40B4-BE49-F238E27FC236}">
                <a16:creationId xmlns:a16="http://schemas.microsoft.com/office/drawing/2014/main" id="{C1A3FFC9-726E-4350-B90F-8616424B7D72}"/>
              </a:ext>
            </a:extLst>
          </p:cNvPr>
          <p:cNvSpPr/>
          <p:nvPr/>
        </p:nvSpPr>
        <p:spPr>
          <a:xfrm>
            <a:off x="1788670" y="3077122"/>
            <a:ext cx="1196754" cy="1158670"/>
          </a:xfrm>
          <a:prstGeom prst="ellipse">
            <a:avLst/>
          </a:prstGeom>
          <a:solidFill>
            <a:srgbClr val="00B0F0"/>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2000"/>
          </a:p>
        </p:txBody>
      </p:sp>
      <p:pic>
        <p:nvPicPr>
          <p:cNvPr id="11" name="Graphic 12">
            <a:extLst>
              <a:ext uri="{FF2B5EF4-FFF2-40B4-BE49-F238E27FC236}">
                <a16:creationId xmlns:a16="http://schemas.microsoft.com/office/drawing/2014/main" id="{7785D193-DFAC-402F-AB62-FA3145A9C6E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79174" y="3339846"/>
            <a:ext cx="633222" cy="633222"/>
          </a:xfrm>
          <a:prstGeom prst="rect">
            <a:avLst/>
          </a:prstGeom>
        </p:spPr>
      </p:pic>
      <p:pic>
        <p:nvPicPr>
          <p:cNvPr id="12" name="Graphic 13">
            <a:extLst>
              <a:ext uri="{FF2B5EF4-FFF2-40B4-BE49-F238E27FC236}">
                <a16:creationId xmlns:a16="http://schemas.microsoft.com/office/drawing/2014/main" id="{B89CD13E-1762-4C37-9EFB-0286EB2430C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63467" y="3314940"/>
            <a:ext cx="658128" cy="658128"/>
          </a:xfrm>
          <a:prstGeom prst="rect">
            <a:avLst/>
          </a:prstGeom>
        </p:spPr>
      </p:pic>
      <p:pic>
        <p:nvPicPr>
          <p:cNvPr id="14" name="Graphic 15">
            <a:extLst>
              <a:ext uri="{FF2B5EF4-FFF2-40B4-BE49-F238E27FC236}">
                <a16:creationId xmlns:a16="http://schemas.microsoft.com/office/drawing/2014/main" id="{0A0302AE-29C5-4409-BA78-22F09636BF5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485495" y="3339846"/>
            <a:ext cx="643038" cy="643038"/>
          </a:xfrm>
          <a:prstGeom prst="rect">
            <a:avLst/>
          </a:prstGeom>
        </p:spPr>
      </p:pic>
    </p:spTree>
    <p:extLst>
      <p:ext uri="{BB962C8B-B14F-4D97-AF65-F5344CB8AC3E}">
        <p14:creationId xmlns:p14="http://schemas.microsoft.com/office/powerpoint/2010/main" val="1942181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4FE83FE1-C801-48D8-B153-7870DAFAEA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3264" y="1534247"/>
            <a:ext cx="7725471" cy="4755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1">
            <a:extLst>
              <a:ext uri="{FF2B5EF4-FFF2-40B4-BE49-F238E27FC236}">
                <a16:creationId xmlns:a16="http://schemas.microsoft.com/office/drawing/2014/main" id="{BEE49C79-0B7A-49EB-A746-87DAB470F28C}"/>
              </a:ext>
            </a:extLst>
          </p:cNvPr>
          <p:cNvSpPr txBox="1"/>
          <p:nvPr/>
        </p:nvSpPr>
        <p:spPr>
          <a:xfrm>
            <a:off x="476218" y="673229"/>
            <a:ext cx="11239561" cy="523220"/>
          </a:xfrm>
          <a:prstGeom prst="rect">
            <a:avLst/>
          </a:prstGeom>
          <a:noFill/>
        </p:spPr>
        <p:txBody>
          <a:bodyPr wrap="square" rtlCol="0">
            <a:spAutoFit/>
          </a:bodyPr>
          <a:lstStyle/>
          <a:p>
            <a:pPr algn="ctr"/>
            <a:r>
              <a:rPr lang="es-ES" sz="2800" dirty="0">
                <a:latin typeface="Montserrat SemiBold" pitchFamily="2" charset="0"/>
              </a:rPr>
              <a:t>El lienzo del modelo de negocios: Movimiento del valor</a:t>
            </a:r>
            <a:endParaRPr lang="es-CL" sz="2800" dirty="0">
              <a:latin typeface="Montserrat SemiBold" pitchFamily="2" charset="0"/>
            </a:endParaRPr>
          </a:p>
        </p:txBody>
      </p:sp>
      <p:sp>
        <p:nvSpPr>
          <p:cNvPr id="6" name="Rectángulo 5">
            <a:extLst>
              <a:ext uri="{FF2B5EF4-FFF2-40B4-BE49-F238E27FC236}">
                <a16:creationId xmlns:a16="http://schemas.microsoft.com/office/drawing/2014/main" id="{A5C94536-5AF8-4B6E-8C82-6EA13D44F399}"/>
              </a:ext>
            </a:extLst>
          </p:cNvPr>
          <p:cNvSpPr/>
          <p:nvPr/>
        </p:nvSpPr>
        <p:spPr>
          <a:xfrm>
            <a:off x="476219" y="1928972"/>
            <a:ext cx="1757045" cy="3366418"/>
          </a:xfrm>
          <a:prstGeom prst="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600"/>
              </a:spcAft>
              <a:buClr>
                <a:schemeClr val="accent1"/>
              </a:buClr>
            </a:pPr>
            <a:r>
              <a:rPr lang="es-CL" sz="1400" b="1" dirty="0">
                <a:solidFill>
                  <a:schemeClr val="tx1"/>
                </a:solidFill>
                <a:latin typeface="Montserrat" panose="00000500000000000000" pitchFamily="2" charset="0"/>
              </a:rPr>
              <a:t>Racional:</a:t>
            </a:r>
            <a:endParaRPr lang="es-CL" sz="1400" dirty="0">
              <a:solidFill>
                <a:schemeClr val="tx1"/>
              </a:solidFill>
              <a:latin typeface="Montserrat" panose="00000500000000000000" pitchFamily="2" charset="0"/>
            </a:endParaRPr>
          </a:p>
          <a:p>
            <a:pPr>
              <a:buClr>
                <a:schemeClr val="accent1"/>
              </a:buClr>
            </a:pPr>
            <a:r>
              <a:rPr lang="es-CL" sz="1400" dirty="0">
                <a:solidFill>
                  <a:schemeClr val="tx1"/>
                </a:solidFill>
                <a:latin typeface="Montserrat" panose="00000500000000000000" pitchFamily="2" charset="0"/>
              </a:rPr>
              <a:t>Incluye los bloques que se centran en aspectos concretos y tangibles del negocio. Estos elementos se relacionan más con la lógica empresarial, eficiencia operativa y rentabilidad.</a:t>
            </a:r>
          </a:p>
        </p:txBody>
      </p:sp>
      <p:sp>
        <p:nvSpPr>
          <p:cNvPr id="7" name="Rectángulo 6">
            <a:extLst>
              <a:ext uri="{FF2B5EF4-FFF2-40B4-BE49-F238E27FC236}">
                <a16:creationId xmlns:a16="http://schemas.microsoft.com/office/drawing/2014/main" id="{D14B3B0E-CBAE-425F-9489-3392BCDB7138}"/>
              </a:ext>
            </a:extLst>
          </p:cNvPr>
          <p:cNvSpPr/>
          <p:nvPr/>
        </p:nvSpPr>
        <p:spPr>
          <a:xfrm>
            <a:off x="9958735" y="1928972"/>
            <a:ext cx="1757045" cy="3366418"/>
          </a:xfrm>
          <a:prstGeom prst="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spcAft>
                <a:spcPts val="600"/>
              </a:spcAft>
              <a:buClr>
                <a:schemeClr val="accent1"/>
              </a:buClr>
            </a:pPr>
            <a:r>
              <a:rPr lang="es-CL" sz="1400" b="1" dirty="0">
                <a:solidFill>
                  <a:schemeClr val="tx1"/>
                </a:solidFill>
                <a:latin typeface="Montserrat" panose="00000500000000000000" pitchFamily="2" charset="0"/>
              </a:rPr>
              <a:t>Emocional:</a:t>
            </a:r>
            <a:endParaRPr lang="es-CL" sz="1400" dirty="0">
              <a:solidFill>
                <a:schemeClr val="tx1"/>
              </a:solidFill>
              <a:latin typeface="Montserrat" panose="00000500000000000000" pitchFamily="2" charset="0"/>
            </a:endParaRPr>
          </a:p>
          <a:p>
            <a:pPr algn="r">
              <a:buClr>
                <a:schemeClr val="accent1"/>
              </a:buClr>
            </a:pPr>
            <a:r>
              <a:rPr lang="es-CL" sz="1400" dirty="0">
                <a:solidFill>
                  <a:schemeClr val="tx1"/>
                </a:solidFill>
                <a:latin typeface="Montserrat" panose="00000500000000000000" pitchFamily="2" charset="0"/>
              </a:rPr>
              <a:t>Incluye los bloques que abordan aspectos más subjetivos y emocionales del negocio. Estos elementos están relacionados con la conexión con clientes, construcción de confianza y lealtad.</a:t>
            </a:r>
          </a:p>
        </p:txBody>
      </p:sp>
    </p:spTree>
    <p:extLst>
      <p:ext uri="{BB962C8B-B14F-4D97-AF65-F5344CB8AC3E}">
        <p14:creationId xmlns:p14="http://schemas.microsoft.com/office/powerpoint/2010/main" val="244212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
            <a:extLst>
              <a:ext uri="{FF2B5EF4-FFF2-40B4-BE49-F238E27FC236}">
                <a16:creationId xmlns:a16="http://schemas.microsoft.com/office/drawing/2014/main" id="{EA318647-01F7-42A2-B0BE-6E7C2299A702}"/>
              </a:ext>
            </a:extLst>
          </p:cNvPr>
          <p:cNvSpPr txBox="1"/>
          <p:nvPr/>
        </p:nvSpPr>
        <p:spPr>
          <a:xfrm>
            <a:off x="663218" y="613073"/>
            <a:ext cx="10865564" cy="584775"/>
          </a:xfrm>
          <a:prstGeom prst="rect">
            <a:avLst/>
          </a:prstGeom>
          <a:noFill/>
        </p:spPr>
        <p:txBody>
          <a:bodyPr wrap="square" rtlCol="0">
            <a:spAutoFit/>
          </a:bodyPr>
          <a:lstStyle/>
          <a:p>
            <a:pPr algn="ctr"/>
            <a:r>
              <a:rPr lang="es-ES" sz="3200" dirty="0">
                <a:latin typeface="Montserrat SemiBold" pitchFamily="2" charset="0"/>
              </a:rPr>
              <a:t>Consideraciones importantes</a:t>
            </a:r>
            <a:endParaRPr lang="es-CL" sz="3200" dirty="0">
              <a:latin typeface="Montserrat SemiBold" pitchFamily="2" charset="0"/>
            </a:endParaRPr>
          </a:p>
        </p:txBody>
      </p:sp>
      <p:sp>
        <p:nvSpPr>
          <p:cNvPr id="5" name="CuadroTexto 4">
            <a:extLst>
              <a:ext uri="{FF2B5EF4-FFF2-40B4-BE49-F238E27FC236}">
                <a16:creationId xmlns:a16="http://schemas.microsoft.com/office/drawing/2014/main" id="{823668A2-0E5A-406A-B69D-251262C20E84}"/>
              </a:ext>
            </a:extLst>
          </p:cNvPr>
          <p:cNvSpPr txBox="1"/>
          <p:nvPr/>
        </p:nvSpPr>
        <p:spPr>
          <a:xfrm>
            <a:off x="663218" y="1536174"/>
            <a:ext cx="10865564" cy="3785652"/>
          </a:xfrm>
          <a:prstGeom prst="rect">
            <a:avLst/>
          </a:prstGeom>
          <a:noFill/>
        </p:spPr>
        <p:txBody>
          <a:bodyPr wrap="square">
            <a:spAutoFit/>
          </a:bodyPr>
          <a:lstStyle/>
          <a:p>
            <a:pPr algn="just"/>
            <a:r>
              <a:rPr lang="es-CL" sz="1600" b="1" dirty="0">
                <a:latin typeface="Montserrat" panose="00000500000000000000" pitchFamily="2" charset="0"/>
              </a:rPr>
              <a:t>Momento</a:t>
            </a:r>
          </a:p>
          <a:p>
            <a:pPr algn="just"/>
            <a:r>
              <a:rPr lang="es-CL" sz="1600" dirty="0">
                <a:latin typeface="Montserrat" panose="00000500000000000000" pitchFamily="2" charset="0"/>
              </a:rPr>
              <a:t>El modelo de negocios es una foto de la organización en un momento puntual del tiempo.</a:t>
            </a:r>
          </a:p>
          <a:p>
            <a:pPr algn="just"/>
            <a:endParaRPr lang="es-CL" sz="1600" dirty="0">
              <a:latin typeface="Montserrat" panose="00000500000000000000" pitchFamily="2" charset="0"/>
            </a:endParaRPr>
          </a:p>
          <a:p>
            <a:pPr algn="just"/>
            <a:r>
              <a:rPr lang="es-CL" sz="1600" b="1" dirty="0">
                <a:latin typeface="Montserrat" panose="00000500000000000000" pitchFamily="2" charset="0"/>
              </a:rPr>
              <a:t>Iteración</a:t>
            </a:r>
          </a:p>
          <a:p>
            <a:pPr algn="just"/>
            <a:r>
              <a:rPr lang="es-CL" sz="1600" dirty="0">
                <a:latin typeface="Montserrat" panose="00000500000000000000" pitchFamily="2" charset="0"/>
              </a:rPr>
              <a:t>Dado que las organizaciones están sumergidas en contextos que cambian a altas velocidades, el análisis del modelo de negocios debe ser un proceso iterativo, es decir, se debe examinar y actualizar constantemente.</a:t>
            </a:r>
          </a:p>
          <a:p>
            <a:pPr algn="just"/>
            <a:endParaRPr lang="es-CL" sz="1600" dirty="0">
              <a:latin typeface="Montserrat" panose="00000500000000000000" pitchFamily="2" charset="0"/>
            </a:endParaRPr>
          </a:p>
          <a:p>
            <a:pPr algn="just"/>
            <a:r>
              <a:rPr lang="es-CL" sz="1600" b="1" dirty="0">
                <a:latin typeface="Montserrat" panose="00000500000000000000" pitchFamily="2" charset="0"/>
              </a:rPr>
              <a:t>Hipótesis</a:t>
            </a:r>
          </a:p>
          <a:p>
            <a:pPr algn="just"/>
            <a:r>
              <a:rPr lang="es-CL" sz="1600" dirty="0">
                <a:latin typeface="Montserrat" panose="00000500000000000000" pitchFamily="2" charset="0"/>
              </a:rPr>
              <a:t>Al comenzar a desarrollar un modelo de negocios deben establecerse hipótesis cuya veracidad deben ser validadas y testeadas conforme avance el proceso.</a:t>
            </a:r>
          </a:p>
          <a:p>
            <a:pPr algn="just"/>
            <a:endParaRPr lang="es-CL" sz="1600" dirty="0">
              <a:latin typeface="Montserrat" panose="00000500000000000000" pitchFamily="2" charset="0"/>
            </a:endParaRPr>
          </a:p>
          <a:p>
            <a:pPr algn="just"/>
            <a:r>
              <a:rPr lang="es-CL" sz="1600" b="1" dirty="0">
                <a:latin typeface="Montserrat" panose="00000500000000000000" pitchFamily="2" charset="0"/>
              </a:rPr>
              <a:t>Movimiento</a:t>
            </a:r>
          </a:p>
          <a:p>
            <a:pPr algn="just"/>
            <a:r>
              <a:rPr lang="es-CL" sz="1600" dirty="0">
                <a:latin typeface="Montserrat" panose="00000500000000000000" pitchFamily="2" charset="0"/>
              </a:rPr>
              <a:t>Al modificar algún factor del modelo de negocios, es necesario pivotear y verificar qué otros aspectos del lienzo se ven afectados con dicho movimiento, para de esta forma, realizar los ajustes que correspondan.</a:t>
            </a:r>
          </a:p>
        </p:txBody>
      </p:sp>
    </p:spTree>
    <p:extLst>
      <p:ext uri="{BB962C8B-B14F-4D97-AF65-F5344CB8AC3E}">
        <p14:creationId xmlns:p14="http://schemas.microsoft.com/office/powerpoint/2010/main" val="25539871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A2E706-AFAB-3EAE-E614-0EB0C8415FA0}"/>
              </a:ext>
            </a:extLst>
          </p:cNvPr>
          <p:cNvSpPr txBox="1"/>
          <p:nvPr/>
        </p:nvSpPr>
        <p:spPr>
          <a:xfrm>
            <a:off x="663218" y="558644"/>
            <a:ext cx="10476636" cy="584775"/>
          </a:xfrm>
          <a:prstGeom prst="rect">
            <a:avLst/>
          </a:prstGeom>
          <a:noFill/>
        </p:spPr>
        <p:txBody>
          <a:bodyPr wrap="square" rtlCol="0">
            <a:spAutoFit/>
          </a:bodyPr>
          <a:lstStyle/>
          <a:p>
            <a:pPr algn="ctr"/>
            <a:r>
              <a:rPr lang="es-ES" sz="3200" b="1" dirty="0">
                <a:latin typeface="Montserrat" pitchFamily="2" charset="77"/>
              </a:rPr>
              <a:t>¿Qué es innovación en el modelo de negocios?</a:t>
            </a:r>
            <a:endParaRPr lang="es-CL" sz="3200" b="1" dirty="0">
              <a:latin typeface="Montserrat" pitchFamily="2" charset="77"/>
            </a:endParaRPr>
          </a:p>
        </p:txBody>
      </p:sp>
      <p:sp>
        <p:nvSpPr>
          <p:cNvPr id="4" name="CuadroTexto 3">
            <a:extLst>
              <a:ext uri="{FF2B5EF4-FFF2-40B4-BE49-F238E27FC236}">
                <a16:creationId xmlns:a16="http://schemas.microsoft.com/office/drawing/2014/main" id="{35015A84-F539-4347-B6AE-60964B3BC79B}"/>
              </a:ext>
            </a:extLst>
          </p:cNvPr>
          <p:cNvSpPr txBox="1"/>
          <p:nvPr/>
        </p:nvSpPr>
        <p:spPr>
          <a:xfrm>
            <a:off x="663218" y="1484970"/>
            <a:ext cx="5432782" cy="4801314"/>
          </a:xfrm>
          <a:prstGeom prst="rect">
            <a:avLst/>
          </a:prstGeom>
          <a:noFill/>
        </p:spPr>
        <p:txBody>
          <a:bodyPr wrap="square">
            <a:spAutoFit/>
          </a:bodyPr>
          <a:lstStyle/>
          <a:p>
            <a:pPr algn="just"/>
            <a:r>
              <a:rPr lang="es-CL" dirty="0">
                <a:latin typeface="Avenir Next" panose="020B0503020202020204" pitchFamily="34" charset="0"/>
              </a:rPr>
              <a:t>Las innovaciones de este tipo son las que cambian el </a:t>
            </a:r>
            <a:r>
              <a:rPr lang="es-CL" b="1" dirty="0">
                <a:latin typeface="Avenir Next" panose="020B0503020202020204" pitchFamily="34" charset="0"/>
              </a:rPr>
              <a:t>diseño dominante </a:t>
            </a:r>
            <a:r>
              <a:rPr lang="es-CL" dirty="0">
                <a:latin typeface="Avenir Next" panose="020B0503020202020204" pitchFamily="34" charset="0"/>
              </a:rPr>
              <a:t>del modelo de negocio donde operan; impactando el mercado fuertemente, y siendo una guía para nuevos seguidores.</a:t>
            </a:r>
          </a:p>
          <a:p>
            <a:pPr algn="just"/>
            <a:endParaRPr lang="es-CL" dirty="0">
              <a:latin typeface="Avenir Next" panose="020B0503020202020204" pitchFamily="34" charset="0"/>
            </a:endParaRPr>
          </a:p>
          <a:p>
            <a:pPr algn="just"/>
            <a:r>
              <a:rPr lang="es-CL" dirty="0">
                <a:latin typeface="Avenir Next" panose="020B0503020202020204" pitchFamily="34" charset="0"/>
              </a:rPr>
              <a:t>Innovaciones en consideraciones de: </a:t>
            </a:r>
          </a:p>
          <a:p>
            <a:pPr algn="just"/>
            <a:endParaRPr lang="es-CL" dirty="0">
              <a:latin typeface="Avenir Next" panose="020B0503020202020204" pitchFamily="34" charset="0"/>
            </a:endParaRPr>
          </a:p>
          <a:p>
            <a:pPr marL="285750" indent="-285750" algn="just">
              <a:buFont typeface="Arial" panose="020B0604020202020204" pitchFamily="34" charset="0"/>
              <a:buChar char="•"/>
            </a:pPr>
            <a:r>
              <a:rPr lang="es-CL" dirty="0">
                <a:latin typeface="Avenir Next" panose="020B0503020202020204" pitchFamily="34" charset="0"/>
              </a:rPr>
              <a:t>Segmento de cliente referencia (WII, autos Tesla), </a:t>
            </a:r>
          </a:p>
          <a:p>
            <a:pPr marL="285750" indent="-285750" algn="just">
              <a:buFont typeface="Arial" panose="020B0604020202020204" pitchFamily="34" charset="0"/>
              <a:buChar char="•"/>
            </a:pPr>
            <a:r>
              <a:rPr lang="es-CL" dirty="0">
                <a:latin typeface="Avenir Next" panose="020B0503020202020204" pitchFamily="34" charset="0"/>
              </a:rPr>
              <a:t>Concepto central (</a:t>
            </a:r>
            <a:r>
              <a:rPr lang="es-CL" dirty="0" err="1">
                <a:latin typeface="Avenir Next" panose="020B0503020202020204" pitchFamily="34" charset="0"/>
              </a:rPr>
              <a:t>McDonalds</a:t>
            </a:r>
            <a:r>
              <a:rPr lang="es-CL" dirty="0">
                <a:latin typeface="Avenir Next" panose="020B0503020202020204" pitchFamily="34" charset="0"/>
              </a:rPr>
              <a:t>, smartphone), </a:t>
            </a:r>
          </a:p>
          <a:p>
            <a:pPr marL="285750" indent="-285750" algn="just">
              <a:buFont typeface="Arial" panose="020B0604020202020204" pitchFamily="34" charset="0"/>
              <a:buChar char="•"/>
            </a:pPr>
            <a:r>
              <a:rPr lang="es-CL" dirty="0">
                <a:latin typeface="Avenir Next" panose="020B0503020202020204" pitchFamily="34" charset="0"/>
              </a:rPr>
              <a:t>Canales de distribución (Amazon, música urbana), </a:t>
            </a:r>
          </a:p>
          <a:p>
            <a:pPr marL="285750" indent="-285750" algn="just">
              <a:buFont typeface="Arial" panose="020B0604020202020204" pitchFamily="34" charset="0"/>
              <a:buChar char="•"/>
            </a:pPr>
            <a:r>
              <a:rPr lang="es-CL" dirty="0">
                <a:latin typeface="Avenir Next" panose="020B0503020202020204" pitchFamily="34" charset="0"/>
              </a:rPr>
              <a:t>Uso de recursos estratégicos (El señor de los Anillos, UBER), </a:t>
            </a:r>
          </a:p>
          <a:p>
            <a:pPr marL="285750" indent="-285750" algn="just">
              <a:buFont typeface="Arial" panose="020B0604020202020204" pitchFamily="34" charset="0"/>
              <a:buChar char="•"/>
            </a:pPr>
            <a:r>
              <a:rPr lang="es-CL" dirty="0">
                <a:latin typeface="Avenir Next" panose="020B0503020202020204" pitchFamily="34" charset="0"/>
              </a:rPr>
              <a:t>Procesos (Dell, Pixar), etc.</a:t>
            </a:r>
          </a:p>
          <a:p>
            <a:pPr algn="just"/>
            <a:endParaRPr lang="es-CL" dirty="0">
              <a:latin typeface="Avenir Next" panose="020B0503020202020204" pitchFamily="34" charset="0"/>
            </a:endParaRPr>
          </a:p>
        </p:txBody>
      </p:sp>
    </p:spTree>
    <p:extLst>
      <p:ext uri="{BB962C8B-B14F-4D97-AF65-F5344CB8AC3E}">
        <p14:creationId xmlns:p14="http://schemas.microsoft.com/office/powerpoint/2010/main" val="22409586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3 Tabla">
            <a:extLst>
              <a:ext uri="{FF2B5EF4-FFF2-40B4-BE49-F238E27FC236}">
                <a16:creationId xmlns:a16="http://schemas.microsoft.com/office/drawing/2014/main" id="{B9A59DDE-DFAE-4AA3-A4F4-2012011E3B21}"/>
              </a:ext>
            </a:extLst>
          </p:cNvPr>
          <p:cNvGraphicFramePr>
            <a:graphicFrameLocks noGrp="1"/>
          </p:cNvGraphicFramePr>
          <p:nvPr/>
        </p:nvGraphicFramePr>
        <p:xfrm>
          <a:off x="3461809" y="2030794"/>
          <a:ext cx="7865533" cy="4105276"/>
        </p:xfrm>
        <a:graphic>
          <a:graphicData uri="http://schemas.openxmlformats.org/drawingml/2006/table">
            <a:tbl>
              <a:tblPr>
                <a:tableStyleId>{5940675A-B579-460E-94D1-54222C63F5DA}</a:tableStyleId>
              </a:tblPr>
              <a:tblGrid>
                <a:gridCol w="1544653">
                  <a:extLst>
                    <a:ext uri="{9D8B030D-6E8A-4147-A177-3AD203B41FA5}">
                      <a16:colId xmlns:a16="http://schemas.microsoft.com/office/drawing/2014/main" val="20000"/>
                    </a:ext>
                  </a:extLst>
                </a:gridCol>
                <a:gridCol w="1582494">
                  <a:extLst>
                    <a:ext uri="{9D8B030D-6E8A-4147-A177-3AD203B41FA5}">
                      <a16:colId xmlns:a16="http://schemas.microsoft.com/office/drawing/2014/main" val="20001"/>
                    </a:ext>
                  </a:extLst>
                </a:gridCol>
                <a:gridCol w="810275">
                  <a:extLst>
                    <a:ext uri="{9D8B030D-6E8A-4147-A177-3AD203B41FA5}">
                      <a16:colId xmlns:a16="http://schemas.microsoft.com/office/drawing/2014/main" val="20002"/>
                    </a:ext>
                  </a:extLst>
                </a:gridCol>
                <a:gridCol w="826787">
                  <a:extLst>
                    <a:ext uri="{9D8B030D-6E8A-4147-A177-3AD203B41FA5}">
                      <a16:colId xmlns:a16="http://schemas.microsoft.com/office/drawing/2014/main" val="20003"/>
                    </a:ext>
                  </a:extLst>
                </a:gridCol>
                <a:gridCol w="1618872">
                  <a:extLst>
                    <a:ext uri="{9D8B030D-6E8A-4147-A177-3AD203B41FA5}">
                      <a16:colId xmlns:a16="http://schemas.microsoft.com/office/drawing/2014/main" val="20004"/>
                    </a:ext>
                  </a:extLst>
                </a:gridCol>
                <a:gridCol w="1482452">
                  <a:extLst>
                    <a:ext uri="{9D8B030D-6E8A-4147-A177-3AD203B41FA5}">
                      <a16:colId xmlns:a16="http://schemas.microsoft.com/office/drawing/2014/main" val="20005"/>
                    </a:ext>
                  </a:extLst>
                </a:gridCol>
              </a:tblGrid>
              <a:tr h="587917">
                <a:tc>
                  <a:txBody>
                    <a:body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s-ES_tradnl" sz="1100" u="none" strike="noStrike" cap="none" normalizeH="0" baseline="0" dirty="0">
                          <a:ln>
                            <a:noFill/>
                          </a:ln>
                          <a:effectLst/>
                        </a:rPr>
                        <a:t>Relaciones con proveedores/ Alianzas</a:t>
                      </a:r>
                      <a:endParaRPr kumimoji="0" lang="es-ES_tradnl" sz="1100" b="1" i="0" u="none" strike="noStrike" cap="none" normalizeH="0" baseline="0" dirty="0">
                        <a:ln>
                          <a:noFill/>
                        </a:ln>
                        <a:solidFill>
                          <a:schemeClr val="tx1"/>
                        </a:solidFill>
                        <a:effectLst/>
                        <a:latin typeface="Helvetica"/>
                        <a:ea typeface="ＭＳ Ｐゴシック" charset="0"/>
                        <a:cs typeface="Helvetica"/>
                      </a:endParaRPr>
                    </a:p>
                  </a:txBody>
                  <a:tcPr marL="0" marR="0" marT="45339" marB="45339" anchor="ctr" horzOverflow="overflow"/>
                </a:tc>
                <a:tc>
                  <a:txBody>
                    <a:body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s-ES_tradnl" sz="1100" u="none" strike="noStrike" cap="none" normalizeH="0" baseline="0" dirty="0">
                          <a:ln>
                            <a:noFill/>
                          </a:ln>
                          <a:effectLst/>
                        </a:rPr>
                        <a:t>Actividades claves/ Procesos</a:t>
                      </a:r>
                      <a:endParaRPr kumimoji="0" lang="es-ES_tradnl" sz="1100" b="1" i="0" u="none" strike="noStrike" cap="none" normalizeH="0" baseline="0" dirty="0">
                        <a:ln>
                          <a:noFill/>
                        </a:ln>
                        <a:solidFill>
                          <a:schemeClr val="tx1"/>
                        </a:solidFill>
                        <a:effectLst/>
                        <a:latin typeface="Helvetica"/>
                        <a:ea typeface="ＭＳ Ｐゴシック" charset="0"/>
                        <a:cs typeface="Helvetica"/>
                      </a:endParaRPr>
                    </a:p>
                  </a:txBody>
                  <a:tcPr marL="0" marR="0" marT="45339" marB="45339" anchor="ctr" horzOverflow="overflow"/>
                </a:tc>
                <a:tc gridSpan="2">
                  <a:txBody>
                    <a:body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s-ES_tradnl" sz="1100" u="none" strike="noStrike" cap="none" normalizeH="0" baseline="0" dirty="0">
                          <a:ln>
                            <a:noFill/>
                          </a:ln>
                          <a:effectLst/>
                        </a:rPr>
                        <a:t>Propuesta de Valor</a:t>
                      </a:r>
                      <a:endParaRPr kumimoji="0" lang="es-ES_tradnl" sz="1100" b="1" i="0" u="none" strike="noStrike" cap="none" normalizeH="0" baseline="0" dirty="0">
                        <a:ln>
                          <a:noFill/>
                        </a:ln>
                        <a:solidFill>
                          <a:schemeClr val="tx1"/>
                        </a:solidFill>
                        <a:effectLst/>
                        <a:latin typeface="Helvetica"/>
                        <a:ea typeface="ＭＳ Ｐゴシック" charset="0"/>
                        <a:cs typeface="Helvetica"/>
                      </a:endParaRPr>
                    </a:p>
                  </a:txBody>
                  <a:tcPr marL="0" marR="0" marT="45339" marB="45339" anchor="ctr" horzOverflow="overflow"/>
                </a:tc>
                <a:tc hMerge="1">
                  <a:txBody>
                    <a:bodyPr/>
                    <a:lstStyle/>
                    <a:p>
                      <a:endParaRPr lang="es-ES_tradnl"/>
                    </a:p>
                  </a:txBody>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s-ES_tradnl" sz="1100" u="none" strike="noStrike" cap="none" normalizeH="0" baseline="0" dirty="0">
                          <a:ln>
                            <a:noFill/>
                          </a:ln>
                          <a:effectLst/>
                        </a:rPr>
                        <a:t>Relación con el Consumidor</a:t>
                      </a:r>
                      <a:endParaRPr kumimoji="0" lang="es-ES_tradnl" sz="1100" b="1" i="0" u="none" strike="noStrike" cap="none" normalizeH="0" baseline="0" dirty="0">
                        <a:ln>
                          <a:noFill/>
                        </a:ln>
                        <a:solidFill>
                          <a:schemeClr val="tx1"/>
                        </a:solidFill>
                        <a:effectLst/>
                        <a:latin typeface="Helvetica"/>
                        <a:ea typeface="ＭＳ Ｐゴシック" charset="0"/>
                        <a:cs typeface="Helvetica"/>
                      </a:endParaRPr>
                    </a:p>
                  </a:txBody>
                  <a:tcPr marL="0" marR="0" marT="45339" marB="45339" anchor="ctr" horzOverflow="overflow"/>
                </a:tc>
                <a:tc>
                  <a:txBody>
                    <a:body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s-ES_tradnl" sz="1100" u="none" strike="noStrike" cap="none" normalizeH="0" baseline="0" dirty="0">
                          <a:ln>
                            <a:noFill/>
                          </a:ln>
                          <a:effectLst/>
                        </a:rPr>
                        <a:t>Segmento de Consumidores</a:t>
                      </a:r>
                      <a:endParaRPr kumimoji="0" lang="es-ES_tradnl" sz="1100" b="1" i="0" u="none" strike="noStrike" cap="none" normalizeH="0" baseline="0" dirty="0">
                        <a:ln>
                          <a:noFill/>
                        </a:ln>
                        <a:solidFill>
                          <a:schemeClr val="tx1"/>
                        </a:solidFill>
                        <a:effectLst/>
                        <a:latin typeface="Helvetica"/>
                        <a:ea typeface="ＭＳ Ｐゴシック" charset="0"/>
                        <a:cs typeface="Helvetica"/>
                      </a:endParaRPr>
                    </a:p>
                  </a:txBody>
                  <a:tcPr marL="0" marR="0" marT="45339" marB="45339" anchor="ctr" horzOverflow="overflow"/>
                </a:tc>
                <a:extLst>
                  <a:ext uri="{0D108BD9-81ED-4DB2-BD59-A6C34878D82A}">
                    <a16:rowId xmlns:a16="http://schemas.microsoft.com/office/drawing/2014/main" val="10000"/>
                  </a:ext>
                </a:extLst>
              </a:tr>
              <a:tr h="934669">
                <a:tc rowSpan="3">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s-CL" sz="900" b="0" i="0" u="none" strike="noStrike" cap="none" normalizeH="0" baseline="0" dirty="0">
                        <a:ln>
                          <a:noFill/>
                        </a:ln>
                        <a:solidFill>
                          <a:srgbClr val="414349"/>
                        </a:solidFill>
                        <a:effectLst/>
                        <a:latin typeface="Helvetica"/>
                        <a:ea typeface="ＭＳ Ｐゴシック" charset="0"/>
                        <a:cs typeface="Helvetica"/>
                      </a:endParaRPr>
                    </a:p>
                  </a:txBody>
                  <a:tcPr marL="107995" marR="5358" marT="86363" marB="0"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s-CL" sz="900" b="0" i="0" u="none" strike="noStrike" kern="1200" cap="none" spc="0" normalizeH="0" baseline="0" noProof="0" dirty="0">
                        <a:ln>
                          <a:noFill/>
                        </a:ln>
                        <a:solidFill>
                          <a:srgbClr val="414349"/>
                        </a:solidFill>
                        <a:effectLst/>
                        <a:uLnTx/>
                        <a:uFillTx/>
                        <a:latin typeface="Helvetica"/>
                        <a:ea typeface="ＭＳ Ｐゴシック" charset="0"/>
                        <a:cs typeface="Helvetica"/>
                      </a:endParaRPr>
                    </a:p>
                  </a:txBody>
                  <a:tcPr marL="107995" marR="5358" marT="96727" marB="0" horzOverflow="overflow"/>
                </a:tc>
                <a:tc rowSpan="3" gridSpan="2">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s-CL" sz="900" b="0" i="0" u="none" strike="noStrike" kern="1200" cap="none" spc="0" normalizeH="0" baseline="0" noProof="0" dirty="0">
                        <a:ln>
                          <a:noFill/>
                        </a:ln>
                        <a:solidFill>
                          <a:srgbClr val="414349"/>
                        </a:solidFill>
                        <a:effectLst/>
                        <a:uLnTx/>
                        <a:uFillTx/>
                        <a:latin typeface="Helvetica"/>
                        <a:ea typeface="ＭＳ Ｐゴシック" charset="0"/>
                        <a:cs typeface="Helvetica"/>
                      </a:endParaRPr>
                    </a:p>
                  </a:txBody>
                  <a:tcPr marL="107995" marR="5358" marT="96727" marB="0" horzOverflow="overflow"/>
                </a:tc>
                <a:tc rowSpan="3" hMerge="1">
                  <a:txBody>
                    <a:bodyPr/>
                    <a:lstStyle/>
                    <a:p>
                      <a:endParaRPr lang="es-ES_tradnl"/>
                    </a:p>
                  </a:txBody>
                  <a:tcPr/>
                </a:tc>
                <a:tc>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s-CL" sz="900" b="0" i="0" u="none" strike="noStrike" kern="1200" cap="none" spc="0" normalizeH="0" baseline="0" noProof="0" dirty="0">
                        <a:ln>
                          <a:noFill/>
                        </a:ln>
                        <a:solidFill>
                          <a:srgbClr val="414349"/>
                        </a:solidFill>
                        <a:effectLst/>
                        <a:uLnTx/>
                        <a:uFillTx/>
                        <a:latin typeface="Helvetica"/>
                        <a:ea typeface="ＭＳ Ｐゴシック" charset="0"/>
                        <a:cs typeface="Helvetica"/>
                      </a:endParaRPr>
                    </a:p>
                  </a:txBody>
                  <a:tcPr marL="107995" marR="5358" marT="96727" marB="0" horzOverflow="overflow"/>
                </a:tc>
                <a:tc rowSpan="3">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s-CL" sz="900" b="0" i="0" u="none" strike="noStrike" kern="1200" cap="none" spc="0" normalizeH="0" baseline="0" noProof="0" dirty="0">
                        <a:ln>
                          <a:noFill/>
                        </a:ln>
                        <a:solidFill>
                          <a:srgbClr val="414349"/>
                        </a:solidFill>
                        <a:effectLst/>
                        <a:uLnTx/>
                        <a:uFillTx/>
                        <a:latin typeface="Helvetica"/>
                        <a:ea typeface="ＭＳ Ｐゴシック" charset="0"/>
                        <a:cs typeface="Helvetica"/>
                      </a:endParaRPr>
                    </a:p>
                  </a:txBody>
                  <a:tcPr marL="107995" marR="5358" marT="96727" marB="0" horzOverflow="overflow"/>
                </a:tc>
                <a:extLst>
                  <a:ext uri="{0D108BD9-81ED-4DB2-BD59-A6C34878D82A}">
                    <a16:rowId xmlns:a16="http://schemas.microsoft.com/office/drawing/2014/main" val="10001"/>
                  </a:ext>
                </a:extLst>
              </a:tr>
              <a:tr h="231351">
                <a:tc vMerge="1">
                  <a:txBody>
                    <a:bodyPr/>
                    <a:lstStyle/>
                    <a:p>
                      <a:endParaRPr lang="es-ES_tradnl"/>
                    </a:p>
                  </a:txBody>
                  <a:tcPr/>
                </a:tc>
                <a:tc>
                  <a:txBody>
                    <a:bodyPr/>
                    <a:lstStyle/>
                    <a:p>
                      <a:pPr algn="ctr"/>
                      <a:r>
                        <a:rPr lang="es-ES_tradnl" sz="1100" dirty="0"/>
                        <a:t>Recursos claves</a:t>
                      </a:r>
                      <a:endParaRPr lang="es-ES_tradnl" sz="1100" b="1" dirty="0">
                        <a:solidFill>
                          <a:schemeClr val="tx1"/>
                        </a:solidFill>
                        <a:latin typeface="Helvetica"/>
                        <a:cs typeface="Helvetica"/>
                      </a:endParaRPr>
                    </a:p>
                  </a:txBody>
                  <a:tcPr marL="27791" marR="5358" marT="5333" marB="0" anchor="ctr" horzOverflow="overflow"/>
                </a:tc>
                <a:tc gridSpan="2" vMerge="1">
                  <a:txBody>
                    <a:bodyPr/>
                    <a:lstStyle/>
                    <a:p>
                      <a:endParaRPr lang="es-ES_tradnl"/>
                    </a:p>
                  </a:txBody>
                  <a:tcPr/>
                </a:tc>
                <a:tc hMerge="1" vMerge="1">
                  <a:txBody>
                    <a:bodyPr/>
                    <a:lstStyle/>
                    <a:p>
                      <a:endParaRPr lang="es-ES_tradnl"/>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100" u="none" strike="noStrike" kern="1200" cap="none" spc="0" normalizeH="0" baseline="0" noProof="0" dirty="0">
                          <a:ln>
                            <a:noFill/>
                          </a:ln>
                          <a:effectLst/>
                          <a:uLnTx/>
                          <a:uFillTx/>
                        </a:rPr>
                        <a:t>Canales</a:t>
                      </a:r>
                      <a:endParaRPr kumimoji="0" lang="es-ES_tradnl" sz="1100" b="1" i="0" u="none" strike="noStrike" kern="1200" cap="none" spc="0" normalizeH="0" baseline="0" noProof="0" dirty="0">
                        <a:ln>
                          <a:noFill/>
                        </a:ln>
                        <a:solidFill>
                          <a:schemeClr val="tx1"/>
                        </a:solidFill>
                        <a:effectLst/>
                        <a:uLnTx/>
                        <a:uFillTx/>
                        <a:latin typeface="Helvetica"/>
                        <a:ea typeface="+mn-ea"/>
                        <a:cs typeface="Helvetica"/>
                      </a:endParaRPr>
                    </a:p>
                  </a:txBody>
                  <a:tcPr marL="27791" marR="5358" marT="5333" marB="0" anchor="ctr" horzOverflow="overflow"/>
                </a:tc>
                <a:tc vMerge="1">
                  <a:txBody>
                    <a:bodyPr/>
                    <a:lstStyle/>
                    <a:p>
                      <a:endParaRPr lang="es-ES_tradnl"/>
                    </a:p>
                  </a:txBody>
                  <a:tcPr/>
                </a:tc>
                <a:extLst>
                  <a:ext uri="{0D108BD9-81ED-4DB2-BD59-A6C34878D82A}">
                    <a16:rowId xmlns:a16="http://schemas.microsoft.com/office/drawing/2014/main" val="10002"/>
                  </a:ext>
                </a:extLst>
              </a:tr>
              <a:tr h="869780">
                <a:tc vMerge="1">
                  <a:txBody>
                    <a:bodyPr/>
                    <a:lstStyle/>
                    <a:p>
                      <a:endParaRPr lang="es-ES_tradnl"/>
                    </a:p>
                  </a:txBody>
                  <a:tcPr/>
                </a:tc>
                <a:tc>
                  <a:txBody>
                    <a:bodyPr/>
                    <a:lstStyle/>
                    <a:p>
                      <a:endParaRPr lang="es-ES_tradnl" sz="2500" dirty="0"/>
                    </a:p>
                  </a:txBody>
                  <a:tcPr marL="27791" marR="5358" marT="5333" marB="0" horzOverflow="overflow"/>
                </a:tc>
                <a:tc gridSpan="2" vMerge="1">
                  <a:txBody>
                    <a:bodyPr/>
                    <a:lstStyle/>
                    <a:p>
                      <a:endParaRPr lang="es-ES_tradnl"/>
                    </a:p>
                  </a:txBody>
                  <a:tcPr/>
                </a:tc>
                <a:tc hMerge="1" vMerge="1">
                  <a:txBody>
                    <a:bodyPr/>
                    <a:lstStyle/>
                    <a:p>
                      <a:endParaRPr lang="es-ES_tradnl"/>
                    </a:p>
                  </a:txBody>
                  <a:tcPr/>
                </a:tc>
                <a:tc>
                  <a:txBody>
                    <a:bodyPr/>
                    <a:lstStyle/>
                    <a:p>
                      <a:endParaRPr lang="es-ES_tradnl" sz="2500" dirty="0">
                        <a:solidFill>
                          <a:srgbClr val="414349"/>
                        </a:solidFill>
                      </a:endParaRPr>
                    </a:p>
                  </a:txBody>
                  <a:tcPr marL="27791" marR="5358" marT="5333" marB="0" horzOverflow="overflow"/>
                </a:tc>
                <a:tc vMerge="1">
                  <a:txBody>
                    <a:bodyPr/>
                    <a:lstStyle/>
                    <a:p>
                      <a:endParaRPr lang="es-ES_tradnl"/>
                    </a:p>
                  </a:txBody>
                  <a:tcPr/>
                </a:tc>
                <a:extLst>
                  <a:ext uri="{0D108BD9-81ED-4DB2-BD59-A6C34878D82A}">
                    <a16:rowId xmlns:a16="http://schemas.microsoft.com/office/drawing/2014/main" val="10003"/>
                  </a:ext>
                </a:extLst>
              </a:tr>
              <a:tr h="242636">
                <a:tc gridSpan="3">
                  <a:txBody>
                    <a:bodyPr/>
                    <a:lstStyle/>
                    <a:p>
                      <a:pPr algn="ctr"/>
                      <a:r>
                        <a:rPr lang="es-ES_tradnl" sz="1100" dirty="0"/>
                        <a:t>Estructura de Costos</a:t>
                      </a:r>
                      <a:endParaRPr lang="es-ES_tradnl" sz="1100" b="1" dirty="0">
                        <a:solidFill>
                          <a:schemeClr val="tx1"/>
                        </a:solidFill>
                        <a:latin typeface="Helvetica"/>
                        <a:cs typeface="Helvetica"/>
                      </a:endParaRPr>
                    </a:p>
                  </a:txBody>
                  <a:tcPr marL="27791" marR="5358" marT="5333" marB="0" anchor="ctr" horzOverflow="overflow"/>
                </a:tc>
                <a:tc hMerge="1">
                  <a:txBody>
                    <a:bodyPr/>
                    <a:lstStyle/>
                    <a:p>
                      <a:endParaRPr lang="es-ES_tradnl"/>
                    </a:p>
                  </a:txBody>
                  <a:tcPr/>
                </a:tc>
                <a:tc hMerge="1">
                  <a:txBody>
                    <a:bodyPr/>
                    <a:lstStyle/>
                    <a:p>
                      <a:endParaRPr lang="es-ES_tradnl"/>
                    </a:p>
                  </a:txBody>
                  <a:tcPr/>
                </a:tc>
                <a:tc gridSpan="3">
                  <a:txBody>
                    <a:bodyPr/>
                    <a:lstStyle/>
                    <a:p>
                      <a:pPr marL="0" marR="0" lvl="0" indent="0" algn="ctr" defTabSz="914400" rtl="0" eaLnBrk="1" fontAlgn="b" latinLnBrk="0" hangingPunct="1">
                        <a:lnSpc>
                          <a:spcPct val="100000"/>
                        </a:lnSpc>
                        <a:spcBef>
                          <a:spcPct val="0"/>
                        </a:spcBef>
                        <a:spcAft>
                          <a:spcPct val="0"/>
                        </a:spcAft>
                        <a:buClrTx/>
                        <a:buSzTx/>
                        <a:buFontTx/>
                        <a:buNone/>
                        <a:tabLst/>
                        <a:defRPr/>
                      </a:pPr>
                      <a:r>
                        <a:rPr lang="es-ES_tradnl" sz="1100" dirty="0"/>
                        <a:t>Flujos - Ingresos</a:t>
                      </a:r>
                      <a:endParaRPr lang="es-ES_tradnl" sz="1100" b="1" dirty="0">
                        <a:solidFill>
                          <a:schemeClr val="tx1"/>
                        </a:solidFill>
                        <a:latin typeface="Helvetica"/>
                        <a:cs typeface="Helvetica"/>
                      </a:endParaRPr>
                    </a:p>
                  </a:txBody>
                  <a:tcPr marL="27791" marR="5358" marT="5333" marB="0" anchor="ctr" horzOverflow="overflow"/>
                </a:tc>
                <a:tc hMerge="1">
                  <a:txBody>
                    <a:bodyPr/>
                    <a:lstStyle/>
                    <a:p>
                      <a:endParaRPr lang="es-ES_tradnl"/>
                    </a:p>
                  </a:txBody>
                  <a:tcPr/>
                </a:tc>
                <a:tc hMerge="1">
                  <a:txBody>
                    <a:bodyPr/>
                    <a:lstStyle/>
                    <a:p>
                      <a:endParaRPr lang="es-ES_tradnl"/>
                    </a:p>
                  </a:txBody>
                  <a:tcPr/>
                </a:tc>
                <a:extLst>
                  <a:ext uri="{0D108BD9-81ED-4DB2-BD59-A6C34878D82A}">
                    <a16:rowId xmlns:a16="http://schemas.microsoft.com/office/drawing/2014/main" val="10004"/>
                  </a:ext>
                </a:extLst>
              </a:tr>
              <a:tr h="1238923">
                <a:tc gridSpan="3">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s-CL" sz="900" b="0" i="0" u="none" strike="noStrike" cap="none" normalizeH="0" baseline="0" dirty="0">
                        <a:ln>
                          <a:noFill/>
                        </a:ln>
                        <a:solidFill>
                          <a:srgbClr val="414349"/>
                        </a:solidFill>
                        <a:effectLst/>
                        <a:latin typeface="Helvetica"/>
                        <a:ea typeface="ＭＳ Ｐゴシック" charset="0"/>
                        <a:cs typeface="Helvetica"/>
                      </a:endParaRPr>
                    </a:p>
                  </a:txBody>
                  <a:tcPr marL="107995" marR="5358" marT="96727" marB="0" horzOverflow="overflow"/>
                </a:tc>
                <a:tc hMerge="1">
                  <a:txBody>
                    <a:bodyPr/>
                    <a:lstStyle/>
                    <a:p>
                      <a:endParaRPr lang="es-ES_tradnl"/>
                    </a:p>
                  </a:txBody>
                  <a:tcPr/>
                </a:tc>
                <a:tc hMerge="1">
                  <a:txBody>
                    <a:bodyPr/>
                    <a:lstStyle/>
                    <a:p>
                      <a:endParaRPr lang="es-ES_tradnl"/>
                    </a:p>
                  </a:txBody>
                  <a:tcPr/>
                </a:tc>
                <a:tc gridSpan="3">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s-CL" sz="900" b="0" i="0" u="none" strike="noStrike" cap="none" normalizeH="0" baseline="0" dirty="0">
                        <a:ln>
                          <a:noFill/>
                        </a:ln>
                        <a:solidFill>
                          <a:srgbClr val="414349"/>
                        </a:solidFill>
                        <a:effectLst/>
                        <a:latin typeface="Helvetica"/>
                        <a:ea typeface="ＭＳ Ｐゴシック" charset="0"/>
                        <a:cs typeface="Helvetica"/>
                      </a:endParaRPr>
                    </a:p>
                  </a:txBody>
                  <a:tcPr marL="107995" marR="5358" marT="96727" marB="0" horzOverflow="overflow"/>
                </a:tc>
                <a:tc hMerge="1">
                  <a:txBody>
                    <a:bodyPr/>
                    <a:lstStyle/>
                    <a:p>
                      <a:endParaRPr lang="es-ES_tradnl"/>
                    </a:p>
                  </a:txBody>
                  <a:tcPr/>
                </a:tc>
                <a:tc hMerge="1">
                  <a:txBody>
                    <a:bodyPr/>
                    <a:lstStyle/>
                    <a:p>
                      <a:endParaRPr lang="es-ES_tradnl"/>
                    </a:p>
                  </a:txBody>
                  <a:tcPr/>
                </a:tc>
                <a:extLst>
                  <a:ext uri="{0D108BD9-81ED-4DB2-BD59-A6C34878D82A}">
                    <a16:rowId xmlns:a16="http://schemas.microsoft.com/office/drawing/2014/main" val="10005"/>
                  </a:ext>
                </a:extLst>
              </a:tr>
            </a:tbl>
          </a:graphicData>
        </a:graphic>
      </p:graphicFrame>
      <p:sp>
        <p:nvSpPr>
          <p:cNvPr id="3" name="2 Elipse">
            <a:extLst>
              <a:ext uri="{FF2B5EF4-FFF2-40B4-BE49-F238E27FC236}">
                <a16:creationId xmlns:a16="http://schemas.microsoft.com/office/drawing/2014/main" id="{BD8D8345-5E5E-4AF1-B7B3-9FD16810E646}"/>
              </a:ext>
            </a:extLst>
          </p:cNvPr>
          <p:cNvSpPr/>
          <p:nvPr/>
        </p:nvSpPr>
        <p:spPr>
          <a:xfrm>
            <a:off x="10590742" y="3101827"/>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6" name="5 Elipse">
            <a:extLst>
              <a:ext uri="{FF2B5EF4-FFF2-40B4-BE49-F238E27FC236}">
                <a16:creationId xmlns:a16="http://schemas.microsoft.com/office/drawing/2014/main" id="{D4A9B428-C1D9-4D30-88E9-9097DC390391}"/>
              </a:ext>
            </a:extLst>
          </p:cNvPr>
          <p:cNvSpPr/>
          <p:nvPr/>
        </p:nvSpPr>
        <p:spPr>
          <a:xfrm>
            <a:off x="10739967" y="3966486"/>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7" name="6 Elipse">
            <a:extLst>
              <a:ext uri="{FF2B5EF4-FFF2-40B4-BE49-F238E27FC236}">
                <a16:creationId xmlns:a16="http://schemas.microsoft.com/office/drawing/2014/main" id="{6BDDF313-BBC4-4DF8-A622-0FC460FDC627}"/>
              </a:ext>
            </a:extLst>
          </p:cNvPr>
          <p:cNvSpPr/>
          <p:nvPr/>
        </p:nvSpPr>
        <p:spPr>
          <a:xfrm>
            <a:off x="8358717" y="2670027"/>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8" name="7 Elipse">
            <a:extLst>
              <a:ext uri="{FF2B5EF4-FFF2-40B4-BE49-F238E27FC236}">
                <a16:creationId xmlns:a16="http://schemas.microsoft.com/office/drawing/2014/main" id="{563CE26C-E6AC-4F37-B2EA-3685ECC257F6}"/>
              </a:ext>
            </a:extLst>
          </p:cNvPr>
          <p:cNvSpPr/>
          <p:nvPr/>
        </p:nvSpPr>
        <p:spPr>
          <a:xfrm>
            <a:off x="8790517" y="3966486"/>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9" name="8 Elipse">
            <a:extLst>
              <a:ext uri="{FF2B5EF4-FFF2-40B4-BE49-F238E27FC236}">
                <a16:creationId xmlns:a16="http://schemas.microsoft.com/office/drawing/2014/main" id="{8CC50A67-C149-41E2-AEA4-4721C6018A79}"/>
              </a:ext>
            </a:extLst>
          </p:cNvPr>
          <p:cNvSpPr/>
          <p:nvPr/>
        </p:nvSpPr>
        <p:spPr>
          <a:xfrm>
            <a:off x="6774392" y="2715536"/>
            <a:ext cx="431800" cy="43285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0" name="9 Elipse">
            <a:extLst>
              <a:ext uri="{FF2B5EF4-FFF2-40B4-BE49-F238E27FC236}">
                <a16:creationId xmlns:a16="http://schemas.microsoft.com/office/drawing/2014/main" id="{5E5F067C-6740-430C-858D-CBCE0C0DB69E}"/>
              </a:ext>
            </a:extLst>
          </p:cNvPr>
          <p:cNvSpPr/>
          <p:nvPr/>
        </p:nvSpPr>
        <p:spPr>
          <a:xfrm>
            <a:off x="7206192" y="3364294"/>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1" name="10 Elipse">
            <a:extLst>
              <a:ext uri="{FF2B5EF4-FFF2-40B4-BE49-F238E27FC236}">
                <a16:creationId xmlns:a16="http://schemas.microsoft.com/office/drawing/2014/main" id="{0051CECC-BFD6-4657-985D-21D35C8F5C69}"/>
              </a:ext>
            </a:extLst>
          </p:cNvPr>
          <p:cNvSpPr/>
          <p:nvPr/>
        </p:nvSpPr>
        <p:spPr>
          <a:xfrm>
            <a:off x="6774392" y="3966486"/>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2" name="11 Elipse">
            <a:extLst>
              <a:ext uri="{FF2B5EF4-FFF2-40B4-BE49-F238E27FC236}">
                <a16:creationId xmlns:a16="http://schemas.microsoft.com/office/drawing/2014/main" id="{9C8B4EC8-2DB2-43FC-B507-4896200C614A}"/>
              </a:ext>
            </a:extLst>
          </p:cNvPr>
          <p:cNvSpPr/>
          <p:nvPr/>
        </p:nvSpPr>
        <p:spPr>
          <a:xfrm>
            <a:off x="8089901" y="5261886"/>
            <a:ext cx="431800" cy="43285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3" name="12 Elipse">
            <a:extLst>
              <a:ext uri="{FF2B5EF4-FFF2-40B4-BE49-F238E27FC236}">
                <a16:creationId xmlns:a16="http://schemas.microsoft.com/office/drawing/2014/main" id="{0DD086F9-BA2D-429E-BBD0-6FE2699EE103}"/>
              </a:ext>
            </a:extLst>
          </p:cNvPr>
          <p:cNvSpPr/>
          <p:nvPr/>
        </p:nvSpPr>
        <p:spPr>
          <a:xfrm>
            <a:off x="9155642" y="5261886"/>
            <a:ext cx="431800" cy="43285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4" name="13 Elipse">
            <a:extLst>
              <a:ext uri="{FF2B5EF4-FFF2-40B4-BE49-F238E27FC236}">
                <a16:creationId xmlns:a16="http://schemas.microsoft.com/office/drawing/2014/main" id="{C3E6FFC1-0674-415A-8F4D-1481D80BFEF8}"/>
              </a:ext>
            </a:extLst>
          </p:cNvPr>
          <p:cNvSpPr/>
          <p:nvPr/>
        </p:nvSpPr>
        <p:spPr>
          <a:xfrm>
            <a:off x="10374842" y="5283053"/>
            <a:ext cx="431800" cy="43285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5" name="14 Elipse">
            <a:extLst>
              <a:ext uri="{FF2B5EF4-FFF2-40B4-BE49-F238E27FC236}">
                <a16:creationId xmlns:a16="http://schemas.microsoft.com/office/drawing/2014/main" id="{E89C31F6-1313-4A63-8C02-01240EBF01D7}"/>
              </a:ext>
            </a:extLst>
          </p:cNvPr>
          <p:cNvSpPr/>
          <p:nvPr/>
        </p:nvSpPr>
        <p:spPr>
          <a:xfrm>
            <a:off x="5334001" y="2546202"/>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6" name="15 Elipse">
            <a:extLst>
              <a:ext uri="{FF2B5EF4-FFF2-40B4-BE49-F238E27FC236}">
                <a16:creationId xmlns:a16="http://schemas.microsoft.com/office/drawing/2014/main" id="{4D564330-9757-4349-9E93-1AC9B47032FF}"/>
              </a:ext>
            </a:extLst>
          </p:cNvPr>
          <p:cNvSpPr/>
          <p:nvPr/>
        </p:nvSpPr>
        <p:spPr>
          <a:xfrm>
            <a:off x="5909734" y="2867936"/>
            <a:ext cx="431800" cy="43285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7" name="16 Elipse">
            <a:extLst>
              <a:ext uri="{FF2B5EF4-FFF2-40B4-BE49-F238E27FC236}">
                <a16:creationId xmlns:a16="http://schemas.microsoft.com/office/drawing/2014/main" id="{C6564D98-52F3-4F8F-99AC-3094E156AD3C}"/>
              </a:ext>
            </a:extLst>
          </p:cNvPr>
          <p:cNvSpPr/>
          <p:nvPr/>
        </p:nvSpPr>
        <p:spPr>
          <a:xfrm>
            <a:off x="5118101" y="3798210"/>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8" name="17 Elipse">
            <a:extLst>
              <a:ext uri="{FF2B5EF4-FFF2-40B4-BE49-F238E27FC236}">
                <a16:creationId xmlns:a16="http://schemas.microsoft.com/office/drawing/2014/main" id="{40C6EE1F-F8CD-43BF-BB9F-9683697E72F5}"/>
              </a:ext>
            </a:extLst>
          </p:cNvPr>
          <p:cNvSpPr/>
          <p:nvPr/>
        </p:nvSpPr>
        <p:spPr>
          <a:xfrm>
            <a:off x="5693834" y="3987652"/>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9" name="18 Elipse">
            <a:extLst>
              <a:ext uri="{FF2B5EF4-FFF2-40B4-BE49-F238E27FC236}">
                <a16:creationId xmlns:a16="http://schemas.microsoft.com/office/drawing/2014/main" id="{AFB61D13-98E6-48DF-915B-4F89D84819CC}"/>
              </a:ext>
            </a:extLst>
          </p:cNvPr>
          <p:cNvSpPr/>
          <p:nvPr/>
        </p:nvSpPr>
        <p:spPr>
          <a:xfrm>
            <a:off x="3749675" y="2639336"/>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20" name="19 Elipse">
            <a:extLst>
              <a:ext uri="{FF2B5EF4-FFF2-40B4-BE49-F238E27FC236}">
                <a16:creationId xmlns:a16="http://schemas.microsoft.com/office/drawing/2014/main" id="{DA01C685-2F8A-4E19-9342-5833F7CCB75D}"/>
              </a:ext>
            </a:extLst>
          </p:cNvPr>
          <p:cNvSpPr/>
          <p:nvPr/>
        </p:nvSpPr>
        <p:spPr>
          <a:xfrm>
            <a:off x="3928534" y="3300794"/>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21" name="20 Elipse">
            <a:extLst>
              <a:ext uri="{FF2B5EF4-FFF2-40B4-BE49-F238E27FC236}">
                <a16:creationId xmlns:a16="http://schemas.microsoft.com/office/drawing/2014/main" id="{4E78376A-D1A3-4ABF-BD20-418342205A43}"/>
              </a:ext>
            </a:extLst>
          </p:cNvPr>
          <p:cNvSpPr/>
          <p:nvPr/>
        </p:nvSpPr>
        <p:spPr>
          <a:xfrm>
            <a:off x="3749675" y="3950610"/>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22" name="21 Elipse">
            <a:extLst>
              <a:ext uri="{FF2B5EF4-FFF2-40B4-BE49-F238E27FC236}">
                <a16:creationId xmlns:a16="http://schemas.microsoft.com/office/drawing/2014/main" id="{72E637E6-E5A5-46C2-9DC2-A86AA051AA06}"/>
              </a:ext>
            </a:extLst>
          </p:cNvPr>
          <p:cNvSpPr/>
          <p:nvPr/>
        </p:nvSpPr>
        <p:spPr>
          <a:xfrm>
            <a:off x="3749675" y="5067152"/>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24" name="23 Elipse">
            <a:extLst>
              <a:ext uri="{FF2B5EF4-FFF2-40B4-BE49-F238E27FC236}">
                <a16:creationId xmlns:a16="http://schemas.microsoft.com/office/drawing/2014/main" id="{F30AC6AA-511C-44A3-972A-E9C1BAA4A13C}"/>
              </a:ext>
            </a:extLst>
          </p:cNvPr>
          <p:cNvSpPr/>
          <p:nvPr/>
        </p:nvSpPr>
        <p:spPr>
          <a:xfrm>
            <a:off x="4908551" y="5231194"/>
            <a:ext cx="431800" cy="43285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25" name="24 Elipse">
            <a:extLst>
              <a:ext uri="{FF2B5EF4-FFF2-40B4-BE49-F238E27FC236}">
                <a16:creationId xmlns:a16="http://schemas.microsoft.com/office/drawing/2014/main" id="{A286BEF3-110D-480E-9711-979E51F90230}"/>
              </a:ext>
            </a:extLst>
          </p:cNvPr>
          <p:cNvSpPr/>
          <p:nvPr/>
        </p:nvSpPr>
        <p:spPr>
          <a:xfrm>
            <a:off x="6341534" y="5283053"/>
            <a:ext cx="432858" cy="43285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4" name="3 Elipse">
            <a:extLst>
              <a:ext uri="{FF2B5EF4-FFF2-40B4-BE49-F238E27FC236}">
                <a16:creationId xmlns:a16="http://schemas.microsoft.com/office/drawing/2014/main" id="{18385839-9EF7-4738-86AF-D41E33AB81A5}"/>
              </a:ext>
            </a:extLst>
          </p:cNvPr>
          <p:cNvSpPr/>
          <p:nvPr/>
        </p:nvSpPr>
        <p:spPr>
          <a:xfrm>
            <a:off x="8746067" y="3677561"/>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26" name="25 Elipse">
            <a:extLst>
              <a:ext uri="{FF2B5EF4-FFF2-40B4-BE49-F238E27FC236}">
                <a16:creationId xmlns:a16="http://schemas.microsoft.com/office/drawing/2014/main" id="{5ABAF7B2-70FC-42E8-8144-E96D3E48C267}"/>
              </a:ext>
            </a:extLst>
          </p:cNvPr>
          <p:cNvSpPr/>
          <p:nvPr/>
        </p:nvSpPr>
        <p:spPr>
          <a:xfrm>
            <a:off x="9042401" y="3856419"/>
            <a:ext cx="288925"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27" name="26 Elipse">
            <a:extLst>
              <a:ext uri="{FF2B5EF4-FFF2-40B4-BE49-F238E27FC236}">
                <a16:creationId xmlns:a16="http://schemas.microsoft.com/office/drawing/2014/main" id="{C86C9961-336F-493F-9EA5-7CF4F2F527DE}"/>
              </a:ext>
            </a:extLst>
          </p:cNvPr>
          <p:cNvSpPr/>
          <p:nvPr/>
        </p:nvSpPr>
        <p:spPr>
          <a:xfrm>
            <a:off x="9336617" y="4180269"/>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28" name="27 Elipse">
            <a:extLst>
              <a:ext uri="{FF2B5EF4-FFF2-40B4-BE49-F238E27FC236}">
                <a16:creationId xmlns:a16="http://schemas.microsoft.com/office/drawing/2014/main" id="{5D232609-6854-4923-AE5E-03DFBD447398}"/>
              </a:ext>
            </a:extLst>
          </p:cNvPr>
          <p:cNvSpPr/>
          <p:nvPr/>
        </p:nvSpPr>
        <p:spPr>
          <a:xfrm>
            <a:off x="9095317" y="3515636"/>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29" name="28 Elipse">
            <a:extLst>
              <a:ext uri="{FF2B5EF4-FFF2-40B4-BE49-F238E27FC236}">
                <a16:creationId xmlns:a16="http://schemas.microsoft.com/office/drawing/2014/main" id="{9B4D79BA-15E1-4482-A9D9-855800C9ED62}"/>
              </a:ext>
            </a:extLst>
          </p:cNvPr>
          <p:cNvSpPr/>
          <p:nvPr/>
        </p:nvSpPr>
        <p:spPr>
          <a:xfrm>
            <a:off x="8232775" y="3686027"/>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0" name="29 Elipse">
            <a:extLst>
              <a:ext uri="{FF2B5EF4-FFF2-40B4-BE49-F238E27FC236}">
                <a16:creationId xmlns:a16="http://schemas.microsoft.com/office/drawing/2014/main" id="{04735242-847E-4BA8-801C-27DD3083E740}"/>
              </a:ext>
            </a:extLst>
          </p:cNvPr>
          <p:cNvSpPr/>
          <p:nvPr/>
        </p:nvSpPr>
        <p:spPr>
          <a:xfrm>
            <a:off x="8529109" y="3864886"/>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1" name="30 Elipse">
            <a:extLst>
              <a:ext uri="{FF2B5EF4-FFF2-40B4-BE49-F238E27FC236}">
                <a16:creationId xmlns:a16="http://schemas.microsoft.com/office/drawing/2014/main" id="{55584559-A206-418C-98F3-0E687E2D2FF2}"/>
              </a:ext>
            </a:extLst>
          </p:cNvPr>
          <p:cNvSpPr/>
          <p:nvPr/>
        </p:nvSpPr>
        <p:spPr>
          <a:xfrm>
            <a:off x="8715375" y="4164394"/>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2" name="31 Elipse">
            <a:extLst>
              <a:ext uri="{FF2B5EF4-FFF2-40B4-BE49-F238E27FC236}">
                <a16:creationId xmlns:a16="http://schemas.microsoft.com/office/drawing/2014/main" id="{FC0B3F49-8CB3-4A5D-A90E-EDF924DF36B2}"/>
              </a:ext>
            </a:extLst>
          </p:cNvPr>
          <p:cNvSpPr/>
          <p:nvPr/>
        </p:nvSpPr>
        <p:spPr>
          <a:xfrm>
            <a:off x="9011709" y="4343252"/>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3" name="32 Elipse">
            <a:extLst>
              <a:ext uri="{FF2B5EF4-FFF2-40B4-BE49-F238E27FC236}">
                <a16:creationId xmlns:a16="http://schemas.microsoft.com/office/drawing/2014/main" id="{EEFB6C1C-48A5-41B8-94DC-9CC46DA6537B}"/>
              </a:ext>
            </a:extLst>
          </p:cNvPr>
          <p:cNvSpPr/>
          <p:nvPr/>
        </p:nvSpPr>
        <p:spPr>
          <a:xfrm>
            <a:off x="10319809" y="2724002"/>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4" name="33 Elipse">
            <a:extLst>
              <a:ext uri="{FF2B5EF4-FFF2-40B4-BE49-F238E27FC236}">
                <a16:creationId xmlns:a16="http://schemas.microsoft.com/office/drawing/2014/main" id="{989BFB80-69D6-44F6-934F-5609001072EA}"/>
              </a:ext>
            </a:extLst>
          </p:cNvPr>
          <p:cNvSpPr/>
          <p:nvPr/>
        </p:nvSpPr>
        <p:spPr>
          <a:xfrm>
            <a:off x="10616142" y="2902860"/>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5" name="34 Elipse">
            <a:extLst>
              <a:ext uri="{FF2B5EF4-FFF2-40B4-BE49-F238E27FC236}">
                <a16:creationId xmlns:a16="http://schemas.microsoft.com/office/drawing/2014/main" id="{69AFD4C5-ED96-42A4-A3C2-217FA503C0C4}"/>
              </a:ext>
            </a:extLst>
          </p:cNvPr>
          <p:cNvSpPr/>
          <p:nvPr/>
        </p:nvSpPr>
        <p:spPr>
          <a:xfrm>
            <a:off x="10298642" y="3588660"/>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6" name="35 Elipse">
            <a:extLst>
              <a:ext uri="{FF2B5EF4-FFF2-40B4-BE49-F238E27FC236}">
                <a16:creationId xmlns:a16="http://schemas.microsoft.com/office/drawing/2014/main" id="{CDBA2535-E633-4A56-9299-2A7628E92FE8}"/>
              </a:ext>
            </a:extLst>
          </p:cNvPr>
          <p:cNvSpPr/>
          <p:nvPr/>
        </p:nvSpPr>
        <p:spPr>
          <a:xfrm>
            <a:off x="11017251" y="2932494"/>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7" name="36 Elipse">
            <a:extLst>
              <a:ext uri="{FF2B5EF4-FFF2-40B4-BE49-F238E27FC236}">
                <a16:creationId xmlns:a16="http://schemas.microsoft.com/office/drawing/2014/main" id="{839CB69F-F7D2-4D71-9586-84383608A517}"/>
              </a:ext>
            </a:extLst>
          </p:cNvPr>
          <p:cNvSpPr/>
          <p:nvPr/>
        </p:nvSpPr>
        <p:spPr>
          <a:xfrm>
            <a:off x="9904942" y="3544211"/>
            <a:ext cx="288925"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8" name="37 Elipse">
            <a:extLst>
              <a:ext uri="{FF2B5EF4-FFF2-40B4-BE49-F238E27FC236}">
                <a16:creationId xmlns:a16="http://schemas.microsoft.com/office/drawing/2014/main" id="{EC22F1DF-E81E-4DFE-A02A-78B4C8381E3C}"/>
              </a:ext>
            </a:extLst>
          </p:cNvPr>
          <p:cNvSpPr/>
          <p:nvPr/>
        </p:nvSpPr>
        <p:spPr>
          <a:xfrm>
            <a:off x="10013951" y="3000227"/>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9" name="38 Elipse">
            <a:extLst>
              <a:ext uri="{FF2B5EF4-FFF2-40B4-BE49-F238E27FC236}">
                <a16:creationId xmlns:a16="http://schemas.microsoft.com/office/drawing/2014/main" id="{C7A8BD09-E439-4288-9E8C-187421840897}"/>
              </a:ext>
            </a:extLst>
          </p:cNvPr>
          <p:cNvSpPr/>
          <p:nvPr/>
        </p:nvSpPr>
        <p:spPr>
          <a:xfrm>
            <a:off x="10288059" y="3210836"/>
            <a:ext cx="288925"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0" name="39 Elipse">
            <a:extLst>
              <a:ext uri="{FF2B5EF4-FFF2-40B4-BE49-F238E27FC236}">
                <a16:creationId xmlns:a16="http://schemas.microsoft.com/office/drawing/2014/main" id="{808E9E43-8615-4C02-B62E-E9D39D42FCA9}"/>
              </a:ext>
            </a:extLst>
          </p:cNvPr>
          <p:cNvSpPr/>
          <p:nvPr/>
        </p:nvSpPr>
        <p:spPr>
          <a:xfrm>
            <a:off x="10585451" y="3389694"/>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1" name="40 Elipse">
            <a:extLst>
              <a:ext uri="{FF2B5EF4-FFF2-40B4-BE49-F238E27FC236}">
                <a16:creationId xmlns:a16="http://schemas.microsoft.com/office/drawing/2014/main" id="{6EA4675B-C20E-4C9E-AB75-7D6B9234DDD9}"/>
              </a:ext>
            </a:extLst>
          </p:cNvPr>
          <p:cNvSpPr/>
          <p:nvPr/>
        </p:nvSpPr>
        <p:spPr>
          <a:xfrm>
            <a:off x="9939867" y="5043869"/>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2" name="41 Elipse">
            <a:extLst>
              <a:ext uri="{FF2B5EF4-FFF2-40B4-BE49-F238E27FC236}">
                <a16:creationId xmlns:a16="http://schemas.microsoft.com/office/drawing/2014/main" id="{8CC27183-8A9B-461A-91F4-1C6AB2B3FC45}"/>
              </a:ext>
            </a:extLst>
          </p:cNvPr>
          <p:cNvSpPr/>
          <p:nvPr/>
        </p:nvSpPr>
        <p:spPr>
          <a:xfrm>
            <a:off x="10236201" y="5222727"/>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3" name="42 Elipse">
            <a:extLst>
              <a:ext uri="{FF2B5EF4-FFF2-40B4-BE49-F238E27FC236}">
                <a16:creationId xmlns:a16="http://schemas.microsoft.com/office/drawing/2014/main" id="{99D6A665-4DF7-48DA-86DB-F2C141F42A3F}"/>
              </a:ext>
            </a:extLst>
          </p:cNvPr>
          <p:cNvSpPr/>
          <p:nvPr/>
        </p:nvSpPr>
        <p:spPr>
          <a:xfrm>
            <a:off x="10729384" y="5709560"/>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4" name="43 Elipse">
            <a:extLst>
              <a:ext uri="{FF2B5EF4-FFF2-40B4-BE49-F238E27FC236}">
                <a16:creationId xmlns:a16="http://schemas.microsoft.com/office/drawing/2014/main" id="{1CDD7980-D3A6-4DC9-B3D3-C70E7DF03412}"/>
              </a:ext>
            </a:extLst>
          </p:cNvPr>
          <p:cNvSpPr/>
          <p:nvPr/>
        </p:nvSpPr>
        <p:spPr>
          <a:xfrm>
            <a:off x="10288059" y="4881944"/>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5" name="44 Elipse">
            <a:extLst>
              <a:ext uri="{FF2B5EF4-FFF2-40B4-BE49-F238E27FC236}">
                <a16:creationId xmlns:a16="http://schemas.microsoft.com/office/drawing/2014/main" id="{719D3E99-F0CB-4C3D-97A6-FD76ABE50545}"/>
              </a:ext>
            </a:extLst>
          </p:cNvPr>
          <p:cNvSpPr/>
          <p:nvPr/>
        </p:nvSpPr>
        <p:spPr>
          <a:xfrm>
            <a:off x="10616142" y="5067152"/>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6" name="45 Elipse">
            <a:extLst>
              <a:ext uri="{FF2B5EF4-FFF2-40B4-BE49-F238E27FC236}">
                <a16:creationId xmlns:a16="http://schemas.microsoft.com/office/drawing/2014/main" id="{D9FF4553-E6B5-4E03-B45E-44D43C350E8A}"/>
              </a:ext>
            </a:extLst>
          </p:cNvPr>
          <p:cNvSpPr/>
          <p:nvPr/>
        </p:nvSpPr>
        <p:spPr>
          <a:xfrm>
            <a:off x="10806642" y="5406877"/>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7" name="46 Elipse">
            <a:extLst>
              <a:ext uri="{FF2B5EF4-FFF2-40B4-BE49-F238E27FC236}">
                <a16:creationId xmlns:a16="http://schemas.microsoft.com/office/drawing/2014/main" id="{31611BCC-CF55-4698-A25F-812F8CAA836B}"/>
              </a:ext>
            </a:extLst>
          </p:cNvPr>
          <p:cNvSpPr/>
          <p:nvPr/>
        </p:nvSpPr>
        <p:spPr>
          <a:xfrm>
            <a:off x="9908117" y="5530702"/>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8" name="47 Elipse">
            <a:extLst>
              <a:ext uri="{FF2B5EF4-FFF2-40B4-BE49-F238E27FC236}">
                <a16:creationId xmlns:a16="http://schemas.microsoft.com/office/drawing/2014/main" id="{224E6C33-8583-437C-ACC6-A41EF3961E6D}"/>
              </a:ext>
            </a:extLst>
          </p:cNvPr>
          <p:cNvSpPr/>
          <p:nvPr/>
        </p:nvSpPr>
        <p:spPr>
          <a:xfrm>
            <a:off x="10204451" y="5709560"/>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9" name="48 Elipse">
            <a:extLst>
              <a:ext uri="{FF2B5EF4-FFF2-40B4-BE49-F238E27FC236}">
                <a16:creationId xmlns:a16="http://schemas.microsoft.com/office/drawing/2014/main" id="{6BA8054A-6061-44AC-A93B-1F6A4EA23701}"/>
              </a:ext>
            </a:extLst>
          </p:cNvPr>
          <p:cNvSpPr/>
          <p:nvPr/>
        </p:nvSpPr>
        <p:spPr>
          <a:xfrm>
            <a:off x="5565776" y="5017410"/>
            <a:ext cx="288925"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0" name="49 Elipse">
            <a:extLst>
              <a:ext uri="{FF2B5EF4-FFF2-40B4-BE49-F238E27FC236}">
                <a16:creationId xmlns:a16="http://schemas.microsoft.com/office/drawing/2014/main" id="{01FD0400-5BF3-4FB6-9621-FADB11FEF915}"/>
              </a:ext>
            </a:extLst>
          </p:cNvPr>
          <p:cNvSpPr/>
          <p:nvPr/>
        </p:nvSpPr>
        <p:spPr>
          <a:xfrm>
            <a:off x="5862109" y="5196269"/>
            <a:ext cx="288925"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1" name="50 Elipse">
            <a:extLst>
              <a:ext uri="{FF2B5EF4-FFF2-40B4-BE49-F238E27FC236}">
                <a16:creationId xmlns:a16="http://schemas.microsoft.com/office/drawing/2014/main" id="{728EA8EF-E7AE-481B-BECE-52EBABE2E1E9}"/>
              </a:ext>
            </a:extLst>
          </p:cNvPr>
          <p:cNvSpPr/>
          <p:nvPr/>
        </p:nvSpPr>
        <p:spPr>
          <a:xfrm>
            <a:off x="5289551" y="4819502"/>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2" name="51 Elipse">
            <a:extLst>
              <a:ext uri="{FF2B5EF4-FFF2-40B4-BE49-F238E27FC236}">
                <a16:creationId xmlns:a16="http://schemas.microsoft.com/office/drawing/2014/main" id="{E455A2AB-ACA4-4A5A-9293-1623EB6CEC97}"/>
              </a:ext>
            </a:extLst>
          </p:cNvPr>
          <p:cNvSpPr/>
          <p:nvPr/>
        </p:nvSpPr>
        <p:spPr>
          <a:xfrm>
            <a:off x="5915025" y="4854427"/>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3" name="52 Elipse">
            <a:extLst>
              <a:ext uri="{FF2B5EF4-FFF2-40B4-BE49-F238E27FC236}">
                <a16:creationId xmlns:a16="http://schemas.microsoft.com/office/drawing/2014/main" id="{7F120B86-458B-4309-91F0-969A43578FA2}"/>
              </a:ext>
            </a:extLst>
          </p:cNvPr>
          <p:cNvSpPr/>
          <p:nvPr/>
        </p:nvSpPr>
        <p:spPr>
          <a:xfrm>
            <a:off x="5052484" y="5025877"/>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4" name="53 Elipse">
            <a:extLst>
              <a:ext uri="{FF2B5EF4-FFF2-40B4-BE49-F238E27FC236}">
                <a16:creationId xmlns:a16="http://schemas.microsoft.com/office/drawing/2014/main" id="{953CB48C-5639-455B-8A7C-F662DB818CEF}"/>
              </a:ext>
            </a:extLst>
          </p:cNvPr>
          <p:cNvSpPr/>
          <p:nvPr/>
        </p:nvSpPr>
        <p:spPr>
          <a:xfrm>
            <a:off x="5348818" y="5204736"/>
            <a:ext cx="288925"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5" name="54 Elipse">
            <a:extLst>
              <a:ext uri="{FF2B5EF4-FFF2-40B4-BE49-F238E27FC236}">
                <a16:creationId xmlns:a16="http://schemas.microsoft.com/office/drawing/2014/main" id="{E1B719C5-EC64-454A-8DCA-62DBCEEDDCF3}"/>
              </a:ext>
            </a:extLst>
          </p:cNvPr>
          <p:cNvSpPr/>
          <p:nvPr/>
        </p:nvSpPr>
        <p:spPr>
          <a:xfrm>
            <a:off x="5535084" y="5503186"/>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6" name="55 Elipse">
            <a:extLst>
              <a:ext uri="{FF2B5EF4-FFF2-40B4-BE49-F238E27FC236}">
                <a16:creationId xmlns:a16="http://schemas.microsoft.com/office/drawing/2014/main" id="{2B670A63-7990-44C3-A5B6-00595450D360}"/>
              </a:ext>
            </a:extLst>
          </p:cNvPr>
          <p:cNvSpPr/>
          <p:nvPr/>
        </p:nvSpPr>
        <p:spPr>
          <a:xfrm>
            <a:off x="5831417" y="5682044"/>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7" name="56 Elipse">
            <a:extLst>
              <a:ext uri="{FF2B5EF4-FFF2-40B4-BE49-F238E27FC236}">
                <a16:creationId xmlns:a16="http://schemas.microsoft.com/office/drawing/2014/main" id="{27A9AC48-A5D7-4F57-A7D5-BBFD3F9B9351}"/>
              </a:ext>
            </a:extLst>
          </p:cNvPr>
          <p:cNvSpPr/>
          <p:nvPr/>
        </p:nvSpPr>
        <p:spPr>
          <a:xfrm>
            <a:off x="4438651" y="2913444"/>
            <a:ext cx="288925"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8" name="57 Elipse">
            <a:extLst>
              <a:ext uri="{FF2B5EF4-FFF2-40B4-BE49-F238E27FC236}">
                <a16:creationId xmlns:a16="http://schemas.microsoft.com/office/drawing/2014/main" id="{C3E21E96-470D-40C4-BC7A-BB99CE47085E}"/>
              </a:ext>
            </a:extLst>
          </p:cNvPr>
          <p:cNvSpPr/>
          <p:nvPr/>
        </p:nvSpPr>
        <p:spPr>
          <a:xfrm>
            <a:off x="4736042" y="3092302"/>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9" name="58 Elipse">
            <a:extLst>
              <a:ext uri="{FF2B5EF4-FFF2-40B4-BE49-F238E27FC236}">
                <a16:creationId xmlns:a16="http://schemas.microsoft.com/office/drawing/2014/main" id="{01CEA274-2583-412C-B604-72CF627074D4}"/>
              </a:ext>
            </a:extLst>
          </p:cNvPr>
          <p:cNvSpPr/>
          <p:nvPr/>
        </p:nvSpPr>
        <p:spPr>
          <a:xfrm>
            <a:off x="4491567" y="2571603"/>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0" name="59 Elipse">
            <a:extLst>
              <a:ext uri="{FF2B5EF4-FFF2-40B4-BE49-F238E27FC236}">
                <a16:creationId xmlns:a16="http://schemas.microsoft.com/office/drawing/2014/main" id="{C0A151B1-C360-4C24-B9A3-3349DA8EE4D2}"/>
              </a:ext>
            </a:extLst>
          </p:cNvPr>
          <p:cNvSpPr/>
          <p:nvPr/>
        </p:nvSpPr>
        <p:spPr>
          <a:xfrm>
            <a:off x="4787901" y="2750461"/>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1" name="60 Elipse">
            <a:extLst>
              <a:ext uri="{FF2B5EF4-FFF2-40B4-BE49-F238E27FC236}">
                <a16:creationId xmlns:a16="http://schemas.microsoft.com/office/drawing/2014/main" id="{B6E660A6-C252-481C-B986-5F7D281C403C}"/>
              </a:ext>
            </a:extLst>
          </p:cNvPr>
          <p:cNvSpPr/>
          <p:nvPr/>
        </p:nvSpPr>
        <p:spPr>
          <a:xfrm>
            <a:off x="3925359" y="2921910"/>
            <a:ext cx="288925"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2" name="61 Elipse">
            <a:extLst>
              <a:ext uri="{FF2B5EF4-FFF2-40B4-BE49-F238E27FC236}">
                <a16:creationId xmlns:a16="http://schemas.microsoft.com/office/drawing/2014/main" id="{A8A8E467-1495-45C2-BC2E-CFB55C4C0CFA}"/>
              </a:ext>
            </a:extLst>
          </p:cNvPr>
          <p:cNvSpPr/>
          <p:nvPr/>
        </p:nvSpPr>
        <p:spPr>
          <a:xfrm>
            <a:off x="4221692" y="3100769"/>
            <a:ext cx="288925"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3" name="62 Elipse">
            <a:extLst>
              <a:ext uri="{FF2B5EF4-FFF2-40B4-BE49-F238E27FC236}">
                <a16:creationId xmlns:a16="http://schemas.microsoft.com/office/drawing/2014/main" id="{34F31BDB-572B-496E-86ED-411F4B1F41E8}"/>
              </a:ext>
            </a:extLst>
          </p:cNvPr>
          <p:cNvSpPr/>
          <p:nvPr/>
        </p:nvSpPr>
        <p:spPr>
          <a:xfrm>
            <a:off x="4407959" y="3400277"/>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4" name="63 Elipse">
            <a:extLst>
              <a:ext uri="{FF2B5EF4-FFF2-40B4-BE49-F238E27FC236}">
                <a16:creationId xmlns:a16="http://schemas.microsoft.com/office/drawing/2014/main" id="{55E09C12-2C3D-4716-BB7A-A758F305E38F}"/>
              </a:ext>
            </a:extLst>
          </p:cNvPr>
          <p:cNvSpPr/>
          <p:nvPr/>
        </p:nvSpPr>
        <p:spPr>
          <a:xfrm>
            <a:off x="4704292" y="3579136"/>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5" name="64 Elipse">
            <a:extLst>
              <a:ext uri="{FF2B5EF4-FFF2-40B4-BE49-F238E27FC236}">
                <a16:creationId xmlns:a16="http://schemas.microsoft.com/office/drawing/2014/main" id="{A07D6F76-E96B-48EE-B14F-68A5132462A5}"/>
              </a:ext>
            </a:extLst>
          </p:cNvPr>
          <p:cNvSpPr/>
          <p:nvPr/>
        </p:nvSpPr>
        <p:spPr>
          <a:xfrm>
            <a:off x="5785909" y="3329369"/>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6" name="65 Elipse">
            <a:extLst>
              <a:ext uri="{FF2B5EF4-FFF2-40B4-BE49-F238E27FC236}">
                <a16:creationId xmlns:a16="http://schemas.microsoft.com/office/drawing/2014/main" id="{67874268-7A39-4DC5-A7CE-6E06B3797BC0}"/>
              </a:ext>
            </a:extLst>
          </p:cNvPr>
          <p:cNvSpPr/>
          <p:nvPr/>
        </p:nvSpPr>
        <p:spPr>
          <a:xfrm>
            <a:off x="6082242" y="3508227"/>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7" name="66 Elipse">
            <a:extLst>
              <a:ext uri="{FF2B5EF4-FFF2-40B4-BE49-F238E27FC236}">
                <a16:creationId xmlns:a16="http://schemas.microsoft.com/office/drawing/2014/main" id="{AF25C4C8-6CC1-4566-9843-AC5FA8D592FF}"/>
              </a:ext>
            </a:extLst>
          </p:cNvPr>
          <p:cNvSpPr/>
          <p:nvPr/>
        </p:nvSpPr>
        <p:spPr>
          <a:xfrm>
            <a:off x="5837767" y="2987527"/>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8" name="67 Elipse">
            <a:extLst>
              <a:ext uri="{FF2B5EF4-FFF2-40B4-BE49-F238E27FC236}">
                <a16:creationId xmlns:a16="http://schemas.microsoft.com/office/drawing/2014/main" id="{61ACEC15-5701-46A4-B3C0-78DCD2D5BB83}"/>
              </a:ext>
            </a:extLst>
          </p:cNvPr>
          <p:cNvSpPr/>
          <p:nvPr/>
        </p:nvSpPr>
        <p:spPr>
          <a:xfrm>
            <a:off x="6134101" y="3166386"/>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9" name="68 Elipse">
            <a:extLst>
              <a:ext uri="{FF2B5EF4-FFF2-40B4-BE49-F238E27FC236}">
                <a16:creationId xmlns:a16="http://schemas.microsoft.com/office/drawing/2014/main" id="{652FBF38-DE35-4A1B-BB73-87721EDE8BD6}"/>
              </a:ext>
            </a:extLst>
          </p:cNvPr>
          <p:cNvSpPr/>
          <p:nvPr/>
        </p:nvSpPr>
        <p:spPr>
          <a:xfrm>
            <a:off x="5272617" y="3337836"/>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0" name="69 Elipse">
            <a:extLst>
              <a:ext uri="{FF2B5EF4-FFF2-40B4-BE49-F238E27FC236}">
                <a16:creationId xmlns:a16="http://schemas.microsoft.com/office/drawing/2014/main" id="{D472B01D-FA84-4035-B62A-240E72F9D08D}"/>
              </a:ext>
            </a:extLst>
          </p:cNvPr>
          <p:cNvSpPr/>
          <p:nvPr/>
        </p:nvSpPr>
        <p:spPr>
          <a:xfrm>
            <a:off x="5568951" y="3516694"/>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1" name="70 Elipse">
            <a:extLst>
              <a:ext uri="{FF2B5EF4-FFF2-40B4-BE49-F238E27FC236}">
                <a16:creationId xmlns:a16="http://schemas.microsoft.com/office/drawing/2014/main" id="{066386CD-0821-4B52-9D18-DEDA4A696AD6}"/>
              </a:ext>
            </a:extLst>
          </p:cNvPr>
          <p:cNvSpPr/>
          <p:nvPr/>
        </p:nvSpPr>
        <p:spPr>
          <a:xfrm>
            <a:off x="5754159" y="3815144"/>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2" name="71 Elipse">
            <a:extLst>
              <a:ext uri="{FF2B5EF4-FFF2-40B4-BE49-F238E27FC236}">
                <a16:creationId xmlns:a16="http://schemas.microsoft.com/office/drawing/2014/main" id="{912A4C2A-A377-4683-886A-00C16A3DEE00}"/>
              </a:ext>
            </a:extLst>
          </p:cNvPr>
          <p:cNvSpPr/>
          <p:nvPr/>
        </p:nvSpPr>
        <p:spPr>
          <a:xfrm>
            <a:off x="6050492" y="3994002"/>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3" name="72 Elipse">
            <a:extLst>
              <a:ext uri="{FF2B5EF4-FFF2-40B4-BE49-F238E27FC236}">
                <a16:creationId xmlns:a16="http://schemas.microsoft.com/office/drawing/2014/main" id="{480EEE04-97EB-4E58-BCD3-0C8A18011738}"/>
              </a:ext>
            </a:extLst>
          </p:cNvPr>
          <p:cNvSpPr/>
          <p:nvPr/>
        </p:nvSpPr>
        <p:spPr>
          <a:xfrm>
            <a:off x="7512051" y="2691194"/>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4" name="73 Elipse">
            <a:extLst>
              <a:ext uri="{FF2B5EF4-FFF2-40B4-BE49-F238E27FC236}">
                <a16:creationId xmlns:a16="http://schemas.microsoft.com/office/drawing/2014/main" id="{01ECA9D2-D6BF-4F87-881A-D3990C5494F3}"/>
              </a:ext>
            </a:extLst>
          </p:cNvPr>
          <p:cNvSpPr/>
          <p:nvPr/>
        </p:nvSpPr>
        <p:spPr>
          <a:xfrm>
            <a:off x="7808384" y="2870052"/>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5" name="74 Elipse">
            <a:extLst>
              <a:ext uri="{FF2B5EF4-FFF2-40B4-BE49-F238E27FC236}">
                <a16:creationId xmlns:a16="http://schemas.microsoft.com/office/drawing/2014/main" id="{23D5D251-2B4E-450A-B056-41DE518AD671}"/>
              </a:ext>
            </a:extLst>
          </p:cNvPr>
          <p:cNvSpPr/>
          <p:nvPr/>
        </p:nvSpPr>
        <p:spPr>
          <a:xfrm>
            <a:off x="7563909" y="2349352"/>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6" name="75 Elipse">
            <a:extLst>
              <a:ext uri="{FF2B5EF4-FFF2-40B4-BE49-F238E27FC236}">
                <a16:creationId xmlns:a16="http://schemas.microsoft.com/office/drawing/2014/main" id="{CA0AFE87-044A-4006-9779-8898DA5F43F2}"/>
              </a:ext>
            </a:extLst>
          </p:cNvPr>
          <p:cNvSpPr/>
          <p:nvPr/>
        </p:nvSpPr>
        <p:spPr>
          <a:xfrm>
            <a:off x="7860242" y="2528210"/>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7" name="76 Elipse">
            <a:extLst>
              <a:ext uri="{FF2B5EF4-FFF2-40B4-BE49-F238E27FC236}">
                <a16:creationId xmlns:a16="http://schemas.microsoft.com/office/drawing/2014/main" id="{F9A1385E-CFEC-4A72-9230-EC7DB635DFBD}"/>
              </a:ext>
            </a:extLst>
          </p:cNvPr>
          <p:cNvSpPr/>
          <p:nvPr/>
        </p:nvSpPr>
        <p:spPr>
          <a:xfrm>
            <a:off x="6998759" y="2699660"/>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8" name="77 Elipse">
            <a:extLst>
              <a:ext uri="{FF2B5EF4-FFF2-40B4-BE49-F238E27FC236}">
                <a16:creationId xmlns:a16="http://schemas.microsoft.com/office/drawing/2014/main" id="{77B1AA2A-C0BF-4AA7-8429-7430A532D347}"/>
              </a:ext>
            </a:extLst>
          </p:cNvPr>
          <p:cNvSpPr/>
          <p:nvPr/>
        </p:nvSpPr>
        <p:spPr>
          <a:xfrm>
            <a:off x="7295092" y="2878519"/>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9" name="78 Elipse">
            <a:extLst>
              <a:ext uri="{FF2B5EF4-FFF2-40B4-BE49-F238E27FC236}">
                <a16:creationId xmlns:a16="http://schemas.microsoft.com/office/drawing/2014/main" id="{54E0D3F2-6E4A-4957-9E5F-604143E3DC24}"/>
              </a:ext>
            </a:extLst>
          </p:cNvPr>
          <p:cNvSpPr/>
          <p:nvPr/>
        </p:nvSpPr>
        <p:spPr>
          <a:xfrm>
            <a:off x="7480301" y="3176969"/>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0" name="79 Elipse">
            <a:extLst>
              <a:ext uri="{FF2B5EF4-FFF2-40B4-BE49-F238E27FC236}">
                <a16:creationId xmlns:a16="http://schemas.microsoft.com/office/drawing/2014/main" id="{A0FAB986-B4B9-498F-9A22-293F148E981B}"/>
              </a:ext>
            </a:extLst>
          </p:cNvPr>
          <p:cNvSpPr/>
          <p:nvPr/>
        </p:nvSpPr>
        <p:spPr>
          <a:xfrm>
            <a:off x="7776634" y="3355827"/>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1" name="80 Elipse">
            <a:extLst>
              <a:ext uri="{FF2B5EF4-FFF2-40B4-BE49-F238E27FC236}">
                <a16:creationId xmlns:a16="http://schemas.microsoft.com/office/drawing/2014/main" id="{95B896B1-D433-4558-858F-7C2D1E84BA75}"/>
              </a:ext>
            </a:extLst>
          </p:cNvPr>
          <p:cNvSpPr/>
          <p:nvPr/>
        </p:nvSpPr>
        <p:spPr>
          <a:xfrm>
            <a:off x="8943975" y="2323952"/>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2" name="81 Elipse">
            <a:extLst>
              <a:ext uri="{FF2B5EF4-FFF2-40B4-BE49-F238E27FC236}">
                <a16:creationId xmlns:a16="http://schemas.microsoft.com/office/drawing/2014/main" id="{4EE00ECA-9105-4A91-839E-3A4F05691BFF}"/>
              </a:ext>
            </a:extLst>
          </p:cNvPr>
          <p:cNvSpPr/>
          <p:nvPr/>
        </p:nvSpPr>
        <p:spPr>
          <a:xfrm>
            <a:off x="9240309" y="2502810"/>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3" name="82 Elipse">
            <a:extLst>
              <a:ext uri="{FF2B5EF4-FFF2-40B4-BE49-F238E27FC236}">
                <a16:creationId xmlns:a16="http://schemas.microsoft.com/office/drawing/2014/main" id="{B6071261-723D-48FD-AAF7-7F7F5022A166}"/>
              </a:ext>
            </a:extLst>
          </p:cNvPr>
          <p:cNvSpPr/>
          <p:nvPr/>
        </p:nvSpPr>
        <p:spPr>
          <a:xfrm>
            <a:off x="8995834" y="1982110"/>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4" name="83 Elipse">
            <a:extLst>
              <a:ext uri="{FF2B5EF4-FFF2-40B4-BE49-F238E27FC236}">
                <a16:creationId xmlns:a16="http://schemas.microsoft.com/office/drawing/2014/main" id="{50FCC84D-0FC7-4CBA-9D9B-CBF530AA9B42}"/>
              </a:ext>
            </a:extLst>
          </p:cNvPr>
          <p:cNvSpPr/>
          <p:nvPr/>
        </p:nvSpPr>
        <p:spPr>
          <a:xfrm>
            <a:off x="9292167" y="2160969"/>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5" name="84 Elipse">
            <a:extLst>
              <a:ext uri="{FF2B5EF4-FFF2-40B4-BE49-F238E27FC236}">
                <a16:creationId xmlns:a16="http://schemas.microsoft.com/office/drawing/2014/main" id="{EA49DE04-A6DF-47B2-A8D9-E64049D23B70}"/>
              </a:ext>
            </a:extLst>
          </p:cNvPr>
          <p:cNvSpPr/>
          <p:nvPr/>
        </p:nvSpPr>
        <p:spPr>
          <a:xfrm>
            <a:off x="8430684" y="2332419"/>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6" name="85 Elipse">
            <a:extLst>
              <a:ext uri="{FF2B5EF4-FFF2-40B4-BE49-F238E27FC236}">
                <a16:creationId xmlns:a16="http://schemas.microsoft.com/office/drawing/2014/main" id="{31353071-6835-42B7-A69B-A328C3A53F34}"/>
              </a:ext>
            </a:extLst>
          </p:cNvPr>
          <p:cNvSpPr/>
          <p:nvPr/>
        </p:nvSpPr>
        <p:spPr>
          <a:xfrm>
            <a:off x="8727017" y="2511277"/>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7" name="86 Elipse">
            <a:extLst>
              <a:ext uri="{FF2B5EF4-FFF2-40B4-BE49-F238E27FC236}">
                <a16:creationId xmlns:a16="http://schemas.microsoft.com/office/drawing/2014/main" id="{263F29E4-ED11-4120-94E3-509562421EB5}"/>
              </a:ext>
            </a:extLst>
          </p:cNvPr>
          <p:cNvSpPr/>
          <p:nvPr/>
        </p:nvSpPr>
        <p:spPr>
          <a:xfrm>
            <a:off x="8912225" y="2810786"/>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8" name="87 Elipse">
            <a:extLst>
              <a:ext uri="{FF2B5EF4-FFF2-40B4-BE49-F238E27FC236}">
                <a16:creationId xmlns:a16="http://schemas.microsoft.com/office/drawing/2014/main" id="{03D899DD-0187-4E87-AAB0-8EBCF27D39B4}"/>
              </a:ext>
            </a:extLst>
          </p:cNvPr>
          <p:cNvSpPr/>
          <p:nvPr/>
        </p:nvSpPr>
        <p:spPr>
          <a:xfrm>
            <a:off x="9208559" y="2989644"/>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9" name="88 Triángulo isósceles">
            <a:extLst>
              <a:ext uri="{FF2B5EF4-FFF2-40B4-BE49-F238E27FC236}">
                <a16:creationId xmlns:a16="http://schemas.microsoft.com/office/drawing/2014/main" id="{904F2A9A-600E-4FE0-BB0E-7A055363B0F1}"/>
              </a:ext>
            </a:extLst>
          </p:cNvPr>
          <p:cNvSpPr/>
          <p:nvPr/>
        </p:nvSpPr>
        <p:spPr>
          <a:xfrm>
            <a:off x="7418917" y="3528336"/>
            <a:ext cx="571500" cy="479425"/>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3</a:t>
            </a:r>
            <a:endParaRPr lang="es-ES" sz="2800" dirty="0">
              <a:solidFill>
                <a:srgbClr val="FFFFFF"/>
              </a:solidFill>
              <a:latin typeface="Aharoni" pitchFamily="2" charset="-79"/>
              <a:cs typeface="Aharoni" pitchFamily="2" charset="-79"/>
              <a:sym typeface="Gill Sans"/>
            </a:endParaRPr>
          </a:p>
        </p:txBody>
      </p:sp>
      <p:sp>
        <p:nvSpPr>
          <p:cNvPr id="90" name="89 Triángulo isósceles">
            <a:extLst>
              <a:ext uri="{FF2B5EF4-FFF2-40B4-BE49-F238E27FC236}">
                <a16:creationId xmlns:a16="http://schemas.microsoft.com/office/drawing/2014/main" id="{91B384AA-C9D2-4237-85DD-AD598664D889}"/>
              </a:ext>
            </a:extLst>
          </p:cNvPr>
          <p:cNvSpPr/>
          <p:nvPr/>
        </p:nvSpPr>
        <p:spPr>
          <a:xfrm>
            <a:off x="10971742" y="3376994"/>
            <a:ext cx="570442" cy="479425"/>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3</a:t>
            </a:r>
            <a:endParaRPr lang="es-ES" sz="2800" dirty="0">
              <a:solidFill>
                <a:srgbClr val="FFFFFF"/>
              </a:solidFill>
              <a:latin typeface="Aharoni" pitchFamily="2" charset="-79"/>
              <a:cs typeface="Aharoni" pitchFamily="2" charset="-79"/>
              <a:sym typeface="Gill Sans"/>
            </a:endParaRPr>
          </a:p>
        </p:txBody>
      </p:sp>
      <p:sp>
        <p:nvSpPr>
          <p:cNvPr id="91" name="90 Triángulo isósceles">
            <a:extLst>
              <a:ext uri="{FF2B5EF4-FFF2-40B4-BE49-F238E27FC236}">
                <a16:creationId xmlns:a16="http://schemas.microsoft.com/office/drawing/2014/main" id="{674A15AF-CB52-41AA-A46B-26DED0379828}"/>
              </a:ext>
            </a:extLst>
          </p:cNvPr>
          <p:cNvSpPr/>
          <p:nvPr/>
        </p:nvSpPr>
        <p:spPr>
          <a:xfrm>
            <a:off x="8767234" y="5406878"/>
            <a:ext cx="570441" cy="480483"/>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3</a:t>
            </a:r>
            <a:endParaRPr lang="es-ES" sz="2800" dirty="0">
              <a:solidFill>
                <a:srgbClr val="FFFFFF"/>
              </a:solidFill>
              <a:latin typeface="Aharoni" pitchFamily="2" charset="-79"/>
              <a:cs typeface="Aharoni" pitchFamily="2" charset="-79"/>
              <a:sym typeface="Gill Sans"/>
            </a:endParaRPr>
          </a:p>
        </p:txBody>
      </p:sp>
      <p:sp>
        <p:nvSpPr>
          <p:cNvPr id="92" name="91 Triángulo isósceles">
            <a:extLst>
              <a:ext uri="{FF2B5EF4-FFF2-40B4-BE49-F238E27FC236}">
                <a16:creationId xmlns:a16="http://schemas.microsoft.com/office/drawing/2014/main" id="{96DC4C7E-6D08-4C83-88C5-E2CFB99B6691}"/>
              </a:ext>
            </a:extLst>
          </p:cNvPr>
          <p:cNvSpPr/>
          <p:nvPr/>
        </p:nvSpPr>
        <p:spPr>
          <a:xfrm>
            <a:off x="7643284" y="5434394"/>
            <a:ext cx="570441" cy="480483"/>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3</a:t>
            </a:r>
            <a:endParaRPr lang="es-ES" sz="2800" dirty="0">
              <a:solidFill>
                <a:srgbClr val="FFFFFF"/>
              </a:solidFill>
              <a:latin typeface="Aharoni" pitchFamily="2" charset="-79"/>
              <a:cs typeface="Aharoni" pitchFamily="2" charset="-79"/>
              <a:sym typeface="Gill Sans"/>
            </a:endParaRPr>
          </a:p>
        </p:txBody>
      </p:sp>
      <p:sp>
        <p:nvSpPr>
          <p:cNvPr id="93" name="92 Triángulo isósceles">
            <a:extLst>
              <a:ext uri="{FF2B5EF4-FFF2-40B4-BE49-F238E27FC236}">
                <a16:creationId xmlns:a16="http://schemas.microsoft.com/office/drawing/2014/main" id="{DD133CE4-997F-4F9F-A6B5-1FA9D9416147}"/>
              </a:ext>
            </a:extLst>
          </p:cNvPr>
          <p:cNvSpPr/>
          <p:nvPr/>
        </p:nvSpPr>
        <p:spPr>
          <a:xfrm>
            <a:off x="3179234" y="3144161"/>
            <a:ext cx="570441" cy="479425"/>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3</a:t>
            </a:r>
            <a:endParaRPr lang="es-ES" sz="2800" dirty="0">
              <a:solidFill>
                <a:srgbClr val="FFFFFF"/>
              </a:solidFill>
              <a:latin typeface="Aharoni" pitchFamily="2" charset="-79"/>
              <a:cs typeface="Aharoni" pitchFamily="2" charset="-79"/>
              <a:sym typeface="Gill Sans"/>
            </a:endParaRPr>
          </a:p>
        </p:txBody>
      </p:sp>
      <p:cxnSp>
        <p:nvCxnSpPr>
          <p:cNvPr id="95" name="94 Conector recto">
            <a:extLst>
              <a:ext uri="{FF2B5EF4-FFF2-40B4-BE49-F238E27FC236}">
                <a16:creationId xmlns:a16="http://schemas.microsoft.com/office/drawing/2014/main" id="{341F2801-D08D-4B29-A19D-3507FD925DC7}"/>
              </a:ext>
            </a:extLst>
          </p:cNvPr>
          <p:cNvCxnSpPr>
            <a:stCxn id="93" idx="5"/>
            <a:endCxn id="89" idx="1"/>
          </p:cNvCxnSpPr>
          <p:nvPr/>
        </p:nvCxnSpPr>
        <p:spPr>
          <a:xfrm>
            <a:off x="3607859" y="3383344"/>
            <a:ext cx="3953933" cy="385233"/>
          </a:xfrm>
          <a:prstGeom prst="line">
            <a:avLst/>
          </a:prstGeom>
        </p:spPr>
        <p:style>
          <a:lnRef idx="1">
            <a:schemeClr val="dk1"/>
          </a:lnRef>
          <a:fillRef idx="0">
            <a:schemeClr val="dk1"/>
          </a:fillRef>
          <a:effectRef idx="0">
            <a:schemeClr val="dk1"/>
          </a:effectRef>
          <a:fontRef idx="minor">
            <a:schemeClr val="tx1"/>
          </a:fontRef>
        </p:style>
      </p:cxnSp>
      <p:cxnSp>
        <p:nvCxnSpPr>
          <p:cNvPr id="97" name="96 Conector recto">
            <a:extLst>
              <a:ext uri="{FF2B5EF4-FFF2-40B4-BE49-F238E27FC236}">
                <a16:creationId xmlns:a16="http://schemas.microsoft.com/office/drawing/2014/main" id="{44D30FBF-D383-4D6B-91AC-5355C8293CD4}"/>
              </a:ext>
            </a:extLst>
          </p:cNvPr>
          <p:cNvCxnSpPr>
            <a:stCxn id="89" idx="5"/>
            <a:endCxn id="90" idx="1"/>
          </p:cNvCxnSpPr>
          <p:nvPr/>
        </p:nvCxnSpPr>
        <p:spPr>
          <a:xfrm flipV="1">
            <a:off x="7847543" y="3617236"/>
            <a:ext cx="3267075" cy="151341"/>
          </a:xfrm>
          <a:prstGeom prst="line">
            <a:avLst/>
          </a:prstGeom>
        </p:spPr>
        <p:style>
          <a:lnRef idx="1">
            <a:schemeClr val="dk1"/>
          </a:lnRef>
          <a:fillRef idx="0">
            <a:schemeClr val="dk1"/>
          </a:fillRef>
          <a:effectRef idx="0">
            <a:schemeClr val="dk1"/>
          </a:effectRef>
          <a:fontRef idx="minor">
            <a:schemeClr val="tx1"/>
          </a:fontRef>
        </p:style>
      </p:cxnSp>
      <p:cxnSp>
        <p:nvCxnSpPr>
          <p:cNvPr id="99" name="98 Conector recto">
            <a:extLst>
              <a:ext uri="{FF2B5EF4-FFF2-40B4-BE49-F238E27FC236}">
                <a16:creationId xmlns:a16="http://schemas.microsoft.com/office/drawing/2014/main" id="{AEFD6861-7D75-433D-8422-47FB5E6C50DA}"/>
              </a:ext>
            </a:extLst>
          </p:cNvPr>
          <p:cNvCxnSpPr>
            <a:stCxn id="89" idx="3"/>
            <a:endCxn id="91" idx="1"/>
          </p:cNvCxnSpPr>
          <p:nvPr/>
        </p:nvCxnSpPr>
        <p:spPr>
          <a:xfrm>
            <a:off x="7704668" y="4007760"/>
            <a:ext cx="1205441" cy="1639359"/>
          </a:xfrm>
          <a:prstGeom prst="line">
            <a:avLst/>
          </a:prstGeom>
        </p:spPr>
        <p:style>
          <a:lnRef idx="1">
            <a:schemeClr val="dk1"/>
          </a:lnRef>
          <a:fillRef idx="0">
            <a:schemeClr val="dk1"/>
          </a:fillRef>
          <a:effectRef idx="0">
            <a:schemeClr val="dk1"/>
          </a:effectRef>
          <a:fontRef idx="minor">
            <a:schemeClr val="tx1"/>
          </a:fontRef>
        </p:style>
      </p:cxnSp>
      <p:cxnSp>
        <p:nvCxnSpPr>
          <p:cNvPr id="101" name="100 Conector recto">
            <a:extLst>
              <a:ext uri="{FF2B5EF4-FFF2-40B4-BE49-F238E27FC236}">
                <a16:creationId xmlns:a16="http://schemas.microsoft.com/office/drawing/2014/main" id="{F6BC6AEF-98BD-483B-A4AB-B9C2625C30D8}"/>
              </a:ext>
            </a:extLst>
          </p:cNvPr>
          <p:cNvCxnSpPr>
            <a:stCxn id="89" idx="3"/>
            <a:endCxn id="92" idx="1"/>
          </p:cNvCxnSpPr>
          <p:nvPr/>
        </p:nvCxnSpPr>
        <p:spPr>
          <a:xfrm>
            <a:off x="7704668" y="4007761"/>
            <a:ext cx="81491" cy="1666875"/>
          </a:xfrm>
          <a:prstGeom prst="line">
            <a:avLst/>
          </a:prstGeom>
        </p:spPr>
        <p:style>
          <a:lnRef idx="1">
            <a:schemeClr val="dk1"/>
          </a:lnRef>
          <a:fillRef idx="0">
            <a:schemeClr val="dk1"/>
          </a:fillRef>
          <a:effectRef idx="0">
            <a:schemeClr val="dk1"/>
          </a:effectRef>
          <a:fontRef idx="minor">
            <a:schemeClr val="tx1"/>
          </a:fontRef>
        </p:style>
      </p:cxnSp>
      <p:sp>
        <p:nvSpPr>
          <p:cNvPr id="102" name="101 Rectángulo">
            <a:extLst>
              <a:ext uri="{FF2B5EF4-FFF2-40B4-BE49-F238E27FC236}">
                <a16:creationId xmlns:a16="http://schemas.microsoft.com/office/drawing/2014/main" id="{87C055D0-3DFE-4D55-8B31-794A9B9DBC33}"/>
              </a:ext>
            </a:extLst>
          </p:cNvPr>
          <p:cNvSpPr/>
          <p:nvPr/>
        </p:nvSpPr>
        <p:spPr>
          <a:xfrm>
            <a:off x="11094509" y="1373569"/>
            <a:ext cx="575733" cy="431800"/>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4</a:t>
            </a:r>
            <a:endParaRPr lang="es-ES" sz="2800" dirty="0">
              <a:solidFill>
                <a:srgbClr val="FFFFFF"/>
              </a:solidFill>
              <a:latin typeface="Aharoni" pitchFamily="2" charset="-79"/>
              <a:cs typeface="Aharoni" pitchFamily="2" charset="-79"/>
              <a:sym typeface="Gill Sans"/>
            </a:endParaRPr>
          </a:p>
        </p:txBody>
      </p:sp>
      <p:sp>
        <p:nvSpPr>
          <p:cNvPr id="103" name="102 Forma libre">
            <a:extLst>
              <a:ext uri="{FF2B5EF4-FFF2-40B4-BE49-F238E27FC236}">
                <a16:creationId xmlns:a16="http://schemas.microsoft.com/office/drawing/2014/main" id="{9E574870-E101-4E7F-8265-EB7AAA53AD4C}"/>
              </a:ext>
            </a:extLst>
          </p:cNvPr>
          <p:cNvSpPr/>
          <p:nvPr/>
        </p:nvSpPr>
        <p:spPr>
          <a:xfrm>
            <a:off x="7732185" y="1595819"/>
            <a:ext cx="3185583" cy="1990725"/>
          </a:xfrm>
          <a:custGeom>
            <a:avLst/>
            <a:gdLst>
              <a:gd name="connsiteX0" fmla="*/ 0 w 3185652"/>
              <a:gd name="connsiteY0" fmla="*/ 1991032 h 1991032"/>
              <a:gd name="connsiteX1" fmla="*/ 766916 w 3185652"/>
              <a:gd name="connsiteY1" fmla="*/ 339213 h 1991032"/>
              <a:gd name="connsiteX2" fmla="*/ 3185652 w 3185652"/>
              <a:gd name="connsiteY2" fmla="*/ 0 h 1991032"/>
            </a:gdLst>
            <a:ahLst/>
            <a:cxnLst>
              <a:cxn ang="0">
                <a:pos x="connsiteX0" y="connsiteY0"/>
              </a:cxn>
              <a:cxn ang="0">
                <a:pos x="connsiteX1" y="connsiteY1"/>
              </a:cxn>
              <a:cxn ang="0">
                <a:pos x="connsiteX2" y="connsiteY2"/>
              </a:cxn>
            </a:cxnLst>
            <a:rect l="l" t="t" r="r" b="b"/>
            <a:pathLst>
              <a:path w="3185652" h="1991032">
                <a:moveTo>
                  <a:pt x="0" y="1991032"/>
                </a:moveTo>
                <a:cubicBezTo>
                  <a:pt x="117987" y="1331042"/>
                  <a:pt x="235974" y="671052"/>
                  <a:pt x="766916" y="339213"/>
                </a:cubicBezTo>
                <a:cubicBezTo>
                  <a:pt x="1297858" y="7374"/>
                  <a:pt x="2241755" y="3687"/>
                  <a:pt x="3185652" y="0"/>
                </a:cubicBezTo>
              </a:path>
            </a:pathLst>
          </a:custGeom>
          <a:noFill/>
          <a:ln>
            <a:solidFill>
              <a:schemeClr val="tx1">
                <a:lumMod val="65000"/>
                <a:lumOff val="35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endParaRPr lang="es-ES">
              <a:solidFill>
                <a:srgbClr val="FFFFFF"/>
              </a:solidFill>
              <a:latin typeface="Lucida Grande"/>
              <a:sym typeface="Gill Sans"/>
            </a:endParaRPr>
          </a:p>
        </p:txBody>
      </p:sp>
      <p:sp>
        <p:nvSpPr>
          <p:cNvPr id="104" name="103 Forma libre">
            <a:extLst>
              <a:ext uri="{FF2B5EF4-FFF2-40B4-BE49-F238E27FC236}">
                <a16:creationId xmlns:a16="http://schemas.microsoft.com/office/drawing/2014/main" id="{65510E22-A4A8-4AB1-8700-1C7C29E6EDC7}"/>
              </a:ext>
            </a:extLst>
          </p:cNvPr>
          <p:cNvSpPr/>
          <p:nvPr/>
        </p:nvSpPr>
        <p:spPr>
          <a:xfrm>
            <a:off x="7849659" y="1993753"/>
            <a:ext cx="3926417" cy="1695450"/>
          </a:xfrm>
          <a:custGeom>
            <a:avLst/>
            <a:gdLst>
              <a:gd name="connsiteX0" fmla="*/ 3672349 w 3926608"/>
              <a:gd name="connsiteY0" fmla="*/ 0 h 1696064"/>
              <a:gd name="connsiteX1" fmla="*/ 3539613 w 3926608"/>
              <a:gd name="connsiteY1" fmla="*/ 899651 h 1696064"/>
              <a:gd name="connsiteX2" fmla="*/ 0 w 3926608"/>
              <a:gd name="connsiteY2" fmla="*/ 1696064 h 1696064"/>
            </a:gdLst>
            <a:ahLst/>
            <a:cxnLst>
              <a:cxn ang="0">
                <a:pos x="connsiteX0" y="connsiteY0"/>
              </a:cxn>
              <a:cxn ang="0">
                <a:pos x="connsiteX1" y="connsiteY1"/>
              </a:cxn>
              <a:cxn ang="0">
                <a:pos x="connsiteX2" y="connsiteY2"/>
              </a:cxn>
            </a:cxnLst>
            <a:rect l="l" t="t" r="r" b="b"/>
            <a:pathLst>
              <a:path w="3926608" h="1696064">
                <a:moveTo>
                  <a:pt x="3672349" y="0"/>
                </a:moveTo>
                <a:cubicBezTo>
                  <a:pt x="3912010" y="308487"/>
                  <a:pt x="4151671" y="616974"/>
                  <a:pt x="3539613" y="899651"/>
                </a:cubicBezTo>
                <a:cubicBezTo>
                  <a:pt x="2927555" y="1182328"/>
                  <a:pt x="1463777" y="1439196"/>
                  <a:pt x="0" y="1696064"/>
                </a:cubicBezTo>
              </a:path>
            </a:pathLst>
          </a:custGeom>
          <a:noFill/>
          <a:ln>
            <a:solidFill>
              <a:schemeClr val="tx1">
                <a:lumMod val="65000"/>
                <a:lumOff val="35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endParaRPr lang="es-ES">
              <a:solidFill>
                <a:srgbClr val="FFFFFF"/>
              </a:solidFill>
              <a:latin typeface="Lucida Grande"/>
              <a:sym typeface="Gill Sans"/>
            </a:endParaRPr>
          </a:p>
        </p:txBody>
      </p:sp>
      <p:sp>
        <p:nvSpPr>
          <p:cNvPr id="105" name="TextBox 1">
            <a:extLst>
              <a:ext uri="{FF2B5EF4-FFF2-40B4-BE49-F238E27FC236}">
                <a16:creationId xmlns:a16="http://schemas.microsoft.com/office/drawing/2014/main" id="{7DE0AFB1-8294-40AC-978A-E52685609E38}"/>
              </a:ext>
            </a:extLst>
          </p:cNvPr>
          <p:cNvSpPr txBox="1"/>
          <p:nvPr/>
        </p:nvSpPr>
        <p:spPr>
          <a:xfrm>
            <a:off x="684548" y="493035"/>
            <a:ext cx="10476636" cy="584775"/>
          </a:xfrm>
          <a:prstGeom prst="rect">
            <a:avLst/>
          </a:prstGeom>
          <a:noFill/>
        </p:spPr>
        <p:txBody>
          <a:bodyPr wrap="square" rtlCol="0">
            <a:spAutoFit/>
          </a:bodyPr>
          <a:lstStyle/>
          <a:p>
            <a:pPr algn="ctr"/>
            <a:r>
              <a:rPr lang="es-ES" sz="3200" dirty="0">
                <a:latin typeface="Montserrat SemiBold" pitchFamily="2" charset="0"/>
              </a:rPr>
              <a:t>¿Cómo se trabaja?</a:t>
            </a:r>
            <a:endParaRPr lang="es-CL" sz="3200" dirty="0">
              <a:latin typeface="Montserrat SemiBold" pitchFamily="2" charset="0"/>
            </a:endParaRPr>
          </a:p>
        </p:txBody>
      </p:sp>
      <p:sp>
        <p:nvSpPr>
          <p:cNvPr id="106" name="CuadroTexto 105">
            <a:extLst>
              <a:ext uri="{FF2B5EF4-FFF2-40B4-BE49-F238E27FC236}">
                <a16:creationId xmlns:a16="http://schemas.microsoft.com/office/drawing/2014/main" id="{C0197298-83AD-4841-8863-C1393325792C}"/>
              </a:ext>
            </a:extLst>
          </p:cNvPr>
          <p:cNvSpPr txBox="1"/>
          <p:nvPr/>
        </p:nvSpPr>
        <p:spPr>
          <a:xfrm>
            <a:off x="663218" y="1591291"/>
            <a:ext cx="2390074" cy="4339650"/>
          </a:xfrm>
          <a:prstGeom prst="rect">
            <a:avLst/>
          </a:prstGeom>
          <a:noFill/>
        </p:spPr>
        <p:txBody>
          <a:bodyPr wrap="square">
            <a:spAutoFit/>
          </a:bodyPr>
          <a:lstStyle/>
          <a:p>
            <a:r>
              <a:rPr lang="es-CL" sz="1200" dirty="0">
                <a:latin typeface="Avenir Next" panose="020B0503020202020204" pitchFamily="34" charset="0"/>
              </a:rPr>
              <a:t>El método propuesto por Osterwalder para trabajar innovación de modelo de negocios consiste en:</a:t>
            </a:r>
          </a:p>
          <a:p>
            <a:endParaRPr lang="es-CL" sz="1200" dirty="0">
              <a:latin typeface="Avenir Next" panose="020B0503020202020204" pitchFamily="34" charset="0"/>
            </a:endParaRPr>
          </a:p>
          <a:p>
            <a:pPr marL="342900" indent="-342900">
              <a:buFont typeface="+mj-lt"/>
              <a:buAutoNum type="arabicPeriod"/>
            </a:pPr>
            <a:r>
              <a:rPr lang="es-CL" sz="1200" dirty="0">
                <a:latin typeface="Avenir Next" panose="020B0503020202020204" pitchFamily="34" charset="0"/>
              </a:rPr>
              <a:t>Sobre la descripción de lo tradicional, </a:t>
            </a:r>
          </a:p>
          <a:p>
            <a:pPr marL="342900" indent="-342900">
              <a:buFont typeface="+mj-lt"/>
              <a:buAutoNum type="arabicPeriod"/>
            </a:pPr>
            <a:r>
              <a:rPr lang="es-CL" sz="1200" dirty="0">
                <a:latin typeface="Avenir Next" panose="020B0503020202020204" pitchFamily="34" charset="0"/>
              </a:rPr>
              <a:t>Lanzar ideas y cambios en bloques particulares, </a:t>
            </a:r>
          </a:p>
          <a:p>
            <a:pPr marL="342900" indent="-342900">
              <a:buFont typeface="+mj-lt"/>
              <a:buAutoNum type="arabicPeriod"/>
            </a:pPr>
            <a:r>
              <a:rPr lang="es-CL" sz="1200" dirty="0">
                <a:latin typeface="Avenir Next" panose="020B0503020202020204" pitchFamily="34" charset="0"/>
              </a:rPr>
              <a:t>Jugar con diseños –encajes de bloques, </a:t>
            </a:r>
          </a:p>
          <a:p>
            <a:pPr marL="342900" indent="-342900">
              <a:buFont typeface="+mj-lt"/>
              <a:buAutoNum type="arabicPeriod"/>
            </a:pPr>
            <a:r>
              <a:rPr lang="es-CL" sz="1200" dirty="0">
                <a:latin typeface="Avenir Next" panose="020B0503020202020204" pitchFamily="34" charset="0"/>
              </a:rPr>
              <a:t>Iterar y probar  las nuevas soluciones</a:t>
            </a:r>
          </a:p>
          <a:p>
            <a:endParaRPr lang="es-CL" sz="1200" dirty="0">
              <a:latin typeface="Avenir Next" panose="020B0503020202020204" pitchFamily="34" charset="0"/>
            </a:endParaRPr>
          </a:p>
          <a:p>
            <a:r>
              <a:rPr lang="es-CL" sz="1200" dirty="0">
                <a:latin typeface="Avenir Next" panose="020B0503020202020204" pitchFamily="34" charset="0"/>
              </a:rPr>
              <a:t>El concepto es estresar algunos puntos (ejemplo los costos, nuevas fuentes de ingreso), buscar nuevos clientes (nuevos segmentos con nuevas solicitudes), sacar o poner nuevos componentes (las redes sociales en los teléfonos inteligentes).</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Elipse">
            <a:extLst>
              <a:ext uri="{FF2B5EF4-FFF2-40B4-BE49-F238E27FC236}">
                <a16:creationId xmlns:a16="http://schemas.microsoft.com/office/drawing/2014/main" id="{BD2C6EF3-B5B9-43CD-980C-2C4509FA93B5}"/>
              </a:ext>
            </a:extLst>
          </p:cNvPr>
          <p:cNvSpPr/>
          <p:nvPr/>
        </p:nvSpPr>
        <p:spPr>
          <a:xfrm>
            <a:off x="1919817" y="476250"/>
            <a:ext cx="1800225" cy="1800225"/>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defTabSz="914446">
              <a:defRPr/>
            </a:pPr>
            <a:r>
              <a:rPr lang="es-CL" sz="8800" dirty="0">
                <a:solidFill>
                  <a:srgbClr val="FFFFFF"/>
                </a:solidFill>
                <a:latin typeface="Montserrat" panose="00000500000000000000" pitchFamily="2" charset="0"/>
                <a:cs typeface="Aharoni" pitchFamily="2" charset="-79"/>
                <a:sym typeface="Gill Sans"/>
              </a:rPr>
              <a:t>1</a:t>
            </a:r>
            <a:endParaRPr lang="es-ES" sz="8800" dirty="0">
              <a:solidFill>
                <a:srgbClr val="FFFFFF"/>
              </a:solidFill>
              <a:latin typeface="Montserrat" panose="00000500000000000000" pitchFamily="2" charset="0"/>
              <a:cs typeface="Aharoni" pitchFamily="2" charset="-79"/>
              <a:sym typeface="Gill Sans"/>
            </a:endParaRPr>
          </a:p>
        </p:txBody>
      </p:sp>
      <p:sp>
        <p:nvSpPr>
          <p:cNvPr id="80899" name="2 CuadroTexto">
            <a:extLst>
              <a:ext uri="{FF2B5EF4-FFF2-40B4-BE49-F238E27FC236}">
                <a16:creationId xmlns:a16="http://schemas.microsoft.com/office/drawing/2014/main" id="{ED20A376-CF09-4B89-BCEE-E70655EC086A}"/>
              </a:ext>
            </a:extLst>
          </p:cNvPr>
          <p:cNvSpPr txBox="1">
            <a:spLocks noChangeArrowheads="1"/>
          </p:cNvSpPr>
          <p:nvPr/>
        </p:nvSpPr>
        <p:spPr bwMode="auto">
          <a:xfrm>
            <a:off x="4014259" y="650874"/>
            <a:ext cx="5986991"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1371600">
              <a:defRPr sz="4300">
                <a:solidFill>
                  <a:srgbClr val="000000"/>
                </a:solidFill>
                <a:latin typeface="Gill Sans" charset="0"/>
                <a:cs typeface="ヒラギノ角ゴ ProN W3" charset="0"/>
                <a:sym typeface="Gill Sans" charset="0"/>
              </a:defRPr>
            </a:lvl1pPr>
            <a:lvl2pPr defTabSz="1371600">
              <a:defRPr sz="4300">
                <a:solidFill>
                  <a:srgbClr val="000000"/>
                </a:solidFill>
                <a:latin typeface="Gill Sans" charset="0"/>
                <a:cs typeface="ヒラギノ角ゴ ProN W3" charset="0"/>
                <a:sym typeface="Gill Sans" charset="0"/>
              </a:defRPr>
            </a:lvl2pPr>
            <a:lvl3pPr defTabSz="1371600">
              <a:defRPr sz="4300">
                <a:solidFill>
                  <a:srgbClr val="000000"/>
                </a:solidFill>
                <a:latin typeface="Gill Sans" charset="0"/>
                <a:cs typeface="ヒラギノ角ゴ ProN W3" charset="0"/>
                <a:sym typeface="Gill Sans" charset="0"/>
              </a:defRPr>
            </a:lvl3pPr>
            <a:lvl4pPr defTabSz="1371600">
              <a:defRPr sz="4300">
                <a:solidFill>
                  <a:srgbClr val="000000"/>
                </a:solidFill>
                <a:latin typeface="Gill Sans" charset="0"/>
                <a:cs typeface="ヒラギノ角ゴ ProN W3" charset="0"/>
                <a:sym typeface="Gill Sans" charset="0"/>
              </a:defRPr>
            </a:lvl4pPr>
            <a:lvl5pPr defTabSz="1371600">
              <a:defRPr sz="4300">
                <a:solidFill>
                  <a:srgbClr val="000000"/>
                </a:solidFill>
                <a:latin typeface="Gill Sans" charset="0"/>
                <a:cs typeface="ヒラギノ角ゴ ProN W3" charset="0"/>
                <a:sym typeface="Gill Sans" charset="0"/>
              </a:defRPr>
            </a:lvl5pPr>
            <a:lvl6pPr marL="22844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6pPr>
            <a:lvl7pPr marL="27416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7pPr>
            <a:lvl8pPr marL="31988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8pPr>
            <a:lvl9pPr marL="36560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9pPr>
          </a:lstStyle>
          <a:p>
            <a:pPr defTabSz="914446" fontAlgn="base">
              <a:spcBef>
                <a:spcPct val="0"/>
              </a:spcBef>
              <a:spcAft>
                <a:spcPct val="0"/>
              </a:spcAft>
            </a:pPr>
            <a:r>
              <a:rPr lang="es-CL" altLang="es-CL" sz="1800" b="1" dirty="0">
                <a:latin typeface="Montserrat" panose="00000500000000000000" pitchFamily="2" charset="0"/>
              </a:rPr>
              <a:t>Describir</a:t>
            </a:r>
          </a:p>
          <a:p>
            <a:pPr defTabSz="914446" fontAlgn="base">
              <a:spcBef>
                <a:spcPct val="0"/>
              </a:spcBef>
              <a:spcAft>
                <a:spcPct val="0"/>
              </a:spcAft>
            </a:pPr>
            <a:r>
              <a:rPr lang="es-CL" altLang="es-CL" sz="1800" dirty="0">
                <a:latin typeface="Montserrat" panose="00000500000000000000" pitchFamily="2" charset="0"/>
              </a:rPr>
              <a:t>El primer paso es reconocer el modelo inicial de negocios –el patrón o diseño dominante-, buscando puntos clave que determinan el funcionamiento central del modelo.</a:t>
            </a:r>
            <a:endParaRPr lang="es-ES" altLang="es-CL" sz="1800" dirty="0">
              <a:latin typeface="Montserrat" panose="00000500000000000000" pitchFamily="2" charset="0"/>
            </a:endParaRPr>
          </a:p>
        </p:txBody>
      </p:sp>
      <p:graphicFrame>
        <p:nvGraphicFramePr>
          <p:cNvPr id="4" name="3 Tabla">
            <a:extLst>
              <a:ext uri="{FF2B5EF4-FFF2-40B4-BE49-F238E27FC236}">
                <a16:creationId xmlns:a16="http://schemas.microsoft.com/office/drawing/2014/main" id="{A9AD280F-7E74-4C3E-A476-A0444B6E08CC}"/>
              </a:ext>
            </a:extLst>
          </p:cNvPr>
          <p:cNvGraphicFramePr>
            <a:graphicFrameLocks noGrp="1"/>
          </p:cNvGraphicFramePr>
          <p:nvPr/>
        </p:nvGraphicFramePr>
        <p:xfrm>
          <a:off x="2135717" y="2573867"/>
          <a:ext cx="7865533" cy="4105276"/>
        </p:xfrm>
        <a:graphic>
          <a:graphicData uri="http://schemas.openxmlformats.org/drawingml/2006/table">
            <a:tbl>
              <a:tblPr>
                <a:tableStyleId>{5940675A-B579-460E-94D1-54222C63F5DA}</a:tableStyleId>
              </a:tblPr>
              <a:tblGrid>
                <a:gridCol w="1544653">
                  <a:extLst>
                    <a:ext uri="{9D8B030D-6E8A-4147-A177-3AD203B41FA5}">
                      <a16:colId xmlns:a16="http://schemas.microsoft.com/office/drawing/2014/main" val="20000"/>
                    </a:ext>
                  </a:extLst>
                </a:gridCol>
                <a:gridCol w="1582494">
                  <a:extLst>
                    <a:ext uri="{9D8B030D-6E8A-4147-A177-3AD203B41FA5}">
                      <a16:colId xmlns:a16="http://schemas.microsoft.com/office/drawing/2014/main" val="20001"/>
                    </a:ext>
                  </a:extLst>
                </a:gridCol>
                <a:gridCol w="810275">
                  <a:extLst>
                    <a:ext uri="{9D8B030D-6E8A-4147-A177-3AD203B41FA5}">
                      <a16:colId xmlns:a16="http://schemas.microsoft.com/office/drawing/2014/main" val="20002"/>
                    </a:ext>
                  </a:extLst>
                </a:gridCol>
                <a:gridCol w="826787">
                  <a:extLst>
                    <a:ext uri="{9D8B030D-6E8A-4147-A177-3AD203B41FA5}">
                      <a16:colId xmlns:a16="http://schemas.microsoft.com/office/drawing/2014/main" val="20003"/>
                    </a:ext>
                  </a:extLst>
                </a:gridCol>
                <a:gridCol w="1618872">
                  <a:extLst>
                    <a:ext uri="{9D8B030D-6E8A-4147-A177-3AD203B41FA5}">
                      <a16:colId xmlns:a16="http://schemas.microsoft.com/office/drawing/2014/main" val="20004"/>
                    </a:ext>
                  </a:extLst>
                </a:gridCol>
                <a:gridCol w="1482452">
                  <a:extLst>
                    <a:ext uri="{9D8B030D-6E8A-4147-A177-3AD203B41FA5}">
                      <a16:colId xmlns:a16="http://schemas.microsoft.com/office/drawing/2014/main" val="20005"/>
                    </a:ext>
                  </a:extLst>
                </a:gridCol>
              </a:tblGrid>
              <a:tr h="587917">
                <a:tc>
                  <a:txBody>
                    <a:body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s-ES_tradnl" sz="1100" u="none" strike="noStrike" cap="none" normalizeH="0" baseline="0" dirty="0">
                          <a:ln>
                            <a:noFill/>
                          </a:ln>
                          <a:effectLst/>
                        </a:rPr>
                        <a:t>Relaciones con proveedores/ Alianzas</a:t>
                      </a:r>
                      <a:endParaRPr kumimoji="0" lang="es-ES_tradnl" sz="1100" b="1" i="0" u="none" strike="noStrike" cap="none" normalizeH="0" baseline="0" dirty="0">
                        <a:ln>
                          <a:noFill/>
                        </a:ln>
                        <a:solidFill>
                          <a:schemeClr val="tx1"/>
                        </a:solidFill>
                        <a:effectLst/>
                        <a:latin typeface="Helvetica"/>
                        <a:ea typeface="ＭＳ Ｐゴシック" charset="0"/>
                        <a:cs typeface="Helvetica"/>
                      </a:endParaRPr>
                    </a:p>
                  </a:txBody>
                  <a:tcPr marL="0" marR="0" marT="45339" marB="45339" anchor="ctr" horzOverflow="overflow"/>
                </a:tc>
                <a:tc>
                  <a:txBody>
                    <a:body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s-ES_tradnl" sz="1100" u="none" strike="noStrike" cap="none" normalizeH="0" baseline="0" dirty="0">
                          <a:ln>
                            <a:noFill/>
                          </a:ln>
                          <a:effectLst/>
                        </a:rPr>
                        <a:t>Actividades claves/ Procesos</a:t>
                      </a:r>
                      <a:endParaRPr kumimoji="0" lang="es-ES_tradnl" sz="1100" b="1" i="0" u="none" strike="noStrike" cap="none" normalizeH="0" baseline="0" dirty="0">
                        <a:ln>
                          <a:noFill/>
                        </a:ln>
                        <a:solidFill>
                          <a:schemeClr val="tx1"/>
                        </a:solidFill>
                        <a:effectLst/>
                        <a:latin typeface="Helvetica"/>
                        <a:ea typeface="ＭＳ Ｐゴシック" charset="0"/>
                        <a:cs typeface="Helvetica"/>
                      </a:endParaRPr>
                    </a:p>
                  </a:txBody>
                  <a:tcPr marL="0" marR="0" marT="45339" marB="45339" anchor="ctr" horzOverflow="overflow"/>
                </a:tc>
                <a:tc gridSpan="2">
                  <a:txBody>
                    <a:body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s-ES_tradnl" sz="1100" u="none" strike="noStrike" cap="none" normalizeH="0" baseline="0" dirty="0">
                          <a:ln>
                            <a:noFill/>
                          </a:ln>
                          <a:effectLst/>
                        </a:rPr>
                        <a:t>Propuesta de Valor</a:t>
                      </a:r>
                      <a:endParaRPr kumimoji="0" lang="es-ES_tradnl" sz="1100" b="1" i="0" u="none" strike="noStrike" cap="none" normalizeH="0" baseline="0" dirty="0">
                        <a:ln>
                          <a:noFill/>
                        </a:ln>
                        <a:solidFill>
                          <a:schemeClr val="tx1"/>
                        </a:solidFill>
                        <a:effectLst/>
                        <a:latin typeface="Helvetica"/>
                        <a:ea typeface="ＭＳ Ｐゴシック" charset="0"/>
                        <a:cs typeface="Helvetica"/>
                      </a:endParaRPr>
                    </a:p>
                  </a:txBody>
                  <a:tcPr marL="0" marR="0" marT="45339" marB="45339" anchor="ctr" horzOverflow="overflow"/>
                </a:tc>
                <a:tc hMerge="1">
                  <a:txBody>
                    <a:bodyPr/>
                    <a:lstStyle/>
                    <a:p>
                      <a:endParaRPr lang="es-ES_tradnl"/>
                    </a:p>
                  </a:txBody>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s-ES_tradnl" sz="1100" u="none" strike="noStrike" cap="none" normalizeH="0" baseline="0" dirty="0">
                          <a:ln>
                            <a:noFill/>
                          </a:ln>
                          <a:effectLst/>
                        </a:rPr>
                        <a:t>Relación con el Consumidor</a:t>
                      </a:r>
                      <a:endParaRPr kumimoji="0" lang="es-ES_tradnl" sz="1100" b="1" i="0" u="none" strike="noStrike" cap="none" normalizeH="0" baseline="0" dirty="0">
                        <a:ln>
                          <a:noFill/>
                        </a:ln>
                        <a:solidFill>
                          <a:schemeClr val="tx1"/>
                        </a:solidFill>
                        <a:effectLst/>
                        <a:latin typeface="Helvetica"/>
                        <a:ea typeface="ＭＳ Ｐゴシック" charset="0"/>
                        <a:cs typeface="Helvetica"/>
                      </a:endParaRPr>
                    </a:p>
                  </a:txBody>
                  <a:tcPr marL="0" marR="0" marT="45339" marB="45339" anchor="ctr" horzOverflow="overflow"/>
                </a:tc>
                <a:tc>
                  <a:txBody>
                    <a:body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s-ES_tradnl" sz="1100" u="none" strike="noStrike" cap="none" normalizeH="0" baseline="0" dirty="0">
                          <a:ln>
                            <a:noFill/>
                          </a:ln>
                          <a:effectLst/>
                        </a:rPr>
                        <a:t>Segmento de Consumidores</a:t>
                      </a:r>
                      <a:endParaRPr kumimoji="0" lang="es-ES_tradnl" sz="1100" b="1" i="0" u="none" strike="noStrike" cap="none" normalizeH="0" baseline="0" dirty="0">
                        <a:ln>
                          <a:noFill/>
                        </a:ln>
                        <a:solidFill>
                          <a:schemeClr val="tx1"/>
                        </a:solidFill>
                        <a:effectLst/>
                        <a:latin typeface="Helvetica"/>
                        <a:ea typeface="ＭＳ Ｐゴシック" charset="0"/>
                        <a:cs typeface="Helvetica"/>
                      </a:endParaRPr>
                    </a:p>
                  </a:txBody>
                  <a:tcPr marL="0" marR="0" marT="45339" marB="45339" anchor="ctr" horzOverflow="overflow"/>
                </a:tc>
                <a:extLst>
                  <a:ext uri="{0D108BD9-81ED-4DB2-BD59-A6C34878D82A}">
                    <a16:rowId xmlns:a16="http://schemas.microsoft.com/office/drawing/2014/main" val="10000"/>
                  </a:ext>
                </a:extLst>
              </a:tr>
              <a:tr h="934669">
                <a:tc rowSpan="3">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s-CL" sz="900" b="0" i="0" u="none" strike="noStrike" cap="none" normalizeH="0" baseline="0" dirty="0">
                        <a:ln>
                          <a:noFill/>
                        </a:ln>
                        <a:solidFill>
                          <a:srgbClr val="414349"/>
                        </a:solidFill>
                        <a:effectLst/>
                        <a:latin typeface="Helvetica"/>
                        <a:ea typeface="ＭＳ Ｐゴシック" charset="0"/>
                        <a:cs typeface="Helvetica"/>
                      </a:endParaRPr>
                    </a:p>
                  </a:txBody>
                  <a:tcPr marL="107995" marR="5358" marT="86363" marB="0"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s-CL" sz="900" b="0" i="0" u="none" strike="noStrike" kern="1200" cap="none" spc="0" normalizeH="0" baseline="0" noProof="0" dirty="0">
                        <a:ln>
                          <a:noFill/>
                        </a:ln>
                        <a:solidFill>
                          <a:srgbClr val="414349"/>
                        </a:solidFill>
                        <a:effectLst/>
                        <a:uLnTx/>
                        <a:uFillTx/>
                        <a:latin typeface="Helvetica"/>
                        <a:ea typeface="ＭＳ Ｐゴシック" charset="0"/>
                        <a:cs typeface="Helvetica"/>
                      </a:endParaRPr>
                    </a:p>
                  </a:txBody>
                  <a:tcPr marL="107995" marR="5358" marT="96727" marB="0" horzOverflow="overflow"/>
                </a:tc>
                <a:tc rowSpan="3" gridSpan="2">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s-CL" sz="900" b="0" i="0" u="none" strike="noStrike" kern="1200" cap="none" spc="0" normalizeH="0" baseline="0" noProof="0" dirty="0">
                        <a:ln>
                          <a:noFill/>
                        </a:ln>
                        <a:solidFill>
                          <a:srgbClr val="414349"/>
                        </a:solidFill>
                        <a:effectLst/>
                        <a:uLnTx/>
                        <a:uFillTx/>
                        <a:latin typeface="Helvetica"/>
                        <a:ea typeface="ＭＳ Ｐゴシック" charset="0"/>
                        <a:cs typeface="Helvetica"/>
                      </a:endParaRPr>
                    </a:p>
                  </a:txBody>
                  <a:tcPr marL="107995" marR="5358" marT="96727" marB="0" horzOverflow="overflow"/>
                </a:tc>
                <a:tc rowSpan="3" hMerge="1">
                  <a:txBody>
                    <a:bodyPr/>
                    <a:lstStyle/>
                    <a:p>
                      <a:endParaRPr lang="es-ES_tradnl"/>
                    </a:p>
                  </a:txBody>
                  <a:tcPr/>
                </a:tc>
                <a:tc>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s-CL" sz="900" b="0" i="0" u="none" strike="noStrike" kern="1200" cap="none" spc="0" normalizeH="0" baseline="0" noProof="0" dirty="0">
                        <a:ln>
                          <a:noFill/>
                        </a:ln>
                        <a:solidFill>
                          <a:srgbClr val="414349"/>
                        </a:solidFill>
                        <a:effectLst/>
                        <a:uLnTx/>
                        <a:uFillTx/>
                        <a:latin typeface="Helvetica"/>
                        <a:ea typeface="ＭＳ Ｐゴシック" charset="0"/>
                        <a:cs typeface="Helvetica"/>
                      </a:endParaRPr>
                    </a:p>
                  </a:txBody>
                  <a:tcPr marL="107995" marR="5358" marT="96727" marB="0" horzOverflow="overflow"/>
                </a:tc>
                <a:tc rowSpan="3">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s-CL" sz="900" b="0" i="0" u="none" strike="noStrike" kern="1200" cap="none" spc="0" normalizeH="0" baseline="0" noProof="0" dirty="0">
                        <a:ln>
                          <a:noFill/>
                        </a:ln>
                        <a:solidFill>
                          <a:srgbClr val="414349"/>
                        </a:solidFill>
                        <a:effectLst/>
                        <a:uLnTx/>
                        <a:uFillTx/>
                        <a:latin typeface="Helvetica"/>
                        <a:ea typeface="ＭＳ Ｐゴシック" charset="0"/>
                        <a:cs typeface="Helvetica"/>
                      </a:endParaRPr>
                    </a:p>
                  </a:txBody>
                  <a:tcPr marL="107995" marR="5358" marT="96727" marB="0" horzOverflow="overflow"/>
                </a:tc>
                <a:extLst>
                  <a:ext uri="{0D108BD9-81ED-4DB2-BD59-A6C34878D82A}">
                    <a16:rowId xmlns:a16="http://schemas.microsoft.com/office/drawing/2014/main" val="10001"/>
                  </a:ext>
                </a:extLst>
              </a:tr>
              <a:tr h="231351">
                <a:tc vMerge="1">
                  <a:txBody>
                    <a:bodyPr/>
                    <a:lstStyle/>
                    <a:p>
                      <a:endParaRPr lang="es-ES_tradnl"/>
                    </a:p>
                  </a:txBody>
                  <a:tcPr/>
                </a:tc>
                <a:tc>
                  <a:txBody>
                    <a:bodyPr/>
                    <a:lstStyle/>
                    <a:p>
                      <a:pPr algn="ctr"/>
                      <a:r>
                        <a:rPr lang="es-ES_tradnl" sz="1100" dirty="0"/>
                        <a:t>Recursos claves</a:t>
                      </a:r>
                      <a:endParaRPr lang="es-ES_tradnl" sz="1100" b="1" dirty="0">
                        <a:solidFill>
                          <a:schemeClr val="tx1"/>
                        </a:solidFill>
                        <a:latin typeface="Helvetica"/>
                        <a:cs typeface="Helvetica"/>
                      </a:endParaRPr>
                    </a:p>
                  </a:txBody>
                  <a:tcPr marL="27791" marR="5358" marT="5333" marB="0" anchor="ctr" horzOverflow="overflow"/>
                </a:tc>
                <a:tc gridSpan="2" vMerge="1">
                  <a:txBody>
                    <a:bodyPr/>
                    <a:lstStyle/>
                    <a:p>
                      <a:endParaRPr lang="es-ES_tradnl"/>
                    </a:p>
                  </a:txBody>
                  <a:tcPr/>
                </a:tc>
                <a:tc hMerge="1" vMerge="1">
                  <a:txBody>
                    <a:bodyPr/>
                    <a:lstStyle/>
                    <a:p>
                      <a:endParaRPr lang="es-ES_tradnl"/>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100" u="none" strike="noStrike" kern="1200" cap="none" spc="0" normalizeH="0" baseline="0" noProof="0" dirty="0">
                          <a:ln>
                            <a:noFill/>
                          </a:ln>
                          <a:effectLst/>
                          <a:uLnTx/>
                          <a:uFillTx/>
                        </a:rPr>
                        <a:t>Canales</a:t>
                      </a:r>
                      <a:endParaRPr kumimoji="0" lang="es-ES_tradnl" sz="1100" b="1" i="0" u="none" strike="noStrike" kern="1200" cap="none" spc="0" normalizeH="0" baseline="0" noProof="0" dirty="0">
                        <a:ln>
                          <a:noFill/>
                        </a:ln>
                        <a:solidFill>
                          <a:schemeClr val="tx1"/>
                        </a:solidFill>
                        <a:effectLst/>
                        <a:uLnTx/>
                        <a:uFillTx/>
                        <a:latin typeface="Helvetica"/>
                        <a:ea typeface="+mn-ea"/>
                        <a:cs typeface="Helvetica"/>
                      </a:endParaRPr>
                    </a:p>
                  </a:txBody>
                  <a:tcPr marL="27791" marR="5358" marT="5333" marB="0" anchor="ctr" horzOverflow="overflow"/>
                </a:tc>
                <a:tc vMerge="1">
                  <a:txBody>
                    <a:bodyPr/>
                    <a:lstStyle/>
                    <a:p>
                      <a:endParaRPr lang="es-ES_tradnl"/>
                    </a:p>
                  </a:txBody>
                  <a:tcPr/>
                </a:tc>
                <a:extLst>
                  <a:ext uri="{0D108BD9-81ED-4DB2-BD59-A6C34878D82A}">
                    <a16:rowId xmlns:a16="http://schemas.microsoft.com/office/drawing/2014/main" val="10002"/>
                  </a:ext>
                </a:extLst>
              </a:tr>
              <a:tr h="869780">
                <a:tc vMerge="1">
                  <a:txBody>
                    <a:bodyPr/>
                    <a:lstStyle/>
                    <a:p>
                      <a:endParaRPr lang="es-ES_tradnl"/>
                    </a:p>
                  </a:txBody>
                  <a:tcPr/>
                </a:tc>
                <a:tc>
                  <a:txBody>
                    <a:bodyPr/>
                    <a:lstStyle/>
                    <a:p>
                      <a:endParaRPr lang="es-ES_tradnl" sz="2500" dirty="0"/>
                    </a:p>
                  </a:txBody>
                  <a:tcPr marL="27791" marR="5358" marT="5333" marB="0" horzOverflow="overflow"/>
                </a:tc>
                <a:tc gridSpan="2" vMerge="1">
                  <a:txBody>
                    <a:bodyPr/>
                    <a:lstStyle/>
                    <a:p>
                      <a:endParaRPr lang="es-ES_tradnl"/>
                    </a:p>
                  </a:txBody>
                  <a:tcPr/>
                </a:tc>
                <a:tc hMerge="1" vMerge="1">
                  <a:txBody>
                    <a:bodyPr/>
                    <a:lstStyle/>
                    <a:p>
                      <a:endParaRPr lang="es-ES_tradnl"/>
                    </a:p>
                  </a:txBody>
                  <a:tcPr/>
                </a:tc>
                <a:tc>
                  <a:txBody>
                    <a:bodyPr/>
                    <a:lstStyle/>
                    <a:p>
                      <a:endParaRPr lang="es-ES_tradnl" sz="2500" dirty="0">
                        <a:solidFill>
                          <a:srgbClr val="414349"/>
                        </a:solidFill>
                      </a:endParaRPr>
                    </a:p>
                  </a:txBody>
                  <a:tcPr marL="27791" marR="5358" marT="5333" marB="0" horzOverflow="overflow"/>
                </a:tc>
                <a:tc vMerge="1">
                  <a:txBody>
                    <a:bodyPr/>
                    <a:lstStyle/>
                    <a:p>
                      <a:endParaRPr lang="es-ES_tradnl"/>
                    </a:p>
                  </a:txBody>
                  <a:tcPr/>
                </a:tc>
                <a:extLst>
                  <a:ext uri="{0D108BD9-81ED-4DB2-BD59-A6C34878D82A}">
                    <a16:rowId xmlns:a16="http://schemas.microsoft.com/office/drawing/2014/main" val="10003"/>
                  </a:ext>
                </a:extLst>
              </a:tr>
              <a:tr h="242636">
                <a:tc gridSpan="3">
                  <a:txBody>
                    <a:bodyPr/>
                    <a:lstStyle/>
                    <a:p>
                      <a:pPr algn="ctr"/>
                      <a:r>
                        <a:rPr lang="es-ES_tradnl" sz="1100" dirty="0"/>
                        <a:t>Estructura de Costos</a:t>
                      </a:r>
                      <a:endParaRPr lang="es-ES_tradnl" sz="1100" b="1" dirty="0">
                        <a:solidFill>
                          <a:schemeClr val="tx1"/>
                        </a:solidFill>
                        <a:latin typeface="Helvetica"/>
                        <a:cs typeface="Helvetica"/>
                      </a:endParaRPr>
                    </a:p>
                  </a:txBody>
                  <a:tcPr marL="27791" marR="5358" marT="5333" marB="0" anchor="ctr" horzOverflow="overflow"/>
                </a:tc>
                <a:tc hMerge="1">
                  <a:txBody>
                    <a:bodyPr/>
                    <a:lstStyle/>
                    <a:p>
                      <a:endParaRPr lang="es-ES_tradnl"/>
                    </a:p>
                  </a:txBody>
                  <a:tcPr/>
                </a:tc>
                <a:tc hMerge="1">
                  <a:txBody>
                    <a:bodyPr/>
                    <a:lstStyle/>
                    <a:p>
                      <a:endParaRPr lang="es-ES_tradnl"/>
                    </a:p>
                  </a:txBody>
                  <a:tcPr/>
                </a:tc>
                <a:tc gridSpan="3">
                  <a:txBody>
                    <a:bodyPr/>
                    <a:lstStyle/>
                    <a:p>
                      <a:pPr marL="0" marR="0" lvl="0" indent="0" algn="ctr" defTabSz="914400" rtl="0" eaLnBrk="1" fontAlgn="b" latinLnBrk="0" hangingPunct="1">
                        <a:lnSpc>
                          <a:spcPct val="100000"/>
                        </a:lnSpc>
                        <a:spcBef>
                          <a:spcPct val="0"/>
                        </a:spcBef>
                        <a:spcAft>
                          <a:spcPct val="0"/>
                        </a:spcAft>
                        <a:buClrTx/>
                        <a:buSzTx/>
                        <a:buFontTx/>
                        <a:buNone/>
                        <a:tabLst/>
                        <a:defRPr/>
                      </a:pPr>
                      <a:r>
                        <a:rPr lang="es-ES_tradnl" sz="1100" dirty="0"/>
                        <a:t>Flujos - Ingresos</a:t>
                      </a:r>
                      <a:endParaRPr lang="es-ES_tradnl" sz="1100" b="1" dirty="0">
                        <a:solidFill>
                          <a:schemeClr val="tx1"/>
                        </a:solidFill>
                        <a:latin typeface="Helvetica"/>
                        <a:cs typeface="Helvetica"/>
                      </a:endParaRPr>
                    </a:p>
                  </a:txBody>
                  <a:tcPr marL="27791" marR="5358" marT="5333" marB="0" anchor="ctr" horzOverflow="overflow"/>
                </a:tc>
                <a:tc hMerge="1">
                  <a:txBody>
                    <a:bodyPr/>
                    <a:lstStyle/>
                    <a:p>
                      <a:endParaRPr lang="es-ES_tradnl"/>
                    </a:p>
                  </a:txBody>
                  <a:tcPr/>
                </a:tc>
                <a:tc hMerge="1">
                  <a:txBody>
                    <a:bodyPr/>
                    <a:lstStyle/>
                    <a:p>
                      <a:endParaRPr lang="es-ES_tradnl"/>
                    </a:p>
                  </a:txBody>
                  <a:tcPr/>
                </a:tc>
                <a:extLst>
                  <a:ext uri="{0D108BD9-81ED-4DB2-BD59-A6C34878D82A}">
                    <a16:rowId xmlns:a16="http://schemas.microsoft.com/office/drawing/2014/main" val="10004"/>
                  </a:ext>
                </a:extLst>
              </a:tr>
              <a:tr h="1238923">
                <a:tc gridSpan="3">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s-CL" sz="900" b="0" i="0" u="none" strike="noStrike" cap="none" normalizeH="0" baseline="0" dirty="0">
                        <a:ln>
                          <a:noFill/>
                        </a:ln>
                        <a:solidFill>
                          <a:srgbClr val="414349"/>
                        </a:solidFill>
                        <a:effectLst/>
                        <a:latin typeface="Helvetica"/>
                        <a:ea typeface="ＭＳ Ｐゴシック" charset="0"/>
                        <a:cs typeface="Helvetica"/>
                      </a:endParaRPr>
                    </a:p>
                  </a:txBody>
                  <a:tcPr marL="107995" marR="5358" marT="96727" marB="0" horzOverflow="overflow"/>
                </a:tc>
                <a:tc hMerge="1">
                  <a:txBody>
                    <a:bodyPr/>
                    <a:lstStyle/>
                    <a:p>
                      <a:endParaRPr lang="es-ES_tradnl"/>
                    </a:p>
                  </a:txBody>
                  <a:tcPr/>
                </a:tc>
                <a:tc hMerge="1">
                  <a:txBody>
                    <a:bodyPr/>
                    <a:lstStyle/>
                    <a:p>
                      <a:endParaRPr lang="es-ES_tradnl"/>
                    </a:p>
                  </a:txBody>
                  <a:tcPr/>
                </a:tc>
                <a:tc gridSpan="3">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s-CL" sz="900" b="0" i="0" u="none" strike="noStrike" cap="none" normalizeH="0" baseline="0" dirty="0">
                        <a:ln>
                          <a:noFill/>
                        </a:ln>
                        <a:solidFill>
                          <a:srgbClr val="414349"/>
                        </a:solidFill>
                        <a:effectLst/>
                        <a:latin typeface="Helvetica"/>
                        <a:ea typeface="ＭＳ Ｐゴシック" charset="0"/>
                        <a:cs typeface="Helvetica"/>
                      </a:endParaRPr>
                    </a:p>
                  </a:txBody>
                  <a:tcPr marL="107995" marR="5358" marT="96727" marB="0" horzOverflow="overflow"/>
                </a:tc>
                <a:tc hMerge="1">
                  <a:txBody>
                    <a:bodyPr/>
                    <a:lstStyle/>
                    <a:p>
                      <a:endParaRPr lang="es-ES_tradnl"/>
                    </a:p>
                  </a:txBody>
                  <a:tcPr/>
                </a:tc>
                <a:tc hMerge="1">
                  <a:txBody>
                    <a:bodyPr/>
                    <a:lstStyle/>
                    <a:p>
                      <a:endParaRPr lang="es-ES_tradnl"/>
                    </a:p>
                  </a:txBody>
                  <a:tcPr/>
                </a:tc>
                <a:extLst>
                  <a:ext uri="{0D108BD9-81ED-4DB2-BD59-A6C34878D82A}">
                    <a16:rowId xmlns:a16="http://schemas.microsoft.com/office/drawing/2014/main" val="10005"/>
                  </a:ext>
                </a:extLst>
              </a:tr>
            </a:tbl>
          </a:graphicData>
        </a:graphic>
      </p:graphicFrame>
      <p:sp>
        <p:nvSpPr>
          <p:cNvPr id="5" name="4 Elipse">
            <a:extLst>
              <a:ext uri="{FF2B5EF4-FFF2-40B4-BE49-F238E27FC236}">
                <a16:creationId xmlns:a16="http://schemas.microsoft.com/office/drawing/2014/main" id="{52069372-9153-44B2-B538-6B28EA2FBA7C}"/>
              </a:ext>
            </a:extLst>
          </p:cNvPr>
          <p:cNvSpPr/>
          <p:nvPr/>
        </p:nvSpPr>
        <p:spPr>
          <a:xfrm>
            <a:off x="9264650" y="3644900"/>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6" name="5 Elipse">
            <a:extLst>
              <a:ext uri="{FF2B5EF4-FFF2-40B4-BE49-F238E27FC236}">
                <a16:creationId xmlns:a16="http://schemas.microsoft.com/office/drawing/2014/main" id="{04D49244-68AF-4472-B7FE-110EC35FDF6B}"/>
              </a:ext>
            </a:extLst>
          </p:cNvPr>
          <p:cNvSpPr/>
          <p:nvPr/>
        </p:nvSpPr>
        <p:spPr>
          <a:xfrm>
            <a:off x="9413875" y="4509559"/>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7" name="6 Elipse">
            <a:extLst>
              <a:ext uri="{FF2B5EF4-FFF2-40B4-BE49-F238E27FC236}">
                <a16:creationId xmlns:a16="http://schemas.microsoft.com/office/drawing/2014/main" id="{3219EEAA-67F9-4087-B236-29265D197004}"/>
              </a:ext>
            </a:extLst>
          </p:cNvPr>
          <p:cNvSpPr/>
          <p:nvPr/>
        </p:nvSpPr>
        <p:spPr>
          <a:xfrm>
            <a:off x="7032625" y="3213100"/>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8" name="7 Elipse">
            <a:extLst>
              <a:ext uri="{FF2B5EF4-FFF2-40B4-BE49-F238E27FC236}">
                <a16:creationId xmlns:a16="http://schemas.microsoft.com/office/drawing/2014/main" id="{FCE15FA9-19FB-4235-A3C0-6215BA0F09CA}"/>
              </a:ext>
            </a:extLst>
          </p:cNvPr>
          <p:cNvSpPr/>
          <p:nvPr/>
        </p:nvSpPr>
        <p:spPr>
          <a:xfrm>
            <a:off x="7464425" y="4509559"/>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9" name="8 Elipse">
            <a:extLst>
              <a:ext uri="{FF2B5EF4-FFF2-40B4-BE49-F238E27FC236}">
                <a16:creationId xmlns:a16="http://schemas.microsoft.com/office/drawing/2014/main" id="{957AC22B-B537-49B0-87F2-8AA7CD93BDBD}"/>
              </a:ext>
            </a:extLst>
          </p:cNvPr>
          <p:cNvSpPr/>
          <p:nvPr/>
        </p:nvSpPr>
        <p:spPr>
          <a:xfrm>
            <a:off x="5448300" y="3258609"/>
            <a:ext cx="431800" cy="43285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0" name="9 Elipse">
            <a:extLst>
              <a:ext uri="{FF2B5EF4-FFF2-40B4-BE49-F238E27FC236}">
                <a16:creationId xmlns:a16="http://schemas.microsoft.com/office/drawing/2014/main" id="{EE565D0C-D5BA-441F-8F53-EFF405391557}"/>
              </a:ext>
            </a:extLst>
          </p:cNvPr>
          <p:cNvSpPr/>
          <p:nvPr/>
        </p:nvSpPr>
        <p:spPr>
          <a:xfrm>
            <a:off x="5880100" y="3907367"/>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1" name="10 Elipse">
            <a:extLst>
              <a:ext uri="{FF2B5EF4-FFF2-40B4-BE49-F238E27FC236}">
                <a16:creationId xmlns:a16="http://schemas.microsoft.com/office/drawing/2014/main" id="{19C0B1B0-69E4-48B7-AA7A-D585EAA72A81}"/>
              </a:ext>
            </a:extLst>
          </p:cNvPr>
          <p:cNvSpPr/>
          <p:nvPr/>
        </p:nvSpPr>
        <p:spPr>
          <a:xfrm>
            <a:off x="5448300" y="4509559"/>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2" name="11 Elipse">
            <a:extLst>
              <a:ext uri="{FF2B5EF4-FFF2-40B4-BE49-F238E27FC236}">
                <a16:creationId xmlns:a16="http://schemas.microsoft.com/office/drawing/2014/main" id="{1B34ED86-F392-49C3-88BD-FA3847D109D0}"/>
              </a:ext>
            </a:extLst>
          </p:cNvPr>
          <p:cNvSpPr/>
          <p:nvPr/>
        </p:nvSpPr>
        <p:spPr>
          <a:xfrm>
            <a:off x="6763809" y="5804959"/>
            <a:ext cx="431800" cy="43285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3" name="12 Elipse">
            <a:extLst>
              <a:ext uri="{FF2B5EF4-FFF2-40B4-BE49-F238E27FC236}">
                <a16:creationId xmlns:a16="http://schemas.microsoft.com/office/drawing/2014/main" id="{62438051-2D70-42A9-A668-DC7F926F9582}"/>
              </a:ext>
            </a:extLst>
          </p:cNvPr>
          <p:cNvSpPr/>
          <p:nvPr/>
        </p:nvSpPr>
        <p:spPr>
          <a:xfrm>
            <a:off x="7829550" y="5804959"/>
            <a:ext cx="431800" cy="43285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4" name="13 Elipse">
            <a:extLst>
              <a:ext uri="{FF2B5EF4-FFF2-40B4-BE49-F238E27FC236}">
                <a16:creationId xmlns:a16="http://schemas.microsoft.com/office/drawing/2014/main" id="{354035E4-DB44-42E1-B6DE-1ADD26B123B2}"/>
              </a:ext>
            </a:extLst>
          </p:cNvPr>
          <p:cNvSpPr/>
          <p:nvPr/>
        </p:nvSpPr>
        <p:spPr>
          <a:xfrm>
            <a:off x="9048750" y="5826126"/>
            <a:ext cx="431800" cy="43285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5" name="14 Elipse">
            <a:extLst>
              <a:ext uri="{FF2B5EF4-FFF2-40B4-BE49-F238E27FC236}">
                <a16:creationId xmlns:a16="http://schemas.microsoft.com/office/drawing/2014/main" id="{63D0DF2B-8897-4BE4-AF19-2E06F12FD4FF}"/>
              </a:ext>
            </a:extLst>
          </p:cNvPr>
          <p:cNvSpPr/>
          <p:nvPr/>
        </p:nvSpPr>
        <p:spPr>
          <a:xfrm>
            <a:off x="4007909" y="3089275"/>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6" name="15 Elipse">
            <a:extLst>
              <a:ext uri="{FF2B5EF4-FFF2-40B4-BE49-F238E27FC236}">
                <a16:creationId xmlns:a16="http://schemas.microsoft.com/office/drawing/2014/main" id="{6CC2F56F-4EB9-4160-A215-85DBFEC5B78B}"/>
              </a:ext>
            </a:extLst>
          </p:cNvPr>
          <p:cNvSpPr/>
          <p:nvPr/>
        </p:nvSpPr>
        <p:spPr>
          <a:xfrm>
            <a:off x="4583642" y="3411009"/>
            <a:ext cx="431800" cy="43285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7" name="16 Elipse">
            <a:extLst>
              <a:ext uri="{FF2B5EF4-FFF2-40B4-BE49-F238E27FC236}">
                <a16:creationId xmlns:a16="http://schemas.microsoft.com/office/drawing/2014/main" id="{ECEA861C-557A-449C-933F-5CE54B6DE85E}"/>
              </a:ext>
            </a:extLst>
          </p:cNvPr>
          <p:cNvSpPr/>
          <p:nvPr/>
        </p:nvSpPr>
        <p:spPr>
          <a:xfrm>
            <a:off x="3792009" y="4341283"/>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8" name="17 Elipse">
            <a:extLst>
              <a:ext uri="{FF2B5EF4-FFF2-40B4-BE49-F238E27FC236}">
                <a16:creationId xmlns:a16="http://schemas.microsoft.com/office/drawing/2014/main" id="{F08CB795-2AA4-418A-97F5-38C4E3146454}"/>
              </a:ext>
            </a:extLst>
          </p:cNvPr>
          <p:cNvSpPr/>
          <p:nvPr/>
        </p:nvSpPr>
        <p:spPr>
          <a:xfrm>
            <a:off x="4367742" y="4530725"/>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9" name="18 Elipse">
            <a:extLst>
              <a:ext uri="{FF2B5EF4-FFF2-40B4-BE49-F238E27FC236}">
                <a16:creationId xmlns:a16="http://schemas.microsoft.com/office/drawing/2014/main" id="{FC33A2CB-734D-4D11-A29A-03D63D5784A3}"/>
              </a:ext>
            </a:extLst>
          </p:cNvPr>
          <p:cNvSpPr/>
          <p:nvPr/>
        </p:nvSpPr>
        <p:spPr>
          <a:xfrm>
            <a:off x="2423583" y="3182409"/>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20" name="19 Elipse">
            <a:extLst>
              <a:ext uri="{FF2B5EF4-FFF2-40B4-BE49-F238E27FC236}">
                <a16:creationId xmlns:a16="http://schemas.microsoft.com/office/drawing/2014/main" id="{F5E5FB3A-5E95-41D1-8BE3-49FE9DFB73D4}"/>
              </a:ext>
            </a:extLst>
          </p:cNvPr>
          <p:cNvSpPr/>
          <p:nvPr/>
        </p:nvSpPr>
        <p:spPr>
          <a:xfrm>
            <a:off x="2602442" y="3843867"/>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21" name="20 Elipse">
            <a:extLst>
              <a:ext uri="{FF2B5EF4-FFF2-40B4-BE49-F238E27FC236}">
                <a16:creationId xmlns:a16="http://schemas.microsoft.com/office/drawing/2014/main" id="{AC811D46-9057-48CD-9E0E-D52218D53E51}"/>
              </a:ext>
            </a:extLst>
          </p:cNvPr>
          <p:cNvSpPr/>
          <p:nvPr/>
        </p:nvSpPr>
        <p:spPr>
          <a:xfrm>
            <a:off x="2423583" y="4493683"/>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22" name="21 Elipse">
            <a:extLst>
              <a:ext uri="{FF2B5EF4-FFF2-40B4-BE49-F238E27FC236}">
                <a16:creationId xmlns:a16="http://schemas.microsoft.com/office/drawing/2014/main" id="{C74D403D-974E-48A3-955C-D93D332053F9}"/>
              </a:ext>
            </a:extLst>
          </p:cNvPr>
          <p:cNvSpPr/>
          <p:nvPr/>
        </p:nvSpPr>
        <p:spPr>
          <a:xfrm>
            <a:off x="2423583" y="5610225"/>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23" name="22 Elipse">
            <a:extLst>
              <a:ext uri="{FF2B5EF4-FFF2-40B4-BE49-F238E27FC236}">
                <a16:creationId xmlns:a16="http://schemas.microsoft.com/office/drawing/2014/main" id="{B2CFD817-FCA8-4BB7-BD1B-D95564DE0A9E}"/>
              </a:ext>
            </a:extLst>
          </p:cNvPr>
          <p:cNvSpPr/>
          <p:nvPr/>
        </p:nvSpPr>
        <p:spPr>
          <a:xfrm>
            <a:off x="3582459" y="5774267"/>
            <a:ext cx="431800" cy="43285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24" name="23 Elipse">
            <a:extLst>
              <a:ext uri="{FF2B5EF4-FFF2-40B4-BE49-F238E27FC236}">
                <a16:creationId xmlns:a16="http://schemas.microsoft.com/office/drawing/2014/main" id="{E13051A7-5821-484D-858C-5C16D02FA99E}"/>
              </a:ext>
            </a:extLst>
          </p:cNvPr>
          <p:cNvSpPr/>
          <p:nvPr/>
        </p:nvSpPr>
        <p:spPr>
          <a:xfrm>
            <a:off x="5015442" y="5826126"/>
            <a:ext cx="432858" cy="43285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Tabla">
            <a:extLst>
              <a:ext uri="{FF2B5EF4-FFF2-40B4-BE49-F238E27FC236}">
                <a16:creationId xmlns:a16="http://schemas.microsoft.com/office/drawing/2014/main" id="{1AAB7C32-D541-48F7-8F94-A1AAFEE3E389}"/>
              </a:ext>
            </a:extLst>
          </p:cNvPr>
          <p:cNvGraphicFramePr>
            <a:graphicFrameLocks noGrp="1"/>
          </p:cNvGraphicFramePr>
          <p:nvPr/>
        </p:nvGraphicFramePr>
        <p:xfrm>
          <a:off x="2135717" y="2573867"/>
          <a:ext cx="7865533" cy="4105276"/>
        </p:xfrm>
        <a:graphic>
          <a:graphicData uri="http://schemas.openxmlformats.org/drawingml/2006/table">
            <a:tbl>
              <a:tblPr>
                <a:tableStyleId>{5940675A-B579-460E-94D1-54222C63F5DA}</a:tableStyleId>
              </a:tblPr>
              <a:tblGrid>
                <a:gridCol w="1544653">
                  <a:extLst>
                    <a:ext uri="{9D8B030D-6E8A-4147-A177-3AD203B41FA5}">
                      <a16:colId xmlns:a16="http://schemas.microsoft.com/office/drawing/2014/main" val="20000"/>
                    </a:ext>
                  </a:extLst>
                </a:gridCol>
                <a:gridCol w="1582494">
                  <a:extLst>
                    <a:ext uri="{9D8B030D-6E8A-4147-A177-3AD203B41FA5}">
                      <a16:colId xmlns:a16="http://schemas.microsoft.com/office/drawing/2014/main" val="20001"/>
                    </a:ext>
                  </a:extLst>
                </a:gridCol>
                <a:gridCol w="810275">
                  <a:extLst>
                    <a:ext uri="{9D8B030D-6E8A-4147-A177-3AD203B41FA5}">
                      <a16:colId xmlns:a16="http://schemas.microsoft.com/office/drawing/2014/main" val="20002"/>
                    </a:ext>
                  </a:extLst>
                </a:gridCol>
                <a:gridCol w="826787">
                  <a:extLst>
                    <a:ext uri="{9D8B030D-6E8A-4147-A177-3AD203B41FA5}">
                      <a16:colId xmlns:a16="http://schemas.microsoft.com/office/drawing/2014/main" val="20003"/>
                    </a:ext>
                  </a:extLst>
                </a:gridCol>
                <a:gridCol w="1618872">
                  <a:extLst>
                    <a:ext uri="{9D8B030D-6E8A-4147-A177-3AD203B41FA5}">
                      <a16:colId xmlns:a16="http://schemas.microsoft.com/office/drawing/2014/main" val="20004"/>
                    </a:ext>
                  </a:extLst>
                </a:gridCol>
                <a:gridCol w="1482452">
                  <a:extLst>
                    <a:ext uri="{9D8B030D-6E8A-4147-A177-3AD203B41FA5}">
                      <a16:colId xmlns:a16="http://schemas.microsoft.com/office/drawing/2014/main" val="20005"/>
                    </a:ext>
                  </a:extLst>
                </a:gridCol>
              </a:tblGrid>
              <a:tr h="587917">
                <a:tc>
                  <a:txBody>
                    <a:body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s-ES_tradnl" sz="1100" u="none" strike="noStrike" cap="none" normalizeH="0" baseline="0" dirty="0">
                          <a:ln>
                            <a:noFill/>
                          </a:ln>
                          <a:effectLst/>
                        </a:rPr>
                        <a:t>Relaciones con proveedores/ Alianzas</a:t>
                      </a:r>
                      <a:endParaRPr kumimoji="0" lang="es-ES_tradnl" sz="1100" b="1" i="0" u="none" strike="noStrike" cap="none" normalizeH="0" baseline="0" dirty="0">
                        <a:ln>
                          <a:noFill/>
                        </a:ln>
                        <a:solidFill>
                          <a:schemeClr val="tx1"/>
                        </a:solidFill>
                        <a:effectLst/>
                        <a:latin typeface="Helvetica"/>
                        <a:ea typeface="ＭＳ Ｐゴシック" charset="0"/>
                        <a:cs typeface="Helvetica"/>
                      </a:endParaRPr>
                    </a:p>
                  </a:txBody>
                  <a:tcPr marL="0" marR="0" marT="45339" marB="45339" anchor="ctr" horzOverflow="overflow"/>
                </a:tc>
                <a:tc>
                  <a:txBody>
                    <a:body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s-ES_tradnl" sz="1100" u="none" strike="noStrike" cap="none" normalizeH="0" baseline="0" dirty="0">
                          <a:ln>
                            <a:noFill/>
                          </a:ln>
                          <a:effectLst/>
                        </a:rPr>
                        <a:t>Actividades claves/ Procesos</a:t>
                      </a:r>
                      <a:endParaRPr kumimoji="0" lang="es-ES_tradnl" sz="1100" b="1" i="0" u="none" strike="noStrike" cap="none" normalizeH="0" baseline="0" dirty="0">
                        <a:ln>
                          <a:noFill/>
                        </a:ln>
                        <a:solidFill>
                          <a:schemeClr val="tx1"/>
                        </a:solidFill>
                        <a:effectLst/>
                        <a:latin typeface="Helvetica"/>
                        <a:ea typeface="ＭＳ Ｐゴシック" charset="0"/>
                        <a:cs typeface="Helvetica"/>
                      </a:endParaRPr>
                    </a:p>
                  </a:txBody>
                  <a:tcPr marL="0" marR="0" marT="45339" marB="45339" anchor="ctr" horzOverflow="overflow"/>
                </a:tc>
                <a:tc gridSpan="2">
                  <a:txBody>
                    <a:body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s-ES_tradnl" sz="1100" u="none" strike="noStrike" cap="none" normalizeH="0" baseline="0" dirty="0">
                          <a:ln>
                            <a:noFill/>
                          </a:ln>
                          <a:effectLst/>
                        </a:rPr>
                        <a:t>Propuesta de Valor</a:t>
                      </a:r>
                      <a:endParaRPr kumimoji="0" lang="es-ES_tradnl" sz="1100" b="1" i="0" u="none" strike="noStrike" cap="none" normalizeH="0" baseline="0" dirty="0">
                        <a:ln>
                          <a:noFill/>
                        </a:ln>
                        <a:solidFill>
                          <a:schemeClr val="tx1"/>
                        </a:solidFill>
                        <a:effectLst/>
                        <a:latin typeface="Helvetica"/>
                        <a:ea typeface="ＭＳ Ｐゴシック" charset="0"/>
                        <a:cs typeface="Helvetica"/>
                      </a:endParaRPr>
                    </a:p>
                  </a:txBody>
                  <a:tcPr marL="0" marR="0" marT="45339" marB="45339" anchor="ctr" horzOverflow="overflow"/>
                </a:tc>
                <a:tc hMerge="1">
                  <a:txBody>
                    <a:bodyPr/>
                    <a:lstStyle/>
                    <a:p>
                      <a:endParaRPr lang="es-ES_tradnl"/>
                    </a:p>
                  </a:txBody>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s-ES_tradnl" sz="1100" u="none" strike="noStrike" cap="none" normalizeH="0" baseline="0" dirty="0">
                          <a:ln>
                            <a:noFill/>
                          </a:ln>
                          <a:effectLst/>
                        </a:rPr>
                        <a:t>Relación con el Consumidor</a:t>
                      </a:r>
                      <a:endParaRPr kumimoji="0" lang="es-ES_tradnl" sz="1100" b="1" i="0" u="none" strike="noStrike" cap="none" normalizeH="0" baseline="0" dirty="0">
                        <a:ln>
                          <a:noFill/>
                        </a:ln>
                        <a:solidFill>
                          <a:schemeClr val="tx1"/>
                        </a:solidFill>
                        <a:effectLst/>
                        <a:latin typeface="Helvetica"/>
                        <a:ea typeface="ＭＳ Ｐゴシック" charset="0"/>
                        <a:cs typeface="Helvetica"/>
                      </a:endParaRPr>
                    </a:p>
                  </a:txBody>
                  <a:tcPr marL="0" marR="0" marT="45339" marB="45339" anchor="ctr" horzOverflow="overflow"/>
                </a:tc>
                <a:tc>
                  <a:txBody>
                    <a:body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s-ES_tradnl" sz="1100" u="none" strike="noStrike" cap="none" normalizeH="0" baseline="0" dirty="0">
                          <a:ln>
                            <a:noFill/>
                          </a:ln>
                          <a:effectLst/>
                        </a:rPr>
                        <a:t>Segmento de Consumidores</a:t>
                      </a:r>
                      <a:endParaRPr kumimoji="0" lang="es-ES_tradnl" sz="1100" b="1" i="0" u="none" strike="noStrike" cap="none" normalizeH="0" baseline="0" dirty="0">
                        <a:ln>
                          <a:noFill/>
                        </a:ln>
                        <a:solidFill>
                          <a:schemeClr val="tx1"/>
                        </a:solidFill>
                        <a:effectLst/>
                        <a:latin typeface="Helvetica"/>
                        <a:ea typeface="ＭＳ Ｐゴシック" charset="0"/>
                        <a:cs typeface="Helvetica"/>
                      </a:endParaRPr>
                    </a:p>
                  </a:txBody>
                  <a:tcPr marL="0" marR="0" marT="45339" marB="45339" anchor="ctr" horzOverflow="overflow"/>
                </a:tc>
                <a:extLst>
                  <a:ext uri="{0D108BD9-81ED-4DB2-BD59-A6C34878D82A}">
                    <a16:rowId xmlns:a16="http://schemas.microsoft.com/office/drawing/2014/main" val="10000"/>
                  </a:ext>
                </a:extLst>
              </a:tr>
              <a:tr h="934669">
                <a:tc rowSpan="3">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s-CL" sz="900" b="0" i="0" u="none" strike="noStrike" cap="none" normalizeH="0" baseline="0" dirty="0">
                        <a:ln>
                          <a:noFill/>
                        </a:ln>
                        <a:solidFill>
                          <a:srgbClr val="414349"/>
                        </a:solidFill>
                        <a:effectLst/>
                        <a:latin typeface="Helvetica"/>
                        <a:ea typeface="ＭＳ Ｐゴシック" charset="0"/>
                        <a:cs typeface="Helvetica"/>
                      </a:endParaRPr>
                    </a:p>
                  </a:txBody>
                  <a:tcPr marL="107995" marR="5358" marT="86363" marB="0"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s-CL" sz="900" b="0" i="0" u="none" strike="noStrike" kern="1200" cap="none" spc="0" normalizeH="0" baseline="0" noProof="0" dirty="0">
                        <a:ln>
                          <a:noFill/>
                        </a:ln>
                        <a:solidFill>
                          <a:srgbClr val="414349"/>
                        </a:solidFill>
                        <a:effectLst/>
                        <a:uLnTx/>
                        <a:uFillTx/>
                        <a:latin typeface="Helvetica"/>
                        <a:ea typeface="ＭＳ Ｐゴシック" charset="0"/>
                        <a:cs typeface="Helvetica"/>
                      </a:endParaRPr>
                    </a:p>
                  </a:txBody>
                  <a:tcPr marL="107995" marR="5358" marT="96727" marB="0" horzOverflow="overflow"/>
                </a:tc>
                <a:tc rowSpan="3" gridSpan="2">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s-CL" sz="900" b="0" i="0" u="none" strike="noStrike" kern="1200" cap="none" spc="0" normalizeH="0" baseline="0" noProof="0" dirty="0">
                        <a:ln>
                          <a:noFill/>
                        </a:ln>
                        <a:solidFill>
                          <a:srgbClr val="414349"/>
                        </a:solidFill>
                        <a:effectLst/>
                        <a:uLnTx/>
                        <a:uFillTx/>
                        <a:latin typeface="Helvetica"/>
                        <a:ea typeface="ＭＳ Ｐゴシック" charset="0"/>
                        <a:cs typeface="Helvetica"/>
                      </a:endParaRPr>
                    </a:p>
                  </a:txBody>
                  <a:tcPr marL="107995" marR="5358" marT="96727" marB="0" horzOverflow="overflow"/>
                </a:tc>
                <a:tc rowSpan="3" hMerge="1">
                  <a:txBody>
                    <a:bodyPr/>
                    <a:lstStyle/>
                    <a:p>
                      <a:endParaRPr lang="es-ES_tradnl"/>
                    </a:p>
                  </a:txBody>
                  <a:tcPr/>
                </a:tc>
                <a:tc>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s-CL" sz="900" b="0" i="0" u="none" strike="noStrike" kern="1200" cap="none" spc="0" normalizeH="0" baseline="0" noProof="0" dirty="0">
                        <a:ln>
                          <a:noFill/>
                        </a:ln>
                        <a:solidFill>
                          <a:srgbClr val="414349"/>
                        </a:solidFill>
                        <a:effectLst/>
                        <a:uLnTx/>
                        <a:uFillTx/>
                        <a:latin typeface="Helvetica"/>
                        <a:ea typeface="ＭＳ Ｐゴシック" charset="0"/>
                        <a:cs typeface="Helvetica"/>
                      </a:endParaRPr>
                    </a:p>
                  </a:txBody>
                  <a:tcPr marL="107995" marR="5358" marT="96727" marB="0" horzOverflow="overflow"/>
                </a:tc>
                <a:tc rowSpan="3">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s-CL" sz="900" b="0" i="0" u="none" strike="noStrike" kern="1200" cap="none" spc="0" normalizeH="0" baseline="0" noProof="0" dirty="0">
                        <a:ln>
                          <a:noFill/>
                        </a:ln>
                        <a:solidFill>
                          <a:srgbClr val="414349"/>
                        </a:solidFill>
                        <a:effectLst/>
                        <a:uLnTx/>
                        <a:uFillTx/>
                        <a:latin typeface="Helvetica"/>
                        <a:ea typeface="ＭＳ Ｐゴシック" charset="0"/>
                        <a:cs typeface="Helvetica"/>
                      </a:endParaRPr>
                    </a:p>
                  </a:txBody>
                  <a:tcPr marL="107995" marR="5358" marT="96727" marB="0" horzOverflow="overflow"/>
                </a:tc>
                <a:extLst>
                  <a:ext uri="{0D108BD9-81ED-4DB2-BD59-A6C34878D82A}">
                    <a16:rowId xmlns:a16="http://schemas.microsoft.com/office/drawing/2014/main" val="10001"/>
                  </a:ext>
                </a:extLst>
              </a:tr>
              <a:tr h="231351">
                <a:tc vMerge="1">
                  <a:txBody>
                    <a:bodyPr/>
                    <a:lstStyle/>
                    <a:p>
                      <a:endParaRPr lang="es-ES_tradnl"/>
                    </a:p>
                  </a:txBody>
                  <a:tcPr/>
                </a:tc>
                <a:tc>
                  <a:txBody>
                    <a:bodyPr/>
                    <a:lstStyle/>
                    <a:p>
                      <a:pPr algn="ctr"/>
                      <a:r>
                        <a:rPr lang="es-ES_tradnl" sz="1100" dirty="0"/>
                        <a:t>Recursos claves</a:t>
                      </a:r>
                      <a:endParaRPr lang="es-ES_tradnl" sz="1100" b="1" dirty="0">
                        <a:solidFill>
                          <a:schemeClr val="tx1"/>
                        </a:solidFill>
                        <a:latin typeface="Helvetica"/>
                        <a:cs typeface="Helvetica"/>
                      </a:endParaRPr>
                    </a:p>
                  </a:txBody>
                  <a:tcPr marL="27791" marR="5358" marT="5333" marB="0" anchor="ctr" horzOverflow="overflow"/>
                </a:tc>
                <a:tc gridSpan="2" vMerge="1">
                  <a:txBody>
                    <a:bodyPr/>
                    <a:lstStyle/>
                    <a:p>
                      <a:endParaRPr lang="es-ES_tradnl"/>
                    </a:p>
                  </a:txBody>
                  <a:tcPr/>
                </a:tc>
                <a:tc hMerge="1" vMerge="1">
                  <a:txBody>
                    <a:bodyPr/>
                    <a:lstStyle/>
                    <a:p>
                      <a:endParaRPr lang="es-ES_tradnl"/>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100" u="none" strike="noStrike" kern="1200" cap="none" spc="0" normalizeH="0" baseline="0" noProof="0" dirty="0">
                          <a:ln>
                            <a:noFill/>
                          </a:ln>
                          <a:effectLst/>
                          <a:uLnTx/>
                          <a:uFillTx/>
                        </a:rPr>
                        <a:t>Canales</a:t>
                      </a:r>
                      <a:endParaRPr kumimoji="0" lang="es-ES_tradnl" sz="1100" b="1" i="0" u="none" strike="noStrike" kern="1200" cap="none" spc="0" normalizeH="0" baseline="0" noProof="0" dirty="0">
                        <a:ln>
                          <a:noFill/>
                        </a:ln>
                        <a:solidFill>
                          <a:schemeClr val="tx1"/>
                        </a:solidFill>
                        <a:effectLst/>
                        <a:uLnTx/>
                        <a:uFillTx/>
                        <a:latin typeface="Helvetica"/>
                        <a:ea typeface="+mn-ea"/>
                        <a:cs typeface="Helvetica"/>
                      </a:endParaRPr>
                    </a:p>
                  </a:txBody>
                  <a:tcPr marL="27791" marR="5358" marT="5333" marB="0" anchor="ctr" horzOverflow="overflow"/>
                </a:tc>
                <a:tc vMerge="1">
                  <a:txBody>
                    <a:bodyPr/>
                    <a:lstStyle/>
                    <a:p>
                      <a:endParaRPr lang="es-ES_tradnl"/>
                    </a:p>
                  </a:txBody>
                  <a:tcPr/>
                </a:tc>
                <a:extLst>
                  <a:ext uri="{0D108BD9-81ED-4DB2-BD59-A6C34878D82A}">
                    <a16:rowId xmlns:a16="http://schemas.microsoft.com/office/drawing/2014/main" val="10002"/>
                  </a:ext>
                </a:extLst>
              </a:tr>
              <a:tr h="869780">
                <a:tc vMerge="1">
                  <a:txBody>
                    <a:bodyPr/>
                    <a:lstStyle/>
                    <a:p>
                      <a:endParaRPr lang="es-ES_tradnl"/>
                    </a:p>
                  </a:txBody>
                  <a:tcPr/>
                </a:tc>
                <a:tc>
                  <a:txBody>
                    <a:bodyPr/>
                    <a:lstStyle/>
                    <a:p>
                      <a:endParaRPr lang="es-ES_tradnl" sz="2500" dirty="0"/>
                    </a:p>
                  </a:txBody>
                  <a:tcPr marL="27791" marR="5358" marT="5333" marB="0" horzOverflow="overflow"/>
                </a:tc>
                <a:tc gridSpan="2" vMerge="1">
                  <a:txBody>
                    <a:bodyPr/>
                    <a:lstStyle/>
                    <a:p>
                      <a:endParaRPr lang="es-ES_tradnl"/>
                    </a:p>
                  </a:txBody>
                  <a:tcPr/>
                </a:tc>
                <a:tc hMerge="1" vMerge="1">
                  <a:txBody>
                    <a:bodyPr/>
                    <a:lstStyle/>
                    <a:p>
                      <a:endParaRPr lang="es-ES_tradnl"/>
                    </a:p>
                  </a:txBody>
                  <a:tcPr/>
                </a:tc>
                <a:tc>
                  <a:txBody>
                    <a:bodyPr/>
                    <a:lstStyle/>
                    <a:p>
                      <a:endParaRPr lang="es-ES_tradnl" sz="2500" dirty="0">
                        <a:solidFill>
                          <a:srgbClr val="414349"/>
                        </a:solidFill>
                      </a:endParaRPr>
                    </a:p>
                  </a:txBody>
                  <a:tcPr marL="27791" marR="5358" marT="5333" marB="0" horzOverflow="overflow"/>
                </a:tc>
                <a:tc vMerge="1">
                  <a:txBody>
                    <a:bodyPr/>
                    <a:lstStyle/>
                    <a:p>
                      <a:endParaRPr lang="es-ES_tradnl"/>
                    </a:p>
                  </a:txBody>
                  <a:tcPr/>
                </a:tc>
                <a:extLst>
                  <a:ext uri="{0D108BD9-81ED-4DB2-BD59-A6C34878D82A}">
                    <a16:rowId xmlns:a16="http://schemas.microsoft.com/office/drawing/2014/main" val="10003"/>
                  </a:ext>
                </a:extLst>
              </a:tr>
              <a:tr h="242636">
                <a:tc gridSpan="3">
                  <a:txBody>
                    <a:bodyPr/>
                    <a:lstStyle/>
                    <a:p>
                      <a:pPr algn="ctr"/>
                      <a:r>
                        <a:rPr lang="es-ES_tradnl" sz="1100" dirty="0"/>
                        <a:t>Estructura de Costos</a:t>
                      </a:r>
                      <a:endParaRPr lang="es-ES_tradnl" sz="1100" b="1" dirty="0">
                        <a:solidFill>
                          <a:schemeClr val="tx1"/>
                        </a:solidFill>
                        <a:latin typeface="Helvetica"/>
                        <a:cs typeface="Helvetica"/>
                      </a:endParaRPr>
                    </a:p>
                  </a:txBody>
                  <a:tcPr marL="27791" marR="5358" marT="5333" marB="0" anchor="ctr" horzOverflow="overflow"/>
                </a:tc>
                <a:tc hMerge="1">
                  <a:txBody>
                    <a:bodyPr/>
                    <a:lstStyle/>
                    <a:p>
                      <a:endParaRPr lang="es-ES_tradnl"/>
                    </a:p>
                  </a:txBody>
                  <a:tcPr/>
                </a:tc>
                <a:tc hMerge="1">
                  <a:txBody>
                    <a:bodyPr/>
                    <a:lstStyle/>
                    <a:p>
                      <a:endParaRPr lang="es-ES_tradnl"/>
                    </a:p>
                  </a:txBody>
                  <a:tcPr/>
                </a:tc>
                <a:tc gridSpan="3">
                  <a:txBody>
                    <a:bodyPr/>
                    <a:lstStyle/>
                    <a:p>
                      <a:pPr marL="0" marR="0" lvl="0" indent="0" algn="ctr" defTabSz="914400" rtl="0" eaLnBrk="1" fontAlgn="b" latinLnBrk="0" hangingPunct="1">
                        <a:lnSpc>
                          <a:spcPct val="100000"/>
                        </a:lnSpc>
                        <a:spcBef>
                          <a:spcPct val="0"/>
                        </a:spcBef>
                        <a:spcAft>
                          <a:spcPct val="0"/>
                        </a:spcAft>
                        <a:buClrTx/>
                        <a:buSzTx/>
                        <a:buFontTx/>
                        <a:buNone/>
                        <a:tabLst/>
                        <a:defRPr/>
                      </a:pPr>
                      <a:r>
                        <a:rPr lang="es-ES_tradnl" sz="1100" dirty="0"/>
                        <a:t>Flujos - Ingresos</a:t>
                      </a:r>
                      <a:endParaRPr lang="es-ES_tradnl" sz="1100" b="1" dirty="0">
                        <a:solidFill>
                          <a:schemeClr val="tx1"/>
                        </a:solidFill>
                        <a:latin typeface="Helvetica"/>
                        <a:cs typeface="Helvetica"/>
                      </a:endParaRPr>
                    </a:p>
                  </a:txBody>
                  <a:tcPr marL="27791" marR="5358" marT="5333" marB="0" anchor="ctr" horzOverflow="overflow"/>
                </a:tc>
                <a:tc hMerge="1">
                  <a:txBody>
                    <a:bodyPr/>
                    <a:lstStyle/>
                    <a:p>
                      <a:endParaRPr lang="es-ES_tradnl"/>
                    </a:p>
                  </a:txBody>
                  <a:tcPr/>
                </a:tc>
                <a:tc hMerge="1">
                  <a:txBody>
                    <a:bodyPr/>
                    <a:lstStyle/>
                    <a:p>
                      <a:endParaRPr lang="es-ES_tradnl"/>
                    </a:p>
                  </a:txBody>
                  <a:tcPr/>
                </a:tc>
                <a:extLst>
                  <a:ext uri="{0D108BD9-81ED-4DB2-BD59-A6C34878D82A}">
                    <a16:rowId xmlns:a16="http://schemas.microsoft.com/office/drawing/2014/main" val="10004"/>
                  </a:ext>
                </a:extLst>
              </a:tr>
              <a:tr h="1238923">
                <a:tc gridSpan="3">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s-CL" sz="900" b="0" i="0" u="none" strike="noStrike" cap="none" normalizeH="0" baseline="0" dirty="0">
                        <a:ln>
                          <a:noFill/>
                        </a:ln>
                        <a:solidFill>
                          <a:srgbClr val="414349"/>
                        </a:solidFill>
                        <a:effectLst/>
                        <a:latin typeface="Helvetica"/>
                        <a:ea typeface="ＭＳ Ｐゴシック" charset="0"/>
                        <a:cs typeface="Helvetica"/>
                      </a:endParaRPr>
                    </a:p>
                  </a:txBody>
                  <a:tcPr marL="107995" marR="5358" marT="96727" marB="0" horzOverflow="overflow"/>
                </a:tc>
                <a:tc hMerge="1">
                  <a:txBody>
                    <a:bodyPr/>
                    <a:lstStyle/>
                    <a:p>
                      <a:endParaRPr lang="es-ES_tradnl"/>
                    </a:p>
                  </a:txBody>
                  <a:tcPr/>
                </a:tc>
                <a:tc hMerge="1">
                  <a:txBody>
                    <a:bodyPr/>
                    <a:lstStyle/>
                    <a:p>
                      <a:endParaRPr lang="es-ES_tradnl"/>
                    </a:p>
                  </a:txBody>
                  <a:tcPr/>
                </a:tc>
                <a:tc gridSpan="3">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s-CL" sz="900" b="0" i="0" u="none" strike="noStrike" cap="none" normalizeH="0" baseline="0" dirty="0">
                        <a:ln>
                          <a:noFill/>
                        </a:ln>
                        <a:solidFill>
                          <a:srgbClr val="414349"/>
                        </a:solidFill>
                        <a:effectLst/>
                        <a:latin typeface="Helvetica"/>
                        <a:ea typeface="ＭＳ Ｐゴシック" charset="0"/>
                        <a:cs typeface="Helvetica"/>
                      </a:endParaRPr>
                    </a:p>
                  </a:txBody>
                  <a:tcPr marL="107995" marR="5358" marT="96727" marB="0" horzOverflow="overflow"/>
                </a:tc>
                <a:tc hMerge="1">
                  <a:txBody>
                    <a:bodyPr/>
                    <a:lstStyle/>
                    <a:p>
                      <a:endParaRPr lang="es-ES_tradnl"/>
                    </a:p>
                  </a:txBody>
                  <a:tcPr/>
                </a:tc>
                <a:tc hMerge="1">
                  <a:txBody>
                    <a:bodyPr/>
                    <a:lstStyle/>
                    <a:p>
                      <a:endParaRPr lang="es-ES_tradnl"/>
                    </a:p>
                  </a:txBody>
                  <a:tcPr/>
                </a:tc>
                <a:extLst>
                  <a:ext uri="{0D108BD9-81ED-4DB2-BD59-A6C34878D82A}">
                    <a16:rowId xmlns:a16="http://schemas.microsoft.com/office/drawing/2014/main" val="10005"/>
                  </a:ext>
                </a:extLst>
              </a:tr>
            </a:tbl>
          </a:graphicData>
        </a:graphic>
      </p:graphicFrame>
      <p:sp>
        <p:nvSpPr>
          <p:cNvPr id="5" name="4 Elipse">
            <a:extLst>
              <a:ext uri="{FF2B5EF4-FFF2-40B4-BE49-F238E27FC236}">
                <a16:creationId xmlns:a16="http://schemas.microsoft.com/office/drawing/2014/main" id="{E36C3B1E-B996-43E2-982A-3BCE2BB53646}"/>
              </a:ext>
            </a:extLst>
          </p:cNvPr>
          <p:cNvSpPr/>
          <p:nvPr/>
        </p:nvSpPr>
        <p:spPr>
          <a:xfrm>
            <a:off x="9264650" y="3644900"/>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6" name="5 Elipse">
            <a:extLst>
              <a:ext uri="{FF2B5EF4-FFF2-40B4-BE49-F238E27FC236}">
                <a16:creationId xmlns:a16="http://schemas.microsoft.com/office/drawing/2014/main" id="{A6F05D60-AA8A-4861-BDB0-102F22DADF77}"/>
              </a:ext>
            </a:extLst>
          </p:cNvPr>
          <p:cNvSpPr/>
          <p:nvPr/>
        </p:nvSpPr>
        <p:spPr>
          <a:xfrm>
            <a:off x="9413875" y="4509559"/>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7" name="6 Elipse">
            <a:extLst>
              <a:ext uri="{FF2B5EF4-FFF2-40B4-BE49-F238E27FC236}">
                <a16:creationId xmlns:a16="http://schemas.microsoft.com/office/drawing/2014/main" id="{36A50B8C-E6A0-44A5-89BE-9D1D78BB16B5}"/>
              </a:ext>
            </a:extLst>
          </p:cNvPr>
          <p:cNvSpPr/>
          <p:nvPr/>
        </p:nvSpPr>
        <p:spPr>
          <a:xfrm>
            <a:off x="7032625" y="3213100"/>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8" name="7 Elipse">
            <a:extLst>
              <a:ext uri="{FF2B5EF4-FFF2-40B4-BE49-F238E27FC236}">
                <a16:creationId xmlns:a16="http://schemas.microsoft.com/office/drawing/2014/main" id="{50593B2F-2BEC-466E-AAAC-56B1FBD69012}"/>
              </a:ext>
            </a:extLst>
          </p:cNvPr>
          <p:cNvSpPr/>
          <p:nvPr/>
        </p:nvSpPr>
        <p:spPr>
          <a:xfrm>
            <a:off x="7464425" y="4509559"/>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9" name="8 Elipse">
            <a:extLst>
              <a:ext uri="{FF2B5EF4-FFF2-40B4-BE49-F238E27FC236}">
                <a16:creationId xmlns:a16="http://schemas.microsoft.com/office/drawing/2014/main" id="{31F3DF71-C391-4780-8216-3437B14BC1BC}"/>
              </a:ext>
            </a:extLst>
          </p:cNvPr>
          <p:cNvSpPr/>
          <p:nvPr/>
        </p:nvSpPr>
        <p:spPr>
          <a:xfrm>
            <a:off x="5448300" y="3258609"/>
            <a:ext cx="431800" cy="43285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0" name="9 Elipse">
            <a:extLst>
              <a:ext uri="{FF2B5EF4-FFF2-40B4-BE49-F238E27FC236}">
                <a16:creationId xmlns:a16="http://schemas.microsoft.com/office/drawing/2014/main" id="{4971F27D-9A4E-4DED-B889-A5593002E3D4}"/>
              </a:ext>
            </a:extLst>
          </p:cNvPr>
          <p:cNvSpPr/>
          <p:nvPr/>
        </p:nvSpPr>
        <p:spPr>
          <a:xfrm>
            <a:off x="5880100" y="3907367"/>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1" name="10 Elipse">
            <a:extLst>
              <a:ext uri="{FF2B5EF4-FFF2-40B4-BE49-F238E27FC236}">
                <a16:creationId xmlns:a16="http://schemas.microsoft.com/office/drawing/2014/main" id="{673E2B84-A0C6-4832-94E6-51A54ADB4B77}"/>
              </a:ext>
            </a:extLst>
          </p:cNvPr>
          <p:cNvSpPr/>
          <p:nvPr/>
        </p:nvSpPr>
        <p:spPr>
          <a:xfrm>
            <a:off x="5448300" y="4509559"/>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2" name="11 Elipse">
            <a:extLst>
              <a:ext uri="{FF2B5EF4-FFF2-40B4-BE49-F238E27FC236}">
                <a16:creationId xmlns:a16="http://schemas.microsoft.com/office/drawing/2014/main" id="{9B4EE1A4-9EAC-4F33-843D-A9B6D3CDEDA2}"/>
              </a:ext>
            </a:extLst>
          </p:cNvPr>
          <p:cNvSpPr/>
          <p:nvPr/>
        </p:nvSpPr>
        <p:spPr>
          <a:xfrm>
            <a:off x="6763809" y="5804959"/>
            <a:ext cx="431800" cy="43285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3" name="12 Elipse">
            <a:extLst>
              <a:ext uri="{FF2B5EF4-FFF2-40B4-BE49-F238E27FC236}">
                <a16:creationId xmlns:a16="http://schemas.microsoft.com/office/drawing/2014/main" id="{9C7539D4-6594-4923-B01A-515AF637B97C}"/>
              </a:ext>
            </a:extLst>
          </p:cNvPr>
          <p:cNvSpPr/>
          <p:nvPr/>
        </p:nvSpPr>
        <p:spPr>
          <a:xfrm>
            <a:off x="7829550" y="5804959"/>
            <a:ext cx="431800" cy="43285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4" name="13 Elipse">
            <a:extLst>
              <a:ext uri="{FF2B5EF4-FFF2-40B4-BE49-F238E27FC236}">
                <a16:creationId xmlns:a16="http://schemas.microsoft.com/office/drawing/2014/main" id="{65B55BFD-CAF4-46F8-A042-9535F2EA3271}"/>
              </a:ext>
            </a:extLst>
          </p:cNvPr>
          <p:cNvSpPr/>
          <p:nvPr/>
        </p:nvSpPr>
        <p:spPr>
          <a:xfrm>
            <a:off x="9048750" y="5826126"/>
            <a:ext cx="431800" cy="43285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5" name="14 Elipse">
            <a:extLst>
              <a:ext uri="{FF2B5EF4-FFF2-40B4-BE49-F238E27FC236}">
                <a16:creationId xmlns:a16="http://schemas.microsoft.com/office/drawing/2014/main" id="{C0C05D4D-3C9C-4762-ACF5-6548DAF41347}"/>
              </a:ext>
            </a:extLst>
          </p:cNvPr>
          <p:cNvSpPr/>
          <p:nvPr/>
        </p:nvSpPr>
        <p:spPr>
          <a:xfrm>
            <a:off x="4007909" y="3089275"/>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6" name="15 Elipse">
            <a:extLst>
              <a:ext uri="{FF2B5EF4-FFF2-40B4-BE49-F238E27FC236}">
                <a16:creationId xmlns:a16="http://schemas.microsoft.com/office/drawing/2014/main" id="{C2652890-4EA9-477B-886A-3A678490F294}"/>
              </a:ext>
            </a:extLst>
          </p:cNvPr>
          <p:cNvSpPr/>
          <p:nvPr/>
        </p:nvSpPr>
        <p:spPr>
          <a:xfrm>
            <a:off x="4583642" y="3411009"/>
            <a:ext cx="431800" cy="43285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7" name="16 Elipse">
            <a:extLst>
              <a:ext uri="{FF2B5EF4-FFF2-40B4-BE49-F238E27FC236}">
                <a16:creationId xmlns:a16="http://schemas.microsoft.com/office/drawing/2014/main" id="{120971F2-DFDC-44F6-BEEF-06413DAF34A8}"/>
              </a:ext>
            </a:extLst>
          </p:cNvPr>
          <p:cNvSpPr/>
          <p:nvPr/>
        </p:nvSpPr>
        <p:spPr>
          <a:xfrm>
            <a:off x="3792009" y="4341283"/>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8" name="17 Elipse">
            <a:extLst>
              <a:ext uri="{FF2B5EF4-FFF2-40B4-BE49-F238E27FC236}">
                <a16:creationId xmlns:a16="http://schemas.microsoft.com/office/drawing/2014/main" id="{D82C080F-0339-4614-B307-D3EE0AA0239F}"/>
              </a:ext>
            </a:extLst>
          </p:cNvPr>
          <p:cNvSpPr/>
          <p:nvPr/>
        </p:nvSpPr>
        <p:spPr>
          <a:xfrm>
            <a:off x="4367742" y="4530725"/>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9" name="18 Elipse">
            <a:extLst>
              <a:ext uri="{FF2B5EF4-FFF2-40B4-BE49-F238E27FC236}">
                <a16:creationId xmlns:a16="http://schemas.microsoft.com/office/drawing/2014/main" id="{A2960BDD-317B-43F0-A08A-EFD8DAF0ACC9}"/>
              </a:ext>
            </a:extLst>
          </p:cNvPr>
          <p:cNvSpPr/>
          <p:nvPr/>
        </p:nvSpPr>
        <p:spPr>
          <a:xfrm>
            <a:off x="2423583" y="3182409"/>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20" name="19 Elipse">
            <a:extLst>
              <a:ext uri="{FF2B5EF4-FFF2-40B4-BE49-F238E27FC236}">
                <a16:creationId xmlns:a16="http://schemas.microsoft.com/office/drawing/2014/main" id="{610D3053-1D63-4694-95FB-1893EFDF11E2}"/>
              </a:ext>
            </a:extLst>
          </p:cNvPr>
          <p:cNvSpPr/>
          <p:nvPr/>
        </p:nvSpPr>
        <p:spPr>
          <a:xfrm>
            <a:off x="2602442" y="3843867"/>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21" name="20 Elipse">
            <a:extLst>
              <a:ext uri="{FF2B5EF4-FFF2-40B4-BE49-F238E27FC236}">
                <a16:creationId xmlns:a16="http://schemas.microsoft.com/office/drawing/2014/main" id="{9F425E45-D597-4614-927C-64228C53EC2E}"/>
              </a:ext>
            </a:extLst>
          </p:cNvPr>
          <p:cNvSpPr/>
          <p:nvPr/>
        </p:nvSpPr>
        <p:spPr>
          <a:xfrm>
            <a:off x="2423583" y="4493683"/>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22" name="21 Elipse">
            <a:extLst>
              <a:ext uri="{FF2B5EF4-FFF2-40B4-BE49-F238E27FC236}">
                <a16:creationId xmlns:a16="http://schemas.microsoft.com/office/drawing/2014/main" id="{385E9EEF-8258-493E-A5BD-FB9F1010D4B6}"/>
              </a:ext>
            </a:extLst>
          </p:cNvPr>
          <p:cNvSpPr/>
          <p:nvPr/>
        </p:nvSpPr>
        <p:spPr>
          <a:xfrm>
            <a:off x="2423583" y="5610225"/>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23" name="22 Elipse">
            <a:extLst>
              <a:ext uri="{FF2B5EF4-FFF2-40B4-BE49-F238E27FC236}">
                <a16:creationId xmlns:a16="http://schemas.microsoft.com/office/drawing/2014/main" id="{78BC1BD9-55DB-4D9B-A870-4B6CA02A2AB9}"/>
              </a:ext>
            </a:extLst>
          </p:cNvPr>
          <p:cNvSpPr/>
          <p:nvPr/>
        </p:nvSpPr>
        <p:spPr>
          <a:xfrm>
            <a:off x="3582459" y="5774267"/>
            <a:ext cx="431800" cy="43285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24" name="23 Elipse">
            <a:extLst>
              <a:ext uri="{FF2B5EF4-FFF2-40B4-BE49-F238E27FC236}">
                <a16:creationId xmlns:a16="http://schemas.microsoft.com/office/drawing/2014/main" id="{6B32418D-4BF3-44AD-8137-C426DF173FA5}"/>
              </a:ext>
            </a:extLst>
          </p:cNvPr>
          <p:cNvSpPr/>
          <p:nvPr/>
        </p:nvSpPr>
        <p:spPr>
          <a:xfrm>
            <a:off x="5015442" y="5826126"/>
            <a:ext cx="432858" cy="43285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25" name="24 Elipse">
            <a:extLst>
              <a:ext uri="{FF2B5EF4-FFF2-40B4-BE49-F238E27FC236}">
                <a16:creationId xmlns:a16="http://schemas.microsoft.com/office/drawing/2014/main" id="{81E2B47F-094A-4DC7-8F87-3AB8B7142737}"/>
              </a:ext>
            </a:extLst>
          </p:cNvPr>
          <p:cNvSpPr/>
          <p:nvPr/>
        </p:nvSpPr>
        <p:spPr>
          <a:xfrm>
            <a:off x="7419975" y="4220634"/>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26" name="25 Elipse">
            <a:extLst>
              <a:ext uri="{FF2B5EF4-FFF2-40B4-BE49-F238E27FC236}">
                <a16:creationId xmlns:a16="http://schemas.microsoft.com/office/drawing/2014/main" id="{51D65295-8FA3-425F-99F6-C17BDB488264}"/>
              </a:ext>
            </a:extLst>
          </p:cNvPr>
          <p:cNvSpPr/>
          <p:nvPr/>
        </p:nvSpPr>
        <p:spPr>
          <a:xfrm>
            <a:off x="7716309" y="4399492"/>
            <a:ext cx="288925"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27" name="26 Elipse">
            <a:extLst>
              <a:ext uri="{FF2B5EF4-FFF2-40B4-BE49-F238E27FC236}">
                <a16:creationId xmlns:a16="http://schemas.microsoft.com/office/drawing/2014/main" id="{2CEF5541-CEC7-407B-958D-8760569B385F}"/>
              </a:ext>
            </a:extLst>
          </p:cNvPr>
          <p:cNvSpPr/>
          <p:nvPr/>
        </p:nvSpPr>
        <p:spPr>
          <a:xfrm>
            <a:off x="8010525" y="4723342"/>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28" name="27 Elipse">
            <a:extLst>
              <a:ext uri="{FF2B5EF4-FFF2-40B4-BE49-F238E27FC236}">
                <a16:creationId xmlns:a16="http://schemas.microsoft.com/office/drawing/2014/main" id="{A291F320-892D-4240-958C-48EDBB9EE410}"/>
              </a:ext>
            </a:extLst>
          </p:cNvPr>
          <p:cNvSpPr/>
          <p:nvPr/>
        </p:nvSpPr>
        <p:spPr>
          <a:xfrm>
            <a:off x="7769225" y="4058709"/>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29" name="28 Elipse">
            <a:extLst>
              <a:ext uri="{FF2B5EF4-FFF2-40B4-BE49-F238E27FC236}">
                <a16:creationId xmlns:a16="http://schemas.microsoft.com/office/drawing/2014/main" id="{054E9277-F20D-4B08-BB87-F8E26744309E}"/>
              </a:ext>
            </a:extLst>
          </p:cNvPr>
          <p:cNvSpPr/>
          <p:nvPr/>
        </p:nvSpPr>
        <p:spPr>
          <a:xfrm>
            <a:off x="6906683" y="4229100"/>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0" name="29 Elipse">
            <a:extLst>
              <a:ext uri="{FF2B5EF4-FFF2-40B4-BE49-F238E27FC236}">
                <a16:creationId xmlns:a16="http://schemas.microsoft.com/office/drawing/2014/main" id="{5A8DC01D-A174-4DC5-9212-9880D67CED05}"/>
              </a:ext>
            </a:extLst>
          </p:cNvPr>
          <p:cNvSpPr/>
          <p:nvPr/>
        </p:nvSpPr>
        <p:spPr>
          <a:xfrm>
            <a:off x="7203017" y="4407959"/>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1" name="30 Elipse">
            <a:extLst>
              <a:ext uri="{FF2B5EF4-FFF2-40B4-BE49-F238E27FC236}">
                <a16:creationId xmlns:a16="http://schemas.microsoft.com/office/drawing/2014/main" id="{929FF320-FCBE-4387-A09D-8DEC30091DE7}"/>
              </a:ext>
            </a:extLst>
          </p:cNvPr>
          <p:cNvSpPr/>
          <p:nvPr/>
        </p:nvSpPr>
        <p:spPr>
          <a:xfrm>
            <a:off x="7389283" y="4707467"/>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2" name="31 Elipse">
            <a:extLst>
              <a:ext uri="{FF2B5EF4-FFF2-40B4-BE49-F238E27FC236}">
                <a16:creationId xmlns:a16="http://schemas.microsoft.com/office/drawing/2014/main" id="{2F49214F-E139-4BCF-9DB2-0952D68F1EFC}"/>
              </a:ext>
            </a:extLst>
          </p:cNvPr>
          <p:cNvSpPr/>
          <p:nvPr/>
        </p:nvSpPr>
        <p:spPr>
          <a:xfrm>
            <a:off x="7685617" y="4886325"/>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3" name="32 Elipse">
            <a:extLst>
              <a:ext uri="{FF2B5EF4-FFF2-40B4-BE49-F238E27FC236}">
                <a16:creationId xmlns:a16="http://schemas.microsoft.com/office/drawing/2014/main" id="{D5DE9FAF-8E86-40FF-BA1E-A63ABF7CB6CA}"/>
              </a:ext>
            </a:extLst>
          </p:cNvPr>
          <p:cNvSpPr/>
          <p:nvPr/>
        </p:nvSpPr>
        <p:spPr>
          <a:xfrm>
            <a:off x="8993717" y="3267075"/>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4" name="33 Elipse">
            <a:extLst>
              <a:ext uri="{FF2B5EF4-FFF2-40B4-BE49-F238E27FC236}">
                <a16:creationId xmlns:a16="http://schemas.microsoft.com/office/drawing/2014/main" id="{D89AB427-85FA-4E55-B149-5FCA0166DF18}"/>
              </a:ext>
            </a:extLst>
          </p:cNvPr>
          <p:cNvSpPr/>
          <p:nvPr/>
        </p:nvSpPr>
        <p:spPr>
          <a:xfrm>
            <a:off x="9290050" y="3445933"/>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5" name="34 Elipse">
            <a:extLst>
              <a:ext uri="{FF2B5EF4-FFF2-40B4-BE49-F238E27FC236}">
                <a16:creationId xmlns:a16="http://schemas.microsoft.com/office/drawing/2014/main" id="{C5F0CE05-C3A5-4848-931B-9C6B76F31B31}"/>
              </a:ext>
            </a:extLst>
          </p:cNvPr>
          <p:cNvSpPr/>
          <p:nvPr/>
        </p:nvSpPr>
        <p:spPr>
          <a:xfrm>
            <a:off x="8972550" y="4131733"/>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6" name="35 Elipse">
            <a:extLst>
              <a:ext uri="{FF2B5EF4-FFF2-40B4-BE49-F238E27FC236}">
                <a16:creationId xmlns:a16="http://schemas.microsoft.com/office/drawing/2014/main" id="{CD9385C2-DBD3-46B7-A82C-0B552CB2F8A2}"/>
              </a:ext>
            </a:extLst>
          </p:cNvPr>
          <p:cNvSpPr/>
          <p:nvPr/>
        </p:nvSpPr>
        <p:spPr>
          <a:xfrm>
            <a:off x="9691159" y="3475567"/>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7" name="36 Elipse">
            <a:extLst>
              <a:ext uri="{FF2B5EF4-FFF2-40B4-BE49-F238E27FC236}">
                <a16:creationId xmlns:a16="http://schemas.microsoft.com/office/drawing/2014/main" id="{EA33BE02-1870-4D2E-A404-BDE692F76EE0}"/>
              </a:ext>
            </a:extLst>
          </p:cNvPr>
          <p:cNvSpPr/>
          <p:nvPr/>
        </p:nvSpPr>
        <p:spPr>
          <a:xfrm>
            <a:off x="8578850" y="4087284"/>
            <a:ext cx="288925"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8" name="37 Elipse">
            <a:extLst>
              <a:ext uri="{FF2B5EF4-FFF2-40B4-BE49-F238E27FC236}">
                <a16:creationId xmlns:a16="http://schemas.microsoft.com/office/drawing/2014/main" id="{FE2B0FE2-F500-4825-9806-733191D920CC}"/>
              </a:ext>
            </a:extLst>
          </p:cNvPr>
          <p:cNvSpPr/>
          <p:nvPr/>
        </p:nvSpPr>
        <p:spPr>
          <a:xfrm>
            <a:off x="8687859" y="3543300"/>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9" name="38 Elipse">
            <a:extLst>
              <a:ext uri="{FF2B5EF4-FFF2-40B4-BE49-F238E27FC236}">
                <a16:creationId xmlns:a16="http://schemas.microsoft.com/office/drawing/2014/main" id="{19C29EDF-A309-40C8-A02E-4EFFED2E62A8}"/>
              </a:ext>
            </a:extLst>
          </p:cNvPr>
          <p:cNvSpPr/>
          <p:nvPr/>
        </p:nvSpPr>
        <p:spPr>
          <a:xfrm>
            <a:off x="8961967" y="3753909"/>
            <a:ext cx="288925"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0" name="39 Elipse">
            <a:extLst>
              <a:ext uri="{FF2B5EF4-FFF2-40B4-BE49-F238E27FC236}">
                <a16:creationId xmlns:a16="http://schemas.microsoft.com/office/drawing/2014/main" id="{8655CBD0-A062-4584-A0E4-DE7A8AF3D79D}"/>
              </a:ext>
            </a:extLst>
          </p:cNvPr>
          <p:cNvSpPr/>
          <p:nvPr/>
        </p:nvSpPr>
        <p:spPr>
          <a:xfrm>
            <a:off x="9259359" y="3932767"/>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1" name="40 Elipse">
            <a:extLst>
              <a:ext uri="{FF2B5EF4-FFF2-40B4-BE49-F238E27FC236}">
                <a16:creationId xmlns:a16="http://schemas.microsoft.com/office/drawing/2014/main" id="{804F4FD6-2C6F-4EA6-B4E3-0502081D5512}"/>
              </a:ext>
            </a:extLst>
          </p:cNvPr>
          <p:cNvSpPr/>
          <p:nvPr/>
        </p:nvSpPr>
        <p:spPr>
          <a:xfrm>
            <a:off x="8613775" y="5586942"/>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2" name="41 Elipse">
            <a:extLst>
              <a:ext uri="{FF2B5EF4-FFF2-40B4-BE49-F238E27FC236}">
                <a16:creationId xmlns:a16="http://schemas.microsoft.com/office/drawing/2014/main" id="{D88D159C-EA12-4DB6-8C8C-F54EEA1F3115}"/>
              </a:ext>
            </a:extLst>
          </p:cNvPr>
          <p:cNvSpPr/>
          <p:nvPr/>
        </p:nvSpPr>
        <p:spPr>
          <a:xfrm>
            <a:off x="8910109" y="5765800"/>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3" name="42 Elipse">
            <a:extLst>
              <a:ext uri="{FF2B5EF4-FFF2-40B4-BE49-F238E27FC236}">
                <a16:creationId xmlns:a16="http://schemas.microsoft.com/office/drawing/2014/main" id="{010905EC-29B6-4CA3-96CE-7A49B8F606B5}"/>
              </a:ext>
            </a:extLst>
          </p:cNvPr>
          <p:cNvSpPr/>
          <p:nvPr/>
        </p:nvSpPr>
        <p:spPr>
          <a:xfrm>
            <a:off x="9403292" y="6252633"/>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4" name="43 Elipse">
            <a:extLst>
              <a:ext uri="{FF2B5EF4-FFF2-40B4-BE49-F238E27FC236}">
                <a16:creationId xmlns:a16="http://schemas.microsoft.com/office/drawing/2014/main" id="{C35D44C6-091C-4F9F-A0DC-8A9492F4FAC4}"/>
              </a:ext>
            </a:extLst>
          </p:cNvPr>
          <p:cNvSpPr/>
          <p:nvPr/>
        </p:nvSpPr>
        <p:spPr>
          <a:xfrm>
            <a:off x="8961967" y="5425017"/>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5" name="44 Elipse">
            <a:extLst>
              <a:ext uri="{FF2B5EF4-FFF2-40B4-BE49-F238E27FC236}">
                <a16:creationId xmlns:a16="http://schemas.microsoft.com/office/drawing/2014/main" id="{C4F8BD3B-8220-448D-AE8A-004DE2238D1F}"/>
              </a:ext>
            </a:extLst>
          </p:cNvPr>
          <p:cNvSpPr/>
          <p:nvPr/>
        </p:nvSpPr>
        <p:spPr>
          <a:xfrm>
            <a:off x="9290050" y="5610225"/>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6" name="45 Elipse">
            <a:extLst>
              <a:ext uri="{FF2B5EF4-FFF2-40B4-BE49-F238E27FC236}">
                <a16:creationId xmlns:a16="http://schemas.microsoft.com/office/drawing/2014/main" id="{AC19AC85-0415-454C-8066-59BE841C7038}"/>
              </a:ext>
            </a:extLst>
          </p:cNvPr>
          <p:cNvSpPr/>
          <p:nvPr/>
        </p:nvSpPr>
        <p:spPr>
          <a:xfrm>
            <a:off x="9480550" y="5949950"/>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7" name="46 Elipse">
            <a:extLst>
              <a:ext uri="{FF2B5EF4-FFF2-40B4-BE49-F238E27FC236}">
                <a16:creationId xmlns:a16="http://schemas.microsoft.com/office/drawing/2014/main" id="{2053BFD8-8843-4C8F-9D4D-E9FB2A0982F4}"/>
              </a:ext>
            </a:extLst>
          </p:cNvPr>
          <p:cNvSpPr/>
          <p:nvPr/>
        </p:nvSpPr>
        <p:spPr>
          <a:xfrm>
            <a:off x="8582025" y="6073775"/>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8" name="47 Elipse">
            <a:extLst>
              <a:ext uri="{FF2B5EF4-FFF2-40B4-BE49-F238E27FC236}">
                <a16:creationId xmlns:a16="http://schemas.microsoft.com/office/drawing/2014/main" id="{197700FA-8B2B-4445-9442-28A0F8C96A2B}"/>
              </a:ext>
            </a:extLst>
          </p:cNvPr>
          <p:cNvSpPr/>
          <p:nvPr/>
        </p:nvSpPr>
        <p:spPr>
          <a:xfrm>
            <a:off x="8878359" y="6252633"/>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9" name="48 Elipse">
            <a:extLst>
              <a:ext uri="{FF2B5EF4-FFF2-40B4-BE49-F238E27FC236}">
                <a16:creationId xmlns:a16="http://schemas.microsoft.com/office/drawing/2014/main" id="{5558656F-5870-4D5A-851E-03C67385CF28}"/>
              </a:ext>
            </a:extLst>
          </p:cNvPr>
          <p:cNvSpPr/>
          <p:nvPr/>
        </p:nvSpPr>
        <p:spPr>
          <a:xfrm>
            <a:off x="4239684" y="5560483"/>
            <a:ext cx="288925"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0" name="49 Elipse">
            <a:extLst>
              <a:ext uri="{FF2B5EF4-FFF2-40B4-BE49-F238E27FC236}">
                <a16:creationId xmlns:a16="http://schemas.microsoft.com/office/drawing/2014/main" id="{853840FA-8B93-4B2E-AA7A-2BEC10166E6C}"/>
              </a:ext>
            </a:extLst>
          </p:cNvPr>
          <p:cNvSpPr/>
          <p:nvPr/>
        </p:nvSpPr>
        <p:spPr>
          <a:xfrm>
            <a:off x="4536017" y="5739342"/>
            <a:ext cx="288925"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1" name="50 Elipse">
            <a:extLst>
              <a:ext uri="{FF2B5EF4-FFF2-40B4-BE49-F238E27FC236}">
                <a16:creationId xmlns:a16="http://schemas.microsoft.com/office/drawing/2014/main" id="{69E11749-99C7-48B3-9950-B904F8AFB04B}"/>
              </a:ext>
            </a:extLst>
          </p:cNvPr>
          <p:cNvSpPr/>
          <p:nvPr/>
        </p:nvSpPr>
        <p:spPr>
          <a:xfrm>
            <a:off x="3963459" y="5362575"/>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2" name="51 Elipse">
            <a:extLst>
              <a:ext uri="{FF2B5EF4-FFF2-40B4-BE49-F238E27FC236}">
                <a16:creationId xmlns:a16="http://schemas.microsoft.com/office/drawing/2014/main" id="{D2F63B50-B429-465C-B6DD-B1841F95AB68}"/>
              </a:ext>
            </a:extLst>
          </p:cNvPr>
          <p:cNvSpPr/>
          <p:nvPr/>
        </p:nvSpPr>
        <p:spPr>
          <a:xfrm>
            <a:off x="4588933" y="5397500"/>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3" name="52 Elipse">
            <a:extLst>
              <a:ext uri="{FF2B5EF4-FFF2-40B4-BE49-F238E27FC236}">
                <a16:creationId xmlns:a16="http://schemas.microsoft.com/office/drawing/2014/main" id="{06C1343C-78E0-4CDA-B24B-29234B56BCAD}"/>
              </a:ext>
            </a:extLst>
          </p:cNvPr>
          <p:cNvSpPr/>
          <p:nvPr/>
        </p:nvSpPr>
        <p:spPr>
          <a:xfrm>
            <a:off x="3726392" y="5568950"/>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4" name="53 Elipse">
            <a:extLst>
              <a:ext uri="{FF2B5EF4-FFF2-40B4-BE49-F238E27FC236}">
                <a16:creationId xmlns:a16="http://schemas.microsoft.com/office/drawing/2014/main" id="{E0D57FF9-CDDF-4CAA-A34A-934FF1D91FB1}"/>
              </a:ext>
            </a:extLst>
          </p:cNvPr>
          <p:cNvSpPr/>
          <p:nvPr/>
        </p:nvSpPr>
        <p:spPr>
          <a:xfrm>
            <a:off x="4022726" y="5747809"/>
            <a:ext cx="288925"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5" name="54 Elipse">
            <a:extLst>
              <a:ext uri="{FF2B5EF4-FFF2-40B4-BE49-F238E27FC236}">
                <a16:creationId xmlns:a16="http://schemas.microsoft.com/office/drawing/2014/main" id="{18C4A47C-C15F-4A78-9721-EADDA65B57A1}"/>
              </a:ext>
            </a:extLst>
          </p:cNvPr>
          <p:cNvSpPr/>
          <p:nvPr/>
        </p:nvSpPr>
        <p:spPr>
          <a:xfrm>
            <a:off x="4208992" y="6046259"/>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6" name="55 Elipse">
            <a:extLst>
              <a:ext uri="{FF2B5EF4-FFF2-40B4-BE49-F238E27FC236}">
                <a16:creationId xmlns:a16="http://schemas.microsoft.com/office/drawing/2014/main" id="{45DEB3B4-46D3-4760-AFE8-2BF9A944EFE2}"/>
              </a:ext>
            </a:extLst>
          </p:cNvPr>
          <p:cNvSpPr/>
          <p:nvPr/>
        </p:nvSpPr>
        <p:spPr>
          <a:xfrm>
            <a:off x="4505325" y="6225117"/>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7" name="56 Elipse">
            <a:extLst>
              <a:ext uri="{FF2B5EF4-FFF2-40B4-BE49-F238E27FC236}">
                <a16:creationId xmlns:a16="http://schemas.microsoft.com/office/drawing/2014/main" id="{E56AA1D9-8320-40E3-BB61-B8196693657F}"/>
              </a:ext>
            </a:extLst>
          </p:cNvPr>
          <p:cNvSpPr/>
          <p:nvPr/>
        </p:nvSpPr>
        <p:spPr>
          <a:xfrm>
            <a:off x="3112559" y="3456517"/>
            <a:ext cx="288925"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8" name="57 Elipse">
            <a:extLst>
              <a:ext uri="{FF2B5EF4-FFF2-40B4-BE49-F238E27FC236}">
                <a16:creationId xmlns:a16="http://schemas.microsoft.com/office/drawing/2014/main" id="{2FE7A933-2DAB-491E-831C-56195970939D}"/>
              </a:ext>
            </a:extLst>
          </p:cNvPr>
          <p:cNvSpPr/>
          <p:nvPr/>
        </p:nvSpPr>
        <p:spPr>
          <a:xfrm>
            <a:off x="3409950" y="3635375"/>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9" name="58 Elipse">
            <a:extLst>
              <a:ext uri="{FF2B5EF4-FFF2-40B4-BE49-F238E27FC236}">
                <a16:creationId xmlns:a16="http://schemas.microsoft.com/office/drawing/2014/main" id="{02CC46F7-F604-471C-B315-955DBE9378C1}"/>
              </a:ext>
            </a:extLst>
          </p:cNvPr>
          <p:cNvSpPr/>
          <p:nvPr/>
        </p:nvSpPr>
        <p:spPr>
          <a:xfrm>
            <a:off x="3165475" y="3114676"/>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0" name="59 Elipse">
            <a:extLst>
              <a:ext uri="{FF2B5EF4-FFF2-40B4-BE49-F238E27FC236}">
                <a16:creationId xmlns:a16="http://schemas.microsoft.com/office/drawing/2014/main" id="{3794755D-B86A-488D-808F-43B871973D2C}"/>
              </a:ext>
            </a:extLst>
          </p:cNvPr>
          <p:cNvSpPr/>
          <p:nvPr/>
        </p:nvSpPr>
        <p:spPr>
          <a:xfrm>
            <a:off x="3461809" y="3293534"/>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1" name="60 Elipse">
            <a:extLst>
              <a:ext uri="{FF2B5EF4-FFF2-40B4-BE49-F238E27FC236}">
                <a16:creationId xmlns:a16="http://schemas.microsoft.com/office/drawing/2014/main" id="{C82E4A46-8D3D-46D4-AC84-188D385FBE2F}"/>
              </a:ext>
            </a:extLst>
          </p:cNvPr>
          <p:cNvSpPr/>
          <p:nvPr/>
        </p:nvSpPr>
        <p:spPr>
          <a:xfrm>
            <a:off x="2599267" y="3464983"/>
            <a:ext cx="288925"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2" name="61 Elipse">
            <a:extLst>
              <a:ext uri="{FF2B5EF4-FFF2-40B4-BE49-F238E27FC236}">
                <a16:creationId xmlns:a16="http://schemas.microsoft.com/office/drawing/2014/main" id="{437749E4-D8D3-4231-A271-E328AD0DB201}"/>
              </a:ext>
            </a:extLst>
          </p:cNvPr>
          <p:cNvSpPr/>
          <p:nvPr/>
        </p:nvSpPr>
        <p:spPr>
          <a:xfrm>
            <a:off x="2895600" y="3643842"/>
            <a:ext cx="288925"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3" name="62 Elipse">
            <a:extLst>
              <a:ext uri="{FF2B5EF4-FFF2-40B4-BE49-F238E27FC236}">
                <a16:creationId xmlns:a16="http://schemas.microsoft.com/office/drawing/2014/main" id="{415742E6-9909-4115-927C-E7D823F849F1}"/>
              </a:ext>
            </a:extLst>
          </p:cNvPr>
          <p:cNvSpPr/>
          <p:nvPr/>
        </p:nvSpPr>
        <p:spPr>
          <a:xfrm>
            <a:off x="3081867" y="3943350"/>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4" name="63 Elipse">
            <a:extLst>
              <a:ext uri="{FF2B5EF4-FFF2-40B4-BE49-F238E27FC236}">
                <a16:creationId xmlns:a16="http://schemas.microsoft.com/office/drawing/2014/main" id="{A9CD6442-8FD5-4A6C-9AB7-8B7163504037}"/>
              </a:ext>
            </a:extLst>
          </p:cNvPr>
          <p:cNvSpPr/>
          <p:nvPr/>
        </p:nvSpPr>
        <p:spPr>
          <a:xfrm>
            <a:off x="3378200" y="4122209"/>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5" name="64 Elipse">
            <a:extLst>
              <a:ext uri="{FF2B5EF4-FFF2-40B4-BE49-F238E27FC236}">
                <a16:creationId xmlns:a16="http://schemas.microsoft.com/office/drawing/2014/main" id="{1F420C57-0297-47D9-9B54-73A6BA2E298B}"/>
              </a:ext>
            </a:extLst>
          </p:cNvPr>
          <p:cNvSpPr/>
          <p:nvPr/>
        </p:nvSpPr>
        <p:spPr>
          <a:xfrm>
            <a:off x="4459817" y="3872442"/>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6" name="65 Elipse">
            <a:extLst>
              <a:ext uri="{FF2B5EF4-FFF2-40B4-BE49-F238E27FC236}">
                <a16:creationId xmlns:a16="http://schemas.microsoft.com/office/drawing/2014/main" id="{6890F6AC-8088-46DC-88A5-A931E9E0A4C1}"/>
              </a:ext>
            </a:extLst>
          </p:cNvPr>
          <p:cNvSpPr/>
          <p:nvPr/>
        </p:nvSpPr>
        <p:spPr>
          <a:xfrm>
            <a:off x="4756150" y="4051300"/>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7" name="66 Elipse">
            <a:extLst>
              <a:ext uri="{FF2B5EF4-FFF2-40B4-BE49-F238E27FC236}">
                <a16:creationId xmlns:a16="http://schemas.microsoft.com/office/drawing/2014/main" id="{6CF6E30B-6AF0-4F76-9711-4FE3DFFDCFAC}"/>
              </a:ext>
            </a:extLst>
          </p:cNvPr>
          <p:cNvSpPr/>
          <p:nvPr/>
        </p:nvSpPr>
        <p:spPr>
          <a:xfrm>
            <a:off x="4511675" y="3530600"/>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8" name="67 Elipse">
            <a:extLst>
              <a:ext uri="{FF2B5EF4-FFF2-40B4-BE49-F238E27FC236}">
                <a16:creationId xmlns:a16="http://schemas.microsoft.com/office/drawing/2014/main" id="{C220ABC3-D34A-468F-BBAC-CB43F5970E2A}"/>
              </a:ext>
            </a:extLst>
          </p:cNvPr>
          <p:cNvSpPr/>
          <p:nvPr/>
        </p:nvSpPr>
        <p:spPr>
          <a:xfrm>
            <a:off x="4808009" y="3709459"/>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9" name="68 Elipse">
            <a:extLst>
              <a:ext uri="{FF2B5EF4-FFF2-40B4-BE49-F238E27FC236}">
                <a16:creationId xmlns:a16="http://schemas.microsoft.com/office/drawing/2014/main" id="{954E405D-E048-44B3-BF2D-79822F05EA7A}"/>
              </a:ext>
            </a:extLst>
          </p:cNvPr>
          <p:cNvSpPr/>
          <p:nvPr/>
        </p:nvSpPr>
        <p:spPr>
          <a:xfrm>
            <a:off x="3946525" y="3880909"/>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0" name="69 Elipse">
            <a:extLst>
              <a:ext uri="{FF2B5EF4-FFF2-40B4-BE49-F238E27FC236}">
                <a16:creationId xmlns:a16="http://schemas.microsoft.com/office/drawing/2014/main" id="{6B1811F9-556D-4367-A942-D3B8D8A5AB12}"/>
              </a:ext>
            </a:extLst>
          </p:cNvPr>
          <p:cNvSpPr/>
          <p:nvPr/>
        </p:nvSpPr>
        <p:spPr>
          <a:xfrm>
            <a:off x="4242859" y="4059767"/>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1" name="70 Elipse">
            <a:extLst>
              <a:ext uri="{FF2B5EF4-FFF2-40B4-BE49-F238E27FC236}">
                <a16:creationId xmlns:a16="http://schemas.microsoft.com/office/drawing/2014/main" id="{5280FB78-3B66-412C-B20F-0134DC7892E2}"/>
              </a:ext>
            </a:extLst>
          </p:cNvPr>
          <p:cNvSpPr/>
          <p:nvPr/>
        </p:nvSpPr>
        <p:spPr>
          <a:xfrm>
            <a:off x="4428067" y="4358217"/>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2" name="71 Elipse">
            <a:extLst>
              <a:ext uri="{FF2B5EF4-FFF2-40B4-BE49-F238E27FC236}">
                <a16:creationId xmlns:a16="http://schemas.microsoft.com/office/drawing/2014/main" id="{7D5E5375-E4BA-4AD4-BFA8-1FFB68BC2C49}"/>
              </a:ext>
            </a:extLst>
          </p:cNvPr>
          <p:cNvSpPr/>
          <p:nvPr/>
        </p:nvSpPr>
        <p:spPr>
          <a:xfrm>
            <a:off x="4724400" y="4537075"/>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3" name="72 Elipse">
            <a:extLst>
              <a:ext uri="{FF2B5EF4-FFF2-40B4-BE49-F238E27FC236}">
                <a16:creationId xmlns:a16="http://schemas.microsoft.com/office/drawing/2014/main" id="{6338916D-8B2F-400D-ABF1-51FF30918526}"/>
              </a:ext>
            </a:extLst>
          </p:cNvPr>
          <p:cNvSpPr/>
          <p:nvPr/>
        </p:nvSpPr>
        <p:spPr>
          <a:xfrm>
            <a:off x="6185959" y="3234267"/>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4" name="73 Elipse">
            <a:extLst>
              <a:ext uri="{FF2B5EF4-FFF2-40B4-BE49-F238E27FC236}">
                <a16:creationId xmlns:a16="http://schemas.microsoft.com/office/drawing/2014/main" id="{19749308-B32E-4A01-9E0A-B9FF4DF07D31}"/>
              </a:ext>
            </a:extLst>
          </p:cNvPr>
          <p:cNvSpPr/>
          <p:nvPr/>
        </p:nvSpPr>
        <p:spPr>
          <a:xfrm>
            <a:off x="6482292" y="3413125"/>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5" name="74 Elipse">
            <a:extLst>
              <a:ext uri="{FF2B5EF4-FFF2-40B4-BE49-F238E27FC236}">
                <a16:creationId xmlns:a16="http://schemas.microsoft.com/office/drawing/2014/main" id="{49C573C7-619F-45BA-8B39-DA6223F4F112}"/>
              </a:ext>
            </a:extLst>
          </p:cNvPr>
          <p:cNvSpPr/>
          <p:nvPr/>
        </p:nvSpPr>
        <p:spPr>
          <a:xfrm>
            <a:off x="6237817" y="2892425"/>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6" name="75 Elipse">
            <a:extLst>
              <a:ext uri="{FF2B5EF4-FFF2-40B4-BE49-F238E27FC236}">
                <a16:creationId xmlns:a16="http://schemas.microsoft.com/office/drawing/2014/main" id="{7F640B89-8FEF-4CAF-9259-137E34C3451C}"/>
              </a:ext>
            </a:extLst>
          </p:cNvPr>
          <p:cNvSpPr/>
          <p:nvPr/>
        </p:nvSpPr>
        <p:spPr>
          <a:xfrm>
            <a:off x="6534150" y="3071283"/>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7" name="76 Elipse">
            <a:extLst>
              <a:ext uri="{FF2B5EF4-FFF2-40B4-BE49-F238E27FC236}">
                <a16:creationId xmlns:a16="http://schemas.microsoft.com/office/drawing/2014/main" id="{7051B846-C958-4455-9042-D8D9F58958DE}"/>
              </a:ext>
            </a:extLst>
          </p:cNvPr>
          <p:cNvSpPr/>
          <p:nvPr/>
        </p:nvSpPr>
        <p:spPr>
          <a:xfrm>
            <a:off x="5672667" y="3242733"/>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8" name="77 Elipse">
            <a:extLst>
              <a:ext uri="{FF2B5EF4-FFF2-40B4-BE49-F238E27FC236}">
                <a16:creationId xmlns:a16="http://schemas.microsoft.com/office/drawing/2014/main" id="{51894A31-CDA3-4ACE-8FA6-E0DB49D59C35}"/>
              </a:ext>
            </a:extLst>
          </p:cNvPr>
          <p:cNvSpPr/>
          <p:nvPr/>
        </p:nvSpPr>
        <p:spPr>
          <a:xfrm>
            <a:off x="5969000" y="3421592"/>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9" name="78 Elipse">
            <a:extLst>
              <a:ext uri="{FF2B5EF4-FFF2-40B4-BE49-F238E27FC236}">
                <a16:creationId xmlns:a16="http://schemas.microsoft.com/office/drawing/2014/main" id="{CBDCE637-717B-4776-9F99-BFFE1D3F3399}"/>
              </a:ext>
            </a:extLst>
          </p:cNvPr>
          <p:cNvSpPr/>
          <p:nvPr/>
        </p:nvSpPr>
        <p:spPr>
          <a:xfrm>
            <a:off x="6154209" y="3720042"/>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0" name="79 Elipse">
            <a:extLst>
              <a:ext uri="{FF2B5EF4-FFF2-40B4-BE49-F238E27FC236}">
                <a16:creationId xmlns:a16="http://schemas.microsoft.com/office/drawing/2014/main" id="{EA0064D3-E140-4FBB-9BBD-98D97C20CAA2}"/>
              </a:ext>
            </a:extLst>
          </p:cNvPr>
          <p:cNvSpPr/>
          <p:nvPr/>
        </p:nvSpPr>
        <p:spPr>
          <a:xfrm>
            <a:off x="6450542" y="3898900"/>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1" name="80 Elipse">
            <a:extLst>
              <a:ext uri="{FF2B5EF4-FFF2-40B4-BE49-F238E27FC236}">
                <a16:creationId xmlns:a16="http://schemas.microsoft.com/office/drawing/2014/main" id="{9BAD11FE-B137-41AD-8395-4B9CE36B8331}"/>
              </a:ext>
            </a:extLst>
          </p:cNvPr>
          <p:cNvSpPr/>
          <p:nvPr/>
        </p:nvSpPr>
        <p:spPr>
          <a:xfrm>
            <a:off x="7617883" y="2867025"/>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2" name="81 Elipse">
            <a:extLst>
              <a:ext uri="{FF2B5EF4-FFF2-40B4-BE49-F238E27FC236}">
                <a16:creationId xmlns:a16="http://schemas.microsoft.com/office/drawing/2014/main" id="{0F50B062-2C3F-4B15-8172-4C6F45E89652}"/>
              </a:ext>
            </a:extLst>
          </p:cNvPr>
          <p:cNvSpPr/>
          <p:nvPr/>
        </p:nvSpPr>
        <p:spPr>
          <a:xfrm>
            <a:off x="7914217" y="3045883"/>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3" name="82 Elipse">
            <a:extLst>
              <a:ext uri="{FF2B5EF4-FFF2-40B4-BE49-F238E27FC236}">
                <a16:creationId xmlns:a16="http://schemas.microsoft.com/office/drawing/2014/main" id="{D8757A7C-1963-4B94-8876-3274A59C3E8D}"/>
              </a:ext>
            </a:extLst>
          </p:cNvPr>
          <p:cNvSpPr/>
          <p:nvPr/>
        </p:nvSpPr>
        <p:spPr>
          <a:xfrm>
            <a:off x="7669742" y="2525183"/>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4" name="83 Elipse">
            <a:extLst>
              <a:ext uri="{FF2B5EF4-FFF2-40B4-BE49-F238E27FC236}">
                <a16:creationId xmlns:a16="http://schemas.microsoft.com/office/drawing/2014/main" id="{AD3B9542-7B12-4B8E-8E9C-4BA6BAF2B536}"/>
              </a:ext>
            </a:extLst>
          </p:cNvPr>
          <p:cNvSpPr/>
          <p:nvPr/>
        </p:nvSpPr>
        <p:spPr>
          <a:xfrm>
            <a:off x="7966075" y="2704042"/>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5" name="84 Elipse">
            <a:extLst>
              <a:ext uri="{FF2B5EF4-FFF2-40B4-BE49-F238E27FC236}">
                <a16:creationId xmlns:a16="http://schemas.microsoft.com/office/drawing/2014/main" id="{E9960918-83A9-4B1A-BC9A-DDEA0AAF32D7}"/>
              </a:ext>
            </a:extLst>
          </p:cNvPr>
          <p:cNvSpPr/>
          <p:nvPr/>
        </p:nvSpPr>
        <p:spPr>
          <a:xfrm>
            <a:off x="7104592" y="2875492"/>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6" name="85 Elipse">
            <a:extLst>
              <a:ext uri="{FF2B5EF4-FFF2-40B4-BE49-F238E27FC236}">
                <a16:creationId xmlns:a16="http://schemas.microsoft.com/office/drawing/2014/main" id="{89A26548-E479-4D39-A594-A309840FDB75}"/>
              </a:ext>
            </a:extLst>
          </p:cNvPr>
          <p:cNvSpPr/>
          <p:nvPr/>
        </p:nvSpPr>
        <p:spPr>
          <a:xfrm>
            <a:off x="7400925" y="3054350"/>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7" name="86 Elipse">
            <a:extLst>
              <a:ext uri="{FF2B5EF4-FFF2-40B4-BE49-F238E27FC236}">
                <a16:creationId xmlns:a16="http://schemas.microsoft.com/office/drawing/2014/main" id="{A2EE6B4E-EF7E-4656-86A3-FCF615860739}"/>
              </a:ext>
            </a:extLst>
          </p:cNvPr>
          <p:cNvSpPr/>
          <p:nvPr/>
        </p:nvSpPr>
        <p:spPr>
          <a:xfrm>
            <a:off x="7586133" y="3353859"/>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8" name="87 Elipse">
            <a:extLst>
              <a:ext uri="{FF2B5EF4-FFF2-40B4-BE49-F238E27FC236}">
                <a16:creationId xmlns:a16="http://schemas.microsoft.com/office/drawing/2014/main" id="{A59EED3B-9C2F-4AAB-A384-AF7C1A076365}"/>
              </a:ext>
            </a:extLst>
          </p:cNvPr>
          <p:cNvSpPr/>
          <p:nvPr/>
        </p:nvSpPr>
        <p:spPr>
          <a:xfrm>
            <a:off x="7882467" y="3532717"/>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101" name="100 Elipse">
            <a:extLst>
              <a:ext uri="{FF2B5EF4-FFF2-40B4-BE49-F238E27FC236}">
                <a16:creationId xmlns:a16="http://schemas.microsoft.com/office/drawing/2014/main" id="{41B5AFE5-44FB-454A-885D-5186B7F8CD08}"/>
              </a:ext>
            </a:extLst>
          </p:cNvPr>
          <p:cNvSpPr/>
          <p:nvPr/>
        </p:nvSpPr>
        <p:spPr>
          <a:xfrm>
            <a:off x="1919817" y="476250"/>
            <a:ext cx="1800225" cy="18002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defTabSz="914446">
              <a:defRPr/>
            </a:pPr>
            <a:r>
              <a:rPr lang="es-CL" sz="8800" dirty="0">
                <a:solidFill>
                  <a:srgbClr val="FFFFFF"/>
                </a:solidFill>
                <a:latin typeface="Montserrat" panose="00000500000000000000" pitchFamily="2" charset="0"/>
                <a:cs typeface="Aharoni" pitchFamily="2" charset="-79"/>
                <a:sym typeface="Gill Sans"/>
              </a:rPr>
              <a:t>2</a:t>
            </a:r>
            <a:endParaRPr lang="es-ES" sz="8800" dirty="0">
              <a:solidFill>
                <a:srgbClr val="FFFFFF"/>
              </a:solidFill>
              <a:latin typeface="Montserrat" panose="00000500000000000000" pitchFamily="2" charset="0"/>
              <a:cs typeface="Aharoni" pitchFamily="2" charset="-79"/>
              <a:sym typeface="Gill Sans"/>
            </a:endParaRPr>
          </a:p>
        </p:txBody>
      </p:sp>
      <p:sp>
        <p:nvSpPr>
          <p:cNvPr id="82042" name="88 CuadroTexto">
            <a:extLst>
              <a:ext uri="{FF2B5EF4-FFF2-40B4-BE49-F238E27FC236}">
                <a16:creationId xmlns:a16="http://schemas.microsoft.com/office/drawing/2014/main" id="{F7AF74C7-5236-4C86-ADFF-36DB45741578}"/>
              </a:ext>
            </a:extLst>
          </p:cNvPr>
          <p:cNvSpPr txBox="1">
            <a:spLocks noChangeArrowheads="1"/>
          </p:cNvSpPr>
          <p:nvPr/>
        </p:nvSpPr>
        <p:spPr bwMode="auto">
          <a:xfrm>
            <a:off x="4014259" y="476251"/>
            <a:ext cx="5986991"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1371600">
              <a:defRPr sz="4300">
                <a:solidFill>
                  <a:srgbClr val="000000"/>
                </a:solidFill>
                <a:latin typeface="Gill Sans" charset="0"/>
                <a:cs typeface="ヒラギノ角ゴ ProN W3" charset="0"/>
                <a:sym typeface="Gill Sans" charset="0"/>
              </a:defRPr>
            </a:lvl1pPr>
            <a:lvl2pPr defTabSz="1371600">
              <a:defRPr sz="4300">
                <a:solidFill>
                  <a:srgbClr val="000000"/>
                </a:solidFill>
                <a:latin typeface="Gill Sans" charset="0"/>
                <a:cs typeface="ヒラギノ角ゴ ProN W3" charset="0"/>
                <a:sym typeface="Gill Sans" charset="0"/>
              </a:defRPr>
            </a:lvl2pPr>
            <a:lvl3pPr defTabSz="1371600">
              <a:defRPr sz="4300">
                <a:solidFill>
                  <a:srgbClr val="000000"/>
                </a:solidFill>
                <a:latin typeface="Gill Sans" charset="0"/>
                <a:cs typeface="ヒラギノ角ゴ ProN W3" charset="0"/>
                <a:sym typeface="Gill Sans" charset="0"/>
              </a:defRPr>
            </a:lvl3pPr>
            <a:lvl4pPr defTabSz="1371600">
              <a:defRPr sz="4300">
                <a:solidFill>
                  <a:srgbClr val="000000"/>
                </a:solidFill>
                <a:latin typeface="Gill Sans" charset="0"/>
                <a:cs typeface="ヒラギノ角ゴ ProN W3" charset="0"/>
                <a:sym typeface="Gill Sans" charset="0"/>
              </a:defRPr>
            </a:lvl4pPr>
            <a:lvl5pPr defTabSz="1371600">
              <a:defRPr sz="4300">
                <a:solidFill>
                  <a:srgbClr val="000000"/>
                </a:solidFill>
                <a:latin typeface="Gill Sans" charset="0"/>
                <a:cs typeface="ヒラギノ角ゴ ProN W3" charset="0"/>
                <a:sym typeface="Gill Sans" charset="0"/>
              </a:defRPr>
            </a:lvl5pPr>
            <a:lvl6pPr marL="22844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6pPr>
            <a:lvl7pPr marL="27416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7pPr>
            <a:lvl8pPr marL="31988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8pPr>
            <a:lvl9pPr marL="36560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9pPr>
          </a:lstStyle>
          <a:p>
            <a:pPr defTabSz="914446" fontAlgn="base">
              <a:spcBef>
                <a:spcPct val="0"/>
              </a:spcBef>
              <a:spcAft>
                <a:spcPct val="0"/>
              </a:spcAft>
            </a:pPr>
            <a:r>
              <a:rPr lang="es-CL" altLang="es-CL" sz="1800" b="1" dirty="0">
                <a:latin typeface="Montserrat" panose="00000500000000000000" pitchFamily="2" charset="0"/>
              </a:rPr>
              <a:t>Ampliar, buscar opciones</a:t>
            </a:r>
          </a:p>
          <a:p>
            <a:pPr defTabSz="914446" fontAlgn="base">
              <a:spcBef>
                <a:spcPct val="0"/>
              </a:spcBef>
              <a:spcAft>
                <a:spcPct val="0"/>
              </a:spcAft>
            </a:pPr>
            <a:r>
              <a:rPr lang="es-CL" altLang="es-CL" sz="1800" dirty="0">
                <a:latin typeface="Montserrat" panose="00000500000000000000" pitchFamily="2" charset="0"/>
              </a:rPr>
              <a:t>Sobre el modelo inicial, lanzar ideas, ampliar posibilidades en todos los cuadros. Crear nuevas posibilidades no estudiadas y novedosas: crear segmentos, atributos, canales, formas de relación, orquestación, definir nuevos recursos o procesos, etc.</a:t>
            </a:r>
            <a:endParaRPr lang="es-ES" altLang="es-CL" sz="1800" dirty="0">
              <a:latin typeface="Montserrat" panose="00000500000000000000" pitchFamily="2" charset="0"/>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Tabla">
            <a:extLst>
              <a:ext uri="{FF2B5EF4-FFF2-40B4-BE49-F238E27FC236}">
                <a16:creationId xmlns:a16="http://schemas.microsoft.com/office/drawing/2014/main" id="{1F677BB8-796B-4BD0-8B2B-952DAD62E77D}"/>
              </a:ext>
            </a:extLst>
          </p:cNvPr>
          <p:cNvGraphicFramePr>
            <a:graphicFrameLocks noGrp="1"/>
          </p:cNvGraphicFramePr>
          <p:nvPr/>
        </p:nvGraphicFramePr>
        <p:xfrm>
          <a:off x="2135717" y="2573867"/>
          <a:ext cx="7865533" cy="4105276"/>
        </p:xfrm>
        <a:graphic>
          <a:graphicData uri="http://schemas.openxmlformats.org/drawingml/2006/table">
            <a:tbl>
              <a:tblPr>
                <a:tableStyleId>{5940675A-B579-460E-94D1-54222C63F5DA}</a:tableStyleId>
              </a:tblPr>
              <a:tblGrid>
                <a:gridCol w="1544653">
                  <a:extLst>
                    <a:ext uri="{9D8B030D-6E8A-4147-A177-3AD203B41FA5}">
                      <a16:colId xmlns:a16="http://schemas.microsoft.com/office/drawing/2014/main" val="20000"/>
                    </a:ext>
                  </a:extLst>
                </a:gridCol>
                <a:gridCol w="1582494">
                  <a:extLst>
                    <a:ext uri="{9D8B030D-6E8A-4147-A177-3AD203B41FA5}">
                      <a16:colId xmlns:a16="http://schemas.microsoft.com/office/drawing/2014/main" val="20001"/>
                    </a:ext>
                  </a:extLst>
                </a:gridCol>
                <a:gridCol w="810275">
                  <a:extLst>
                    <a:ext uri="{9D8B030D-6E8A-4147-A177-3AD203B41FA5}">
                      <a16:colId xmlns:a16="http://schemas.microsoft.com/office/drawing/2014/main" val="20002"/>
                    </a:ext>
                  </a:extLst>
                </a:gridCol>
                <a:gridCol w="826787">
                  <a:extLst>
                    <a:ext uri="{9D8B030D-6E8A-4147-A177-3AD203B41FA5}">
                      <a16:colId xmlns:a16="http://schemas.microsoft.com/office/drawing/2014/main" val="20003"/>
                    </a:ext>
                  </a:extLst>
                </a:gridCol>
                <a:gridCol w="1618872">
                  <a:extLst>
                    <a:ext uri="{9D8B030D-6E8A-4147-A177-3AD203B41FA5}">
                      <a16:colId xmlns:a16="http://schemas.microsoft.com/office/drawing/2014/main" val="20004"/>
                    </a:ext>
                  </a:extLst>
                </a:gridCol>
                <a:gridCol w="1482452">
                  <a:extLst>
                    <a:ext uri="{9D8B030D-6E8A-4147-A177-3AD203B41FA5}">
                      <a16:colId xmlns:a16="http://schemas.microsoft.com/office/drawing/2014/main" val="20005"/>
                    </a:ext>
                  </a:extLst>
                </a:gridCol>
              </a:tblGrid>
              <a:tr h="587917">
                <a:tc>
                  <a:txBody>
                    <a:body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s-ES_tradnl" sz="1100" u="none" strike="noStrike" cap="none" normalizeH="0" baseline="0" dirty="0">
                          <a:ln>
                            <a:noFill/>
                          </a:ln>
                          <a:effectLst/>
                        </a:rPr>
                        <a:t>Relaciones con proveedores/ Alianzas</a:t>
                      </a:r>
                      <a:endParaRPr kumimoji="0" lang="es-ES_tradnl" sz="1100" b="1" i="0" u="none" strike="noStrike" cap="none" normalizeH="0" baseline="0" dirty="0">
                        <a:ln>
                          <a:noFill/>
                        </a:ln>
                        <a:solidFill>
                          <a:schemeClr val="tx1"/>
                        </a:solidFill>
                        <a:effectLst/>
                        <a:latin typeface="Helvetica"/>
                        <a:ea typeface="ＭＳ Ｐゴシック" charset="0"/>
                        <a:cs typeface="Helvetica"/>
                      </a:endParaRPr>
                    </a:p>
                  </a:txBody>
                  <a:tcPr marL="0" marR="0" marT="45339" marB="45339" anchor="ctr" horzOverflow="overflow"/>
                </a:tc>
                <a:tc>
                  <a:txBody>
                    <a:body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s-ES_tradnl" sz="1100" u="none" strike="noStrike" cap="none" normalizeH="0" baseline="0" dirty="0">
                          <a:ln>
                            <a:noFill/>
                          </a:ln>
                          <a:effectLst/>
                        </a:rPr>
                        <a:t>Actividades claves/ Procesos</a:t>
                      </a:r>
                      <a:endParaRPr kumimoji="0" lang="es-ES_tradnl" sz="1100" b="1" i="0" u="none" strike="noStrike" cap="none" normalizeH="0" baseline="0" dirty="0">
                        <a:ln>
                          <a:noFill/>
                        </a:ln>
                        <a:solidFill>
                          <a:schemeClr val="tx1"/>
                        </a:solidFill>
                        <a:effectLst/>
                        <a:latin typeface="Helvetica"/>
                        <a:ea typeface="ＭＳ Ｐゴシック" charset="0"/>
                        <a:cs typeface="Helvetica"/>
                      </a:endParaRPr>
                    </a:p>
                  </a:txBody>
                  <a:tcPr marL="0" marR="0" marT="45339" marB="45339" anchor="ctr" horzOverflow="overflow"/>
                </a:tc>
                <a:tc gridSpan="2">
                  <a:txBody>
                    <a:body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s-ES_tradnl" sz="1100" u="none" strike="noStrike" cap="none" normalizeH="0" baseline="0" dirty="0">
                          <a:ln>
                            <a:noFill/>
                          </a:ln>
                          <a:effectLst/>
                        </a:rPr>
                        <a:t>Propuesta de Valor</a:t>
                      </a:r>
                      <a:endParaRPr kumimoji="0" lang="es-ES_tradnl" sz="1100" b="1" i="0" u="none" strike="noStrike" cap="none" normalizeH="0" baseline="0" dirty="0">
                        <a:ln>
                          <a:noFill/>
                        </a:ln>
                        <a:solidFill>
                          <a:schemeClr val="tx1"/>
                        </a:solidFill>
                        <a:effectLst/>
                        <a:latin typeface="Helvetica"/>
                        <a:ea typeface="ＭＳ Ｐゴシック" charset="0"/>
                        <a:cs typeface="Helvetica"/>
                      </a:endParaRPr>
                    </a:p>
                  </a:txBody>
                  <a:tcPr marL="0" marR="0" marT="45339" marB="45339" anchor="ctr" horzOverflow="overflow"/>
                </a:tc>
                <a:tc hMerge="1">
                  <a:txBody>
                    <a:bodyPr/>
                    <a:lstStyle/>
                    <a:p>
                      <a:endParaRPr lang="es-ES_tradnl"/>
                    </a:p>
                  </a:txBody>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s-ES_tradnl" sz="1100" u="none" strike="noStrike" cap="none" normalizeH="0" baseline="0" dirty="0">
                          <a:ln>
                            <a:noFill/>
                          </a:ln>
                          <a:effectLst/>
                        </a:rPr>
                        <a:t>Relación con el Consumidor</a:t>
                      </a:r>
                      <a:endParaRPr kumimoji="0" lang="es-ES_tradnl" sz="1100" b="1" i="0" u="none" strike="noStrike" cap="none" normalizeH="0" baseline="0" dirty="0">
                        <a:ln>
                          <a:noFill/>
                        </a:ln>
                        <a:solidFill>
                          <a:schemeClr val="tx1"/>
                        </a:solidFill>
                        <a:effectLst/>
                        <a:latin typeface="Helvetica"/>
                        <a:ea typeface="ＭＳ Ｐゴシック" charset="0"/>
                        <a:cs typeface="Helvetica"/>
                      </a:endParaRPr>
                    </a:p>
                  </a:txBody>
                  <a:tcPr marL="0" marR="0" marT="45339" marB="45339" anchor="ctr" horzOverflow="overflow"/>
                </a:tc>
                <a:tc>
                  <a:txBody>
                    <a:body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s-ES_tradnl" sz="1100" u="none" strike="noStrike" cap="none" normalizeH="0" baseline="0" dirty="0">
                          <a:ln>
                            <a:noFill/>
                          </a:ln>
                          <a:effectLst/>
                        </a:rPr>
                        <a:t>Segmento de Consumidores</a:t>
                      </a:r>
                      <a:endParaRPr kumimoji="0" lang="es-ES_tradnl" sz="1100" b="1" i="0" u="none" strike="noStrike" cap="none" normalizeH="0" baseline="0" dirty="0">
                        <a:ln>
                          <a:noFill/>
                        </a:ln>
                        <a:solidFill>
                          <a:schemeClr val="tx1"/>
                        </a:solidFill>
                        <a:effectLst/>
                        <a:latin typeface="Helvetica"/>
                        <a:ea typeface="ＭＳ Ｐゴシック" charset="0"/>
                        <a:cs typeface="Helvetica"/>
                      </a:endParaRPr>
                    </a:p>
                  </a:txBody>
                  <a:tcPr marL="0" marR="0" marT="45339" marB="45339" anchor="ctr" horzOverflow="overflow"/>
                </a:tc>
                <a:extLst>
                  <a:ext uri="{0D108BD9-81ED-4DB2-BD59-A6C34878D82A}">
                    <a16:rowId xmlns:a16="http://schemas.microsoft.com/office/drawing/2014/main" val="10000"/>
                  </a:ext>
                </a:extLst>
              </a:tr>
              <a:tr h="934669">
                <a:tc rowSpan="3">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s-CL" sz="900" b="0" i="0" u="none" strike="noStrike" cap="none" normalizeH="0" baseline="0" dirty="0">
                        <a:ln>
                          <a:noFill/>
                        </a:ln>
                        <a:solidFill>
                          <a:srgbClr val="414349"/>
                        </a:solidFill>
                        <a:effectLst/>
                        <a:latin typeface="Helvetica"/>
                        <a:ea typeface="ＭＳ Ｐゴシック" charset="0"/>
                        <a:cs typeface="Helvetica"/>
                      </a:endParaRPr>
                    </a:p>
                  </a:txBody>
                  <a:tcPr marL="107995" marR="5358" marT="86363" marB="0"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s-CL" sz="900" b="0" i="0" u="none" strike="noStrike" kern="1200" cap="none" spc="0" normalizeH="0" baseline="0" noProof="0" dirty="0">
                        <a:ln>
                          <a:noFill/>
                        </a:ln>
                        <a:solidFill>
                          <a:srgbClr val="414349"/>
                        </a:solidFill>
                        <a:effectLst/>
                        <a:uLnTx/>
                        <a:uFillTx/>
                        <a:latin typeface="Helvetica"/>
                        <a:ea typeface="ＭＳ Ｐゴシック" charset="0"/>
                        <a:cs typeface="Helvetica"/>
                      </a:endParaRPr>
                    </a:p>
                  </a:txBody>
                  <a:tcPr marL="107995" marR="5358" marT="96727" marB="0" horzOverflow="overflow"/>
                </a:tc>
                <a:tc rowSpan="3" gridSpan="2">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s-CL" sz="900" b="0" i="0" u="none" strike="noStrike" kern="1200" cap="none" spc="0" normalizeH="0" baseline="0" noProof="0" dirty="0">
                        <a:ln>
                          <a:noFill/>
                        </a:ln>
                        <a:solidFill>
                          <a:srgbClr val="414349"/>
                        </a:solidFill>
                        <a:effectLst/>
                        <a:uLnTx/>
                        <a:uFillTx/>
                        <a:latin typeface="Helvetica"/>
                        <a:ea typeface="ＭＳ Ｐゴシック" charset="0"/>
                        <a:cs typeface="Helvetica"/>
                      </a:endParaRPr>
                    </a:p>
                  </a:txBody>
                  <a:tcPr marL="107995" marR="5358" marT="96727" marB="0" horzOverflow="overflow"/>
                </a:tc>
                <a:tc rowSpan="3" hMerge="1">
                  <a:txBody>
                    <a:bodyPr/>
                    <a:lstStyle/>
                    <a:p>
                      <a:endParaRPr lang="es-ES_tradnl"/>
                    </a:p>
                  </a:txBody>
                  <a:tcPr/>
                </a:tc>
                <a:tc>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s-CL" sz="900" b="0" i="0" u="none" strike="noStrike" kern="1200" cap="none" spc="0" normalizeH="0" baseline="0" noProof="0" dirty="0">
                        <a:ln>
                          <a:noFill/>
                        </a:ln>
                        <a:solidFill>
                          <a:srgbClr val="414349"/>
                        </a:solidFill>
                        <a:effectLst/>
                        <a:uLnTx/>
                        <a:uFillTx/>
                        <a:latin typeface="Helvetica"/>
                        <a:ea typeface="ＭＳ Ｐゴシック" charset="0"/>
                        <a:cs typeface="Helvetica"/>
                      </a:endParaRPr>
                    </a:p>
                  </a:txBody>
                  <a:tcPr marL="107995" marR="5358" marT="96727" marB="0" horzOverflow="overflow"/>
                </a:tc>
                <a:tc rowSpan="3">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s-CL" sz="900" b="0" i="0" u="none" strike="noStrike" kern="1200" cap="none" spc="0" normalizeH="0" baseline="0" noProof="0" dirty="0">
                        <a:ln>
                          <a:noFill/>
                        </a:ln>
                        <a:solidFill>
                          <a:srgbClr val="414349"/>
                        </a:solidFill>
                        <a:effectLst/>
                        <a:uLnTx/>
                        <a:uFillTx/>
                        <a:latin typeface="Helvetica"/>
                        <a:ea typeface="ＭＳ Ｐゴシック" charset="0"/>
                        <a:cs typeface="Helvetica"/>
                      </a:endParaRPr>
                    </a:p>
                  </a:txBody>
                  <a:tcPr marL="107995" marR="5358" marT="96727" marB="0" horzOverflow="overflow"/>
                </a:tc>
                <a:extLst>
                  <a:ext uri="{0D108BD9-81ED-4DB2-BD59-A6C34878D82A}">
                    <a16:rowId xmlns:a16="http://schemas.microsoft.com/office/drawing/2014/main" val="10001"/>
                  </a:ext>
                </a:extLst>
              </a:tr>
              <a:tr h="231351">
                <a:tc vMerge="1">
                  <a:txBody>
                    <a:bodyPr/>
                    <a:lstStyle/>
                    <a:p>
                      <a:endParaRPr lang="es-ES_tradnl"/>
                    </a:p>
                  </a:txBody>
                  <a:tcPr/>
                </a:tc>
                <a:tc>
                  <a:txBody>
                    <a:bodyPr/>
                    <a:lstStyle/>
                    <a:p>
                      <a:pPr algn="ctr"/>
                      <a:r>
                        <a:rPr lang="es-ES_tradnl" sz="1100" dirty="0"/>
                        <a:t>Recursos claves</a:t>
                      </a:r>
                      <a:endParaRPr lang="es-ES_tradnl" sz="1100" b="1" dirty="0">
                        <a:solidFill>
                          <a:schemeClr val="tx1"/>
                        </a:solidFill>
                        <a:latin typeface="Helvetica"/>
                        <a:cs typeface="Helvetica"/>
                      </a:endParaRPr>
                    </a:p>
                  </a:txBody>
                  <a:tcPr marL="27791" marR="5358" marT="5333" marB="0" anchor="ctr" horzOverflow="overflow"/>
                </a:tc>
                <a:tc gridSpan="2" vMerge="1">
                  <a:txBody>
                    <a:bodyPr/>
                    <a:lstStyle/>
                    <a:p>
                      <a:endParaRPr lang="es-ES_tradnl"/>
                    </a:p>
                  </a:txBody>
                  <a:tcPr/>
                </a:tc>
                <a:tc hMerge="1" vMerge="1">
                  <a:txBody>
                    <a:bodyPr/>
                    <a:lstStyle/>
                    <a:p>
                      <a:endParaRPr lang="es-ES_tradnl"/>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100" u="none" strike="noStrike" kern="1200" cap="none" spc="0" normalizeH="0" baseline="0" noProof="0" dirty="0">
                          <a:ln>
                            <a:noFill/>
                          </a:ln>
                          <a:effectLst/>
                          <a:uLnTx/>
                          <a:uFillTx/>
                        </a:rPr>
                        <a:t>Canales</a:t>
                      </a:r>
                      <a:endParaRPr kumimoji="0" lang="es-ES_tradnl" sz="1100" b="1" i="0" u="none" strike="noStrike" kern="1200" cap="none" spc="0" normalizeH="0" baseline="0" noProof="0" dirty="0">
                        <a:ln>
                          <a:noFill/>
                        </a:ln>
                        <a:solidFill>
                          <a:schemeClr val="tx1"/>
                        </a:solidFill>
                        <a:effectLst/>
                        <a:uLnTx/>
                        <a:uFillTx/>
                        <a:latin typeface="Helvetica"/>
                        <a:ea typeface="+mn-ea"/>
                        <a:cs typeface="Helvetica"/>
                      </a:endParaRPr>
                    </a:p>
                  </a:txBody>
                  <a:tcPr marL="27791" marR="5358" marT="5333" marB="0" anchor="ctr" horzOverflow="overflow"/>
                </a:tc>
                <a:tc vMerge="1">
                  <a:txBody>
                    <a:bodyPr/>
                    <a:lstStyle/>
                    <a:p>
                      <a:endParaRPr lang="es-ES_tradnl"/>
                    </a:p>
                  </a:txBody>
                  <a:tcPr/>
                </a:tc>
                <a:extLst>
                  <a:ext uri="{0D108BD9-81ED-4DB2-BD59-A6C34878D82A}">
                    <a16:rowId xmlns:a16="http://schemas.microsoft.com/office/drawing/2014/main" val="10002"/>
                  </a:ext>
                </a:extLst>
              </a:tr>
              <a:tr h="869780">
                <a:tc vMerge="1">
                  <a:txBody>
                    <a:bodyPr/>
                    <a:lstStyle/>
                    <a:p>
                      <a:endParaRPr lang="es-ES_tradnl"/>
                    </a:p>
                  </a:txBody>
                  <a:tcPr/>
                </a:tc>
                <a:tc>
                  <a:txBody>
                    <a:bodyPr/>
                    <a:lstStyle/>
                    <a:p>
                      <a:endParaRPr lang="es-ES_tradnl" sz="2500" dirty="0"/>
                    </a:p>
                  </a:txBody>
                  <a:tcPr marL="27791" marR="5358" marT="5333" marB="0" horzOverflow="overflow"/>
                </a:tc>
                <a:tc gridSpan="2" vMerge="1">
                  <a:txBody>
                    <a:bodyPr/>
                    <a:lstStyle/>
                    <a:p>
                      <a:endParaRPr lang="es-ES_tradnl"/>
                    </a:p>
                  </a:txBody>
                  <a:tcPr/>
                </a:tc>
                <a:tc hMerge="1" vMerge="1">
                  <a:txBody>
                    <a:bodyPr/>
                    <a:lstStyle/>
                    <a:p>
                      <a:endParaRPr lang="es-ES_tradnl"/>
                    </a:p>
                  </a:txBody>
                  <a:tcPr/>
                </a:tc>
                <a:tc>
                  <a:txBody>
                    <a:bodyPr/>
                    <a:lstStyle/>
                    <a:p>
                      <a:endParaRPr lang="es-ES_tradnl" sz="2500" dirty="0">
                        <a:solidFill>
                          <a:srgbClr val="414349"/>
                        </a:solidFill>
                      </a:endParaRPr>
                    </a:p>
                  </a:txBody>
                  <a:tcPr marL="27791" marR="5358" marT="5333" marB="0" horzOverflow="overflow"/>
                </a:tc>
                <a:tc vMerge="1">
                  <a:txBody>
                    <a:bodyPr/>
                    <a:lstStyle/>
                    <a:p>
                      <a:endParaRPr lang="es-ES_tradnl"/>
                    </a:p>
                  </a:txBody>
                  <a:tcPr/>
                </a:tc>
                <a:extLst>
                  <a:ext uri="{0D108BD9-81ED-4DB2-BD59-A6C34878D82A}">
                    <a16:rowId xmlns:a16="http://schemas.microsoft.com/office/drawing/2014/main" val="10003"/>
                  </a:ext>
                </a:extLst>
              </a:tr>
              <a:tr h="242636">
                <a:tc gridSpan="3">
                  <a:txBody>
                    <a:bodyPr/>
                    <a:lstStyle/>
                    <a:p>
                      <a:pPr algn="ctr"/>
                      <a:r>
                        <a:rPr lang="es-ES_tradnl" sz="1100" dirty="0"/>
                        <a:t>Estructura de Costos</a:t>
                      </a:r>
                      <a:endParaRPr lang="es-ES_tradnl" sz="1100" b="1" dirty="0">
                        <a:solidFill>
                          <a:schemeClr val="tx1"/>
                        </a:solidFill>
                        <a:latin typeface="Helvetica"/>
                        <a:cs typeface="Helvetica"/>
                      </a:endParaRPr>
                    </a:p>
                  </a:txBody>
                  <a:tcPr marL="27791" marR="5358" marT="5333" marB="0" anchor="ctr" horzOverflow="overflow"/>
                </a:tc>
                <a:tc hMerge="1">
                  <a:txBody>
                    <a:bodyPr/>
                    <a:lstStyle/>
                    <a:p>
                      <a:endParaRPr lang="es-ES_tradnl"/>
                    </a:p>
                  </a:txBody>
                  <a:tcPr/>
                </a:tc>
                <a:tc hMerge="1">
                  <a:txBody>
                    <a:bodyPr/>
                    <a:lstStyle/>
                    <a:p>
                      <a:endParaRPr lang="es-ES_tradnl"/>
                    </a:p>
                  </a:txBody>
                  <a:tcPr/>
                </a:tc>
                <a:tc gridSpan="3">
                  <a:txBody>
                    <a:bodyPr/>
                    <a:lstStyle/>
                    <a:p>
                      <a:pPr marL="0" marR="0" lvl="0" indent="0" algn="ctr" defTabSz="914400" rtl="0" eaLnBrk="1" fontAlgn="b" latinLnBrk="0" hangingPunct="1">
                        <a:lnSpc>
                          <a:spcPct val="100000"/>
                        </a:lnSpc>
                        <a:spcBef>
                          <a:spcPct val="0"/>
                        </a:spcBef>
                        <a:spcAft>
                          <a:spcPct val="0"/>
                        </a:spcAft>
                        <a:buClrTx/>
                        <a:buSzTx/>
                        <a:buFontTx/>
                        <a:buNone/>
                        <a:tabLst/>
                        <a:defRPr/>
                      </a:pPr>
                      <a:r>
                        <a:rPr lang="es-ES_tradnl" sz="1100" dirty="0"/>
                        <a:t>Flujos - Ingresos</a:t>
                      </a:r>
                      <a:endParaRPr lang="es-ES_tradnl" sz="1100" b="1" dirty="0">
                        <a:solidFill>
                          <a:schemeClr val="tx1"/>
                        </a:solidFill>
                        <a:latin typeface="Helvetica"/>
                        <a:cs typeface="Helvetica"/>
                      </a:endParaRPr>
                    </a:p>
                  </a:txBody>
                  <a:tcPr marL="27791" marR="5358" marT="5333" marB="0" anchor="ctr" horzOverflow="overflow"/>
                </a:tc>
                <a:tc hMerge="1">
                  <a:txBody>
                    <a:bodyPr/>
                    <a:lstStyle/>
                    <a:p>
                      <a:endParaRPr lang="es-ES_tradnl"/>
                    </a:p>
                  </a:txBody>
                  <a:tcPr/>
                </a:tc>
                <a:tc hMerge="1">
                  <a:txBody>
                    <a:bodyPr/>
                    <a:lstStyle/>
                    <a:p>
                      <a:endParaRPr lang="es-ES_tradnl"/>
                    </a:p>
                  </a:txBody>
                  <a:tcPr/>
                </a:tc>
                <a:extLst>
                  <a:ext uri="{0D108BD9-81ED-4DB2-BD59-A6C34878D82A}">
                    <a16:rowId xmlns:a16="http://schemas.microsoft.com/office/drawing/2014/main" val="10004"/>
                  </a:ext>
                </a:extLst>
              </a:tr>
              <a:tr h="1238923">
                <a:tc gridSpan="3">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s-CL" sz="900" b="0" i="0" u="none" strike="noStrike" cap="none" normalizeH="0" baseline="0" dirty="0">
                        <a:ln>
                          <a:noFill/>
                        </a:ln>
                        <a:solidFill>
                          <a:srgbClr val="414349"/>
                        </a:solidFill>
                        <a:effectLst/>
                        <a:latin typeface="Helvetica"/>
                        <a:ea typeface="ＭＳ Ｐゴシック" charset="0"/>
                        <a:cs typeface="Helvetica"/>
                      </a:endParaRPr>
                    </a:p>
                  </a:txBody>
                  <a:tcPr marL="107995" marR="5358" marT="96727" marB="0" horzOverflow="overflow"/>
                </a:tc>
                <a:tc hMerge="1">
                  <a:txBody>
                    <a:bodyPr/>
                    <a:lstStyle/>
                    <a:p>
                      <a:endParaRPr lang="es-ES_tradnl"/>
                    </a:p>
                  </a:txBody>
                  <a:tcPr/>
                </a:tc>
                <a:tc hMerge="1">
                  <a:txBody>
                    <a:bodyPr/>
                    <a:lstStyle/>
                    <a:p>
                      <a:endParaRPr lang="es-ES_tradnl"/>
                    </a:p>
                  </a:txBody>
                  <a:tcPr/>
                </a:tc>
                <a:tc gridSpan="3">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s-CL" sz="900" b="0" i="0" u="none" strike="noStrike" cap="none" normalizeH="0" baseline="0" dirty="0">
                        <a:ln>
                          <a:noFill/>
                        </a:ln>
                        <a:solidFill>
                          <a:srgbClr val="414349"/>
                        </a:solidFill>
                        <a:effectLst/>
                        <a:latin typeface="Helvetica"/>
                        <a:ea typeface="ＭＳ Ｐゴシック" charset="0"/>
                        <a:cs typeface="Helvetica"/>
                      </a:endParaRPr>
                    </a:p>
                  </a:txBody>
                  <a:tcPr marL="107995" marR="5358" marT="96727" marB="0" horzOverflow="overflow"/>
                </a:tc>
                <a:tc hMerge="1">
                  <a:txBody>
                    <a:bodyPr/>
                    <a:lstStyle/>
                    <a:p>
                      <a:endParaRPr lang="es-ES_tradnl"/>
                    </a:p>
                  </a:txBody>
                  <a:tcPr/>
                </a:tc>
                <a:tc hMerge="1">
                  <a:txBody>
                    <a:bodyPr/>
                    <a:lstStyle/>
                    <a:p>
                      <a:endParaRPr lang="es-ES_tradnl"/>
                    </a:p>
                  </a:txBody>
                  <a:tcPr/>
                </a:tc>
                <a:extLst>
                  <a:ext uri="{0D108BD9-81ED-4DB2-BD59-A6C34878D82A}">
                    <a16:rowId xmlns:a16="http://schemas.microsoft.com/office/drawing/2014/main" val="10005"/>
                  </a:ext>
                </a:extLst>
              </a:tr>
            </a:tbl>
          </a:graphicData>
        </a:graphic>
      </p:graphicFrame>
      <p:sp>
        <p:nvSpPr>
          <p:cNvPr id="5" name="4 Elipse">
            <a:extLst>
              <a:ext uri="{FF2B5EF4-FFF2-40B4-BE49-F238E27FC236}">
                <a16:creationId xmlns:a16="http://schemas.microsoft.com/office/drawing/2014/main" id="{C5595949-F8A6-43B2-A81E-EBCC0EEE9A87}"/>
              </a:ext>
            </a:extLst>
          </p:cNvPr>
          <p:cNvSpPr/>
          <p:nvPr/>
        </p:nvSpPr>
        <p:spPr>
          <a:xfrm>
            <a:off x="9264650" y="3644900"/>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6" name="5 Elipse">
            <a:extLst>
              <a:ext uri="{FF2B5EF4-FFF2-40B4-BE49-F238E27FC236}">
                <a16:creationId xmlns:a16="http://schemas.microsoft.com/office/drawing/2014/main" id="{BEEB28DE-8368-4E6C-BE88-077DC871EB99}"/>
              </a:ext>
            </a:extLst>
          </p:cNvPr>
          <p:cNvSpPr/>
          <p:nvPr/>
        </p:nvSpPr>
        <p:spPr>
          <a:xfrm>
            <a:off x="9413875" y="4509559"/>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7" name="6 Elipse">
            <a:extLst>
              <a:ext uri="{FF2B5EF4-FFF2-40B4-BE49-F238E27FC236}">
                <a16:creationId xmlns:a16="http://schemas.microsoft.com/office/drawing/2014/main" id="{3EBC79FD-8C96-4457-8203-6C7F5922A223}"/>
              </a:ext>
            </a:extLst>
          </p:cNvPr>
          <p:cNvSpPr/>
          <p:nvPr/>
        </p:nvSpPr>
        <p:spPr>
          <a:xfrm>
            <a:off x="7032625" y="3213100"/>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8" name="7 Elipse">
            <a:extLst>
              <a:ext uri="{FF2B5EF4-FFF2-40B4-BE49-F238E27FC236}">
                <a16:creationId xmlns:a16="http://schemas.microsoft.com/office/drawing/2014/main" id="{B41679CD-6C9A-41EF-9DFF-AD0649D69999}"/>
              </a:ext>
            </a:extLst>
          </p:cNvPr>
          <p:cNvSpPr/>
          <p:nvPr/>
        </p:nvSpPr>
        <p:spPr>
          <a:xfrm>
            <a:off x="7464425" y="4509559"/>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9" name="8 Elipse">
            <a:extLst>
              <a:ext uri="{FF2B5EF4-FFF2-40B4-BE49-F238E27FC236}">
                <a16:creationId xmlns:a16="http://schemas.microsoft.com/office/drawing/2014/main" id="{BEC29990-4BF9-4F98-9DE8-77F8BA20494E}"/>
              </a:ext>
            </a:extLst>
          </p:cNvPr>
          <p:cNvSpPr/>
          <p:nvPr/>
        </p:nvSpPr>
        <p:spPr>
          <a:xfrm>
            <a:off x="5448300" y="3258609"/>
            <a:ext cx="431800" cy="43285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0" name="9 Elipse">
            <a:extLst>
              <a:ext uri="{FF2B5EF4-FFF2-40B4-BE49-F238E27FC236}">
                <a16:creationId xmlns:a16="http://schemas.microsoft.com/office/drawing/2014/main" id="{5D341839-EBF0-4EDE-B2FC-B5BBADCD284C}"/>
              </a:ext>
            </a:extLst>
          </p:cNvPr>
          <p:cNvSpPr/>
          <p:nvPr/>
        </p:nvSpPr>
        <p:spPr>
          <a:xfrm>
            <a:off x="5880100" y="3907367"/>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1" name="10 Elipse">
            <a:extLst>
              <a:ext uri="{FF2B5EF4-FFF2-40B4-BE49-F238E27FC236}">
                <a16:creationId xmlns:a16="http://schemas.microsoft.com/office/drawing/2014/main" id="{CDC53D84-C636-432E-A916-32BD0299582C}"/>
              </a:ext>
            </a:extLst>
          </p:cNvPr>
          <p:cNvSpPr/>
          <p:nvPr/>
        </p:nvSpPr>
        <p:spPr>
          <a:xfrm>
            <a:off x="5448300" y="4509559"/>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2" name="11 Elipse">
            <a:extLst>
              <a:ext uri="{FF2B5EF4-FFF2-40B4-BE49-F238E27FC236}">
                <a16:creationId xmlns:a16="http://schemas.microsoft.com/office/drawing/2014/main" id="{3DF262D0-863A-4F05-B2D8-B2D6D657D450}"/>
              </a:ext>
            </a:extLst>
          </p:cNvPr>
          <p:cNvSpPr/>
          <p:nvPr/>
        </p:nvSpPr>
        <p:spPr>
          <a:xfrm>
            <a:off x="6763809" y="5804959"/>
            <a:ext cx="431800" cy="43285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3" name="12 Elipse">
            <a:extLst>
              <a:ext uri="{FF2B5EF4-FFF2-40B4-BE49-F238E27FC236}">
                <a16:creationId xmlns:a16="http://schemas.microsoft.com/office/drawing/2014/main" id="{A3425317-C613-4CAB-A648-0446E6B7DB1C}"/>
              </a:ext>
            </a:extLst>
          </p:cNvPr>
          <p:cNvSpPr/>
          <p:nvPr/>
        </p:nvSpPr>
        <p:spPr>
          <a:xfrm>
            <a:off x="7829550" y="5804959"/>
            <a:ext cx="431800" cy="43285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4" name="13 Elipse">
            <a:extLst>
              <a:ext uri="{FF2B5EF4-FFF2-40B4-BE49-F238E27FC236}">
                <a16:creationId xmlns:a16="http://schemas.microsoft.com/office/drawing/2014/main" id="{4A59E039-7CDC-414E-A3F4-A63A028D1398}"/>
              </a:ext>
            </a:extLst>
          </p:cNvPr>
          <p:cNvSpPr/>
          <p:nvPr/>
        </p:nvSpPr>
        <p:spPr>
          <a:xfrm>
            <a:off x="9048750" y="5826126"/>
            <a:ext cx="431800" cy="43285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5" name="14 Elipse">
            <a:extLst>
              <a:ext uri="{FF2B5EF4-FFF2-40B4-BE49-F238E27FC236}">
                <a16:creationId xmlns:a16="http://schemas.microsoft.com/office/drawing/2014/main" id="{5C3A01A5-85DC-4024-B86F-5FC69802B13A}"/>
              </a:ext>
            </a:extLst>
          </p:cNvPr>
          <p:cNvSpPr/>
          <p:nvPr/>
        </p:nvSpPr>
        <p:spPr>
          <a:xfrm>
            <a:off x="4007909" y="3089275"/>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6" name="15 Elipse">
            <a:extLst>
              <a:ext uri="{FF2B5EF4-FFF2-40B4-BE49-F238E27FC236}">
                <a16:creationId xmlns:a16="http://schemas.microsoft.com/office/drawing/2014/main" id="{0031028D-F6E8-4473-ADC2-6E9755EE804C}"/>
              </a:ext>
            </a:extLst>
          </p:cNvPr>
          <p:cNvSpPr/>
          <p:nvPr/>
        </p:nvSpPr>
        <p:spPr>
          <a:xfrm>
            <a:off x="4583642" y="3411009"/>
            <a:ext cx="431800" cy="43285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7" name="16 Elipse">
            <a:extLst>
              <a:ext uri="{FF2B5EF4-FFF2-40B4-BE49-F238E27FC236}">
                <a16:creationId xmlns:a16="http://schemas.microsoft.com/office/drawing/2014/main" id="{F017A0B2-933A-4EB7-941F-089B57873DD6}"/>
              </a:ext>
            </a:extLst>
          </p:cNvPr>
          <p:cNvSpPr/>
          <p:nvPr/>
        </p:nvSpPr>
        <p:spPr>
          <a:xfrm>
            <a:off x="3792009" y="4341283"/>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8" name="17 Elipse">
            <a:extLst>
              <a:ext uri="{FF2B5EF4-FFF2-40B4-BE49-F238E27FC236}">
                <a16:creationId xmlns:a16="http://schemas.microsoft.com/office/drawing/2014/main" id="{2169E37F-4988-469F-972B-7607BEC7128F}"/>
              </a:ext>
            </a:extLst>
          </p:cNvPr>
          <p:cNvSpPr/>
          <p:nvPr/>
        </p:nvSpPr>
        <p:spPr>
          <a:xfrm>
            <a:off x="4367742" y="4530725"/>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9" name="18 Elipse">
            <a:extLst>
              <a:ext uri="{FF2B5EF4-FFF2-40B4-BE49-F238E27FC236}">
                <a16:creationId xmlns:a16="http://schemas.microsoft.com/office/drawing/2014/main" id="{6BF84726-42B8-4D6B-B945-273E4229FA18}"/>
              </a:ext>
            </a:extLst>
          </p:cNvPr>
          <p:cNvSpPr/>
          <p:nvPr/>
        </p:nvSpPr>
        <p:spPr>
          <a:xfrm>
            <a:off x="2423583" y="3182409"/>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20" name="19 Elipse">
            <a:extLst>
              <a:ext uri="{FF2B5EF4-FFF2-40B4-BE49-F238E27FC236}">
                <a16:creationId xmlns:a16="http://schemas.microsoft.com/office/drawing/2014/main" id="{F6061F95-8AC4-40EE-8B93-8FDD8E7BFDB5}"/>
              </a:ext>
            </a:extLst>
          </p:cNvPr>
          <p:cNvSpPr/>
          <p:nvPr/>
        </p:nvSpPr>
        <p:spPr>
          <a:xfrm>
            <a:off x="2602442" y="3843867"/>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21" name="20 Elipse">
            <a:extLst>
              <a:ext uri="{FF2B5EF4-FFF2-40B4-BE49-F238E27FC236}">
                <a16:creationId xmlns:a16="http://schemas.microsoft.com/office/drawing/2014/main" id="{8F2FF9BE-4A7C-4AC6-B74D-CC3DE2522F7C}"/>
              </a:ext>
            </a:extLst>
          </p:cNvPr>
          <p:cNvSpPr/>
          <p:nvPr/>
        </p:nvSpPr>
        <p:spPr>
          <a:xfrm>
            <a:off x="2423583" y="4493683"/>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22" name="21 Elipse">
            <a:extLst>
              <a:ext uri="{FF2B5EF4-FFF2-40B4-BE49-F238E27FC236}">
                <a16:creationId xmlns:a16="http://schemas.microsoft.com/office/drawing/2014/main" id="{2A1FF138-C71B-478A-B154-595BC398E6C1}"/>
              </a:ext>
            </a:extLst>
          </p:cNvPr>
          <p:cNvSpPr/>
          <p:nvPr/>
        </p:nvSpPr>
        <p:spPr>
          <a:xfrm>
            <a:off x="2423583" y="5610225"/>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23" name="22 Elipse">
            <a:extLst>
              <a:ext uri="{FF2B5EF4-FFF2-40B4-BE49-F238E27FC236}">
                <a16:creationId xmlns:a16="http://schemas.microsoft.com/office/drawing/2014/main" id="{184C7C5C-068F-4210-98D0-8AB8F806F147}"/>
              </a:ext>
            </a:extLst>
          </p:cNvPr>
          <p:cNvSpPr/>
          <p:nvPr/>
        </p:nvSpPr>
        <p:spPr>
          <a:xfrm>
            <a:off x="3582459" y="5774267"/>
            <a:ext cx="431800" cy="43285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24" name="23 Elipse">
            <a:extLst>
              <a:ext uri="{FF2B5EF4-FFF2-40B4-BE49-F238E27FC236}">
                <a16:creationId xmlns:a16="http://schemas.microsoft.com/office/drawing/2014/main" id="{EE7F2285-A3A9-47EC-9A6B-2A6148B7A43F}"/>
              </a:ext>
            </a:extLst>
          </p:cNvPr>
          <p:cNvSpPr/>
          <p:nvPr/>
        </p:nvSpPr>
        <p:spPr>
          <a:xfrm>
            <a:off x="5015442" y="5826126"/>
            <a:ext cx="432858" cy="43285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25" name="24 Elipse">
            <a:extLst>
              <a:ext uri="{FF2B5EF4-FFF2-40B4-BE49-F238E27FC236}">
                <a16:creationId xmlns:a16="http://schemas.microsoft.com/office/drawing/2014/main" id="{889EF588-335E-49F2-A0FB-53CC762DE0A4}"/>
              </a:ext>
            </a:extLst>
          </p:cNvPr>
          <p:cNvSpPr/>
          <p:nvPr/>
        </p:nvSpPr>
        <p:spPr>
          <a:xfrm>
            <a:off x="7419975" y="4220634"/>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26" name="25 Elipse">
            <a:extLst>
              <a:ext uri="{FF2B5EF4-FFF2-40B4-BE49-F238E27FC236}">
                <a16:creationId xmlns:a16="http://schemas.microsoft.com/office/drawing/2014/main" id="{550815B4-17B1-4CBC-B0D3-D45C65525AF8}"/>
              </a:ext>
            </a:extLst>
          </p:cNvPr>
          <p:cNvSpPr/>
          <p:nvPr/>
        </p:nvSpPr>
        <p:spPr>
          <a:xfrm>
            <a:off x="7716309" y="4399492"/>
            <a:ext cx="288925"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27" name="26 Elipse">
            <a:extLst>
              <a:ext uri="{FF2B5EF4-FFF2-40B4-BE49-F238E27FC236}">
                <a16:creationId xmlns:a16="http://schemas.microsoft.com/office/drawing/2014/main" id="{BB1047AB-4D1B-4308-B94F-3828BDE4669B}"/>
              </a:ext>
            </a:extLst>
          </p:cNvPr>
          <p:cNvSpPr/>
          <p:nvPr/>
        </p:nvSpPr>
        <p:spPr>
          <a:xfrm>
            <a:off x="8010525" y="4723342"/>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28" name="27 Elipse">
            <a:extLst>
              <a:ext uri="{FF2B5EF4-FFF2-40B4-BE49-F238E27FC236}">
                <a16:creationId xmlns:a16="http://schemas.microsoft.com/office/drawing/2014/main" id="{E9E69C76-0495-485A-8283-D437C29C7B25}"/>
              </a:ext>
            </a:extLst>
          </p:cNvPr>
          <p:cNvSpPr/>
          <p:nvPr/>
        </p:nvSpPr>
        <p:spPr>
          <a:xfrm>
            <a:off x="7769225" y="4058709"/>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29" name="28 Elipse">
            <a:extLst>
              <a:ext uri="{FF2B5EF4-FFF2-40B4-BE49-F238E27FC236}">
                <a16:creationId xmlns:a16="http://schemas.microsoft.com/office/drawing/2014/main" id="{6B80FE05-12F3-4721-A7FA-D55E9A14ABD8}"/>
              </a:ext>
            </a:extLst>
          </p:cNvPr>
          <p:cNvSpPr/>
          <p:nvPr/>
        </p:nvSpPr>
        <p:spPr>
          <a:xfrm>
            <a:off x="6906683" y="4229100"/>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0" name="29 Elipse">
            <a:extLst>
              <a:ext uri="{FF2B5EF4-FFF2-40B4-BE49-F238E27FC236}">
                <a16:creationId xmlns:a16="http://schemas.microsoft.com/office/drawing/2014/main" id="{24D95516-0C99-4B74-B8DA-E9303C7BFA5E}"/>
              </a:ext>
            </a:extLst>
          </p:cNvPr>
          <p:cNvSpPr/>
          <p:nvPr/>
        </p:nvSpPr>
        <p:spPr>
          <a:xfrm>
            <a:off x="7203017" y="4407959"/>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1" name="30 Elipse">
            <a:extLst>
              <a:ext uri="{FF2B5EF4-FFF2-40B4-BE49-F238E27FC236}">
                <a16:creationId xmlns:a16="http://schemas.microsoft.com/office/drawing/2014/main" id="{57ACCCE3-FF1E-4628-8E35-453E7A7DABDB}"/>
              </a:ext>
            </a:extLst>
          </p:cNvPr>
          <p:cNvSpPr/>
          <p:nvPr/>
        </p:nvSpPr>
        <p:spPr>
          <a:xfrm>
            <a:off x="7389283" y="4707467"/>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2" name="31 Elipse">
            <a:extLst>
              <a:ext uri="{FF2B5EF4-FFF2-40B4-BE49-F238E27FC236}">
                <a16:creationId xmlns:a16="http://schemas.microsoft.com/office/drawing/2014/main" id="{5844963D-F245-4CCC-B0E5-27BE13AB49CA}"/>
              </a:ext>
            </a:extLst>
          </p:cNvPr>
          <p:cNvSpPr/>
          <p:nvPr/>
        </p:nvSpPr>
        <p:spPr>
          <a:xfrm>
            <a:off x="7685617" y="4886325"/>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3" name="32 Elipse">
            <a:extLst>
              <a:ext uri="{FF2B5EF4-FFF2-40B4-BE49-F238E27FC236}">
                <a16:creationId xmlns:a16="http://schemas.microsoft.com/office/drawing/2014/main" id="{24BCC9AF-DE85-4D09-990E-4EC1DF4D02BE}"/>
              </a:ext>
            </a:extLst>
          </p:cNvPr>
          <p:cNvSpPr/>
          <p:nvPr/>
        </p:nvSpPr>
        <p:spPr>
          <a:xfrm>
            <a:off x="8993717" y="3267075"/>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4" name="33 Elipse">
            <a:extLst>
              <a:ext uri="{FF2B5EF4-FFF2-40B4-BE49-F238E27FC236}">
                <a16:creationId xmlns:a16="http://schemas.microsoft.com/office/drawing/2014/main" id="{51C63F57-43E7-4C27-A221-7C5D76E4AF4E}"/>
              </a:ext>
            </a:extLst>
          </p:cNvPr>
          <p:cNvSpPr/>
          <p:nvPr/>
        </p:nvSpPr>
        <p:spPr>
          <a:xfrm>
            <a:off x="9290050" y="3445933"/>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5" name="34 Elipse">
            <a:extLst>
              <a:ext uri="{FF2B5EF4-FFF2-40B4-BE49-F238E27FC236}">
                <a16:creationId xmlns:a16="http://schemas.microsoft.com/office/drawing/2014/main" id="{0EB95DC6-8C01-46A4-9188-D7317E537AB7}"/>
              </a:ext>
            </a:extLst>
          </p:cNvPr>
          <p:cNvSpPr/>
          <p:nvPr/>
        </p:nvSpPr>
        <p:spPr>
          <a:xfrm>
            <a:off x="8972550" y="4131733"/>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6" name="35 Elipse">
            <a:extLst>
              <a:ext uri="{FF2B5EF4-FFF2-40B4-BE49-F238E27FC236}">
                <a16:creationId xmlns:a16="http://schemas.microsoft.com/office/drawing/2014/main" id="{F5A7AFF0-DC0B-4F59-907E-31D79C677BBF}"/>
              </a:ext>
            </a:extLst>
          </p:cNvPr>
          <p:cNvSpPr/>
          <p:nvPr/>
        </p:nvSpPr>
        <p:spPr>
          <a:xfrm>
            <a:off x="9691159" y="3475567"/>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7" name="36 Elipse">
            <a:extLst>
              <a:ext uri="{FF2B5EF4-FFF2-40B4-BE49-F238E27FC236}">
                <a16:creationId xmlns:a16="http://schemas.microsoft.com/office/drawing/2014/main" id="{F17BC7E1-4E00-45D8-BE6B-5946EE93C8E3}"/>
              </a:ext>
            </a:extLst>
          </p:cNvPr>
          <p:cNvSpPr/>
          <p:nvPr/>
        </p:nvSpPr>
        <p:spPr>
          <a:xfrm>
            <a:off x="8578850" y="4087284"/>
            <a:ext cx="288925"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8" name="37 Elipse">
            <a:extLst>
              <a:ext uri="{FF2B5EF4-FFF2-40B4-BE49-F238E27FC236}">
                <a16:creationId xmlns:a16="http://schemas.microsoft.com/office/drawing/2014/main" id="{831AD516-2240-4A10-803B-3258D1453AAE}"/>
              </a:ext>
            </a:extLst>
          </p:cNvPr>
          <p:cNvSpPr/>
          <p:nvPr/>
        </p:nvSpPr>
        <p:spPr>
          <a:xfrm>
            <a:off x="8687859" y="3543300"/>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9" name="38 Elipse">
            <a:extLst>
              <a:ext uri="{FF2B5EF4-FFF2-40B4-BE49-F238E27FC236}">
                <a16:creationId xmlns:a16="http://schemas.microsoft.com/office/drawing/2014/main" id="{A9253414-4153-4876-B9E2-FBA914882AB7}"/>
              </a:ext>
            </a:extLst>
          </p:cNvPr>
          <p:cNvSpPr/>
          <p:nvPr/>
        </p:nvSpPr>
        <p:spPr>
          <a:xfrm>
            <a:off x="8961967" y="3753909"/>
            <a:ext cx="288925"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0" name="39 Elipse">
            <a:extLst>
              <a:ext uri="{FF2B5EF4-FFF2-40B4-BE49-F238E27FC236}">
                <a16:creationId xmlns:a16="http://schemas.microsoft.com/office/drawing/2014/main" id="{86835310-62E1-4C6A-996F-0891DA104AD7}"/>
              </a:ext>
            </a:extLst>
          </p:cNvPr>
          <p:cNvSpPr/>
          <p:nvPr/>
        </p:nvSpPr>
        <p:spPr>
          <a:xfrm>
            <a:off x="9259359" y="3932767"/>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1" name="40 Elipse">
            <a:extLst>
              <a:ext uri="{FF2B5EF4-FFF2-40B4-BE49-F238E27FC236}">
                <a16:creationId xmlns:a16="http://schemas.microsoft.com/office/drawing/2014/main" id="{FFEF5CD3-E81D-433D-A855-4E14DBC04206}"/>
              </a:ext>
            </a:extLst>
          </p:cNvPr>
          <p:cNvSpPr/>
          <p:nvPr/>
        </p:nvSpPr>
        <p:spPr>
          <a:xfrm>
            <a:off x="8613775" y="5586942"/>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2" name="41 Elipse">
            <a:extLst>
              <a:ext uri="{FF2B5EF4-FFF2-40B4-BE49-F238E27FC236}">
                <a16:creationId xmlns:a16="http://schemas.microsoft.com/office/drawing/2014/main" id="{8CC70C25-8F5D-4261-9720-2E57DD1F559A}"/>
              </a:ext>
            </a:extLst>
          </p:cNvPr>
          <p:cNvSpPr/>
          <p:nvPr/>
        </p:nvSpPr>
        <p:spPr>
          <a:xfrm>
            <a:off x="8910109" y="5765800"/>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3" name="42 Elipse">
            <a:extLst>
              <a:ext uri="{FF2B5EF4-FFF2-40B4-BE49-F238E27FC236}">
                <a16:creationId xmlns:a16="http://schemas.microsoft.com/office/drawing/2014/main" id="{56846AC9-F6D8-44D2-A60C-83C7E5846F6E}"/>
              </a:ext>
            </a:extLst>
          </p:cNvPr>
          <p:cNvSpPr/>
          <p:nvPr/>
        </p:nvSpPr>
        <p:spPr>
          <a:xfrm>
            <a:off x="9403292" y="6252633"/>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4" name="43 Elipse">
            <a:extLst>
              <a:ext uri="{FF2B5EF4-FFF2-40B4-BE49-F238E27FC236}">
                <a16:creationId xmlns:a16="http://schemas.microsoft.com/office/drawing/2014/main" id="{60F6E0B3-E197-4CBF-A1DA-0A26881357C9}"/>
              </a:ext>
            </a:extLst>
          </p:cNvPr>
          <p:cNvSpPr/>
          <p:nvPr/>
        </p:nvSpPr>
        <p:spPr>
          <a:xfrm>
            <a:off x="8961967" y="5425017"/>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5" name="44 Elipse">
            <a:extLst>
              <a:ext uri="{FF2B5EF4-FFF2-40B4-BE49-F238E27FC236}">
                <a16:creationId xmlns:a16="http://schemas.microsoft.com/office/drawing/2014/main" id="{3AF931D1-D66A-4CB6-8B01-1555A6D7423F}"/>
              </a:ext>
            </a:extLst>
          </p:cNvPr>
          <p:cNvSpPr/>
          <p:nvPr/>
        </p:nvSpPr>
        <p:spPr>
          <a:xfrm>
            <a:off x="9290050" y="5610225"/>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6" name="45 Elipse">
            <a:extLst>
              <a:ext uri="{FF2B5EF4-FFF2-40B4-BE49-F238E27FC236}">
                <a16:creationId xmlns:a16="http://schemas.microsoft.com/office/drawing/2014/main" id="{26D79FEE-BE48-4116-8983-CADE0DC2CDFC}"/>
              </a:ext>
            </a:extLst>
          </p:cNvPr>
          <p:cNvSpPr/>
          <p:nvPr/>
        </p:nvSpPr>
        <p:spPr>
          <a:xfrm>
            <a:off x="9480550" y="5949950"/>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7" name="46 Elipse">
            <a:extLst>
              <a:ext uri="{FF2B5EF4-FFF2-40B4-BE49-F238E27FC236}">
                <a16:creationId xmlns:a16="http://schemas.microsoft.com/office/drawing/2014/main" id="{C83B7C96-7E48-4C4A-9130-FCEF2FFC2DF1}"/>
              </a:ext>
            </a:extLst>
          </p:cNvPr>
          <p:cNvSpPr/>
          <p:nvPr/>
        </p:nvSpPr>
        <p:spPr>
          <a:xfrm>
            <a:off x="8582025" y="6073775"/>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8" name="47 Elipse">
            <a:extLst>
              <a:ext uri="{FF2B5EF4-FFF2-40B4-BE49-F238E27FC236}">
                <a16:creationId xmlns:a16="http://schemas.microsoft.com/office/drawing/2014/main" id="{4B225B5C-6D0A-4020-BE3D-7EFB96DCA843}"/>
              </a:ext>
            </a:extLst>
          </p:cNvPr>
          <p:cNvSpPr/>
          <p:nvPr/>
        </p:nvSpPr>
        <p:spPr>
          <a:xfrm>
            <a:off x="8878359" y="6252633"/>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9" name="48 Elipse">
            <a:extLst>
              <a:ext uri="{FF2B5EF4-FFF2-40B4-BE49-F238E27FC236}">
                <a16:creationId xmlns:a16="http://schemas.microsoft.com/office/drawing/2014/main" id="{3BD57F42-FAD8-4706-A1E9-C40CEDD5B307}"/>
              </a:ext>
            </a:extLst>
          </p:cNvPr>
          <p:cNvSpPr/>
          <p:nvPr/>
        </p:nvSpPr>
        <p:spPr>
          <a:xfrm>
            <a:off x="4239684" y="5560483"/>
            <a:ext cx="288925"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0" name="49 Elipse">
            <a:extLst>
              <a:ext uri="{FF2B5EF4-FFF2-40B4-BE49-F238E27FC236}">
                <a16:creationId xmlns:a16="http://schemas.microsoft.com/office/drawing/2014/main" id="{72F5114A-487E-439E-A614-4C77F4BB96CE}"/>
              </a:ext>
            </a:extLst>
          </p:cNvPr>
          <p:cNvSpPr/>
          <p:nvPr/>
        </p:nvSpPr>
        <p:spPr>
          <a:xfrm>
            <a:off x="4536017" y="5739342"/>
            <a:ext cx="288925"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1" name="50 Elipse">
            <a:extLst>
              <a:ext uri="{FF2B5EF4-FFF2-40B4-BE49-F238E27FC236}">
                <a16:creationId xmlns:a16="http://schemas.microsoft.com/office/drawing/2014/main" id="{B13D80F4-789C-442A-96D2-E35CC382C59F}"/>
              </a:ext>
            </a:extLst>
          </p:cNvPr>
          <p:cNvSpPr/>
          <p:nvPr/>
        </p:nvSpPr>
        <p:spPr>
          <a:xfrm>
            <a:off x="3963459" y="5362575"/>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2" name="51 Elipse">
            <a:extLst>
              <a:ext uri="{FF2B5EF4-FFF2-40B4-BE49-F238E27FC236}">
                <a16:creationId xmlns:a16="http://schemas.microsoft.com/office/drawing/2014/main" id="{0B13BE14-F812-4840-A9D7-067C4C696D8D}"/>
              </a:ext>
            </a:extLst>
          </p:cNvPr>
          <p:cNvSpPr/>
          <p:nvPr/>
        </p:nvSpPr>
        <p:spPr>
          <a:xfrm>
            <a:off x="4588933" y="5397500"/>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3" name="52 Elipse">
            <a:extLst>
              <a:ext uri="{FF2B5EF4-FFF2-40B4-BE49-F238E27FC236}">
                <a16:creationId xmlns:a16="http://schemas.microsoft.com/office/drawing/2014/main" id="{05543A46-22C6-4B02-B63E-12E6C1DE221D}"/>
              </a:ext>
            </a:extLst>
          </p:cNvPr>
          <p:cNvSpPr/>
          <p:nvPr/>
        </p:nvSpPr>
        <p:spPr>
          <a:xfrm>
            <a:off x="3726392" y="5568950"/>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4" name="53 Elipse">
            <a:extLst>
              <a:ext uri="{FF2B5EF4-FFF2-40B4-BE49-F238E27FC236}">
                <a16:creationId xmlns:a16="http://schemas.microsoft.com/office/drawing/2014/main" id="{363AA92F-2EA4-4FD6-BE7B-102CD5ABF500}"/>
              </a:ext>
            </a:extLst>
          </p:cNvPr>
          <p:cNvSpPr/>
          <p:nvPr/>
        </p:nvSpPr>
        <p:spPr>
          <a:xfrm>
            <a:off x="4022726" y="5747809"/>
            <a:ext cx="288925"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5" name="54 Elipse">
            <a:extLst>
              <a:ext uri="{FF2B5EF4-FFF2-40B4-BE49-F238E27FC236}">
                <a16:creationId xmlns:a16="http://schemas.microsoft.com/office/drawing/2014/main" id="{EC11C4EE-56E9-455E-9B32-206B8E7B3112}"/>
              </a:ext>
            </a:extLst>
          </p:cNvPr>
          <p:cNvSpPr/>
          <p:nvPr/>
        </p:nvSpPr>
        <p:spPr>
          <a:xfrm>
            <a:off x="4208992" y="6046259"/>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6" name="55 Elipse">
            <a:extLst>
              <a:ext uri="{FF2B5EF4-FFF2-40B4-BE49-F238E27FC236}">
                <a16:creationId xmlns:a16="http://schemas.microsoft.com/office/drawing/2014/main" id="{51C820F2-2C51-4C64-83F2-FA84FB23C005}"/>
              </a:ext>
            </a:extLst>
          </p:cNvPr>
          <p:cNvSpPr/>
          <p:nvPr/>
        </p:nvSpPr>
        <p:spPr>
          <a:xfrm>
            <a:off x="4505325" y="6225117"/>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7" name="56 Elipse">
            <a:extLst>
              <a:ext uri="{FF2B5EF4-FFF2-40B4-BE49-F238E27FC236}">
                <a16:creationId xmlns:a16="http://schemas.microsoft.com/office/drawing/2014/main" id="{FB2F3C36-2F41-45C2-B85C-9E2D5D433D19}"/>
              </a:ext>
            </a:extLst>
          </p:cNvPr>
          <p:cNvSpPr/>
          <p:nvPr/>
        </p:nvSpPr>
        <p:spPr>
          <a:xfrm>
            <a:off x="3112559" y="3456517"/>
            <a:ext cx="288925"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8" name="57 Elipse">
            <a:extLst>
              <a:ext uri="{FF2B5EF4-FFF2-40B4-BE49-F238E27FC236}">
                <a16:creationId xmlns:a16="http://schemas.microsoft.com/office/drawing/2014/main" id="{2A003187-4FDD-48F8-B66A-B790482C1851}"/>
              </a:ext>
            </a:extLst>
          </p:cNvPr>
          <p:cNvSpPr/>
          <p:nvPr/>
        </p:nvSpPr>
        <p:spPr>
          <a:xfrm>
            <a:off x="3409950" y="3635375"/>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9" name="58 Elipse">
            <a:extLst>
              <a:ext uri="{FF2B5EF4-FFF2-40B4-BE49-F238E27FC236}">
                <a16:creationId xmlns:a16="http://schemas.microsoft.com/office/drawing/2014/main" id="{8EA6F346-B588-4074-8FD3-1CCD1EFA9393}"/>
              </a:ext>
            </a:extLst>
          </p:cNvPr>
          <p:cNvSpPr/>
          <p:nvPr/>
        </p:nvSpPr>
        <p:spPr>
          <a:xfrm>
            <a:off x="3165475" y="3114676"/>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0" name="59 Elipse">
            <a:extLst>
              <a:ext uri="{FF2B5EF4-FFF2-40B4-BE49-F238E27FC236}">
                <a16:creationId xmlns:a16="http://schemas.microsoft.com/office/drawing/2014/main" id="{4939B2F8-E71F-401B-A840-51B0AB9CA029}"/>
              </a:ext>
            </a:extLst>
          </p:cNvPr>
          <p:cNvSpPr/>
          <p:nvPr/>
        </p:nvSpPr>
        <p:spPr>
          <a:xfrm>
            <a:off x="3461809" y="3293534"/>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1" name="60 Elipse">
            <a:extLst>
              <a:ext uri="{FF2B5EF4-FFF2-40B4-BE49-F238E27FC236}">
                <a16:creationId xmlns:a16="http://schemas.microsoft.com/office/drawing/2014/main" id="{A75E9610-93CD-42E5-B312-08C8AA37615A}"/>
              </a:ext>
            </a:extLst>
          </p:cNvPr>
          <p:cNvSpPr/>
          <p:nvPr/>
        </p:nvSpPr>
        <p:spPr>
          <a:xfrm>
            <a:off x="2599267" y="3464983"/>
            <a:ext cx="288925"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2" name="61 Elipse">
            <a:extLst>
              <a:ext uri="{FF2B5EF4-FFF2-40B4-BE49-F238E27FC236}">
                <a16:creationId xmlns:a16="http://schemas.microsoft.com/office/drawing/2014/main" id="{E6A34CA7-92EA-41C4-A055-38C4539221E3}"/>
              </a:ext>
            </a:extLst>
          </p:cNvPr>
          <p:cNvSpPr/>
          <p:nvPr/>
        </p:nvSpPr>
        <p:spPr>
          <a:xfrm>
            <a:off x="2895600" y="3643842"/>
            <a:ext cx="288925"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3" name="62 Elipse">
            <a:extLst>
              <a:ext uri="{FF2B5EF4-FFF2-40B4-BE49-F238E27FC236}">
                <a16:creationId xmlns:a16="http://schemas.microsoft.com/office/drawing/2014/main" id="{083F000A-625B-4BF7-810B-6EA35BEECBFA}"/>
              </a:ext>
            </a:extLst>
          </p:cNvPr>
          <p:cNvSpPr/>
          <p:nvPr/>
        </p:nvSpPr>
        <p:spPr>
          <a:xfrm>
            <a:off x="3081867" y="3943350"/>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4" name="63 Elipse">
            <a:extLst>
              <a:ext uri="{FF2B5EF4-FFF2-40B4-BE49-F238E27FC236}">
                <a16:creationId xmlns:a16="http://schemas.microsoft.com/office/drawing/2014/main" id="{8ADB27BA-AD33-4E7E-A014-6F403B52CB3A}"/>
              </a:ext>
            </a:extLst>
          </p:cNvPr>
          <p:cNvSpPr/>
          <p:nvPr/>
        </p:nvSpPr>
        <p:spPr>
          <a:xfrm>
            <a:off x="3378200" y="4122209"/>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5" name="64 Elipse">
            <a:extLst>
              <a:ext uri="{FF2B5EF4-FFF2-40B4-BE49-F238E27FC236}">
                <a16:creationId xmlns:a16="http://schemas.microsoft.com/office/drawing/2014/main" id="{56F680FC-2BF6-44F4-88ED-5265F85B84BF}"/>
              </a:ext>
            </a:extLst>
          </p:cNvPr>
          <p:cNvSpPr/>
          <p:nvPr/>
        </p:nvSpPr>
        <p:spPr>
          <a:xfrm>
            <a:off x="4459817" y="3872442"/>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6" name="65 Elipse">
            <a:extLst>
              <a:ext uri="{FF2B5EF4-FFF2-40B4-BE49-F238E27FC236}">
                <a16:creationId xmlns:a16="http://schemas.microsoft.com/office/drawing/2014/main" id="{35EB418B-B8B9-48D5-94CC-4D0E9AB03955}"/>
              </a:ext>
            </a:extLst>
          </p:cNvPr>
          <p:cNvSpPr/>
          <p:nvPr/>
        </p:nvSpPr>
        <p:spPr>
          <a:xfrm>
            <a:off x="4756150" y="4051300"/>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7" name="66 Elipse">
            <a:extLst>
              <a:ext uri="{FF2B5EF4-FFF2-40B4-BE49-F238E27FC236}">
                <a16:creationId xmlns:a16="http://schemas.microsoft.com/office/drawing/2014/main" id="{86EA329C-CA1F-4EF2-BFF2-77073DBB4A45}"/>
              </a:ext>
            </a:extLst>
          </p:cNvPr>
          <p:cNvSpPr/>
          <p:nvPr/>
        </p:nvSpPr>
        <p:spPr>
          <a:xfrm>
            <a:off x="4511675" y="3530600"/>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8" name="67 Elipse">
            <a:extLst>
              <a:ext uri="{FF2B5EF4-FFF2-40B4-BE49-F238E27FC236}">
                <a16:creationId xmlns:a16="http://schemas.microsoft.com/office/drawing/2014/main" id="{281633EF-EE20-4469-873F-27CED3A56816}"/>
              </a:ext>
            </a:extLst>
          </p:cNvPr>
          <p:cNvSpPr/>
          <p:nvPr/>
        </p:nvSpPr>
        <p:spPr>
          <a:xfrm>
            <a:off x="4808009" y="3709459"/>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9" name="68 Elipse">
            <a:extLst>
              <a:ext uri="{FF2B5EF4-FFF2-40B4-BE49-F238E27FC236}">
                <a16:creationId xmlns:a16="http://schemas.microsoft.com/office/drawing/2014/main" id="{79A4B766-0BE1-4167-8045-1CFCEAC2A2A4}"/>
              </a:ext>
            </a:extLst>
          </p:cNvPr>
          <p:cNvSpPr/>
          <p:nvPr/>
        </p:nvSpPr>
        <p:spPr>
          <a:xfrm>
            <a:off x="3946525" y="3880909"/>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0" name="69 Elipse">
            <a:extLst>
              <a:ext uri="{FF2B5EF4-FFF2-40B4-BE49-F238E27FC236}">
                <a16:creationId xmlns:a16="http://schemas.microsoft.com/office/drawing/2014/main" id="{2FF3278E-EF6C-4F83-AE12-2C8952EB75C9}"/>
              </a:ext>
            </a:extLst>
          </p:cNvPr>
          <p:cNvSpPr/>
          <p:nvPr/>
        </p:nvSpPr>
        <p:spPr>
          <a:xfrm>
            <a:off x="4242859" y="4059767"/>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1" name="70 Elipse">
            <a:extLst>
              <a:ext uri="{FF2B5EF4-FFF2-40B4-BE49-F238E27FC236}">
                <a16:creationId xmlns:a16="http://schemas.microsoft.com/office/drawing/2014/main" id="{F4CECFA5-084D-4DC9-AE7A-F96ADE89296E}"/>
              </a:ext>
            </a:extLst>
          </p:cNvPr>
          <p:cNvSpPr/>
          <p:nvPr/>
        </p:nvSpPr>
        <p:spPr>
          <a:xfrm>
            <a:off x="4428067" y="4358217"/>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2" name="71 Elipse">
            <a:extLst>
              <a:ext uri="{FF2B5EF4-FFF2-40B4-BE49-F238E27FC236}">
                <a16:creationId xmlns:a16="http://schemas.microsoft.com/office/drawing/2014/main" id="{AC77AB2F-AE5F-43E7-A3C4-DD640580B6C5}"/>
              </a:ext>
            </a:extLst>
          </p:cNvPr>
          <p:cNvSpPr/>
          <p:nvPr/>
        </p:nvSpPr>
        <p:spPr>
          <a:xfrm>
            <a:off x="4724400" y="4537075"/>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3" name="72 Elipse">
            <a:extLst>
              <a:ext uri="{FF2B5EF4-FFF2-40B4-BE49-F238E27FC236}">
                <a16:creationId xmlns:a16="http://schemas.microsoft.com/office/drawing/2014/main" id="{4BA885F9-35A4-448B-831C-F19151DE8174}"/>
              </a:ext>
            </a:extLst>
          </p:cNvPr>
          <p:cNvSpPr/>
          <p:nvPr/>
        </p:nvSpPr>
        <p:spPr>
          <a:xfrm>
            <a:off x="6185959" y="3234267"/>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4" name="73 Elipse">
            <a:extLst>
              <a:ext uri="{FF2B5EF4-FFF2-40B4-BE49-F238E27FC236}">
                <a16:creationId xmlns:a16="http://schemas.microsoft.com/office/drawing/2014/main" id="{53B2028B-E48F-4E12-B57A-6CE84EDAE159}"/>
              </a:ext>
            </a:extLst>
          </p:cNvPr>
          <p:cNvSpPr/>
          <p:nvPr/>
        </p:nvSpPr>
        <p:spPr>
          <a:xfrm>
            <a:off x="6482292" y="3413125"/>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5" name="74 Elipse">
            <a:extLst>
              <a:ext uri="{FF2B5EF4-FFF2-40B4-BE49-F238E27FC236}">
                <a16:creationId xmlns:a16="http://schemas.microsoft.com/office/drawing/2014/main" id="{C3FBCB4E-969A-4A76-A5E3-6643F45C4FA6}"/>
              </a:ext>
            </a:extLst>
          </p:cNvPr>
          <p:cNvSpPr/>
          <p:nvPr/>
        </p:nvSpPr>
        <p:spPr>
          <a:xfrm>
            <a:off x="6237817" y="2892425"/>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6" name="75 Elipse">
            <a:extLst>
              <a:ext uri="{FF2B5EF4-FFF2-40B4-BE49-F238E27FC236}">
                <a16:creationId xmlns:a16="http://schemas.microsoft.com/office/drawing/2014/main" id="{6A64D43D-0DC9-4597-822A-AA0917B1491F}"/>
              </a:ext>
            </a:extLst>
          </p:cNvPr>
          <p:cNvSpPr/>
          <p:nvPr/>
        </p:nvSpPr>
        <p:spPr>
          <a:xfrm>
            <a:off x="6534150" y="3071283"/>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7" name="76 Elipse">
            <a:extLst>
              <a:ext uri="{FF2B5EF4-FFF2-40B4-BE49-F238E27FC236}">
                <a16:creationId xmlns:a16="http://schemas.microsoft.com/office/drawing/2014/main" id="{F0C23094-D8F5-4B35-B95E-C58BA551C794}"/>
              </a:ext>
            </a:extLst>
          </p:cNvPr>
          <p:cNvSpPr/>
          <p:nvPr/>
        </p:nvSpPr>
        <p:spPr>
          <a:xfrm>
            <a:off x="5672667" y="3242733"/>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8" name="77 Elipse">
            <a:extLst>
              <a:ext uri="{FF2B5EF4-FFF2-40B4-BE49-F238E27FC236}">
                <a16:creationId xmlns:a16="http://schemas.microsoft.com/office/drawing/2014/main" id="{3A6E4B38-2D64-4B50-A2B6-8934A251FF62}"/>
              </a:ext>
            </a:extLst>
          </p:cNvPr>
          <p:cNvSpPr/>
          <p:nvPr/>
        </p:nvSpPr>
        <p:spPr>
          <a:xfrm>
            <a:off x="5969000" y="3421592"/>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9" name="78 Elipse">
            <a:extLst>
              <a:ext uri="{FF2B5EF4-FFF2-40B4-BE49-F238E27FC236}">
                <a16:creationId xmlns:a16="http://schemas.microsoft.com/office/drawing/2014/main" id="{0F76DB5B-36A3-463E-BC27-E637B5D309C4}"/>
              </a:ext>
            </a:extLst>
          </p:cNvPr>
          <p:cNvSpPr/>
          <p:nvPr/>
        </p:nvSpPr>
        <p:spPr>
          <a:xfrm>
            <a:off x="6154209" y="3720042"/>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0" name="79 Elipse">
            <a:extLst>
              <a:ext uri="{FF2B5EF4-FFF2-40B4-BE49-F238E27FC236}">
                <a16:creationId xmlns:a16="http://schemas.microsoft.com/office/drawing/2014/main" id="{5949D28F-3829-4B54-9149-E3C466E600D0}"/>
              </a:ext>
            </a:extLst>
          </p:cNvPr>
          <p:cNvSpPr/>
          <p:nvPr/>
        </p:nvSpPr>
        <p:spPr>
          <a:xfrm>
            <a:off x="6450542" y="3898900"/>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1" name="80 Elipse">
            <a:extLst>
              <a:ext uri="{FF2B5EF4-FFF2-40B4-BE49-F238E27FC236}">
                <a16:creationId xmlns:a16="http://schemas.microsoft.com/office/drawing/2014/main" id="{83B91FEF-CE9D-4519-A675-8E81B5C69097}"/>
              </a:ext>
            </a:extLst>
          </p:cNvPr>
          <p:cNvSpPr/>
          <p:nvPr/>
        </p:nvSpPr>
        <p:spPr>
          <a:xfrm>
            <a:off x="7617883" y="2867025"/>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2" name="81 Elipse">
            <a:extLst>
              <a:ext uri="{FF2B5EF4-FFF2-40B4-BE49-F238E27FC236}">
                <a16:creationId xmlns:a16="http://schemas.microsoft.com/office/drawing/2014/main" id="{F9C3EEEB-27B8-47B2-B86B-3C6777ED8E7B}"/>
              </a:ext>
            </a:extLst>
          </p:cNvPr>
          <p:cNvSpPr/>
          <p:nvPr/>
        </p:nvSpPr>
        <p:spPr>
          <a:xfrm>
            <a:off x="7914217" y="3045883"/>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3" name="82 Elipse">
            <a:extLst>
              <a:ext uri="{FF2B5EF4-FFF2-40B4-BE49-F238E27FC236}">
                <a16:creationId xmlns:a16="http://schemas.microsoft.com/office/drawing/2014/main" id="{4DE4636A-3870-41EB-B9C1-91E28F5B3A74}"/>
              </a:ext>
            </a:extLst>
          </p:cNvPr>
          <p:cNvSpPr/>
          <p:nvPr/>
        </p:nvSpPr>
        <p:spPr>
          <a:xfrm>
            <a:off x="7669742" y="2525183"/>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4" name="83 Elipse">
            <a:extLst>
              <a:ext uri="{FF2B5EF4-FFF2-40B4-BE49-F238E27FC236}">
                <a16:creationId xmlns:a16="http://schemas.microsoft.com/office/drawing/2014/main" id="{F0F8BB53-BA53-442E-BDF4-0C4771756275}"/>
              </a:ext>
            </a:extLst>
          </p:cNvPr>
          <p:cNvSpPr/>
          <p:nvPr/>
        </p:nvSpPr>
        <p:spPr>
          <a:xfrm>
            <a:off x="7966075" y="2704042"/>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5" name="84 Elipse">
            <a:extLst>
              <a:ext uri="{FF2B5EF4-FFF2-40B4-BE49-F238E27FC236}">
                <a16:creationId xmlns:a16="http://schemas.microsoft.com/office/drawing/2014/main" id="{613ED355-E23B-409C-A89A-37A9B8777381}"/>
              </a:ext>
            </a:extLst>
          </p:cNvPr>
          <p:cNvSpPr/>
          <p:nvPr/>
        </p:nvSpPr>
        <p:spPr>
          <a:xfrm>
            <a:off x="7104592" y="2875492"/>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6" name="85 Elipse">
            <a:extLst>
              <a:ext uri="{FF2B5EF4-FFF2-40B4-BE49-F238E27FC236}">
                <a16:creationId xmlns:a16="http://schemas.microsoft.com/office/drawing/2014/main" id="{B2D3C3D6-9014-4E1D-BDFC-DB2979605D6B}"/>
              </a:ext>
            </a:extLst>
          </p:cNvPr>
          <p:cNvSpPr/>
          <p:nvPr/>
        </p:nvSpPr>
        <p:spPr>
          <a:xfrm>
            <a:off x="7400925" y="3054350"/>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7" name="86 Elipse">
            <a:extLst>
              <a:ext uri="{FF2B5EF4-FFF2-40B4-BE49-F238E27FC236}">
                <a16:creationId xmlns:a16="http://schemas.microsoft.com/office/drawing/2014/main" id="{426A865C-5566-4F25-A145-A1F7FFAB6BF8}"/>
              </a:ext>
            </a:extLst>
          </p:cNvPr>
          <p:cNvSpPr/>
          <p:nvPr/>
        </p:nvSpPr>
        <p:spPr>
          <a:xfrm>
            <a:off x="7586133" y="3353859"/>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8" name="87 Elipse">
            <a:extLst>
              <a:ext uri="{FF2B5EF4-FFF2-40B4-BE49-F238E27FC236}">
                <a16:creationId xmlns:a16="http://schemas.microsoft.com/office/drawing/2014/main" id="{91C0B0B3-A755-45E1-9F99-D54C417F3F67}"/>
              </a:ext>
            </a:extLst>
          </p:cNvPr>
          <p:cNvSpPr/>
          <p:nvPr/>
        </p:nvSpPr>
        <p:spPr>
          <a:xfrm>
            <a:off x="7882467" y="3532717"/>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9" name="88 Triángulo isósceles">
            <a:extLst>
              <a:ext uri="{FF2B5EF4-FFF2-40B4-BE49-F238E27FC236}">
                <a16:creationId xmlns:a16="http://schemas.microsoft.com/office/drawing/2014/main" id="{081F2B51-0E48-41EA-A69F-04B9FED28158}"/>
              </a:ext>
            </a:extLst>
          </p:cNvPr>
          <p:cNvSpPr/>
          <p:nvPr/>
        </p:nvSpPr>
        <p:spPr>
          <a:xfrm>
            <a:off x="6092825" y="4071409"/>
            <a:ext cx="571500" cy="479425"/>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3</a:t>
            </a:r>
            <a:endParaRPr lang="es-ES" sz="2800" dirty="0">
              <a:solidFill>
                <a:srgbClr val="FFFFFF"/>
              </a:solidFill>
              <a:latin typeface="Aharoni" pitchFamily="2" charset="-79"/>
              <a:cs typeface="Aharoni" pitchFamily="2" charset="-79"/>
              <a:sym typeface="Gill Sans"/>
            </a:endParaRPr>
          </a:p>
        </p:txBody>
      </p:sp>
      <p:sp>
        <p:nvSpPr>
          <p:cNvPr id="90" name="89 Triángulo isósceles">
            <a:extLst>
              <a:ext uri="{FF2B5EF4-FFF2-40B4-BE49-F238E27FC236}">
                <a16:creationId xmlns:a16="http://schemas.microsoft.com/office/drawing/2014/main" id="{DA1BC3F2-9581-4168-80D2-2E3AE8091081}"/>
              </a:ext>
            </a:extLst>
          </p:cNvPr>
          <p:cNvSpPr/>
          <p:nvPr/>
        </p:nvSpPr>
        <p:spPr>
          <a:xfrm>
            <a:off x="9645650" y="3920067"/>
            <a:ext cx="570442" cy="479425"/>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3</a:t>
            </a:r>
            <a:endParaRPr lang="es-ES" sz="2800" dirty="0">
              <a:solidFill>
                <a:srgbClr val="FFFFFF"/>
              </a:solidFill>
              <a:latin typeface="Aharoni" pitchFamily="2" charset="-79"/>
              <a:cs typeface="Aharoni" pitchFamily="2" charset="-79"/>
              <a:sym typeface="Gill Sans"/>
            </a:endParaRPr>
          </a:p>
        </p:txBody>
      </p:sp>
      <p:sp>
        <p:nvSpPr>
          <p:cNvPr id="91" name="90 Triángulo isósceles">
            <a:extLst>
              <a:ext uri="{FF2B5EF4-FFF2-40B4-BE49-F238E27FC236}">
                <a16:creationId xmlns:a16="http://schemas.microsoft.com/office/drawing/2014/main" id="{98FBE1A0-1A3A-4687-AD7F-47AAAFD0C983}"/>
              </a:ext>
            </a:extLst>
          </p:cNvPr>
          <p:cNvSpPr/>
          <p:nvPr/>
        </p:nvSpPr>
        <p:spPr>
          <a:xfrm>
            <a:off x="7441142" y="5949951"/>
            <a:ext cx="570441" cy="480483"/>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3</a:t>
            </a:r>
            <a:endParaRPr lang="es-ES" sz="2800" dirty="0">
              <a:solidFill>
                <a:srgbClr val="FFFFFF"/>
              </a:solidFill>
              <a:latin typeface="Aharoni" pitchFamily="2" charset="-79"/>
              <a:cs typeface="Aharoni" pitchFamily="2" charset="-79"/>
              <a:sym typeface="Gill Sans"/>
            </a:endParaRPr>
          </a:p>
        </p:txBody>
      </p:sp>
      <p:sp>
        <p:nvSpPr>
          <p:cNvPr id="92" name="91 Triángulo isósceles">
            <a:extLst>
              <a:ext uri="{FF2B5EF4-FFF2-40B4-BE49-F238E27FC236}">
                <a16:creationId xmlns:a16="http://schemas.microsoft.com/office/drawing/2014/main" id="{F90896D0-D9DF-49DE-BF3D-F7D0BC26D920}"/>
              </a:ext>
            </a:extLst>
          </p:cNvPr>
          <p:cNvSpPr/>
          <p:nvPr/>
        </p:nvSpPr>
        <p:spPr>
          <a:xfrm>
            <a:off x="6317192" y="5977467"/>
            <a:ext cx="570441" cy="480483"/>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3</a:t>
            </a:r>
            <a:endParaRPr lang="es-ES" sz="2800" dirty="0">
              <a:solidFill>
                <a:srgbClr val="FFFFFF"/>
              </a:solidFill>
              <a:latin typeface="Aharoni" pitchFamily="2" charset="-79"/>
              <a:cs typeface="Aharoni" pitchFamily="2" charset="-79"/>
              <a:sym typeface="Gill Sans"/>
            </a:endParaRPr>
          </a:p>
        </p:txBody>
      </p:sp>
      <p:sp>
        <p:nvSpPr>
          <p:cNvPr id="93" name="92 Triángulo isósceles">
            <a:extLst>
              <a:ext uri="{FF2B5EF4-FFF2-40B4-BE49-F238E27FC236}">
                <a16:creationId xmlns:a16="http://schemas.microsoft.com/office/drawing/2014/main" id="{DFF4291A-8D72-4000-8F0C-D28CF1137376}"/>
              </a:ext>
            </a:extLst>
          </p:cNvPr>
          <p:cNvSpPr/>
          <p:nvPr/>
        </p:nvSpPr>
        <p:spPr>
          <a:xfrm>
            <a:off x="1853142" y="3687234"/>
            <a:ext cx="570441" cy="479425"/>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3</a:t>
            </a:r>
            <a:endParaRPr lang="es-ES" sz="2800" dirty="0">
              <a:solidFill>
                <a:srgbClr val="FFFFFF"/>
              </a:solidFill>
              <a:latin typeface="Aharoni" pitchFamily="2" charset="-79"/>
              <a:cs typeface="Aharoni" pitchFamily="2" charset="-79"/>
              <a:sym typeface="Gill Sans"/>
            </a:endParaRPr>
          </a:p>
        </p:txBody>
      </p:sp>
      <p:cxnSp>
        <p:nvCxnSpPr>
          <p:cNvPr id="94" name="93 Conector recto">
            <a:extLst>
              <a:ext uri="{FF2B5EF4-FFF2-40B4-BE49-F238E27FC236}">
                <a16:creationId xmlns:a16="http://schemas.microsoft.com/office/drawing/2014/main" id="{563E7C5D-83A2-451C-9FE9-DC8821E2F939}"/>
              </a:ext>
            </a:extLst>
          </p:cNvPr>
          <p:cNvCxnSpPr>
            <a:stCxn id="93" idx="5"/>
            <a:endCxn id="89" idx="1"/>
          </p:cNvCxnSpPr>
          <p:nvPr/>
        </p:nvCxnSpPr>
        <p:spPr>
          <a:xfrm>
            <a:off x="2281767" y="3926417"/>
            <a:ext cx="3953933" cy="385233"/>
          </a:xfrm>
          <a:prstGeom prst="line">
            <a:avLst/>
          </a:prstGeom>
        </p:spPr>
        <p:style>
          <a:lnRef idx="1">
            <a:schemeClr val="dk1"/>
          </a:lnRef>
          <a:fillRef idx="0">
            <a:schemeClr val="dk1"/>
          </a:fillRef>
          <a:effectRef idx="0">
            <a:schemeClr val="dk1"/>
          </a:effectRef>
          <a:fontRef idx="minor">
            <a:schemeClr val="tx1"/>
          </a:fontRef>
        </p:style>
      </p:cxnSp>
      <p:cxnSp>
        <p:nvCxnSpPr>
          <p:cNvPr id="95" name="94 Conector recto">
            <a:extLst>
              <a:ext uri="{FF2B5EF4-FFF2-40B4-BE49-F238E27FC236}">
                <a16:creationId xmlns:a16="http://schemas.microsoft.com/office/drawing/2014/main" id="{1B849D0B-AAA8-49AC-AAF9-0DF15E00927E}"/>
              </a:ext>
            </a:extLst>
          </p:cNvPr>
          <p:cNvCxnSpPr>
            <a:stCxn id="89" idx="5"/>
            <a:endCxn id="90" idx="1"/>
          </p:cNvCxnSpPr>
          <p:nvPr/>
        </p:nvCxnSpPr>
        <p:spPr>
          <a:xfrm flipV="1">
            <a:off x="6521451" y="4160309"/>
            <a:ext cx="3267075" cy="151341"/>
          </a:xfrm>
          <a:prstGeom prst="line">
            <a:avLst/>
          </a:prstGeom>
        </p:spPr>
        <p:style>
          <a:lnRef idx="1">
            <a:schemeClr val="dk1"/>
          </a:lnRef>
          <a:fillRef idx="0">
            <a:schemeClr val="dk1"/>
          </a:fillRef>
          <a:effectRef idx="0">
            <a:schemeClr val="dk1"/>
          </a:effectRef>
          <a:fontRef idx="minor">
            <a:schemeClr val="tx1"/>
          </a:fontRef>
        </p:style>
      </p:cxnSp>
      <p:cxnSp>
        <p:nvCxnSpPr>
          <p:cNvPr id="96" name="95 Conector recto">
            <a:extLst>
              <a:ext uri="{FF2B5EF4-FFF2-40B4-BE49-F238E27FC236}">
                <a16:creationId xmlns:a16="http://schemas.microsoft.com/office/drawing/2014/main" id="{F38ACFAE-5DC8-4BE2-BE0F-38CEC612A96F}"/>
              </a:ext>
            </a:extLst>
          </p:cNvPr>
          <p:cNvCxnSpPr>
            <a:stCxn id="89" idx="3"/>
            <a:endCxn id="91" idx="1"/>
          </p:cNvCxnSpPr>
          <p:nvPr/>
        </p:nvCxnSpPr>
        <p:spPr>
          <a:xfrm>
            <a:off x="6378576" y="4550833"/>
            <a:ext cx="1205441" cy="1639359"/>
          </a:xfrm>
          <a:prstGeom prst="line">
            <a:avLst/>
          </a:prstGeom>
        </p:spPr>
        <p:style>
          <a:lnRef idx="1">
            <a:schemeClr val="dk1"/>
          </a:lnRef>
          <a:fillRef idx="0">
            <a:schemeClr val="dk1"/>
          </a:fillRef>
          <a:effectRef idx="0">
            <a:schemeClr val="dk1"/>
          </a:effectRef>
          <a:fontRef idx="minor">
            <a:schemeClr val="tx1"/>
          </a:fontRef>
        </p:style>
      </p:cxnSp>
      <p:cxnSp>
        <p:nvCxnSpPr>
          <p:cNvPr id="97" name="96 Conector recto">
            <a:extLst>
              <a:ext uri="{FF2B5EF4-FFF2-40B4-BE49-F238E27FC236}">
                <a16:creationId xmlns:a16="http://schemas.microsoft.com/office/drawing/2014/main" id="{BB553F16-96D9-4A5A-A99A-FF414EC10900}"/>
              </a:ext>
            </a:extLst>
          </p:cNvPr>
          <p:cNvCxnSpPr>
            <a:stCxn id="89" idx="3"/>
            <a:endCxn id="92" idx="1"/>
          </p:cNvCxnSpPr>
          <p:nvPr/>
        </p:nvCxnSpPr>
        <p:spPr>
          <a:xfrm>
            <a:off x="6378576" y="4550834"/>
            <a:ext cx="81491" cy="1666875"/>
          </a:xfrm>
          <a:prstGeom prst="line">
            <a:avLst/>
          </a:prstGeom>
        </p:spPr>
        <p:style>
          <a:lnRef idx="1">
            <a:schemeClr val="dk1"/>
          </a:lnRef>
          <a:fillRef idx="0">
            <a:schemeClr val="dk1"/>
          </a:fillRef>
          <a:effectRef idx="0">
            <a:schemeClr val="dk1"/>
          </a:effectRef>
          <a:fontRef idx="minor">
            <a:schemeClr val="tx1"/>
          </a:fontRef>
        </p:style>
      </p:cxnSp>
      <p:sp>
        <p:nvSpPr>
          <p:cNvPr id="102" name="101 Triángulo isósceles">
            <a:extLst>
              <a:ext uri="{FF2B5EF4-FFF2-40B4-BE49-F238E27FC236}">
                <a16:creationId xmlns:a16="http://schemas.microsoft.com/office/drawing/2014/main" id="{B3FB9DD4-50D4-48F1-816C-1617268B64E7}"/>
              </a:ext>
            </a:extLst>
          </p:cNvPr>
          <p:cNvSpPr/>
          <p:nvPr/>
        </p:nvSpPr>
        <p:spPr>
          <a:xfrm>
            <a:off x="1892300" y="370417"/>
            <a:ext cx="1906059" cy="1800000"/>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8800" dirty="0">
                <a:solidFill>
                  <a:srgbClr val="FFFFFF"/>
                </a:solidFill>
                <a:latin typeface="Montserrat" panose="00000500000000000000" pitchFamily="2" charset="0"/>
                <a:cs typeface="Aharoni" pitchFamily="2" charset="-79"/>
                <a:sym typeface="Gill Sans"/>
              </a:rPr>
              <a:t>3</a:t>
            </a:r>
            <a:endParaRPr lang="es-ES" sz="8800" dirty="0">
              <a:solidFill>
                <a:srgbClr val="FFFFFF"/>
              </a:solidFill>
              <a:latin typeface="Montserrat" panose="00000500000000000000" pitchFamily="2" charset="0"/>
              <a:cs typeface="Aharoni" pitchFamily="2" charset="-79"/>
              <a:sym typeface="Gill Sans"/>
            </a:endParaRPr>
          </a:p>
        </p:txBody>
      </p:sp>
      <p:sp>
        <p:nvSpPr>
          <p:cNvPr id="83075" name="97 CuadroTexto">
            <a:extLst>
              <a:ext uri="{FF2B5EF4-FFF2-40B4-BE49-F238E27FC236}">
                <a16:creationId xmlns:a16="http://schemas.microsoft.com/office/drawing/2014/main" id="{61DD375C-84FD-4096-ACD2-B3EACB5DD638}"/>
              </a:ext>
            </a:extLst>
          </p:cNvPr>
          <p:cNvSpPr txBox="1">
            <a:spLocks noChangeArrowheads="1"/>
          </p:cNvSpPr>
          <p:nvPr/>
        </p:nvSpPr>
        <p:spPr bwMode="auto">
          <a:xfrm>
            <a:off x="4061354" y="528743"/>
            <a:ext cx="5978524"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1371600">
              <a:defRPr sz="4300">
                <a:solidFill>
                  <a:srgbClr val="000000"/>
                </a:solidFill>
                <a:latin typeface="Gill Sans" charset="0"/>
                <a:cs typeface="ヒラギノ角ゴ ProN W3" charset="0"/>
                <a:sym typeface="Gill Sans" charset="0"/>
              </a:defRPr>
            </a:lvl1pPr>
            <a:lvl2pPr defTabSz="1371600">
              <a:defRPr sz="4300">
                <a:solidFill>
                  <a:srgbClr val="000000"/>
                </a:solidFill>
                <a:latin typeface="Gill Sans" charset="0"/>
                <a:cs typeface="ヒラギノ角ゴ ProN W3" charset="0"/>
                <a:sym typeface="Gill Sans" charset="0"/>
              </a:defRPr>
            </a:lvl2pPr>
            <a:lvl3pPr defTabSz="1371600">
              <a:defRPr sz="4300">
                <a:solidFill>
                  <a:srgbClr val="000000"/>
                </a:solidFill>
                <a:latin typeface="Gill Sans" charset="0"/>
                <a:cs typeface="ヒラギノ角ゴ ProN W3" charset="0"/>
                <a:sym typeface="Gill Sans" charset="0"/>
              </a:defRPr>
            </a:lvl3pPr>
            <a:lvl4pPr defTabSz="1371600">
              <a:defRPr sz="4300">
                <a:solidFill>
                  <a:srgbClr val="000000"/>
                </a:solidFill>
                <a:latin typeface="Gill Sans" charset="0"/>
                <a:cs typeface="ヒラギノ角ゴ ProN W3" charset="0"/>
                <a:sym typeface="Gill Sans" charset="0"/>
              </a:defRPr>
            </a:lvl4pPr>
            <a:lvl5pPr defTabSz="1371600">
              <a:defRPr sz="4300">
                <a:solidFill>
                  <a:srgbClr val="000000"/>
                </a:solidFill>
                <a:latin typeface="Gill Sans" charset="0"/>
                <a:cs typeface="ヒラギノ角ゴ ProN W3" charset="0"/>
                <a:sym typeface="Gill Sans" charset="0"/>
              </a:defRPr>
            </a:lvl5pPr>
            <a:lvl6pPr marL="22844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6pPr>
            <a:lvl7pPr marL="27416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7pPr>
            <a:lvl8pPr marL="31988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8pPr>
            <a:lvl9pPr marL="36560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9pPr>
          </a:lstStyle>
          <a:p>
            <a:pPr defTabSz="914446" fontAlgn="base">
              <a:spcBef>
                <a:spcPct val="0"/>
              </a:spcBef>
              <a:spcAft>
                <a:spcPct val="0"/>
              </a:spcAft>
            </a:pPr>
            <a:r>
              <a:rPr lang="es-CL" altLang="es-CL" sz="1800" b="1" dirty="0">
                <a:latin typeface="Montserrat" panose="00000500000000000000" pitchFamily="2" charset="0"/>
              </a:rPr>
              <a:t>Cerrar, focalizarse en patrón-modelo</a:t>
            </a:r>
          </a:p>
          <a:p>
            <a:pPr defTabSz="914446" fontAlgn="base">
              <a:spcBef>
                <a:spcPct val="0"/>
              </a:spcBef>
              <a:spcAft>
                <a:spcPct val="0"/>
              </a:spcAft>
            </a:pPr>
            <a:r>
              <a:rPr lang="es-CL" altLang="es-CL" sz="1800" dirty="0">
                <a:latin typeface="Montserrat" panose="00000500000000000000" pitchFamily="2" charset="0"/>
              </a:rPr>
              <a:t>Generar recorridos –secuencial-, desde clientes a cambios relevantes en distintos bloques, construyendo nuevos conceptos (ejemplo: comida rápida, ropa exclusiva barata, etc.)</a:t>
            </a:r>
            <a:endParaRPr lang="es-ES" altLang="es-CL" sz="1800" dirty="0">
              <a:latin typeface="Montserrat" panose="00000500000000000000" pitchFamily="2" charset="0"/>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Tabla">
            <a:extLst>
              <a:ext uri="{FF2B5EF4-FFF2-40B4-BE49-F238E27FC236}">
                <a16:creationId xmlns:a16="http://schemas.microsoft.com/office/drawing/2014/main" id="{A343F748-D999-4861-A8F0-17643FB50FB3}"/>
              </a:ext>
            </a:extLst>
          </p:cNvPr>
          <p:cNvGraphicFramePr>
            <a:graphicFrameLocks noGrp="1"/>
          </p:cNvGraphicFramePr>
          <p:nvPr/>
        </p:nvGraphicFramePr>
        <p:xfrm>
          <a:off x="2135717" y="2573867"/>
          <a:ext cx="7865533" cy="4105276"/>
        </p:xfrm>
        <a:graphic>
          <a:graphicData uri="http://schemas.openxmlformats.org/drawingml/2006/table">
            <a:tbl>
              <a:tblPr>
                <a:tableStyleId>{5940675A-B579-460E-94D1-54222C63F5DA}</a:tableStyleId>
              </a:tblPr>
              <a:tblGrid>
                <a:gridCol w="1544653">
                  <a:extLst>
                    <a:ext uri="{9D8B030D-6E8A-4147-A177-3AD203B41FA5}">
                      <a16:colId xmlns:a16="http://schemas.microsoft.com/office/drawing/2014/main" val="20000"/>
                    </a:ext>
                  </a:extLst>
                </a:gridCol>
                <a:gridCol w="1582494">
                  <a:extLst>
                    <a:ext uri="{9D8B030D-6E8A-4147-A177-3AD203B41FA5}">
                      <a16:colId xmlns:a16="http://schemas.microsoft.com/office/drawing/2014/main" val="20001"/>
                    </a:ext>
                  </a:extLst>
                </a:gridCol>
                <a:gridCol w="810275">
                  <a:extLst>
                    <a:ext uri="{9D8B030D-6E8A-4147-A177-3AD203B41FA5}">
                      <a16:colId xmlns:a16="http://schemas.microsoft.com/office/drawing/2014/main" val="20002"/>
                    </a:ext>
                  </a:extLst>
                </a:gridCol>
                <a:gridCol w="826787">
                  <a:extLst>
                    <a:ext uri="{9D8B030D-6E8A-4147-A177-3AD203B41FA5}">
                      <a16:colId xmlns:a16="http://schemas.microsoft.com/office/drawing/2014/main" val="20003"/>
                    </a:ext>
                  </a:extLst>
                </a:gridCol>
                <a:gridCol w="1618872">
                  <a:extLst>
                    <a:ext uri="{9D8B030D-6E8A-4147-A177-3AD203B41FA5}">
                      <a16:colId xmlns:a16="http://schemas.microsoft.com/office/drawing/2014/main" val="20004"/>
                    </a:ext>
                  </a:extLst>
                </a:gridCol>
                <a:gridCol w="1482452">
                  <a:extLst>
                    <a:ext uri="{9D8B030D-6E8A-4147-A177-3AD203B41FA5}">
                      <a16:colId xmlns:a16="http://schemas.microsoft.com/office/drawing/2014/main" val="20005"/>
                    </a:ext>
                  </a:extLst>
                </a:gridCol>
              </a:tblGrid>
              <a:tr h="587917">
                <a:tc>
                  <a:txBody>
                    <a:body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s-ES_tradnl" sz="1100" u="none" strike="noStrike" cap="none" normalizeH="0" baseline="0" dirty="0">
                          <a:ln>
                            <a:noFill/>
                          </a:ln>
                          <a:effectLst/>
                        </a:rPr>
                        <a:t>Relaciones con proveedores/ Alianzas</a:t>
                      </a:r>
                      <a:endParaRPr kumimoji="0" lang="es-ES_tradnl" sz="1100" b="1" i="0" u="none" strike="noStrike" cap="none" normalizeH="0" baseline="0" dirty="0">
                        <a:ln>
                          <a:noFill/>
                        </a:ln>
                        <a:solidFill>
                          <a:schemeClr val="tx1"/>
                        </a:solidFill>
                        <a:effectLst/>
                        <a:latin typeface="Helvetica"/>
                        <a:ea typeface="ＭＳ Ｐゴシック" charset="0"/>
                        <a:cs typeface="Helvetica"/>
                      </a:endParaRPr>
                    </a:p>
                  </a:txBody>
                  <a:tcPr marL="0" marR="0" marT="45339" marB="45339" anchor="ctr" horzOverflow="overflow"/>
                </a:tc>
                <a:tc>
                  <a:txBody>
                    <a:body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s-ES_tradnl" sz="1100" u="none" strike="noStrike" cap="none" normalizeH="0" baseline="0" dirty="0">
                          <a:ln>
                            <a:noFill/>
                          </a:ln>
                          <a:effectLst/>
                        </a:rPr>
                        <a:t>Actividades claves/ Procesos</a:t>
                      </a:r>
                      <a:endParaRPr kumimoji="0" lang="es-ES_tradnl" sz="1100" b="1" i="0" u="none" strike="noStrike" cap="none" normalizeH="0" baseline="0" dirty="0">
                        <a:ln>
                          <a:noFill/>
                        </a:ln>
                        <a:solidFill>
                          <a:schemeClr val="tx1"/>
                        </a:solidFill>
                        <a:effectLst/>
                        <a:latin typeface="Helvetica"/>
                        <a:ea typeface="ＭＳ Ｐゴシック" charset="0"/>
                        <a:cs typeface="Helvetica"/>
                      </a:endParaRPr>
                    </a:p>
                  </a:txBody>
                  <a:tcPr marL="0" marR="0" marT="45339" marB="45339" anchor="ctr" horzOverflow="overflow"/>
                </a:tc>
                <a:tc gridSpan="2">
                  <a:txBody>
                    <a:body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s-ES_tradnl" sz="1100" u="none" strike="noStrike" cap="none" normalizeH="0" baseline="0" dirty="0">
                          <a:ln>
                            <a:noFill/>
                          </a:ln>
                          <a:effectLst/>
                        </a:rPr>
                        <a:t>Propuesta de Valor</a:t>
                      </a:r>
                      <a:endParaRPr kumimoji="0" lang="es-ES_tradnl" sz="1100" b="1" i="0" u="none" strike="noStrike" cap="none" normalizeH="0" baseline="0" dirty="0">
                        <a:ln>
                          <a:noFill/>
                        </a:ln>
                        <a:solidFill>
                          <a:schemeClr val="tx1"/>
                        </a:solidFill>
                        <a:effectLst/>
                        <a:latin typeface="Helvetica"/>
                        <a:ea typeface="ＭＳ Ｐゴシック" charset="0"/>
                        <a:cs typeface="Helvetica"/>
                      </a:endParaRPr>
                    </a:p>
                  </a:txBody>
                  <a:tcPr marL="0" marR="0" marT="45339" marB="45339" anchor="ctr" horzOverflow="overflow"/>
                </a:tc>
                <a:tc hMerge="1">
                  <a:txBody>
                    <a:bodyPr/>
                    <a:lstStyle/>
                    <a:p>
                      <a:endParaRPr lang="es-ES_tradnl"/>
                    </a:p>
                  </a:txBody>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s-ES_tradnl" sz="1100" u="none" strike="noStrike" cap="none" normalizeH="0" baseline="0" dirty="0">
                          <a:ln>
                            <a:noFill/>
                          </a:ln>
                          <a:effectLst/>
                        </a:rPr>
                        <a:t>Relación con el Consumidor</a:t>
                      </a:r>
                      <a:endParaRPr kumimoji="0" lang="es-ES_tradnl" sz="1100" b="1" i="0" u="none" strike="noStrike" cap="none" normalizeH="0" baseline="0" dirty="0">
                        <a:ln>
                          <a:noFill/>
                        </a:ln>
                        <a:solidFill>
                          <a:schemeClr val="tx1"/>
                        </a:solidFill>
                        <a:effectLst/>
                        <a:latin typeface="Helvetica"/>
                        <a:ea typeface="ＭＳ Ｐゴシック" charset="0"/>
                        <a:cs typeface="Helvetica"/>
                      </a:endParaRPr>
                    </a:p>
                  </a:txBody>
                  <a:tcPr marL="0" marR="0" marT="45339" marB="45339" anchor="ctr" horzOverflow="overflow"/>
                </a:tc>
                <a:tc>
                  <a:txBody>
                    <a:body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s-ES_tradnl" sz="1100" u="none" strike="noStrike" cap="none" normalizeH="0" baseline="0" dirty="0">
                          <a:ln>
                            <a:noFill/>
                          </a:ln>
                          <a:effectLst/>
                        </a:rPr>
                        <a:t>Segmento de Consumidores</a:t>
                      </a:r>
                      <a:endParaRPr kumimoji="0" lang="es-ES_tradnl" sz="1100" b="1" i="0" u="none" strike="noStrike" cap="none" normalizeH="0" baseline="0" dirty="0">
                        <a:ln>
                          <a:noFill/>
                        </a:ln>
                        <a:solidFill>
                          <a:schemeClr val="tx1"/>
                        </a:solidFill>
                        <a:effectLst/>
                        <a:latin typeface="Helvetica"/>
                        <a:ea typeface="ＭＳ Ｐゴシック" charset="0"/>
                        <a:cs typeface="Helvetica"/>
                      </a:endParaRPr>
                    </a:p>
                  </a:txBody>
                  <a:tcPr marL="0" marR="0" marT="45339" marB="45339" anchor="ctr" horzOverflow="overflow"/>
                </a:tc>
                <a:extLst>
                  <a:ext uri="{0D108BD9-81ED-4DB2-BD59-A6C34878D82A}">
                    <a16:rowId xmlns:a16="http://schemas.microsoft.com/office/drawing/2014/main" val="10000"/>
                  </a:ext>
                </a:extLst>
              </a:tr>
              <a:tr h="934669">
                <a:tc rowSpan="3">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s-CL" sz="900" b="0" i="0" u="none" strike="noStrike" cap="none" normalizeH="0" baseline="0" dirty="0">
                        <a:ln>
                          <a:noFill/>
                        </a:ln>
                        <a:solidFill>
                          <a:srgbClr val="414349"/>
                        </a:solidFill>
                        <a:effectLst/>
                        <a:latin typeface="Helvetica"/>
                        <a:ea typeface="ＭＳ Ｐゴシック" charset="0"/>
                        <a:cs typeface="Helvetica"/>
                      </a:endParaRPr>
                    </a:p>
                  </a:txBody>
                  <a:tcPr marL="107995" marR="5358" marT="86363" marB="0"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s-CL" sz="900" b="0" i="0" u="none" strike="noStrike" kern="1200" cap="none" spc="0" normalizeH="0" baseline="0" noProof="0" dirty="0">
                        <a:ln>
                          <a:noFill/>
                        </a:ln>
                        <a:solidFill>
                          <a:srgbClr val="414349"/>
                        </a:solidFill>
                        <a:effectLst/>
                        <a:uLnTx/>
                        <a:uFillTx/>
                        <a:latin typeface="Helvetica"/>
                        <a:ea typeface="ＭＳ Ｐゴシック" charset="0"/>
                        <a:cs typeface="Helvetica"/>
                      </a:endParaRPr>
                    </a:p>
                  </a:txBody>
                  <a:tcPr marL="107995" marR="5358" marT="96727" marB="0" horzOverflow="overflow"/>
                </a:tc>
                <a:tc rowSpan="3" gridSpan="2">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s-CL" sz="900" b="0" i="0" u="none" strike="noStrike" kern="1200" cap="none" spc="0" normalizeH="0" baseline="0" noProof="0" dirty="0">
                        <a:ln>
                          <a:noFill/>
                        </a:ln>
                        <a:solidFill>
                          <a:srgbClr val="414349"/>
                        </a:solidFill>
                        <a:effectLst/>
                        <a:uLnTx/>
                        <a:uFillTx/>
                        <a:latin typeface="Helvetica"/>
                        <a:ea typeface="ＭＳ Ｐゴシック" charset="0"/>
                        <a:cs typeface="Helvetica"/>
                      </a:endParaRPr>
                    </a:p>
                  </a:txBody>
                  <a:tcPr marL="107995" marR="5358" marT="96727" marB="0" horzOverflow="overflow"/>
                </a:tc>
                <a:tc rowSpan="3" hMerge="1">
                  <a:txBody>
                    <a:bodyPr/>
                    <a:lstStyle/>
                    <a:p>
                      <a:endParaRPr lang="es-ES_tradnl"/>
                    </a:p>
                  </a:txBody>
                  <a:tcPr/>
                </a:tc>
                <a:tc>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s-CL" sz="900" b="0" i="0" u="none" strike="noStrike" kern="1200" cap="none" spc="0" normalizeH="0" baseline="0" noProof="0" dirty="0">
                        <a:ln>
                          <a:noFill/>
                        </a:ln>
                        <a:solidFill>
                          <a:srgbClr val="414349"/>
                        </a:solidFill>
                        <a:effectLst/>
                        <a:uLnTx/>
                        <a:uFillTx/>
                        <a:latin typeface="Helvetica"/>
                        <a:ea typeface="ＭＳ Ｐゴシック" charset="0"/>
                        <a:cs typeface="Helvetica"/>
                      </a:endParaRPr>
                    </a:p>
                  </a:txBody>
                  <a:tcPr marL="107995" marR="5358" marT="96727" marB="0" horzOverflow="overflow"/>
                </a:tc>
                <a:tc rowSpan="3">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s-CL" sz="900" b="0" i="0" u="none" strike="noStrike" kern="1200" cap="none" spc="0" normalizeH="0" baseline="0" noProof="0" dirty="0">
                        <a:ln>
                          <a:noFill/>
                        </a:ln>
                        <a:solidFill>
                          <a:srgbClr val="414349"/>
                        </a:solidFill>
                        <a:effectLst/>
                        <a:uLnTx/>
                        <a:uFillTx/>
                        <a:latin typeface="Helvetica"/>
                        <a:ea typeface="ＭＳ Ｐゴシック" charset="0"/>
                        <a:cs typeface="Helvetica"/>
                      </a:endParaRPr>
                    </a:p>
                  </a:txBody>
                  <a:tcPr marL="107995" marR="5358" marT="96727" marB="0" horzOverflow="overflow"/>
                </a:tc>
                <a:extLst>
                  <a:ext uri="{0D108BD9-81ED-4DB2-BD59-A6C34878D82A}">
                    <a16:rowId xmlns:a16="http://schemas.microsoft.com/office/drawing/2014/main" val="10001"/>
                  </a:ext>
                </a:extLst>
              </a:tr>
              <a:tr h="231351">
                <a:tc vMerge="1">
                  <a:txBody>
                    <a:bodyPr/>
                    <a:lstStyle/>
                    <a:p>
                      <a:endParaRPr lang="es-ES_tradnl"/>
                    </a:p>
                  </a:txBody>
                  <a:tcPr/>
                </a:tc>
                <a:tc>
                  <a:txBody>
                    <a:bodyPr/>
                    <a:lstStyle/>
                    <a:p>
                      <a:pPr algn="ctr"/>
                      <a:r>
                        <a:rPr lang="es-ES_tradnl" sz="1100" dirty="0"/>
                        <a:t>Recursos claves</a:t>
                      </a:r>
                      <a:endParaRPr lang="es-ES_tradnl" sz="1100" b="1" dirty="0">
                        <a:solidFill>
                          <a:schemeClr val="tx1"/>
                        </a:solidFill>
                        <a:latin typeface="Helvetica"/>
                        <a:cs typeface="Helvetica"/>
                      </a:endParaRPr>
                    </a:p>
                  </a:txBody>
                  <a:tcPr marL="27791" marR="5358" marT="5333" marB="0" anchor="ctr" horzOverflow="overflow"/>
                </a:tc>
                <a:tc gridSpan="2" vMerge="1">
                  <a:txBody>
                    <a:bodyPr/>
                    <a:lstStyle/>
                    <a:p>
                      <a:endParaRPr lang="es-ES_tradnl"/>
                    </a:p>
                  </a:txBody>
                  <a:tcPr/>
                </a:tc>
                <a:tc hMerge="1" vMerge="1">
                  <a:txBody>
                    <a:bodyPr/>
                    <a:lstStyle/>
                    <a:p>
                      <a:endParaRPr lang="es-ES_tradnl"/>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100" u="none" strike="noStrike" kern="1200" cap="none" spc="0" normalizeH="0" baseline="0" noProof="0" dirty="0">
                          <a:ln>
                            <a:noFill/>
                          </a:ln>
                          <a:effectLst/>
                          <a:uLnTx/>
                          <a:uFillTx/>
                        </a:rPr>
                        <a:t>Canales</a:t>
                      </a:r>
                      <a:endParaRPr kumimoji="0" lang="es-ES_tradnl" sz="1100" b="1" i="0" u="none" strike="noStrike" kern="1200" cap="none" spc="0" normalizeH="0" baseline="0" noProof="0" dirty="0">
                        <a:ln>
                          <a:noFill/>
                        </a:ln>
                        <a:solidFill>
                          <a:schemeClr val="tx1"/>
                        </a:solidFill>
                        <a:effectLst/>
                        <a:uLnTx/>
                        <a:uFillTx/>
                        <a:latin typeface="Helvetica"/>
                        <a:ea typeface="+mn-ea"/>
                        <a:cs typeface="Helvetica"/>
                      </a:endParaRPr>
                    </a:p>
                  </a:txBody>
                  <a:tcPr marL="27791" marR="5358" marT="5333" marB="0" anchor="ctr" horzOverflow="overflow"/>
                </a:tc>
                <a:tc vMerge="1">
                  <a:txBody>
                    <a:bodyPr/>
                    <a:lstStyle/>
                    <a:p>
                      <a:endParaRPr lang="es-ES_tradnl"/>
                    </a:p>
                  </a:txBody>
                  <a:tcPr/>
                </a:tc>
                <a:extLst>
                  <a:ext uri="{0D108BD9-81ED-4DB2-BD59-A6C34878D82A}">
                    <a16:rowId xmlns:a16="http://schemas.microsoft.com/office/drawing/2014/main" val="10002"/>
                  </a:ext>
                </a:extLst>
              </a:tr>
              <a:tr h="869780">
                <a:tc vMerge="1">
                  <a:txBody>
                    <a:bodyPr/>
                    <a:lstStyle/>
                    <a:p>
                      <a:endParaRPr lang="es-ES_tradnl"/>
                    </a:p>
                  </a:txBody>
                  <a:tcPr/>
                </a:tc>
                <a:tc>
                  <a:txBody>
                    <a:bodyPr/>
                    <a:lstStyle/>
                    <a:p>
                      <a:endParaRPr lang="es-ES_tradnl" sz="2500" dirty="0"/>
                    </a:p>
                  </a:txBody>
                  <a:tcPr marL="27791" marR="5358" marT="5333" marB="0" horzOverflow="overflow"/>
                </a:tc>
                <a:tc gridSpan="2" vMerge="1">
                  <a:txBody>
                    <a:bodyPr/>
                    <a:lstStyle/>
                    <a:p>
                      <a:endParaRPr lang="es-ES_tradnl"/>
                    </a:p>
                  </a:txBody>
                  <a:tcPr/>
                </a:tc>
                <a:tc hMerge="1" vMerge="1">
                  <a:txBody>
                    <a:bodyPr/>
                    <a:lstStyle/>
                    <a:p>
                      <a:endParaRPr lang="es-ES_tradnl"/>
                    </a:p>
                  </a:txBody>
                  <a:tcPr/>
                </a:tc>
                <a:tc>
                  <a:txBody>
                    <a:bodyPr/>
                    <a:lstStyle/>
                    <a:p>
                      <a:endParaRPr lang="es-ES_tradnl" sz="2500" dirty="0">
                        <a:solidFill>
                          <a:srgbClr val="414349"/>
                        </a:solidFill>
                      </a:endParaRPr>
                    </a:p>
                  </a:txBody>
                  <a:tcPr marL="27791" marR="5358" marT="5333" marB="0" horzOverflow="overflow"/>
                </a:tc>
                <a:tc vMerge="1">
                  <a:txBody>
                    <a:bodyPr/>
                    <a:lstStyle/>
                    <a:p>
                      <a:endParaRPr lang="es-ES_tradnl"/>
                    </a:p>
                  </a:txBody>
                  <a:tcPr/>
                </a:tc>
                <a:extLst>
                  <a:ext uri="{0D108BD9-81ED-4DB2-BD59-A6C34878D82A}">
                    <a16:rowId xmlns:a16="http://schemas.microsoft.com/office/drawing/2014/main" val="10003"/>
                  </a:ext>
                </a:extLst>
              </a:tr>
              <a:tr h="242636">
                <a:tc gridSpan="3">
                  <a:txBody>
                    <a:bodyPr/>
                    <a:lstStyle/>
                    <a:p>
                      <a:pPr algn="ctr"/>
                      <a:r>
                        <a:rPr lang="es-ES_tradnl" sz="1100" dirty="0"/>
                        <a:t>Estructura de Costos</a:t>
                      </a:r>
                      <a:endParaRPr lang="es-ES_tradnl" sz="1100" b="1" dirty="0">
                        <a:solidFill>
                          <a:schemeClr val="tx1"/>
                        </a:solidFill>
                        <a:latin typeface="Helvetica"/>
                        <a:cs typeface="Helvetica"/>
                      </a:endParaRPr>
                    </a:p>
                  </a:txBody>
                  <a:tcPr marL="27791" marR="5358" marT="5333" marB="0" anchor="ctr" horzOverflow="overflow"/>
                </a:tc>
                <a:tc hMerge="1">
                  <a:txBody>
                    <a:bodyPr/>
                    <a:lstStyle/>
                    <a:p>
                      <a:endParaRPr lang="es-ES_tradnl"/>
                    </a:p>
                  </a:txBody>
                  <a:tcPr/>
                </a:tc>
                <a:tc hMerge="1">
                  <a:txBody>
                    <a:bodyPr/>
                    <a:lstStyle/>
                    <a:p>
                      <a:endParaRPr lang="es-ES_tradnl"/>
                    </a:p>
                  </a:txBody>
                  <a:tcPr/>
                </a:tc>
                <a:tc gridSpan="3">
                  <a:txBody>
                    <a:bodyPr/>
                    <a:lstStyle/>
                    <a:p>
                      <a:pPr marL="0" marR="0" lvl="0" indent="0" algn="ctr" defTabSz="914400" rtl="0" eaLnBrk="1" fontAlgn="b" latinLnBrk="0" hangingPunct="1">
                        <a:lnSpc>
                          <a:spcPct val="100000"/>
                        </a:lnSpc>
                        <a:spcBef>
                          <a:spcPct val="0"/>
                        </a:spcBef>
                        <a:spcAft>
                          <a:spcPct val="0"/>
                        </a:spcAft>
                        <a:buClrTx/>
                        <a:buSzTx/>
                        <a:buFontTx/>
                        <a:buNone/>
                        <a:tabLst/>
                        <a:defRPr/>
                      </a:pPr>
                      <a:r>
                        <a:rPr lang="es-ES_tradnl" sz="1100" dirty="0"/>
                        <a:t>Flujos - Ingresos</a:t>
                      </a:r>
                      <a:endParaRPr lang="es-ES_tradnl" sz="1100" b="1" dirty="0">
                        <a:solidFill>
                          <a:schemeClr val="tx1"/>
                        </a:solidFill>
                        <a:latin typeface="Helvetica"/>
                        <a:cs typeface="Helvetica"/>
                      </a:endParaRPr>
                    </a:p>
                  </a:txBody>
                  <a:tcPr marL="27791" marR="5358" marT="5333" marB="0" anchor="ctr" horzOverflow="overflow"/>
                </a:tc>
                <a:tc hMerge="1">
                  <a:txBody>
                    <a:bodyPr/>
                    <a:lstStyle/>
                    <a:p>
                      <a:endParaRPr lang="es-ES_tradnl"/>
                    </a:p>
                  </a:txBody>
                  <a:tcPr/>
                </a:tc>
                <a:tc hMerge="1">
                  <a:txBody>
                    <a:bodyPr/>
                    <a:lstStyle/>
                    <a:p>
                      <a:endParaRPr lang="es-ES_tradnl"/>
                    </a:p>
                  </a:txBody>
                  <a:tcPr/>
                </a:tc>
                <a:extLst>
                  <a:ext uri="{0D108BD9-81ED-4DB2-BD59-A6C34878D82A}">
                    <a16:rowId xmlns:a16="http://schemas.microsoft.com/office/drawing/2014/main" val="10004"/>
                  </a:ext>
                </a:extLst>
              </a:tr>
              <a:tr h="1238923">
                <a:tc gridSpan="3">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s-CL" sz="900" b="0" i="0" u="none" strike="noStrike" cap="none" normalizeH="0" baseline="0" dirty="0">
                        <a:ln>
                          <a:noFill/>
                        </a:ln>
                        <a:solidFill>
                          <a:srgbClr val="414349"/>
                        </a:solidFill>
                        <a:effectLst/>
                        <a:latin typeface="Helvetica"/>
                        <a:ea typeface="ＭＳ Ｐゴシック" charset="0"/>
                        <a:cs typeface="Helvetica"/>
                      </a:endParaRPr>
                    </a:p>
                  </a:txBody>
                  <a:tcPr marL="107995" marR="5358" marT="96727" marB="0" horzOverflow="overflow"/>
                </a:tc>
                <a:tc hMerge="1">
                  <a:txBody>
                    <a:bodyPr/>
                    <a:lstStyle/>
                    <a:p>
                      <a:endParaRPr lang="es-ES_tradnl"/>
                    </a:p>
                  </a:txBody>
                  <a:tcPr/>
                </a:tc>
                <a:tc hMerge="1">
                  <a:txBody>
                    <a:bodyPr/>
                    <a:lstStyle/>
                    <a:p>
                      <a:endParaRPr lang="es-ES_tradnl"/>
                    </a:p>
                  </a:txBody>
                  <a:tcPr/>
                </a:tc>
                <a:tc gridSpan="3">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s-CL" sz="900" b="0" i="0" u="none" strike="noStrike" cap="none" normalizeH="0" baseline="0" dirty="0">
                        <a:ln>
                          <a:noFill/>
                        </a:ln>
                        <a:solidFill>
                          <a:srgbClr val="414349"/>
                        </a:solidFill>
                        <a:effectLst/>
                        <a:latin typeface="Helvetica"/>
                        <a:ea typeface="ＭＳ Ｐゴシック" charset="0"/>
                        <a:cs typeface="Helvetica"/>
                      </a:endParaRPr>
                    </a:p>
                  </a:txBody>
                  <a:tcPr marL="107995" marR="5358" marT="96727" marB="0" horzOverflow="overflow"/>
                </a:tc>
                <a:tc hMerge="1">
                  <a:txBody>
                    <a:bodyPr/>
                    <a:lstStyle/>
                    <a:p>
                      <a:endParaRPr lang="es-ES_tradnl"/>
                    </a:p>
                  </a:txBody>
                  <a:tcPr/>
                </a:tc>
                <a:tc hMerge="1">
                  <a:txBody>
                    <a:bodyPr/>
                    <a:lstStyle/>
                    <a:p>
                      <a:endParaRPr lang="es-ES_tradnl"/>
                    </a:p>
                  </a:txBody>
                  <a:tcPr/>
                </a:tc>
                <a:extLst>
                  <a:ext uri="{0D108BD9-81ED-4DB2-BD59-A6C34878D82A}">
                    <a16:rowId xmlns:a16="http://schemas.microsoft.com/office/drawing/2014/main" val="10005"/>
                  </a:ext>
                </a:extLst>
              </a:tr>
            </a:tbl>
          </a:graphicData>
        </a:graphic>
      </p:graphicFrame>
      <p:sp>
        <p:nvSpPr>
          <p:cNvPr id="5" name="4 Elipse">
            <a:extLst>
              <a:ext uri="{FF2B5EF4-FFF2-40B4-BE49-F238E27FC236}">
                <a16:creationId xmlns:a16="http://schemas.microsoft.com/office/drawing/2014/main" id="{E035D323-4C70-46D7-8FDB-C2B9CEAD08A5}"/>
              </a:ext>
            </a:extLst>
          </p:cNvPr>
          <p:cNvSpPr/>
          <p:nvPr/>
        </p:nvSpPr>
        <p:spPr>
          <a:xfrm>
            <a:off x="9264650" y="3644900"/>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6" name="5 Elipse">
            <a:extLst>
              <a:ext uri="{FF2B5EF4-FFF2-40B4-BE49-F238E27FC236}">
                <a16:creationId xmlns:a16="http://schemas.microsoft.com/office/drawing/2014/main" id="{997884D6-E5A8-4255-B362-BF1F7E6D0DD7}"/>
              </a:ext>
            </a:extLst>
          </p:cNvPr>
          <p:cNvSpPr/>
          <p:nvPr/>
        </p:nvSpPr>
        <p:spPr>
          <a:xfrm>
            <a:off x="9413875" y="4509559"/>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7" name="6 Elipse">
            <a:extLst>
              <a:ext uri="{FF2B5EF4-FFF2-40B4-BE49-F238E27FC236}">
                <a16:creationId xmlns:a16="http://schemas.microsoft.com/office/drawing/2014/main" id="{E6993B5F-5116-475C-AD52-74F212B8BA5C}"/>
              </a:ext>
            </a:extLst>
          </p:cNvPr>
          <p:cNvSpPr/>
          <p:nvPr/>
        </p:nvSpPr>
        <p:spPr>
          <a:xfrm>
            <a:off x="7032625" y="3213100"/>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8" name="7 Elipse">
            <a:extLst>
              <a:ext uri="{FF2B5EF4-FFF2-40B4-BE49-F238E27FC236}">
                <a16:creationId xmlns:a16="http://schemas.microsoft.com/office/drawing/2014/main" id="{CAC1AD69-B1C7-4ADF-B916-5624BD514BA6}"/>
              </a:ext>
            </a:extLst>
          </p:cNvPr>
          <p:cNvSpPr/>
          <p:nvPr/>
        </p:nvSpPr>
        <p:spPr>
          <a:xfrm>
            <a:off x="7464425" y="4509559"/>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9" name="8 Elipse">
            <a:extLst>
              <a:ext uri="{FF2B5EF4-FFF2-40B4-BE49-F238E27FC236}">
                <a16:creationId xmlns:a16="http://schemas.microsoft.com/office/drawing/2014/main" id="{9FDA56D0-79E2-48AD-93F0-047207244C73}"/>
              </a:ext>
            </a:extLst>
          </p:cNvPr>
          <p:cNvSpPr/>
          <p:nvPr/>
        </p:nvSpPr>
        <p:spPr>
          <a:xfrm>
            <a:off x="5448300" y="3258609"/>
            <a:ext cx="431800" cy="43285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0" name="9 Elipse">
            <a:extLst>
              <a:ext uri="{FF2B5EF4-FFF2-40B4-BE49-F238E27FC236}">
                <a16:creationId xmlns:a16="http://schemas.microsoft.com/office/drawing/2014/main" id="{24C88BFE-BD72-4677-AA15-A28E34168FA9}"/>
              </a:ext>
            </a:extLst>
          </p:cNvPr>
          <p:cNvSpPr/>
          <p:nvPr/>
        </p:nvSpPr>
        <p:spPr>
          <a:xfrm>
            <a:off x="5880100" y="3907367"/>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1" name="10 Elipse">
            <a:extLst>
              <a:ext uri="{FF2B5EF4-FFF2-40B4-BE49-F238E27FC236}">
                <a16:creationId xmlns:a16="http://schemas.microsoft.com/office/drawing/2014/main" id="{57B84D4A-4526-4863-A135-8FF28D599632}"/>
              </a:ext>
            </a:extLst>
          </p:cNvPr>
          <p:cNvSpPr/>
          <p:nvPr/>
        </p:nvSpPr>
        <p:spPr>
          <a:xfrm>
            <a:off x="5448300" y="4509559"/>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2" name="11 Elipse">
            <a:extLst>
              <a:ext uri="{FF2B5EF4-FFF2-40B4-BE49-F238E27FC236}">
                <a16:creationId xmlns:a16="http://schemas.microsoft.com/office/drawing/2014/main" id="{E61DB6B9-C76A-43F7-B8A9-DD0F7C8C7020}"/>
              </a:ext>
            </a:extLst>
          </p:cNvPr>
          <p:cNvSpPr/>
          <p:nvPr/>
        </p:nvSpPr>
        <p:spPr>
          <a:xfrm>
            <a:off x="6763809" y="5804959"/>
            <a:ext cx="431800" cy="43285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3" name="12 Elipse">
            <a:extLst>
              <a:ext uri="{FF2B5EF4-FFF2-40B4-BE49-F238E27FC236}">
                <a16:creationId xmlns:a16="http://schemas.microsoft.com/office/drawing/2014/main" id="{27BB3DD1-7E33-429C-97F0-C807EFEC5FB3}"/>
              </a:ext>
            </a:extLst>
          </p:cNvPr>
          <p:cNvSpPr/>
          <p:nvPr/>
        </p:nvSpPr>
        <p:spPr>
          <a:xfrm>
            <a:off x="7829550" y="5804959"/>
            <a:ext cx="431800" cy="43285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4" name="13 Elipse">
            <a:extLst>
              <a:ext uri="{FF2B5EF4-FFF2-40B4-BE49-F238E27FC236}">
                <a16:creationId xmlns:a16="http://schemas.microsoft.com/office/drawing/2014/main" id="{1A5C1AB8-7C59-4CBD-99D7-EE143C03E0E6}"/>
              </a:ext>
            </a:extLst>
          </p:cNvPr>
          <p:cNvSpPr/>
          <p:nvPr/>
        </p:nvSpPr>
        <p:spPr>
          <a:xfrm>
            <a:off x="9048750" y="5826126"/>
            <a:ext cx="431800" cy="43285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5" name="14 Elipse">
            <a:extLst>
              <a:ext uri="{FF2B5EF4-FFF2-40B4-BE49-F238E27FC236}">
                <a16:creationId xmlns:a16="http://schemas.microsoft.com/office/drawing/2014/main" id="{015EA5F0-7D7E-4C0A-8BC8-EB04AB9CE866}"/>
              </a:ext>
            </a:extLst>
          </p:cNvPr>
          <p:cNvSpPr/>
          <p:nvPr/>
        </p:nvSpPr>
        <p:spPr>
          <a:xfrm>
            <a:off x="4007909" y="3089275"/>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6" name="15 Elipse">
            <a:extLst>
              <a:ext uri="{FF2B5EF4-FFF2-40B4-BE49-F238E27FC236}">
                <a16:creationId xmlns:a16="http://schemas.microsoft.com/office/drawing/2014/main" id="{EA30719C-0D7B-45F4-ABFC-0B7740D88998}"/>
              </a:ext>
            </a:extLst>
          </p:cNvPr>
          <p:cNvSpPr/>
          <p:nvPr/>
        </p:nvSpPr>
        <p:spPr>
          <a:xfrm>
            <a:off x="4583642" y="3411009"/>
            <a:ext cx="431800" cy="43285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7" name="16 Elipse">
            <a:extLst>
              <a:ext uri="{FF2B5EF4-FFF2-40B4-BE49-F238E27FC236}">
                <a16:creationId xmlns:a16="http://schemas.microsoft.com/office/drawing/2014/main" id="{7B252153-CD77-4CDE-9F1F-096570DFAE59}"/>
              </a:ext>
            </a:extLst>
          </p:cNvPr>
          <p:cNvSpPr/>
          <p:nvPr/>
        </p:nvSpPr>
        <p:spPr>
          <a:xfrm>
            <a:off x="3792009" y="4341283"/>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8" name="17 Elipse">
            <a:extLst>
              <a:ext uri="{FF2B5EF4-FFF2-40B4-BE49-F238E27FC236}">
                <a16:creationId xmlns:a16="http://schemas.microsoft.com/office/drawing/2014/main" id="{C7CF5226-40B9-417B-A0DD-E3E4694B933E}"/>
              </a:ext>
            </a:extLst>
          </p:cNvPr>
          <p:cNvSpPr/>
          <p:nvPr/>
        </p:nvSpPr>
        <p:spPr>
          <a:xfrm>
            <a:off x="4367742" y="4530725"/>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19" name="18 Elipse">
            <a:extLst>
              <a:ext uri="{FF2B5EF4-FFF2-40B4-BE49-F238E27FC236}">
                <a16:creationId xmlns:a16="http://schemas.microsoft.com/office/drawing/2014/main" id="{C7245FD5-65A5-431A-9F6D-4C8F46EE3F17}"/>
              </a:ext>
            </a:extLst>
          </p:cNvPr>
          <p:cNvSpPr/>
          <p:nvPr/>
        </p:nvSpPr>
        <p:spPr>
          <a:xfrm>
            <a:off x="2423583" y="3182409"/>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20" name="19 Elipse">
            <a:extLst>
              <a:ext uri="{FF2B5EF4-FFF2-40B4-BE49-F238E27FC236}">
                <a16:creationId xmlns:a16="http://schemas.microsoft.com/office/drawing/2014/main" id="{235F45BF-2C72-429A-86E8-CA1C38BB75F7}"/>
              </a:ext>
            </a:extLst>
          </p:cNvPr>
          <p:cNvSpPr/>
          <p:nvPr/>
        </p:nvSpPr>
        <p:spPr>
          <a:xfrm>
            <a:off x="2602442" y="3843867"/>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21" name="20 Elipse">
            <a:extLst>
              <a:ext uri="{FF2B5EF4-FFF2-40B4-BE49-F238E27FC236}">
                <a16:creationId xmlns:a16="http://schemas.microsoft.com/office/drawing/2014/main" id="{017B4B76-2C83-4426-8983-60BC7CE59740}"/>
              </a:ext>
            </a:extLst>
          </p:cNvPr>
          <p:cNvSpPr/>
          <p:nvPr/>
        </p:nvSpPr>
        <p:spPr>
          <a:xfrm>
            <a:off x="2423583" y="4493683"/>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22" name="21 Elipse">
            <a:extLst>
              <a:ext uri="{FF2B5EF4-FFF2-40B4-BE49-F238E27FC236}">
                <a16:creationId xmlns:a16="http://schemas.microsoft.com/office/drawing/2014/main" id="{911714C8-FAFD-42D9-8A84-EC44FA54684C}"/>
              </a:ext>
            </a:extLst>
          </p:cNvPr>
          <p:cNvSpPr/>
          <p:nvPr/>
        </p:nvSpPr>
        <p:spPr>
          <a:xfrm>
            <a:off x="2423583" y="5610225"/>
            <a:ext cx="431800" cy="431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23" name="22 Elipse">
            <a:extLst>
              <a:ext uri="{FF2B5EF4-FFF2-40B4-BE49-F238E27FC236}">
                <a16:creationId xmlns:a16="http://schemas.microsoft.com/office/drawing/2014/main" id="{7B3DE316-2C22-4626-929C-69D53C94B523}"/>
              </a:ext>
            </a:extLst>
          </p:cNvPr>
          <p:cNvSpPr/>
          <p:nvPr/>
        </p:nvSpPr>
        <p:spPr>
          <a:xfrm>
            <a:off x="3582459" y="5774267"/>
            <a:ext cx="431800" cy="43285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24" name="23 Elipse">
            <a:extLst>
              <a:ext uri="{FF2B5EF4-FFF2-40B4-BE49-F238E27FC236}">
                <a16:creationId xmlns:a16="http://schemas.microsoft.com/office/drawing/2014/main" id="{1E25DF75-8233-491C-8449-2C6FE567B1C3}"/>
              </a:ext>
            </a:extLst>
          </p:cNvPr>
          <p:cNvSpPr/>
          <p:nvPr/>
        </p:nvSpPr>
        <p:spPr>
          <a:xfrm>
            <a:off x="5015442" y="5826126"/>
            <a:ext cx="432858" cy="43285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1</a:t>
            </a:r>
            <a:endParaRPr lang="es-ES" sz="2800" dirty="0">
              <a:solidFill>
                <a:srgbClr val="FFFFFF"/>
              </a:solidFill>
              <a:latin typeface="Aharoni" pitchFamily="2" charset="-79"/>
              <a:cs typeface="Aharoni" pitchFamily="2" charset="-79"/>
              <a:sym typeface="Gill Sans"/>
            </a:endParaRPr>
          </a:p>
        </p:txBody>
      </p:sp>
      <p:sp>
        <p:nvSpPr>
          <p:cNvPr id="25" name="24 Elipse">
            <a:extLst>
              <a:ext uri="{FF2B5EF4-FFF2-40B4-BE49-F238E27FC236}">
                <a16:creationId xmlns:a16="http://schemas.microsoft.com/office/drawing/2014/main" id="{D33714A0-F826-45DF-BB7C-B901371EC62E}"/>
              </a:ext>
            </a:extLst>
          </p:cNvPr>
          <p:cNvSpPr/>
          <p:nvPr/>
        </p:nvSpPr>
        <p:spPr>
          <a:xfrm>
            <a:off x="7419975" y="4220634"/>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26" name="25 Elipse">
            <a:extLst>
              <a:ext uri="{FF2B5EF4-FFF2-40B4-BE49-F238E27FC236}">
                <a16:creationId xmlns:a16="http://schemas.microsoft.com/office/drawing/2014/main" id="{3B0731B5-E8CB-434A-9C82-3425D3DE546F}"/>
              </a:ext>
            </a:extLst>
          </p:cNvPr>
          <p:cNvSpPr/>
          <p:nvPr/>
        </p:nvSpPr>
        <p:spPr>
          <a:xfrm>
            <a:off x="7716309" y="4399492"/>
            <a:ext cx="288925"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27" name="26 Elipse">
            <a:extLst>
              <a:ext uri="{FF2B5EF4-FFF2-40B4-BE49-F238E27FC236}">
                <a16:creationId xmlns:a16="http://schemas.microsoft.com/office/drawing/2014/main" id="{07601C9F-0AB6-4E90-BA9A-573B9990E559}"/>
              </a:ext>
            </a:extLst>
          </p:cNvPr>
          <p:cNvSpPr/>
          <p:nvPr/>
        </p:nvSpPr>
        <p:spPr>
          <a:xfrm>
            <a:off x="8010525" y="4723342"/>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28" name="27 Elipse">
            <a:extLst>
              <a:ext uri="{FF2B5EF4-FFF2-40B4-BE49-F238E27FC236}">
                <a16:creationId xmlns:a16="http://schemas.microsoft.com/office/drawing/2014/main" id="{7B11E030-5D6B-4A90-A804-F74D20087BCA}"/>
              </a:ext>
            </a:extLst>
          </p:cNvPr>
          <p:cNvSpPr/>
          <p:nvPr/>
        </p:nvSpPr>
        <p:spPr>
          <a:xfrm>
            <a:off x="7769225" y="4058709"/>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29" name="28 Elipse">
            <a:extLst>
              <a:ext uri="{FF2B5EF4-FFF2-40B4-BE49-F238E27FC236}">
                <a16:creationId xmlns:a16="http://schemas.microsoft.com/office/drawing/2014/main" id="{DADB81A8-3C3A-40A8-9D6B-1B4BB9C5ED50}"/>
              </a:ext>
            </a:extLst>
          </p:cNvPr>
          <p:cNvSpPr/>
          <p:nvPr/>
        </p:nvSpPr>
        <p:spPr>
          <a:xfrm>
            <a:off x="6906683" y="4229100"/>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0" name="29 Elipse">
            <a:extLst>
              <a:ext uri="{FF2B5EF4-FFF2-40B4-BE49-F238E27FC236}">
                <a16:creationId xmlns:a16="http://schemas.microsoft.com/office/drawing/2014/main" id="{8594FFC1-D9BA-48B2-98D6-D7FCAD006B7B}"/>
              </a:ext>
            </a:extLst>
          </p:cNvPr>
          <p:cNvSpPr/>
          <p:nvPr/>
        </p:nvSpPr>
        <p:spPr>
          <a:xfrm>
            <a:off x="7203017" y="4407959"/>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1" name="30 Elipse">
            <a:extLst>
              <a:ext uri="{FF2B5EF4-FFF2-40B4-BE49-F238E27FC236}">
                <a16:creationId xmlns:a16="http://schemas.microsoft.com/office/drawing/2014/main" id="{E8ECD05D-348F-41C6-91E1-003A374060EC}"/>
              </a:ext>
            </a:extLst>
          </p:cNvPr>
          <p:cNvSpPr/>
          <p:nvPr/>
        </p:nvSpPr>
        <p:spPr>
          <a:xfrm>
            <a:off x="7389283" y="4707467"/>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2" name="31 Elipse">
            <a:extLst>
              <a:ext uri="{FF2B5EF4-FFF2-40B4-BE49-F238E27FC236}">
                <a16:creationId xmlns:a16="http://schemas.microsoft.com/office/drawing/2014/main" id="{B9056D7B-EB6D-4D43-9C6F-FE5F3F01F8D1}"/>
              </a:ext>
            </a:extLst>
          </p:cNvPr>
          <p:cNvSpPr/>
          <p:nvPr/>
        </p:nvSpPr>
        <p:spPr>
          <a:xfrm>
            <a:off x="7685617" y="4886325"/>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3" name="32 Elipse">
            <a:extLst>
              <a:ext uri="{FF2B5EF4-FFF2-40B4-BE49-F238E27FC236}">
                <a16:creationId xmlns:a16="http://schemas.microsoft.com/office/drawing/2014/main" id="{1F95A06C-CB75-4B7F-B59F-A7954E21F594}"/>
              </a:ext>
            </a:extLst>
          </p:cNvPr>
          <p:cNvSpPr/>
          <p:nvPr/>
        </p:nvSpPr>
        <p:spPr>
          <a:xfrm>
            <a:off x="8993717" y="3267075"/>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4" name="33 Elipse">
            <a:extLst>
              <a:ext uri="{FF2B5EF4-FFF2-40B4-BE49-F238E27FC236}">
                <a16:creationId xmlns:a16="http://schemas.microsoft.com/office/drawing/2014/main" id="{BD0FF7E8-AF3C-4809-B4C6-7FDC07F87250}"/>
              </a:ext>
            </a:extLst>
          </p:cNvPr>
          <p:cNvSpPr/>
          <p:nvPr/>
        </p:nvSpPr>
        <p:spPr>
          <a:xfrm>
            <a:off x="9290050" y="3445933"/>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5" name="34 Elipse">
            <a:extLst>
              <a:ext uri="{FF2B5EF4-FFF2-40B4-BE49-F238E27FC236}">
                <a16:creationId xmlns:a16="http://schemas.microsoft.com/office/drawing/2014/main" id="{4B35124D-536D-4D82-AE29-36A259450D7F}"/>
              </a:ext>
            </a:extLst>
          </p:cNvPr>
          <p:cNvSpPr/>
          <p:nvPr/>
        </p:nvSpPr>
        <p:spPr>
          <a:xfrm>
            <a:off x="8972550" y="4131733"/>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6" name="35 Elipse">
            <a:extLst>
              <a:ext uri="{FF2B5EF4-FFF2-40B4-BE49-F238E27FC236}">
                <a16:creationId xmlns:a16="http://schemas.microsoft.com/office/drawing/2014/main" id="{9E62E6DB-EA41-43E2-BC6C-27A22686BAF9}"/>
              </a:ext>
            </a:extLst>
          </p:cNvPr>
          <p:cNvSpPr/>
          <p:nvPr/>
        </p:nvSpPr>
        <p:spPr>
          <a:xfrm>
            <a:off x="9691159" y="3475567"/>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7" name="36 Elipse">
            <a:extLst>
              <a:ext uri="{FF2B5EF4-FFF2-40B4-BE49-F238E27FC236}">
                <a16:creationId xmlns:a16="http://schemas.microsoft.com/office/drawing/2014/main" id="{78096350-D0A7-418D-B62F-0D1D6FE24142}"/>
              </a:ext>
            </a:extLst>
          </p:cNvPr>
          <p:cNvSpPr/>
          <p:nvPr/>
        </p:nvSpPr>
        <p:spPr>
          <a:xfrm>
            <a:off x="8578850" y="4087284"/>
            <a:ext cx="288925"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8" name="37 Elipse">
            <a:extLst>
              <a:ext uri="{FF2B5EF4-FFF2-40B4-BE49-F238E27FC236}">
                <a16:creationId xmlns:a16="http://schemas.microsoft.com/office/drawing/2014/main" id="{5966413F-7069-4C0B-8CE9-5FFF876438CD}"/>
              </a:ext>
            </a:extLst>
          </p:cNvPr>
          <p:cNvSpPr/>
          <p:nvPr/>
        </p:nvSpPr>
        <p:spPr>
          <a:xfrm>
            <a:off x="8687859" y="3543300"/>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39" name="38 Elipse">
            <a:extLst>
              <a:ext uri="{FF2B5EF4-FFF2-40B4-BE49-F238E27FC236}">
                <a16:creationId xmlns:a16="http://schemas.microsoft.com/office/drawing/2014/main" id="{A1BBDC92-6FAB-496A-A6AC-49AC00C0FBD1}"/>
              </a:ext>
            </a:extLst>
          </p:cNvPr>
          <p:cNvSpPr/>
          <p:nvPr/>
        </p:nvSpPr>
        <p:spPr>
          <a:xfrm>
            <a:off x="8961967" y="3753909"/>
            <a:ext cx="288925"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0" name="39 Elipse">
            <a:extLst>
              <a:ext uri="{FF2B5EF4-FFF2-40B4-BE49-F238E27FC236}">
                <a16:creationId xmlns:a16="http://schemas.microsoft.com/office/drawing/2014/main" id="{04CC2552-7826-4D8D-B2F1-DAE3B0BF80D7}"/>
              </a:ext>
            </a:extLst>
          </p:cNvPr>
          <p:cNvSpPr/>
          <p:nvPr/>
        </p:nvSpPr>
        <p:spPr>
          <a:xfrm>
            <a:off x="9259359" y="3932767"/>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1" name="40 Elipse">
            <a:extLst>
              <a:ext uri="{FF2B5EF4-FFF2-40B4-BE49-F238E27FC236}">
                <a16:creationId xmlns:a16="http://schemas.microsoft.com/office/drawing/2014/main" id="{4075E98E-79DB-42B6-8427-E8B29F5E7EC1}"/>
              </a:ext>
            </a:extLst>
          </p:cNvPr>
          <p:cNvSpPr/>
          <p:nvPr/>
        </p:nvSpPr>
        <p:spPr>
          <a:xfrm>
            <a:off x="8613775" y="5586942"/>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2" name="41 Elipse">
            <a:extLst>
              <a:ext uri="{FF2B5EF4-FFF2-40B4-BE49-F238E27FC236}">
                <a16:creationId xmlns:a16="http://schemas.microsoft.com/office/drawing/2014/main" id="{E7D80F69-12C5-41A6-81E3-6EE109DE5634}"/>
              </a:ext>
            </a:extLst>
          </p:cNvPr>
          <p:cNvSpPr/>
          <p:nvPr/>
        </p:nvSpPr>
        <p:spPr>
          <a:xfrm>
            <a:off x="8910109" y="5765800"/>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3" name="42 Elipse">
            <a:extLst>
              <a:ext uri="{FF2B5EF4-FFF2-40B4-BE49-F238E27FC236}">
                <a16:creationId xmlns:a16="http://schemas.microsoft.com/office/drawing/2014/main" id="{C0B84B6E-E9F4-4073-8656-ADDB0683EE51}"/>
              </a:ext>
            </a:extLst>
          </p:cNvPr>
          <p:cNvSpPr/>
          <p:nvPr/>
        </p:nvSpPr>
        <p:spPr>
          <a:xfrm>
            <a:off x="9403292" y="6252633"/>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4" name="43 Elipse">
            <a:extLst>
              <a:ext uri="{FF2B5EF4-FFF2-40B4-BE49-F238E27FC236}">
                <a16:creationId xmlns:a16="http://schemas.microsoft.com/office/drawing/2014/main" id="{D9527648-97EA-4DF0-A96E-01496F7898F6}"/>
              </a:ext>
            </a:extLst>
          </p:cNvPr>
          <p:cNvSpPr/>
          <p:nvPr/>
        </p:nvSpPr>
        <p:spPr>
          <a:xfrm>
            <a:off x="8961967" y="5425017"/>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5" name="44 Elipse">
            <a:extLst>
              <a:ext uri="{FF2B5EF4-FFF2-40B4-BE49-F238E27FC236}">
                <a16:creationId xmlns:a16="http://schemas.microsoft.com/office/drawing/2014/main" id="{12435E0D-E224-4C67-B6BA-371A746DAB3C}"/>
              </a:ext>
            </a:extLst>
          </p:cNvPr>
          <p:cNvSpPr/>
          <p:nvPr/>
        </p:nvSpPr>
        <p:spPr>
          <a:xfrm>
            <a:off x="9290050" y="5610225"/>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6" name="45 Elipse">
            <a:extLst>
              <a:ext uri="{FF2B5EF4-FFF2-40B4-BE49-F238E27FC236}">
                <a16:creationId xmlns:a16="http://schemas.microsoft.com/office/drawing/2014/main" id="{A38138C4-794E-42E1-92FE-8E4E6A8E0C5A}"/>
              </a:ext>
            </a:extLst>
          </p:cNvPr>
          <p:cNvSpPr/>
          <p:nvPr/>
        </p:nvSpPr>
        <p:spPr>
          <a:xfrm>
            <a:off x="9480550" y="5949950"/>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7" name="46 Elipse">
            <a:extLst>
              <a:ext uri="{FF2B5EF4-FFF2-40B4-BE49-F238E27FC236}">
                <a16:creationId xmlns:a16="http://schemas.microsoft.com/office/drawing/2014/main" id="{6B6A2802-7511-4950-B8A3-99791FF98138}"/>
              </a:ext>
            </a:extLst>
          </p:cNvPr>
          <p:cNvSpPr/>
          <p:nvPr/>
        </p:nvSpPr>
        <p:spPr>
          <a:xfrm>
            <a:off x="8582025" y="6073775"/>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8" name="47 Elipse">
            <a:extLst>
              <a:ext uri="{FF2B5EF4-FFF2-40B4-BE49-F238E27FC236}">
                <a16:creationId xmlns:a16="http://schemas.microsoft.com/office/drawing/2014/main" id="{B443732F-2AA2-4AF9-9F60-683A4C40DEF4}"/>
              </a:ext>
            </a:extLst>
          </p:cNvPr>
          <p:cNvSpPr/>
          <p:nvPr/>
        </p:nvSpPr>
        <p:spPr>
          <a:xfrm>
            <a:off x="8878359" y="6252633"/>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49" name="48 Elipse">
            <a:extLst>
              <a:ext uri="{FF2B5EF4-FFF2-40B4-BE49-F238E27FC236}">
                <a16:creationId xmlns:a16="http://schemas.microsoft.com/office/drawing/2014/main" id="{484F2491-C5A8-4060-92B4-15710576F49D}"/>
              </a:ext>
            </a:extLst>
          </p:cNvPr>
          <p:cNvSpPr/>
          <p:nvPr/>
        </p:nvSpPr>
        <p:spPr>
          <a:xfrm>
            <a:off x="4239684" y="5560483"/>
            <a:ext cx="288925"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0" name="49 Elipse">
            <a:extLst>
              <a:ext uri="{FF2B5EF4-FFF2-40B4-BE49-F238E27FC236}">
                <a16:creationId xmlns:a16="http://schemas.microsoft.com/office/drawing/2014/main" id="{9E09D7F3-F284-4224-B53E-62B866D5586C}"/>
              </a:ext>
            </a:extLst>
          </p:cNvPr>
          <p:cNvSpPr/>
          <p:nvPr/>
        </p:nvSpPr>
        <p:spPr>
          <a:xfrm>
            <a:off x="4536017" y="5739342"/>
            <a:ext cx="288925"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1" name="50 Elipse">
            <a:extLst>
              <a:ext uri="{FF2B5EF4-FFF2-40B4-BE49-F238E27FC236}">
                <a16:creationId xmlns:a16="http://schemas.microsoft.com/office/drawing/2014/main" id="{03F6693A-3256-482A-8471-8B255756020F}"/>
              </a:ext>
            </a:extLst>
          </p:cNvPr>
          <p:cNvSpPr/>
          <p:nvPr/>
        </p:nvSpPr>
        <p:spPr>
          <a:xfrm>
            <a:off x="3963459" y="5362575"/>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2" name="51 Elipse">
            <a:extLst>
              <a:ext uri="{FF2B5EF4-FFF2-40B4-BE49-F238E27FC236}">
                <a16:creationId xmlns:a16="http://schemas.microsoft.com/office/drawing/2014/main" id="{C4B246E4-D829-441E-889B-3FAF8EA99194}"/>
              </a:ext>
            </a:extLst>
          </p:cNvPr>
          <p:cNvSpPr/>
          <p:nvPr/>
        </p:nvSpPr>
        <p:spPr>
          <a:xfrm>
            <a:off x="4588933" y="5397500"/>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3" name="52 Elipse">
            <a:extLst>
              <a:ext uri="{FF2B5EF4-FFF2-40B4-BE49-F238E27FC236}">
                <a16:creationId xmlns:a16="http://schemas.microsoft.com/office/drawing/2014/main" id="{2101CB46-25E0-4769-940F-505F5B19935F}"/>
              </a:ext>
            </a:extLst>
          </p:cNvPr>
          <p:cNvSpPr/>
          <p:nvPr/>
        </p:nvSpPr>
        <p:spPr>
          <a:xfrm>
            <a:off x="3726392" y="5568950"/>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4" name="53 Elipse">
            <a:extLst>
              <a:ext uri="{FF2B5EF4-FFF2-40B4-BE49-F238E27FC236}">
                <a16:creationId xmlns:a16="http://schemas.microsoft.com/office/drawing/2014/main" id="{5976889E-681C-4301-92BF-87B6B7E4F094}"/>
              </a:ext>
            </a:extLst>
          </p:cNvPr>
          <p:cNvSpPr/>
          <p:nvPr/>
        </p:nvSpPr>
        <p:spPr>
          <a:xfrm>
            <a:off x="4022726" y="5747809"/>
            <a:ext cx="288925"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5" name="54 Elipse">
            <a:extLst>
              <a:ext uri="{FF2B5EF4-FFF2-40B4-BE49-F238E27FC236}">
                <a16:creationId xmlns:a16="http://schemas.microsoft.com/office/drawing/2014/main" id="{7C1CA556-E776-4A3B-BB70-115BBC192D8B}"/>
              </a:ext>
            </a:extLst>
          </p:cNvPr>
          <p:cNvSpPr/>
          <p:nvPr/>
        </p:nvSpPr>
        <p:spPr>
          <a:xfrm>
            <a:off x="4208992" y="6046259"/>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6" name="55 Elipse">
            <a:extLst>
              <a:ext uri="{FF2B5EF4-FFF2-40B4-BE49-F238E27FC236}">
                <a16:creationId xmlns:a16="http://schemas.microsoft.com/office/drawing/2014/main" id="{82D53B9F-4C88-478A-9900-2021DB03ACE8}"/>
              </a:ext>
            </a:extLst>
          </p:cNvPr>
          <p:cNvSpPr/>
          <p:nvPr/>
        </p:nvSpPr>
        <p:spPr>
          <a:xfrm>
            <a:off x="4505325" y="6225117"/>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7" name="56 Elipse">
            <a:extLst>
              <a:ext uri="{FF2B5EF4-FFF2-40B4-BE49-F238E27FC236}">
                <a16:creationId xmlns:a16="http://schemas.microsoft.com/office/drawing/2014/main" id="{7BDE3615-1C45-42EC-BBEF-D6072FC60290}"/>
              </a:ext>
            </a:extLst>
          </p:cNvPr>
          <p:cNvSpPr/>
          <p:nvPr/>
        </p:nvSpPr>
        <p:spPr>
          <a:xfrm>
            <a:off x="3112559" y="3456517"/>
            <a:ext cx="288925"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8" name="57 Elipse">
            <a:extLst>
              <a:ext uri="{FF2B5EF4-FFF2-40B4-BE49-F238E27FC236}">
                <a16:creationId xmlns:a16="http://schemas.microsoft.com/office/drawing/2014/main" id="{D64C3887-2819-4053-9DC9-559D80B6ABB5}"/>
              </a:ext>
            </a:extLst>
          </p:cNvPr>
          <p:cNvSpPr/>
          <p:nvPr/>
        </p:nvSpPr>
        <p:spPr>
          <a:xfrm>
            <a:off x="3409950" y="3635375"/>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59" name="58 Elipse">
            <a:extLst>
              <a:ext uri="{FF2B5EF4-FFF2-40B4-BE49-F238E27FC236}">
                <a16:creationId xmlns:a16="http://schemas.microsoft.com/office/drawing/2014/main" id="{20E16577-327D-4008-9A15-AF52231A5F3B}"/>
              </a:ext>
            </a:extLst>
          </p:cNvPr>
          <p:cNvSpPr/>
          <p:nvPr/>
        </p:nvSpPr>
        <p:spPr>
          <a:xfrm>
            <a:off x="3165475" y="3114676"/>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0" name="59 Elipse">
            <a:extLst>
              <a:ext uri="{FF2B5EF4-FFF2-40B4-BE49-F238E27FC236}">
                <a16:creationId xmlns:a16="http://schemas.microsoft.com/office/drawing/2014/main" id="{8AAB2AE6-2AEC-4032-A071-6CB453408FEF}"/>
              </a:ext>
            </a:extLst>
          </p:cNvPr>
          <p:cNvSpPr/>
          <p:nvPr/>
        </p:nvSpPr>
        <p:spPr>
          <a:xfrm>
            <a:off x="3461809" y="3293534"/>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1" name="60 Elipse">
            <a:extLst>
              <a:ext uri="{FF2B5EF4-FFF2-40B4-BE49-F238E27FC236}">
                <a16:creationId xmlns:a16="http://schemas.microsoft.com/office/drawing/2014/main" id="{C2679BC5-8C72-48AC-AB28-97FE0FEE79BF}"/>
              </a:ext>
            </a:extLst>
          </p:cNvPr>
          <p:cNvSpPr/>
          <p:nvPr/>
        </p:nvSpPr>
        <p:spPr>
          <a:xfrm>
            <a:off x="2599267" y="3464983"/>
            <a:ext cx="288925"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2" name="61 Elipse">
            <a:extLst>
              <a:ext uri="{FF2B5EF4-FFF2-40B4-BE49-F238E27FC236}">
                <a16:creationId xmlns:a16="http://schemas.microsoft.com/office/drawing/2014/main" id="{0A4B7780-D9A3-46C1-AAAF-A26630F3564E}"/>
              </a:ext>
            </a:extLst>
          </p:cNvPr>
          <p:cNvSpPr/>
          <p:nvPr/>
        </p:nvSpPr>
        <p:spPr>
          <a:xfrm>
            <a:off x="2895600" y="3643842"/>
            <a:ext cx="288925"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3" name="62 Elipse">
            <a:extLst>
              <a:ext uri="{FF2B5EF4-FFF2-40B4-BE49-F238E27FC236}">
                <a16:creationId xmlns:a16="http://schemas.microsoft.com/office/drawing/2014/main" id="{2D7849A7-E901-4201-BD80-BA6A71051126}"/>
              </a:ext>
            </a:extLst>
          </p:cNvPr>
          <p:cNvSpPr/>
          <p:nvPr/>
        </p:nvSpPr>
        <p:spPr>
          <a:xfrm>
            <a:off x="3081867" y="3943350"/>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4" name="63 Elipse">
            <a:extLst>
              <a:ext uri="{FF2B5EF4-FFF2-40B4-BE49-F238E27FC236}">
                <a16:creationId xmlns:a16="http://schemas.microsoft.com/office/drawing/2014/main" id="{E762683E-9D12-42C1-AB12-C390AC86035D}"/>
              </a:ext>
            </a:extLst>
          </p:cNvPr>
          <p:cNvSpPr/>
          <p:nvPr/>
        </p:nvSpPr>
        <p:spPr>
          <a:xfrm>
            <a:off x="3378200" y="4122209"/>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5" name="64 Elipse">
            <a:extLst>
              <a:ext uri="{FF2B5EF4-FFF2-40B4-BE49-F238E27FC236}">
                <a16:creationId xmlns:a16="http://schemas.microsoft.com/office/drawing/2014/main" id="{9A1145F9-8A37-47E0-82EB-B0D47A8AA342}"/>
              </a:ext>
            </a:extLst>
          </p:cNvPr>
          <p:cNvSpPr/>
          <p:nvPr/>
        </p:nvSpPr>
        <p:spPr>
          <a:xfrm>
            <a:off x="4459817" y="3872442"/>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6" name="65 Elipse">
            <a:extLst>
              <a:ext uri="{FF2B5EF4-FFF2-40B4-BE49-F238E27FC236}">
                <a16:creationId xmlns:a16="http://schemas.microsoft.com/office/drawing/2014/main" id="{355F7C5F-58D9-45C0-A4C0-6B2E7B7CDEE0}"/>
              </a:ext>
            </a:extLst>
          </p:cNvPr>
          <p:cNvSpPr/>
          <p:nvPr/>
        </p:nvSpPr>
        <p:spPr>
          <a:xfrm>
            <a:off x="4756150" y="4051300"/>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7" name="66 Elipse">
            <a:extLst>
              <a:ext uri="{FF2B5EF4-FFF2-40B4-BE49-F238E27FC236}">
                <a16:creationId xmlns:a16="http://schemas.microsoft.com/office/drawing/2014/main" id="{FA4EABD5-D927-49EA-8360-82BC5BC72B2E}"/>
              </a:ext>
            </a:extLst>
          </p:cNvPr>
          <p:cNvSpPr/>
          <p:nvPr/>
        </p:nvSpPr>
        <p:spPr>
          <a:xfrm>
            <a:off x="4511675" y="3530600"/>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8" name="67 Elipse">
            <a:extLst>
              <a:ext uri="{FF2B5EF4-FFF2-40B4-BE49-F238E27FC236}">
                <a16:creationId xmlns:a16="http://schemas.microsoft.com/office/drawing/2014/main" id="{44D79186-8AF4-4BD8-9B34-56B55FF45D47}"/>
              </a:ext>
            </a:extLst>
          </p:cNvPr>
          <p:cNvSpPr/>
          <p:nvPr/>
        </p:nvSpPr>
        <p:spPr>
          <a:xfrm>
            <a:off x="4808009" y="3709459"/>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69" name="68 Elipse">
            <a:extLst>
              <a:ext uri="{FF2B5EF4-FFF2-40B4-BE49-F238E27FC236}">
                <a16:creationId xmlns:a16="http://schemas.microsoft.com/office/drawing/2014/main" id="{2ABDB12D-B18C-4114-90DD-9421E527B81C}"/>
              </a:ext>
            </a:extLst>
          </p:cNvPr>
          <p:cNvSpPr/>
          <p:nvPr/>
        </p:nvSpPr>
        <p:spPr>
          <a:xfrm>
            <a:off x="3946525" y="3880909"/>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0" name="69 Elipse">
            <a:extLst>
              <a:ext uri="{FF2B5EF4-FFF2-40B4-BE49-F238E27FC236}">
                <a16:creationId xmlns:a16="http://schemas.microsoft.com/office/drawing/2014/main" id="{5E5E2B65-96F6-404C-989A-C1D3E88B7A41}"/>
              </a:ext>
            </a:extLst>
          </p:cNvPr>
          <p:cNvSpPr/>
          <p:nvPr/>
        </p:nvSpPr>
        <p:spPr>
          <a:xfrm>
            <a:off x="4242859" y="4059767"/>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1" name="70 Elipse">
            <a:extLst>
              <a:ext uri="{FF2B5EF4-FFF2-40B4-BE49-F238E27FC236}">
                <a16:creationId xmlns:a16="http://schemas.microsoft.com/office/drawing/2014/main" id="{65681410-6BEB-40FE-A575-E1D94D31C0F9}"/>
              </a:ext>
            </a:extLst>
          </p:cNvPr>
          <p:cNvSpPr/>
          <p:nvPr/>
        </p:nvSpPr>
        <p:spPr>
          <a:xfrm>
            <a:off x="4428067" y="4358217"/>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2" name="71 Elipse">
            <a:extLst>
              <a:ext uri="{FF2B5EF4-FFF2-40B4-BE49-F238E27FC236}">
                <a16:creationId xmlns:a16="http://schemas.microsoft.com/office/drawing/2014/main" id="{11114392-674F-43AA-8C1A-9ABD10B2B544}"/>
              </a:ext>
            </a:extLst>
          </p:cNvPr>
          <p:cNvSpPr/>
          <p:nvPr/>
        </p:nvSpPr>
        <p:spPr>
          <a:xfrm>
            <a:off x="4724400" y="4537075"/>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3" name="72 Elipse">
            <a:extLst>
              <a:ext uri="{FF2B5EF4-FFF2-40B4-BE49-F238E27FC236}">
                <a16:creationId xmlns:a16="http://schemas.microsoft.com/office/drawing/2014/main" id="{B95C792D-E592-49CB-8F41-7CC9EA36ECF8}"/>
              </a:ext>
            </a:extLst>
          </p:cNvPr>
          <p:cNvSpPr/>
          <p:nvPr/>
        </p:nvSpPr>
        <p:spPr>
          <a:xfrm>
            <a:off x="6185959" y="3234267"/>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4" name="73 Elipse">
            <a:extLst>
              <a:ext uri="{FF2B5EF4-FFF2-40B4-BE49-F238E27FC236}">
                <a16:creationId xmlns:a16="http://schemas.microsoft.com/office/drawing/2014/main" id="{93E70509-1E76-4032-8915-516747801C1B}"/>
              </a:ext>
            </a:extLst>
          </p:cNvPr>
          <p:cNvSpPr/>
          <p:nvPr/>
        </p:nvSpPr>
        <p:spPr>
          <a:xfrm>
            <a:off x="6482292" y="3413125"/>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5" name="74 Elipse">
            <a:extLst>
              <a:ext uri="{FF2B5EF4-FFF2-40B4-BE49-F238E27FC236}">
                <a16:creationId xmlns:a16="http://schemas.microsoft.com/office/drawing/2014/main" id="{AAEDA1D2-D227-41BF-A2D7-0F2A259C570D}"/>
              </a:ext>
            </a:extLst>
          </p:cNvPr>
          <p:cNvSpPr/>
          <p:nvPr/>
        </p:nvSpPr>
        <p:spPr>
          <a:xfrm>
            <a:off x="6237817" y="2892425"/>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6" name="75 Elipse">
            <a:extLst>
              <a:ext uri="{FF2B5EF4-FFF2-40B4-BE49-F238E27FC236}">
                <a16:creationId xmlns:a16="http://schemas.microsoft.com/office/drawing/2014/main" id="{0ACADB75-44FA-4D24-BD74-A6AB36F32229}"/>
              </a:ext>
            </a:extLst>
          </p:cNvPr>
          <p:cNvSpPr/>
          <p:nvPr/>
        </p:nvSpPr>
        <p:spPr>
          <a:xfrm>
            <a:off x="6534150" y="3071283"/>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7" name="76 Elipse">
            <a:extLst>
              <a:ext uri="{FF2B5EF4-FFF2-40B4-BE49-F238E27FC236}">
                <a16:creationId xmlns:a16="http://schemas.microsoft.com/office/drawing/2014/main" id="{EF23019B-7BCF-4F0E-B6A6-7099D2BD1E1D}"/>
              </a:ext>
            </a:extLst>
          </p:cNvPr>
          <p:cNvSpPr/>
          <p:nvPr/>
        </p:nvSpPr>
        <p:spPr>
          <a:xfrm>
            <a:off x="5672667" y="3242733"/>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8" name="77 Elipse">
            <a:extLst>
              <a:ext uri="{FF2B5EF4-FFF2-40B4-BE49-F238E27FC236}">
                <a16:creationId xmlns:a16="http://schemas.microsoft.com/office/drawing/2014/main" id="{11148FCD-4D99-4AA0-80DB-770A2F19E0A6}"/>
              </a:ext>
            </a:extLst>
          </p:cNvPr>
          <p:cNvSpPr/>
          <p:nvPr/>
        </p:nvSpPr>
        <p:spPr>
          <a:xfrm>
            <a:off x="5969000" y="3421592"/>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79" name="78 Elipse">
            <a:extLst>
              <a:ext uri="{FF2B5EF4-FFF2-40B4-BE49-F238E27FC236}">
                <a16:creationId xmlns:a16="http://schemas.microsoft.com/office/drawing/2014/main" id="{37321845-5CEB-4AD0-BABB-26F9CAEFED82}"/>
              </a:ext>
            </a:extLst>
          </p:cNvPr>
          <p:cNvSpPr/>
          <p:nvPr/>
        </p:nvSpPr>
        <p:spPr>
          <a:xfrm>
            <a:off x="6154209" y="3720042"/>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0" name="79 Elipse">
            <a:extLst>
              <a:ext uri="{FF2B5EF4-FFF2-40B4-BE49-F238E27FC236}">
                <a16:creationId xmlns:a16="http://schemas.microsoft.com/office/drawing/2014/main" id="{6F4F8FB3-A5D7-439E-B956-36F1669726BD}"/>
              </a:ext>
            </a:extLst>
          </p:cNvPr>
          <p:cNvSpPr/>
          <p:nvPr/>
        </p:nvSpPr>
        <p:spPr>
          <a:xfrm>
            <a:off x="6450542" y="3898900"/>
            <a:ext cx="287867" cy="2889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1" name="80 Elipse">
            <a:extLst>
              <a:ext uri="{FF2B5EF4-FFF2-40B4-BE49-F238E27FC236}">
                <a16:creationId xmlns:a16="http://schemas.microsoft.com/office/drawing/2014/main" id="{FDD4D744-A534-424D-9AED-D276D50A7575}"/>
              </a:ext>
            </a:extLst>
          </p:cNvPr>
          <p:cNvSpPr/>
          <p:nvPr/>
        </p:nvSpPr>
        <p:spPr>
          <a:xfrm>
            <a:off x="7617883" y="2867025"/>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2" name="81 Elipse">
            <a:extLst>
              <a:ext uri="{FF2B5EF4-FFF2-40B4-BE49-F238E27FC236}">
                <a16:creationId xmlns:a16="http://schemas.microsoft.com/office/drawing/2014/main" id="{5EEA6A7B-402E-4A22-9422-27B453EE6ADA}"/>
              </a:ext>
            </a:extLst>
          </p:cNvPr>
          <p:cNvSpPr/>
          <p:nvPr/>
        </p:nvSpPr>
        <p:spPr>
          <a:xfrm>
            <a:off x="7914217" y="3045883"/>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3" name="82 Elipse">
            <a:extLst>
              <a:ext uri="{FF2B5EF4-FFF2-40B4-BE49-F238E27FC236}">
                <a16:creationId xmlns:a16="http://schemas.microsoft.com/office/drawing/2014/main" id="{D6A65B15-E898-4C21-94E2-98E80804155A}"/>
              </a:ext>
            </a:extLst>
          </p:cNvPr>
          <p:cNvSpPr/>
          <p:nvPr/>
        </p:nvSpPr>
        <p:spPr>
          <a:xfrm>
            <a:off x="7669742" y="2525183"/>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4" name="83 Elipse">
            <a:extLst>
              <a:ext uri="{FF2B5EF4-FFF2-40B4-BE49-F238E27FC236}">
                <a16:creationId xmlns:a16="http://schemas.microsoft.com/office/drawing/2014/main" id="{EEE14D9E-BF32-4640-9D18-392349D81937}"/>
              </a:ext>
            </a:extLst>
          </p:cNvPr>
          <p:cNvSpPr/>
          <p:nvPr/>
        </p:nvSpPr>
        <p:spPr>
          <a:xfrm>
            <a:off x="7966075" y="2704042"/>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5" name="84 Elipse">
            <a:extLst>
              <a:ext uri="{FF2B5EF4-FFF2-40B4-BE49-F238E27FC236}">
                <a16:creationId xmlns:a16="http://schemas.microsoft.com/office/drawing/2014/main" id="{A70BEB54-331E-415B-A873-4221E239D00E}"/>
              </a:ext>
            </a:extLst>
          </p:cNvPr>
          <p:cNvSpPr/>
          <p:nvPr/>
        </p:nvSpPr>
        <p:spPr>
          <a:xfrm>
            <a:off x="7104592" y="2875492"/>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6" name="85 Elipse">
            <a:extLst>
              <a:ext uri="{FF2B5EF4-FFF2-40B4-BE49-F238E27FC236}">
                <a16:creationId xmlns:a16="http://schemas.microsoft.com/office/drawing/2014/main" id="{646E2C93-5299-43A7-A871-47B12AF30355}"/>
              </a:ext>
            </a:extLst>
          </p:cNvPr>
          <p:cNvSpPr/>
          <p:nvPr/>
        </p:nvSpPr>
        <p:spPr>
          <a:xfrm>
            <a:off x="7400925" y="3054350"/>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7" name="86 Elipse">
            <a:extLst>
              <a:ext uri="{FF2B5EF4-FFF2-40B4-BE49-F238E27FC236}">
                <a16:creationId xmlns:a16="http://schemas.microsoft.com/office/drawing/2014/main" id="{7A90FFED-E13F-4296-9946-06127321C78B}"/>
              </a:ext>
            </a:extLst>
          </p:cNvPr>
          <p:cNvSpPr/>
          <p:nvPr/>
        </p:nvSpPr>
        <p:spPr>
          <a:xfrm>
            <a:off x="7586133" y="3353859"/>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8" name="87 Elipse">
            <a:extLst>
              <a:ext uri="{FF2B5EF4-FFF2-40B4-BE49-F238E27FC236}">
                <a16:creationId xmlns:a16="http://schemas.microsoft.com/office/drawing/2014/main" id="{F9C1A947-8FB4-4CF4-8BF1-468DD2CA4931}"/>
              </a:ext>
            </a:extLst>
          </p:cNvPr>
          <p:cNvSpPr/>
          <p:nvPr/>
        </p:nvSpPr>
        <p:spPr>
          <a:xfrm>
            <a:off x="7882467" y="3532717"/>
            <a:ext cx="287867" cy="2878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dirty="0">
                <a:solidFill>
                  <a:srgbClr val="FFFFFF"/>
                </a:solidFill>
                <a:latin typeface="Aharoni" pitchFamily="2" charset="-79"/>
                <a:cs typeface="Aharoni" pitchFamily="2" charset="-79"/>
                <a:sym typeface="Gill Sans"/>
              </a:rPr>
              <a:t>2</a:t>
            </a:r>
            <a:endParaRPr lang="es-ES" dirty="0">
              <a:solidFill>
                <a:srgbClr val="FFFFFF"/>
              </a:solidFill>
              <a:latin typeface="Aharoni" pitchFamily="2" charset="-79"/>
              <a:cs typeface="Aharoni" pitchFamily="2" charset="-79"/>
              <a:sym typeface="Gill Sans"/>
            </a:endParaRPr>
          </a:p>
        </p:txBody>
      </p:sp>
      <p:sp>
        <p:nvSpPr>
          <p:cNvPr id="89" name="88 Triángulo isósceles">
            <a:extLst>
              <a:ext uri="{FF2B5EF4-FFF2-40B4-BE49-F238E27FC236}">
                <a16:creationId xmlns:a16="http://schemas.microsoft.com/office/drawing/2014/main" id="{592D77C1-7FEB-4870-99C3-E9732F575DB6}"/>
              </a:ext>
            </a:extLst>
          </p:cNvPr>
          <p:cNvSpPr/>
          <p:nvPr/>
        </p:nvSpPr>
        <p:spPr>
          <a:xfrm>
            <a:off x="6092825" y="4071409"/>
            <a:ext cx="571500" cy="479425"/>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3</a:t>
            </a:r>
            <a:endParaRPr lang="es-ES" sz="2800" dirty="0">
              <a:solidFill>
                <a:srgbClr val="FFFFFF"/>
              </a:solidFill>
              <a:latin typeface="Aharoni" pitchFamily="2" charset="-79"/>
              <a:cs typeface="Aharoni" pitchFamily="2" charset="-79"/>
              <a:sym typeface="Gill Sans"/>
            </a:endParaRPr>
          </a:p>
        </p:txBody>
      </p:sp>
      <p:sp>
        <p:nvSpPr>
          <p:cNvPr id="90" name="89 Triángulo isósceles">
            <a:extLst>
              <a:ext uri="{FF2B5EF4-FFF2-40B4-BE49-F238E27FC236}">
                <a16:creationId xmlns:a16="http://schemas.microsoft.com/office/drawing/2014/main" id="{91A50FDA-DEC1-41E8-82A6-E9652C7A7F35}"/>
              </a:ext>
            </a:extLst>
          </p:cNvPr>
          <p:cNvSpPr/>
          <p:nvPr/>
        </p:nvSpPr>
        <p:spPr>
          <a:xfrm>
            <a:off x="9645650" y="3920067"/>
            <a:ext cx="570442" cy="479425"/>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3</a:t>
            </a:r>
            <a:endParaRPr lang="es-ES" sz="2800" dirty="0">
              <a:solidFill>
                <a:srgbClr val="FFFFFF"/>
              </a:solidFill>
              <a:latin typeface="Aharoni" pitchFamily="2" charset="-79"/>
              <a:cs typeface="Aharoni" pitchFamily="2" charset="-79"/>
              <a:sym typeface="Gill Sans"/>
            </a:endParaRPr>
          </a:p>
        </p:txBody>
      </p:sp>
      <p:sp>
        <p:nvSpPr>
          <p:cNvPr id="91" name="90 Triángulo isósceles">
            <a:extLst>
              <a:ext uri="{FF2B5EF4-FFF2-40B4-BE49-F238E27FC236}">
                <a16:creationId xmlns:a16="http://schemas.microsoft.com/office/drawing/2014/main" id="{E581FF06-BAD1-4876-AB28-A4799E4FDFC6}"/>
              </a:ext>
            </a:extLst>
          </p:cNvPr>
          <p:cNvSpPr/>
          <p:nvPr/>
        </p:nvSpPr>
        <p:spPr>
          <a:xfrm>
            <a:off x="7441142" y="5949951"/>
            <a:ext cx="570441" cy="480483"/>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3</a:t>
            </a:r>
            <a:endParaRPr lang="es-ES" sz="2800" dirty="0">
              <a:solidFill>
                <a:srgbClr val="FFFFFF"/>
              </a:solidFill>
              <a:latin typeface="Aharoni" pitchFamily="2" charset="-79"/>
              <a:cs typeface="Aharoni" pitchFamily="2" charset="-79"/>
              <a:sym typeface="Gill Sans"/>
            </a:endParaRPr>
          </a:p>
        </p:txBody>
      </p:sp>
      <p:sp>
        <p:nvSpPr>
          <p:cNvPr id="92" name="91 Triángulo isósceles">
            <a:extLst>
              <a:ext uri="{FF2B5EF4-FFF2-40B4-BE49-F238E27FC236}">
                <a16:creationId xmlns:a16="http://schemas.microsoft.com/office/drawing/2014/main" id="{F32825AF-D7CB-468C-A95C-4E177AEA16BC}"/>
              </a:ext>
            </a:extLst>
          </p:cNvPr>
          <p:cNvSpPr/>
          <p:nvPr/>
        </p:nvSpPr>
        <p:spPr>
          <a:xfrm>
            <a:off x="6317192" y="5977467"/>
            <a:ext cx="570441" cy="480483"/>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3</a:t>
            </a:r>
            <a:endParaRPr lang="es-ES" sz="2800" dirty="0">
              <a:solidFill>
                <a:srgbClr val="FFFFFF"/>
              </a:solidFill>
              <a:latin typeface="Aharoni" pitchFamily="2" charset="-79"/>
              <a:cs typeface="Aharoni" pitchFamily="2" charset="-79"/>
              <a:sym typeface="Gill Sans"/>
            </a:endParaRPr>
          </a:p>
        </p:txBody>
      </p:sp>
      <p:sp>
        <p:nvSpPr>
          <p:cNvPr id="93" name="92 Triángulo isósceles">
            <a:extLst>
              <a:ext uri="{FF2B5EF4-FFF2-40B4-BE49-F238E27FC236}">
                <a16:creationId xmlns:a16="http://schemas.microsoft.com/office/drawing/2014/main" id="{AD3BD8D5-FC39-4F08-A0A6-D98346AC8316}"/>
              </a:ext>
            </a:extLst>
          </p:cNvPr>
          <p:cNvSpPr/>
          <p:nvPr/>
        </p:nvSpPr>
        <p:spPr>
          <a:xfrm>
            <a:off x="1853142" y="3687234"/>
            <a:ext cx="570441" cy="479425"/>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3</a:t>
            </a:r>
            <a:endParaRPr lang="es-ES" sz="2800" dirty="0">
              <a:solidFill>
                <a:srgbClr val="FFFFFF"/>
              </a:solidFill>
              <a:latin typeface="Aharoni" pitchFamily="2" charset="-79"/>
              <a:cs typeface="Aharoni" pitchFamily="2" charset="-79"/>
              <a:sym typeface="Gill Sans"/>
            </a:endParaRPr>
          </a:p>
        </p:txBody>
      </p:sp>
      <p:cxnSp>
        <p:nvCxnSpPr>
          <p:cNvPr id="94" name="93 Conector recto">
            <a:extLst>
              <a:ext uri="{FF2B5EF4-FFF2-40B4-BE49-F238E27FC236}">
                <a16:creationId xmlns:a16="http://schemas.microsoft.com/office/drawing/2014/main" id="{2418ABB5-21CD-422F-A182-14D6DDDB2CB4}"/>
              </a:ext>
            </a:extLst>
          </p:cNvPr>
          <p:cNvCxnSpPr>
            <a:stCxn id="93" idx="5"/>
            <a:endCxn id="89" idx="1"/>
          </p:cNvCxnSpPr>
          <p:nvPr/>
        </p:nvCxnSpPr>
        <p:spPr>
          <a:xfrm>
            <a:off x="2281767" y="3926417"/>
            <a:ext cx="3953933" cy="385233"/>
          </a:xfrm>
          <a:prstGeom prst="line">
            <a:avLst/>
          </a:prstGeom>
        </p:spPr>
        <p:style>
          <a:lnRef idx="1">
            <a:schemeClr val="dk1"/>
          </a:lnRef>
          <a:fillRef idx="0">
            <a:schemeClr val="dk1"/>
          </a:fillRef>
          <a:effectRef idx="0">
            <a:schemeClr val="dk1"/>
          </a:effectRef>
          <a:fontRef idx="minor">
            <a:schemeClr val="tx1"/>
          </a:fontRef>
        </p:style>
      </p:cxnSp>
      <p:cxnSp>
        <p:nvCxnSpPr>
          <p:cNvPr id="95" name="94 Conector recto">
            <a:extLst>
              <a:ext uri="{FF2B5EF4-FFF2-40B4-BE49-F238E27FC236}">
                <a16:creationId xmlns:a16="http://schemas.microsoft.com/office/drawing/2014/main" id="{C9555C21-B48B-45AF-B9E7-5D456E992B5C}"/>
              </a:ext>
            </a:extLst>
          </p:cNvPr>
          <p:cNvCxnSpPr>
            <a:stCxn id="89" idx="5"/>
            <a:endCxn id="90" idx="1"/>
          </p:cNvCxnSpPr>
          <p:nvPr/>
        </p:nvCxnSpPr>
        <p:spPr>
          <a:xfrm flipV="1">
            <a:off x="6521451" y="4160309"/>
            <a:ext cx="3267075" cy="151341"/>
          </a:xfrm>
          <a:prstGeom prst="line">
            <a:avLst/>
          </a:prstGeom>
        </p:spPr>
        <p:style>
          <a:lnRef idx="1">
            <a:schemeClr val="dk1"/>
          </a:lnRef>
          <a:fillRef idx="0">
            <a:schemeClr val="dk1"/>
          </a:fillRef>
          <a:effectRef idx="0">
            <a:schemeClr val="dk1"/>
          </a:effectRef>
          <a:fontRef idx="minor">
            <a:schemeClr val="tx1"/>
          </a:fontRef>
        </p:style>
      </p:cxnSp>
      <p:cxnSp>
        <p:nvCxnSpPr>
          <p:cNvPr id="96" name="95 Conector recto">
            <a:extLst>
              <a:ext uri="{FF2B5EF4-FFF2-40B4-BE49-F238E27FC236}">
                <a16:creationId xmlns:a16="http://schemas.microsoft.com/office/drawing/2014/main" id="{95957F91-5843-491C-BEAC-AFFEAF865C8A}"/>
              </a:ext>
            </a:extLst>
          </p:cNvPr>
          <p:cNvCxnSpPr>
            <a:stCxn id="89" idx="3"/>
            <a:endCxn id="91" idx="1"/>
          </p:cNvCxnSpPr>
          <p:nvPr/>
        </p:nvCxnSpPr>
        <p:spPr>
          <a:xfrm>
            <a:off x="6378576" y="4550833"/>
            <a:ext cx="1205441" cy="1639359"/>
          </a:xfrm>
          <a:prstGeom prst="line">
            <a:avLst/>
          </a:prstGeom>
        </p:spPr>
        <p:style>
          <a:lnRef idx="1">
            <a:schemeClr val="dk1"/>
          </a:lnRef>
          <a:fillRef idx="0">
            <a:schemeClr val="dk1"/>
          </a:fillRef>
          <a:effectRef idx="0">
            <a:schemeClr val="dk1"/>
          </a:effectRef>
          <a:fontRef idx="minor">
            <a:schemeClr val="tx1"/>
          </a:fontRef>
        </p:style>
      </p:cxnSp>
      <p:cxnSp>
        <p:nvCxnSpPr>
          <p:cNvPr id="97" name="96 Conector recto">
            <a:extLst>
              <a:ext uri="{FF2B5EF4-FFF2-40B4-BE49-F238E27FC236}">
                <a16:creationId xmlns:a16="http://schemas.microsoft.com/office/drawing/2014/main" id="{874EEBCE-4C61-4514-AF87-E8BB5A30475D}"/>
              </a:ext>
            </a:extLst>
          </p:cNvPr>
          <p:cNvCxnSpPr>
            <a:stCxn id="89" idx="3"/>
            <a:endCxn id="92" idx="1"/>
          </p:cNvCxnSpPr>
          <p:nvPr/>
        </p:nvCxnSpPr>
        <p:spPr>
          <a:xfrm>
            <a:off x="6378576" y="4550834"/>
            <a:ext cx="81491" cy="1666875"/>
          </a:xfrm>
          <a:prstGeom prst="line">
            <a:avLst/>
          </a:prstGeom>
        </p:spPr>
        <p:style>
          <a:lnRef idx="1">
            <a:schemeClr val="dk1"/>
          </a:lnRef>
          <a:fillRef idx="0">
            <a:schemeClr val="dk1"/>
          </a:fillRef>
          <a:effectRef idx="0">
            <a:schemeClr val="dk1"/>
          </a:effectRef>
          <a:fontRef idx="minor">
            <a:schemeClr val="tx1"/>
          </a:fontRef>
        </p:style>
      </p:cxnSp>
      <p:sp>
        <p:nvSpPr>
          <p:cNvPr id="98" name="97 Rectángulo">
            <a:extLst>
              <a:ext uri="{FF2B5EF4-FFF2-40B4-BE49-F238E27FC236}">
                <a16:creationId xmlns:a16="http://schemas.microsoft.com/office/drawing/2014/main" id="{9B205231-05E3-467F-84D0-CB5C2143D25D}"/>
              </a:ext>
            </a:extLst>
          </p:cNvPr>
          <p:cNvSpPr/>
          <p:nvPr/>
        </p:nvSpPr>
        <p:spPr>
          <a:xfrm>
            <a:off x="9768417" y="1916642"/>
            <a:ext cx="575733" cy="431800"/>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defTabSz="914446">
              <a:defRPr/>
            </a:pPr>
            <a:r>
              <a:rPr lang="es-CL" sz="2800" dirty="0">
                <a:solidFill>
                  <a:srgbClr val="FFFFFF"/>
                </a:solidFill>
                <a:latin typeface="Aharoni" pitchFamily="2" charset="-79"/>
                <a:cs typeface="Aharoni" pitchFamily="2" charset="-79"/>
                <a:sym typeface="Gill Sans"/>
              </a:rPr>
              <a:t>4</a:t>
            </a:r>
            <a:endParaRPr lang="es-ES" sz="2800" dirty="0">
              <a:solidFill>
                <a:srgbClr val="FFFFFF"/>
              </a:solidFill>
              <a:latin typeface="Aharoni" pitchFamily="2" charset="-79"/>
              <a:cs typeface="Aharoni" pitchFamily="2" charset="-79"/>
              <a:sym typeface="Gill Sans"/>
            </a:endParaRPr>
          </a:p>
        </p:txBody>
      </p:sp>
      <p:sp>
        <p:nvSpPr>
          <p:cNvPr id="99" name="98 Forma libre">
            <a:extLst>
              <a:ext uri="{FF2B5EF4-FFF2-40B4-BE49-F238E27FC236}">
                <a16:creationId xmlns:a16="http://schemas.microsoft.com/office/drawing/2014/main" id="{7D1671CF-D575-4919-A011-4A7C12D2B2F0}"/>
              </a:ext>
            </a:extLst>
          </p:cNvPr>
          <p:cNvSpPr/>
          <p:nvPr/>
        </p:nvSpPr>
        <p:spPr>
          <a:xfrm>
            <a:off x="6406093" y="2138892"/>
            <a:ext cx="3185583" cy="1990725"/>
          </a:xfrm>
          <a:custGeom>
            <a:avLst/>
            <a:gdLst>
              <a:gd name="connsiteX0" fmla="*/ 0 w 3185652"/>
              <a:gd name="connsiteY0" fmla="*/ 1991032 h 1991032"/>
              <a:gd name="connsiteX1" fmla="*/ 766916 w 3185652"/>
              <a:gd name="connsiteY1" fmla="*/ 339213 h 1991032"/>
              <a:gd name="connsiteX2" fmla="*/ 3185652 w 3185652"/>
              <a:gd name="connsiteY2" fmla="*/ 0 h 1991032"/>
            </a:gdLst>
            <a:ahLst/>
            <a:cxnLst>
              <a:cxn ang="0">
                <a:pos x="connsiteX0" y="connsiteY0"/>
              </a:cxn>
              <a:cxn ang="0">
                <a:pos x="connsiteX1" y="connsiteY1"/>
              </a:cxn>
              <a:cxn ang="0">
                <a:pos x="connsiteX2" y="connsiteY2"/>
              </a:cxn>
            </a:cxnLst>
            <a:rect l="l" t="t" r="r" b="b"/>
            <a:pathLst>
              <a:path w="3185652" h="1991032">
                <a:moveTo>
                  <a:pt x="0" y="1991032"/>
                </a:moveTo>
                <a:cubicBezTo>
                  <a:pt x="117987" y="1331042"/>
                  <a:pt x="235974" y="671052"/>
                  <a:pt x="766916" y="339213"/>
                </a:cubicBezTo>
                <a:cubicBezTo>
                  <a:pt x="1297858" y="7374"/>
                  <a:pt x="2241755" y="3687"/>
                  <a:pt x="3185652" y="0"/>
                </a:cubicBezTo>
              </a:path>
            </a:pathLst>
          </a:custGeom>
          <a:noFill/>
          <a:ln>
            <a:solidFill>
              <a:schemeClr val="tx1">
                <a:lumMod val="65000"/>
                <a:lumOff val="35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endParaRPr lang="es-ES">
              <a:solidFill>
                <a:srgbClr val="FFFFFF"/>
              </a:solidFill>
              <a:latin typeface="Lucida Grande"/>
              <a:sym typeface="Gill Sans"/>
            </a:endParaRPr>
          </a:p>
        </p:txBody>
      </p:sp>
      <p:sp>
        <p:nvSpPr>
          <p:cNvPr id="100" name="99 Forma libre">
            <a:extLst>
              <a:ext uri="{FF2B5EF4-FFF2-40B4-BE49-F238E27FC236}">
                <a16:creationId xmlns:a16="http://schemas.microsoft.com/office/drawing/2014/main" id="{FB8F8AB2-3AB6-4746-AEF1-C794740AFCAE}"/>
              </a:ext>
            </a:extLst>
          </p:cNvPr>
          <p:cNvSpPr/>
          <p:nvPr/>
        </p:nvSpPr>
        <p:spPr>
          <a:xfrm>
            <a:off x="6523567" y="2536826"/>
            <a:ext cx="3926417" cy="1695450"/>
          </a:xfrm>
          <a:custGeom>
            <a:avLst/>
            <a:gdLst>
              <a:gd name="connsiteX0" fmla="*/ 3672349 w 3926608"/>
              <a:gd name="connsiteY0" fmla="*/ 0 h 1696064"/>
              <a:gd name="connsiteX1" fmla="*/ 3539613 w 3926608"/>
              <a:gd name="connsiteY1" fmla="*/ 899651 h 1696064"/>
              <a:gd name="connsiteX2" fmla="*/ 0 w 3926608"/>
              <a:gd name="connsiteY2" fmla="*/ 1696064 h 1696064"/>
            </a:gdLst>
            <a:ahLst/>
            <a:cxnLst>
              <a:cxn ang="0">
                <a:pos x="connsiteX0" y="connsiteY0"/>
              </a:cxn>
              <a:cxn ang="0">
                <a:pos x="connsiteX1" y="connsiteY1"/>
              </a:cxn>
              <a:cxn ang="0">
                <a:pos x="connsiteX2" y="connsiteY2"/>
              </a:cxn>
            </a:cxnLst>
            <a:rect l="l" t="t" r="r" b="b"/>
            <a:pathLst>
              <a:path w="3926608" h="1696064">
                <a:moveTo>
                  <a:pt x="3672349" y="0"/>
                </a:moveTo>
                <a:cubicBezTo>
                  <a:pt x="3912010" y="308487"/>
                  <a:pt x="4151671" y="616974"/>
                  <a:pt x="3539613" y="899651"/>
                </a:cubicBezTo>
                <a:cubicBezTo>
                  <a:pt x="2927555" y="1182328"/>
                  <a:pt x="1463777" y="1439196"/>
                  <a:pt x="0" y="1696064"/>
                </a:cubicBezTo>
              </a:path>
            </a:pathLst>
          </a:custGeom>
          <a:noFill/>
          <a:ln>
            <a:solidFill>
              <a:schemeClr val="tx1">
                <a:lumMod val="65000"/>
                <a:lumOff val="35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46">
              <a:defRPr/>
            </a:pPr>
            <a:endParaRPr lang="es-ES">
              <a:solidFill>
                <a:srgbClr val="FFFFFF"/>
              </a:solidFill>
              <a:latin typeface="Lucida Grande"/>
              <a:sym typeface="Gill Sans"/>
            </a:endParaRPr>
          </a:p>
        </p:txBody>
      </p:sp>
      <p:sp>
        <p:nvSpPr>
          <p:cNvPr id="103" name="102 Rectángulo">
            <a:extLst>
              <a:ext uri="{FF2B5EF4-FFF2-40B4-BE49-F238E27FC236}">
                <a16:creationId xmlns:a16="http://schemas.microsoft.com/office/drawing/2014/main" id="{5C2F1CAF-6AF2-481F-BF82-884D61C5DCFC}"/>
              </a:ext>
            </a:extLst>
          </p:cNvPr>
          <p:cNvSpPr/>
          <p:nvPr/>
        </p:nvSpPr>
        <p:spPr>
          <a:xfrm>
            <a:off x="2134242" y="550142"/>
            <a:ext cx="1800000" cy="1800000"/>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defTabSz="914446">
              <a:defRPr/>
            </a:pPr>
            <a:r>
              <a:rPr lang="es-CL" sz="8800" dirty="0">
                <a:solidFill>
                  <a:srgbClr val="FFFFFF"/>
                </a:solidFill>
                <a:latin typeface="Montserrat" panose="00000500000000000000" pitchFamily="2" charset="0"/>
                <a:cs typeface="Aharoni" pitchFamily="2" charset="-79"/>
                <a:sym typeface="Gill Sans"/>
              </a:rPr>
              <a:t>4</a:t>
            </a:r>
            <a:endParaRPr lang="es-ES" sz="8800" dirty="0">
              <a:solidFill>
                <a:srgbClr val="FFFFFF"/>
              </a:solidFill>
              <a:latin typeface="Montserrat" panose="00000500000000000000" pitchFamily="2" charset="0"/>
              <a:cs typeface="Aharoni" pitchFamily="2" charset="-79"/>
              <a:sym typeface="Gill Sans"/>
            </a:endParaRPr>
          </a:p>
        </p:txBody>
      </p:sp>
      <p:sp>
        <p:nvSpPr>
          <p:cNvPr id="84103" name="101 CuadroTexto">
            <a:extLst>
              <a:ext uri="{FF2B5EF4-FFF2-40B4-BE49-F238E27FC236}">
                <a16:creationId xmlns:a16="http://schemas.microsoft.com/office/drawing/2014/main" id="{18F2BA75-7321-47CA-ADFB-D634FEE4FCF2}"/>
              </a:ext>
            </a:extLst>
          </p:cNvPr>
          <p:cNvSpPr txBox="1">
            <a:spLocks noChangeArrowheads="1"/>
          </p:cNvSpPr>
          <p:nvPr/>
        </p:nvSpPr>
        <p:spPr bwMode="auto">
          <a:xfrm>
            <a:off x="4050241" y="576961"/>
            <a:ext cx="592878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1371600">
              <a:defRPr sz="4300">
                <a:solidFill>
                  <a:srgbClr val="000000"/>
                </a:solidFill>
                <a:latin typeface="Gill Sans" charset="0"/>
                <a:cs typeface="ヒラギノ角ゴ ProN W3" charset="0"/>
                <a:sym typeface="Gill Sans" charset="0"/>
              </a:defRPr>
            </a:lvl1pPr>
            <a:lvl2pPr defTabSz="1371600">
              <a:defRPr sz="4300">
                <a:solidFill>
                  <a:srgbClr val="000000"/>
                </a:solidFill>
                <a:latin typeface="Gill Sans" charset="0"/>
                <a:cs typeface="ヒラギノ角ゴ ProN W3" charset="0"/>
                <a:sym typeface="Gill Sans" charset="0"/>
              </a:defRPr>
            </a:lvl2pPr>
            <a:lvl3pPr defTabSz="1371600">
              <a:defRPr sz="4300">
                <a:solidFill>
                  <a:srgbClr val="000000"/>
                </a:solidFill>
                <a:latin typeface="Gill Sans" charset="0"/>
                <a:cs typeface="ヒラギノ角ゴ ProN W3" charset="0"/>
                <a:sym typeface="Gill Sans" charset="0"/>
              </a:defRPr>
            </a:lvl3pPr>
            <a:lvl4pPr defTabSz="1371600">
              <a:defRPr sz="4300">
                <a:solidFill>
                  <a:srgbClr val="000000"/>
                </a:solidFill>
                <a:latin typeface="Gill Sans" charset="0"/>
                <a:cs typeface="ヒラギノ角ゴ ProN W3" charset="0"/>
                <a:sym typeface="Gill Sans" charset="0"/>
              </a:defRPr>
            </a:lvl4pPr>
            <a:lvl5pPr defTabSz="1371600">
              <a:defRPr sz="4300">
                <a:solidFill>
                  <a:srgbClr val="000000"/>
                </a:solidFill>
                <a:latin typeface="Gill Sans" charset="0"/>
                <a:cs typeface="ヒラギノ角ゴ ProN W3" charset="0"/>
                <a:sym typeface="Gill Sans" charset="0"/>
              </a:defRPr>
            </a:lvl5pPr>
            <a:lvl6pPr marL="22844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6pPr>
            <a:lvl7pPr marL="27416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7pPr>
            <a:lvl8pPr marL="31988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8pPr>
            <a:lvl9pPr marL="3656013" indent="1588" defTabSz="1371600" eaLnBrk="0" fontAlgn="base" hangingPunct="0">
              <a:spcBef>
                <a:spcPct val="0"/>
              </a:spcBef>
              <a:spcAft>
                <a:spcPct val="0"/>
              </a:spcAft>
              <a:defRPr sz="4300">
                <a:solidFill>
                  <a:srgbClr val="000000"/>
                </a:solidFill>
                <a:latin typeface="Gill Sans" charset="0"/>
                <a:cs typeface="ヒラギノ角ゴ ProN W3" charset="0"/>
                <a:sym typeface="Gill Sans" charset="0"/>
              </a:defRPr>
            </a:lvl9pPr>
          </a:lstStyle>
          <a:p>
            <a:pPr defTabSz="914446" fontAlgn="base">
              <a:spcBef>
                <a:spcPct val="0"/>
              </a:spcBef>
              <a:spcAft>
                <a:spcPct val="0"/>
              </a:spcAft>
            </a:pPr>
            <a:r>
              <a:rPr lang="es-CL" altLang="es-CL" sz="1800" b="1" dirty="0">
                <a:latin typeface="Montserrat" panose="00000500000000000000" pitchFamily="2" charset="0"/>
              </a:rPr>
              <a:t>Probar, testear</a:t>
            </a:r>
          </a:p>
          <a:p>
            <a:pPr defTabSz="914446" fontAlgn="base">
              <a:spcBef>
                <a:spcPct val="0"/>
              </a:spcBef>
              <a:spcAft>
                <a:spcPct val="0"/>
              </a:spcAft>
            </a:pPr>
            <a:r>
              <a:rPr lang="es-CL" altLang="es-CL" sz="1800" dirty="0">
                <a:latin typeface="Montserrat" panose="00000500000000000000" pitchFamily="2" charset="0"/>
              </a:rPr>
              <a:t>Salir “a la calle” a probar el concepto, iterar las distintas innovaciones en los bloques; ir ajustando el modelo, hasta que sea </a:t>
            </a:r>
            <a:r>
              <a:rPr lang="es-CL" altLang="es-CL" sz="1800" b="1" dirty="0">
                <a:latin typeface="Montserrat" panose="00000500000000000000" pitchFamily="2" charset="0"/>
              </a:rPr>
              <a:t>viable</a:t>
            </a:r>
            <a:r>
              <a:rPr lang="es-CL" altLang="es-CL" sz="1800" dirty="0">
                <a:latin typeface="Montserrat" panose="00000500000000000000" pitchFamily="2" charset="0"/>
              </a:rPr>
              <a:t>. Luego ver condiciones para ser </a:t>
            </a:r>
            <a:r>
              <a:rPr lang="es-CL" altLang="es-CL" sz="1800" b="1" dirty="0">
                <a:latin typeface="Montserrat" panose="00000500000000000000" pitchFamily="2" charset="0"/>
              </a:rPr>
              <a:t>repetible</a:t>
            </a:r>
            <a:r>
              <a:rPr lang="es-CL" altLang="es-CL" sz="1800" dirty="0">
                <a:latin typeface="Montserrat" panose="00000500000000000000" pitchFamily="2" charset="0"/>
              </a:rPr>
              <a:t>, y finalmente </a:t>
            </a:r>
            <a:r>
              <a:rPr lang="es-CL" altLang="es-CL" sz="1800" b="1" dirty="0">
                <a:latin typeface="Montserrat" panose="00000500000000000000" pitchFamily="2" charset="0"/>
              </a:rPr>
              <a:t>escalar</a:t>
            </a:r>
            <a:r>
              <a:rPr lang="es-CL" altLang="es-CL" sz="1800" dirty="0">
                <a:latin typeface="Montserrat" panose="00000500000000000000" pitchFamily="2" charset="0"/>
              </a:rPr>
              <a:t>.</a:t>
            </a:r>
            <a:endParaRPr lang="es-ES" altLang="es-CL" sz="1800" dirty="0">
              <a:latin typeface="Montserrat" panose="00000500000000000000" pitchFamily="2" charset="0"/>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A2E706-AFAB-3EAE-E614-0EB0C8415FA0}"/>
              </a:ext>
            </a:extLst>
          </p:cNvPr>
          <p:cNvSpPr txBox="1"/>
          <p:nvPr/>
        </p:nvSpPr>
        <p:spPr>
          <a:xfrm>
            <a:off x="686381" y="322503"/>
            <a:ext cx="10819237" cy="954107"/>
          </a:xfrm>
          <a:prstGeom prst="rect">
            <a:avLst/>
          </a:prstGeom>
          <a:noFill/>
        </p:spPr>
        <p:txBody>
          <a:bodyPr wrap="square" rtlCol="0">
            <a:spAutoFit/>
          </a:bodyPr>
          <a:lstStyle/>
          <a:p>
            <a:pPr algn="ctr"/>
            <a:r>
              <a:rPr lang="es-ES" sz="2800" dirty="0">
                <a:latin typeface="Montserrat SemiBold" pitchFamily="2" charset="0"/>
              </a:rPr>
              <a:t>¿Por qué es importante la innovación en el modelo de negocios?</a:t>
            </a:r>
            <a:endParaRPr lang="es-CL" sz="2800" dirty="0">
              <a:latin typeface="Montserrat SemiBold" pitchFamily="2" charset="0"/>
            </a:endParaRPr>
          </a:p>
        </p:txBody>
      </p:sp>
      <p:grpSp>
        <p:nvGrpSpPr>
          <p:cNvPr id="5" name="Grupo 4">
            <a:extLst>
              <a:ext uri="{FF2B5EF4-FFF2-40B4-BE49-F238E27FC236}">
                <a16:creationId xmlns:a16="http://schemas.microsoft.com/office/drawing/2014/main" id="{1681A4A2-A473-CD81-797B-42718D5B6E2E}"/>
              </a:ext>
            </a:extLst>
          </p:cNvPr>
          <p:cNvGrpSpPr/>
          <p:nvPr/>
        </p:nvGrpSpPr>
        <p:grpSpPr>
          <a:xfrm>
            <a:off x="5079512" y="1765586"/>
            <a:ext cx="4683411" cy="4357232"/>
            <a:chOff x="6533254" y="1403527"/>
            <a:chExt cx="4683411" cy="4357232"/>
          </a:xfrm>
        </p:grpSpPr>
        <p:pic>
          <p:nvPicPr>
            <p:cNvPr id="3" name="Picture 2" descr="Business Model Canvas (BMC) | Startupeable">
              <a:extLst>
                <a:ext uri="{FF2B5EF4-FFF2-40B4-BE49-F238E27FC236}">
                  <a16:creationId xmlns:a16="http://schemas.microsoft.com/office/drawing/2014/main" id="{02B831F9-CB94-D8FB-1695-B610CAFE38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3254" y="1676037"/>
              <a:ext cx="4683410" cy="2591213"/>
            </a:xfrm>
            <a:prstGeom prst="rect">
              <a:avLst/>
            </a:prstGeom>
            <a:noFill/>
            <a:extLst>
              <a:ext uri="{909E8E84-426E-40DD-AFC4-6F175D3DCCD1}">
                <a14:hiddenFill xmlns:a14="http://schemas.microsoft.com/office/drawing/2010/main">
                  <a:solidFill>
                    <a:srgbClr val="FFFFFF"/>
                  </a:solidFill>
                </a14:hiddenFill>
              </a:ext>
            </a:extLst>
          </p:spPr>
        </p:pic>
        <p:sp>
          <p:nvSpPr>
            <p:cNvPr id="11" name="Elipse 10">
              <a:extLst>
                <a:ext uri="{FF2B5EF4-FFF2-40B4-BE49-F238E27FC236}">
                  <a16:creationId xmlns:a16="http://schemas.microsoft.com/office/drawing/2014/main" id="{394EBA3D-666C-EB08-D07A-2B9E4E9071E9}"/>
                </a:ext>
              </a:extLst>
            </p:cNvPr>
            <p:cNvSpPr/>
            <p:nvPr/>
          </p:nvSpPr>
          <p:spPr>
            <a:xfrm>
              <a:off x="7175862" y="2842754"/>
              <a:ext cx="864000" cy="864000"/>
            </a:xfrm>
            <a:prstGeom prst="ellipse">
              <a:avLst/>
            </a:prstGeom>
            <a:ln w="38100"/>
          </p:spPr>
          <p:style>
            <a:lnRef idx="2">
              <a:schemeClr val="accent3"/>
            </a:lnRef>
            <a:fillRef idx="1">
              <a:schemeClr val="lt1"/>
            </a:fillRef>
            <a:effectRef idx="0">
              <a:schemeClr val="accent3"/>
            </a:effectRef>
            <a:fontRef idx="minor">
              <a:schemeClr val="dk1"/>
            </a:fontRef>
          </p:style>
          <p:txBody>
            <a:bodyPr rtlCol="0" anchor="ctr"/>
            <a:lstStyle/>
            <a:p>
              <a:pPr algn="ctr"/>
              <a:r>
                <a:rPr lang="es-CL" sz="800" dirty="0"/>
                <a:t>Baterías</a:t>
              </a:r>
              <a:r>
                <a:rPr lang="es-CL" sz="1000" dirty="0"/>
                <a:t> de Litio</a:t>
              </a:r>
            </a:p>
          </p:txBody>
        </p:sp>
        <p:sp>
          <p:nvSpPr>
            <p:cNvPr id="12" name="Elipse 11">
              <a:extLst>
                <a:ext uri="{FF2B5EF4-FFF2-40B4-BE49-F238E27FC236}">
                  <a16:creationId xmlns:a16="http://schemas.microsoft.com/office/drawing/2014/main" id="{95AA4CB3-4C72-143C-0D00-FBD5FEAEA7B2}"/>
                </a:ext>
              </a:extLst>
            </p:cNvPr>
            <p:cNvSpPr/>
            <p:nvPr/>
          </p:nvSpPr>
          <p:spPr>
            <a:xfrm>
              <a:off x="7633056" y="1906582"/>
              <a:ext cx="864000" cy="864000"/>
            </a:xfrm>
            <a:prstGeom prst="ellipse">
              <a:avLst/>
            </a:prstGeom>
            <a:ln w="38100"/>
          </p:spPr>
          <p:style>
            <a:lnRef idx="2">
              <a:schemeClr val="accent3"/>
            </a:lnRef>
            <a:fillRef idx="1">
              <a:schemeClr val="lt1"/>
            </a:fillRef>
            <a:effectRef idx="0">
              <a:schemeClr val="accent3"/>
            </a:effectRef>
            <a:fontRef idx="minor">
              <a:schemeClr val="dk1"/>
            </a:fontRef>
          </p:style>
          <p:txBody>
            <a:bodyPr rtlCol="0" anchor="ctr"/>
            <a:lstStyle/>
            <a:p>
              <a:pPr algn="ctr"/>
              <a:r>
                <a:rPr lang="es-CL" sz="800" dirty="0"/>
                <a:t>Cadena de producción</a:t>
              </a:r>
              <a:endParaRPr lang="es-CL" sz="1000" dirty="0"/>
            </a:p>
          </p:txBody>
        </p:sp>
        <p:sp>
          <p:nvSpPr>
            <p:cNvPr id="13" name="Elipse 12">
              <a:extLst>
                <a:ext uri="{FF2B5EF4-FFF2-40B4-BE49-F238E27FC236}">
                  <a16:creationId xmlns:a16="http://schemas.microsoft.com/office/drawing/2014/main" id="{759DE32D-852C-91F3-1CE4-99CE63DB68AC}"/>
                </a:ext>
              </a:extLst>
            </p:cNvPr>
            <p:cNvSpPr/>
            <p:nvPr/>
          </p:nvSpPr>
          <p:spPr>
            <a:xfrm>
              <a:off x="8250470" y="2860689"/>
              <a:ext cx="864000" cy="864000"/>
            </a:xfrm>
            <a:prstGeom prst="ellipse">
              <a:avLst/>
            </a:prstGeom>
            <a:ln w="38100"/>
          </p:spPr>
          <p:style>
            <a:lnRef idx="2">
              <a:schemeClr val="accent3"/>
            </a:lnRef>
            <a:fillRef idx="1">
              <a:schemeClr val="lt1"/>
            </a:fillRef>
            <a:effectRef idx="0">
              <a:schemeClr val="accent3"/>
            </a:effectRef>
            <a:fontRef idx="minor">
              <a:schemeClr val="dk1"/>
            </a:fontRef>
          </p:style>
          <p:txBody>
            <a:bodyPr rtlCol="0" anchor="ctr"/>
            <a:lstStyle/>
            <a:p>
              <a:pPr algn="ctr"/>
              <a:r>
                <a:rPr lang="es-CL" sz="800" dirty="0"/>
                <a:t>Conducción </a:t>
              </a:r>
              <a:r>
                <a:rPr lang="es-CL" sz="700" dirty="0"/>
                <a:t>autónoma</a:t>
              </a:r>
              <a:endParaRPr lang="es-CL" sz="1000" dirty="0"/>
            </a:p>
          </p:txBody>
        </p:sp>
        <p:pic>
          <p:nvPicPr>
            <p:cNvPr id="14" name="Picture 2" descr="Business Model Canvas (BMC) | Startupeable">
              <a:extLst>
                <a:ext uri="{FF2B5EF4-FFF2-40B4-BE49-F238E27FC236}">
                  <a16:creationId xmlns:a16="http://schemas.microsoft.com/office/drawing/2014/main" id="{FFA3D09F-7F8E-C069-3DCA-AA4A65A1F0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3254" y="4497795"/>
              <a:ext cx="1506608" cy="84746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Business Model Canvas (BMC) | Startupeable">
              <a:extLst>
                <a:ext uri="{FF2B5EF4-FFF2-40B4-BE49-F238E27FC236}">
                  <a16:creationId xmlns:a16="http://schemas.microsoft.com/office/drawing/2014/main" id="{570DFDC1-B439-0F86-60AF-3A8677F4B0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21655" y="4501435"/>
              <a:ext cx="1506608" cy="847467"/>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Business Model Canvas (BMC) | Startupeable">
              <a:extLst>
                <a:ext uri="{FF2B5EF4-FFF2-40B4-BE49-F238E27FC236}">
                  <a16:creationId xmlns:a16="http://schemas.microsoft.com/office/drawing/2014/main" id="{A5F41B8D-DB26-FCF6-E0F7-ECEBE04A87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0056" y="4497794"/>
              <a:ext cx="1506608" cy="847467"/>
            </a:xfrm>
            <a:prstGeom prst="rect">
              <a:avLst/>
            </a:prstGeom>
            <a:noFill/>
            <a:extLst>
              <a:ext uri="{909E8E84-426E-40DD-AFC4-6F175D3DCCD1}">
                <a14:hiddenFill xmlns:a14="http://schemas.microsoft.com/office/drawing/2010/main">
                  <a:solidFill>
                    <a:srgbClr val="FFFFFF"/>
                  </a:solidFill>
                </a14:hiddenFill>
              </a:ext>
            </a:extLst>
          </p:spPr>
        </p:pic>
        <p:sp>
          <p:nvSpPr>
            <p:cNvPr id="18" name="CuadroTexto 17">
              <a:extLst>
                <a:ext uri="{FF2B5EF4-FFF2-40B4-BE49-F238E27FC236}">
                  <a16:creationId xmlns:a16="http://schemas.microsoft.com/office/drawing/2014/main" id="{88BCCA48-9B4E-9A50-B1DE-0F81656BA442}"/>
                </a:ext>
              </a:extLst>
            </p:cNvPr>
            <p:cNvSpPr txBox="1"/>
            <p:nvPr/>
          </p:nvSpPr>
          <p:spPr>
            <a:xfrm>
              <a:off x="6544012" y="1403527"/>
              <a:ext cx="4672652" cy="276999"/>
            </a:xfrm>
            <a:prstGeom prst="rect">
              <a:avLst/>
            </a:prstGeom>
            <a:noFill/>
          </p:spPr>
          <p:txBody>
            <a:bodyPr wrap="square" rtlCol="0">
              <a:spAutoFit/>
            </a:bodyPr>
            <a:lstStyle/>
            <a:p>
              <a:r>
                <a:rPr lang="es-CL" sz="1200" dirty="0"/>
                <a:t>Modelo de negocios Tesla </a:t>
              </a:r>
              <a:r>
                <a:rPr lang="es-CL" sz="1200" dirty="0" err="1"/>
                <a:t>motors</a:t>
              </a:r>
              <a:endParaRPr lang="es-CL" sz="1200" dirty="0"/>
            </a:p>
          </p:txBody>
        </p:sp>
        <p:sp>
          <p:nvSpPr>
            <p:cNvPr id="19" name="CuadroTexto 18">
              <a:extLst>
                <a:ext uri="{FF2B5EF4-FFF2-40B4-BE49-F238E27FC236}">
                  <a16:creationId xmlns:a16="http://schemas.microsoft.com/office/drawing/2014/main" id="{395469D9-6EC3-9D4B-CABA-0A7928080DC4}"/>
                </a:ext>
              </a:extLst>
            </p:cNvPr>
            <p:cNvSpPr txBox="1"/>
            <p:nvPr/>
          </p:nvSpPr>
          <p:spPr>
            <a:xfrm>
              <a:off x="6544012" y="5345261"/>
              <a:ext cx="1495850" cy="415498"/>
            </a:xfrm>
            <a:prstGeom prst="rect">
              <a:avLst/>
            </a:prstGeom>
            <a:noFill/>
          </p:spPr>
          <p:txBody>
            <a:bodyPr wrap="square" rtlCol="0">
              <a:spAutoFit/>
            </a:bodyPr>
            <a:lstStyle/>
            <a:p>
              <a:r>
                <a:rPr lang="es-CL" sz="1000" dirty="0"/>
                <a:t>Modelo de negocios Tesla energía casas</a:t>
              </a:r>
            </a:p>
          </p:txBody>
        </p:sp>
        <p:sp>
          <p:nvSpPr>
            <p:cNvPr id="20" name="CuadroTexto 19">
              <a:extLst>
                <a:ext uri="{FF2B5EF4-FFF2-40B4-BE49-F238E27FC236}">
                  <a16:creationId xmlns:a16="http://schemas.microsoft.com/office/drawing/2014/main" id="{AF6D1B27-15CE-7291-1BCF-F236F248DB25}"/>
                </a:ext>
              </a:extLst>
            </p:cNvPr>
            <p:cNvSpPr txBox="1"/>
            <p:nvPr/>
          </p:nvSpPr>
          <p:spPr>
            <a:xfrm>
              <a:off x="8127034" y="5345261"/>
              <a:ext cx="1495850" cy="415498"/>
            </a:xfrm>
            <a:prstGeom prst="rect">
              <a:avLst/>
            </a:prstGeom>
            <a:noFill/>
          </p:spPr>
          <p:txBody>
            <a:bodyPr wrap="square" rtlCol="0">
              <a:spAutoFit/>
            </a:bodyPr>
            <a:lstStyle/>
            <a:p>
              <a:r>
                <a:rPr lang="es-CL" sz="1000" dirty="0"/>
                <a:t>Modelo de negocios </a:t>
              </a:r>
              <a:r>
                <a:rPr lang="es-CL" sz="1000" dirty="0" err="1"/>
                <a:t>Space</a:t>
              </a:r>
              <a:r>
                <a:rPr lang="es-CL" sz="1000" dirty="0"/>
                <a:t> X </a:t>
              </a:r>
              <a:r>
                <a:rPr lang="es-CL" sz="1000" dirty="0" err="1"/>
                <a:t>satelites</a:t>
              </a:r>
              <a:endParaRPr lang="es-CL" sz="1000" dirty="0"/>
            </a:p>
          </p:txBody>
        </p:sp>
        <p:sp>
          <p:nvSpPr>
            <p:cNvPr id="21" name="CuadroTexto 20">
              <a:extLst>
                <a:ext uri="{FF2B5EF4-FFF2-40B4-BE49-F238E27FC236}">
                  <a16:creationId xmlns:a16="http://schemas.microsoft.com/office/drawing/2014/main" id="{D5AA36CF-7174-78D0-1BD6-C46B7B7C27E6}"/>
                </a:ext>
              </a:extLst>
            </p:cNvPr>
            <p:cNvSpPr txBox="1"/>
            <p:nvPr/>
          </p:nvSpPr>
          <p:spPr>
            <a:xfrm>
              <a:off x="9710057" y="5351401"/>
              <a:ext cx="1506608" cy="400110"/>
            </a:xfrm>
            <a:prstGeom prst="rect">
              <a:avLst/>
            </a:prstGeom>
            <a:noFill/>
          </p:spPr>
          <p:txBody>
            <a:bodyPr wrap="square" rtlCol="0">
              <a:spAutoFit/>
            </a:bodyPr>
            <a:lstStyle/>
            <a:p>
              <a:r>
                <a:rPr lang="es-CL" sz="1000" dirty="0"/>
                <a:t>Modelo de negocios Inteligencia artificial</a:t>
              </a:r>
            </a:p>
          </p:txBody>
        </p:sp>
        <p:cxnSp>
          <p:nvCxnSpPr>
            <p:cNvPr id="23" name="Conector recto de flecha 22">
              <a:extLst>
                <a:ext uri="{FF2B5EF4-FFF2-40B4-BE49-F238E27FC236}">
                  <a16:creationId xmlns:a16="http://schemas.microsoft.com/office/drawing/2014/main" id="{29140E8A-8BF0-2FB7-9433-22F28843CD1F}"/>
                </a:ext>
              </a:extLst>
            </p:cNvPr>
            <p:cNvCxnSpPr>
              <a:stCxn id="11" idx="4"/>
            </p:cNvCxnSpPr>
            <p:nvPr/>
          </p:nvCxnSpPr>
          <p:spPr>
            <a:xfrm flipH="1">
              <a:off x="7035501" y="3706754"/>
              <a:ext cx="572361" cy="127403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5" name="Conector recto de flecha 24">
              <a:extLst>
                <a:ext uri="{FF2B5EF4-FFF2-40B4-BE49-F238E27FC236}">
                  <a16:creationId xmlns:a16="http://schemas.microsoft.com/office/drawing/2014/main" id="{B3323B23-49E8-DA55-2E1C-1BD97AD21395}"/>
                </a:ext>
              </a:extLst>
            </p:cNvPr>
            <p:cNvCxnSpPr>
              <a:stCxn id="12" idx="4"/>
            </p:cNvCxnSpPr>
            <p:nvPr/>
          </p:nvCxnSpPr>
          <p:spPr>
            <a:xfrm>
              <a:off x="8065056" y="2770582"/>
              <a:ext cx="466295" cy="193321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7" name="Conector recto de flecha 26">
              <a:extLst>
                <a:ext uri="{FF2B5EF4-FFF2-40B4-BE49-F238E27FC236}">
                  <a16:creationId xmlns:a16="http://schemas.microsoft.com/office/drawing/2014/main" id="{04F5C1EE-557D-E518-0B0F-D9AE43D0ACAE}"/>
                </a:ext>
              </a:extLst>
            </p:cNvPr>
            <p:cNvCxnSpPr>
              <a:stCxn id="13" idx="5"/>
            </p:cNvCxnSpPr>
            <p:nvPr/>
          </p:nvCxnSpPr>
          <p:spPr>
            <a:xfrm>
              <a:off x="8987940" y="3598159"/>
              <a:ext cx="1179310" cy="117823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23322824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365384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80B3CB-3D43-1D8D-9AF8-530F0E961D8F}"/>
              </a:ext>
            </a:extLst>
          </p:cNvPr>
          <p:cNvSpPr>
            <a:spLocks noGrp="1"/>
          </p:cNvSpPr>
          <p:nvPr>
            <p:ph type="title"/>
          </p:nvPr>
        </p:nvSpPr>
        <p:spPr>
          <a:xfrm>
            <a:off x="838200" y="1477828"/>
            <a:ext cx="5257800" cy="1951172"/>
          </a:xfrm>
        </p:spPr>
        <p:txBody>
          <a:bodyPr/>
          <a:lstStyle/>
          <a:p>
            <a:r>
              <a:rPr lang="es-CL" dirty="0"/>
              <a:t>¿Qué implica ajustar el modelo de negocios? (y como se asimila a los flujos financieros)</a:t>
            </a:r>
          </a:p>
        </p:txBody>
      </p:sp>
    </p:spTree>
    <p:extLst>
      <p:ext uri="{BB962C8B-B14F-4D97-AF65-F5344CB8AC3E}">
        <p14:creationId xmlns:p14="http://schemas.microsoft.com/office/powerpoint/2010/main" val="32743252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A2E706-AFAB-3EAE-E614-0EB0C8415FA0}"/>
              </a:ext>
            </a:extLst>
          </p:cNvPr>
          <p:cNvSpPr txBox="1"/>
          <p:nvPr/>
        </p:nvSpPr>
        <p:spPr>
          <a:xfrm>
            <a:off x="663218" y="475709"/>
            <a:ext cx="1086556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srgbClr val="000000"/>
                </a:solidFill>
                <a:effectLst/>
                <a:uLnTx/>
                <a:uFillTx/>
                <a:latin typeface="Montserrat SemiBold" pitchFamily="2" charset="0"/>
                <a:ea typeface="+mn-ea"/>
                <a:cs typeface="+mn-cs"/>
              </a:rPr>
              <a:t>Trabajo de un startup para el ajuste del modelo</a:t>
            </a:r>
            <a:endParaRPr kumimoji="0" lang="es-CL" sz="2800" b="0" i="0" u="none" strike="noStrike" kern="1200" cap="none" spc="0" normalizeH="0" baseline="0" noProof="0" dirty="0">
              <a:ln>
                <a:noFill/>
              </a:ln>
              <a:solidFill>
                <a:srgbClr val="000000"/>
              </a:solidFill>
              <a:effectLst/>
              <a:uLnTx/>
              <a:uFillTx/>
              <a:latin typeface="Montserrat SemiBold" pitchFamily="2" charset="0"/>
              <a:ea typeface="+mn-ea"/>
              <a:cs typeface="+mn-cs"/>
            </a:endParaRPr>
          </a:p>
        </p:txBody>
      </p:sp>
      <p:sp>
        <p:nvSpPr>
          <p:cNvPr id="4" name="CuadroTexto 3">
            <a:extLst>
              <a:ext uri="{FF2B5EF4-FFF2-40B4-BE49-F238E27FC236}">
                <a16:creationId xmlns:a16="http://schemas.microsoft.com/office/drawing/2014/main" id="{35015A84-F539-4347-B6AE-60964B3BC79B}"/>
              </a:ext>
            </a:extLst>
          </p:cNvPr>
          <p:cNvSpPr txBox="1"/>
          <p:nvPr/>
        </p:nvSpPr>
        <p:spPr>
          <a:xfrm>
            <a:off x="663218" y="1428452"/>
            <a:ext cx="6270982" cy="4278094"/>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CL" sz="1600" dirty="0">
                <a:solidFill>
                  <a:srgbClr val="000000"/>
                </a:solidFill>
                <a:latin typeface="Avenir Next" panose="020B0503020202020204" pitchFamily="34" charset="0"/>
              </a:rPr>
              <a:t>De acuerdo con Ries, E. (2011) e</a:t>
            </a:r>
            <a:r>
              <a:rPr kumimoji="0" lang="es-CL" sz="1600" b="0" i="0" u="none" strike="noStrike" kern="1200" cap="none" spc="0" normalizeH="0" baseline="0" noProof="0" dirty="0">
                <a:ln>
                  <a:noFill/>
                </a:ln>
                <a:solidFill>
                  <a:srgbClr val="000000"/>
                </a:solidFill>
                <a:effectLst/>
                <a:uLnTx/>
                <a:uFillTx/>
                <a:latin typeface="Avenir Next" panose="020B0503020202020204" pitchFamily="34" charset="0"/>
              </a:rPr>
              <a:t>l trabajo de un startup es: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CL" sz="1600" b="0" i="0" u="none" strike="noStrike" kern="1200" cap="none" spc="0" normalizeH="0" baseline="0" noProof="0" dirty="0">
              <a:ln>
                <a:noFill/>
              </a:ln>
              <a:solidFill>
                <a:srgbClr val="000000"/>
              </a:solidFill>
              <a:effectLst/>
              <a:uLnTx/>
              <a:uFillTx/>
              <a:latin typeface="Avenir Next" panose="020B0503020202020204" pitchFamily="34"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s-CL" sz="1600" b="1" i="0" u="none" strike="noStrike" kern="1200" cap="none" spc="0" normalizeH="0" baseline="0" noProof="0" dirty="0">
                <a:ln>
                  <a:noFill/>
                </a:ln>
                <a:solidFill>
                  <a:srgbClr val="000000"/>
                </a:solidFill>
                <a:effectLst/>
                <a:uLnTx/>
                <a:uFillTx/>
                <a:latin typeface="Avenir Next" panose="020B0503020202020204" pitchFamily="34" charset="0"/>
              </a:rPr>
              <a:t>Medir rigurosamente dónde está en el momento actual, afrontando lo que revele esa evaluación.</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s-CL" sz="1600" b="0" i="0" u="none" strike="noStrike" kern="1200" cap="none" spc="0" normalizeH="0" baseline="0" noProof="0" dirty="0">
                <a:ln>
                  <a:noFill/>
                </a:ln>
                <a:solidFill>
                  <a:srgbClr val="000000"/>
                </a:solidFill>
                <a:effectLst/>
                <a:uLnTx/>
                <a:uFillTx/>
                <a:latin typeface="Avenir Next" panose="020B0503020202020204" pitchFamily="34" charset="0"/>
              </a:rPr>
              <a:t>Diseñar experimentos para descubrir cómo hacer avanzar las cifras reales hacia el ideal reflejado en su plan de negocios.</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endParaRPr lang="es-CL" sz="1600" dirty="0">
              <a:solidFill>
                <a:srgbClr val="000000"/>
              </a:solidFill>
              <a:latin typeface="Avenir Next" panose="020B0503020202020204" pitchFamily="34" charset="0"/>
            </a:endParaRPr>
          </a:p>
          <a:p>
            <a:pPr marR="0" lvl="0" algn="just" defTabSz="914400" rtl="0" eaLnBrk="1" fontAlgn="auto" latinLnBrk="0" hangingPunct="1">
              <a:lnSpc>
                <a:spcPct val="100000"/>
              </a:lnSpc>
              <a:spcBef>
                <a:spcPts val="0"/>
              </a:spcBef>
              <a:spcAft>
                <a:spcPts val="0"/>
              </a:spcAft>
              <a:buClrTx/>
              <a:buSzTx/>
              <a:tabLst/>
              <a:defRPr/>
            </a:pPr>
            <a:r>
              <a:rPr kumimoji="0" lang="es-CL" sz="1600" b="0" i="0" u="none" strike="noStrike" kern="1200" cap="none" spc="0" normalizeH="0" baseline="0" noProof="0" dirty="0">
                <a:ln>
                  <a:noFill/>
                </a:ln>
                <a:solidFill>
                  <a:srgbClr val="000000"/>
                </a:solidFill>
                <a:effectLst/>
                <a:uLnTx/>
                <a:uFillTx/>
                <a:latin typeface="Avenir Next" panose="020B0503020202020204" pitchFamily="34" charset="0"/>
              </a:rPr>
              <a:t>El primer paso en la metodología es ajustar el segmento de clientes frente a la propuesta de valor, en esta lógica de evaluar y hacer experimentos. El ajuste de la propuesta de valor o búsqueda del encaje producto – mercado, se puede hacer de diversas formas, pero una que es muy práctica y efectiva es utilizar la metodología de </a:t>
            </a:r>
            <a:r>
              <a:rPr lang="en-US" sz="1600" dirty="0">
                <a:latin typeface="Avenir Next" panose="020B0503020202020204" pitchFamily="34" charset="0"/>
                <a:sym typeface="Gill Sans" charset="0"/>
              </a:rPr>
              <a:t>Chan Kim, W. and Mauborgne, R. (1997) </a:t>
            </a:r>
            <a:r>
              <a:rPr lang="es-ES_tradnl" sz="1600" dirty="0">
                <a:latin typeface="Avenir Next" panose="020B0503020202020204" pitchFamily="34" charset="0"/>
                <a:sym typeface="Gill Sans" charset="0"/>
              </a:rPr>
              <a:t>innovación de valor, que propone trabajar segmentando y luego ajustando productos a través de sus atributos principales, aumentando o rebajándolos, produciendo mayor satisfacción a un menor costo, lo cual resulta en una diferenciación sólida.</a:t>
            </a:r>
          </a:p>
        </p:txBody>
      </p:sp>
      <p:sp>
        <p:nvSpPr>
          <p:cNvPr id="7" name="CuadroTexto 6">
            <a:extLst>
              <a:ext uri="{FF2B5EF4-FFF2-40B4-BE49-F238E27FC236}">
                <a16:creationId xmlns:a16="http://schemas.microsoft.com/office/drawing/2014/main" id="{A224E7A3-B03F-48BE-B633-7B9D93285BA0}"/>
              </a:ext>
            </a:extLst>
          </p:cNvPr>
          <p:cNvSpPr txBox="1"/>
          <p:nvPr/>
        </p:nvSpPr>
        <p:spPr>
          <a:xfrm>
            <a:off x="663218" y="6136070"/>
            <a:ext cx="10865564"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0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Fuente: Ries, E. (2011)</a:t>
            </a:r>
          </a:p>
        </p:txBody>
      </p:sp>
    </p:spTree>
    <p:extLst>
      <p:ext uri="{BB962C8B-B14F-4D97-AF65-F5344CB8AC3E}">
        <p14:creationId xmlns:p14="http://schemas.microsoft.com/office/powerpoint/2010/main" val="183705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F688DF-D655-4A53-AF64-8D48290249D2}"/>
              </a:ext>
            </a:extLst>
          </p:cNvPr>
          <p:cNvSpPr txBox="1"/>
          <p:nvPr/>
        </p:nvSpPr>
        <p:spPr>
          <a:xfrm>
            <a:off x="663218" y="485792"/>
            <a:ext cx="985238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srgbClr val="000000"/>
                </a:solidFill>
                <a:effectLst/>
                <a:uLnTx/>
                <a:uFillTx/>
                <a:latin typeface="Montserrat SemiBold" pitchFamily="2" charset="0"/>
                <a:ea typeface="+mn-ea"/>
                <a:cs typeface="+mn-cs"/>
              </a:rPr>
              <a:t>Innovación de Valor </a:t>
            </a:r>
            <a:endParaRPr kumimoji="0" lang="es-CL" sz="2800" b="0" i="0" u="none" strike="noStrike" kern="1200" cap="none" spc="0" normalizeH="0" baseline="0" noProof="0" dirty="0">
              <a:ln>
                <a:noFill/>
              </a:ln>
              <a:solidFill>
                <a:srgbClr val="000000"/>
              </a:solidFill>
              <a:effectLst/>
              <a:uLnTx/>
              <a:uFillTx/>
              <a:latin typeface="Montserrat SemiBold" pitchFamily="2" charset="0"/>
              <a:ea typeface="+mn-ea"/>
              <a:cs typeface="+mn-cs"/>
            </a:endParaRPr>
          </a:p>
        </p:txBody>
      </p:sp>
      <p:sp>
        <p:nvSpPr>
          <p:cNvPr id="3" name="CuadroTexto 2">
            <a:extLst>
              <a:ext uri="{FF2B5EF4-FFF2-40B4-BE49-F238E27FC236}">
                <a16:creationId xmlns:a16="http://schemas.microsoft.com/office/drawing/2014/main" id="{77743C7C-F40B-4D42-AE0A-01927DA3CEA3}"/>
              </a:ext>
            </a:extLst>
          </p:cNvPr>
          <p:cNvSpPr txBox="1"/>
          <p:nvPr/>
        </p:nvSpPr>
        <p:spPr>
          <a:xfrm>
            <a:off x="663218" y="1254726"/>
            <a:ext cx="5432782" cy="48347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srgbClr val="000000"/>
                </a:solidFill>
                <a:effectLst/>
                <a:uLnTx/>
                <a:uFillTx/>
                <a:latin typeface="Avenir Next" panose="020B0503020202020204" pitchFamily="34" charset="0"/>
              </a:rPr>
              <a:t>Una arista importante de la medición y evaluación de donde se está actualmente es </a:t>
            </a:r>
            <a:r>
              <a:rPr kumimoji="0" lang="es-CL" sz="1600" b="1" i="0" u="none" strike="noStrike" kern="1200" cap="none" spc="0" normalizeH="0" baseline="0" noProof="0" dirty="0">
                <a:ln>
                  <a:noFill/>
                </a:ln>
                <a:solidFill>
                  <a:srgbClr val="000000"/>
                </a:solidFill>
                <a:effectLst/>
                <a:uLnTx/>
                <a:uFillTx/>
                <a:latin typeface="Avenir Next" panose="020B0503020202020204" pitchFamily="34" charset="0"/>
              </a:rPr>
              <a:t>hacer que la competencia sea irrelevante, usando innovación de valor.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600" b="0" i="0" u="none" strike="noStrike" kern="1200" cap="none" spc="0" normalizeH="0" baseline="0" noProof="0" dirty="0">
              <a:ln>
                <a:noFill/>
              </a:ln>
              <a:solidFill>
                <a:srgbClr val="000000"/>
              </a:solidFill>
              <a:effectLst/>
              <a:uLnTx/>
              <a:uFillTx/>
              <a:latin typeface="Avenir Next" panose="020B0503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1" i="0" u="none" strike="noStrike" kern="1200" cap="none" spc="0" normalizeH="0" baseline="0" noProof="0" dirty="0">
                <a:ln>
                  <a:noFill/>
                </a:ln>
                <a:solidFill>
                  <a:srgbClr val="000000"/>
                </a:solidFill>
                <a:effectLst/>
                <a:uLnTx/>
                <a:uFillTx/>
                <a:latin typeface="Avenir Next" panose="020B0503020202020204" pitchFamily="34" charset="0"/>
              </a:rPr>
              <a:t>Lo relevante es hacer el ajuste pensando en los clientes.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600" b="0" i="0" u="none" strike="noStrike" kern="1200" cap="none" spc="0" normalizeH="0" baseline="0" noProof="0" dirty="0">
              <a:ln>
                <a:noFill/>
              </a:ln>
              <a:solidFill>
                <a:srgbClr val="000000"/>
              </a:solidFill>
              <a:effectLst/>
              <a:uLnTx/>
              <a:uFillTx/>
              <a:latin typeface="Avenir Next" panose="020B0503020202020204" pitchFamily="34" charset="0"/>
            </a:endParaRPr>
          </a:p>
          <a:p>
            <a:pPr marL="171450" indent="-171450">
              <a:lnSpc>
                <a:spcPct val="114000"/>
              </a:lnSpc>
              <a:buFont typeface="Arial" panose="020B0604020202020204" pitchFamily="34" charset="0"/>
              <a:buChar char="•"/>
            </a:pPr>
            <a:r>
              <a:rPr lang="es-ES" altLang="es-ES" sz="1600" dirty="0">
                <a:latin typeface="Avenir Next" panose="020B0503020202020204" pitchFamily="34" charset="0"/>
              </a:rPr>
              <a:t>No fijarse en la competencia, generar innovaciones disruptivas</a:t>
            </a:r>
          </a:p>
          <a:p>
            <a:pPr marL="171450" indent="-171450">
              <a:lnSpc>
                <a:spcPct val="114000"/>
              </a:lnSpc>
              <a:buFont typeface="Arial" panose="020B0604020202020204" pitchFamily="34" charset="0"/>
              <a:buChar char="•"/>
            </a:pPr>
            <a:r>
              <a:rPr lang="es-ES" altLang="es-ES" sz="1600" dirty="0">
                <a:latin typeface="Avenir Next" panose="020B0503020202020204" pitchFamily="34" charset="0"/>
              </a:rPr>
              <a:t>Ir con la solución de un problema puntual (pero global) a integrarse a la masa</a:t>
            </a:r>
          </a:p>
          <a:p>
            <a:pPr marL="171450" indent="-171450">
              <a:lnSpc>
                <a:spcPct val="114000"/>
              </a:lnSpc>
              <a:buFont typeface="Arial" panose="020B0604020202020204" pitchFamily="34" charset="0"/>
              <a:buChar char="•"/>
            </a:pPr>
            <a:r>
              <a:rPr lang="es-ES" altLang="es-ES" sz="1600" dirty="0">
                <a:latin typeface="Avenir Next" panose="020B0503020202020204" pitchFamily="34" charset="0"/>
              </a:rPr>
              <a:t>Tiene la lógica de que crear valor diferencial es situarse más allá de lo evidente, del día a día, ponerse la meta de irrumpir y tener el valor de cambiar, sin reparos.</a:t>
            </a:r>
          </a:p>
          <a:p>
            <a:pPr marL="171450" indent="-171450">
              <a:lnSpc>
                <a:spcPct val="114000"/>
              </a:lnSpc>
              <a:buFont typeface="Arial" panose="020B0604020202020204" pitchFamily="34" charset="0"/>
              <a:buChar char="•"/>
            </a:pPr>
            <a:r>
              <a:rPr lang="es-ES" altLang="es-ES" sz="1600" dirty="0">
                <a:latin typeface="Avenir Next" panose="020B0503020202020204" pitchFamily="34" charset="0"/>
              </a:rPr>
              <a:t>Cumplir lo prometido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600" b="0" i="0" u="none" strike="noStrike" kern="1200" cap="none" spc="0" normalizeH="0" baseline="0" noProof="0" dirty="0">
              <a:ln>
                <a:noFill/>
              </a:ln>
              <a:solidFill>
                <a:srgbClr val="000000"/>
              </a:solidFill>
              <a:effectLst/>
              <a:uLnTx/>
              <a:uFillTx/>
              <a:latin typeface="Avenir Next" panose="020B0503020202020204" pitchFamily="34" charset="0"/>
            </a:endParaRPr>
          </a:p>
        </p:txBody>
      </p:sp>
      <p:sp>
        <p:nvSpPr>
          <p:cNvPr id="4" name="Rectangle 1">
            <a:extLst>
              <a:ext uri="{FF2B5EF4-FFF2-40B4-BE49-F238E27FC236}">
                <a16:creationId xmlns:a16="http://schemas.microsoft.com/office/drawing/2014/main" id="{103EE7D0-853D-0740-3678-9A85248041CA}"/>
              </a:ext>
            </a:extLst>
          </p:cNvPr>
          <p:cNvSpPr>
            <a:spLocks noChangeArrowheads="1"/>
          </p:cNvSpPr>
          <p:nvPr/>
        </p:nvSpPr>
        <p:spPr bwMode="auto">
          <a:xfrm>
            <a:off x="663218" y="6046845"/>
            <a:ext cx="10513977" cy="32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853" tIns="54428" rIns="108853" bIns="54428" anchor="ctr">
            <a:spAutoFit/>
          </a:bodyPr>
          <a:lstStyle/>
          <a:p>
            <a:pPr defTabSz="609630" fontAlgn="base">
              <a:spcBef>
                <a:spcPct val="0"/>
              </a:spcBef>
              <a:spcAft>
                <a:spcPct val="0"/>
              </a:spcAft>
              <a:defRPr/>
            </a:pPr>
            <a:r>
              <a:rPr lang="en-US" sz="1000" b="1" dirty="0">
                <a:sym typeface="Gill Sans" charset="0"/>
              </a:rPr>
              <a:t>Fuente</a:t>
            </a:r>
            <a:r>
              <a:rPr lang="en-US" sz="1400" b="1" dirty="0">
                <a:solidFill>
                  <a:srgbClr val="000000"/>
                </a:solidFill>
                <a:latin typeface="Arial" charset="0"/>
                <a:cs typeface="Times New Roman" pitchFamily="18" charset="0"/>
                <a:sym typeface="Gill Sans" charset="0"/>
              </a:rPr>
              <a:t>: </a:t>
            </a:r>
            <a:r>
              <a:rPr lang="en-US" sz="1000" dirty="0">
                <a:sym typeface="Gill Sans" charset="0"/>
              </a:rPr>
              <a:t>Chan Kim, W. and Mauborgne, R. (1997). Value Innovation. Harvard Business Review, January – February. Boston.</a:t>
            </a:r>
          </a:p>
        </p:txBody>
      </p:sp>
      <p:graphicFrame>
        <p:nvGraphicFramePr>
          <p:cNvPr id="5" name="Group 44">
            <a:extLst>
              <a:ext uri="{FF2B5EF4-FFF2-40B4-BE49-F238E27FC236}">
                <a16:creationId xmlns:a16="http://schemas.microsoft.com/office/drawing/2014/main" id="{95B45A53-FD47-B9BF-46B2-DD0C46EB4EDE}"/>
              </a:ext>
            </a:extLst>
          </p:cNvPr>
          <p:cNvGraphicFramePr>
            <a:graphicFrameLocks/>
          </p:cNvGraphicFramePr>
          <p:nvPr/>
        </p:nvGraphicFramePr>
        <p:xfrm>
          <a:off x="6615952" y="1843512"/>
          <a:ext cx="4912830" cy="3657211"/>
        </p:xfrm>
        <a:graphic>
          <a:graphicData uri="http://schemas.openxmlformats.org/drawingml/2006/table">
            <a:tbl>
              <a:tblPr/>
              <a:tblGrid>
                <a:gridCol w="2456415">
                  <a:extLst>
                    <a:ext uri="{9D8B030D-6E8A-4147-A177-3AD203B41FA5}">
                      <a16:colId xmlns:a16="http://schemas.microsoft.com/office/drawing/2014/main" val="20000"/>
                    </a:ext>
                  </a:extLst>
                </a:gridCol>
                <a:gridCol w="2456415">
                  <a:extLst>
                    <a:ext uri="{9D8B030D-6E8A-4147-A177-3AD203B41FA5}">
                      <a16:colId xmlns:a16="http://schemas.microsoft.com/office/drawing/2014/main" val="20001"/>
                    </a:ext>
                  </a:extLst>
                </a:gridCol>
              </a:tblGrid>
              <a:tr h="426938">
                <a:tc>
                  <a:txBody>
                    <a:body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pPr>
                      <a:r>
                        <a:rPr kumimoji="0" lang="es-ES" sz="1200" b="1" i="0" u="none" strike="noStrike" cap="none" normalizeH="0" baseline="0" dirty="0">
                          <a:ln>
                            <a:noFill/>
                          </a:ln>
                          <a:solidFill>
                            <a:srgbClr val="FF0000"/>
                          </a:solidFill>
                          <a:effectLst/>
                          <a:latin typeface="Avenir Next" panose="020B0503020202020204" pitchFamily="34" charset="0"/>
                        </a:rPr>
                        <a:t>Estrategia océano rojo</a:t>
                      </a:r>
                    </a:p>
                  </a:txBody>
                  <a:tcPr marL="238089" marR="238089" marT="45695" marB="45695" horzOverflow="overflow">
                    <a:lnL w="12700" cap="flat" cmpd="sng" algn="ctr">
                      <a:solidFill>
                        <a:schemeClr val="tx1"/>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pPr>
                      <a:r>
                        <a:rPr kumimoji="0" lang="es-ES" sz="1200" b="1" i="0" u="none" strike="noStrike" cap="none" normalizeH="0" baseline="0" dirty="0">
                          <a:ln>
                            <a:noFill/>
                          </a:ln>
                          <a:solidFill>
                            <a:schemeClr val="hlink"/>
                          </a:solidFill>
                          <a:effectLst/>
                          <a:latin typeface="Avenir Next" panose="020B0503020202020204" pitchFamily="34" charset="0"/>
                        </a:rPr>
                        <a:t>Estrategia océano azul</a:t>
                      </a:r>
                    </a:p>
                  </a:txBody>
                  <a:tcPr marL="238089" marR="238089" marT="45695" marB="45695" horzOverflow="overflow">
                    <a:lnL w="9525"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18109">
                <a:tc>
                  <a:txBody>
                    <a:body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pPr>
                      <a:r>
                        <a:rPr kumimoji="0" lang="es-ES" sz="1200" b="0" i="0" u="none" strike="noStrike" cap="none" normalizeH="0" baseline="0" dirty="0">
                          <a:ln>
                            <a:noFill/>
                          </a:ln>
                          <a:solidFill>
                            <a:schemeClr val="tx1"/>
                          </a:solidFill>
                          <a:effectLst/>
                          <a:latin typeface="Avenir Next" panose="020B0503020202020204" pitchFamily="34" charset="0"/>
                        </a:rPr>
                        <a:t>Compite por cuota en mercado existente</a:t>
                      </a:r>
                    </a:p>
                  </a:txBody>
                  <a:tcPr marL="238089" marR="238089" marT="45695" marB="45695" horzOverflow="overflow">
                    <a:lnL w="12700" cap="flat" cmpd="sng" algn="ctr">
                      <a:solidFill>
                        <a:schemeClr val="tx1"/>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pPr>
                      <a:r>
                        <a:rPr kumimoji="0" lang="es-ES" sz="1200" b="0" i="0" u="none" strike="noStrike" cap="none" normalizeH="0" baseline="0" dirty="0">
                          <a:ln>
                            <a:noFill/>
                          </a:ln>
                          <a:solidFill>
                            <a:schemeClr val="tx1"/>
                          </a:solidFill>
                          <a:effectLst/>
                          <a:latin typeface="Avenir Next" panose="020B0503020202020204" pitchFamily="34" charset="0"/>
                        </a:rPr>
                        <a:t>Crea nuevos mercados</a:t>
                      </a:r>
                    </a:p>
                  </a:txBody>
                  <a:tcPr marL="238089" marR="238089" marT="45695" marB="45695" horzOverflow="overflow">
                    <a:lnL w="9525"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517992">
                <a:tc>
                  <a:txBody>
                    <a:body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pPr>
                      <a:r>
                        <a:rPr kumimoji="0" lang="es-ES" sz="1200" b="0" i="0" u="none" strike="noStrike" cap="none" normalizeH="0" baseline="0" dirty="0">
                          <a:ln>
                            <a:noFill/>
                          </a:ln>
                          <a:solidFill>
                            <a:schemeClr val="tx1"/>
                          </a:solidFill>
                          <a:effectLst/>
                          <a:latin typeface="Avenir Next" panose="020B0503020202020204" pitchFamily="34" charset="0"/>
                        </a:rPr>
                        <a:t>Ataca a la competencia</a:t>
                      </a:r>
                    </a:p>
                  </a:txBody>
                  <a:tcPr marL="238089" marR="238089" marT="45695" marB="45695" horzOverflow="overflow">
                    <a:lnL w="12700" cap="flat" cmpd="sng" algn="ctr">
                      <a:solidFill>
                        <a:schemeClr val="tx1"/>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pPr>
                      <a:r>
                        <a:rPr kumimoji="0" lang="es-ES" sz="1200" b="0" i="0" u="none" strike="noStrike" cap="none" normalizeH="0" baseline="0" dirty="0">
                          <a:ln>
                            <a:noFill/>
                          </a:ln>
                          <a:solidFill>
                            <a:schemeClr val="tx1"/>
                          </a:solidFill>
                          <a:effectLst/>
                          <a:latin typeface="Avenir Next" panose="020B0503020202020204" pitchFamily="34" charset="0"/>
                        </a:rPr>
                        <a:t>Hacer la competencia, irrelevante</a:t>
                      </a:r>
                    </a:p>
                  </a:txBody>
                  <a:tcPr marL="238089" marR="238089" marT="45695" marB="45695" horzOverflow="overflow">
                    <a:lnL w="9525"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731469">
                <a:tc>
                  <a:txBody>
                    <a:body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pPr>
                      <a:r>
                        <a:rPr kumimoji="0" lang="es-ES" sz="1200" b="0" i="0" u="none" strike="noStrike" cap="none" normalizeH="0" baseline="0" dirty="0">
                          <a:ln>
                            <a:noFill/>
                          </a:ln>
                          <a:solidFill>
                            <a:schemeClr val="tx1"/>
                          </a:solidFill>
                          <a:effectLst/>
                          <a:latin typeface="Avenir Next" panose="020B0503020202020204" pitchFamily="34" charset="0"/>
                        </a:rPr>
                        <a:t>Explota demandas existentes (servir mejor a los clientes actuales)</a:t>
                      </a:r>
                    </a:p>
                  </a:txBody>
                  <a:tcPr marL="238089" marR="238089" marT="45695" marB="45695" horzOverflow="overflow">
                    <a:lnL w="12700" cap="flat" cmpd="sng" algn="ctr">
                      <a:solidFill>
                        <a:schemeClr val="tx1"/>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pPr>
                      <a:r>
                        <a:rPr kumimoji="0" lang="es-ES" sz="1200" b="0" i="0" u="none" strike="noStrike" cap="none" normalizeH="0" baseline="0" dirty="0">
                          <a:ln>
                            <a:noFill/>
                          </a:ln>
                          <a:solidFill>
                            <a:schemeClr val="tx1"/>
                          </a:solidFill>
                          <a:effectLst/>
                          <a:latin typeface="Avenir Next" panose="020B0503020202020204" pitchFamily="34" charset="0"/>
                        </a:rPr>
                        <a:t>Crea y captura nuevas demandas y servir a los «no clientes»</a:t>
                      </a:r>
                    </a:p>
                  </a:txBody>
                  <a:tcPr marL="238089" marR="238089" marT="45695" marB="45695" horzOverflow="overflow">
                    <a:lnL w="9525"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518109">
                <a:tc>
                  <a:txBody>
                    <a:body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pPr>
                      <a:r>
                        <a:rPr kumimoji="0" lang="es-ES" sz="1200" b="0" i="0" u="none" strike="noStrike" cap="none" normalizeH="0" baseline="0" dirty="0">
                          <a:ln>
                            <a:noFill/>
                          </a:ln>
                          <a:solidFill>
                            <a:schemeClr val="tx1"/>
                          </a:solidFill>
                          <a:effectLst/>
                          <a:latin typeface="Avenir Next" panose="020B0503020202020204" pitchFamily="34" charset="0"/>
                        </a:rPr>
                        <a:t>Trabaja sobre </a:t>
                      </a:r>
                      <a:r>
                        <a:rPr kumimoji="0" lang="es-ES" sz="1200" b="0" i="0" u="none" strike="noStrike" cap="none" normalizeH="0" baseline="0" dirty="0" err="1">
                          <a:ln>
                            <a:noFill/>
                          </a:ln>
                          <a:solidFill>
                            <a:schemeClr val="tx1"/>
                          </a:solidFill>
                          <a:effectLst/>
                          <a:latin typeface="Avenir Next" panose="020B0503020202020204" pitchFamily="34" charset="0"/>
                        </a:rPr>
                        <a:t>trade</a:t>
                      </a:r>
                      <a:r>
                        <a:rPr kumimoji="0" lang="es-ES" sz="1200" b="0" i="0" u="none" strike="noStrike" cap="none" normalizeH="0" baseline="0" dirty="0">
                          <a:ln>
                            <a:noFill/>
                          </a:ln>
                          <a:solidFill>
                            <a:schemeClr val="tx1"/>
                          </a:solidFill>
                          <a:effectLst/>
                          <a:latin typeface="Avenir Next" panose="020B0503020202020204" pitchFamily="34" charset="0"/>
                        </a:rPr>
                        <a:t> - off</a:t>
                      </a:r>
                    </a:p>
                  </a:txBody>
                  <a:tcPr marL="238089" marR="238089" marT="45695" marB="45695" horzOverflow="overflow">
                    <a:lnL w="12700" cap="flat" cmpd="sng" algn="ctr">
                      <a:solidFill>
                        <a:schemeClr val="tx1"/>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pPr>
                      <a:r>
                        <a:rPr kumimoji="0" lang="es-ES" sz="1200" b="0" i="0" u="none" strike="noStrike" cap="none" normalizeH="0" baseline="0" dirty="0">
                          <a:ln>
                            <a:noFill/>
                          </a:ln>
                          <a:solidFill>
                            <a:schemeClr val="tx1"/>
                          </a:solidFill>
                          <a:effectLst/>
                          <a:latin typeface="Avenir Next" panose="020B0503020202020204" pitchFamily="34" charset="0"/>
                        </a:rPr>
                        <a:t>Rompe los paradigmas de los </a:t>
                      </a:r>
                      <a:r>
                        <a:rPr kumimoji="0" lang="es-ES" sz="1200" b="0" i="0" u="none" strike="noStrike" cap="none" normalizeH="0" baseline="0" dirty="0" err="1">
                          <a:ln>
                            <a:noFill/>
                          </a:ln>
                          <a:solidFill>
                            <a:schemeClr val="tx1"/>
                          </a:solidFill>
                          <a:effectLst/>
                          <a:latin typeface="Avenir Next" panose="020B0503020202020204" pitchFamily="34" charset="0"/>
                        </a:rPr>
                        <a:t>trade</a:t>
                      </a:r>
                      <a:r>
                        <a:rPr kumimoji="0" lang="es-ES" sz="1200" b="0" i="0" u="none" strike="noStrike" cap="none" normalizeH="0" baseline="0" dirty="0">
                          <a:ln>
                            <a:noFill/>
                          </a:ln>
                          <a:solidFill>
                            <a:schemeClr val="tx1"/>
                          </a:solidFill>
                          <a:effectLst/>
                          <a:latin typeface="Avenir Next" panose="020B0503020202020204" pitchFamily="34" charset="0"/>
                        </a:rPr>
                        <a:t> – off</a:t>
                      </a:r>
                    </a:p>
                  </a:txBody>
                  <a:tcPr marL="238089" marR="238089" marT="45695" marB="45695" horzOverflow="overflow">
                    <a:lnL w="9525"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944594">
                <a:tc>
                  <a:txBody>
                    <a:body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pPr>
                      <a:r>
                        <a:rPr kumimoji="0" lang="es-ES" sz="1200" b="0" i="0" u="none" strike="noStrike" cap="none" normalizeH="0" baseline="0" dirty="0">
                          <a:ln>
                            <a:noFill/>
                          </a:ln>
                          <a:solidFill>
                            <a:schemeClr val="tx1"/>
                          </a:solidFill>
                          <a:effectLst/>
                          <a:latin typeface="Avenir Next" panose="020B0503020202020204" pitchFamily="34" charset="0"/>
                        </a:rPr>
                        <a:t>Alinea sus paradigmas con la estrategia de la compañía, diferenciación o bajo costo</a:t>
                      </a:r>
                    </a:p>
                  </a:txBody>
                  <a:tcPr marL="238089" marR="238089" marT="45695" marB="45695" horzOverflow="overflow">
                    <a:lnL w="12700" cap="flat" cmpd="sng" algn="ctr">
                      <a:solidFill>
                        <a:schemeClr val="tx1"/>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pPr>
                      <a:r>
                        <a:rPr kumimoji="0" lang="es-ES" sz="1200" b="0" i="0" u="none" strike="noStrike" cap="none" normalizeH="0" baseline="0" dirty="0">
                          <a:ln>
                            <a:noFill/>
                          </a:ln>
                          <a:solidFill>
                            <a:schemeClr val="tx1"/>
                          </a:solidFill>
                          <a:effectLst/>
                          <a:latin typeface="Avenir Next" panose="020B0503020202020204" pitchFamily="34" charset="0"/>
                        </a:rPr>
                        <a:t>Alinea a la compañía en perseguir diferenciación y bajo costo</a:t>
                      </a:r>
                    </a:p>
                  </a:txBody>
                  <a:tcPr marL="238089" marR="238089" marT="45695" marB="45695" horzOverflow="overflow">
                    <a:lnL w="9525"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4546800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texto 5">
            <a:extLst>
              <a:ext uri="{FF2B5EF4-FFF2-40B4-BE49-F238E27FC236}">
                <a16:creationId xmlns:a16="http://schemas.microsoft.com/office/drawing/2014/main" id="{6B9493CE-2443-4065-96B3-2612D084F164}"/>
              </a:ext>
            </a:extLst>
          </p:cNvPr>
          <p:cNvSpPr txBox="1">
            <a:spLocks/>
          </p:cNvSpPr>
          <p:nvPr/>
        </p:nvSpPr>
        <p:spPr>
          <a:xfrm>
            <a:off x="658813" y="1871937"/>
            <a:ext cx="10874374" cy="2897446"/>
          </a:xfrm>
          <a:prstGeom prst="rect">
            <a:avLst/>
          </a:prstGeom>
          <a:solidFill>
            <a:srgbClr val="482261"/>
          </a:solidFill>
          <a:ln w="28575">
            <a:solidFill>
              <a:srgbClr val="FFFFFF"/>
            </a:solidFill>
          </a:ln>
        </p:spPr>
        <p:txBody>
          <a:bodyPr vert="horz" lIns="1080000" tIns="0" rIns="1080000" bIns="360000" rtlCol="0" anchor="ctr">
            <a:noAutofit/>
          </a:bodyPr>
          <a:lstStyle>
            <a:lvl1pPr marL="228600" indent="-228600" algn="ctr" defTabSz="914400" rtl="0" eaLnBrk="1" latinLnBrk="0" hangingPunct="1">
              <a:lnSpc>
                <a:spcPct val="90000"/>
              </a:lnSpc>
              <a:spcBef>
                <a:spcPts val="1000"/>
              </a:spcBef>
              <a:buClr>
                <a:schemeClr val="accent4"/>
              </a:buClr>
              <a:buFont typeface="Arial" panose="020B0604020202020204" pitchFamily="34" charset="0"/>
              <a:buNone/>
              <a:defRPr sz="4000" kern="1200">
                <a:solidFill>
                  <a:schemeClr val="tx2"/>
                </a:solidFill>
                <a:latin typeface="+mn-lt"/>
                <a:ea typeface="Open Sans SemiBold" panose="020B0706030804020204" pitchFamily="34" charset="0"/>
                <a:cs typeface="Open Sans SemiBold" panose="020B0706030804020204" pitchFamily="34" charset="0"/>
              </a:defRPr>
            </a:lvl1pPr>
            <a:lvl2pPr marL="685800" indent="-228600" algn="l" defTabSz="914400" rtl="0" eaLnBrk="1" latinLnBrk="0" hangingPunct="1">
              <a:lnSpc>
                <a:spcPct val="90000"/>
              </a:lnSpc>
              <a:spcBef>
                <a:spcPts val="500"/>
              </a:spcBef>
              <a:buClr>
                <a:schemeClr val="accent4"/>
              </a:buClr>
              <a:buFont typeface="Arial" panose="020B0604020202020204" pitchFamily="34" charset="0"/>
              <a:buNone/>
              <a:defRPr sz="18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Clr>
                <a:schemeClr val="accent4"/>
              </a:buClr>
              <a:buFont typeface="Arial" panose="020B0604020202020204" pitchFamily="34" charset="0"/>
              <a:buNone/>
              <a:defRPr sz="16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Clr>
                <a:schemeClr val="accent4"/>
              </a:buClr>
              <a:buFont typeface="Arial" panose="020B0604020202020204" pitchFamily="34" charset="0"/>
              <a:buNone/>
              <a:defRPr sz="14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Clr>
                <a:schemeClr val="accent4"/>
              </a:buClr>
              <a:buFont typeface="Arial" panose="020B0604020202020204" pitchFamily="34" charset="0"/>
              <a:buNone/>
              <a:defRPr sz="14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
                <a:srgbClr val="79F7D5"/>
              </a:buClr>
              <a:buSzTx/>
              <a:buFont typeface="Arial" panose="020B0604020202020204" pitchFamily="34" charset="0"/>
              <a:buNone/>
              <a:tabLst/>
              <a:defRPr/>
            </a:pPr>
            <a:r>
              <a:rPr kumimoji="0" lang="es-CL" sz="3600" b="1" i="0" u="none" strike="noStrike" kern="1200" cap="none" spc="0" normalizeH="0" baseline="0" noProof="0" dirty="0">
                <a:ln>
                  <a:noFill/>
                </a:ln>
                <a:solidFill>
                  <a:srgbClr val="FFFFFF"/>
                </a:solidFill>
                <a:effectLst/>
                <a:uLnTx/>
                <a:uFillTx/>
                <a:latin typeface="Montserrat SemiBold" panose="00000700000000000000" pitchFamily="2" charset="0"/>
                <a:ea typeface="Open Sans SemiBold" panose="020B0706030804020204" pitchFamily="34" charset="0"/>
                <a:cs typeface="Open Sans SemiBold" panose="020B0706030804020204" pitchFamily="34" charset="0"/>
              </a:rPr>
              <a:t>No puedo entender por qué la gente se asusta de las nuevas ideas. A mí me asustan las viejas.</a:t>
            </a:r>
          </a:p>
        </p:txBody>
      </p:sp>
      <p:sp>
        <p:nvSpPr>
          <p:cNvPr id="7" name="Marcador de texto 7">
            <a:extLst>
              <a:ext uri="{FF2B5EF4-FFF2-40B4-BE49-F238E27FC236}">
                <a16:creationId xmlns:a16="http://schemas.microsoft.com/office/drawing/2014/main" id="{DC5524E5-8367-4C6E-9435-77205FE77FD3}"/>
              </a:ext>
            </a:extLst>
          </p:cNvPr>
          <p:cNvSpPr txBox="1">
            <a:spLocks/>
          </p:cNvSpPr>
          <p:nvPr/>
        </p:nvSpPr>
        <p:spPr>
          <a:xfrm>
            <a:off x="7828689" y="4467871"/>
            <a:ext cx="2143935" cy="550508"/>
          </a:xfrm>
          <a:prstGeom prst="rect">
            <a:avLst/>
          </a:prstGeom>
          <a:solidFill>
            <a:srgbClr val="79F7D5"/>
          </a:solidFill>
        </p:spPr>
        <p:txBody>
          <a:bodyPr vert="horz" wrap="none" lIns="180000" tIns="108000" rIns="216000" bIns="108000" rtlCol="0" anchor="ctr">
            <a:spAutoFit/>
          </a:bodyPr>
          <a:lstStyle>
            <a:lvl1pPr marL="228600" indent="-228600" algn="r" defTabSz="914400" rtl="0" eaLnBrk="1" latinLnBrk="0" hangingPunct="1">
              <a:lnSpc>
                <a:spcPct val="90000"/>
              </a:lnSpc>
              <a:spcBef>
                <a:spcPts val="1000"/>
              </a:spcBef>
              <a:buClr>
                <a:schemeClr val="accent4"/>
              </a:buClr>
              <a:buFont typeface="Arial" panose="020B0604020202020204" pitchFamily="34" charset="0"/>
              <a:buNone/>
              <a:defRPr sz="2000" b="1" kern="1200">
                <a:solidFill>
                  <a:schemeClr val="accent4"/>
                </a:solidFill>
                <a:latin typeface="+mn-lt"/>
                <a:ea typeface="Open Sans SemiBold" panose="020B0706030804020204" pitchFamily="34" charset="0"/>
                <a:cs typeface="Open Sans SemiBold" panose="020B0706030804020204" pitchFamily="34" charset="0"/>
              </a:defRPr>
            </a:lvl1pPr>
            <a:lvl2pPr marL="685800" indent="-228600" algn="l" defTabSz="914400" rtl="0" eaLnBrk="1" latinLnBrk="0" hangingPunct="1">
              <a:lnSpc>
                <a:spcPct val="90000"/>
              </a:lnSpc>
              <a:spcBef>
                <a:spcPts val="500"/>
              </a:spcBef>
              <a:buClr>
                <a:schemeClr val="accent4"/>
              </a:buClr>
              <a:buFont typeface="Arial" panose="020B0604020202020204" pitchFamily="34" charset="0"/>
              <a:buNone/>
              <a:defRPr sz="18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Clr>
                <a:schemeClr val="accent4"/>
              </a:buClr>
              <a:buFont typeface="Arial" panose="020B0604020202020204" pitchFamily="34" charset="0"/>
              <a:buNone/>
              <a:defRPr sz="16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Clr>
                <a:schemeClr val="accent4"/>
              </a:buClr>
              <a:buFont typeface="Arial" panose="020B0604020202020204" pitchFamily="34" charset="0"/>
              <a:buNone/>
              <a:defRPr sz="14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Clr>
                <a:schemeClr val="accent4"/>
              </a:buClr>
              <a:buFont typeface="Arial" panose="020B0604020202020204" pitchFamily="34" charset="0"/>
              <a:buNone/>
              <a:defRPr sz="14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r" defTabSz="914400" rtl="0" eaLnBrk="1" fontAlgn="auto" latinLnBrk="0" hangingPunct="1">
              <a:lnSpc>
                <a:spcPct val="90000"/>
              </a:lnSpc>
              <a:spcBef>
                <a:spcPts val="1000"/>
              </a:spcBef>
              <a:spcAft>
                <a:spcPts val="0"/>
              </a:spcAft>
              <a:buClr>
                <a:srgbClr val="79F7D5"/>
              </a:buClr>
              <a:buSzTx/>
              <a:buFont typeface="Arial" panose="020B0604020202020204" pitchFamily="34" charset="0"/>
              <a:buNone/>
              <a:tabLst/>
              <a:defRPr/>
            </a:pPr>
            <a:r>
              <a:rPr kumimoji="0" lang="es-CL" sz="2400" b="1" i="0" u="none" strike="noStrike" kern="1200" cap="none" spc="0" normalizeH="0" baseline="0" noProof="0">
                <a:ln>
                  <a:noFill/>
                </a:ln>
                <a:solidFill>
                  <a:srgbClr val="4E696D"/>
                </a:solidFill>
                <a:effectLst/>
                <a:uLnTx/>
                <a:uFillTx/>
                <a:latin typeface="Raleway"/>
                <a:ea typeface="Open Sans SemiBold" panose="020B0706030804020204" pitchFamily="34" charset="0"/>
                <a:cs typeface="Open Sans SemiBold" panose="020B0706030804020204" pitchFamily="34" charset="0"/>
              </a:rPr>
              <a:t>| John Cage</a:t>
            </a:r>
            <a:endParaRPr kumimoji="0" lang="es-CL" sz="2400" b="1" i="0" u="none" strike="noStrike" kern="1200" cap="none" spc="0" normalizeH="0" baseline="0" noProof="0" dirty="0">
              <a:ln>
                <a:noFill/>
              </a:ln>
              <a:solidFill>
                <a:srgbClr val="4E696D"/>
              </a:solidFill>
              <a:effectLst/>
              <a:uLnTx/>
              <a:uFillTx/>
              <a:latin typeface="Raleway"/>
              <a:ea typeface="Open Sans SemiBold" panose="020B0706030804020204" pitchFamily="34" charset="0"/>
              <a:cs typeface="Open Sans SemiBold" panose="020B0706030804020204" pitchFamily="34" charset="0"/>
            </a:endParaRPr>
          </a:p>
        </p:txBody>
      </p:sp>
      <p:sp>
        <p:nvSpPr>
          <p:cNvPr id="8" name="CuadroTexto 7">
            <a:extLst>
              <a:ext uri="{FF2B5EF4-FFF2-40B4-BE49-F238E27FC236}">
                <a16:creationId xmlns:a16="http://schemas.microsoft.com/office/drawing/2014/main" id="{48BF6CDF-C9A5-4C28-A39B-7D837B571268}"/>
              </a:ext>
            </a:extLst>
          </p:cNvPr>
          <p:cNvSpPr txBox="1"/>
          <p:nvPr/>
        </p:nvSpPr>
        <p:spPr>
          <a:xfrm>
            <a:off x="708397" y="426166"/>
            <a:ext cx="1371598" cy="2253001"/>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28700" b="0" i="0" u="none" strike="noStrike" kern="0" cap="none" spc="0" normalizeH="0" baseline="0" noProof="0" dirty="0">
                <a:ln>
                  <a:noFill/>
                </a:ln>
                <a:solidFill>
                  <a:srgbClr val="79F7D5"/>
                </a:solidFill>
                <a:effectLst/>
                <a:uLnTx/>
                <a:uFillTx/>
                <a:latin typeface="Raleway"/>
                <a:ea typeface="+mn-ea"/>
                <a:cs typeface="+mn-cs"/>
              </a:rPr>
              <a:t>“</a:t>
            </a:r>
          </a:p>
        </p:txBody>
      </p:sp>
      <p:sp>
        <p:nvSpPr>
          <p:cNvPr id="9" name="CuadroTexto 8">
            <a:extLst>
              <a:ext uri="{FF2B5EF4-FFF2-40B4-BE49-F238E27FC236}">
                <a16:creationId xmlns:a16="http://schemas.microsoft.com/office/drawing/2014/main" id="{535053EC-5A5C-4E6B-BB32-E424E2F9D403}"/>
              </a:ext>
            </a:extLst>
          </p:cNvPr>
          <p:cNvSpPr txBox="1"/>
          <p:nvPr/>
        </p:nvSpPr>
        <p:spPr>
          <a:xfrm>
            <a:off x="10150853" y="3646996"/>
            <a:ext cx="1371598" cy="2336369"/>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28700" b="0" i="0" u="none" strike="noStrike" kern="0" cap="none" spc="0" normalizeH="0" baseline="0" noProof="0" dirty="0">
                <a:ln>
                  <a:noFill/>
                </a:ln>
                <a:solidFill>
                  <a:srgbClr val="79F7D5"/>
                </a:solidFill>
                <a:effectLst/>
                <a:uLnTx/>
                <a:uFillTx/>
                <a:latin typeface="Raleway"/>
                <a:ea typeface="+mn-ea"/>
                <a:cs typeface="+mn-cs"/>
              </a:rPr>
              <a:t>”</a:t>
            </a:r>
          </a:p>
        </p:txBody>
      </p:sp>
    </p:spTree>
    <p:extLst>
      <p:ext uri="{BB962C8B-B14F-4D97-AF65-F5344CB8AC3E}">
        <p14:creationId xmlns:p14="http://schemas.microsoft.com/office/powerpoint/2010/main" val="21949771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upo 3">
            <a:extLst>
              <a:ext uri="{FF2B5EF4-FFF2-40B4-BE49-F238E27FC236}">
                <a16:creationId xmlns:a16="http://schemas.microsoft.com/office/drawing/2014/main" id="{7F3F76DE-D56A-F493-1A72-C1110B8F03B1}"/>
              </a:ext>
            </a:extLst>
          </p:cNvPr>
          <p:cNvGrpSpPr/>
          <p:nvPr/>
        </p:nvGrpSpPr>
        <p:grpSpPr>
          <a:xfrm>
            <a:off x="6943819" y="478086"/>
            <a:ext cx="4522378" cy="6379914"/>
            <a:chOff x="6954577" y="147288"/>
            <a:chExt cx="4522378" cy="6379914"/>
          </a:xfrm>
        </p:grpSpPr>
        <p:pic>
          <p:nvPicPr>
            <p:cNvPr id="1026" name="Picture 2">
              <a:extLst>
                <a:ext uri="{FF2B5EF4-FFF2-40B4-BE49-F238E27FC236}">
                  <a16:creationId xmlns:a16="http://schemas.microsoft.com/office/drawing/2014/main" id="{02410DD6-B0A6-4A88-8F2B-583E3A321E52}"/>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954577" y="256565"/>
              <a:ext cx="2140628" cy="257878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199AEE3-1806-41EF-AFF8-B54B7FF73C99}"/>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821360" y="147288"/>
              <a:ext cx="1655595" cy="199447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BDD43802-DB1D-4AA1-A823-09701E68DDB6}"/>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9095206" y="2208455"/>
              <a:ext cx="1718924" cy="207076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43324B5B-36B7-4E26-9AB0-581B5AF09C86}"/>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b="12828"/>
            <a:stretch/>
          </p:blipFill>
          <p:spPr bwMode="auto">
            <a:xfrm>
              <a:off x="6954577" y="4279217"/>
              <a:ext cx="2140629" cy="224798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984EFDF0-F3BE-42D4-9B61-B13E17CD1781}"/>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9095206" y="4165321"/>
              <a:ext cx="2381749" cy="2251354"/>
            </a:xfrm>
            <a:prstGeom prst="rect">
              <a:avLst/>
            </a:prstGeom>
            <a:noFill/>
            <a:extLst>
              <a:ext uri="{909E8E84-426E-40DD-AFC4-6F175D3DCCD1}">
                <a14:hiddenFill xmlns:a14="http://schemas.microsoft.com/office/drawing/2010/main">
                  <a:solidFill>
                    <a:srgbClr val="FFFFFF"/>
                  </a:solidFill>
                </a14:hiddenFill>
              </a:ext>
            </a:extLst>
          </p:spPr>
        </p:pic>
      </p:grpSp>
      <p:sp>
        <p:nvSpPr>
          <p:cNvPr id="5" name="CuadroTexto 4">
            <a:extLst>
              <a:ext uri="{FF2B5EF4-FFF2-40B4-BE49-F238E27FC236}">
                <a16:creationId xmlns:a16="http://schemas.microsoft.com/office/drawing/2014/main" id="{03B614FA-D7AE-3F4A-E18C-DEA7AAB53FF4}"/>
              </a:ext>
            </a:extLst>
          </p:cNvPr>
          <p:cNvSpPr txBox="1"/>
          <p:nvPr/>
        </p:nvSpPr>
        <p:spPr>
          <a:xfrm>
            <a:off x="663218" y="673813"/>
            <a:ext cx="6038796" cy="5632311"/>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ES" sz="1200" dirty="0">
                <a:solidFill>
                  <a:srgbClr val="000000"/>
                </a:solidFill>
                <a:latin typeface="Avenir Next" panose="020B0503020202020204" pitchFamily="34" charset="0"/>
              </a:rPr>
              <a:t>Para explicar que es una estrategia de océanos azules frente a una de océano rojo, ocuparemos una analogía, que llamaremos el cuento del granjero vende manzanas.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ES" sz="1200" b="0" u="none" strike="noStrike" kern="1200" cap="none" spc="0" normalizeH="0" baseline="0" dirty="0">
              <a:ln>
                <a:noFill/>
              </a:ln>
              <a:solidFill>
                <a:srgbClr val="000000"/>
              </a:solidFill>
              <a:effectLst/>
              <a:uLnTx/>
              <a:uFillTx/>
              <a:latin typeface="Avenir Next" panose="020B0503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ES" sz="1200" dirty="0">
                <a:solidFill>
                  <a:srgbClr val="000000"/>
                </a:solidFill>
                <a:latin typeface="Avenir Next" panose="020B0503020202020204" pitchFamily="34" charset="0"/>
              </a:rPr>
              <a:t>Un granjero aburrido que recorre su campo sube a un cerro a eso de las 11,00 de la mañana, y ve un camino por donde pasan muchos peregrinos, familias que se han comenzado a caminar a las 6,30 a 7,00 AM, desde un pueblo cercano y se dirigen a destino, donde llegaran entre las 13,00 a 14,00 PM.</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ES" sz="1200" b="0" u="none" strike="noStrike" kern="1200" cap="none" spc="0" normalizeH="0" baseline="0" dirty="0">
              <a:ln>
                <a:noFill/>
              </a:ln>
              <a:solidFill>
                <a:srgbClr val="000000"/>
              </a:solidFill>
              <a:effectLst/>
              <a:uLnTx/>
              <a:uFillTx/>
              <a:latin typeface="Avenir Next" panose="020B0503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ES" sz="1200" dirty="0">
                <a:solidFill>
                  <a:srgbClr val="000000"/>
                </a:solidFill>
                <a:latin typeface="Avenir Next" panose="020B0503020202020204" pitchFamily="34" charset="0"/>
              </a:rPr>
              <a:t>Mirándolos fijamente, se da cuenta que llevan hambre, pocos tienen comida adecuada, y no existen buenos puntos de descanso. El granjero ve la posibilidad de ayudarlos, y por otra parte darle salida a su producción de manzanas. Corre, carga su camioneta con manzanas, la estaciona aculatada contra el camino, y ofrece “A $10 cada manzana”; siendo el único oferente, se acercan todas las personas y comienza una venta acelerada.</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ES" sz="1200" b="0" u="none" strike="noStrike" kern="1200" cap="none" spc="0" normalizeH="0" baseline="0" dirty="0">
              <a:ln>
                <a:noFill/>
              </a:ln>
              <a:solidFill>
                <a:srgbClr val="000000"/>
              </a:solidFill>
              <a:effectLst/>
              <a:uLnTx/>
              <a:uFillTx/>
              <a:latin typeface="Avenir Next" panose="020B0503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ES" sz="1200" dirty="0">
                <a:solidFill>
                  <a:srgbClr val="000000"/>
                </a:solidFill>
                <a:latin typeface="Avenir Next" panose="020B0503020202020204" pitchFamily="34" charset="0"/>
              </a:rPr>
              <a:t>Sale un vecino, ve lo exitoso del negocio, y se le ocurre la brillante idea de hacer… lo mismo… pero su estrategia es bajar el precio a $8 por manzana. (ESTO ES UNA ESTRATEGIA DE OCEANO ROJO, LAS PRINCIPALES DECISIONES SE TOMAN MIRANDO AL COMPETIDOR) Así, sale una vecina a ver y… a las 13,00 ya hay 5 vecinos vendiendo manzanas y el precio ha bajado a $4 por manzana.</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ES" sz="1200" b="0" u="none" strike="noStrike" kern="1200" cap="none" spc="0" normalizeH="0" baseline="0" dirty="0">
              <a:ln>
                <a:noFill/>
              </a:ln>
              <a:solidFill>
                <a:srgbClr val="000000"/>
              </a:solidFill>
              <a:effectLst/>
              <a:uLnTx/>
              <a:uFillTx/>
              <a:latin typeface="Avenir Next" panose="020B0503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ES" sz="1200" dirty="0">
                <a:solidFill>
                  <a:srgbClr val="000000"/>
                </a:solidFill>
                <a:latin typeface="Avenir Next" panose="020B0503020202020204" pitchFamily="34" charset="0"/>
              </a:rPr>
              <a:t>Pero el granjero ha leído océanos azules, y decide invertir su dinero no en competir sino crear un nuevo mercado. Entonces, vuelve al cerro, mira al grupo de peregrinos, y ve un segmento particular… las niñas y niños… tienen más hambre, la mazana entera es demasiado para ellos, al comer la salivan y ensucian, se les caen… es un problema.</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ES" sz="1200" b="0" u="none" strike="noStrike" kern="1200" cap="none" spc="0" normalizeH="0" baseline="0" dirty="0">
              <a:ln>
                <a:noFill/>
              </a:ln>
              <a:solidFill>
                <a:srgbClr val="000000"/>
              </a:solidFill>
              <a:effectLst/>
              <a:uLnTx/>
              <a:uFillTx/>
              <a:latin typeface="Avenir Next" panose="020B0503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ES" sz="1200" dirty="0">
                <a:solidFill>
                  <a:srgbClr val="000000"/>
                </a:solidFill>
                <a:latin typeface="Avenir Next" panose="020B0503020202020204" pitchFamily="34" charset="0"/>
              </a:rPr>
              <a:t>El granjero crea una nueva solución, un envase, que se puede cerrar, con media manzana, más dulce y vigorizada… ha creado un producto innovador, no existente, triunfa (ESO ES OCEANOS AZULES).</a:t>
            </a:r>
            <a:endParaRPr kumimoji="0" lang="es-ES_tradnl" sz="1200" b="0" u="none" strike="noStrike" kern="1200" cap="none" spc="0" normalizeH="0" baseline="0" dirty="0">
              <a:ln>
                <a:noFill/>
              </a:ln>
              <a:solidFill>
                <a:srgbClr val="000000"/>
              </a:solidFill>
              <a:effectLst/>
              <a:uLnTx/>
              <a:uFillTx/>
              <a:latin typeface="Avenir Next" panose="020B0503020202020204" pitchFamily="34" charset="0"/>
            </a:endParaRPr>
          </a:p>
        </p:txBody>
      </p:sp>
    </p:spTree>
    <p:extLst>
      <p:ext uri="{BB962C8B-B14F-4D97-AF65-F5344CB8AC3E}">
        <p14:creationId xmlns:p14="http://schemas.microsoft.com/office/powerpoint/2010/main" val="22525167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F688DF-D655-4A53-AF64-8D48290249D2}"/>
              </a:ext>
            </a:extLst>
          </p:cNvPr>
          <p:cNvSpPr txBox="1"/>
          <p:nvPr/>
        </p:nvSpPr>
        <p:spPr>
          <a:xfrm>
            <a:off x="663218" y="1018449"/>
            <a:ext cx="985238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srgbClr val="000000"/>
                </a:solidFill>
                <a:effectLst/>
                <a:uLnTx/>
                <a:uFillTx/>
                <a:latin typeface="Montserrat SemiBold" pitchFamily="2" charset="0"/>
                <a:ea typeface="+mn-ea"/>
                <a:cs typeface="+mn-cs"/>
              </a:rPr>
              <a:t>Innovación de Valor </a:t>
            </a:r>
            <a:endParaRPr kumimoji="0" lang="es-CL" sz="2800" b="0" i="0" u="none" strike="noStrike" kern="1200" cap="none" spc="0" normalizeH="0" baseline="0" noProof="0" dirty="0">
              <a:ln>
                <a:noFill/>
              </a:ln>
              <a:solidFill>
                <a:srgbClr val="000000"/>
              </a:solidFill>
              <a:effectLst/>
              <a:uLnTx/>
              <a:uFillTx/>
              <a:latin typeface="Montserrat SemiBold" pitchFamily="2" charset="0"/>
              <a:ea typeface="+mn-ea"/>
              <a:cs typeface="+mn-cs"/>
            </a:endParaRPr>
          </a:p>
        </p:txBody>
      </p:sp>
      <p:sp>
        <p:nvSpPr>
          <p:cNvPr id="3" name="CuadroTexto 2">
            <a:extLst>
              <a:ext uri="{FF2B5EF4-FFF2-40B4-BE49-F238E27FC236}">
                <a16:creationId xmlns:a16="http://schemas.microsoft.com/office/drawing/2014/main" id="{77743C7C-F40B-4D42-AE0A-01927DA3CEA3}"/>
              </a:ext>
            </a:extLst>
          </p:cNvPr>
          <p:cNvSpPr txBox="1"/>
          <p:nvPr/>
        </p:nvSpPr>
        <p:spPr>
          <a:xfrm>
            <a:off x="663218" y="1878670"/>
            <a:ext cx="108655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Haciendo innovación de valor es posible:</a:t>
            </a:r>
          </a:p>
        </p:txBody>
      </p:sp>
      <p:sp>
        <p:nvSpPr>
          <p:cNvPr id="4" name="Rectángulo 6">
            <a:extLst>
              <a:ext uri="{FF2B5EF4-FFF2-40B4-BE49-F238E27FC236}">
                <a16:creationId xmlns:a16="http://schemas.microsoft.com/office/drawing/2014/main" id="{26E5E072-A2E1-4AAB-A15C-4FDC2EC98010}"/>
              </a:ext>
            </a:extLst>
          </p:cNvPr>
          <p:cNvSpPr/>
          <p:nvPr/>
        </p:nvSpPr>
        <p:spPr>
          <a:xfrm>
            <a:off x="8080694" y="3056506"/>
            <a:ext cx="3457331" cy="182347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251999" tIns="503998" rIns="251999" rtlCol="0" anchor="ctr"/>
          <a:lstStyle>
            <a:defPPr>
              <a:defRPr lang="es-C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solidFill>
                  <a:srgbClr val="FFFFFF"/>
                </a:solidFill>
                <a:effectLst/>
                <a:uLnTx/>
                <a:uFillTx/>
                <a:latin typeface="Montserrat" panose="00000500000000000000" pitchFamily="2" charset="0"/>
                <a:ea typeface="+mn-ea"/>
                <a:cs typeface="+mn-cs"/>
              </a:rPr>
              <a:t>Diseñar</a:t>
            </a:r>
            <a:r>
              <a:rPr kumimoji="0" lang="es-CL" sz="1400" b="0" i="0" u="none" strike="noStrike" kern="1200" cap="none" spc="0" normalizeH="0" baseline="0" noProof="0">
                <a:ln>
                  <a:noFill/>
                </a:ln>
                <a:solidFill>
                  <a:srgbClr val="FFFFFF"/>
                </a:solidFill>
                <a:effectLst/>
                <a:uLnTx/>
                <a:uFillTx/>
                <a:latin typeface="Montserrat" panose="00000500000000000000" pitchFamily="2" charset="0"/>
                <a:ea typeface="+mn-ea"/>
                <a:cs typeface="+mn-cs"/>
              </a:rPr>
              <a:t> productos que se ajusten a las demandas de los clientes, generando </a:t>
            </a:r>
            <a:r>
              <a:rPr kumimoji="0" lang="es-CL" sz="1400" b="1" i="0" u="none" strike="noStrike" kern="1200" cap="none" spc="0" normalizeH="0" baseline="0" noProof="0">
                <a:ln>
                  <a:noFill/>
                </a:ln>
                <a:solidFill>
                  <a:srgbClr val="FFFFFF"/>
                </a:solidFill>
                <a:effectLst/>
                <a:uLnTx/>
                <a:uFillTx/>
                <a:latin typeface="Montserrat" panose="00000500000000000000" pitchFamily="2" charset="0"/>
                <a:ea typeface="+mn-ea"/>
                <a:cs typeface="+mn-cs"/>
              </a:rPr>
              <a:t>más valor </a:t>
            </a:r>
            <a:r>
              <a:rPr kumimoji="0" lang="es-CL" sz="1400" b="0" i="0" u="none" strike="noStrike" kern="1200" cap="none" spc="0" normalizeH="0" baseline="0" noProof="0">
                <a:ln>
                  <a:noFill/>
                </a:ln>
                <a:solidFill>
                  <a:srgbClr val="FFFFFF"/>
                </a:solidFill>
                <a:effectLst/>
                <a:uLnTx/>
                <a:uFillTx/>
                <a:latin typeface="Montserrat" panose="00000500000000000000" pitchFamily="2" charset="0"/>
                <a:ea typeface="+mn-ea"/>
                <a:cs typeface="+mn-cs"/>
              </a:rPr>
              <a:t>para el negocio y el usuario.</a:t>
            </a:r>
          </a:p>
        </p:txBody>
      </p:sp>
      <p:sp>
        <p:nvSpPr>
          <p:cNvPr id="5" name="Rectángulo 7">
            <a:extLst>
              <a:ext uri="{FF2B5EF4-FFF2-40B4-BE49-F238E27FC236}">
                <a16:creationId xmlns:a16="http://schemas.microsoft.com/office/drawing/2014/main" id="{AD30BD7A-E794-48D2-BA96-D8E8FF74026E}"/>
              </a:ext>
            </a:extLst>
          </p:cNvPr>
          <p:cNvSpPr/>
          <p:nvPr/>
        </p:nvSpPr>
        <p:spPr>
          <a:xfrm>
            <a:off x="4372171" y="3056507"/>
            <a:ext cx="3457331" cy="182347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251999" tIns="503998" rIns="251999" rtlCol="0" anchor="ctr"/>
          <a:lstStyle>
            <a:defPPr>
              <a:defRPr lang="es-C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solidFill>
                  <a:srgbClr val="FFFFFF"/>
                </a:solidFill>
                <a:effectLst/>
                <a:uLnTx/>
                <a:uFillTx/>
                <a:latin typeface="Montserrat" panose="00000500000000000000" pitchFamily="2" charset="0"/>
                <a:ea typeface="+mn-ea"/>
                <a:cs typeface="+mn-cs"/>
              </a:rPr>
              <a:t>Crear</a:t>
            </a:r>
            <a:r>
              <a:rPr kumimoji="0" lang="es-CL" sz="1400" b="0" i="0" u="none" strike="noStrike" kern="1200" cap="none" spc="0" normalizeH="0" baseline="0" noProof="0">
                <a:ln>
                  <a:noFill/>
                </a:ln>
                <a:solidFill>
                  <a:srgbClr val="FFFFFF"/>
                </a:solidFill>
                <a:effectLst/>
                <a:uLnTx/>
                <a:uFillTx/>
                <a:latin typeface="Montserrat" panose="00000500000000000000" pitchFamily="2" charset="0"/>
                <a:ea typeface="+mn-ea"/>
                <a:cs typeface="+mn-cs"/>
              </a:rPr>
              <a:t> mercados en áreas que signifiquen nuevas</a:t>
            </a:r>
            <a:r>
              <a:rPr kumimoji="0" lang="es-CL" sz="1400" b="1" i="0" u="none" strike="noStrike" kern="1200" cap="none" spc="0" normalizeH="0" baseline="0" noProof="0">
                <a:ln>
                  <a:noFill/>
                </a:ln>
                <a:solidFill>
                  <a:srgbClr val="FFFFFF"/>
                </a:solidFill>
                <a:effectLst/>
                <a:uLnTx/>
                <a:uFillTx/>
                <a:latin typeface="Montserrat" panose="00000500000000000000" pitchFamily="2" charset="0"/>
                <a:ea typeface="+mn-ea"/>
                <a:cs typeface="+mn-cs"/>
              </a:rPr>
              <a:t> oportunidades de crecimiento</a:t>
            </a:r>
            <a:r>
              <a:rPr kumimoji="0" lang="es-CL" sz="1400" b="0" i="0" u="none" strike="noStrike" kern="1200" cap="none" spc="0" normalizeH="0" baseline="0" noProof="0">
                <a:ln>
                  <a:noFill/>
                </a:ln>
                <a:solidFill>
                  <a:srgbClr val="FFFFFF"/>
                </a:solidFill>
                <a:effectLst/>
                <a:uLnTx/>
                <a:uFillTx/>
                <a:latin typeface="Montserrat" panose="00000500000000000000" pitchFamily="2" charset="0"/>
                <a:ea typeface="+mn-ea"/>
                <a:cs typeface="+mn-cs"/>
              </a:rPr>
              <a:t> rentable y sostenible a largo plazo.</a:t>
            </a:r>
          </a:p>
        </p:txBody>
      </p:sp>
      <p:sp>
        <p:nvSpPr>
          <p:cNvPr id="6" name="Rectángulo 8">
            <a:extLst>
              <a:ext uri="{FF2B5EF4-FFF2-40B4-BE49-F238E27FC236}">
                <a16:creationId xmlns:a16="http://schemas.microsoft.com/office/drawing/2014/main" id="{0C667419-A578-46E3-829F-45CBB070E3AE}"/>
              </a:ext>
            </a:extLst>
          </p:cNvPr>
          <p:cNvSpPr/>
          <p:nvPr/>
        </p:nvSpPr>
        <p:spPr>
          <a:xfrm>
            <a:off x="663218" y="3056506"/>
            <a:ext cx="3457331" cy="182347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251999" tIns="503999" rIns="251999" rtlCol="0" anchor="ctr"/>
          <a:lstStyle>
            <a:defPPr>
              <a:defRPr lang="es-C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dirty="0">
                <a:ln>
                  <a:noFill/>
                </a:ln>
                <a:solidFill>
                  <a:srgbClr val="FFFFFF"/>
                </a:solidFill>
                <a:effectLst/>
                <a:uLnTx/>
                <a:uFillTx/>
                <a:latin typeface="Montserrat" panose="00000500000000000000" pitchFamily="2" charset="0"/>
                <a:ea typeface="+mn-ea"/>
                <a:cs typeface="+mn-cs"/>
              </a:rPr>
              <a:t>Separarnos</a:t>
            </a:r>
            <a:r>
              <a:rPr kumimoji="0" lang="es-CL" sz="1400" b="0" i="0" u="none" strike="noStrike" kern="1200" cap="none" spc="0" normalizeH="0" baseline="0" noProof="0" dirty="0">
                <a:ln>
                  <a:noFill/>
                </a:ln>
                <a:solidFill>
                  <a:srgbClr val="FFFFFF"/>
                </a:solidFill>
                <a:effectLst/>
                <a:uLnTx/>
                <a:uFillTx/>
                <a:latin typeface="Montserrat" panose="00000500000000000000" pitchFamily="2" charset="0"/>
                <a:ea typeface="+mn-ea"/>
                <a:cs typeface="+mn-cs"/>
              </a:rPr>
              <a:t> de la </a:t>
            </a:r>
            <a:r>
              <a:rPr kumimoji="0" lang="es-CL" sz="1400" b="1" i="0" u="none" strike="noStrike" kern="1200" cap="none" spc="0" normalizeH="0" baseline="0" noProof="0" dirty="0">
                <a:ln>
                  <a:noFill/>
                </a:ln>
                <a:solidFill>
                  <a:srgbClr val="FFFFFF"/>
                </a:solidFill>
                <a:effectLst/>
                <a:uLnTx/>
                <a:uFillTx/>
                <a:latin typeface="Montserrat" panose="00000500000000000000" pitchFamily="2" charset="0"/>
                <a:ea typeface="+mn-ea"/>
                <a:cs typeface="+mn-cs"/>
              </a:rPr>
              <a:t>competencia</a:t>
            </a:r>
            <a:r>
              <a:rPr kumimoji="0" lang="es-CL" sz="1400" b="0" i="0" u="none" strike="noStrike" kern="1200" cap="none" spc="0" normalizeH="0" baseline="0" noProof="0" dirty="0">
                <a:ln>
                  <a:noFill/>
                </a:ln>
                <a:solidFill>
                  <a:srgbClr val="FFFFFF"/>
                </a:solidFill>
                <a:effectLst/>
                <a:uLnTx/>
                <a:uFillTx/>
                <a:latin typeface="Montserrat" panose="00000500000000000000" pitchFamily="2" charset="0"/>
                <a:ea typeface="+mn-ea"/>
                <a:cs typeface="+mn-cs"/>
              </a:rPr>
              <a:t> cabeza a cabeza con las demás compañías.</a:t>
            </a:r>
          </a:p>
        </p:txBody>
      </p:sp>
      <p:sp>
        <p:nvSpPr>
          <p:cNvPr id="7" name="Oval 29">
            <a:extLst>
              <a:ext uri="{FF2B5EF4-FFF2-40B4-BE49-F238E27FC236}">
                <a16:creationId xmlns:a16="http://schemas.microsoft.com/office/drawing/2014/main" id="{E9D9B639-9D81-44E7-98FE-B5D2E88EDA1B}"/>
              </a:ext>
            </a:extLst>
          </p:cNvPr>
          <p:cNvSpPr/>
          <p:nvPr/>
        </p:nvSpPr>
        <p:spPr>
          <a:xfrm>
            <a:off x="5502245" y="2410468"/>
            <a:ext cx="1196754" cy="1158670"/>
          </a:xfrm>
          <a:prstGeom prst="ellipse">
            <a:avLst/>
          </a:prstGeom>
          <a:solidFill>
            <a:schemeClr val="accent2"/>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C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FFFFFF"/>
              </a:solidFill>
              <a:effectLst/>
              <a:uLnTx/>
              <a:uFillTx/>
              <a:latin typeface="Montserrat" panose="00000500000000000000" pitchFamily="2" charset="0"/>
              <a:ea typeface="+mn-ea"/>
              <a:cs typeface="+mn-cs"/>
            </a:endParaRPr>
          </a:p>
        </p:txBody>
      </p:sp>
      <p:sp>
        <p:nvSpPr>
          <p:cNvPr id="8" name="Oval 30">
            <a:extLst>
              <a:ext uri="{FF2B5EF4-FFF2-40B4-BE49-F238E27FC236}">
                <a16:creationId xmlns:a16="http://schemas.microsoft.com/office/drawing/2014/main" id="{0BFF3BB3-A798-4D0E-AFE7-2DF81F76DE24}"/>
              </a:ext>
            </a:extLst>
          </p:cNvPr>
          <p:cNvSpPr/>
          <p:nvPr/>
        </p:nvSpPr>
        <p:spPr>
          <a:xfrm>
            <a:off x="9210983" y="2410468"/>
            <a:ext cx="1196754" cy="1158670"/>
          </a:xfrm>
          <a:prstGeom prst="ellipse">
            <a:avLst/>
          </a:prstGeom>
          <a:solidFill>
            <a:schemeClr val="accent2"/>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C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FFFFFF"/>
              </a:solidFill>
              <a:effectLst/>
              <a:uLnTx/>
              <a:uFillTx/>
              <a:latin typeface="Montserrat" panose="00000500000000000000" pitchFamily="2" charset="0"/>
              <a:ea typeface="+mn-ea"/>
              <a:cs typeface="+mn-cs"/>
            </a:endParaRPr>
          </a:p>
        </p:txBody>
      </p:sp>
      <p:sp>
        <p:nvSpPr>
          <p:cNvPr id="9" name="Oval 31">
            <a:extLst>
              <a:ext uri="{FF2B5EF4-FFF2-40B4-BE49-F238E27FC236}">
                <a16:creationId xmlns:a16="http://schemas.microsoft.com/office/drawing/2014/main" id="{C3C91FDC-BA38-4532-A5AC-4957DA4EFFBC}"/>
              </a:ext>
            </a:extLst>
          </p:cNvPr>
          <p:cNvSpPr/>
          <p:nvPr/>
        </p:nvSpPr>
        <p:spPr>
          <a:xfrm>
            <a:off x="1793507" y="2422448"/>
            <a:ext cx="1196754" cy="1158670"/>
          </a:xfrm>
          <a:prstGeom prst="ellipse">
            <a:avLst/>
          </a:prstGeom>
          <a:solidFill>
            <a:schemeClr val="accent2"/>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C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FFFFFF"/>
              </a:solidFill>
              <a:effectLst/>
              <a:uLnTx/>
              <a:uFillTx/>
              <a:latin typeface="Montserrat" panose="00000500000000000000" pitchFamily="2" charset="0"/>
              <a:ea typeface="+mn-ea"/>
              <a:cs typeface="+mn-cs"/>
            </a:endParaRPr>
          </a:p>
        </p:txBody>
      </p:sp>
      <p:pic>
        <p:nvPicPr>
          <p:cNvPr id="10" name="Gráfico 2">
            <a:extLst>
              <a:ext uri="{FF2B5EF4-FFF2-40B4-BE49-F238E27FC236}">
                <a16:creationId xmlns:a16="http://schemas.microsoft.com/office/drawing/2014/main" id="{C0457094-AC9C-4CAC-AD07-E6FF20A0BE7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34137" y="2739771"/>
            <a:ext cx="540000" cy="540000"/>
          </a:xfrm>
          <a:prstGeom prst="rect">
            <a:avLst/>
          </a:prstGeom>
        </p:spPr>
      </p:pic>
      <p:pic>
        <p:nvPicPr>
          <p:cNvPr id="11" name="Gráfico 13">
            <a:extLst>
              <a:ext uri="{FF2B5EF4-FFF2-40B4-BE49-F238E27FC236}">
                <a16:creationId xmlns:a16="http://schemas.microsoft.com/office/drawing/2014/main" id="{917A7473-E9F9-48AE-8B61-C42CB1E1EC2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63176" y="2730248"/>
            <a:ext cx="540000" cy="540000"/>
          </a:xfrm>
          <a:prstGeom prst="rect">
            <a:avLst/>
          </a:prstGeom>
        </p:spPr>
      </p:pic>
      <p:pic>
        <p:nvPicPr>
          <p:cNvPr id="12" name="Gráfico 15">
            <a:extLst>
              <a:ext uri="{FF2B5EF4-FFF2-40B4-BE49-F238E27FC236}">
                <a16:creationId xmlns:a16="http://schemas.microsoft.com/office/drawing/2014/main" id="{CC71D7C7-A720-49D4-8E6C-8388A676463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76524" y="2701671"/>
            <a:ext cx="612000" cy="612000"/>
          </a:xfrm>
          <a:prstGeom prst="rect">
            <a:avLst/>
          </a:prstGeom>
        </p:spPr>
      </p:pic>
      <p:sp>
        <p:nvSpPr>
          <p:cNvPr id="13" name="CuadroTexto 12">
            <a:extLst>
              <a:ext uri="{FF2B5EF4-FFF2-40B4-BE49-F238E27FC236}">
                <a16:creationId xmlns:a16="http://schemas.microsoft.com/office/drawing/2014/main" id="{9F936E0C-9B9D-47E4-AAA2-3538D6C7CB3A}"/>
              </a:ext>
            </a:extLst>
          </p:cNvPr>
          <p:cNvSpPr txBox="1"/>
          <p:nvPr/>
        </p:nvSpPr>
        <p:spPr>
          <a:xfrm>
            <a:off x="663218" y="5234811"/>
            <a:ext cx="1086556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Por lo tanto, tiene como objetivo </a:t>
            </a:r>
            <a:r>
              <a:rPr kumimoji="0" lang="es-CL" sz="1800" b="1"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mejorar la posición y diferenciación respecto a la competencia mientras se disminuyen los costos.</a:t>
            </a:r>
          </a:p>
        </p:txBody>
      </p:sp>
    </p:spTree>
    <p:extLst>
      <p:ext uri="{BB962C8B-B14F-4D97-AF65-F5344CB8AC3E}">
        <p14:creationId xmlns:p14="http://schemas.microsoft.com/office/powerpoint/2010/main" val="41759914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47C881BD-2401-430C-87A4-F167E9B609A7}"/>
              </a:ext>
            </a:extLst>
          </p:cNvPr>
          <p:cNvSpPr>
            <a:spLocks noGrp="1"/>
          </p:cNvSpPr>
          <p:nvPr>
            <p:ph type="sldNum" sz="quarter" idx="10"/>
          </p:nvPr>
        </p:nvSpPr>
        <p:spPr>
          <a:xfrm>
            <a:off x="0" y="0"/>
            <a:ext cx="0" cy="0"/>
          </a:xfrm>
        </p:spPr>
        <p:txBody>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6DCD2E88-FB2D-433C-9D8E-619456E097C2}" type="datetimeFigureOut">
              <a:rPr lang="es-CL" smtClean="0">
                <a:solidFill>
                  <a:srgbClr val="000000"/>
                </a:solidFill>
                <a:latin typeface="Raleway"/>
              </a:rPr>
              <a:pPr>
                <a:defRPr/>
              </a:pPr>
              <a:t>05-03-26</a:t>
            </a:fld>
            <a:endParaRPr lang="en-US"/>
          </a:p>
        </p:txBody>
      </p:sp>
      <p:pic>
        <p:nvPicPr>
          <p:cNvPr id="82946" name="Picture 2" descr="Apple iPod Classic 80GB, TU MÚSICA DIGITAL | Retro Review en ...">
            <a:extLst>
              <a:ext uri="{FF2B5EF4-FFF2-40B4-BE49-F238E27FC236}">
                <a16:creationId xmlns:a16="http://schemas.microsoft.com/office/drawing/2014/main" id="{21E3C032-E5A7-474E-B4E0-443EFC05F3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096000" cy="3429000"/>
          </a:xfrm>
          <a:prstGeom prst="rect">
            <a:avLst/>
          </a:prstGeom>
          <a:noFill/>
          <a:extLst>
            <a:ext uri="{909E8E84-426E-40DD-AFC4-6F175D3DCCD1}">
              <a14:hiddenFill xmlns:a14="http://schemas.microsoft.com/office/drawing/2010/main">
                <a:solidFill>
                  <a:srgbClr val="FFFFFF"/>
                </a:solidFill>
              </a14:hiddenFill>
            </a:ext>
          </a:extLst>
        </p:spPr>
      </p:pic>
      <p:pic>
        <p:nvPicPr>
          <p:cNvPr id="82950" name="Picture 6" descr="Fiasco en la presentación de la pick-up irrompible de Tesla - AIRBAG">
            <a:extLst>
              <a:ext uri="{FF2B5EF4-FFF2-40B4-BE49-F238E27FC236}">
                <a16:creationId xmlns:a16="http://schemas.microsoft.com/office/drawing/2014/main" id="{BE5B8C46-9CFB-4722-8565-B1E25A88BB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0"/>
            <a:ext cx="6096000" cy="3429000"/>
          </a:xfrm>
          <a:prstGeom prst="rect">
            <a:avLst/>
          </a:prstGeom>
          <a:noFill/>
          <a:extLst>
            <a:ext uri="{909E8E84-426E-40DD-AFC4-6F175D3DCCD1}">
              <a14:hiddenFill xmlns:a14="http://schemas.microsoft.com/office/drawing/2010/main">
                <a:solidFill>
                  <a:srgbClr val="FFFFFF"/>
                </a:solidFill>
              </a14:hiddenFill>
            </a:ext>
          </a:extLst>
        </p:spPr>
      </p:pic>
      <p:pic>
        <p:nvPicPr>
          <p:cNvPr id="82952" name="Picture 8" descr="Nintendo sufre una de las peores filtraciones de su historia y se ...">
            <a:extLst>
              <a:ext uri="{FF2B5EF4-FFF2-40B4-BE49-F238E27FC236}">
                <a16:creationId xmlns:a16="http://schemas.microsoft.com/office/drawing/2014/main" id="{BFA02D10-4336-4B18-9DCE-E14C319F6A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3428999"/>
            <a:ext cx="6095999" cy="3413759"/>
          </a:xfrm>
          <a:prstGeom prst="rect">
            <a:avLst/>
          </a:prstGeom>
          <a:noFill/>
          <a:extLst>
            <a:ext uri="{909E8E84-426E-40DD-AFC4-6F175D3DCCD1}">
              <a14:hiddenFill xmlns:a14="http://schemas.microsoft.com/office/drawing/2010/main">
                <a:solidFill>
                  <a:srgbClr val="FFFFFF"/>
                </a:solidFill>
              </a14:hiddenFill>
            </a:ext>
          </a:extLst>
        </p:spPr>
      </p:pic>
      <p:pic>
        <p:nvPicPr>
          <p:cNvPr id="82954" name="Picture 10" descr="Amazon Kindle Paperwhite 2018 review: The e-book reader for the ...">
            <a:extLst>
              <a:ext uri="{FF2B5EF4-FFF2-40B4-BE49-F238E27FC236}">
                <a16:creationId xmlns:a16="http://schemas.microsoft.com/office/drawing/2014/main" id="{C0D40FC5-EE45-499A-A4A8-8E1197DA7CB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5998" y="3428999"/>
            <a:ext cx="6095998" cy="3428999"/>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15">
            <a:extLst>
              <a:ext uri="{FF2B5EF4-FFF2-40B4-BE49-F238E27FC236}">
                <a16:creationId xmlns:a16="http://schemas.microsoft.com/office/drawing/2014/main" id="{338A86D1-C35C-4472-8FD8-9AEFEC351B65}"/>
              </a:ext>
            </a:extLst>
          </p:cNvPr>
          <p:cNvSpPr txBox="1"/>
          <p:nvPr/>
        </p:nvSpPr>
        <p:spPr>
          <a:xfrm>
            <a:off x="3489767" y="3129918"/>
            <a:ext cx="5472052" cy="567682"/>
          </a:xfrm>
          <a:prstGeom prst="roundRect">
            <a:avLst/>
          </a:prstGeom>
          <a:gradFill>
            <a:gsLst>
              <a:gs pos="46000">
                <a:srgbClr val="6036E0">
                  <a:alpha val="80000"/>
                </a:srgbClr>
              </a:gs>
              <a:gs pos="86000">
                <a:srgbClr val="3599FC">
                  <a:alpha val="73000"/>
                </a:srgbClr>
              </a:gs>
            </a:gsLst>
            <a:lin ang="17400000" scaled="0"/>
          </a:gradFill>
        </p:spPr>
        <p:txBody>
          <a:bodyPr wrap="square" lIns="163001" tIns="81494" rIns="163001" bIns="81494" rtlCol="0" anchor="ctr">
            <a:noAutofit/>
          </a:bodyPr>
          <a:lstStyle/>
          <a:p>
            <a:pPr algn="ctr" defTabSz="544288">
              <a:lnSpc>
                <a:spcPct val="114000"/>
              </a:lnSpc>
              <a:spcBef>
                <a:spcPts val="200"/>
              </a:spcBef>
            </a:pPr>
            <a:r>
              <a:rPr lang="es-CL" b="1" dirty="0">
                <a:solidFill>
                  <a:srgbClr val="FFFFFF"/>
                </a:solidFill>
                <a:effectLst>
                  <a:outerShdw blurRad="38100" dist="38100" dir="2700000" algn="tl">
                    <a:srgbClr val="000000">
                      <a:alpha val="43137"/>
                    </a:srgbClr>
                  </a:outerShdw>
                </a:effectLst>
              </a:rPr>
              <a:t>Un producto crea un nuevo espacio</a:t>
            </a:r>
            <a:endParaRPr lang="es-CL" sz="1400" b="1" dirty="0">
              <a:solidFill>
                <a:srgbClr val="FFFFFF"/>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9185554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F688DF-D655-4A53-AF64-8D48290249D2}"/>
              </a:ext>
            </a:extLst>
          </p:cNvPr>
          <p:cNvSpPr txBox="1"/>
          <p:nvPr/>
        </p:nvSpPr>
        <p:spPr>
          <a:xfrm>
            <a:off x="654407" y="536402"/>
            <a:ext cx="1087436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2400" b="0" i="0" u="none" strike="noStrike" kern="1200" cap="none" spc="0" normalizeH="0" baseline="0" noProof="0" dirty="0">
                <a:ln>
                  <a:noFill/>
                </a:ln>
                <a:solidFill>
                  <a:srgbClr val="000000"/>
                </a:solidFill>
                <a:effectLst/>
                <a:uLnTx/>
                <a:uFillTx/>
                <a:latin typeface="Montserrat SemiBold" pitchFamily="2" charset="0"/>
                <a:ea typeface="+mn-ea"/>
                <a:cs typeface="+mn-cs"/>
              </a:rPr>
              <a:t>¿Cuáles son las diferencias entre la lógica convencional y la innovación de valor?</a:t>
            </a:r>
          </a:p>
        </p:txBody>
      </p:sp>
      <p:sp>
        <p:nvSpPr>
          <p:cNvPr id="4" name="Text Placeholder 9">
            <a:extLst>
              <a:ext uri="{FF2B5EF4-FFF2-40B4-BE49-F238E27FC236}">
                <a16:creationId xmlns:a16="http://schemas.microsoft.com/office/drawing/2014/main" id="{95E78D75-25CC-4DD0-B2B9-160183D7B929}"/>
              </a:ext>
            </a:extLst>
          </p:cNvPr>
          <p:cNvSpPr txBox="1">
            <a:spLocks/>
          </p:cNvSpPr>
          <p:nvPr/>
        </p:nvSpPr>
        <p:spPr>
          <a:xfrm>
            <a:off x="7558983" y="1977716"/>
            <a:ext cx="3969771" cy="797069"/>
          </a:xfrm>
          <a:prstGeom prst="rect">
            <a:avLst/>
          </a:prstGeom>
          <a:solidFill>
            <a:schemeClr val="accent3"/>
          </a:solidFill>
          <a:ln w="28575">
            <a:solidFill>
              <a:schemeClr val="accent2"/>
            </a:solidFill>
          </a:ln>
        </p:spPr>
        <p:txBody>
          <a:bodyPr vert="horz" lIns="360000" tIns="0" rIns="360000" bIns="0" rtlCol="0" anchor="ctr">
            <a:noAutofit/>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solidFill>
                <a:effectLst/>
                <a:uLnTx/>
                <a:uFillTx/>
                <a:latin typeface="Montserrat" panose="00000500000000000000" pitchFamily="2" charset="0"/>
                <a:ea typeface="+mn-ea"/>
                <a:cs typeface="+mn-cs"/>
              </a:rPr>
              <a:t>Las condiciones de la industria pueden moldearse.</a:t>
            </a:r>
          </a:p>
        </p:txBody>
      </p:sp>
      <p:sp>
        <p:nvSpPr>
          <p:cNvPr id="5" name="Text Placeholder 9">
            <a:extLst>
              <a:ext uri="{FF2B5EF4-FFF2-40B4-BE49-F238E27FC236}">
                <a16:creationId xmlns:a16="http://schemas.microsoft.com/office/drawing/2014/main" id="{E65AE79C-92C0-437D-ACAE-D149E547C145}"/>
              </a:ext>
            </a:extLst>
          </p:cNvPr>
          <p:cNvSpPr txBox="1">
            <a:spLocks/>
          </p:cNvSpPr>
          <p:nvPr/>
        </p:nvSpPr>
        <p:spPr>
          <a:xfrm>
            <a:off x="3132569" y="1977717"/>
            <a:ext cx="3969771" cy="797069"/>
          </a:xfrm>
          <a:prstGeom prst="rect">
            <a:avLst/>
          </a:prstGeom>
          <a:solidFill>
            <a:schemeClr val="accent3"/>
          </a:solidFill>
          <a:ln w="28575">
            <a:solidFill>
              <a:schemeClr val="accent2"/>
            </a:solidFill>
          </a:ln>
        </p:spPr>
        <p:txBody>
          <a:bodyPr vert="horz" lIns="360000" tIns="0" rIns="360000" bIns="0" rtlCol="0" anchor="ctr">
            <a:noAutofit/>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solidFill>
                <a:effectLst/>
                <a:uLnTx/>
                <a:uFillTx/>
                <a:latin typeface="Montserrat" panose="00000500000000000000" pitchFamily="2" charset="0"/>
                <a:ea typeface="+mn-ea"/>
                <a:cs typeface="+mn-cs"/>
              </a:rPr>
              <a:t>Las condiciones de la industria están establecidas.</a:t>
            </a:r>
          </a:p>
        </p:txBody>
      </p:sp>
      <p:sp>
        <p:nvSpPr>
          <p:cNvPr id="6" name="Rectángulo: esquinas redondeadas 14">
            <a:extLst>
              <a:ext uri="{FF2B5EF4-FFF2-40B4-BE49-F238E27FC236}">
                <a16:creationId xmlns:a16="http://schemas.microsoft.com/office/drawing/2014/main" id="{4CC5679A-E3B3-4DAD-82D5-050BB18EAADF}"/>
              </a:ext>
            </a:extLst>
          </p:cNvPr>
          <p:cNvSpPr/>
          <p:nvPr/>
        </p:nvSpPr>
        <p:spPr>
          <a:xfrm>
            <a:off x="7892669" y="1591146"/>
            <a:ext cx="3342707" cy="381381"/>
          </a:xfrm>
          <a:prstGeom prst="roundRect">
            <a:avLst>
              <a:gd name="adj" fmla="val 0"/>
            </a:avLst>
          </a:prstGeom>
          <a:solidFill>
            <a:schemeClr val="accent2"/>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C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300" normalizeH="0" baseline="0" noProof="0">
                <a:ln>
                  <a:noFill/>
                </a:ln>
                <a:solidFill>
                  <a:srgbClr val="FFFFFF"/>
                </a:solidFill>
                <a:effectLst/>
                <a:uLnTx/>
                <a:uFillTx/>
                <a:latin typeface="Montserrat" panose="00000500000000000000" pitchFamily="2" charset="0"/>
                <a:ea typeface="+mn-ea"/>
                <a:cs typeface="+mn-cs"/>
              </a:rPr>
              <a:t>INNOVACIÓN DE VALOR</a:t>
            </a:r>
          </a:p>
        </p:txBody>
      </p:sp>
      <p:sp>
        <p:nvSpPr>
          <p:cNvPr id="7" name="Text Placeholder 9">
            <a:extLst>
              <a:ext uri="{FF2B5EF4-FFF2-40B4-BE49-F238E27FC236}">
                <a16:creationId xmlns:a16="http://schemas.microsoft.com/office/drawing/2014/main" id="{E1E64056-F1B1-4363-B2D6-59D3C783991F}"/>
              </a:ext>
            </a:extLst>
          </p:cNvPr>
          <p:cNvSpPr txBox="1">
            <a:spLocks/>
          </p:cNvSpPr>
          <p:nvPr/>
        </p:nvSpPr>
        <p:spPr>
          <a:xfrm>
            <a:off x="7558997" y="2864420"/>
            <a:ext cx="3969771" cy="797069"/>
          </a:xfrm>
          <a:prstGeom prst="rect">
            <a:avLst/>
          </a:prstGeom>
          <a:solidFill>
            <a:schemeClr val="accent3"/>
          </a:solidFill>
          <a:ln w="28575">
            <a:solidFill>
              <a:schemeClr val="accent2"/>
            </a:solidFill>
          </a:ln>
        </p:spPr>
        <p:txBody>
          <a:bodyPr vert="horz" lIns="360000" tIns="0" rIns="360000" bIns="0" rtlCol="0" anchor="ctr">
            <a:noAutofit/>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solidFill>
                <a:effectLst/>
                <a:uLnTx/>
                <a:uFillTx/>
                <a:latin typeface="Montserrat" panose="00000500000000000000" pitchFamily="2" charset="0"/>
                <a:ea typeface="+mn-ea"/>
                <a:cs typeface="+mn-cs"/>
              </a:rPr>
              <a:t>Una empresa debe buscar un salto cuantitativo en valor para dominar el mercado.</a:t>
            </a:r>
          </a:p>
        </p:txBody>
      </p:sp>
      <p:sp>
        <p:nvSpPr>
          <p:cNvPr id="8" name="Text Placeholder 9">
            <a:extLst>
              <a:ext uri="{FF2B5EF4-FFF2-40B4-BE49-F238E27FC236}">
                <a16:creationId xmlns:a16="http://schemas.microsoft.com/office/drawing/2014/main" id="{588C5FFE-C4BB-4BE5-A2A9-1C5FE09FB571}"/>
              </a:ext>
            </a:extLst>
          </p:cNvPr>
          <p:cNvSpPr txBox="1">
            <a:spLocks/>
          </p:cNvSpPr>
          <p:nvPr/>
        </p:nvSpPr>
        <p:spPr>
          <a:xfrm>
            <a:off x="3132569" y="2864420"/>
            <a:ext cx="3969771" cy="797069"/>
          </a:xfrm>
          <a:prstGeom prst="rect">
            <a:avLst/>
          </a:prstGeom>
          <a:solidFill>
            <a:schemeClr val="accent3"/>
          </a:solidFill>
          <a:ln w="28575">
            <a:solidFill>
              <a:schemeClr val="accent2"/>
            </a:solidFill>
          </a:ln>
        </p:spPr>
        <p:txBody>
          <a:bodyPr vert="horz" lIns="360000" tIns="0" rIns="360000" bIns="0" rtlCol="0" anchor="ctr">
            <a:noAutofit/>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solidFill>
                <a:effectLst/>
                <a:uLnTx/>
                <a:uFillTx/>
                <a:latin typeface="Montserrat" panose="00000500000000000000" pitchFamily="2" charset="0"/>
                <a:ea typeface="+mn-ea"/>
                <a:cs typeface="+mn-cs"/>
              </a:rPr>
              <a:t>Una empresa debe generar ventajas competitivas. El objetivo es vencer a la competencia.</a:t>
            </a:r>
          </a:p>
        </p:txBody>
      </p:sp>
      <p:sp>
        <p:nvSpPr>
          <p:cNvPr id="9" name="Text Placeholder 9">
            <a:extLst>
              <a:ext uri="{FF2B5EF4-FFF2-40B4-BE49-F238E27FC236}">
                <a16:creationId xmlns:a16="http://schemas.microsoft.com/office/drawing/2014/main" id="{AFC4B354-1EB7-4C08-96DE-A98774F36E6F}"/>
              </a:ext>
            </a:extLst>
          </p:cNvPr>
          <p:cNvSpPr txBox="1">
            <a:spLocks/>
          </p:cNvSpPr>
          <p:nvPr/>
        </p:nvSpPr>
        <p:spPr>
          <a:xfrm>
            <a:off x="7558983" y="3751123"/>
            <a:ext cx="3969771" cy="797069"/>
          </a:xfrm>
          <a:prstGeom prst="rect">
            <a:avLst/>
          </a:prstGeom>
          <a:solidFill>
            <a:schemeClr val="accent3"/>
          </a:solidFill>
          <a:ln w="28575">
            <a:solidFill>
              <a:schemeClr val="accent2"/>
            </a:solidFill>
          </a:ln>
        </p:spPr>
        <p:txBody>
          <a:bodyPr vert="horz" lIns="360000" tIns="0" rIns="360000" bIns="0" rtlCol="0" anchor="ctr">
            <a:noAutofit/>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solidFill>
                <a:effectLst/>
                <a:uLnTx/>
                <a:uFillTx/>
                <a:latin typeface="Montserrat" panose="00000500000000000000" pitchFamily="2" charset="0"/>
                <a:ea typeface="+mn-ea"/>
                <a:cs typeface="+mn-cs"/>
              </a:rPr>
              <a:t>Apuntan a la masa. Se centra en los puntos en común que son claves para los clientes, en lo que ellos realmente valoran.</a:t>
            </a:r>
          </a:p>
        </p:txBody>
      </p:sp>
      <p:sp>
        <p:nvSpPr>
          <p:cNvPr id="10" name="Text Placeholder 9">
            <a:extLst>
              <a:ext uri="{FF2B5EF4-FFF2-40B4-BE49-F238E27FC236}">
                <a16:creationId xmlns:a16="http://schemas.microsoft.com/office/drawing/2014/main" id="{63A2F93B-4316-469E-994A-D3F3D55ABE84}"/>
              </a:ext>
            </a:extLst>
          </p:cNvPr>
          <p:cNvSpPr txBox="1">
            <a:spLocks/>
          </p:cNvSpPr>
          <p:nvPr/>
        </p:nvSpPr>
        <p:spPr>
          <a:xfrm>
            <a:off x="3132569" y="3751123"/>
            <a:ext cx="3969771" cy="797069"/>
          </a:xfrm>
          <a:prstGeom prst="rect">
            <a:avLst/>
          </a:prstGeom>
          <a:solidFill>
            <a:schemeClr val="accent3"/>
          </a:solidFill>
          <a:ln w="28575">
            <a:solidFill>
              <a:schemeClr val="accent2"/>
            </a:solidFill>
          </a:ln>
        </p:spPr>
        <p:txBody>
          <a:bodyPr vert="horz" lIns="360000" tIns="0" rIns="360000" bIns="0" rtlCol="0" anchor="ctr">
            <a:noAutofit/>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solidFill>
                <a:effectLst/>
                <a:uLnTx/>
                <a:uFillTx/>
                <a:latin typeface="Montserrat" panose="00000500000000000000" pitchFamily="2" charset="0"/>
                <a:ea typeface="+mn-ea"/>
                <a:cs typeface="+mn-cs"/>
              </a:rPr>
              <a:t>Una empresa debe retener y ampliar su base de clientes mediante segmentación y personalización.</a:t>
            </a:r>
          </a:p>
        </p:txBody>
      </p:sp>
      <p:sp>
        <p:nvSpPr>
          <p:cNvPr id="11" name="Text Placeholder 9">
            <a:extLst>
              <a:ext uri="{FF2B5EF4-FFF2-40B4-BE49-F238E27FC236}">
                <a16:creationId xmlns:a16="http://schemas.microsoft.com/office/drawing/2014/main" id="{3C970AE8-6D28-499E-A31F-3E60F41D8D3B}"/>
              </a:ext>
            </a:extLst>
          </p:cNvPr>
          <p:cNvSpPr txBox="1">
            <a:spLocks/>
          </p:cNvSpPr>
          <p:nvPr/>
        </p:nvSpPr>
        <p:spPr>
          <a:xfrm>
            <a:off x="7558983" y="4637826"/>
            <a:ext cx="3969771" cy="797069"/>
          </a:xfrm>
          <a:prstGeom prst="rect">
            <a:avLst/>
          </a:prstGeom>
          <a:solidFill>
            <a:schemeClr val="accent3"/>
          </a:solidFill>
          <a:ln w="28575">
            <a:solidFill>
              <a:schemeClr val="accent2"/>
            </a:solidFill>
          </a:ln>
        </p:spPr>
        <p:txBody>
          <a:bodyPr vert="horz" lIns="360000" tIns="0" rIns="360000" bIns="0" rtlCol="0" anchor="ctr">
            <a:noAutofit/>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solidFill>
                <a:effectLst/>
                <a:uLnTx/>
                <a:uFillTx/>
                <a:latin typeface="Montserrat" panose="00000500000000000000" pitchFamily="2" charset="0"/>
                <a:ea typeface="+mn-ea"/>
                <a:cs typeface="+mn-cs"/>
              </a:rPr>
              <a:t>Una empresa no debe verse limitada por lo que ya tiene.</a:t>
            </a:r>
          </a:p>
        </p:txBody>
      </p:sp>
      <p:sp>
        <p:nvSpPr>
          <p:cNvPr id="12" name="Text Placeholder 9">
            <a:extLst>
              <a:ext uri="{FF2B5EF4-FFF2-40B4-BE49-F238E27FC236}">
                <a16:creationId xmlns:a16="http://schemas.microsoft.com/office/drawing/2014/main" id="{D3E44C2C-8D1C-434B-B77C-6EEB04F9B872}"/>
              </a:ext>
            </a:extLst>
          </p:cNvPr>
          <p:cNvSpPr txBox="1">
            <a:spLocks/>
          </p:cNvSpPr>
          <p:nvPr/>
        </p:nvSpPr>
        <p:spPr>
          <a:xfrm>
            <a:off x="3132569" y="4637826"/>
            <a:ext cx="3969771" cy="797069"/>
          </a:xfrm>
          <a:prstGeom prst="rect">
            <a:avLst/>
          </a:prstGeom>
          <a:solidFill>
            <a:schemeClr val="accent3"/>
          </a:solidFill>
          <a:ln w="28575">
            <a:solidFill>
              <a:schemeClr val="accent2"/>
            </a:solidFill>
          </a:ln>
        </p:spPr>
        <p:txBody>
          <a:bodyPr vert="horz" lIns="360000" tIns="0" rIns="360000" bIns="0" rtlCol="0" anchor="ctr">
            <a:noAutofit/>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solidFill>
                <a:effectLst/>
                <a:uLnTx/>
                <a:uFillTx/>
                <a:latin typeface="Montserrat" panose="00000500000000000000" pitchFamily="2" charset="0"/>
                <a:ea typeface="+mn-ea"/>
                <a:cs typeface="+mn-cs"/>
              </a:rPr>
              <a:t>Una empresa debe aprovechar sus activos y capacidades existentes</a:t>
            </a:r>
            <a:r>
              <a:rPr kumimoji="0" lang="es-CL" sz="1200" b="0" i="0" u="none" strike="noStrike" kern="1200" cap="none" spc="0" normalizeH="0" baseline="0" noProof="0" dirty="0">
                <a:ln>
                  <a:noFill/>
                </a:ln>
                <a:solidFill>
                  <a:srgbClr val="FFFFFF"/>
                </a:solidFill>
                <a:effectLst/>
                <a:uLnTx/>
                <a:uFillTx/>
                <a:latin typeface="Montserrat" panose="00000500000000000000" pitchFamily="2" charset="0"/>
                <a:ea typeface="+mn-ea"/>
                <a:cs typeface="+mn-cs"/>
              </a:rPr>
              <a:t>.</a:t>
            </a:r>
            <a:endParaRPr kumimoji="0" lang="es-CL" sz="1200" b="0" i="0" u="none" strike="noStrike" kern="1200" cap="none" spc="0" normalizeH="0" baseline="0" noProof="0">
              <a:ln>
                <a:noFill/>
              </a:ln>
              <a:solidFill>
                <a:srgbClr val="FFFFFF"/>
              </a:solidFill>
              <a:effectLst/>
              <a:uLnTx/>
              <a:uFillTx/>
              <a:latin typeface="Montserrat" panose="00000500000000000000" pitchFamily="2" charset="0"/>
              <a:ea typeface="+mn-ea"/>
              <a:cs typeface="+mn-cs"/>
            </a:endParaRPr>
          </a:p>
        </p:txBody>
      </p:sp>
      <p:sp>
        <p:nvSpPr>
          <p:cNvPr id="13" name="Text Placeholder 9">
            <a:extLst>
              <a:ext uri="{FF2B5EF4-FFF2-40B4-BE49-F238E27FC236}">
                <a16:creationId xmlns:a16="http://schemas.microsoft.com/office/drawing/2014/main" id="{FA1FC209-6FAB-4CD1-9746-2BAC7D37FB7F}"/>
              </a:ext>
            </a:extLst>
          </p:cNvPr>
          <p:cNvSpPr txBox="1">
            <a:spLocks/>
          </p:cNvSpPr>
          <p:nvPr/>
        </p:nvSpPr>
        <p:spPr>
          <a:xfrm>
            <a:off x="7558997" y="5524528"/>
            <a:ext cx="3969771" cy="797069"/>
          </a:xfrm>
          <a:prstGeom prst="rect">
            <a:avLst/>
          </a:prstGeom>
          <a:solidFill>
            <a:schemeClr val="accent3"/>
          </a:solidFill>
          <a:ln w="28575">
            <a:solidFill>
              <a:schemeClr val="accent2"/>
            </a:solidFill>
          </a:ln>
        </p:spPr>
        <p:txBody>
          <a:bodyPr vert="horz" lIns="360000" tIns="0" rIns="360000" bIns="0" rtlCol="0" anchor="ctr">
            <a:noAutofit/>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solidFill>
                <a:effectLst/>
                <a:uLnTx/>
                <a:uFillTx/>
                <a:latin typeface="Montserrat" panose="00000500000000000000" pitchFamily="2" charset="0"/>
                <a:ea typeface="+mn-ea"/>
                <a:cs typeface="+mn-cs"/>
              </a:rPr>
              <a:t>Piensan en términos de la solución total que buscan los clientes, incluso si eso lleva a la empresa más allá de las ofertas tradicionales de la industria.</a:t>
            </a:r>
          </a:p>
        </p:txBody>
      </p:sp>
      <p:sp>
        <p:nvSpPr>
          <p:cNvPr id="14" name="Text Placeholder 9">
            <a:extLst>
              <a:ext uri="{FF2B5EF4-FFF2-40B4-BE49-F238E27FC236}">
                <a16:creationId xmlns:a16="http://schemas.microsoft.com/office/drawing/2014/main" id="{7DDC4202-A352-4EDC-B68D-92C9597B117B}"/>
              </a:ext>
            </a:extLst>
          </p:cNvPr>
          <p:cNvSpPr txBox="1">
            <a:spLocks/>
          </p:cNvSpPr>
          <p:nvPr/>
        </p:nvSpPr>
        <p:spPr>
          <a:xfrm>
            <a:off x="3132583" y="5524529"/>
            <a:ext cx="3969771" cy="797069"/>
          </a:xfrm>
          <a:prstGeom prst="rect">
            <a:avLst/>
          </a:prstGeom>
          <a:solidFill>
            <a:schemeClr val="accent3"/>
          </a:solidFill>
          <a:ln w="28575">
            <a:solidFill>
              <a:schemeClr val="accent2"/>
            </a:solidFill>
          </a:ln>
        </p:spPr>
        <p:txBody>
          <a:bodyPr vert="horz" lIns="360000" tIns="0" rIns="360000" bIns="0" rtlCol="0" anchor="ctr">
            <a:noAutofit/>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solidFill>
                <a:effectLst/>
                <a:uLnTx/>
                <a:uFillTx/>
                <a:latin typeface="Montserrat" panose="00000500000000000000" pitchFamily="2" charset="0"/>
                <a:ea typeface="+mn-ea"/>
                <a:cs typeface="+mn-cs"/>
              </a:rPr>
              <a:t>Los límites tradicionales de una industria determinan los productos y servicios que ofrece una empresa.</a:t>
            </a:r>
          </a:p>
        </p:txBody>
      </p:sp>
      <p:sp>
        <p:nvSpPr>
          <p:cNvPr id="15" name="Text Placeholder 9">
            <a:extLst>
              <a:ext uri="{FF2B5EF4-FFF2-40B4-BE49-F238E27FC236}">
                <a16:creationId xmlns:a16="http://schemas.microsoft.com/office/drawing/2014/main" id="{715A096B-750C-467B-B382-D7A80781141A}"/>
              </a:ext>
            </a:extLst>
          </p:cNvPr>
          <p:cNvSpPr txBox="1">
            <a:spLocks/>
          </p:cNvSpPr>
          <p:nvPr/>
        </p:nvSpPr>
        <p:spPr>
          <a:xfrm>
            <a:off x="654407" y="1977716"/>
            <a:ext cx="2036902" cy="797069"/>
          </a:xfrm>
          <a:prstGeom prst="rect">
            <a:avLst/>
          </a:prstGeom>
          <a:solidFill>
            <a:schemeClr val="accent2"/>
          </a:solidFill>
          <a:ln w="28575">
            <a:solidFill>
              <a:schemeClr val="accent2"/>
            </a:solidFill>
          </a:ln>
        </p:spPr>
        <p:txBody>
          <a:bodyPr vert="horz" lIns="360000" tIns="0" rIns="360000" bIns="0" rtlCol="0" anchor="ctr">
            <a:noAutofit/>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dirty="0">
                <a:ln>
                  <a:noFill/>
                </a:ln>
                <a:solidFill>
                  <a:srgbClr val="FFFFFF"/>
                </a:solidFill>
                <a:effectLst/>
                <a:uLnTx/>
                <a:uFillTx/>
                <a:latin typeface="Montserrat" panose="00000500000000000000" pitchFamily="2" charset="0"/>
                <a:ea typeface="+mn-ea"/>
                <a:cs typeface="+mn-cs"/>
              </a:rPr>
              <a:t>Supuestos de la industria</a:t>
            </a:r>
          </a:p>
        </p:txBody>
      </p:sp>
      <p:sp>
        <p:nvSpPr>
          <p:cNvPr id="16" name="Text Placeholder 9">
            <a:extLst>
              <a:ext uri="{FF2B5EF4-FFF2-40B4-BE49-F238E27FC236}">
                <a16:creationId xmlns:a16="http://schemas.microsoft.com/office/drawing/2014/main" id="{0CA9FEDF-4E09-41A0-B1A1-D85465CEB125}"/>
              </a:ext>
            </a:extLst>
          </p:cNvPr>
          <p:cNvSpPr txBox="1">
            <a:spLocks/>
          </p:cNvSpPr>
          <p:nvPr/>
        </p:nvSpPr>
        <p:spPr>
          <a:xfrm>
            <a:off x="654407" y="2864419"/>
            <a:ext cx="2036902" cy="797069"/>
          </a:xfrm>
          <a:prstGeom prst="rect">
            <a:avLst/>
          </a:prstGeom>
          <a:solidFill>
            <a:schemeClr val="accent2"/>
          </a:solidFill>
          <a:ln w="28575">
            <a:solidFill>
              <a:schemeClr val="accent2"/>
            </a:solidFill>
          </a:ln>
        </p:spPr>
        <p:txBody>
          <a:bodyPr vert="horz" lIns="360000" tIns="0" rIns="360000" bIns="0" rtlCol="0" anchor="ctr">
            <a:noAutofit/>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solidFill>
                <a:effectLst/>
                <a:uLnTx/>
                <a:uFillTx/>
                <a:latin typeface="Montserrat" panose="00000500000000000000" pitchFamily="2" charset="0"/>
                <a:ea typeface="+mn-ea"/>
                <a:cs typeface="+mn-cs"/>
              </a:rPr>
              <a:t>Enfoque estratégico</a:t>
            </a:r>
          </a:p>
        </p:txBody>
      </p:sp>
      <p:sp>
        <p:nvSpPr>
          <p:cNvPr id="17" name="Text Placeholder 9">
            <a:extLst>
              <a:ext uri="{FF2B5EF4-FFF2-40B4-BE49-F238E27FC236}">
                <a16:creationId xmlns:a16="http://schemas.microsoft.com/office/drawing/2014/main" id="{BF3F9EB5-55A5-41F6-8F03-1396AB31FE41}"/>
              </a:ext>
            </a:extLst>
          </p:cNvPr>
          <p:cNvSpPr txBox="1">
            <a:spLocks/>
          </p:cNvSpPr>
          <p:nvPr/>
        </p:nvSpPr>
        <p:spPr>
          <a:xfrm>
            <a:off x="654393" y="3751123"/>
            <a:ext cx="2036902" cy="797069"/>
          </a:xfrm>
          <a:prstGeom prst="rect">
            <a:avLst/>
          </a:prstGeom>
          <a:solidFill>
            <a:schemeClr val="accent2"/>
          </a:solidFill>
          <a:ln w="28575">
            <a:solidFill>
              <a:schemeClr val="accent2"/>
            </a:solidFill>
          </a:ln>
        </p:spPr>
        <p:txBody>
          <a:bodyPr vert="horz" lIns="360000" tIns="0" rIns="360000" bIns="0" rtlCol="0" anchor="ctr">
            <a:noAutofit/>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solidFill>
                <a:effectLst/>
                <a:uLnTx/>
                <a:uFillTx/>
                <a:latin typeface="Montserrat" panose="00000500000000000000" pitchFamily="2" charset="0"/>
                <a:ea typeface="+mn-ea"/>
                <a:cs typeface="+mn-cs"/>
              </a:rPr>
              <a:t>Clientes</a:t>
            </a:r>
          </a:p>
        </p:txBody>
      </p:sp>
      <p:sp>
        <p:nvSpPr>
          <p:cNvPr id="18" name="Text Placeholder 9">
            <a:extLst>
              <a:ext uri="{FF2B5EF4-FFF2-40B4-BE49-F238E27FC236}">
                <a16:creationId xmlns:a16="http://schemas.microsoft.com/office/drawing/2014/main" id="{7AB241FE-5549-4513-9DA2-6B31560C2846}"/>
              </a:ext>
            </a:extLst>
          </p:cNvPr>
          <p:cNvSpPr txBox="1">
            <a:spLocks/>
          </p:cNvSpPr>
          <p:nvPr/>
        </p:nvSpPr>
        <p:spPr>
          <a:xfrm>
            <a:off x="654393" y="4637825"/>
            <a:ext cx="2036902" cy="797069"/>
          </a:xfrm>
          <a:prstGeom prst="rect">
            <a:avLst/>
          </a:prstGeom>
          <a:solidFill>
            <a:schemeClr val="accent2"/>
          </a:solidFill>
          <a:ln w="28575">
            <a:solidFill>
              <a:schemeClr val="accent2"/>
            </a:solidFill>
          </a:ln>
        </p:spPr>
        <p:txBody>
          <a:bodyPr vert="horz" lIns="360000" tIns="0" rIns="360000" bIns="0" rtlCol="0" anchor="ctr">
            <a:noAutofit/>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solidFill>
                <a:effectLst/>
                <a:uLnTx/>
                <a:uFillTx/>
                <a:latin typeface="Montserrat" panose="00000500000000000000" pitchFamily="2" charset="0"/>
                <a:ea typeface="+mn-ea"/>
                <a:cs typeface="+mn-cs"/>
              </a:rPr>
              <a:t>Activos y capacidades</a:t>
            </a:r>
          </a:p>
        </p:txBody>
      </p:sp>
      <p:sp>
        <p:nvSpPr>
          <p:cNvPr id="19" name="Text Placeholder 9">
            <a:extLst>
              <a:ext uri="{FF2B5EF4-FFF2-40B4-BE49-F238E27FC236}">
                <a16:creationId xmlns:a16="http://schemas.microsoft.com/office/drawing/2014/main" id="{3469CA81-F8FB-4F38-8770-75F3039E0C3B}"/>
              </a:ext>
            </a:extLst>
          </p:cNvPr>
          <p:cNvSpPr txBox="1">
            <a:spLocks/>
          </p:cNvSpPr>
          <p:nvPr/>
        </p:nvSpPr>
        <p:spPr>
          <a:xfrm>
            <a:off x="654393" y="5524528"/>
            <a:ext cx="2036902" cy="797069"/>
          </a:xfrm>
          <a:prstGeom prst="rect">
            <a:avLst/>
          </a:prstGeom>
          <a:solidFill>
            <a:schemeClr val="accent2"/>
          </a:solidFill>
          <a:ln w="28575">
            <a:solidFill>
              <a:schemeClr val="accent2"/>
            </a:solidFill>
          </a:ln>
        </p:spPr>
        <p:txBody>
          <a:bodyPr vert="horz" lIns="360000" tIns="0" rIns="360000" bIns="0" rtlCol="0" anchor="ctr">
            <a:noAutofit/>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solidFill>
                <a:effectLst/>
                <a:uLnTx/>
                <a:uFillTx/>
                <a:latin typeface="Montserrat" panose="00000500000000000000" pitchFamily="2" charset="0"/>
                <a:ea typeface="+mn-ea"/>
                <a:cs typeface="+mn-cs"/>
              </a:rPr>
              <a:t>Oferta de productos y servicios</a:t>
            </a:r>
          </a:p>
        </p:txBody>
      </p:sp>
      <p:sp>
        <p:nvSpPr>
          <p:cNvPr id="20" name="Rectángulo: esquinas redondeadas 14">
            <a:extLst>
              <a:ext uri="{FF2B5EF4-FFF2-40B4-BE49-F238E27FC236}">
                <a16:creationId xmlns:a16="http://schemas.microsoft.com/office/drawing/2014/main" id="{A37865C1-013E-43DB-9E98-D251E33E9D20}"/>
              </a:ext>
            </a:extLst>
          </p:cNvPr>
          <p:cNvSpPr/>
          <p:nvPr/>
        </p:nvSpPr>
        <p:spPr>
          <a:xfrm>
            <a:off x="3441427" y="1591146"/>
            <a:ext cx="3342707" cy="381381"/>
          </a:xfrm>
          <a:prstGeom prst="roundRect">
            <a:avLst>
              <a:gd name="adj" fmla="val 0"/>
            </a:avLst>
          </a:prstGeom>
          <a:solidFill>
            <a:schemeClr val="accent2"/>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C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300" normalizeH="0" baseline="0" noProof="0" dirty="0">
                <a:ln>
                  <a:noFill/>
                </a:ln>
                <a:solidFill>
                  <a:srgbClr val="FFFFFF"/>
                </a:solidFill>
                <a:effectLst/>
                <a:uLnTx/>
                <a:uFillTx/>
                <a:latin typeface="Montserrat" panose="00000500000000000000" pitchFamily="2" charset="0"/>
                <a:ea typeface="+mn-ea"/>
                <a:cs typeface="+mn-cs"/>
              </a:rPr>
              <a:t>LÓGICA CONVENCIONAL</a:t>
            </a:r>
          </a:p>
        </p:txBody>
      </p:sp>
    </p:spTree>
    <p:extLst>
      <p:ext uri="{BB962C8B-B14F-4D97-AF65-F5344CB8AC3E}">
        <p14:creationId xmlns:p14="http://schemas.microsoft.com/office/powerpoint/2010/main" val="6371322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7DA2004-FEF3-4906-9D48-9E76886BDA99}"/>
              </a:ext>
            </a:extLst>
          </p:cNvPr>
          <p:cNvSpPr txBox="1">
            <a:spLocks/>
          </p:cNvSpPr>
          <p:nvPr/>
        </p:nvSpPr>
        <p:spPr>
          <a:xfrm>
            <a:off x="6696071" y="1483889"/>
            <a:ext cx="4831797" cy="2499043"/>
          </a:xfrm>
          <a:prstGeom prst="rect">
            <a:avLst/>
          </a:prstGeom>
        </p:spPr>
        <p:txBody>
          <a:bodyPr/>
          <a:lstStyle>
            <a:lvl1pPr algn="l" defTabSz="914400" rtl="0" eaLnBrk="1" latinLnBrk="0" hangingPunct="1">
              <a:lnSpc>
                <a:spcPct val="90000"/>
              </a:lnSpc>
              <a:spcBef>
                <a:spcPct val="0"/>
              </a:spcBef>
              <a:buNone/>
              <a:defRPr sz="2800" kern="1200">
                <a:solidFill>
                  <a:schemeClr val="accent3"/>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CL" sz="2000" b="0" i="0" u="none" strike="noStrike" kern="1200" cap="none" spc="0" normalizeH="0" baseline="0" noProof="0" dirty="0">
                <a:ln>
                  <a:noFill/>
                </a:ln>
                <a:solidFill>
                  <a:srgbClr val="000000"/>
                </a:solidFill>
                <a:effectLst/>
                <a:uLnTx/>
                <a:uFillTx/>
                <a:latin typeface="Montserrat" panose="00000500000000000000" pitchFamily="2" charset="0"/>
                <a:ea typeface="+mj-ea"/>
                <a:cs typeface="+mj-cs"/>
              </a:rPr>
              <a:t>Innovación en valor no es hacerlo mejor que todos en todo, es </a:t>
            </a:r>
            <a:r>
              <a:rPr kumimoji="0" lang="es-CL" sz="2000" b="1" i="0" u="none" strike="noStrike" kern="1200" cap="none" spc="0" normalizeH="0" baseline="0" noProof="0" dirty="0">
                <a:ln>
                  <a:noFill/>
                </a:ln>
                <a:solidFill>
                  <a:srgbClr val="000000"/>
                </a:solidFill>
                <a:effectLst/>
                <a:uLnTx/>
                <a:uFillTx/>
                <a:latin typeface="Montserrat" panose="00000500000000000000" pitchFamily="2" charset="0"/>
                <a:ea typeface="+mj-ea"/>
                <a:cs typeface="+mj-cs"/>
              </a:rPr>
              <a:t>enfocarse en lo que importa y dejar de enfocarnos en lo que el cliente o usuario no valora</a:t>
            </a:r>
            <a:r>
              <a:rPr kumimoji="0" lang="es-CL" sz="2000" b="0" i="0" u="none" strike="noStrike" kern="1200" cap="none" spc="0" normalizeH="0" baseline="0" noProof="0" dirty="0">
                <a:ln>
                  <a:noFill/>
                </a:ln>
                <a:solidFill>
                  <a:srgbClr val="000000"/>
                </a:solidFill>
                <a:effectLst/>
                <a:uLnTx/>
                <a:uFillTx/>
                <a:latin typeface="Montserrat" panose="00000500000000000000" pitchFamily="2" charset="0"/>
                <a:ea typeface="+mj-ea"/>
                <a:cs typeface="+mj-cs"/>
              </a:rPr>
              <a:t>.</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s-CL" sz="2000" b="0" i="0" u="none" strike="noStrike" kern="1200" cap="none" spc="0" normalizeH="0" baseline="0" noProof="0" dirty="0">
              <a:ln>
                <a:noFill/>
              </a:ln>
              <a:solidFill>
                <a:srgbClr val="000000"/>
              </a:solidFill>
              <a:effectLst/>
              <a:uLnTx/>
              <a:uFillTx/>
              <a:latin typeface="Montserrat" panose="00000500000000000000" pitchFamily="2" charset="0"/>
              <a:ea typeface="+mj-ea"/>
              <a:cs typeface="+mj-cs"/>
            </a:endParaRP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s-CL" sz="2000" b="0" i="0" u="none" strike="noStrike" kern="1200" cap="none" spc="0" normalizeH="0" baseline="0" noProof="0" dirty="0">
              <a:ln>
                <a:noFill/>
              </a:ln>
              <a:solidFill>
                <a:srgbClr val="000000"/>
              </a:solidFill>
              <a:effectLst/>
              <a:uLnTx/>
              <a:uFillTx/>
              <a:latin typeface="Montserrat" panose="00000500000000000000" pitchFamily="2" charset="0"/>
              <a:ea typeface="+mj-ea"/>
              <a:cs typeface="+mj-cs"/>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s-CL" sz="2000" b="0" i="0" u="none" strike="noStrike" kern="1200" cap="none" spc="0" normalizeH="0" baseline="0" noProof="0" dirty="0">
                <a:ln>
                  <a:noFill/>
                </a:ln>
                <a:solidFill>
                  <a:srgbClr val="000000"/>
                </a:solidFill>
                <a:effectLst/>
                <a:uLnTx/>
                <a:uFillTx/>
                <a:latin typeface="Montserrat" panose="00000500000000000000" pitchFamily="2" charset="0"/>
                <a:ea typeface="+mj-ea"/>
                <a:cs typeface="+mj-cs"/>
              </a:rPr>
              <a:t>Se busca abrir un mercado no explotado a través de una aproximación que logra diferenciación y bajo costo, usando la innovación como principal arma es lo que se denomina </a:t>
            </a:r>
            <a:r>
              <a:rPr kumimoji="0" lang="es-CL" sz="2000" b="1" i="0" u="none" strike="noStrike" kern="1200" cap="none" spc="0" normalizeH="0" baseline="0" noProof="0" dirty="0">
                <a:ln>
                  <a:noFill/>
                </a:ln>
                <a:solidFill>
                  <a:srgbClr val="000000"/>
                </a:solidFill>
                <a:effectLst/>
                <a:uLnTx/>
                <a:uFillTx/>
                <a:latin typeface="Montserrat" panose="00000500000000000000" pitchFamily="2" charset="0"/>
                <a:ea typeface="+mj-ea"/>
                <a:cs typeface="+mj-cs"/>
              </a:rPr>
              <a:t>océanos azules.</a:t>
            </a:r>
          </a:p>
        </p:txBody>
      </p:sp>
      <p:sp>
        <p:nvSpPr>
          <p:cNvPr id="15" name="Triángulo isósceles 14">
            <a:extLst>
              <a:ext uri="{FF2B5EF4-FFF2-40B4-BE49-F238E27FC236}">
                <a16:creationId xmlns:a16="http://schemas.microsoft.com/office/drawing/2014/main" id="{591B43DE-E3ED-46E1-8C36-E0AE55235771}"/>
              </a:ext>
            </a:extLst>
          </p:cNvPr>
          <p:cNvSpPr/>
          <p:nvPr/>
        </p:nvSpPr>
        <p:spPr>
          <a:xfrm>
            <a:off x="714376" y="2176489"/>
            <a:ext cx="5557838" cy="3329646"/>
          </a:xfrm>
          <a:prstGeom prst="triangle">
            <a:avLst/>
          </a:prstGeom>
          <a:solidFill>
            <a:srgbClr val="4472C4">
              <a:lumMod val="60000"/>
              <a:lumOff val="40000"/>
            </a:srgbClr>
          </a:solidFill>
          <a:ln w="12700" cap="flat" cmpd="sng" algn="ctr">
            <a:solidFill>
              <a:srgbClr val="4472C4">
                <a:lumMod val="60000"/>
                <a:lumOff val="4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0" cap="none" spc="0" normalizeH="0" baseline="0" noProof="0" dirty="0">
              <a:ln>
                <a:noFill/>
              </a:ln>
              <a:solidFill>
                <a:prstClr val="white"/>
              </a:solidFill>
              <a:effectLst/>
              <a:uLnTx/>
              <a:uFillTx/>
              <a:latin typeface="Montserrat"/>
              <a:ea typeface="+mn-ea"/>
              <a:cs typeface="+mn-cs"/>
              <a:sym typeface="Gill Sans" charset="0"/>
            </a:endParaRPr>
          </a:p>
        </p:txBody>
      </p:sp>
      <p:sp>
        <p:nvSpPr>
          <p:cNvPr id="16" name="Triángulo isósceles 15">
            <a:extLst>
              <a:ext uri="{FF2B5EF4-FFF2-40B4-BE49-F238E27FC236}">
                <a16:creationId xmlns:a16="http://schemas.microsoft.com/office/drawing/2014/main" id="{7B9917E8-0CB3-476D-A615-2EB784AF85E0}"/>
              </a:ext>
            </a:extLst>
          </p:cNvPr>
          <p:cNvSpPr/>
          <p:nvPr/>
        </p:nvSpPr>
        <p:spPr>
          <a:xfrm rot="10800000">
            <a:off x="714375" y="1099233"/>
            <a:ext cx="5557836" cy="3329646"/>
          </a:xfrm>
          <a:prstGeom prst="triangle">
            <a:avLst/>
          </a:prstGeom>
          <a:solidFill>
            <a:srgbClr val="4472C4">
              <a:lumMod val="20000"/>
              <a:lumOff val="80000"/>
            </a:srgbClr>
          </a:solidFill>
          <a:ln w="12700" cap="flat" cmpd="sng" algn="ctr">
            <a:solidFill>
              <a:srgbClr val="4472C4">
                <a:lumMod val="20000"/>
                <a:lumOff val="8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0" cap="none" spc="0" normalizeH="0" baseline="0" noProof="0">
              <a:ln>
                <a:noFill/>
              </a:ln>
              <a:solidFill>
                <a:prstClr val="white"/>
              </a:solidFill>
              <a:effectLst/>
              <a:uLnTx/>
              <a:uFillTx/>
              <a:latin typeface="Montserrat"/>
              <a:ea typeface="+mn-ea"/>
              <a:cs typeface="+mn-cs"/>
              <a:sym typeface="Gill Sans" charset="0"/>
            </a:endParaRPr>
          </a:p>
        </p:txBody>
      </p:sp>
      <p:sp>
        <p:nvSpPr>
          <p:cNvPr id="17" name="Forma libre: forma 16">
            <a:extLst>
              <a:ext uri="{FF2B5EF4-FFF2-40B4-BE49-F238E27FC236}">
                <a16:creationId xmlns:a16="http://schemas.microsoft.com/office/drawing/2014/main" id="{D59FF82F-8800-48B1-AE37-F058148A0D1C}"/>
              </a:ext>
            </a:extLst>
          </p:cNvPr>
          <p:cNvSpPr/>
          <p:nvPr/>
        </p:nvSpPr>
        <p:spPr>
          <a:xfrm>
            <a:off x="2553372" y="2176489"/>
            <a:ext cx="1879842" cy="2252390"/>
          </a:xfrm>
          <a:custGeom>
            <a:avLst/>
            <a:gdLst>
              <a:gd name="connsiteX0" fmla="*/ 653194 w 1306386"/>
              <a:gd name="connsiteY0" fmla="*/ 0 h 2252390"/>
              <a:gd name="connsiteX1" fmla="*/ 1306386 w 1306386"/>
              <a:gd name="connsiteY1" fmla="*/ 1126194 h 2252390"/>
              <a:gd name="connsiteX2" fmla="*/ 653192 w 1306386"/>
              <a:gd name="connsiteY2" fmla="*/ 2252390 h 2252390"/>
              <a:gd name="connsiteX3" fmla="*/ 0 w 1306386"/>
              <a:gd name="connsiteY3" fmla="*/ 1126197 h 2252390"/>
            </a:gdLst>
            <a:ahLst/>
            <a:cxnLst>
              <a:cxn ang="0">
                <a:pos x="connsiteX0" y="connsiteY0"/>
              </a:cxn>
              <a:cxn ang="0">
                <a:pos x="connsiteX1" y="connsiteY1"/>
              </a:cxn>
              <a:cxn ang="0">
                <a:pos x="connsiteX2" y="connsiteY2"/>
              </a:cxn>
              <a:cxn ang="0">
                <a:pos x="connsiteX3" y="connsiteY3"/>
              </a:cxn>
            </a:cxnLst>
            <a:rect l="l" t="t" r="r" b="b"/>
            <a:pathLst>
              <a:path w="1306386" h="2252390">
                <a:moveTo>
                  <a:pt x="653194" y="0"/>
                </a:moveTo>
                <a:lnTo>
                  <a:pt x="1306386" y="1126194"/>
                </a:lnTo>
                <a:lnTo>
                  <a:pt x="653192" y="2252390"/>
                </a:lnTo>
                <a:lnTo>
                  <a:pt x="0" y="1126197"/>
                </a:lnTo>
                <a:close/>
              </a:path>
            </a:pathLst>
          </a:custGeom>
          <a:solidFill>
            <a:srgbClr val="4472C4">
              <a:lumMod val="50000"/>
            </a:srgbClr>
          </a:solidFill>
          <a:ln w="12700" cap="flat" cmpd="sng" algn="ctr">
            <a:solidFill>
              <a:srgbClr val="4472C4">
                <a:shade val="50000"/>
              </a:srgbClr>
            </a:solid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0" cap="none" spc="0" normalizeH="0" baseline="0" noProof="0">
              <a:ln>
                <a:noFill/>
              </a:ln>
              <a:solidFill>
                <a:prstClr val="white"/>
              </a:solidFill>
              <a:effectLst/>
              <a:uLnTx/>
              <a:uFillTx/>
              <a:latin typeface="Montserrat"/>
              <a:ea typeface="+mn-ea"/>
              <a:cs typeface="+mn-cs"/>
              <a:sym typeface="Gill Sans" charset="0"/>
            </a:endParaRPr>
          </a:p>
        </p:txBody>
      </p:sp>
      <p:sp>
        <p:nvSpPr>
          <p:cNvPr id="18" name="CuadroTexto 17">
            <a:extLst>
              <a:ext uri="{FF2B5EF4-FFF2-40B4-BE49-F238E27FC236}">
                <a16:creationId xmlns:a16="http://schemas.microsoft.com/office/drawing/2014/main" id="{6C95EC2C-EA9D-424D-9991-BFEDE437B22A}"/>
              </a:ext>
            </a:extLst>
          </p:cNvPr>
          <p:cNvSpPr txBox="1"/>
          <p:nvPr/>
        </p:nvSpPr>
        <p:spPr>
          <a:xfrm>
            <a:off x="2762246" y="3041074"/>
            <a:ext cx="146209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US" sz="1400" b="1" i="0" u="none" strike="noStrike" kern="1200" cap="none" spc="0" normalizeH="0" baseline="0" noProof="0" dirty="0">
                <a:ln>
                  <a:noFill/>
                </a:ln>
                <a:solidFill>
                  <a:srgbClr val="4472C4">
                    <a:lumMod val="40000"/>
                    <a:lumOff val="60000"/>
                  </a:srgbClr>
                </a:solidFill>
                <a:effectLst/>
                <a:uLnTx/>
                <a:uFillTx/>
                <a:latin typeface="Montserrat ExtraBold"/>
                <a:ea typeface="+mn-ea"/>
                <a:cs typeface="+mn-cs"/>
                <a:sym typeface="Gill Sans" charset="0"/>
              </a:rPr>
              <a:t>INNOVACIÓN EN VALOR</a:t>
            </a:r>
            <a:endParaRPr kumimoji="0" lang="es-CL" sz="1400" b="1" i="0" u="none" strike="noStrike" kern="1200" cap="none" spc="0" normalizeH="0" baseline="0" noProof="0" dirty="0">
              <a:ln>
                <a:noFill/>
              </a:ln>
              <a:solidFill>
                <a:srgbClr val="4472C4">
                  <a:lumMod val="40000"/>
                  <a:lumOff val="60000"/>
                </a:srgbClr>
              </a:solidFill>
              <a:effectLst/>
              <a:uLnTx/>
              <a:uFillTx/>
              <a:latin typeface="Montserrat ExtraBold"/>
              <a:ea typeface="+mn-ea"/>
              <a:cs typeface="+mn-cs"/>
              <a:sym typeface="Gill Sans" charset="0"/>
            </a:endParaRPr>
          </a:p>
        </p:txBody>
      </p:sp>
      <p:sp>
        <p:nvSpPr>
          <p:cNvPr id="19" name="CuadroTexto 18">
            <a:extLst>
              <a:ext uri="{FF2B5EF4-FFF2-40B4-BE49-F238E27FC236}">
                <a16:creationId xmlns:a16="http://schemas.microsoft.com/office/drawing/2014/main" id="{0F58B07F-C22E-4E20-A2F9-258FC4424553}"/>
              </a:ext>
            </a:extLst>
          </p:cNvPr>
          <p:cNvSpPr txBox="1"/>
          <p:nvPr/>
        </p:nvSpPr>
        <p:spPr>
          <a:xfrm>
            <a:off x="2762246" y="1220977"/>
            <a:ext cx="1462094"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US" sz="1400" b="1" i="0" u="none" strike="noStrike" kern="1200" cap="none" spc="0" normalizeH="0" baseline="0" noProof="0" dirty="0">
                <a:ln>
                  <a:noFill/>
                </a:ln>
                <a:solidFill>
                  <a:srgbClr val="4472C4">
                    <a:lumMod val="50000"/>
                  </a:srgbClr>
                </a:solidFill>
                <a:effectLst/>
                <a:uLnTx/>
                <a:uFillTx/>
                <a:latin typeface="Montserrat ExtraBold"/>
                <a:ea typeface="+mn-ea"/>
                <a:cs typeface="+mn-cs"/>
                <a:sym typeface="Gill Sans" charset="0"/>
              </a:rPr>
              <a:t>COSTOS</a:t>
            </a:r>
            <a:endParaRPr kumimoji="0" lang="es-CL" sz="1400" b="1" i="0" u="none" strike="noStrike" kern="1200" cap="none" spc="0" normalizeH="0" baseline="0" noProof="0" dirty="0">
              <a:ln>
                <a:noFill/>
              </a:ln>
              <a:solidFill>
                <a:srgbClr val="4472C4">
                  <a:lumMod val="50000"/>
                </a:srgbClr>
              </a:solidFill>
              <a:effectLst/>
              <a:uLnTx/>
              <a:uFillTx/>
              <a:latin typeface="Montserrat ExtraBold"/>
              <a:ea typeface="+mn-ea"/>
              <a:cs typeface="+mn-cs"/>
              <a:sym typeface="Gill Sans" charset="0"/>
            </a:endParaRPr>
          </a:p>
        </p:txBody>
      </p:sp>
      <p:sp>
        <p:nvSpPr>
          <p:cNvPr id="20" name="CuadroTexto 19">
            <a:extLst>
              <a:ext uri="{FF2B5EF4-FFF2-40B4-BE49-F238E27FC236}">
                <a16:creationId xmlns:a16="http://schemas.microsoft.com/office/drawing/2014/main" id="{8509DBED-2DF2-4975-96B6-98A91C45EDDA}"/>
              </a:ext>
            </a:extLst>
          </p:cNvPr>
          <p:cNvSpPr txBox="1"/>
          <p:nvPr/>
        </p:nvSpPr>
        <p:spPr>
          <a:xfrm>
            <a:off x="2016440" y="5076614"/>
            <a:ext cx="2953706"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US" sz="1400" b="1" i="0" u="none" strike="noStrike" kern="1200" cap="none" spc="0" normalizeH="0" baseline="0" noProof="0" dirty="0">
                <a:ln>
                  <a:noFill/>
                </a:ln>
                <a:solidFill>
                  <a:srgbClr val="4472C4">
                    <a:lumMod val="50000"/>
                  </a:srgbClr>
                </a:solidFill>
                <a:effectLst/>
                <a:uLnTx/>
                <a:uFillTx/>
                <a:latin typeface="Montserrat ExtraBold"/>
                <a:ea typeface="+mn-ea"/>
                <a:cs typeface="+mn-cs"/>
                <a:sym typeface="Gill Sans" charset="0"/>
              </a:rPr>
              <a:t>VALOR PARA EL CLIENTE</a:t>
            </a:r>
            <a:endParaRPr kumimoji="0" lang="es-CL" sz="1400" b="1" i="0" u="none" strike="noStrike" kern="1200" cap="none" spc="0" normalizeH="0" baseline="0" noProof="0" dirty="0">
              <a:ln>
                <a:noFill/>
              </a:ln>
              <a:solidFill>
                <a:srgbClr val="4472C4">
                  <a:lumMod val="50000"/>
                </a:srgbClr>
              </a:solidFill>
              <a:effectLst/>
              <a:uLnTx/>
              <a:uFillTx/>
              <a:latin typeface="Montserrat ExtraBold"/>
              <a:ea typeface="+mn-ea"/>
              <a:cs typeface="+mn-cs"/>
              <a:sym typeface="Gill Sans" charset="0"/>
            </a:endParaRPr>
          </a:p>
        </p:txBody>
      </p:sp>
      <p:sp>
        <p:nvSpPr>
          <p:cNvPr id="21" name="10 Elipse">
            <a:extLst>
              <a:ext uri="{FF2B5EF4-FFF2-40B4-BE49-F238E27FC236}">
                <a16:creationId xmlns:a16="http://schemas.microsoft.com/office/drawing/2014/main" id="{13F67AD6-05BC-4027-9E16-6C310E6A2481}"/>
              </a:ext>
            </a:extLst>
          </p:cNvPr>
          <p:cNvSpPr/>
          <p:nvPr/>
        </p:nvSpPr>
        <p:spPr>
          <a:xfrm>
            <a:off x="1970880" y="2176488"/>
            <a:ext cx="3136900" cy="2274651"/>
          </a:xfrm>
          <a:prstGeom prst="ellipse">
            <a:avLst/>
          </a:prstGeom>
          <a:noFill/>
          <a:ln w="19050" cap="flat" cmpd="sng" algn="ctr">
            <a:solidFill>
              <a:srgbClr val="ED6723"/>
            </a:solidFill>
            <a:prstDash val="solid"/>
            <a:miter lim="800000"/>
          </a:ln>
          <a:effectLst/>
        </p:spPr>
        <p:txBody>
          <a:bodyPr lIns="108853" tIns="54428" rIns="108853" bIns="54428"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US" sz="2133" b="0" i="0" u="none" strike="noStrike" kern="0" cap="none" spc="0" normalizeH="0" baseline="0" noProof="0">
              <a:ln>
                <a:noFill/>
              </a:ln>
              <a:solidFill>
                <a:prstClr val="white"/>
              </a:solidFill>
              <a:effectLst/>
              <a:uLnTx/>
              <a:uFillTx/>
              <a:latin typeface="Calibri"/>
              <a:ea typeface="+mn-ea"/>
              <a:cs typeface="+mn-cs"/>
              <a:sym typeface="Gill Sans" charset="0"/>
            </a:endParaRPr>
          </a:p>
        </p:txBody>
      </p:sp>
      <p:sp>
        <p:nvSpPr>
          <p:cNvPr id="22" name="12 Flecha arriba">
            <a:extLst>
              <a:ext uri="{FF2B5EF4-FFF2-40B4-BE49-F238E27FC236}">
                <a16:creationId xmlns:a16="http://schemas.microsoft.com/office/drawing/2014/main" id="{A513C7FE-A571-44EB-BB8F-1EE02A6517B1}"/>
              </a:ext>
            </a:extLst>
          </p:cNvPr>
          <p:cNvSpPr/>
          <p:nvPr/>
        </p:nvSpPr>
        <p:spPr>
          <a:xfrm flipV="1">
            <a:off x="4264817" y="2920826"/>
            <a:ext cx="628650" cy="643467"/>
          </a:xfrm>
          <a:prstGeom prst="upArrow">
            <a:avLst/>
          </a:prstGeom>
          <a:solidFill>
            <a:srgbClr val="ED6723"/>
          </a:solidFill>
          <a:ln w="19050" cap="flat" cmpd="sng" algn="ctr">
            <a:solidFill>
              <a:srgbClr val="ED6723"/>
            </a:solidFill>
            <a:prstDash val="solid"/>
            <a:miter lim="800000"/>
          </a:ln>
          <a:effectLst/>
        </p:spPr>
        <p:txBody>
          <a:bodyPr lIns="108853" tIns="54428" rIns="108853" bIns="54428"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US" sz="2133" b="0" i="0" u="none" strike="noStrike" kern="0" cap="none" spc="0" normalizeH="0" baseline="0" noProof="0">
              <a:ln>
                <a:noFill/>
              </a:ln>
              <a:solidFill>
                <a:prstClr val="white"/>
              </a:solidFill>
              <a:effectLst/>
              <a:uLnTx/>
              <a:uFillTx/>
              <a:latin typeface="Calibri"/>
              <a:ea typeface="+mn-ea"/>
              <a:cs typeface="+mn-cs"/>
              <a:sym typeface="Gill Sans" charset="0"/>
            </a:endParaRPr>
          </a:p>
        </p:txBody>
      </p:sp>
      <p:sp>
        <p:nvSpPr>
          <p:cNvPr id="23" name="11 Flecha arriba">
            <a:extLst>
              <a:ext uri="{FF2B5EF4-FFF2-40B4-BE49-F238E27FC236}">
                <a16:creationId xmlns:a16="http://schemas.microsoft.com/office/drawing/2014/main" id="{783207B2-C43F-4FA9-A78B-1B9402EA52C5}"/>
              </a:ext>
            </a:extLst>
          </p:cNvPr>
          <p:cNvSpPr/>
          <p:nvPr/>
        </p:nvSpPr>
        <p:spPr>
          <a:xfrm>
            <a:off x="2129512" y="2920827"/>
            <a:ext cx="628650" cy="643467"/>
          </a:xfrm>
          <a:prstGeom prst="upArrow">
            <a:avLst>
              <a:gd name="adj1" fmla="val 50000"/>
              <a:gd name="adj2" fmla="val 50000"/>
            </a:avLst>
          </a:prstGeom>
          <a:solidFill>
            <a:srgbClr val="ED6723"/>
          </a:solidFill>
          <a:ln w="19050" cap="flat" cmpd="sng" algn="ctr">
            <a:solidFill>
              <a:srgbClr val="ED6723"/>
            </a:solidFill>
            <a:prstDash val="solid"/>
            <a:miter lim="800000"/>
          </a:ln>
          <a:effectLst/>
        </p:spPr>
        <p:txBody>
          <a:bodyPr lIns="108853" tIns="54428" rIns="108853" bIns="54428"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US" sz="2133" b="0" i="0" u="none" strike="noStrike" kern="0" cap="none" spc="0" normalizeH="0" baseline="0" noProof="0" dirty="0">
              <a:ln>
                <a:noFill/>
              </a:ln>
              <a:solidFill>
                <a:prstClr val="white"/>
              </a:solidFill>
              <a:effectLst/>
              <a:uLnTx/>
              <a:uFillTx/>
              <a:latin typeface="Calibri"/>
              <a:ea typeface="+mn-ea"/>
              <a:cs typeface="+mn-cs"/>
              <a:sym typeface="Gill Sans" charset="0"/>
            </a:endParaRPr>
          </a:p>
        </p:txBody>
      </p:sp>
      <p:sp>
        <p:nvSpPr>
          <p:cNvPr id="24" name="CuadroTexto 23">
            <a:extLst>
              <a:ext uri="{FF2B5EF4-FFF2-40B4-BE49-F238E27FC236}">
                <a16:creationId xmlns:a16="http://schemas.microsoft.com/office/drawing/2014/main" id="{DF55F84E-EAB3-40AB-A6FD-1C9EE4A9476B}"/>
              </a:ext>
            </a:extLst>
          </p:cNvPr>
          <p:cNvSpPr txBox="1"/>
          <p:nvPr/>
        </p:nvSpPr>
        <p:spPr>
          <a:xfrm>
            <a:off x="663218" y="6136070"/>
            <a:ext cx="10865564"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0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Fuente: </a:t>
            </a:r>
            <a:r>
              <a:rPr kumimoji="0" lang="en-US" sz="10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Chan Kim, W. and Mauborgne, R. (1997).</a:t>
            </a:r>
            <a:endParaRPr kumimoji="0" lang="es-CL" sz="10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25860606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1A4D5647-4E44-1ED6-3587-374323019635}"/>
              </a:ext>
            </a:extLst>
          </p:cNvPr>
          <p:cNvSpPr>
            <a:spLocks noGrp="1"/>
          </p:cNvSpPr>
          <p:nvPr>
            <p:ph type="sldNum" sz="quarter" idx="4"/>
          </p:nvPr>
        </p:nvSpPr>
        <p:spPr/>
        <p:txBody>
          <a:bodyPr/>
          <a:lstStyle/>
          <a:p>
            <a:pPr defTabSz="914446" eaLnBrk="1" fontAlgn="auto" hangingPunct="1">
              <a:spcBef>
                <a:spcPts val="0"/>
              </a:spcBef>
              <a:spcAft>
                <a:spcPts val="0"/>
              </a:spcAft>
            </a:pPr>
            <a:fld id="{51ED9358-27BD-4757-8BC3-FCFAB6CB8B4F}" type="slidenum">
              <a:rPr lang="es-CL" smtClean="0">
                <a:solidFill>
                  <a:prstClr val="black"/>
                </a:solidFill>
                <a:cs typeface="+mn-cs"/>
              </a:rPr>
              <a:pPr defTabSz="914446" eaLnBrk="1" fontAlgn="auto" hangingPunct="1">
                <a:spcBef>
                  <a:spcPts val="0"/>
                </a:spcBef>
                <a:spcAft>
                  <a:spcPts val="0"/>
                </a:spcAft>
              </a:pPr>
              <a:t>30</a:t>
            </a:fld>
            <a:endParaRPr lang="es-CL" dirty="0">
              <a:solidFill>
                <a:prstClr val="black"/>
              </a:solidFill>
              <a:cs typeface="+mn-cs"/>
            </a:endParaRPr>
          </a:p>
        </p:txBody>
      </p:sp>
      <p:sp>
        <p:nvSpPr>
          <p:cNvPr id="5" name="Title 1">
            <a:extLst>
              <a:ext uri="{FF2B5EF4-FFF2-40B4-BE49-F238E27FC236}">
                <a16:creationId xmlns:a16="http://schemas.microsoft.com/office/drawing/2014/main" id="{D6597755-0DAA-107C-0A53-D424CF0C25D0}"/>
              </a:ext>
            </a:extLst>
          </p:cNvPr>
          <p:cNvSpPr txBox="1">
            <a:spLocks/>
          </p:cNvSpPr>
          <p:nvPr/>
        </p:nvSpPr>
        <p:spPr>
          <a:xfrm>
            <a:off x="658813" y="561976"/>
            <a:ext cx="10571162" cy="55193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kern="1200">
                <a:solidFill>
                  <a:schemeClr val="tx1"/>
                </a:solidFill>
                <a:latin typeface="Montserrat ExtraBold" panose="00000900000000000000" pitchFamily="2" charset="0"/>
                <a:ea typeface="+mj-ea"/>
                <a:cs typeface="+mj-cs"/>
              </a:defRPr>
            </a:lvl1pPr>
          </a:lstStyle>
          <a:p>
            <a:r>
              <a:rPr lang="es-ES_tradnl" sz="2400" dirty="0"/>
              <a:t>Las </a:t>
            </a:r>
            <a:r>
              <a:rPr lang="es-ES_tradnl" sz="2400" dirty="0">
                <a:solidFill>
                  <a:srgbClr val="6439EF"/>
                </a:solidFill>
              </a:rPr>
              <a:t>demandas </a:t>
            </a:r>
            <a:r>
              <a:rPr lang="es-ES_tradnl" sz="2400" dirty="0"/>
              <a:t>históricas y los cambios en el tiempo</a:t>
            </a:r>
          </a:p>
        </p:txBody>
      </p:sp>
      <p:sp>
        <p:nvSpPr>
          <p:cNvPr id="6" name="Marcador de texto 4">
            <a:extLst>
              <a:ext uri="{FF2B5EF4-FFF2-40B4-BE49-F238E27FC236}">
                <a16:creationId xmlns:a16="http://schemas.microsoft.com/office/drawing/2014/main" id="{6989C2EE-CFD5-A44A-2B0F-F53999B7D5A4}"/>
              </a:ext>
            </a:extLst>
          </p:cNvPr>
          <p:cNvSpPr txBox="1">
            <a:spLocks/>
          </p:cNvSpPr>
          <p:nvPr/>
        </p:nvSpPr>
        <p:spPr>
          <a:xfrm>
            <a:off x="658813" y="2534304"/>
            <a:ext cx="5437187" cy="3516054"/>
          </a:xfrm>
          <a:prstGeom prst="rect">
            <a:avLst/>
          </a:prstGeom>
        </p:spPr>
        <p:txBody>
          <a:bodyPr/>
          <a:lstStyle>
            <a:lvl1pPr marL="228600" indent="-228600" algn="l" defTabSz="914400" rtl="0" eaLnBrk="1" latinLnBrk="0" hangingPunct="1">
              <a:lnSpc>
                <a:spcPct val="90000"/>
              </a:lnSpc>
              <a:spcBef>
                <a:spcPts val="1000"/>
              </a:spcBef>
              <a:buClr>
                <a:schemeClr val="accent4"/>
              </a:buClr>
              <a:buFont typeface="Wingdings" pitchFamily="2" charset="2"/>
              <a:buChar char="§"/>
              <a:defRPr sz="1800" kern="1200">
                <a:solidFill>
                  <a:schemeClr val="tx1"/>
                </a:solidFill>
                <a:latin typeface="+mn-lt"/>
                <a:ea typeface="Open Sans SemiBold" panose="020B0706030804020204" pitchFamily="34" charset="0"/>
                <a:cs typeface="Open Sans SemiBold" panose="020B0706030804020204" pitchFamily="34" charset="0"/>
              </a:defRPr>
            </a:lvl1pPr>
            <a:lvl2pPr marL="685800" indent="-228600" algn="l" defTabSz="914400" rtl="0" eaLnBrk="1" latinLnBrk="0" hangingPunct="1">
              <a:lnSpc>
                <a:spcPct val="90000"/>
              </a:lnSpc>
              <a:spcBef>
                <a:spcPts val="500"/>
              </a:spcBef>
              <a:buClr>
                <a:schemeClr val="accent4"/>
              </a:buClr>
              <a:buFont typeface="Wingdings"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4"/>
              </a:buClr>
              <a:buFont typeface="Wingdings"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4"/>
              </a:buClr>
              <a:buFont typeface="Wingdings" pitchFamily="2" charset="2"/>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4"/>
              </a:buClr>
              <a:buFont typeface="Wingdings"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CL" dirty="0"/>
              <a:t>Un punto de partida del trabajo en innovación de valor es </a:t>
            </a:r>
            <a:r>
              <a:rPr lang="es-CL" b="1" dirty="0">
                <a:solidFill>
                  <a:schemeClr val="accent2"/>
                </a:solidFill>
              </a:rPr>
              <a:t>considerar un rubro, línea de producto o servicio de referencia</a:t>
            </a:r>
            <a:r>
              <a:rPr lang="es-CL" dirty="0"/>
              <a:t> para analizar. Ejemplos:</a:t>
            </a:r>
          </a:p>
          <a:p>
            <a:endParaRPr lang="es-CL" dirty="0"/>
          </a:p>
          <a:p>
            <a:pPr lvl="1"/>
            <a:r>
              <a:rPr lang="es-CL" dirty="0"/>
              <a:t>Mercado de postgrados universitarios</a:t>
            </a:r>
          </a:p>
          <a:p>
            <a:pPr lvl="1"/>
            <a:r>
              <a:rPr lang="es-CL" dirty="0"/>
              <a:t>Restaurantes de comida rápida</a:t>
            </a:r>
          </a:p>
          <a:p>
            <a:pPr lvl="1"/>
            <a:r>
              <a:rPr lang="es-CL" dirty="0"/>
              <a:t>Clubes tradicionales de futbol</a:t>
            </a:r>
          </a:p>
        </p:txBody>
      </p:sp>
      <p:graphicFrame>
        <p:nvGraphicFramePr>
          <p:cNvPr id="7" name="Tabla 6">
            <a:extLst>
              <a:ext uri="{FF2B5EF4-FFF2-40B4-BE49-F238E27FC236}">
                <a16:creationId xmlns:a16="http://schemas.microsoft.com/office/drawing/2014/main" id="{7F39FA6D-3AB5-2933-3E18-05859893966A}"/>
              </a:ext>
            </a:extLst>
          </p:cNvPr>
          <p:cNvGraphicFramePr>
            <a:graphicFrameLocks noGrp="1"/>
          </p:cNvGraphicFramePr>
          <p:nvPr/>
        </p:nvGraphicFramePr>
        <p:xfrm>
          <a:off x="6285052" y="2534304"/>
          <a:ext cx="5220354" cy="2204720"/>
        </p:xfrm>
        <a:graphic>
          <a:graphicData uri="http://schemas.openxmlformats.org/drawingml/2006/table">
            <a:tbl>
              <a:tblPr firstRow="1" bandRow="1">
                <a:tableStyleId>{21E4AEA4-8DFA-4A89-87EB-49C32662AFE0}</a:tableStyleId>
              </a:tblPr>
              <a:tblGrid>
                <a:gridCol w="2610177">
                  <a:extLst>
                    <a:ext uri="{9D8B030D-6E8A-4147-A177-3AD203B41FA5}">
                      <a16:colId xmlns:a16="http://schemas.microsoft.com/office/drawing/2014/main" val="933546951"/>
                    </a:ext>
                  </a:extLst>
                </a:gridCol>
                <a:gridCol w="2610177">
                  <a:extLst>
                    <a:ext uri="{9D8B030D-6E8A-4147-A177-3AD203B41FA5}">
                      <a16:colId xmlns:a16="http://schemas.microsoft.com/office/drawing/2014/main" val="1594936981"/>
                    </a:ext>
                  </a:extLst>
                </a:gridCol>
              </a:tblGrid>
              <a:tr h="370840">
                <a:tc gridSpan="2">
                  <a:txBody>
                    <a:bodyPr/>
                    <a:lstStyle/>
                    <a:p>
                      <a:r>
                        <a:rPr lang="es-CL" dirty="0"/>
                        <a:t>¿Con que rubro trabajaremos?</a:t>
                      </a:r>
                    </a:p>
                  </a:txBody>
                  <a:tcPr/>
                </a:tc>
                <a:tc hMerge="1">
                  <a:txBody>
                    <a:bodyPr/>
                    <a:lstStyle/>
                    <a:p>
                      <a:endParaRPr lang="es-CL" dirty="0"/>
                    </a:p>
                  </a:txBody>
                  <a:tcPr/>
                </a:tc>
                <a:extLst>
                  <a:ext uri="{0D108BD9-81ED-4DB2-BD59-A6C34878D82A}">
                    <a16:rowId xmlns:a16="http://schemas.microsoft.com/office/drawing/2014/main" val="410716674"/>
                  </a:ext>
                </a:extLst>
              </a:tr>
              <a:tr h="370840">
                <a:tc>
                  <a:txBody>
                    <a:bodyPr/>
                    <a:lstStyle/>
                    <a:p>
                      <a:r>
                        <a:rPr lang="es-CL" dirty="0"/>
                        <a:t>Descripción</a:t>
                      </a:r>
                    </a:p>
                  </a:txBody>
                  <a:tcPr/>
                </a:tc>
                <a:tc>
                  <a:txBody>
                    <a:bodyPr/>
                    <a:lstStyle/>
                    <a:p>
                      <a:r>
                        <a:rPr lang="es-CL" dirty="0" err="1"/>
                        <a:t>Benchmark</a:t>
                      </a:r>
                      <a:endParaRPr lang="es-CL" dirty="0"/>
                    </a:p>
                  </a:txBody>
                  <a:tcPr/>
                </a:tc>
                <a:extLst>
                  <a:ext uri="{0D108BD9-81ED-4DB2-BD59-A6C34878D82A}">
                    <a16:rowId xmlns:a16="http://schemas.microsoft.com/office/drawing/2014/main" val="1195427639"/>
                  </a:ext>
                </a:extLst>
              </a:tr>
              <a:tr h="370840">
                <a:tc>
                  <a:txBody>
                    <a:bodyPr/>
                    <a:lstStyle/>
                    <a:p>
                      <a:r>
                        <a:rPr lang="es-CL" dirty="0"/>
                        <a:t>Contratistas de remodelaciones a casas familiares</a:t>
                      </a:r>
                    </a:p>
                  </a:txBody>
                  <a:tcPr/>
                </a:tc>
                <a:tc>
                  <a:txBody>
                    <a:bodyPr/>
                    <a:lstStyle/>
                    <a:p>
                      <a:pPr marL="285750" indent="-285750">
                        <a:buFont typeface="Arial" panose="020B0604020202020204" pitchFamily="34" charset="0"/>
                        <a:buChar char="•"/>
                      </a:pPr>
                      <a:r>
                        <a:rPr lang="es-CL" dirty="0"/>
                        <a:t>Contratista Delta Spa.</a:t>
                      </a:r>
                    </a:p>
                    <a:p>
                      <a:pPr marL="285750" indent="-285750">
                        <a:buFont typeface="Arial" panose="020B0604020202020204" pitchFamily="34" charset="0"/>
                        <a:buChar char="•"/>
                      </a:pPr>
                      <a:r>
                        <a:rPr lang="es-CL" dirty="0"/>
                        <a:t>Maestro Remigio Zambrano e hijos</a:t>
                      </a:r>
                    </a:p>
                    <a:p>
                      <a:pPr marL="285750" indent="-285750">
                        <a:buFont typeface="Arial" panose="020B0604020202020204" pitchFamily="34" charset="0"/>
                        <a:buChar char="•"/>
                      </a:pPr>
                      <a:endParaRPr lang="es-CL" dirty="0"/>
                    </a:p>
                  </a:txBody>
                  <a:tcPr/>
                </a:tc>
                <a:extLst>
                  <a:ext uri="{0D108BD9-81ED-4DB2-BD59-A6C34878D82A}">
                    <a16:rowId xmlns:a16="http://schemas.microsoft.com/office/drawing/2014/main" val="3861009793"/>
                  </a:ext>
                </a:extLst>
              </a:tr>
            </a:tbl>
          </a:graphicData>
        </a:graphic>
      </p:graphicFrame>
      <p:sp>
        <p:nvSpPr>
          <p:cNvPr id="10" name="CuadroTexto 9">
            <a:extLst>
              <a:ext uri="{FF2B5EF4-FFF2-40B4-BE49-F238E27FC236}">
                <a16:creationId xmlns:a16="http://schemas.microsoft.com/office/drawing/2014/main" id="{E481B88B-4F92-03E9-7992-BEDDCA4EC8AC}"/>
              </a:ext>
            </a:extLst>
          </p:cNvPr>
          <p:cNvSpPr txBox="1"/>
          <p:nvPr/>
        </p:nvSpPr>
        <p:spPr>
          <a:xfrm>
            <a:off x="660343" y="1328426"/>
            <a:ext cx="10845063" cy="923330"/>
          </a:xfrm>
          <a:prstGeom prst="rect">
            <a:avLst/>
          </a:prstGeom>
          <a:noFill/>
        </p:spPr>
        <p:txBody>
          <a:bodyPr wrap="square" rtlCol="0">
            <a:spAutoFit/>
          </a:bodyPr>
          <a:lstStyle/>
          <a:p>
            <a:r>
              <a:rPr lang="es-CL" dirty="0"/>
              <a:t>La innovación de valor es buena pensándola desde demandas permanentes, que van cambiando su expresión de satisfacción en el tiempo, para distintos usuarios. Por ejemplo, salir a comer, ver deporte, vivienda, oficinas…</a:t>
            </a:r>
          </a:p>
        </p:txBody>
      </p:sp>
    </p:spTree>
    <p:extLst>
      <p:ext uri="{BB962C8B-B14F-4D97-AF65-F5344CB8AC3E}">
        <p14:creationId xmlns:p14="http://schemas.microsoft.com/office/powerpoint/2010/main" val="9931224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1492" name="Picture 4" descr="Hyatt Centric Las Condes 2 - a2s Consultores">
            <a:extLst>
              <a:ext uri="{FF2B5EF4-FFF2-40B4-BE49-F238E27FC236}">
                <a16:creationId xmlns:a16="http://schemas.microsoft.com/office/drawing/2014/main" id="{572D73AE-AA4F-44C1-8B32-CB62B9EFE4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76711" y="0"/>
            <a:ext cx="5151573"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91494" name="Picture 6" descr="Hyatt deja de operar icónico hotel en Las Condes por diferencias ...">
            <a:extLst>
              <a:ext uri="{FF2B5EF4-FFF2-40B4-BE49-F238E27FC236}">
                <a16:creationId xmlns:a16="http://schemas.microsoft.com/office/drawing/2014/main" id="{E4A2DDDE-454E-41E9-9016-C4827E54A4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7076714" cy="3976914"/>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7AA437D4-CCFB-481D-A5DE-A861225DB7C1}"/>
              </a:ext>
            </a:extLst>
          </p:cNvPr>
          <p:cNvSpPr txBox="1"/>
          <p:nvPr/>
        </p:nvSpPr>
        <p:spPr>
          <a:xfrm flipH="1">
            <a:off x="-3" y="3976912"/>
            <a:ext cx="7076713" cy="2881087"/>
          </a:xfrm>
          <a:prstGeom prst="rect">
            <a:avLst/>
          </a:prstGeom>
          <a:solidFill>
            <a:srgbClr val="000000"/>
          </a:solidFill>
          <a:ln w="25400" cap="flat" cmpd="sng" algn="ctr">
            <a:solidFill>
              <a:srgbClr val="000000">
                <a:shade val="50000"/>
              </a:srgbClr>
            </a:solidFill>
            <a:prstDash val="solid"/>
          </a:ln>
          <a:effectLst/>
        </p:spPr>
        <p:txBody>
          <a:bodyPr wrap="square" rtlCol="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CL" sz="2800" b="0" i="0" u="none" strike="noStrike" kern="0" cap="none" spc="0" normalizeH="0" baseline="0" noProof="0" dirty="0">
              <a:ln>
                <a:noFill/>
              </a:ln>
              <a:solidFill>
                <a:srgbClr val="FFFFFF"/>
              </a:solidFill>
              <a:effectLst/>
              <a:uLnTx/>
              <a:uFillTx/>
              <a:latin typeface="Gotham" panose="02000604030000020004" pitchFamily="50"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s-CL" sz="2800" b="0" i="0" u="none" strike="noStrike" kern="0" cap="none" spc="0" normalizeH="0" baseline="0" noProof="0" dirty="0">
                <a:ln>
                  <a:noFill/>
                </a:ln>
                <a:solidFill>
                  <a:srgbClr val="FFFFFF"/>
                </a:solidFill>
                <a:effectLst/>
                <a:uLnTx/>
                <a:uFillTx/>
                <a:latin typeface="Montserrat Medium" panose="00000600000000000000" pitchFamily="2" charset="0"/>
              </a:rPr>
              <a:t>En el tiempo se modifican las demandas de los clientes, cambiando los atributos centrales, composición y relevancia.</a:t>
            </a:r>
          </a:p>
        </p:txBody>
      </p:sp>
    </p:spTree>
    <p:extLst>
      <p:ext uri="{BB962C8B-B14F-4D97-AF65-F5344CB8AC3E}">
        <p14:creationId xmlns:p14="http://schemas.microsoft.com/office/powerpoint/2010/main" val="20993381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FD1F6441-C35F-426E-9B8A-F7B40C0CBA22}"/>
              </a:ext>
            </a:extLst>
          </p:cNvPr>
          <p:cNvSpPr/>
          <p:nvPr/>
        </p:nvSpPr>
        <p:spPr>
          <a:xfrm>
            <a:off x="5727700" y="1600227"/>
            <a:ext cx="5768975" cy="3774128"/>
          </a:xfrm>
          <a:prstGeom prst="rect">
            <a:avLst/>
          </a:prstGeom>
        </p:spPr>
        <p:txBody>
          <a:bodyPr wrap="square" lIns="108733" tIns="54365" rIns="108733" bIns="54365">
            <a:spAutoFit/>
          </a:bodyPr>
          <a:lstStyle/>
          <a:p>
            <a:pPr marL="0" marR="0" lvl="0" indent="0" algn="l" defTabSz="543721" rtl="0" eaLnBrk="1" fontAlgn="auto" latinLnBrk="0" hangingPunct="1">
              <a:lnSpc>
                <a:spcPct val="114000"/>
              </a:lnSpc>
              <a:spcBef>
                <a:spcPts val="0"/>
              </a:spcBef>
              <a:spcAft>
                <a:spcPts val="0"/>
              </a:spcAft>
              <a:buClrTx/>
              <a:buSzTx/>
              <a:buFontTx/>
              <a:buNone/>
              <a:tabLst/>
              <a:defRPr/>
            </a:pPr>
            <a:r>
              <a:rPr kumimoji="0" lang="es-CL" sz="1500" b="1" i="0" u="none" strike="noStrike" kern="1200" cap="none" spc="0" normalizeH="0" baseline="0" noProof="0" dirty="0">
                <a:ln>
                  <a:noFill/>
                </a:ln>
                <a:solidFill>
                  <a:srgbClr val="6439EF"/>
                </a:solidFill>
                <a:effectLst/>
                <a:uLnTx/>
                <a:uFillTx/>
                <a:cs typeface="TradeGothic Light"/>
              </a:rPr>
              <a:t>Dividir la masa de usuarios</a:t>
            </a:r>
            <a:r>
              <a:rPr kumimoji="0" lang="es-CL" sz="1500" b="0" i="0" u="none" strike="noStrike" kern="1200" cap="none" spc="0" normalizeH="0" baseline="0" noProof="0" dirty="0">
                <a:ln>
                  <a:noFill/>
                </a:ln>
                <a:solidFill>
                  <a:srgbClr val="000000"/>
                </a:solidFill>
                <a:effectLst/>
                <a:uLnTx/>
                <a:uFillTx/>
                <a:cs typeface="TradeGothic Light"/>
              </a:rPr>
              <a:t>, clientes e identificar a quien entregar </a:t>
            </a:r>
            <a:r>
              <a:rPr kumimoji="0" lang="es-CL" sz="1500" b="1" i="0" u="none" strike="noStrike" kern="1200" cap="none" spc="0" normalizeH="0" baseline="0" noProof="0" dirty="0">
                <a:ln>
                  <a:noFill/>
                </a:ln>
                <a:solidFill>
                  <a:srgbClr val="6439EF"/>
                </a:solidFill>
                <a:effectLst/>
                <a:uLnTx/>
                <a:uFillTx/>
                <a:cs typeface="TradeGothic Light"/>
              </a:rPr>
              <a:t>valor diferencial</a:t>
            </a:r>
            <a:r>
              <a:rPr kumimoji="0" lang="es-CL" sz="1500" b="0" i="0" u="none" strike="noStrike" kern="1200" cap="none" spc="0" normalizeH="0" baseline="0" noProof="0" dirty="0">
                <a:ln>
                  <a:noFill/>
                </a:ln>
                <a:solidFill>
                  <a:srgbClr val="000000"/>
                </a:solidFill>
                <a:effectLst/>
                <a:uLnTx/>
                <a:uFillTx/>
                <a:cs typeface="TradeGothic Light"/>
              </a:rPr>
              <a:t>. Formas de segmentar:</a:t>
            </a:r>
          </a:p>
          <a:p>
            <a:pPr marL="0" marR="0" lvl="0" indent="0" algn="l" defTabSz="543721" rtl="0" eaLnBrk="1" fontAlgn="auto" latinLnBrk="0" hangingPunct="1">
              <a:lnSpc>
                <a:spcPct val="114000"/>
              </a:lnSpc>
              <a:spcBef>
                <a:spcPts val="0"/>
              </a:spcBef>
              <a:spcAft>
                <a:spcPts val="0"/>
              </a:spcAft>
              <a:buClrTx/>
              <a:buSzTx/>
              <a:buFontTx/>
              <a:buNone/>
              <a:tabLst/>
              <a:defRPr/>
            </a:pPr>
            <a:endParaRPr lang="es-CL" sz="1500" dirty="0">
              <a:solidFill>
                <a:srgbClr val="000000"/>
              </a:solidFill>
              <a:cs typeface="TradeGothic Light"/>
            </a:endParaRPr>
          </a:p>
          <a:p>
            <a:pPr marL="285750" marR="0" lvl="0" indent="-285750" algn="l" defTabSz="543721"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s-CL" sz="1500" b="1" i="0" u="none" strike="noStrike" kern="1200" cap="none" spc="0" normalizeH="0" baseline="0" noProof="0" dirty="0">
                <a:ln>
                  <a:noFill/>
                </a:ln>
                <a:solidFill>
                  <a:srgbClr val="000000"/>
                </a:solidFill>
                <a:effectLst/>
                <a:uLnTx/>
                <a:uFillTx/>
                <a:cs typeface="TradeGothic Light"/>
              </a:rPr>
              <a:t>Geo demográficamente</a:t>
            </a:r>
            <a:r>
              <a:rPr lang="es-CL" sz="1500" dirty="0">
                <a:solidFill>
                  <a:srgbClr val="000000"/>
                </a:solidFill>
                <a:cs typeface="TradeGothic Light"/>
              </a:rPr>
              <a:t>: es segmentación por lugar, espacio, características de género, edad, altura, peso, etc. Variables descriptivas cuantitativas, estadística tradicional.</a:t>
            </a:r>
          </a:p>
          <a:p>
            <a:pPr marR="0" lvl="0" algn="l" defTabSz="543721" rtl="0" eaLnBrk="1" fontAlgn="auto" latinLnBrk="0" hangingPunct="1">
              <a:lnSpc>
                <a:spcPct val="114000"/>
              </a:lnSpc>
              <a:spcBef>
                <a:spcPts val="0"/>
              </a:spcBef>
              <a:spcAft>
                <a:spcPts val="0"/>
              </a:spcAft>
              <a:buClrTx/>
              <a:buSzTx/>
              <a:tabLst/>
              <a:defRPr/>
            </a:pPr>
            <a:endParaRPr lang="es-CL" sz="1500" dirty="0">
              <a:solidFill>
                <a:srgbClr val="000000"/>
              </a:solidFill>
              <a:cs typeface="TradeGothic Light"/>
            </a:endParaRPr>
          </a:p>
          <a:p>
            <a:pPr marL="285750" lvl="0" indent="-285750" defTabSz="543721">
              <a:lnSpc>
                <a:spcPct val="114000"/>
              </a:lnSpc>
              <a:buFont typeface="Arial" panose="020B0604020202020204" pitchFamily="34" charset="0"/>
              <a:buChar char="•"/>
              <a:defRPr/>
            </a:pPr>
            <a:r>
              <a:rPr kumimoji="0" lang="es-CL" sz="1500" b="1" i="0" u="none" strike="noStrike" kern="1200" cap="none" spc="0" normalizeH="0" baseline="0" noProof="0" dirty="0">
                <a:ln>
                  <a:noFill/>
                </a:ln>
                <a:solidFill>
                  <a:srgbClr val="000000"/>
                </a:solidFill>
                <a:effectLst/>
                <a:uLnTx/>
                <a:uFillTx/>
                <a:cs typeface="TradeGothic Light"/>
              </a:rPr>
              <a:t>Psico </a:t>
            </a:r>
            <a:r>
              <a:rPr lang="es-CL" sz="1500" b="1" dirty="0">
                <a:solidFill>
                  <a:srgbClr val="000000"/>
                </a:solidFill>
                <a:cs typeface="TradeGothic Light"/>
              </a:rPr>
              <a:t>gráficamente</a:t>
            </a:r>
            <a:r>
              <a:rPr lang="es-CL" sz="1500" dirty="0">
                <a:solidFill>
                  <a:srgbClr val="000000"/>
                </a:solidFill>
                <a:cs typeface="TradeGothic Light"/>
              </a:rPr>
              <a:t>: Personalidad, estilos de vida, intereses, gustos, inquietudes, opiniones, valores. </a:t>
            </a:r>
          </a:p>
          <a:p>
            <a:pPr marL="285750" lvl="0" indent="-285750" defTabSz="543721">
              <a:lnSpc>
                <a:spcPct val="114000"/>
              </a:lnSpc>
              <a:buFont typeface="Arial" panose="020B0604020202020204" pitchFamily="34" charset="0"/>
              <a:buChar char="•"/>
              <a:defRPr/>
            </a:pPr>
            <a:endParaRPr kumimoji="0" lang="es-CL" sz="1500" b="0" i="0" u="none" strike="noStrike" kern="1200" cap="none" spc="0" normalizeH="0" baseline="0" noProof="0" dirty="0">
              <a:ln>
                <a:noFill/>
              </a:ln>
              <a:solidFill>
                <a:srgbClr val="000000"/>
              </a:solidFill>
              <a:effectLst/>
              <a:uLnTx/>
              <a:uFillTx/>
              <a:cs typeface="TradeGothic Light"/>
            </a:endParaRPr>
          </a:p>
          <a:p>
            <a:pPr marL="285750" lvl="0" indent="-285750" defTabSz="543721">
              <a:lnSpc>
                <a:spcPct val="114000"/>
              </a:lnSpc>
              <a:buFont typeface="Arial" panose="020B0604020202020204" pitchFamily="34" charset="0"/>
              <a:buChar char="•"/>
              <a:defRPr/>
            </a:pPr>
            <a:r>
              <a:rPr kumimoji="0" lang="es-ES" sz="1500" b="1" i="0" u="none" strike="noStrike" kern="1200" cap="none" spc="0" normalizeH="0" baseline="0" noProof="0" dirty="0">
                <a:ln>
                  <a:noFill/>
                </a:ln>
                <a:solidFill>
                  <a:srgbClr val="000000"/>
                </a:solidFill>
                <a:effectLst/>
                <a:uLnTx/>
                <a:uFillTx/>
                <a:cs typeface="TradeGothic Light"/>
              </a:rPr>
              <a:t>Conductuales</a:t>
            </a:r>
            <a:r>
              <a:rPr kumimoji="0" lang="es-ES" sz="1500" b="0" i="0" u="none" strike="noStrike" kern="1200" cap="none" spc="0" normalizeH="0" baseline="0" noProof="0" dirty="0">
                <a:ln>
                  <a:noFill/>
                </a:ln>
                <a:solidFill>
                  <a:srgbClr val="000000"/>
                </a:solidFill>
                <a:effectLst/>
                <a:uLnTx/>
                <a:uFillTx/>
                <a:cs typeface="TradeGothic Light"/>
              </a:rPr>
              <a:t>: </a:t>
            </a:r>
            <a:r>
              <a:rPr lang="es-CL" sz="1500" dirty="0">
                <a:solidFill>
                  <a:srgbClr val="000000"/>
                </a:solidFill>
                <a:cs typeface="TradeGothic Light"/>
              </a:rPr>
              <a:t>Lealtad de marca, beneficios buscados (precio, calidad, servicio), tipo de usuario, nivel de uso (heavy / </a:t>
            </a:r>
            <a:r>
              <a:rPr lang="es-CL" sz="1500" dirty="0" err="1">
                <a:solidFill>
                  <a:srgbClr val="000000"/>
                </a:solidFill>
                <a:cs typeface="TradeGothic Light"/>
              </a:rPr>
              <a:t>ligth</a:t>
            </a:r>
            <a:r>
              <a:rPr lang="es-CL" sz="1500" dirty="0">
                <a:solidFill>
                  <a:srgbClr val="000000"/>
                </a:solidFill>
                <a:cs typeface="TradeGothic Light"/>
              </a:rPr>
              <a:t> </a:t>
            </a:r>
            <a:r>
              <a:rPr lang="es-CL" sz="1500" dirty="0" err="1">
                <a:solidFill>
                  <a:srgbClr val="000000"/>
                </a:solidFill>
                <a:cs typeface="TradeGothic Light"/>
              </a:rPr>
              <a:t>users</a:t>
            </a:r>
            <a:r>
              <a:rPr lang="es-CL" sz="1500" dirty="0">
                <a:solidFill>
                  <a:srgbClr val="000000"/>
                </a:solidFill>
                <a:cs typeface="TradeGothic Light"/>
              </a:rPr>
              <a:t>), entre otras.</a:t>
            </a:r>
            <a:endParaRPr lang="es-ES" sz="1500" dirty="0">
              <a:solidFill>
                <a:srgbClr val="000000"/>
              </a:solidFill>
              <a:cs typeface="TradeGothic Light"/>
            </a:endParaRPr>
          </a:p>
          <a:p>
            <a:pPr marL="0" marR="0" lvl="0" indent="0" algn="l" defTabSz="543721" rtl="0" eaLnBrk="1" fontAlgn="auto" latinLnBrk="0" hangingPunct="1">
              <a:lnSpc>
                <a:spcPct val="114000"/>
              </a:lnSpc>
              <a:spcBef>
                <a:spcPts val="0"/>
              </a:spcBef>
              <a:spcAft>
                <a:spcPts val="0"/>
              </a:spcAft>
              <a:buClrTx/>
              <a:buSzTx/>
              <a:buFontTx/>
              <a:buNone/>
              <a:tabLst/>
              <a:defRPr/>
            </a:pPr>
            <a:endParaRPr kumimoji="0" lang="es-ES" sz="1500" b="0" i="0" u="none" strike="noStrike" kern="1200" cap="none" spc="0" normalizeH="0" baseline="0" noProof="0" dirty="0">
              <a:ln>
                <a:noFill/>
              </a:ln>
              <a:solidFill>
                <a:srgbClr val="000000"/>
              </a:solidFill>
              <a:effectLst/>
              <a:uLnTx/>
              <a:uFillTx/>
              <a:cs typeface="TradeGothic Light"/>
            </a:endParaRPr>
          </a:p>
        </p:txBody>
      </p:sp>
      <p:sp>
        <p:nvSpPr>
          <p:cNvPr id="6" name="CuadroTexto 5">
            <a:extLst>
              <a:ext uri="{FF2B5EF4-FFF2-40B4-BE49-F238E27FC236}">
                <a16:creationId xmlns:a16="http://schemas.microsoft.com/office/drawing/2014/main" id="{EF43A9BB-F8C7-4B50-82B3-FA45FD11530B}"/>
              </a:ext>
            </a:extLst>
          </p:cNvPr>
          <p:cNvSpPr txBox="1"/>
          <p:nvPr/>
        </p:nvSpPr>
        <p:spPr>
          <a:xfrm>
            <a:off x="704850" y="1600227"/>
            <a:ext cx="4437306" cy="3740273"/>
          </a:xfrm>
          <a:prstGeom prst="rect">
            <a:avLst/>
          </a:prstGeom>
        </p:spPr>
        <p:txBody>
          <a:bodyPr wrap="square" lIns="108733" tIns="54365" rIns="108733" bIns="54365">
            <a:spAutoFit/>
          </a:bodyPr>
          <a:lstStyle>
            <a:defPPr>
              <a:defRPr lang="es-CL"/>
            </a:defPPr>
            <a:lvl1pPr marR="0" lvl="0" indent="0" defTabSz="543721" fontAlgn="auto">
              <a:lnSpc>
                <a:spcPct val="100000"/>
              </a:lnSpc>
              <a:spcBef>
                <a:spcPts val="0"/>
              </a:spcBef>
              <a:spcAft>
                <a:spcPts val="0"/>
              </a:spcAft>
              <a:buClrTx/>
              <a:buSzTx/>
              <a:buFontTx/>
              <a:buNone/>
              <a:tabLst/>
              <a:defRPr kumimoji="0" sz="1600" b="0" i="0" u="none" strike="noStrike" cap="none" spc="0" normalizeH="0" baseline="0">
                <a:ln>
                  <a:noFill/>
                </a:ln>
                <a:solidFill>
                  <a:srgbClr val="000000"/>
                </a:solidFill>
                <a:effectLst/>
                <a:uLnTx/>
                <a:uFillTx/>
                <a:latin typeface="Gotham" panose="02000604030000020004" pitchFamily="50" charset="0"/>
                <a:cs typeface="TradeGothic Light"/>
              </a:defRPr>
            </a:lvl1pPr>
          </a:lstStyle>
          <a:p>
            <a:pPr marL="0" marR="0" lvl="0" indent="0" algn="l" defTabSz="543721" rtl="0" eaLnBrk="1" fontAlgn="auto" latinLnBrk="0" hangingPunct="1">
              <a:lnSpc>
                <a:spcPct val="100000"/>
              </a:lnSpc>
              <a:spcBef>
                <a:spcPts val="0"/>
              </a:spcBef>
              <a:spcAft>
                <a:spcPts val="0"/>
              </a:spcAft>
              <a:buClrTx/>
              <a:buSzTx/>
              <a:buFontTx/>
              <a:buNone/>
              <a:tabLst/>
              <a:defRPr/>
            </a:pPr>
            <a:r>
              <a:rPr kumimoji="0" lang="es-CL" sz="1600" b="1" i="0" u="none" strike="noStrike" kern="1200" cap="none" spc="0" normalizeH="0" baseline="0" noProof="0" dirty="0">
                <a:ln>
                  <a:noFill/>
                </a:ln>
                <a:solidFill>
                  <a:srgbClr val="000000"/>
                </a:solidFill>
                <a:effectLst/>
                <a:uLnTx/>
                <a:uFillTx/>
                <a:latin typeface="+mn-lt"/>
              </a:rPr>
              <a:t>TEMAS</a:t>
            </a:r>
          </a:p>
          <a:p>
            <a:pPr marL="0" marR="0" lvl="0" indent="0" algn="l" defTabSz="543721" rtl="0" eaLnBrk="1" fontAlgn="auto" latinLnBrk="0" hangingPunct="1">
              <a:lnSpc>
                <a:spcPct val="100000"/>
              </a:lnSpc>
              <a:spcBef>
                <a:spcPts val="0"/>
              </a:spcBef>
              <a:spcAft>
                <a:spcPts val="0"/>
              </a:spcAft>
              <a:buClrTx/>
              <a:buSzTx/>
              <a:buFontTx/>
              <a:buNone/>
              <a:tabLst/>
              <a:defRPr/>
            </a:pPr>
            <a:endParaRPr kumimoji="0" lang="es-CL" sz="1600" b="0" i="0" u="none" strike="noStrike" kern="1200" cap="none" spc="0" normalizeH="0" baseline="0" noProof="0" dirty="0">
              <a:ln>
                <a:noFill/>
              </a:ln>
              <a:solidFill>
                <a:srgbClr val="000000"/>
              </a:solidFill>
              <a:effectLst/>
              <a:uLnTx/>
              <a:uFillTx/>
              <a:latin typeface="+mn-lt"/>
            </a:endParaRPr>
          </a:p>
          <a:p>
            <a:pPr marL="285750" lvl="0" indent="-285750">
              <a:lnSpc>
                <a:spcPct val="114000"/>
              </a:lnSpc>
              <a:buFont typeface="Arial" panose="020B0604020202020204" pitchFamily="34" charset="0"/>
              <a:buChar char="•"/>
              <a:defRPr/>
            </a:pPr>
            <a:r>
              <a:rPr lang="es-CL" sz="1500" dirty="0">
                <a:latin typeface="+mn-lt"/>
              </a:rPr>
              <a:t>La segmentación es la base para generar mejores ofertas de valor.</a:t>
            </a:r>
          </a:p>
          <a:p>
            <a:pPr marL="285750" lvl="0" indent="-285750">
              <a:lnSpc>
                <a:spcPct val="114000"/>
              </a:lnSpc>
              <a:buFont typeface="Arial" panose="020B0604020202020204" pitchFamily="34" charset="0"/>
              <a:buChar char="•"/>
              <a:defRPr/>
            </a:pPr>
            <a:r>
              <a:rPr lang="es-CL" sz="1500" dirty="0">
                <a:latin typeface="+mn-lt"/>
              </a:rPr>
              <a:t>Para la innovación sirve más la segmentación por características psicológicas y conductuales.</a:t>
            </a:r>
          </a:p>
          <a:p>
            <a:pPr marL="285750" lvl="0" indent="-285750">
              <a:lnSpc>
                <a:spcPct val="114000"/>
              </a:lnSpc>
              <a:buFont typeface="Arial" panose="020B0604020202020204" pitchFamily="34" charset="0"/>
              <a:buChar char="•"/>
              <a:defRPr/>
            </a:pPr>
            <a:r>
              <a:rPr lang="es-CL" sz="1500" dirty="0">
                <a:latin typeface="+mn-lt"/>
              </a:rPr>
              <a:t>La clave es entender variaciones en las demandas por distintos atributos desde distintos segmentos. Ejemplo: gente que desea música en baja volumen y otro alto volumen ¿Quiénes son? ¿Cómo segmentarlos? Al mantenerlos juntos, no se logra conformar a ninguno.</a:t>
            </a:r>
          </a:p>
        </p:txBody>
      </p:sp>
      <p:sp>
        <p:nvSpPr>
          <p:cNvPr id="7" name="Title 1">
            <a:extLst>
              <a:ext uri="{FF2B5EF4-FFF2-40B4-BE49-F238E27FC236}">
                <a16:creationId xmlns:a16="http://schemas.microsoft.com/office/drawing/2014/main" id="{E6D2019F-0E85-437E-AFE1-394128FC5EEF}"/>
              </a:ext>
            </a:extLst>
          </p:cNvPr>
          <p:cNvSpPr txBox="1">
            <a:spLocks/>
          </p:cNvSpPr>
          <p:nvPr/>
        </p:nvSpPr>
        <p:spPr>
          <a:xfrm>
            <a:off x="714375" y="561976"/>
            <a:ext cx="10515600" cy="55193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kern="1200">
                <a:solidFill>
                  <a:schemeClr val="tx1"/>
                </a:solidFill>
                <a:latin typeface="Montserrat ExtraBold" panose="00000900000000000000" pitchFamily="2" charset="0"/>
                <a:ea typeface="+mj-ea"/>
                <a:cs typeface="+mj-cs"/>
              </a:defRPr>
            </a:lvl1pPr>
          </a:lstStyle>
          <a:p>
            <a:r>
              <a:rPr lang="es-ES_tradnl" sz="2400" dirty="0"/>
              <a:t>La </a:t>
            </a:r>
            <a:r>
              <a:rPr lang="es-ES_tradnl" sz="2400" dirty="0">
                <a:solidFill>
                  <a:srgbClr val="6439EF"/>
                </a:solidFill>
              </a:rPr>
              <a:t>segmentación </a:t>
            </a:r>
            <a:r>
              <a:rPr lang="es-ES_tradnl" sz="2400" dirty="0"/>
              <a:t>como clave</a:t>
            </a:r>
          </a:p>
        </p:txBody>
      </p:sp>
    </p:spTree>
    <p:extLst>
      <p:ext uri="{BB962C8B-B14F-4D97-AF65-F5344CB8AC3E}">
        <p14:creationId xmlns:p14="http://schemas.microsoft.com/office/powerpoint/2010/main" val="19099068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a:extLst>
              <a:ext uri="{FF2B5EF4-FFF2-40B4-BE49-F238E27FC236}">
                <a16:creationId xmlns:a16="http://schemas.microsoft.com/office/drawing/2014/main" id="{7367C51A-D23C-1DC2-A7AF-B4BA924A8981}"/>
              </a:ext>
            </a:extLst>
          </p:cNvPr>
          <p:cNvGraphicFramePr>
            <a:graphicFrameLocks noGrp="1"/>
          </p:cNvGraphicFramePr>
          <p:nvPr/>
        </p:nvGraphicFramePr>
        <p:xfrm>
          <a:off x="658811" y="2924910"/>
          <a:ext cx="10874375" cy="3246224"/>
        </p:xfrm>
        <a:graphic>
          <a:graphicData uri="http://schemas.openxmlformats.org/drawingml/2006/table">
            <a:tbl>
              <a:tblPr firstRow="1" bandRow="1">
                <a:tableStyleId>{2D5ABB26-0587-4C30-8999-92F81FD0307C}</a:tableStyleId>
              </a:tblPr>
              <a:tblGrid>
                <a:gridCol w="2269584">
                  <a:extLst>
                    <a:ext uri="{9D8B030D-6E8A-4147-A177-3AD203B41FA5}">
                      <a16:colId xmlns:a16="http://schemas.microsoft.com/office/drawing/2014/main" val="20000"/>
                    </a:ext>
                  </a:extLst>
                </a:gridCol>
                <a:gridCol w="3923818">
                  <a:extLst>
                    <a:ext uri="{9D8B030D-6E8A-4147-A177-3AD203B41FA5}">
                      <a16:colId xmlns:a16="http://schemas.microsoft.com/office/drawing/2014/main" val="20001"/>
                    </a:ext>
                  </a:extLst>
                </a:gridCol>
                <a:gridCol w="4680973">
                  <a:extLst>
                    <a:ext uri="{9D8B030D-6E8A-4147-A177-3AD203B41FA5}">
                      <a16:colId xmlns:a16="http://schemas.microsoft.com/office/drawing/2014/main" val="2432266983"/>
                    </a:ext>
                  </a:extLst>
                </a:gridCol>
              </a:tblGrid>
              <a:tr h="343004">
                <a:tc>
                  <a:txBody>
                    <a:bodyPr/>
                    <a:lstStyle/>
                    <a:p>
                      <a:pPr marL="90805">
                        <a:lnSpc>
                          <a:spcPct val="100000"/>
                        </a:lnSpc>
                        <a:spcBef>
                          <a:spcPts val="280"/>
                        </a:spcBef>
                      </a:pPr>
                      <a:r>
                        <a:rPr lang="es-419" sz="1400" b="1" spc="-5" dirty="0">
                          <a:solidFill>
                            <a:srgbClr val="3C5154"/>
                          </a:solidFill>
                          <a:latin typeface="+mj-lt"/>
                        </a:rPr>
                        <a:t>GRUPO DE CLIENTES</a:t>
                      </a:r>
                      <a:endParaRPr lang="es-419" sz="1400" dirty="0">
                        <a:solidFill>
                          <a:srgbClr val="3C5154"/>
                        </a:solidFill>
                        <a:latin typeface="+mj-lt"/>
                        <a:cs typeface="Montserrat"/>
                      </a:endParaRPr>
                    </a:p>
                  </a:txBody>
                  <a:tcPr marL="0" marR="0" marT="3556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solidFill>
                  </a:tcPr>
                </a:tc>
                <a:tc>
                  <a:txBody>
                    <a:bodyPr/>
                    <a:lstStyle/>
                    <a:p>
                      <a:pPr marL="91440">
                        <a:lnSpc>
                          <a:spcPct val="100000"/>
                        </a:lnSpc>
                        <a:spcBef>
                          <a:spcPts val="280"/>
                        </a:spcBef>
                      </a:pPr>
                      <a:r>
                        <a:rPr lang="es-419" sz="1400" b="1" spc="-5" dirty="0">
                          <a:solidFill>
                            <a:srgbClr val="3C5154"/>
                          </a:solidFill>
                          <a:latin typeface="+mj-lt"/>
                        </a:rPr>
                        <a:t>DESCRIPCIÓN</a:t>
                      </a:r>
                      <a:endParaRPr lang="es-419" sz="1400" dirty="0">
                        <a:solidFill>
                          <a:srgbClr val="3C5154"/>
                        </a:solidFill>
                        <a:latin typeface="+mj-lt"/>
                        <a:cs typeface="Montserrat"/>
                      </a:endParaRPr>
                    </a:p>
                  </a:txBody>
                  <a:tcPr marL="0" marR="0" marT="3556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solidFill>
                  </a:tcPr>
                </a:tc>
                <a:tc>
                  <a:txBody>
                    <a:bodyPr/>
                    <a:lstStyle/>
                    <a:p>
                      <a:pPr marL="91440">
                        <a:lnSpc>
                          <a:spcPct val="100000"/>
                        </a:lnSpc>
                        <a:spcBef>
                          <a:spcPts val="280"/>
                        </a:spcBef>
                      </a:pPr>
                      <a:r>
                        <a:rPr lang="es-419" sz="1400" dirty="0">
                          <a:solidFill>
                            <a:srgbClr val="3C5154"/>
                          </a:solidFill>
                          <a:latin typeface="+mj-lt"/>
                          <a:cs typeface="Montserrat"/>
                        </a:rPr>
                        <a:t>¿POR QUE NO LO RECONOCE LA INDUSTRIA?</a:t>
                      </a:r>
                    </a:p>
                  </a:txBody>
                  <a:tcPr marL="0" marR="0" marT="3556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solidFill>
                  </a:tcPr>
                </a:tc>
                <a:extLst>
                  <a:ext uri="{0D108BD9-81ED-4DB2-BD59-A6C34878D82A}">
                    <a16:rowId xmlns:a16="http://schemas.microsoft.com/office/drawing/2014/main" val="10000"/>
                  </a:ext>
                </a:extLst>
              </a:tr>
              <a:tr h="1792118">
                <a:tc>
                  <a:txBody>
                    <a:bodyPr/>
                    <a:lstStyle/>
                    <a:p>
                      <a:pPr marL="90805" marR="116205">
                        <a:lnSpc>
                          <a:spcPct val="100000"/>
                        </a:lnSpc>
                        <a:spcBef>
                          <a:spcPts val="300"/>
                        </a:spcBef>
                        <a:buClr>
                          <a:srgbClr val="4FE14F"/>
                        </a:buClr>
                      </a:pPr>
                      <a:r>
                        <a:rPr lang="es-419" sz="1400" b="0" spc="-5" dirty="0">
                          <a:solidFill>
                            <a:schemeClr val="accent2"/>
                          </a:solidFill>
                          <a:latin typeface="Raleway" panose="020B0003030101060003" pitchFamily="34" charset="0"/>
                          <a:cs typeface="SF Pro Display"/>
                        </a:rPr>
                        <a:t>Definir un nombre que identifique un segmento reconocido</a:t>
                      </a:r>
                    </a:p>
                    <a:p>
                      <a:pPr marL="90805" marR="116205">
                        <a:lnSpc>
                          <a:spcPct val="100000"/>
                        </a:lnSpc>
                        <a:spcBef>
                          <a:spcPts val="300"/>
                        </a:spcBef>
                        <a:buClr>
                          <a:srgbClr val="4FE14F"/>
                        </a:buClr>
                      </a:pPr>
                      <a:endParaRPr lang="es-419" sz="1400" b="0" spc="-5" dirty="0">
                        <a:solidFill>
                          <a:schemeClr val="accent2"/>
                        </a:solidFill>
                        <a:latin typeface="Raleway" panose="020B0003030101060003" pitchFamily="34" charset="0"/>
                        <a:cs typeface="SF Pro Display"/>
                      </a:endParaRPr>
                    </a:p>
                    <a:p>
                      <a:pPr marL="90805" marR="116205">
                        <a:lnSpc>
                          <a:spcPct val="100000"/>
                        </a:lnSpc>
                        <a:spcBef>
                          <a:spcPts val="300"/>
                        </a:spcBef>
                        <a:buClr>
                          <a:srgbClr val="4FE14F"/>
                        </a:buClr>
                      </a:pPr>
                      <a:r>
                        <a:rPr lang="es-419" sz="1400" b="1" spc="-5" dirty="0">
                          <a:solidFill>
                            <a:schemeClr val="accent2"/>
                          </a:solidFill>
                          <a:latin typeface="Raleway" panose="020B0003030101060003" pitchFamily="34" charset="0"/>
                          <a:cs typeface="SF Pro Display"/>
                        </a:rPr>
                        <a:t>Familia profesional creciendo</a:t>
                      </a:r>
                    </a:p>
                    <a:p>
                      <a:pPr marL="90805" marR="116205">
                        <a:lnSpc>
                          <a:spcPct val="100000"/>
                        </a:lnSpc>
                        <a:spcBef>
                          <a:spcPts val="300"/>
                        </a:spcBef>
                        <a:buClr>
                          <a:srgbClr val="4FE14F"/>
                        </a:buClr>
                      </a:pPr>
                      <a:endParaRPr lang="es-419" sz="1400" b="1" spc="-5" dirty="0">
                        <a:solidFill>
                          <a:schemeClr val="accent2"/>
                        </a:solidFill>
                        <a:latin typeface="Raleway" panose="020B0003030101060003" pitchFamily="34" charset="0"/>
                        <a:cs typeface="SF Pro Display"/>
                      </a:endParaRPr>
                    </a:p>
                    <a:p>
                      <a:pPr marL="90805" marR="116205">
                        <a:lnSpc>
                          <a:spcPct val="100000"/>
                        </a:lnSpc>
                        <a:spcBef>
                          <a:spcPts val="300"/>
                        </a:spcBef>
                        <a:buClr>
                          <a:srgbClr val="4FE14F"/>
                        </a:buClr>
                      </a:pPr>
                      <a:endParaRPr lang="es-419" sz="1400" b="1" spc="-5" dirty="0">
                        <a:solidFill>
                          <a:schemeClr val="accent2"/>
                        </a:solidFill>
                        <a:latin typeface="Raleway" panose="020B0003030101060003" pitchFamily="34" charset="0"/>
                        <a:cs typeface="SF Pro Display"/>
                      </a:endParaRPr>
                    </a:p>
                    <a:p>
                      <a:pPr marL="90805" marR="116205">
                        <a:lnSpc>
                          <a:spcPct val="100000"/>
                        </a:lnSpc>
                        <a:spcBef>
                          <a:spcPts val="300"/>
                        </a:spcBef>
                        <a:buClr>
                          <a:srgbClr val="4FE14F"/>
                        </a:buClr>
                      </a:pPr>
                      <a:endParaRPr lang="es-419" sz="1400" b="1" spc="-5" dirty="0">
                        <a:solidFill>
                          <a:schemeClr val="accent2"/>
                        </a:solidFill>
                        <a:latin typeface="Raleway" panose="020B0003030101060003" pitchFamily="34" charset="0"/>
                        <a:cs typeface="SF Pro Display"/>
                      </a:endParaRPr>
                    </a:p>
                    <a:p>
                      <a:pPr marL="90805" marR="116205">
                        <a:lnSpc>
                          <a:spcPct val="100000"/>
                        </a:lnSpc>
                        <a:spcBef>
                          <a:spcPts val="300"/>
                        </a:spcBef>
                        <a:buClr>
                          <a:srgbClr val="4FE14F"/>
                        </a:buClr>
                      </a:pPr>
                      <a:endParaRPr lang="es-419" sz="1400" b="1" spc="-5" dirty="0">
                        <a:solidFill>
                          <a:schemeClr val="accent2"/>
                        </a:solidFill>
                        <a:latin typeface="Raleway" panose="020B0003030101060003" pitchFamily="34" charset="0"/>
                        <a:cs typeface="SF Pro Display"/>
                      </a:endParaRPr>
                    </a:p>
                    <a:p>
                      <a:pPr marL="90805" marR="116205">
                        <a:lnSpc>
                          <a:spcPct val="100000"/>
                        </a:lnSpc>
                        <a:spcBef>
                          <a:spcPts val="300"/>
                        </a:spcBef>
                        <a:buClr>
                          <a:srgbClr val="4FE14F"/>
                        </a:buClr>
                      </a:pPr>
                      <a:endParaRPr lang="es-419" sz="1400" b="1" spc="-5" dirty="0">
                        <a:solidFill>
                          <a:schemeClr val="accent2"/>
                        </a:solidFill>
                        <a:latin typeface="Raleway" panose="020B0003030101060003" pitchFamily="34" charset="0"/>
                        <a:cs typeface="SF Pro Display"/>
                      </a:endParaRPr>
                    </a:p>
                    <a:p>
                      <a:pPr marL="90805" marR="116205">
                        <a:lnSpc>
                          <a:spcPct val="100000"/>
                        </a:lnSpc>
                        <a:spcBef>
                          <a:spcPts val="300"/>
                        </a:spcBef>
                        <a:buClr>
                          <a:srgbClr val="4FE14F"/>
                        </a:buClr>
                      </a:pPr>
                      <a:endParaRPr lang="es-419" sz="1400" b="1" dirty="0">
                        <a:solidFill>
                          <a:schemeClr val="accent2"/>
                        </a:solidFill>
                        <a:latin typeface="Raleway" panose="020B0003030101060003" pitchFamily="34" charset="0"/>
                        <a:cs typeface="SF Pro Display"/>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377825" marR="323850" indent="-287020">
                        <a:lnSpc>
                          <a:spcPct val="100000"/>
                        </a:lnSpc>
                        <a:spcBef>
                          <a:spcPts val="300"/>
                        </a:spcBef>
                        <a:buClr>
                          <a:srgbClr val="4FE14F"/>
                        </a:buClr>
                        <a:buFont typeface="Arial"/>
                        <a:buChar char="•"/>
                        <a:tabLst>
                          <a:tab pos="377825" algn="l"/>
                          <a:tab pos="378460" algn="l"/>
                        </a:tabLst>
                      </a:pPr>
                      <a:r>
                        <a:rPr lang="es-MX" sz="1400" b="0" spc="-45" dirty="0">
                          <a:solidFill>
                            <a:schemeClr val="accent2"/>
                          </a:solidFill>
                          <a:latin typeface="Raleway" panose="020B0003030101060003" pitchFamily="34" charset="0"/>
                          <a:cs typeface="SF Pro Display"/>
                        </a:rPr>
                        <a:t>Generar un primer relato descriptivo, basado en caraterísticas demograficas, psicograficas y conductuales</a:t>
                      </a:r>
                    </a:p>
                    <a:p>
                      <a:pPr marL="377825" marR="323850" indent="-287020">
                        <a:lnSpc>
                          <a:spcPct val="100000"/>
                        </a:lnSpc>
                        <a:spcBef>
                          <a:spcPts val="300"/>
                        </a:spcBef>
                        <a:buClr>
                          <a:srgbClr val="4FE14F"/>
                        </a:buClr>
                        <a:buFont typeface="Arial"/>
                        <a:buChar char="•"/>
                        <a:tabLst>
                          <a:tab pos="377825" algn="l"/>
                          <a:tab pos="378460" algn="l"/>
                        </a:tabLst>
                      </a:pPr>
                      <a:r>
                        <a:rPr lang="es-CL" sz="1400" b="1" dirty="0">
                          <a:solidFill>
                            <a:schemeClr val="accent2"/>
                          </a:solidFill>
                        </a:rPr>
                        <a:t>Profesionales con pocos hijos que van al colegio, rondan los 40 años, y están decidiendo remodelar la casa, tienen ideas, pero han visto diseños de conocidos, van a invertir con tiempo y de una vez. Tienen presupuesto, necesitan buena contraparte, les preocupan los fiascos… </a:t>
                      </a:r>
                      <a:endParaRPr lang="es-MX" sz="1400" b="1" spc="-45" dirty="0">
                        <a:solidFill>
                          <a:schemeClr val="accent2"/>
                        </a:solidFill>
                        <a:latin typeface="Raleway" panose="020B0003030101060003" pitchFamily="34" charset="0"/>
                        <a:cs typeface="SF Pro Display"/>
                      </a:endParaRPr>
                    </a:p>
                    <a:p>
                      <a:pPr marL="377825" marR="323850" indent="-287020">
                        <a:lnSpc>
                          <a:spcPct val="100000"/>
                        </a:lnSpc>
                        <a:spcBef>
                          <a:spcPts val="300"/>
                        </a:spcBef>
                        <a:buClr>
                          <a:srgbClr val="4FE14F"/>
                        </a:buClr>
                        <a:buFont typeface="Arial"/>
                        <a:buChar char="•"/>
                        <a:tabLst>
                          <a:tab pos="377825" algn="l"/>
                          <a:tab pos="378460" algn="l"/>
                        </a:tabLst>
                      </a:pPr>
                      <a:endParaRPr lang="es-MX" sz="1400" b="0" dirty="0">
                        <a:solidFill>
                          <a:schemeClr val="accent2"/>
                        </a:solidFill>
                        <a:latin typeface="Raleway" panose="020B0003030101060003" pitchFamily="34" charset="0"/>
                        <a:cs typeface="SF Pro Display"/>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377825" marR="148590" indent="-287020">
                        <a:lnSpc>
                          <a:spcPct val="100000"/>
                        </a:lnSpc>
                        <a:spcBef>
                          <a:spcPts val="300"/>
                        </a:spcBef>
                        <a:buClr>
                          <a:srgbClr val="4FE14F"/>
                        </a:buClr>
                        <a:buFont typeface="Arial"/>
                        <a:buChar char="•"/>
                        <a:tabLst>
                          <a:tab pos="377825" algn="l"/>
                          <a:tab pos="378460" algn="l"/>
                        </a:tabLst>
                      </a:pPr>
                      <a:endParaRPr lang="es-MX" sz="1400" b="0" dirty="0">
                        <a:solidFill>
                          <a:schemeClr val="accent2"/>
                        </a:solidFill>
                        <a:latin typeface="Raleway" panose="020B0003030101060003" pitchFamily="34" charset="0"/>
                        <a:cs typeface="SF Pro Display"/>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6" name="Marcador de texto 4">
            <a:extLst>
              <a:ext uri="{FF2B5EF4-FFF2-40B4-BE49-F238E27FC236}">
                <a16:creationId xmlns:a16="http://schemas.microsoft.com/office/drawing/2014/main" id="{2485355F-4D6A-AA41-0B1C-AAF9E9B9CCF0}"/>
              </a:ext>
            </a:extLst>
          </p:cNvPr>
          <p:cNvSpPr txBox="1">
            <a:spLocks/>
          </p:cNvSpPr>
          <p:nvPr/>
        </p:nvSpPr>
        <p:spPr>
          <a:xfrm>
            <a:off x="658811" y="686866"/>
            <a:ext cx="10874374" cy="2088991"/>
          </a:xfrm>
          <a:prstGeom prst="rect">
            <a:avLst/>
          </a:prstGeom>
        </p:spPr>
        <p:txBody>
          <a:bodyPr/>
          <a:lstStyle>
            <a:lvl1pPr marL="228600" indent="-228600" algn="l" defTabSz="914400" rtl="0" eaLnBrk="1" latinLnBrk="0" hangingPunct="1">
              <a:lnSpc>
                <a:spcPct val="90000"/>
              </a:lnSpc>
              <a:spcBef>
                <a:spcPts val="1000"/>
              </a:spcBef>
              <a:buClr>
                <a:schemeClr val="accent4"/>
              </a:buClr>
              <a:buFont typeface="Wingdings" pitchFamily="2" charset="2"/>
              <a:buChar char="§"/>
              <a:defRPr sz="1800" kern="1200">
                <a:solidFill>
                  <a:schemeClr val="tx1"/>
                </a:solidFill>
                <a:latin typeface="+mn-lt"/>
                <a:ea typeface="Open Sans SemiBold" panose="020B0706030804020204" pitchFamily="34" charset="0"/>
                <a:cs typeface="Open Sans SemiBold" panose="020B0706030804020204" pitchFamily="34" charset="0"/>
              </a:defRPr>
            </a:lvl1pPr>
            <a:lvl2pPr marL="685800" indent="-228600" algn="l" defTabSz="914400" rtl="0" eaLnBrk="1" latinLnBrk="0" hangingPunct="1">
              <a:lnSpc>
                <a:spcPct val="90000"/>
              </a:lnSpc>
              <a:spcBef>
                <a:spcPts val="500"/>
              </a:spcBef>
              <a:buClr>
                <a:schemeClr val="accent4"/>
              </a:buClr>
              <a:buFont typeface="Wingdings"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4"/>
              </a:buClr>
              <a:buFont typeface="Wingdings"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4"/>
              </a:buClr>
              <a:buFont typeface="Wingdings" pitchFamily="2" charset="2"/>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4"/>
              </a:buClr>
              <a:buFont typeface="Wingdings"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CL" dirty="0"/>
              <a:t>Consiste en definir usuarios en forma inicial, segmentando, asignando nombres y contando relatos referenciales…</a:t>
            </a:r>
          </a:p>
          <a:p>
            <a:r>
              <a:rPr lang="es-CL" dirty="0"/>
              <a:t>Ejemplos.</a:t>
            </a:r>
          </a:p>
          <a:p>
            <a:pPr lvl="1"/>
            <a:r>
              <a:rPr lang="es-CL" dirty="0"/>
              <a:t>Familia profesional creciendo</a:t>
            </a:r>
          </a:p>
          <a:p>
            <a:pPr lvl="1"/>
            <a:r>
              <a:rPr lang="es-CL" dirty="0"/>
              <a:t>Adultos mayores que venderán</a:t>
            </a:r>
          </a:p>
          <a:p>
            <a:r>
              <a:rPr lang="es-CL" dirty="0"/>
              <a:t>Ir abriendo segmentos no atendidos…</a:t>
            </a:r>
          </a:p>
        </p:txBody>
      </p:sp>
    </p:spTree>
    <p:extLst>
      <p:ext uri="{BB962C8B-B14F-4D97-AF65-F5344CB8AC3E}">
        <p14:creationId xmlns:p14="http://schemas.microsoft.com/office/powerpoint/2010/main" val="23782131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1A4D5647-4E44-1ED6-3587-374323019635}"/>
              </a:ext>
            </a:extLst>
          </p:cNvPr>
          <p:cNvSpPr>
            <a:spLocks noGrp="1"/>
          </p:cNvSpPr>
          <p:nvPr>
            <p:ph type="sldNum" sz="quarter" idx="4"/>
          </p:nvPr>
        </p:nvSpPr>
        <p:spPr/>
        <p:txBody>
          <a:bodyPr/>
          <a:lstStyle/>
          <a:p>
            <a:pPr defTabSz="914446" eaLnBrk="1" fontAlgn="auto" hangingPunct="1">
              <a:spcBef>
                <a:spcPts val="0"/>
              </a:spcBef>
              <a:spcAft>
                <a:spcPts val="0"/>
              </a:spcAft>
            </a:pPr>
            <a:fld id="{51ED9358-27BD-4757-8BC3-FCFAB6CB8B4F}" type="slidenum">
              <a:rPr lang="es-CL" smtClean="0">
                <a:solidFill>
                  <a:prstClr val="black"/>
                </a:solidFill>
                <a:cs typeface="+mn-cs"/>
              </a:rPr>
              <a:pPr defTabSz="914446" eaLnBrk="1" fontAlgn="auto" hangingPunct="1">
                <a:spcBef>
                  <a:spcPts val="0"/>
                </a:spcBef>
                <a:spcAft>
                  <a:spcPts val="0"/>
                </a:spcAft>
              </a:pPr>
              <a:t>34</a:t>
            </a:fld>
            <a:endParaRPr lang="es-CL" dirty="0">
              <a:solidFill>
                <a:prstClr val="black"/>
              </a:solidFill>
              <a:cs typeface="+mn-cs"/>
            </a:endParaRPr>
          </a:p>
        </p:txBody>
      </p:sp>
      <p:sp>
        <p:nvSpPr>
          <p:cNvPr id="5" name="Title 1">
            <a:extLst>
              <a:ext uri="{FF2B5EF4-FFF2-40B4-BE49-F238E27FC236}">
                <a16:creationId xmlns:a16="http://schemas.microsoft.com/office/drawing/2014/main" id="{D6597755-0DAA-107C-0A53-D424CF0C25D0}"/>
              </a:ext>
            </a:extLst>
          </p:cNvPr>
          <p:cNvSpPr txBox="1">
            <a:spLocks/>
          </p:cNvSpPr>
          <p:nvPr/>
        </p:nvSpPr>
        <p:spPr>
          <a:xfrm>
            <a:off x="714375" y="561976"/>
            <a:ext cx="10515600" cy="55193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kern="1200">
                <a:solidFill>
                  <a:schemeClr val="tx1"/>
                </a:solidFill>
                <a:latin typeface="Montserrat ExtraBold" panose="00000900000000000000" pitchFamily="2" charset="0"/>
                <a:ea typeface="+mj-ea"/>
                <a:cs typeface="+mj-cs"/>
              </a:defRPr>
            </a:lvl1pPr>
          </a:lstStyle>
          <a:p>
            <a:r>
              <a:rPr lang="es-ES_tradnl" sz="2400" dirty="0"/>
              <a:t>Los </a:t>
            </a:r>
            <a:r>
              <a:rPr lang="es-ES_tradnl" sz="2400" dirty="0">
                <a:solidFill>
                  <a:srgbClr val="6439EF"/>
                </a:solidFill>
              </a:rPr>
              <a:t>atributos </a:t>
            </a:r>
            <a:r>
              <a:rPr lang="es-ES_tradnl" sz="2400" dirty="0"/>
              <a:t>de los productos</a:t>
            </a:r>
          </a:p>
        </p:txBody>
      </p:sp>
      <p:sp>
        <p:nvSpPr>
          <p:cNvPr id="2" name="CuadroTexto 1">
            <a:extLst>
              <a:ext uri="{FF2B5EF4-FFF2-40B4-BE49-F238E27FC236}">
                <a16:creationId xmlns:a16="http://schemas.microsoft.com/office/drawing/2014/main" id="{3A624821-C03B-3D92-FF26-E83438245B20}"/>
              </a:ext>
            </a:extLst>
          </p:cNvPr>
          <p:cNvSpPr txBox="1"/>
          <p:nvPr/>
        </p:nvSpPr>
        <p:spPr>
          <a:xfrm>
            <a:off x="658813" y="1412874"/>
            <a:ext cx="5961906" cy="933736"/>
          </a:xfrm>
          <a:prstGeom prst="rect">
            <a:avLst/>
          </a:prstGeom>
          <a:solidFill>
            <a:schemeClr val="accent3"/>
          </a:solidFill>
          <a:ln w="28575">
            <a:solidFill>
              <a:schemeClr val="bg1"/>
            </a:solidFill>
          </a:ln>
        </p:spPr>
        <p:txBody>
          <a:bodyPr wrap="square" lIns="468000" tIns="0" bIns="0" rtlCol="0" anchor="ctr">
            <a:noAutofit/>
          </a:bodyPr>
          <a:lstStyle/>
          <a:p>
            <a:pPr lvl="0">
              <a:defRPr/>
            </a:pPr>
            <a:r>
              <a:rPr lang="es-CL" sz="1600" dirty="0">
                <a:solidFill>
                  <a:schemeClr val="bg1"/>
                </a:solidFill>
              </a:rPr>
              <a:t>Definir atributos que determinan el éxito en la industria</a:t>
            </a:r>
            <a:endParaRPr lang="es-CL" sz="1300" dirty="0">
              <a:solidFill>
                <a:schemeClr val="bg1"/>
              </a:solidFill>
            </a:endParaRPr>
          </a:p>
        </p:txBody>
      </p:sp>
      <p:graphicFrame>
        <p:nvGraphicFramePr>
          <p:cNvPr id="7" name="object 4">
            <a:extLst>
              <a:ext uri="{FF2B5EF4-FFF2-40B4-BE49-F238E27FC236}">
                <a16:creationId xmlns:a16="http://schemas.microsoft.com/office/drawing/2014/main" id="{A91186E0-8F08-A0B6-099A-6CB6DAEFE4DD}"/>
              </a:ext>
            </a:extLst>
          </p:cNvPr>
          <p:cNvGraphicFramePr>
            <a:graphicFrameLocks noGrp="1"/>
          </p:cNvGraphicFramePr>
          <p:nvPr/>
        </p:nvGraphicFramePr>
        <p:xfrm>
          <a:off x="658811" y="3117825"/>
          <a:ext cx="10290839" cy="2582884"/>
        </p:xfrm>
        <a:graphic>
          <a:graphicData uri="http://schemas.openxmlformats.org/drawingml/2006/table">
            <a:tbl>
              <a:tblPr firstRow="1" bandRow="1">
                <a:tableStyleId>{2D5ABB26-0587-4C30-8999-92F81FD0307C}</a:tableStyleId>
              </a:tblPr>
              <a:tblGrid>
                <a:gridCol w="1999517">
                  <a:extLst>
                    <a:ext uri="{9D8B030D-6E8A-4147-A177-3AD203B41FA5}">
                      <a16:colId xmlns:a16="http://schemas.microsoft.com/office/drawing/2014/main" val="20000"/>
                    </a:ext>
                  </a:extLst>
                </a:gridCol>
                <a:gridCol w="8291322">
                  <a:extLst>
                    <a:ext uri="{9D8B030D-6E8A-4147-A177-3AD203B41FA5}">
                      <a16:colId xmlns:a16="http://schemas.microsoft.com/office/drawing/2014/main" val="20001"/>
                    </a:ext>
                  </a:extLst>
                </a:gridCol>
              </a:tblGrid>
              <a:tr h="407824">
                <a:tc>
                  <a:txBody>
                    <a:bodyPr/>
                    <a:lstStyle/>
                    <a:p>
                      <a:pPr marL="90805">
                        <a:lnSpc>
                          <a:spcPct val="100000"/>
                        </a:lnSpc>
                        <a:spcBef>
                          <a:spcPts val="280"/>
                        </a:spcBef>
                      </a:pPr>
                      <a:r>
                        <a:rPr lang="es-419" sz="1400" b="1" spc="-5" dirty="0">
                          <a:solidFill>
                            <a:srgbClr val="3C5154"/>
                          </a:solidFill>
                          <a:latin typeface="+mj-lt"/>
                        </a:rPr>
                        <a:t>ATRIBUTO</a:t>
                      </a:r>
                      <a:endParaRPr lang="es-419" sz="1400" dirty="0">
                        <a:solidFill>
                          <a:srgbClr val="3C5154"/>
                        </a:solidFill>
                        <a:latin typeface="+mj-lt"/>
                        <a:cs typeface="Montserrat"/>
                      </a:endParaRPr>
                    </a:p>
                  </a:txBody>
                  <a:tcPr marL="0" marR="0" marT="3556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solidFill>
                  </a:tcPr>
                </a:tc>
                <a:tc>
                  <a:txBody>
                    <a:bodyPr/>
                    <a:lstStyle/>
                    <a:p>
                      <a:pPr marL="91440">
                        <a:lnSpc>
                          <a:spcPct val="100000"/>
                        </a:lnSpc>
                        <a:spcBef>
                          <a:spcPts val="280"/>
                        </a:spcBef>
                      </a:pPr>
                      <a:r>
                        <a:rPr lang="es-419" sz="1400" b="1" spc="-5" dirty="0">
                          <a:solidFill>
                            <a:srgbClr val="3C5154"/>
                          </a:solidFill>
                          <a:latin typeface="+mj-lt"/>
                        </a:rPr>
                        <a:t>DESCRIPCIÓN</a:t>
                      </a:r>
                      <a:endParaRPr lang="es-419" sz="1400" dirty="0">
                        <a:solidFill>
                          <a:srgbClr val="3C5154"/>
                        </a:solidFill>
                        <a:latin typeface="+mj-lt"/>
                        <a:cs typeface="Montserrat"/>
                      </a:endParaRPr>
                    </a:p>
                  </a:txBody>
                  <a:tcPr marL="0" marR="0" marT="3556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solidFill>
                  </a:tcPr>
                </a:tc>
                <a:extLst>
                  <a:ext uri="{0D108BD9-81ED-4DB2-BD59-A6C34878D82A}">
                    <a16:rowId xmlns:a16="http://schemas.microsoft.com/office/drawing/2014/main" val="10000"/>
                  </a:ext>
                </a:extLst>
              </a:tr>
              <a:tr h="362510">
                <a:tc>
                  <a:txBody>
                    <a:bodyPr/>
                    <a:lstStyle/>
                    <a:p>
                      <a:pPr marL="90805">
                        <a:lnSpc>
                          <a:spcPct val="100000"/>
                        </a:lnSpc>
                        <a:spcBef>
                          <a:spcPts val="300"/>
                        </a:spcBef>
                      </a:pPr>
                      <a:r>
                        <a:rPr sz="1400" b="0" spc="-5" dirty="0">
                          <a:solidFill>
                            <a:schemeClr val="tx1"/>
                          </a:solidFill>
                        </a:rPr>
                        <a:t>Conveniencia</a:t>
                      </a:r>
                      <a:endParaRPr sz="1400" b="0" dirty="0">
                        <a:solidFill>
                          <a:schemeClr val="tx1"/>
                        </a:solidFill>
                        <a:latin typeface="Raleway" panose="020B0003030101060003" pitchFamily="34" charset="0"/>
                        <a:cs typeface="SF Pro Display"/>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0805">
                        <a:lnSpc>
                          <a:spcPct val="100000"/>
                        </a:lnSpc>
                        <a:spcBef>
                          <a:spcPts val="300"/>
                        </a:spcBef>
                      </a:pPr>
                      <a:r>
                        <a:rPr sz="1400" b="0" spc="-45" dirty="0">
                          <a:solidFill>
                            <a:schemeClr val="tx1"/>
                          </a:solidFill>
                        </a:rPr>
                        <a:t>Nivel </a:t>
                      </a:r>
                      <a:r>
                        <a:rPr sz="1400" b="0" spc="-30" dirty="0">
                          <a:solidFill>
                            <a:schemeClr val="tx1"/>
                          </a:solidFill>
                        </a:rPr>
                        <a:t>de </a:t>
                      </a:r>
                      <a:r>
                        <a:rPr sz="1400" b="0" spc="-65" dirty="0">
                          <a:solidFill>
                            <a:schemeClr val="tx1"/>
                          </a:solidFill>
                        </a:rPr>
                        <a:t>maximización </a:t>
                      </a:r>
                      <a:r>
                        <a:rPr sz="1400" b="0" spc="-30" dirty="0">
                          <a:solidFill>
                            <a:schemeClr val="tx1"/>
                          </a:solidFill>
                        </a:rPr>
                        <a:t>de la </a:t>
                      </a:r>
                      <a:r>
                        <a:rPr sz="1400" b="0" spc="-60" dirty="0">
                          <a:solidFill>
                            <a:schemeClr val="tx1"/>
                          </a:solidFill>
                        </a:rPr>
                        <a:t>relación </a:t>
                      </a:r>
                      <a:r>
                        <a:rPr sz="1400" b="0" spc="-55" dirty="0">
                          <a:solidFill>
                            <a:schemeClr val="tx1"/>
                          </a:solidFill>
                        </a:rPr>
                        <a:t>precio</a:t>
                      </a:r>
                      <a:r>
                        <a:rPr sz="1400" b="0" spc="-110" dirty="0">
                          <a:solidFill>
                            <a:schemeClr val="tx1"/>
                          </a:solidFill>
                        </a:rPr>
                        <a:t> </a:t>
                      </a:r>
                      <a:r>
                        <a:rPr sz="1400" b="0" spc="-55" dirty="0">
                          <a:solidFill>
                            <a:schemeClr val="tx1"/>
                          </a:solidFill>
                        </a:rPr>
                        <a:t>calidad</a:t>
                      </a:r>
                      <a:endParaRPr sz="1400" b="0" dirty="0">
                        <a:solidFill>
                          <a:schemeClr val="tx1"/>
                        </a:solidFill>
                        <a:latin typeface="Raleway" panose="020B0003030101060003" pitchFamily="34" charset="0"/>
                        <a:cs typeface="SF Pro Display"/>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001"/>
                  </a:ext>
                </a:extLst>
              </a:tr>
              <a:tr h="362510">
                <a:tc>
                  <a:txBody>
                    <a:bodyPr/>
                    <a:lstStyle/>
                    <a:p>
                      <a:pPr marL="90805">
                        <a:lnSpc>
                          <a:spcPct val="100000"/>
                        </a:lnSpc>
                        <a:spcBef>
                          <a:spcPts val="300"/>
                        </a:spcBef>
                      </a:pPr>
                      <a:r>
                        <a:rPr lang="es-ES_tradnl" sz="1400" b="0" spc="-5" noProof="0" dirty="0">
                          <a:solidFill>
                            <a:schemeClr val="tx1"/>
                          </a:solidFill>
                        </a:rPr>
                        <a:t>Calidad</a:t>
                      </a:r>
                      <a:r>
                        <a:rPr lang="es-ES_tradnl" sz="1400" b="0" noProof="0" dirty="0">
                          <a:solidFill>
                            <a:schemeClr val="tx1"/>
                          </a:solidFill>
                        </a:rPr>
                        <a:t> </a:t>
                      </a:r>
                      <a:r>
                        <a:rPr lang="es-ES_tradnl" sz="1400" b="0" spc="-10" noProof="0" dirty="0">
                          <a:solidFill>
                            <a:schemeClr val="tx1"/>
                          </a:solidFill>
                        </a:rPr>
                        <a:t>culinaria</a:t>
                      </a:r>
                      <a:endParaRPr lang="es-ES_tradnl" sz="1400" b="0" noProof="0" dirty="0">
                        <a:solidFill>
                          <a:schemeClr val="tx1"/>
                        </a:solidFill>
                        <a:latin typeface="Raleway" panose="020B0003030101060003" pitchFamily="34" charset="0"/>
                        <a:cs typeface="SF Pro Display"/>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0805" marR="734695">
                        <a:lnSpc>
                          <a:spcPct val="100000"/>
                        </a:lnSpc>
                        <a:spcBef>
                          <a:spcPts val="300"/>
                        </a:spcBef>
                      </a:pPr>
                      <a:r>
                        <a:rPr sz="1400" b="0" spc="-65" dirty="0">
                          <a:solidFill>
                            <a:schemeClr val="tx1"/>
                          </a:solidFill>
                        </a:rPr>
                        <a:t>Manifestación </a:t>
                      </a:r>
                      <a:r>
                        <a:rPr sz="1400" b="0" spc="-30" dirty="0">
                          <a:solidFill>
                            <a:schemeClr val="tx1"/>
                          </a:solidFill>
                        </a:rPr>
                        <a:t>de </a:t>
                      </a:r>
                      <a:r>
                        <a:rPr sz="1400" b="0" spc="-60" dirty="0">
                          <a:solidFill>
                            <a:schemeClr val="tx1"/>
                          </a:solidFill>
                        </a:rPr>
                        <a:t>gustos </a:t>
                      </a:r>
                      <a:r>
                        <a:rPr sz="1400" b="0" spc="-65" dirty="0">
                          <a:solidFill>
                            <a:schemeClr val="tx1"/>
                          </a:solidFill>
                        </a:rPr>
                        <a:t>alimenticios </a:t>
                      </a:r>
                      <a:r>
                        <a:rPr sz="1400" b="0" spc="-30" dirty="0">
                          <a:solidFill>
                            <a:schemeClr val="tx1"/>
                          </a:solidFill>
                        </a:rPr>
                        <a:t>en </a:t>
                      </a:r>
                      <a:r>
                        <a:rPr sz="1400" b="0" spc="-65" dirty="0">
                          <a:solidFill>
                            <a:schemeClr val="tx1"/>
                          </a:solidFill>
                        </a:rPr>
                        <a:t>productos </a:t>
                      </a:r>
                      <a:r>
                        <a:rPr sz="1400" b="0" spc="-30" dirty="0">
                          <a:solidFill>
                            <a:schemeClr val="tx1"/>
                          </a:solidFill>
                        </a:rPr>
                        <a:t>de la  </a:t>
                      </a:r>
                      <a:r>
                        <a:rPr sz="1400" b="0" spc="-60" dirty="0">
                          <a:solidFill>
                            <a:schemeClr val="tx1"/>
                          </a:solidFill>
                        </a:rPr>
                        <a:t>empresa</a:t>
                      </a:r>
                      <a:endParaRPr sz="1400" b="0" dirty="0">
                        <a:solidFill>
                          <a:schemeClr val="tx1"/>
                        </a:solidFill>
                        <a:latin typeface="Raleway" panose="020B0003030101060003" pitchFamily="34" charset="0"/>
                        <a:cs typeface="SF Pro Display"/>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002"/>
                  </a:ext>
                </a:extLst>
              </a:tr>
              <a:tr h="362510">
                <a:tc>
                  <a:txBody>
                    <a:bodyPr/>
                    <a:lstStyle/>
                    <a:p>
                      <a:pPr marL="90805">
                        <a:lnSpc>
                          <a:spcPct val="100000"/>
                        </a:lnSpc>
                        <a:spcBef>
                          <a:spcPts val="300"/>
                        </a:spcBef>
                      </a:pPr>
                      <a:r>
                        <a:rPr lang="es-ES_tradnl" sz="1400" b="0" spc="-5" noProof="0" dirty="0">
                          <a:solidFill>
                            <a:schemeClr val="tx1"/>
                          </a:solidFill>
                        </a:rPr>
                        <a:t>Variedad</a:t>
                      </a:r>
                      <a:r>
                        <a:rPr lang="es-ES_tradnl" sz="1400" b="0" spc="20" noProof="0" dirty="0">
                          <a:solidFill>
                            <a:schemeClr val="tx1"/>
                          </a:solidFill>
                        </a:rPr>
                        <a:t> </a:t>
                      </a:r>
                      <a:r>
                        <a:rPr lang="es-ES_tradnl" sz="1400" b="0" spc="-5" noProof="0" dirty="0">
                          <a:solidFill>
                            <a:schemeClr val="tx1"/>
                          </a:solidFill>
                        </a:rPr>
                        <a:t>culinaria</a:t>
                      </a:r>
                      <a:endParaRPr lang="es-ES_tradnl" sz="1400" b="0" noProof="0" dirty="0">
                        <a:solidFill>
                          <a:schemeClr val="tx1"/>
                        </a:solidFill>
                        <a:latin typeface="Raleway" panose="020B0003030101060003" pitchFamily="34" charset="0"/>
                        <a:cs typeface="SF Pro Display"/>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0805" marR="128905">
                        <a:lnSpc>
                          <a:spcPct val="100000"/>
                        </a:lnSpc>
                        <a:spcBef>
                          <a:spcPts val="300"/>
                        </a:spcBef>
                      </a:pPr>
                      <a:r>
                        <a:rPr sz="1400" b="0" spc="-60" dirty="0">
                          <a:solidFill>
                            <a:schemeClr val="tx1"/>
                          </a:solidFill>
                        </a:rPr>
                        <a:t>Capacidad </a:t>
                      </a:r>
                      <a:r>
                        <a:rPr sz="1400" b="0" spc="-30" dirty="0">
                          <a:solidFill>
                            <a:schemeClr val="tx1"/>
                          </a:solidFill>
                        </a:rPr>
                        <a:t>de </a:t>
                      </a:r>
                      <a:r>
                        <a:rPr sz="1400" b="0" spc="-65" dirty="0">
                          <a:solidFill>
                            <a:schemeClr val="tx1"/>
                          </a:solidFill>
                        </a:rPr>
                        <a:t>plantear </a:t>
                      </a:r>
                      <a:r>
                        <a:rPr sz="1400" b="0" spc="-60" dirty="0">
                          <a:solidFill>
                            <a:schemeClr val="tx1"/>
                          </a:solidFill>
                        </a:rPr>
                        <a:t>diferentes escenarios </a:t>
                      </a:r>
                      <a:r>
                        <a:rPr sz="1400" b="0" spc="-30" dirty="0">
                          <a:solidFill>
                            <a:schemeClr val="tx1"/>
                          </a:solidFill>
                        </a:rPr>
                        <a:t>de </a:t>
                      </a:r>
                      <a:r>
                        <a:rPr sz="1400" b="0" spc="-45" dirty="0">
                          <a:solidFill>
                            <a:schemeClr val="tx1"/>
                          </a:solidFill>
                        </a:rPr>
                        <a:t>uso </a:t>
                      </a:r>
                      <a:r>
                        <a:rPr sz="1400" b="0" spc="-30" dirty="0">
                          <a:solidFill>
                            <a:schemeClr val="tx1"/>
                          </a:solidFill>
                        </a:rPr>
                        <a:t>en </a:t>
                      </a:r>
                      <a:r>
                        <a:rPr sz="1400" b="0" spc="-65" dirty="0">
                          <a:solidFill>
                            <a:schemeClr val="tx1"/>
                          </a:solidFill>
                        </a:rPr>
                        <a:t>contexto  </a:t>
                      </a:r>
                      <a:r>
                        <a:rPr sz="1400" b="0" spc="-70" dirty="0">
                          <a:solidFill>
                            <a:schemeClr val="tx1"/>
                          </a:solidFill>
                        </a:rPr>
                        <a:t>alimenticio</a:t>
                      </a:r>
                      <a:endParaRPr sz="1400" b="0" dirty="0">
                        <a:solidFill>
                          <a:schemeClr val="tx1"/>
                        </a:solidFill>
                        <a:latin typeface="Raleway" panose="020B0003030101060003" pitchFamily="34" charset="0"/>
                        <a:cs typeface="SF Pro Display"/>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003"/>
                  </a:ext>
                </a:extLst>
              </a:tr>
              <a:tr h="362510">
                <a:tc>
                  <a:txBody>
                    <a:bodyPr/>
                    <a:lstStyle/>
                    <a:p>
                      <a:pPr marL="90805">
                        <a:lnSpc>
                          <a:spcPct val="100000"/>
                        </a:lnSpc>
                        <a:spcBef>
                          <a:spcPts val="300"/>
                        </a:spcBef>
                      </a:pPr>
                      <a:r>
                        <a:rPr sz="1400" b="0" spc="-5" dirty="0">
                          <a:solidFill>
                            <a:schemeClr val="tx1"/>
                          </a:solidFill>
                        </a:rPr>
                        <a:t>Serviciabilidad</a:t>
                      </a:r>
                      <a:endParaRPr sz="1400" b="0" dirty="0">
                        <a:solidFill>
                          <a:schemeClr val="tx1"/>
                        </a:solidFill>
                        <a:latin typeface="Raleway" panose="020B0003030101060003" pitchFamily="34" charset="0"/>
                        <a:cs typeface="SF Pro Display"/>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0805" marR="443865">
                        <a:lnSpc>
                          <a:spcPct val="100000"/>
                        </a:lnSpc>
                        <a:spcBef>
                          <a:spcPts val="300"/>
                        </a:spcBef>
                      </a:pPr>
                      <a:r>
                        <a:rPr sz="1400" b="0" spc="-45" dirty="0">
                          <a:solidFill>
                            <a:schemeClr val="tx1"/>
                          </a:solidFill>
                        </a:rPr>
                        <a:t>Nivel </a:t>
                      </a:r>
                      <a:r>
                        <a:rPr sz="1400" b="0" spc="-30" dirty="0">
                          <a:solidFill>
                            <a:schemeClr val="tx1"/>
                          </a:solidFill>
                        </a:rPr>
                        <a:t>de </a:t>
                      </a:r>
                      <a:r>
                        <a:rPr sz="1400" b="0" spc="-60" dirty="0">
                          <a:solidFill>
                            <a:schemeClr val="tx1"/>
                          </a:solidFill>
                        </a:rPr>
                        <a:t>entrega </a:t>
                      </a:r>
                      <a:r>
                        <a:rPr sz="1400" b="0" spc="-30" dirty="0">
                          <a:solidFill>
                            <a:schemeClr val="tx1"/>
                          </a:solidFill>
                        </a:rPr>
                        <a:t>de </a:t>
                      </a:r>
                      <a:r>
                        <a:rPr sz="1400" b="0" spc="-55" dirty="0">
                          <a:solidFill>
                            <a:schemeClr val="tx1"/>
                          </a:solidFill>
                        </a:rPr>
                        <a:t>servicio </a:t>
                      </a:r>
                      <a:r>
                        <a:rPr sz="1400" b="0" spc="-30" dirty="0">
                          <a:solidFill>
                            <a:schemeClr val="tx1"/>
                          </a:solidFill>
                        </a:rPr>
                        <a:t>en </a:t>
                      </a:r>
                      <a:r>
                        <a:rPr sz="1400" b="0" spc="-60" dirty="0">
                          <a:solidFill>
                            <a:schemeClr val="tx1"/>
                          </a:solidFill>
                        </a:rPr>
                        <a:t>función </a:t>
                      </a:r>
                      <a:r>
                        <a:rPr sz="1400" b="0" spc="-30" dirty="0">
                          <a:solidFill>
                            <a:schemeClr val="tx1"/>
                          </a:solidFill>
                        </a:rPr>
                        <a:t>de </a:t>
                      </a:r>
                      <a:r>
                        <a:rPr sz="1400" b="0" spc="-65" dirty="0">
                          <a:solidFill>
                            <a:schemeClr val="tx1"/>
                          </a:solidFill>
                        </a:rPr>
                        <a:t>tiempo </a:t>
                      </a:r>
                      <a:r>
                        <a:rPr sz="1400" b="0" dirty="0">
                          <a:solidFill>
                            <a:schemeClr val="tx1"/>
                          </a:solidFill>
                        </a:rPr>
                        <a:t>y</a:t>
                      </a:r>
                      <a:r>
                        <a:rPr sz="1400" b="0" spc="-190" dirty="0">
                          <a:solidFill>
                            <a:schemeClr val="tx1"/>
                          </a:solidFill>
                        </a:rPr>
                        <a:t> </a:t>
                      </a:r>
                      <a:r>
                        <a:rPr sz="1400" b="0" spc="-60" dirty="0">
                          <a:solidFill>
                            <a:schemeClr val="tx1"/>
                          </a:solidFill>
                        </a:rPr>
                        <a:t>atención  </a:t>
                      </a:r>
                      <a:r>
                        <a:rPr sz="1400" b="0" spc="-75" dirty="0">
                          <a:solidFill>
                            <a:schemeClr val="tx1"/>
                          </a:solidFill>
                        </a:rPr>
                        <a:t>humana</a:t>
                      </a:r>
                      <a:endParaRPr sz="1400" b="0" dirty="0">
                        <a:solidFill>
                          <a:schemeClr val="tx1"/>
                        </a:solidFill>
                        <a:latin typeface="Raleway" panose="020B0003030101060003" pitchFamily="34" charset="0"/>
                        <a:cs typeface="SF Pro Display"/>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004"/>
                  </a:ext>
                </a:extLst>
              </a:tr>
              <a:tr h="362510">
                <a:tc>
                  <a:txBody>
                    <a:bodyPr/>
                    <a:lstStyle/>
                    <a:p>
                      <a:pPr marL="90805">
                        <a:lnSpc>
                          <a:spcPct val="100000"/>
                        </a:lnSpc>
                        <a:spcBef>
                          <a:spcPts val="300"/>
                        </a:spcBef>
                      </a:pPr>
                      <a:r>
                        <a:rPr sz="1400" b="0" spc="-5" dirty="0">
                          <a:solidFill>
                            <a:schemeClr val="tx1"/>
                          </a:solidFill>
                        </a:rPr>
                        <a:t>Identidad</a:t>
                      </a:r>
                      <a:endParaRPr sz="1400" b="0" dirty="0">
                        <a:solidFill>
                          <a:schemeClr val="tx1"/>
                        </a:solidFill>
                        <a:latin typeface="Raleway" panose="020B0003030101060003" pitchFamily="34" charset="0"/>
                        <a:cs typeface="SF Pro Display"/>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0805" marR="501015">
                        <a:lnSpc>
                          <a:spcPct val="100000"/>
                        </a:lnSpc>
                        <a:spcBef>
                          <a:spcPts val="300"/>
                        </a:spcBef>
                      </a:pPr>
                      <a:r>
                        <a:rPr sz="1400" b="0" spc="-45" dirty="0">
                          <a:solidFill>
                            <a:schemeClr val="tx1"/>
                          </a:solidFill>
                        </a:rPr>
                        <a:t>Nivel </a:t>
                      </a:r>
                      <a:r>
                        <a:rPr sz="1400" b="0" spc="-30" dirty="0">
                          <a:solidFill>
                            <a:schemeClr val="tx1"/>
                          </a:solidFill>
                        </a:rPr>
                        <a:t>de </a:t>
                      </a:r>
                      <a:r>
                        <a:rPr sz="1400" b="0" spc="-65" dirty="0">
                          <a:solidFill>
                            <a:schemeClr val="tx1"/>
                          </a:solidFill>
                        </a:rPr>
                        <a:t>representación </a:t>
                      </a:r>
                      <a:r>
                        <a:rPr sz="1400" b="0" spc="-30" dirty="0">
                          <a:solidFill>
                            <a:schemeClr val="tx1"/>
                          </a:solidFill>
                        </a:rPr>
                        <a:t>de </a:t>
                      </a:r>
                      <a:r>
                        <a:rPr sz="1400" b="0" spc="-60" dirty="0">
                          <a:solidFill>
                            <a:schemeClr val="tx1"/>
                          </a:solidFill>
                        </a:rPr>
                        <a:t>símbolos </a:t>
                      </a:r>
                      <a:r>
                        <a:rPr sz="1400" b="0" spc="-65" dirty="0">
                          <a:solidFill>
                            <a:schemeClr val="tx1"/>
                          </a:solidFill>
                        </a:rPr>
                        <a:t>propietarios </a:t>
                      </a:r>
                      <a:r>
                        <a:rPr sz="1400" b="0" spc="-30" dirty="0">
                          <a:solidFill>
                            <a:schemeClr val="tx1"/>
                          </a:solidFill>
                        </a:rPr>
                        <a:t>de </a:t>
                      </a:r>
                      <a:r>
                        <a:rPr sz="1400" b="0" spc="-60" dirty="0">
                          <a:solidFill>
                            <a:schemeClr val="tx1"/>
                          </a:solidFill>
                        </a:rPr>
                        <a:t>cultura  asociada </a:t>
                      </a:r>
                      <a:r>
                        <a:rPr sz="1400" b="0" spc="-35" dirty="0">
                          <a:solidFill>
                            <a:schemeClr val="tx1"/>
                          </a:solidFill>
                        </a:rPr>
                        <a:t>al </a:t>
                      </a:r>
                      <a:r>
                        <a:rPr sz="1400" b="0" spc="-55" dirty="0">
                          <a:solidFill>
                            <a:schemeClr val="tx1"/>
                          </a:solidFill>
                        </a:rPr>
                        <a:t>valor </a:t>
                      </a:r>
                      <a:r>
                        <a:rPr sz="1400" b="0" spc="-30" dirty="0">
                          <a:solidFill>
                            <a:schemeClr val="tx1"/>
                          </a:solidFill>
                        </a:rPr>
                        <a:t>de </a:t>
                      </a:r>
                      <a:r>
                        <a:rPr sz="1400" b="0" spc="-60" dirty="0">
                          <a:solidFill>
                            <a:schemeClr val="tx1"/>
                          </a:solidFill>
                        </a:rPr>
                        <a:t>marca </a:t>
                      </a:r>
                      <a:r>
                        <a:rPr sz="1400" b="0" spc="-40" dirty="0">
                          <a:solidFill>
                            <a:schemeClr val="tx1"/>
                          </a:solidFill>
                        </a:rPr>
                        <a:t>del</a:t>
                      </a:r>
                      <a:r>
                        <a:rPr sz="1400" b="0" spc="-120" dirty="0">
                          <a:solidFill>
                            <a:schemeClr val="tx1"/>
                          </a:solidFill>
                        </a:rPr>
                        <a:t> </a:t>
                      </a:r>
                      <a:r>
                        <a:rPr sz="1400" b="0" spc="-70" dirty="0">
                          <a:solidFill>
                            <a:schemeClr val="tx1"/>
                          </a:solidFill>
                        </a:rPr>
                        <a:t>local</a:t>
                      </a:r>
                      <a:endParaRPr sz="1400" b="0" dirty="0">
                        <a:solidFill>
                          <a:schemeClr val="tx1"/>
                        </a:solidFill>
                        <a:latin typeface="Raleway" panose="020B0003030101060003" pitchFamily="34" charset="0"/>
                        <a:cs typeface="SF Pro Display"/>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005"/>
                  </a:ext>
                </a:extLst>
              </a:tr>
              <a:tr h="362510">
                <a:tc>
                  <a:txBody>
                    <a:bodyPr/>
                    <a:lstStyle/>
                    <a:p>
                      <a:pPr marL="90805">
                        <a:lnSpc>
                          <a:spcPct val="100000"/>
                        </a:lnSpc>
                        <a:spcBef>
                          <a:spcPts val="295"/>
                        </a:spcBef>
                      </a:pPr>
                      <a:r>
                        <a:rPr sz="1400" b="0" spc="-5" dirty="0">
                          <a:solidFill>
                            <a:schemeClr val="tx1"/>
                          </a:solidFill>
                        </a:rPr>
                        <a:t>Comodidad</a:t>
                      </a:r>
                      <a:r>
                        <a:rPr sz="1400" b="0" dirty="0">
                          <a:solidFill>
                            <a:schemeClr val="tx1"/>
                          </a:solidFill>
                        </a:rPr>
                        <a:t> </a:t>
                      </a:r>
                      <a:r>
                        <a:rPr sz="1400" b="0" spc="-5" dirty="0">
                          <a:solidFill>
                            <a:schemeClr val="tx1"/>
                          </a:solidFill>
                        </a:rPr>
                        <a:t>espacial</a:t>
                      </a:r>
                      <a:endParaRPr sz="1400" b="0" dirty="0">
                        <a:solidFill>
                          <a:schemeClr val="tx1"/>
                        </a:solidFill>
                        <a:latin typeface="Raleway" panose="020B0003030101060003" pitchFamily="34" charset="0"/>
                        <a:cs typeface="SF Pro Display"/>
                      </a:endParaRPr>
                    </a:p>
                  </a:txBody>
                  <a:tcPr marL="0" marR="0" marT="37465"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0805" marR="251460">
                        <a:lnSpc>
                          <a:spcPct val="100000"/>
                        </a:lnSpc>
                        <a:spcBef>
                          <a:spcPts val="295"/>
                        </a:spcBef>
                      </a:pPr>
                      <a:r>
                        <a:rPr sz="1400" b="0" spc="-60" dirty="0">
                          <a:solidFill>
                            <a:schemeClr val="tx1"/>
                          </a:solidFill>
                        </a:rPr>
                        <a:t>Capacidad </a:t>
                      </a:r>
                      <a:r>
                        <a:rPr sz="1400" b="0" spc="-30" dirty="0">
                          <a:solidFill>
                            <a:schemeClr val="tx1"/>
                          </a:solidFill>
                        </a:rPr>
                        <a:t>de </a:t>
                      </a:r>
                      <a:r>
                        <a:rPr sz="1400" b="0" spc="-70" dirty="0">
                          <a:solidFill>
                            <a:schemeClr val="tx1"/>
                          </a:solidFill>
                        </a:rPr>
                        <a:t>infraestructura </a:t>
                      </a:r>
                      <a:r>
                        <a:rPr sz="1400" b="0" spc="-30" dirty="0">
                          <a:solidFill>
                            <a:schemeClr val="tx1"/>
                          </a:solidFill>
                        </a:rPr>
                        <a:t>de </a:t>
                      </a:r>
                      <a:r>
                        <a:rPr sz="1400" b="0" spc="-55" dirty="0">
                          <a:solidFill>
                            <a:schemeClr val="tx1"/>
                          </a:solidFill>
                        </a:rPr>
                        <a:t>resolver </a:t>
                      </a:r>
                      <a:r>
                        <a:rPr sz="1400" b="0" spc="-60" dirty="0">
                          <a:solidFill>
                            <a:schemeClr val="tx1"/>
                          </a:solidFill>
                        </a:rPr>
                        <a:t>necesidades físicas </a:t>
                      </a:r>
                      <a:r>
                        <a:rPr sz="1400" b="0" dirty="0">
                          <a:solidFill>
                            <a:schemeClr val="tx1"/>
                          </a:solidFill>
                        </a:rPr>
                        <a:t>y  </a:t>
                      </a:r>
                      <a:r>
                        <a:rPr sz="1400" b="0" spc="-65" dirty="0">
                          <a:solidFill>
                            <a:schemeClr val="tx1"/>
                          </a:solidFill>
                        </a:rPr>
                        <a:t>funcionales </a:t>
                      </a:r>
                      <a:r>
                        <a:rPr sz="1400" b="0" spc="-40" dirty="0">
                          <a:solidFill>
                            <a:schemeClr val="tx1"/>
                          </a:solidFill>
                        </a:rPr>
                        <a:t>del</a:t>
                      </a:r>
                      <a:r>
                        <a:rPr sz="1400" b="0" spc="-60" dirty="0">
                          <a:solidFill>
                            <a:schemeClr val="tx1"/>
                          </a:solidFill>
                        </a:rPr>
                        <a:t> cliente</a:t>
                      </a:r>
                      <a:endParaRPr sz="1400" b="0" dirty="0">
                        <a:solidFill>
                          <a:schemeClr val="tx1"/>
                        </a:solidFill>
                        <a:latin typeface="Raleway" panose="020B0003030101060003" pitchFamily="34" charset="0"/>
                        <a:cs typeface="SF Pro Display"/>
                      </a:endParaRPr>
                    </a:p>
                  </a:txBody>
                  <a:tcPr marL="0" marR="0" marT="37465"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CuadroTexto 1">
            <a:extLst>
              <a:ext uri="{FF2B5EF4-FFF2-40B4-BE49-F238E27FC236}">
                <a16:creationId xmlns:a16="http://schemas.microsoft.com/office/drawing/2014/main" id="{C5ACE23F-2D45-03D3-DE4E-EE527AF43195}"/>
              </a:ext>
            </a:extLst>
          </p:cNvPr>
          <p:cNvSpPr txBox="1"/>
          <p:nvPr/>
        </p:nvSpPr>
        <p:spPr>
          <a:xfrm>
            <a:off x="6811501" y="1412874"/>
            <a:ext cx="4138149" cy="933736"/>
          </a:xfrm>
          <a:prstGeom prst="rect">
            <a:avLst/>
          </a:prstGeom>
          <a:solidFill>
            <a:schemeClr val="accent3"/>
          </a:solidFill>
          <a:ln w="28575">
            <a:solidFill>
              <a:schemeClr val="bg1"/>
            </a:solidFill>
          </a:ln>
        </p:spPr>
        <p:txBody>
          <a:bodyPr wrap="square" lIns="468000" tIns="0" bIns="0" rtlCol="0" anchor="ctr">
            <a:noAutofit/>
          </a:bodyPr>
          <a:lstStyle/>
          <a:p>
            <a:pPr lvl="0">
              <a:defRPr/>
            </a:pPr>
            <a:r>
              <a:rPr lang="es-MX" sz="1600" dirty="0">
                <a:solidFill>
                  <a:schemeClr val="bg1"/>
                </a:solidFill>
              </a:rPr>
              <a:t>Los atributos son características de un producto / servicio</a:t>
            </a:r>
          </a:p>
        </p:txBody>
      </p:sp>
      <p:sp>
        <p:nvSpPr>
          <p:cNvPr id="9" name="Rectangle 6">
            <a:extLst>
              <a:ext uri="{FF2B5EF4-FFF2-40B4-BE49-F238E27FC236}">
                <a16:creationId xmlns:a16="http://schemas.microsoft.com/office/drawing/2014/main" id="{DB941D91-FD6D-8284-2DF6-CCE4A1EA2B80}"/>
              </a:ext>
            </a:extLst>
          </p:cNvPr>
          <p:cNvSpPr/>
          <p:nvPr/>
        </p:nvSpPr>
        <p:spPr>
          <a:xfrm>
            <a:off x="658811" y="2694249"/>
            <a:ext cx="1738948" cy="2965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213"/>
            <a:r>
              <a:rPr lang="es-CL" sz="1400" b="1" spc="300" dirty="0">
                <a:solidFill>
                  <a:schemeClr val="tx2"/>
                </a:solidFill>
                <a:latin typeface="+mj-lt"/>
              </a:rPr>
              <a:t>EJEMPLO</a:t>
            </a:r>
          </a:p>
        </p:txBody>
      </p:sp>
      <p:sp>
        <p:nvSpPr>
          <p:cNvPr id="10" name="Rectangle 6">
            <a:extLst>
              <a:ext uri="{FF2B5EF4-FFF2-40B4-BE49-F238E27FC236}">
                <a16:creationId xmlns:a16="http://schemas.microsoft.com/office/drawing/2014/main" id="{BA58E079-A6DE-BCC1-7D29-56FFA057EE4D}"/>
              </a:ext>
            </a:extLst>
          </p:cNvPr>
          <p:cNvSpPr/>
          <p:nvPr/>
        </p:nvSpPr>
        <p:spPr>
          <a:xfrm>
            <a:off x="6949439" y="1225953"/>
            <a:ext cx="965201" cy="31288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213"/>
            <a:r>
              <a:rPr lang="es-CL" sz="1400" b="1" spc="300" dirty="0">
                <a:solidFill>
                  <a:schemeClr val="tx2"/>
                </a:solidFill>
                <a:latin typeface="+mj-lt"/>
              </a:rPr>
              <a:t>TIP</a:t>
            </a:r>
          </a:p>
        </p:txBody>
      </p:sp>
    </p:spTree>
    <p:extLst>
      <p:ext uri="{BB962C8B-B14F-4D97-AF65-F5344CB8AC3E}">
        <p14:creationId xmlns:p14="http://schemas.microsoft.com/office/powerpoint/2010/main" val="29214907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9442" name="Picture 2" descr="Cortes de pelo para cara alargada 2020 para hombres - Modaellos.com">
            <a:extLst>
              <a:ext uri="{FF2B5EF4-FFF2-40B4-BE49-F238E27FC236}">
                <a16:creationId xmlns:a16="http://schemas.microsoft.com/office/drawing/2014/main" id="{C5F68493-6427-4161-A9A4-BFDD06DCDE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092"/>
          <a:stretch/>
        </p:blipFill>
        <p:spPr bwMode="auto">
          <a:xfrm>
            <a:off x="0" y="1237957"/>
            <a:ext cx="3649419" cy="5640646"/>
          </a:xfrm>
          <a:prstGeom prst="rect">
            <a:avLst/>
          </a:prstGeom>
          <a:noFill/>
          <a:extLst>
            <a:ext uri="{909E8E84-426E-40DD-AFC4-6F175D3DCCD1}">
              <a14:hiddenFill xmlns:a14="http://schemas.microsoft.com/office/drawing/2010/main">
                <a:solidFill>
                  <a:srgbClr val="FFFFFF"/>
                </a:solidFill>
              </a14:hiddenFill>
            </a:ext>
          </a:extLst>
        </p:spPr>
      </p:pic>
      <p:pic>
        <p:nvPicPr>
          <p:cNvPr id="189444" name="Picture 4" descr="James Gandolfini | Doblaje Wiki | Fandom">
            <a:extLst>
              <a:ext uri="{FF2B5EF4-FFF2-40B4-BE49-F238E27FC236}">
                <a16:creationId xmlns:a16="http://schemas.microsoft.com/office/drawing/2014/main" id="{3EAA8823-FF00-4EA1-9EE3-442DABDC37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07113" y="1237957"/>
            <a:ext cx="3576327" cy="5640647"/>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8124A7E7-5692-485C-B43B-45670247BD6E}"/>
              </a:ext>
            </a:extLst>
          </p:cNvPr>
          <p:cNvSpPr txBox="1"/>
          <p:nvPr/>
        </p:nvSpPr>
        <p:spPr>
          <a:xfrm>
            <a:off x="4357867" y="1237957"/>
            <a:ext cx="3576327" cy="5078313"/>
          </a:xfrm>
          <a:prstGeom prst="rect">
            <a:avLst/>
          </a:prstGeom>
          <a:noFill/>
        </p:spPr>
        <p:txBody>
          <a:bodyPr wrap="square" rtlCol="0">
            <a:spAutoFit/>
          </a:bodyPr>
          <a:lstStyle/>
          <a:p>
            <a:pPr algn="ctr"/>
            <a:r>
              <a:rPr lang="es-CL" b="1" dirty="0"/>
              <a:t>Quiero comer</a:t>
            </a:r>
          </a:p>
          <a:p>
            <a:pPr algn="ctr"/>
            <a:endParaRPr lang="es-CL" dirty="0"/>
          </a:p>
          <a:p>
            <a:pPr algn="ctr"/>
            <a:r>
              <a:rPr lang="es-CL" dirty="0"/>
              <a:t>Cantidad</a:t>
            </a:r>
          </a:p>
          <a:p>
            <a:pPr algn="ctr"/>
            <a:r>
              <a:rPr lang="es-CL" dirty="0"/>
              <a:t>Nivel de grasa</a:t>
            </a:r>
          </a:p>
          <a:p>
            <a:pPr algn="ctr"/>
            <a:r>
              <a:rPr lang="es-CL" dirty="0"/>
              <a:t>Carbohidratos</a:t>
            </a:r>
          </a:p>
          <a:p>
            <a:pPr algn="ctr"/>
            <a:r>
              <a:rPr lang="es-CL" dirty="0"/>
              <a:t>Gusto/ Sabor</a:t>
            </a:r>
          </a:p>
          <a:p>
            <a:pPr algn="ctr"/>
            <a:r>
              <a:rPr lang="es-CL" dirty="0"/>
              <a:t>Aliños</a:t>
            </a:r>
          </a:p>
          <a:p>
            <a:pPr algn="ctr"/>
            <a:r>
              <a:rPr lang="es-CL" dirty="0"/>
              <a:t>Precio</a:t>
            </a:r>
          </a:p>
          <a:p>
            <a:pPr algn="ctr"/>
            <a:r>
              <a:rPr lang="es-CL" dirty="0"/>
              <a:t>Disposición</a:t>
            </a:r>
          </a:p>
          <a:p>
            <a:pPr algn="ctr"/>
            <a:r>
              <a:rPr lang="es-CL" dirty="0"/>
              <a:t>Temperatura</a:t>
            </a:r>
          </a:p>
          <a:p>
            <a:pPr algn="ctr"/>
            <a:r>
              <a:rPr lang="es-CL" dirty="0"/>
              <a:t>Acompañamientos</a:t>
            </a:r>
          </a:p>
          <a:p>
            <a:pPr algn="ctr"/>
            <a:r>
              <a:rPr lang="es-CL" dirty="0"/>
              <a:t>Diseño</a:t>
            </a:r>
          </a:p>
          <a:p>
            <a:pPr algn="ctr"/>
            <a:r>
              <a:rPr lang="es-CL" dirty="0"/>
              <a:t>Hora</a:t>
            </a:r>
          </a:p>
          <a:p>
            <a:pPr algn="ctr"/>
            <a:r>
              <a:rPr lang="es-CL" dirty="0"/>
              <a:t>Ambiente</a:t>
            </a:r>
          </a:p>
          <a:p>
            <a:pPr algn="ctr"/>
            <a:r>
              <a:rPr lang="es-CL" dirty="0"/>
              <a:t>Forma de pago</a:t>
            </a:r>
          </a:p>
          <a:p>
            <a:pPr algn="ctr"/>
            <a:r>
              <a:rPr lang="es-CL" dirty="0"/>
              <a:t>-</a:t>
            </a:r>
          </a:p>
          <a:p>
            <a:pPr algn="ctr"/>
            <a:r>
              <a:rPr lang="es-CL" dirty="0"/>
              <a:t>-</a:t>
            </a:r>
          </a:p>
          <a:p>
            <a:pPr algn="ctr"/>
            <a:r>
              <a:rPr lang="es-CL" dirty="0"/>
              <a:t>-</a:t>
            </a:r>
          </a:p>
        </p:txBody>
      </p:sp>
      <p:sp>
        <p:nvSpPr>
          <p:cNvPr id="8" name="CuadroTexto 15">
            <a:extLst>
              <a:ext uri="{FF2B5EF4-FFF2-40B4-BE49-F238E27FC236}">
                <a16:creationId xmlns:a16="http://schemas.microsoft.com/office/drawing/2014/main" id="{88798677-E4E6-46F0-8796-F7A60C7925C2}"/>
              </a:ext>
            </a:extLst>
          </p:cNvPr>
          <p:cNvSpPr txBox="1"/>
          <p:nvPr/>
        </p:nvSpPr>
        <p:spPr>
          <a:xfrm>
            <a:off x="4357867" y="5718039"/>
            <a:ext cx="5817870" cy="433594"/>
          </a:xfrm>
          <a:prstGeom prst="roundRect">
            <a:avLst/>
          </a:prstGeom>
          <a:solidFill>
            <a:srgbClr val="6439EF"/>
          </a:solidFill>
        </p:spPr>
        <p:txBody>
          <a:bodyPr wrap="square" lIns="163001" tIns="81494" rIns="163001" bIns="81494" rtlCol="0" anchor="ctr">
            <a:noAutofit/>
          </a:bodyPr>
          <a:lstStyle/>
          <a:p>
            <a:pPr algn="ctr" defTabSz="544288">
              <a:lnSpc>
                <a:spcPct val="114000"/>
              </a:lnSpc>
              <a:spcBef>
                <a:spcPts val="200"/>
              </a:spcBef>
            </a:pPr>
            <a:r>
              <a:rPr lang="es-CL" b="1" dirty="0">
                <a:solidFill>
                  <a:srgbClr val="FFFFFF"/>
                </a:solidFill>
              </a:rPr>
              <a:t>Variables muy relevantes para el diseño</a:t>
            </a:r>
            <a:endParaRPr lang="es-CL" sz="1400" b="1" dirty="0">
              <a:solidFill>
                <a:srgbClr val="FFFFFF"/>
              </a:solidFill>
            </a:endParaRPr>
          </a:p>
        </p:txBody>
      </p:sp>
      <p:sp>
        <p:nvSpPr>
          <p:cNvPr id="14" name="Title 1">
            <a:extLst>
              <a:ext uri="{FF2B5EF4-FFF2-40B4-BE49-F238E27FC236}">
                <a16:creationId xmlns:a16="http://schemas.microsoft.com/office/drawing/2014/main" id="{64135CC2-933E-4873-B88C-FEDE7C6A341C}"/>
              </a:ext>
            </a:extLst>
          </p:cNvPr>
          <p:cNvSpPr txBox="1">
            <a:spLocks/>
          </p:cNvSpPr>
          <p:nvPr/>
        </p:nvSpPr>
        <p:spPr>
          <a:xfrm>
            <a:off x="714375" y="561976"/>
            <a:ext cx="10515600" cy="55193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kern="1200">
                <a:solidFill>
                  <a:schemeClr val="tx1"/>
                </a:solidFill>
                <a:latin typeface="Montserrat ExtraBold" panose="00000900000000000000" pitchFamily="2" charset="0"/>
                <a:ea typeface="+mj-ea"/>
                <a:cs typeface="+mj-cs"/>
              </a:defRPr>
            </a:lvl1pPr>
          </a:lstStyle>
          <a:p>
            <a:r>
              <a:rPr lang="es-ES_tradnl" sz="2400" dirty="0"/>
              <a:t>ATRIBUTOS/ CARACTERISTICAS</a:t>
            </a:r>
          </a:p>
        </p:txBody>
      </p:sp>
    </p:spTree>
    <p:extLst>
      <p:ext uri="{BB962C8B-B14F-4D97-AF65-F5344CB8AC3E}">
        <p14:creationId xmlns:p14="http://schemas.microsoft.com/office/powerpoint/2010/main" val="18886702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6C23BCEF-B74C-4E4E-9439-AEC053A1D3BB}"/>
              </a:ext>
            </a:extLst>
          </p:cNvPr>
          <p:cNvSpPr>
            <a:spLocks noGrp="1"/>
          </p:cNvSpPr>
          <p:nvPr>
            <p:ph type="title"/>
          </p:nvPr>
        </p:nvSpPr>
        <p:spPr/>
        <p:txBody>
          <a:bodyPr/>
          <a:lstStyle/>
          <a:p>
            <a:r>
              <a:rPr lang="es-CL" sz="3200" dirty="0"/>
              <a:t>El paso a paso: </a:t>
            </a:r>
            <a:r>
              <a:rPr lang="es-CL" sz="3200" dirty="0">
                <a:solidFill>
                  <a:schemeClr val="accent4"/>
                </a:solidFill>
                <a:highlight>
                  <a:srgbClr val="C0C0C0"/>
                </a:highlight>
              </a:rPr>
              <a:t>Realizando el análisis de valor</a:t>
            </a:r>
          </a:p>
        </p:txBody>
      </p:sp>
      <p:sp>
        <p:nvSpPr>
          <p:cNvPr id="2" name="CuadroTexto 1">
            <a:extLst>
              <a:ext uri="{FF2B5EF4-FFF2-40B4-BE49-F238E27FC236}">
                <a16:creationId xmlns:a16="http://schemas.microsoft.com/office/drawing/2014/main" id="{29F25099-FBD5-483C-A3EC-D38DAE5C4769}"/>
              </a:ext>
            </a:extLst>
          </p:cNvPr>
          <p:cNvSpPr txBox="1"/>
          <p:nvPr/>
        </p:nvSpPr>
        <p:spPr>
          <a:xfrm>
            <a:off x="658813" y="1695901"/>
            <a:ext cx="4553267" cy="1059021"/>
          </a:xfrm>
          <a:prstGeom prst="rect">
            <a:avLst/>
          </a:prstGeom>
          <a:solidFill>
            <a:schemeClr val="accent3"/>
          </a:solidFill>
          <a:ln w="28575">
            <a:solidFill>
              <a:schemeClr val="bg1"/>
            </a:solidFill>
          </a:ln>
        </p:spPr>
        <p:txBody>
          <a:bodyPr wrap="square" lIns="468000" tIns="0" bIns="0" rtlCol="0" anchor="ctr">
            <a:noAutofit/>
          </a:bodyPr>
          <a:lstStyle/>
          <a:p>
            <a:pPr lvl="0">
              <a:defRPr/>
            </a:pPr>
            <a:r>
              <a:rPr lang="es-CL" sz="1600" dirty="0">
                <a:solidFill>
                  <a:schemeClr val="bg1"/>
                </a:solidFill>
              </a:rPr>
              <a:t>Definir grupos de clientes no atendidos</a:t>
            </a:r>
            <a:endParaRPr lang="es-CL" sz="1300" dirty="0">
              <a:solidFill>
                <a:schemeClr val="bg1"/>
              </a:solidFill>
            </a:endParaRPr>
          </a:p>
        </p:txBody>
      </p:sp>
      <p:sp>
        <p:nvSpPr>
          <p:cNvPr id="8" name="CuadroTexto 1">
            <a:extLst>
              <a:ext uri="{FF2B5EF4-FFF2-40B4-BE49-F238E27FC236}">
                <a16:creationId xmlns:a16="http://schemas.microsoft.com/office/drawing/2014/main" id="{6BFFCA57-91C7-4F4B-AA50-2737ABEDBCB9}"/>
              </a:ext>
            </a:extLst>
          </p:cNvPr>
          <p:cNvSpPr txBox="1"/>
          <p:nvPr/>
        </p:nvSpPr>
        <p:spPr>
          <a:xfrm>
            <a:off x="6311900" y="1695901"/>
            <a:ext cx="5186231" cy="1059022"/>
          </a:xfrm>
          <a:prstGeom prst="rect">
            <a:avLst/>
          </a:prstGeom>
          <a:solidFill>
            <a:schemeClr val="accent3"/>
          </a:solidFill>
          <a:ln w="28575">
            <a:solidFill>
              <a:schemeClr val="bg1"/>
            </a:solidFill>
          </a:ln>
        </p:spPr>
        <p:txBody>
          <a:bodyPr wrap="square" lIns="468000" tIns="0" bIns="0" rtlCol="0" anchor="ctr">
            <a:noAutofit/>
          </a:bodyPr>
          <a:lstStyle/>
          <a:p>
            <a:pPr lvl="0">
              <a:defRPr/>
            </a:pPr>
            <a:r>
              <a:rPr lang="es-MX" sz="1600" dirty="0">
                <a:solidFill>
                  <a:schemeClr val="bg1"/>
                </a:solidFill>
              </a:rPr>
              <a:t>El cliente es quien compra. El usuario es quien usa. A veces el cliente y el usuario pueden ser los mismos.</a:t>
            </a:r>
          </a:p>
        </p:txBody>
      </p:sp>
      <p:sp>
        <p:nvSpPr>
          <p:cNvPr id="10" name="Rectangle 6">
            <a:extLst>
              <a:ext uri="{FF2B5EF4-FFF2-40B4-BE49-F238E27FC236}">
                <a16:creationId xmlns:a16="http://schemas.microsoft.com/office/drawing/2014/main" id="{1DCB8E2B-C2D5-4C11-9708-A65BD7433296}"/>
              </a:ext>
            </a:extLst>
          </p:cNvPr>
          <p:cNvSpPr/>
          <p:nvPr/>
        </p:nvSpPr>
        <p:spPr>
          <a:xfrm>
            <a:off x="6497321" y="1515124"/>
            <a:ext cx="965201" cy="31288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213"/>
            <a:r>
              <a:rPr lang="es-CL" sz="1400" b="1" spc="300" dirty="0">
                <a:solidFill>
                  <a:schemeClr val="tx2"/>
                </a:solidFill>
                <a:latin typeface="+mj-lt"/>
              </a:rPr>
              <a:t>TIP</a:t>
            </a:r>
          </a:p>
        </p:txBody>
      </p:sp>
      <p:graphicFrame>
        <p:nvGraphicFramePr>
          <p:cNvPr id="12" name="object 4">
            <a:extLst>
              <a:ext uri="{FF2B5EF4-FFF2-40B4-BE49-F238E27FC236}">
                <a16:creationId xmlns:a16="http://schemas.microsoft.com/office/drawing/2014/main" id="{7A47452F-32BD-409F-B34D-799C1279ABA3}"/>
              </a:ext>
            </a:extLst>
          </p:cNvPr>
          <p:cNvGraphicFramePr>
            <a:graphicFrameLocks noGrp="1"/>
          </p:cNvGraphicFramePr>
          <p:nvPr/>
        </p:nvGraphicFramePr>
        <p:xfrm>
          <a:off x="658811" y="3400854"/>
          <a:ext cx="10874375" cy="2135122"/>
        </p:xfrm>
        <a:graphic>
          <a:graphicData uri="http://schemas.openxmlformats.org/drawingml/2006/table">
            <a:tbl>
              <a:tblPr firstRow="1" bandRow="1">
                <a:tableStyleId>{2D5ABB26-0587-4C30-8999-92F81FD0307C}</a:tableStyleId>
              </a:tblPr>
              <a:tblGrid>
                <a:gridCol w="2269584">
                  <a:extLst>
                    <a:ext uri="{9D8B030D-6E8A-4147-A177-3AD203B41FA5}">
                      <a16:colId xmlns:a16="http://schemas.microsoft.com/office/drawing/2014/main" val="20000"/>
                    </a:ext>
                  </a:extLst>
                </a:gridCol>
                <a:gridCol w="3923818">
                  <a:extLst>
                    <a:ext uri="{9D8B030D-6E8A-4147-A177-3AD203B41FA5}">
                      <a16:colId xmlns:a16="http://schemas.microsoft.com/office/drawing/2014/main" val="20001"/>
                    </a:ext>
                  </a:extLst>
                </a:gridCol>
                <a:gridCol w="4680973">
                  <a:extLst>
                    <a:ext uri="{9D8B030D-6E8A-4147-A177-3AD203B41FA5}">
                      <a16:colId xmlns:a16="http://schemas.microsoft.com/office/drawing/2014/main" val="2432266983"/>
                    </a:ext>
                  </a:extLst>
                </a:gridCol>
              </a:tblGrid>
              <a:tr h="343004">
                <a:tc>
                  <a:txBody>
                    <a:bodyPr/>
                    <a:lstStyle/>
                    <a:p>
                      <a:pPr marL="90805">
                        <a:lnSpc>
                          <a:spcPct val="100000"/>
                        </a:lnSpc>
                        <a:spcBef>
                          <a:spcPts val="280"/>
                        </a:spcBef>
                      </a:pPr>
                      <a:r>
                        <a:rPr lang="es-419" sz="1400" b="1" spc="-5" dirty="0">
                          <a:solidFill>
                            <a:srgbClr val="3C5154"/>
                          </a:solidFill>
                          <a:latin typeface="+mj-lt"/>
                        </a:rPr>
                        <a:t>GRUPO DE CLIENTES</a:t>
                      </a:r>
                      <a:endParaRPr lang="es-419" sz="1400" dirty="0">
                        <a:solidFill>
                          <a:srgbClr val="3C5154"/>
                        </a:solidFill>
                        <a:latin typeface="+mj-lt"/>
                        <a:cs typeface="Montserrat"/>
                      </a:endParaRPr>
                    </a:p>
                  </a:txBody>
                  <a:tcPr marL="0" marR="0" marT="3556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solidFill>
                  </a:tcPr>
                </a:tc>
                <a:tc>
                  <a:txBody>
                    <a:bodyPr/>
                    <a:lstStyle/>
                    <a:p>
                      <a:pPr marL="91440">
                        <a:lnSpc>
                          <a:spcPct val="100000"/>
                        </a:lnSpc>
                        <a:spcBef>
                          <a:spcPts val="280"/>
                        </a:spcBef>
                      </a:pPr>
                      <a:r>
                        <a:rPr lang="es-419" sz="1400" b="1" spc="-5" dirty="0">
                          <a:solidFill>
                            <a:srgbClr val="3C5154"/>
                          </a:solidFill>
                          <a:latin typeface="+mj-lt"/>
                        </a:rPr>
                        <a:t>DESCRIPCIÓN</a:t>
                      </a:r>
                      <a:endParaRPr lang="es-419" sz="1400" dirty="0">
                        <a:solidFill>
                          <a:srgbClr val="3C5154"/>
                        </a:solidFill>
                        <a:latin typeface="+mj-lt"/>
                        <a:cs typeface="Montserrat"/>
                      </a:endParaRPr>
                    </a:p>
                  </a:txBody>
                  <a:tcPr marL="0" marR="0" marT="3556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solidFill>
                  </a:tcPr>
                </a:tc>
                <a:tc>
                  <a:txBody>
                    <a:bodyPr/>
                    <a:lstStyle/>
                    <a:p>
                      <a:pPr marL="91440">
                        <a:lnSpc>
                          <a:spcPct val="100000"/>
                        </a:lnSpc>
                        <a:spcBef>
                          <a:spcPts val="280"/>
                        </a:spcBef>
                      </a:pPr>
                      <a:r>
                        <a:rPr lang="es-419" sz="1400" dirty="0">
                          <a:solidFill>
                            <a:srgbClr val="3C5154"/>
                          </a:solidFill>
                          <a:latin typeface="+mj-lt"/>
                          <a:cs typeface="Montserrat"/>
                        </a:rPr>
                        <a:t>¿POR QUE NO LO RECONOCE LA INDUSTRIA?</a:t>
                      </a:r>
                    </a:p>
                  </a:txBody>
                  <a:tcPr marL="0" marR="0" marT="3556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solidFill>
                  </a:tcPr>
                </a:tc>
                <a:extLst>
                  <a:ext uri="{0D108BD9-81ED-4DB2-BD59-A6C34878D82A}">
                    <a16:rowId xmlns:a16="http://schemas.microsoft.com/office/drawing/2014/main" val="10000"/>
                  </a:ext>
                </a:extLst>
              </a:tr>
              <a:tr h="1792118">
                <a:tc>
                  <a:txBody>
                    <a:bodyPr/>
                    <a:lstStyle/>
                    <a:p>
                      <a:pPr marL="90805" marR="116205">
                        <a:lnSpc>
                          <a:spcPct val="100000"/>
                        </a:lnSpc>
                        <a:spcBef>
                          <a:spcPts val="300"/>
                        </a:spcBef>
                        <a:buClr>
                          <a:srgbClr val="4FE14F"/>
                        </a:buClr>
                      </a:pPr>
                      <a:r>
                        <a:rPr lang="es-419" sz="1400" b="0" spc="-5" dirty="0">
                          <a:solidFill>
                            <a:schemeClr val="tx1"/>
                          </a:solidFill>
                          <a:latin typeface="Raleway" panose="020B0003030101060003" pitchFamily="34" charset="0"/>
                          <a:cs typeface="SF Pro Display"/>
                        </a:rPr>
                        <a:t>Los  </a:t>
                      </a:r>
                      <a:r>
                        <a:rPr lang="es-419" sz="1400" b="0" spc="-10" dirty="0">
                          <a:solidFill>
                            <a:schemeClr val="tx1"/>
                          </a:solidFill>
                          <a:latin typeface="Raleway" panose="020B0003030101060003" pitchFamily="34" charset="0"/>
                          <a:cs typeface="SF Pro Display"/>
                        </a:rPr>
                        <a:t>“</a:t>
                      </a:r>
                      <a:r>
                        <a:rPr lang="es-419" sz="1400" b="0" spc="-5" dirty="0">
                          <a:solidFill>
                            <a:schemeClr val="tx1"/>
                          </a:solidFill>
                          <a:latin typeface="Raleway" panose="020B0003030101060003" pitchFamily="34" charset="0"/>
                          <a:cs typeface="SF Pro Display"/>
                        </a:rPr>
                        <a:t>o</a:t>
                      </a:r>
                      <a:r>
                        <a:rPr lang="es-419" sz="1400" b="0" spc="5" dirty="0">
                          <a:solidFill>
                            <a:schemeClr val="tx1"/>
                          </a:solidFill>
                          <a:latin typeface="Raleway" panose="020B0003030101060003" pitchFamily="34" charset="0"/>
                          <a:cs typeface="SF Pro Display"/>
                        </a:rPr>
                        <a:t>p</a:t>
                      </a:r>
                      <a:r>
                        <a:rPr lang="es-419" sz="1400" b="0" dirty="0">
                          <a:solidFill>
                            <a:schemeClr val="tx1"/>
                          </a:solidFill>
                          <a:latin typeface="Raleway" panose="020B0003030101060003" pitchFamily="34" charset="0"/>
                          <a:cs typeface="SF Pro Display"/>
                        </a:rPr>
                        <a:t>ti</a:t>
                      </a:r>
                      <a:r>
                        <a:rPr lang="es-419" sz="1400" b="0" spc="-10" dirty="0">
                          <a:solidFill>
                            <a:schemeClr val="tx1"/>
                          </a:solidFill>
                          <a:latin typeface="Raleway" panose="020B0003030101060003" pitchFamily="34" charset="0"/>
                          <a:cs typeface="SF Pro Display"/>
                        </a:rPr>
                        <a:t>m</a:t>
                      </a:r>
                      <a:r>
                        <a:rPr lang="es-419" sz="1400" b="0" dirty="0">
                          <a:solidFill>
                            <a:schemeClr val="tx1"/>
                          </a:solidFill>
                          <a:latin typeface="Raleway" panose="020B0003030101060003" pitchFamily="34" charset="0"/>
                          <a:cs typeface="SF Pro Display"/>
                        </a:rPr>
                        <a:t>i</a:t>
                      </a:r>
                      <a:r>
                        <a:rPr lang="es-419" sz="1400" b="0" spc="-10" dirty="0">
                          <a:solidFill>
                            <a:schemeClr val="tx1"/>
                          </a:solidFill>
                          <a:latin typeface="Raleway" panose="020B0003030101060003" pitchFamily="34" charset="0"/>
                          <a:cs typeface="SF Pro Display"/>
                        </a:rPr>
                        <a:t>za</a:t>
                      </a:r>
                      <a:r>
                        <a:rPr lang="es-419" sz="1400" b="0" spc="5" dirty="0">
                          <a:solidFill>
                            <a:schemeClr val="tx1"/>
                          </a:solidFill>
                          <a:latin typeface="Raleway" panose="020B0003030101060003" pitchFamily="34" charset="0"/>
                          <a:cs typeface="SF Pro Display"/>
                        </a:rPr>
                        <a:t>d</a:t>
                      </a:r>
                      <a:r>
                        <a:rPr lang="es-419" sz="1400" b="0" spc="-5" dirty="0">
                          <a:solidFill>
                            <a:schemeClr val="tx1"/>
                          </a:solidFill>
                          <a:latin typeface="Raleway" panose="020B0003030101060003" pitchFamily="34" charset="0"/>
                          <a:cs typeface="SF Pro Display"/>
                        </a:rPr>
                        <a:t>o</a:t>
                      </a:r>
                      <a:r>
                        <a:rPr lang="es-419" sz="1400" b="0" spc="-10" dirty="0">
                          <a:solidFill>
                            <a:schemeClr val="tx1"/>
                          </a:solidFill>
                          <a:latin typeface="Raleway" panose="020B0003030101060003" pitchFamily="34" charset="0"/>
                          <a:cs typeface="SF Pro Display"/>
                        </a:rPr>
                        <a:t>r</a:t>
                      </a:r>
                      <a:r>
                        <a:rPr lang="es-419" sz="1400" b="0" dirty="0">
                          <a:solidFill>
                            <a:schemeClr val="tx1"/>
                          </a:solidFill>
                          <a:latin typeface="Raleway" panose="020B0003030101060003" pitchFamily="34" charset="0"/>
                          <a:cs typeface="SF Pro Display"/>
                        </a:rPr>
                        <a:t>e</a:t>
                      </a:r>
                      <a:r>
                        <a:rPr lang="es-419" sz="1400" b="0" spc="-5" dirty="0">
                          <a:solidFill>
                            <a:schemeClr val="tx1"/>
                          </a:solidFill>
                          <a:latin typeface="Raleway" panose="020B0003030101060003" pitchFamily="34" charset="0"/>
                          <a:cs typeface="SF Pro Display"/>
                        </a:rPr>
                        <a:t>s”</a:t>
                      </a:r>
                      <a:endParaRPr lang="es-419" sz="1400" b="0" dirty="0">
                        <a:solidFill>
                          <a:schemeClr val="tx1"/>
                        </a:solidFill>
                        <a:latin typeface="Raleway" panose="020B0003030101060003" pitchFamily="34" charset="0"/>
                        <a:cs typeface="SF Pro Display"/>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377825" marR="323850" indent="-287020">
                        <a:lnSpc>
                          <a:spcPct val="100000"/>
                        </a:lnSpc>
                        <a:spcBef>
                          <a:spcPts val="300"/>
                        </a:spcBef>
                        <a:buClr>
                          <a:srgbClr val="4FE14F"/>
                        </a:buClr>
                        <a:buFont typeface="Arial"/>
                        <a:buChar char="•"/>
                        <a:tabLst>
                          <a:tab pos="377825" algn="l"/>
                          <a:tab pos="378460" algn="l"/>
                        </a:tabLst>
                      </a:pPr>
                      <a:r>
                        <a:rPr lang="es-MX" sz="1400" b="0" spc="-45" dirty="0">
                          <a:solidFill>
                            <a:schemeClr val="tx1"/>
                          </a:solidFill>
                          <a:latin typeface="Raleway" panose="020B0003030101060003" pitchFamily="34" charset="0"/>
                          <a:cs typeface="SF Pro Display"/>
                        </a:rPr>
                        <a:t>Busca </a:t>
                      </a:r>
                      <a:r>
                        <a:rPr lang="es-MX" sz="1400" b="0" spc="-30" dirty="0">
                          <a:solidFill>
                            <a:schemeClr val="tx1"/>
                          </a:solidFill>
                          <a:latin typeface="Raleway" panose="020B0003030101060003" pitchFamily="34" charset="0"/>
                          <a:cs typeface="SF Pro Display"/>
                        </a:rPr>
                        <a:t>la </a:t>
                      </a:r>
                      <a:r>
                        <a:rPr lang="es-MX" sz="1400" b="0" spc="-50" dirty="0">
                          <a:solidFill>
                            <a:schemeClr val="tx1"/>
                          </a:solidFill>
                          <a:latin typeface="Raleway" panose="020B0003030101060003" pitchFamily="34" charset="0"/>
                          <a:cs typeface="SF Pro Display"/>
                        </a:rPr>
                        <a:t>mejor relación posible  </a:t>
                      </a:r>
                      <a:r>
                        <a:rPr lang="es-MX" sz="1400" b="0" spc="-55" dirty="0">
                          <a:solidFill>
                            <a:schemeClr val="tx1"/>
                          </a:solidFill>
                          <a:latin typeface="Raleway" panose="020B0003030101060003" pitchFamily="34" charset="0"/>
                          <a:cs typeface="SF Pro Display"/>
                        </a:rPr>
                        <a:t>entre </a:t>
                      </a:r>
                      <a:r>
                        <a:rPr lang="es-MX" sz="1400" b="0" spc="-50" dirty="0">
                          <a:solidFill>
                            <a:schemeClr val="tx1"/>
                          </a:solidFill>
                          <a:latin typeface="Raleway" panose="020B0003030101060003" pitchFamily="34" charset="0"/>
                          <a:cs typeface="SF Pro Display"/>
                        </a:rPr>
                        <a:t>precio </a:t>
                      </a:r>
                      <a:r>
                        <a:rPr lang="es-MX" sz="1400" b="0" dirty="0">
                          <a:solidFill>
                            <a:schemeClr val="tx1"/>
                          </a:solidFill>
                          <a:latin typeface="Raleway" panose="020B0003030101060003" pitchFamily="34" charset="0"/>
                          <a:cs typeface="SF Pro Display"/>
                        </a:rPr>
                        <a:t>y</a:t>
                      </a:r>
                      <a:r>
                        <a:rPr lang="es-MX" sz="1400" b="0" spc="-5" dirty="0">
                          <a:solidFill>
                            <a:schemeClr val="tx1"/>
                          </a:solidFill>
                          <a:latin typeface="Raleway" panose="020B0003030101060003" pitchFamily="34" charset="0"/>
                          <a:cs typeface="SF Pro Display"/>
                        </a:rPr>
                        <a:t> </a:t>
                      </a:r>
                      <a:r>
                        <a:rPr lang="es-MX" sz="1400" b="0" spc="-50" dirty="0">
                          <a:solidFill>
                            <a:schemeClr val="tx1"/>
                          </a:solidFill>
                          <a:latin typeface="Raleway" panose="020B0003030101060003" pitchFamily="34" charset="0"/>
                          <a:cs typeface="SF Pro Display"/>
                        </a:rPr>
                        <a:t>calidad.</a:t>
                      </a:r>
                      <a:endParaRPr lang="es-MX" sz="1400" b="0" dirty="0">
                        <a:solidFill>
                          <a:schemeClr val="tx1"/>
                        </a:solidFill>
                        <a:latin typeface="Raleway" panose="020B0003030101060003" pitchFamily="34" charset="0"/>
                        <a:cs typeface="SF Pro Display"/>
                      </a:endParaRPr>
                    </a:p>
                    <a:p>
                      <a:pPr marL="377825" marR="219710" indent="-287020">
                        <a:lnSpc>
                          <a:spcPct val="100000"/>
                        </a:lnSpc>
                        <a:buClr>
                          <a:srgbClr val="4FE14F"/>
                        </a:buClr>
                        <a:buFont typeface="Arial"/>
                        <a:buChar char="•"/>
                        <a:tabLst>
                          <a:tab pos="377825" algn="l"/>
                          <a:tab pos="378460" algn="l"/>
                        </a:tabLst>
                      </a:pPr>
                      <a:r>
                        <a:rPr lang="es-MX" sz="1400" b="0" spc="-60" dirty="0">
                          <a:solidFill>
                            <a:schemeClr val="tx1"/>
                          </a:solidFill>
                          <a:latin typeface="Raleway" panose="020B0003030101060003" pitchFamily="34" charset="0"/>
                          <a:cs typeface="SF Pro Display"/>
                        </a:rPr>
                        <a:t>Comportamiento </a:t>
                      </a:r>
                      <a:r>
                        <a:rPr lang="es-MX" sz="1400" b="0" spc="-55" dirty="0">
                          <a:solidFill>
                            <a:schemeClr val="tx1"/>
                          </a:solidFill>
                          <a:latin typeface="Raleway" panose="020B0003030101060003" pitchFamily="34" charset="0"/>
                          <a:cs typeface="SF Pro Display"/>
                        </a:rPr>
                        <a:t>principalmente  </a:t>
                      </a:r>
                      <a:r>
                        <a:rPr lang="es-MX" sz="1400" b="0" spc="-60" dirty="0">
                          <a:solidFill>
                            <a:schemeClr val="tx1"/>
                          </a:solidFill>
                          <a:latin typeface="Raleway" panose="020B0003030101060003" pitchFamily="34" charset="0"/>
                          <a:cs typeface="SF Pro Display"/>
                        </a:rPr>
                        <a:t>“racional”, </a:t>
                      </a:r>
                      <a:r>
                        <a:rPr lang="es-MX" sz="1400" b="0" dirty="0">
                          <a:solidFill>
                            <a:schemeClr val="tx1"/>
                          </a:solidFill>
                          <a:latin typeface="Raleway" panose="020B0003030101060003" pitchFamily="34" charset="0"/>
                          <a:cs typeface="SF Pro Display"/>
                        </a:rPr>
                        <a:t>o </a:t>
                      </a:r>
                      <a:r>
                        <a:rPr lang="es-MX" sz="1400" b="0" spc="-35" dirty="0">
                          <a:solidFill>
                            <a:schemeClr val="tx1"/>
                          </a:solidFill>
                          <a:latin typeface="Raleway" panose="020B0003030101060003" pitchFamily="34" charset="0"/>
                          <a:cs typeface="SF Pro Display"/>
                        </a:rPr>
                        <a:t>con </a:t>
                      </a:r>
                      <a:r>
                        <a:rPr lang="es-MX" sz="1400" b="0" spc="-40" dirty="0">
                          <a:solidFill>
                            <a:schemeClr val="tx1"/>
                          </a:solidFill>
                          <a:latin typeface="Raleway" panose="020B0003030101060003" pitchFamily="34" charset="0"/>
                          <a:cs typeface="SF Pro Display"/>
                        </a:rPr>
                        <a:t>poco </a:t>
                      </a:r>
                      <a:r>
                        <a:rPr lang="es-MX" sz="1400" b="0" spc="-45" dirty="0">
                          <a:solidFill>
                            <a:schemeClr val="tx1"/>
                          </a:solidFill>
                          <a:latin typeface="Raleway" panose="020B0003030101060003" pitchFamily="34" charset="0"/>
                          <a:cs typeface="SF Pro Display"/>
                        </a:rPr>
                        <a:t>valor </a:t>
                      </a:r>
                      <a:r>
                        <a:rPr lang="es-MX" sz="1400" b="0" dirty="0">
                          <a:solidFill>
                            <a:schemeClr val="tx1"/>
                          </a:solidFill>
                          <a:latin typeface="Raleway" panose="020B0003030101060003" pitchFamily="34" charset="0"/>
                          <a:cs typeface="SF Pro Display"/>
                        </a:rPr>
                        <a:t>a </a:t>
                      </a:r>
                      <a:r>
                        <a:rPr lang="es-MX" sz="1400" b="0" spc="-30" dirty="0">
                          <a:solidFill>
                            <a:schemeClr val="tx1"/>
                          </a:solidFill>
                          <a:latin typeface="Raleway" panose="020B0003030101060003" pitchFamily="34" charset="0"/>
                          <a:cs typeface="SF Pro Display"/>
                        </a:rPr>
                        <a:t>lo  </a:t>
                      </a:r>
                      <a:r>
                        <a:rPr lang="es-MX" sz="1400" b="0" spc="-60" dirty="0">
                          <a:solidFill>
                            <a:schemeClr val="tx1"/>
                          </a:solidFill>
                          <a:latin typeface="Raleway" panose="020B0003030101060003" pitchFamily="34" charset="0"/>
                          <a:cs typeface="SF Pro Display"/>
                        </a:rPr>
                        <a:t>simbólico.</a:t>
                      </a:r>
                      <a:endParaRPr lang="es-MX" sz="1400" b="0" dirty="0">
                        <a:solidFill>
                          <a:schemeClr val="tx1"/>
                        </a:solidFill>
                        <a:latin typeface="Raleway" panose="020B0003030101060003" pitchFamily="34" charset="0"/>
                        <a:cs typeface="SF Pro Display"/>
                      </a:endParaRPr>
                    </a:p>
                    <a:p>
                      <a:pPr marL="377825" marR="140335" indent="-287020">
                        <a:lnSpc>
                          <a:spcPct val="100000"/>
                        </a:lnSpc>
                        <a:buClr>
                          <a:srgbClr val="4FE14F"/>
                        </a:buClr>
                        <a:buFont typeface="Arial"/>
                        <a:buChar char="•"/>
                        <a:tabLst>
                          <a:tab pos="377825" algn="l"/>
                          <a:tab pos="378460" algn="l"/>
                        </a:tabLst>
                      </a:pPr>
                      <a:r>
                        <a:rPr lang="es-MX" sz="1400" b="0" spc="-10" dirty="0">
                          <a:solidFill>
                            <a:schemeClr val="tx1"/>
                          </a:solidFill>
                          <a:latin typeface="Raleway" panose="020B0003030101060003" pitchFamily="34" charset="0"/>
                          <a:cs typeface="SF Pro Display"/>
                        </a:rPr>
                        <a:t>No </a:t>
                      </a:r>
                      <a:r>
                        <a:rPr lang="es-MX" sz="1400" b="0" spc="-50" dirty="0">
                          <a:solidFill>
                            <a:schemeClr val="tx1"/>
                          </a:solidFill>
                          <a:latin typeface="Raleway" panose="020B0003030101060003" pitchFamily="34" charset="0"/>
                          <a:cs typeface="SF Pro Display"/>
                        </a:rPr>
                        <a:t>significa </a:t>
                      </a:r>
                      <a:r>
                        <a:rPr lang="es-MX" sz="1400" b="0" spc="-40" dirty="0">
                          <a:solidFill>
                            <a:schemeClr val="tx1"/>
                          </a:solidFill>
                          <a:latin typeface="Raleway" panose="020B0003030101060003" pitchFamily="34" charset="0"/>
                          <a:cs typeface="SF Pro Display"/>
                        </a:rPr>
                        <a:t>que </a:t>
                      </a:r>
                      <a:r>
                        <a:rPr lang="es-MX" sz="1400" b="0" spc="-30" dirty="0">
                          <a:solidFill>
                            <a:schemeClr val="tx1"/>
                          </a:solidFill>
                          <a:latin typeface="Raleway" panose="020B0003030101060003" pitchFamily="34" charset="0"/>
                          <a:cs typeface="SF Pro Display"/>
                        </a:rPr>
                        <a:t>va </a:t>
                      </a:r>
                      <a:r>
                        <a:rPr lang="es-MX" sz="1400" b="0" dirty="0">
                          <a:solidFill>
                            <a:schemeClr val="tx1"/>
                          </a:solidFill>
                          <a:latin typeface="Raleway" panose="020B0003030101060003" pitchFamily="34" charset="0"/>
                          <a:cs typeface="SF Pro Display"/>
                        </a:rPr>
                        <a:t>a </a:t>
                      </a:r>
                      <a:r>
                        <a:rPr lang="es-MX" sz="1400" b="0" spc="-50" dirty="0">
                          <a:solidFill>
                            <a:schemeClr val="tx1"/>
                          </a:solidFill>
                          <a:latin typeface="Raleway" panose="020B0003030101060003" pitchFamily="34" charset="0"/>
                          <a:cs typeface="SF Pro Display"/>
                        </a:rPr>
                        <a:t>pagar </a:t>
                      </a:r>
                      <a:r>
                        <a:rPr lang="es-MX" sz="1400" b="0" spc="-45" dirty="0">
                          <a:solidFill>
                            <a:schemeClr val="tx1"/>
                          </a:solidFill>
                          <a:latin typeface="Raleway" panose="020B0003030101060003" pitchFamily="34" charset="0"/>
                          <a:cs typeface="SF Pro Display"/>
                        </a:rPr>
                        <a:t>poco,  </a:t>
                      </a:r>
                      <a:r>
                        <a:rPr lang="es-MX" sz="1400" b="0" spc="-50" dirty="0">
                          <a:solidFill>
                            <a:schemeClr val="tx1"/>
                          </a:solidFill>
                          <a:latin typeface="Raleway" panose="020B0003030101060003" pitchFamily="34" charset="0"/>
                          <a:cs typeface="SF Pro Display"/>
                        </a:rPr>
                        <a:t>pero </a:t>
                      </a:r>
                      <a:r>
                        <a:rPr lang="es-MX" sz="1400" b="0" spc="-25" dirty="0">
                          <a:solidFill>
                            <a:schemeClr val="tx1"/>
                          </a:solidFill>
                          <a:latin typeface="Raleway" panose="020B0003030101060003" pitchFamily="34" charset="0"/>
                          <a:cs typeface="SF Pro Display"/>
                        </a:rPr>
                        <a:t>en </a:t>
                      </a:r>
                      <a:r>
                        <a:rPr lang="es-MX" sz="1400" b="0" spc="-50" dirty="0">
                          <a:solidFill>
                            <a:schemeClr val="tx1"/>
                          </a:solidFill>
                          <a:latin typeface="Raleway" panose="020B0003030101060003" pitchFamily="34" charset="0"/>
                          <a:cs typeface="SF Pro Display"/>
                        </a:rPr>
                        <a:t>general necesita </a:t>
                      </a:r>
                      <a:r>
                        <a:rPr lang="es-MX" sz="1400" b="0" spc="-55" dirty="0">
                          <a:solidFill>
                            <a:schemeClr val="tx1"/>
                          </a:solidFill>
                          <a:latin typeface="Raleway" panose="020B0003030101060003" pitchFamily="34" charset="0"/>
                          <a:cs typeface="SF Pro Display"/>
                        </a:rPr>
                        <a:t>una  </a:t>
                      </a:r>
                      <a:r>
                        <a:rPr lang="es-MX" sz="1400" b="0" spc="-50" dirty="0">
                          <a:solidFill>
                            <a:schemeClr val="tx1"/>
                          </a:solidFill>
                          <a:latin typeface="Raleway" panose="020B0003030101060003" pitchFamily="34" charset="0"/>
                          <a:cs typeface="SF Pro Display"/>
                        </a:rPr>
                        <a:t>razón </a:t>
                      </a:r>
                      <a:r>
                        <a:rPr lang="es-MX" sz="1400" b="0" spc="-45" dirty="0">
                          <a:solidFill>
                            <a:schemeClr val="tx1"/>
                          </a:solidFill>
                          <a:latin typeface="Raleway" panose="020B0003030101060003" pitchFamily="34" charset="0"/>
                          <a:cs typeface="SF Pro Display"/>
                        </a:rPr>
                        <a:t>muy </a:t>
                      </a:r>
                      <a:r>
                        <a:rPr lang="es-MX" sz="1400" b="0" spc="-55" dirty="0">
                          <a:solidFill>
                            <a:schemeClr val="tx1"/>
                          </a:solidFill>
                          <a:latin typeface="Raleway" panose="020B0003030101060003" pitchFamily="34" charset="0"/>
                          <a:cs typeface="SF Pro Display"/>
                        </a:rPr>
                        <a:t>fuerte </a:t>
                      </a:r>
                      <a:r>
                        <a:rPr lang="es-MX" sz="1400" b="0" spc="-50" dirty="0">
                          <a:solidFill>
                            <a:schemeClr val="tx1"/>
                          </a:solidFill>
                          <a:latin typeface="Raleway" panose="020B0003030101060003" pitchFamily="34" charset="0"/>
                          <a:cs typeface="SF Pro Display"/>
                        </a:rPr>
                        <a:t>para pagar</a:t>
                      </a:r>
                      <a:r>
                        <a:rPr lang="es-MX" sz="1400" b="0" spc="-30" dirty="0">
                          <a:solidFill>
                            <a:schemeClr val="tx1"/>
                          </a:solidFill>
                          <a:latin typeface="Raleway" panose="020B0003030101060003" pitchFamily="34" charset="0"/>
                          <a:cs typeface="SF Pro Display"/>
                        </a:rPr>
                        <a:t> </a:t>
                      </a:r>
                      <a:r>
                        <a:rPr lang="es-MX" sz="1400" b="0" spc="-50" dirty="0">
                          <a:solidFill>
                            <a:schemeClr val="tx1"/>
                          </a:solidFill>
                          <a:latin typeface="Raleway" panose="020B0003030101060003" pitchFamily="34" charset="0"/>
                          <a:cs typeface="SF Pro Display"/>
                        </a:rPr>
                        <a:t>caro.</a:t>
                      </a:r>
                      <a:endParaRPr lang="es-MX" sz="1400" b="0" dirty="0">
                        <a:solidFill>
                          <a:schemeClr val="tx1"/>
                        </a:solidFill>
                        <a:latin typeface="Raleway" panose="020B0003030101060003" pitchFamily="34" charset="0"/>
                        <a:cs typeface="SF Pro Display"/>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377825" marR="148590" indent="-287020">
                        <a:lnSpc>
                          <a:spcPct val="100000"/>
                        </a:lnSpc>
                        <a:spcBef>
                          <a:spcPts val="300"/>
                        </a:spcBef>
                        <a:buClr>
                          <a:srgbClr val="4FE14F"/>
                        </a:buClr>
                        <a:buFont typeface="Arial"/>
                        <a:buChar char="•"/>
                        <a:tabLst>
                          <a:tab pos="377825" algn="l"/>
                          <a:tab pos="378460" algn="l"/>
                        </a:tabLst>
                      </a:pPr>
                      <a:r>
                        <a:rPr lang="es-MX" sz="1400" b="0" spc="-35" dirty="0">
                          <a:solidFill>
                            <a:schemeClr val="tx1"/>
                          </a:solidFill>
                          <a:latin typeface="Raleway" panose="020B0003030101060003" pitchFamily="34" charset="0"/>
                          <a:cs typeface="SF Pro Display"/>
                        </a:rPr>
                        <a:t>Las </a:t>
                      </a:r>
                      <a:r>
                        <a:rPr lang="es-MX" sz="1400" b="0" spc="-55" dirty="0">
                          <a:solidFill>
                            <a:schemeClr val="tx1"/>
                          </a:solidFill>
                          <a:latin typeface="Raleway" panose="020B0003030101060003" pitchFamily="34" charset="0"/>
                          <a:cs typeface="SF Pro Display"/>
                        </a:rPr>
                        <a:t>“experiencias </a:t>
                      </a:r>
                      <a:r>
                        <a:rPr lang="es-MX" sz="1400" b="0" spc="-60" dirty="0">
                          <a:solidFill>
                            <a:schemeClr val="tx1"/>
                          </a:solidFill>
                          <a:latin typeface="Raleway" panose="020B0003030101060003" pitchFamily="34" charset="0"/>
                          <a:cs typeface="SF Pro Display"/>
                        </a:rPr>
                        <a:t>memorables” </a:t>
                      </a:r>
                      <a:r>
                        <a:rPr lang="es-MX" sz="1400" b="0" spc="-50" dirty="0">
                          <a:solidFill>
                            <a:schemeClr val="tx1"/>
                          </a:solidFill>
                          <a:latin typeface="Raleway" panose="020B0003030101060003" pitchFamily="34" charset="0"/>
                          <a:cs typeface="SF Pro Display"/>
                        </a:rPr>
                        <a:t>están  </a:t>
                      </a:r>
                      <a:r>
                        <a:rPr lang="es-MX" sz="1400" b="0" spc="-60" dirty="0">
                          <a:solidFill>
                            <a:schemeClr val="tx1"/>
                          </a:solidFill>
                          <a:latin typeface="Raleway" panose="020B0003030101060003" pitchFamily="34" charset="0"/>
                          <a:cs typeface="SF Pro Display"/>
                        </a:rPr>
                        <a:t>reservadas </a:t>
                      </a:r>
                      <a:r>
                        <a:rPr lang="es-MX" sz="1400" b="0" spc="-50" dirty="0">
                          <a:solidFill>
                            <a:schemeClr val="tx1"/>
                          </a:solidFill>
                          <a:latin typeface="Raleway" panose="020B0003030101060003" pitchFamily="34" charset="0"/>
                          <a:cs typeface="SF Pro Display"/>
                        </a:rPr>
                        <a:t>para </a:t>
                      </a:r>
                      <a:r>
                        <a:rPr lang="es-MX" sz="1400" b="0" spc="-55" dirty="0">
                          <a:solidFill>
                            <a:schemeClr val="tx1"/>
                          </a:solidFill>
                          <a:latin typeface="Raleway" panose="020B0003030101060003" pitchFamily="34" charset="0"/>
                          <a:cs typeface="SF Pro Display"/>
                        </a:rPr>
                        <a:t>tickets promedios</a:t>
                      </a:r>
                      <a:r>
                        <a:rPr lang="es-MX" sz="1400" b="0" spc="60" dirty="0">
                          <a:solidFill>
                            <a:schemeClr val="tx1"/>
                          </a:solidFill>
                          <a:latin typeface="Raleway" panose="020B0003030101060003" pitchFamily="34" charset="0"/>
                          <a:cs typeface="SF Pro Display"/>
                        </a:rPr>
                        <a:t> </a:t>
                      </a:r>
                      <a:r>
                        <a:rPr lang="es-MX" sz="1400" b="0" spc="-50" dirty="0">
                          <a:solidFill>
                            <a:schemeClr val="tx1"/>
                          </a:solidFill>
                          <a:latin typeface="Raleway" panose="020B0003030101060003" pitchFamily="34" charset="0"/>
                          <a:cs typeface="SF Pro Display"/>
                        </a:rPr>
                        <a:t>altos</a:t>
                      </a:r>
                      <a:endParaRPr lang="es-MX" sz="1400" b="0" dirty="0">
                        <a:solidFill>
                          <a:schemeClr val="tx1"/>
                        </a:solidFill>
                        <a:latin typeface="Raleway" panose="020B0003030101060003" pitchFamily="34" charset="0"/>
                        <a:cs typeface="SF Pro Display"/>
                      </a:endParaRPr>
                    </a:p>
                    <a:p>
                      <a:pPr marL="377825" marR="628650" indent="-287020">
                        <a:lnSpc>
                          <a:spcPct val="100000"/>
                        </a:lnSpc>
                        <a:buClr>
                          <a:srgbClr val="4FE14F"/>
                        </a:buClr>
                        <a:buFont typeface="Arial"/>
                        <a:buChar char="•"/>
                        <a:tabLst>
                          <a:tab pos="377825" algn="l"/>
                          <a:tab pos="378460" algn="l"/>
                        </a:tabLst>
                      </a:pPr>
                      <a:r>
                        <a:rPr lang="es-MX" sz="1400" b="0" spc="-15" dirty="0">
                          <a:solidFill>
                            <a:schemeClr val="tx1"/>
                          </a:solidFill>
                          <a:latin typeface="Raleway" panose="020B0003030101060003" pitchFamily="34" charset="0"/>
                          <a:cs typeface="SF Pro Display"/>
                        </a:rPr>
                        <a:t>El </a:t>
                      </a:r>
                      <a:r>
                        <a:rPr lang="es-MX" sz="1400" b="0" spc="-50" dirty="0">
                          <a:solidFill>
                            <a:schemeClr val="tx1"/>
                          </a:solidFill>
                          <a:latin typeface="Raleway" panose="020B0003030101060003" pitchFamily="34" charset="0"/>
                          <a:cs typeface="SF Pro Display"/>
                        </a:rPr>
                        <a:t>ticket </a:t>
                      </a:r>
                      <a:r>
                        <a:rPr lang="es-MX" sz="1400" b="0" spc="-55" dirty="0">
                          <a:solidFill>
                            <a:schemeClr val="tx1"/>
                          </a:solidFill>
                          <a:latin typeface="Raleway" panose="020B0003030101060003" pitchFamily="34" charset="0"/>
                          <a:cs typeface="SF Pro Display"/>
                        </a:rPr>
                        <a:t>promedio </a:t>
                      </a:r>
                      <a:r>
                        <a:rPr lang="es-MX" sz="1400" b="0" spc="-45" dirty="0">
                          <a:solidFill>
                            <a:schemeClr val="tx1"/>
                          </a:solidFill>
                          <a:latin typeface="Raleway" panose="020B0003030101060003" pitchFamily="34" charset="0"/>
                          <a:cs typeface="SF Pro Display"/>
                        </a:rPr>
                        <a:t>bajo </a:t>
                      </a:r>
                      <a:r>
                        <a:rPr lang="es-MX" sz="1400" b="0" spc="-25" dirty="0">
                          <a:solidFill>
                            <a:schemeClr val="tx1"/>
                          </a:solidFill>
                          <a:latin typeface="Raleway" panose="020B0003030101060003" pitchFamily="34" charset="0"/>
                          <a:cs typeface="SF Pro Display"/>
                        </a:rPr>
                        <a:t>es </a:t>
                      </a:r>
                      <a:r>
                        <a:rPr lang="es-MX" sz="1400" b="0" spc="-40" dirty="0">
                          <a:solidFill>
                            <a:schemeClr val="tx1"/>
                          </a:solidFill>
                          <a:latin typeface="Raleway" panose="020B0003030101060003" pitchFamily="34" charset="0"/>
                          <a:cs typeface="SF Pro Display"/>
                        </a:rPr>
                        <a:t>una  </a:t>
                      </a:r>
                      <a:r>
                        <a:rPr lang="es-MX" sz="1400" b="0" spc="-55" dirty="0">
                          <a:solidFill>
                            <a:schemeClr val="tx1"/>
                          </a:solidFill>
                          <a:latin typeface="Raleway" panose="020B0003030101060003" pitchFamily="34" charset="0"/>
                          <a:cs typeface="SF Pro Display"/>
                        </a:rPr>
                        <a:t>experiencia </a:t>
                      </a:r>
                      <a:r>
                        <a:rPr lang="es-MX" sz="1400" b="0" spc="-50" dirty="0">
                          <a:solidFill>
                            <a:schemeClr val="tx1"/>
                          </a:solidFill>
                          <a:latin typeface="Raleway" panose="020B0003030101060003" pitchFamily="34" charset="0"/>
                          <a:cs typeface="SF Pro Display"/>
                        </a:rPr>
                        <a:t>asociada </a:t>
                      </a:r>
                      <a:r>
                        <a:rPr lang="es-MX" sz="1400" b="0" dirty="0">
                          <a:solidFill>
                            <a:schemeClr val="tx1"/>
                          </a:solidFill>
                          <a:latin typeface="Raleway" panose="020B0003030101060003" pitchFamily="34" charset="0"/>
                          <a:cs typeface="SF Pro Display"/>
                        </a:rPr>
                        <a:t>a </a:t>
                      </a:r>
                      <a:r>
                        <a:rPr lang="es-MX" sz="1400" b="0" spc="-45" dirty="0">
                          <a:solidFill>
                            <a:schemeClr val="tx1"/>
                          </a:solidFill>
                          <a:latin typeface="Raleway" panose="020B0003030101060003" pitchFamily="34" charset="0"/>
                          <a:cs typeface="SF Pro Display"/>
                        </a:rPr>
                        <a:t>algo </a:t>
                      </a:r>
                      <a:r>
                        <a:rPr lang="es-MX" sz="1400" b="0" spc="-70" dirty="0">
                          <a:solidFill>
                            <a:schemeClr val="tx1"/>
                          </a:solidFill>
                          <a:latin typeface="Raleway" panose="020B0003030101060003" pitchFamily="34" charset="0"/>
                          <a:cs typeface="SF Pro Display"/>
                        </a:rPr>
                        <a:t>más  </a:t>
                      </a:r>
                      <a:r>
                        <a:rPr lang="es-MX" sz="1400" b="0" spc="-50" dirty="0">
                          <a:solidFill>
                            <a:schemeClr val="tx1"/>
                          </a:solidFill>
                          <a:latin typeface="Raleway" panose="020B0003030101060003" pitchFamily="34" charset="0"/>
                          <a:cs typeface="SF Pro Display"/>
                        </a:rPr>
                        <a:t>funcional</a:t>
                      </a:r>
                      <a:endParaRPr lang="es-MX" sz="1400" b="0" dirty="0">
                        <a:solidFill>
                          <a:schemeClr val="tx1"/>
                        </a:solidFill>
                        <a:latin typeface="Raleway" panose="020B0003030101060003" pitchFamily="34" charset="0"/>
                        <a:cs typeface="SF Pro Display"/>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840392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4">
            <a:extLst>
              <a:ext uri="{FF2B5EF4-FFF2-40B4-BE49-F238E27FC236}">
                <a16:creationId xmlns:a16="http://schemas.microsoft.com/office/drawing/2014/main" id="{AEBFF62B-2253-4E54-F74B-D347BA55CC0F}"/>
              </a:ext>
            </a:extLst>
          </p:cNvPr>
          <p:cNvGraphicFramePr>
            <a:graphicFrameLocks noGrp="1"/>
          </p:cNvGraphicFramePr>
          <p:nvPr/>
        </p:nvGraphicFramePr>
        <p:xfrm>
          <a:off x="658811" y="1184850"/>
          <a:ext cx="10874375" cy="2552804"/>
        </p:xfrm>
        <a:graphic>
          <a:graphicData uri="http://schemas.openxmlformats.org/drawingml/2006/table">
            <a:tbl>
              <a:tblPr firstRow="1" bandRow="1">
                <a:tableStyleId>{2D5ABB26-0587-4C30-8999-92F81FD0307C}</a:tableStyleId>
              </a:tblPr>
              <a:tblGrid>
                <a:gridCol w="2269584">
                  <a:extLst>
                    <a:ext uri="{9D8B030D-6E8A-4147-A177-3AD203B41FA5}">
                      <a16:colId xmlns:a16="http://schemas.microsoft.com/office/drawing/2014/main" val="20000"/>
                    </a:ext>
                  </a:extLst>
                </a:gridCol>
                <a:gridCol w="3923818">
                  <a:extLst>
                    <a:ext uri="{9D8B030D-6E8A-4147-A177-3AD203B41FA5}">
                      <a16:colId xmlns:a16="http://schemas.microsoft.com/office/drawing/2014/main" val="20001"/>
                    </a:ext>
                  </a:extLst>
                </a:gridCol>
                <a:gridCol w="4680973">
                  <a:extLst>
                    <a:ext uri="{9D8B030D-6E8A-4147-A177-3AD203B41FA5}">
                      <a16:colId xmlns:a16="http://schemas.microsoft.com/office/drawing/2014/main" val="2432266983"/>
                    </a:ext>
                  </a:extLst>
                </a:gridCol>
              </a:tblGrid>
              <a:tr h="343004">
                <a:tc>
                  <a:txBody>
                    <a:bodyPr/>
                    <a:lstStyle/>
                    <a:p>
                      <a:pPr marL="90805">
                        <a:lnSpc>
                          <a:spcPct val="100000"/>
                        </a:lnSpc>
                        <a:spcBef>
                          <a:spcPts val="280"/>
                        </a:spcBef>
                      </a:pPr>
                      <a:r>
                        <a:rPr lang="es-419" sz="1400" b="1" spc="-5" dirty="0">
                          <a:solidFill>
                            <a:srgbClr val="3C5154"/>
                          </a:solidFill>
                          <a:latin typeface="+mj-lt"/>
                        </a:rPr>
                        <a:t>GRUPO DE CLIENTES</a:t>
                      </a:r>
                      <a:endParaRPr lang="es-419" sz="1400" dirty="0">
                        <a:solidFill>
                          <a:srgbClr val="3C5154"/>
                        </a:solidFill>
                        <a:latin typeface="+mj-lt"/>
                        <a:cs typeface="Montserrat"/>
                      </a:endParaRPr>
                    </a:p>
                  </a:txBody>
                  <a:tcPr marL="0" marR="0" marT="3556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solidFill>
                  </a:tcPr>
                </a:tc>
                <a:tc>
                  <a:txBody>
                    <a:bodyPr/>
                    <a:lstStyle/>
                    <a:p>
                      <a:pPr marL="91440">
                        <a:lnSpc>
                          <a:spcPct val="100000"/>
                        </a:lnSpc>
                        <a:spcBef>
                          <a:spcPts val="280"/>
                        </a:spcBef>
                      </a:pPr>
                      <a:r>
                        <a:rPr lang="es-419" sz="1400" b="1" spc="-5" dirty="0">
                          <a:solidFill>
                            <a:srgbClr val="3C5154"/>
                          </a:solidFill>
                          <a:latin typeface="+mj-lt"/>
                        </a:rPr>
                        <a:t>DESCRIPCIÓN</a:t>
                      </a:r>
                      <a:endParaRPr lang="es-419" sz="1400" dirty="0">
                        <a:solidFill>
                          <a:srgbClr val="3C5154"/>
                        </a:solidFill>
                        <a:latin typeface="+mj-lt"/>
                        <a:cs typeface="Montserrat"/>
                      </a:endParaRPr>
                    </a:p>
                  </a:txBody>
                  <a:tcPr marL="0" marR="0" marT="3556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solidFill>
                  </a:tcPr>
                </a:tc>
                <a:tc>
                  <a:txBody>
                    <a:bodyPr/>
                    <a:lstStyle/>
                    <a:p>
                      <a:pPr marL="91440">
                        <a:lnSpc>
                          <a:spcPct val="100000"/>
                        </a:lnSpc>
                        <a:spcBef>
                          <a:spcPts val="280"/>
                        </a:spcBef>
                      </a:pPr>
                      <a:r>
                        <a:rPr lang="es-419" sz="1400" dirty="0">
                          <a:solidFill>
                            <a:srgbClr val="3C5154"/>
                          </a:solidFill>
                          <a:latin typeface="+mj-lt"/>
                          <a:cs typeface="Montserrat"/>
                        </a:rPr>
                        <a:t>¿POR QUE NO LO RECONOCE LA INDUSTRIA?</a:t>
                      </a:r>
                    </a:p>
                  </a:txBody>
                  <a:tcPr marL="0" marR="0" marT="3556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solidFill>
                  </a:tcPr>
                </a:tc>
                <a:extLst>
                  <a:ext uri="{0D108BD9-81ED-4DB2-BD59-A6C34878D82A}">
                    <a16:rowId xmlns:a16="http://schemas.microsoft.com/office/drawing/2014/main" val="10000"/>
                  </a:ext>
                </a:extLst>
              </a:tr>
              <a:tr h="1792118">
                <a:tc>
                  <a:txBody>
                    <a:bodyPr/>
                    <a:lstStyle/>
                    <a:p>
                      <a:pPr marL="90805" marR="116205">
                        <a:lnSpc>
                          <a:spcPct val="100000"/>
                        </a:lnSpc>
                        <a:spcBef>
                          <a:spcPts val="300"/>
                        </a:spcBef>
                        <a:buClr>
                          <a:srgbClr val="4FE14F"/>
                        </a:buClr>
                      </a:pPr>
                      <a:r>
                        <a:rPr lang="es-419" sz="1400" b="0" spc="-5" dirty="0">
                          <a:solidFill>
                            <a:schemeClr val="accent2"/>
                          </a:solidFill>
                          <a:latin typeface="Raleway" panose="020B0003030101060003" pitchFamily="34" charset="0"/>
                          <a:cs typeface="SF Pro Display"/>
                        </a:rPr>
                        <a:t>Familia profesional creciendo</a:t>
                      </a:r>
                    </a:p>
                    <a:p>
                      <a:pPr marL="90805" marR="116205">
                        <a:lnSpc>
                          <a:spcPct val="100000"/>
                        </a:lnSpc>
                        <a:spcBef>
                          <a:spcPts val="300"/>
                        </a:spcBef>
                        <a:buClr>
                          <a:srgbClr val="4FE14F"/>
                        </a:buClr>
                      </a:pPr>
                      <a:endParaRPr lang="es-419" sz="1400" b="0" spc="-5" dirty="0">
                        <a:solidFill>
                          <a:schemeClr val="accent2"/>
                        </a:solidFill>
                        <a:latin typeface="Raleway" panose="020B0003030101060003" pitchFamily="34" charset="0"/>
                        <a:cs typeface="SF Pro Display"/>
                      </a:endParaRPr>
                    </a:p>
                    <a:p>
                      <a:pPr marL="90805" marR="116205">
                        <a:lnSpc>
                          <a:spcPct val="100000"/>
                        </a:lnSpc>
                        <a:spcBef>
                          <a:spcPts val="300"/>
                        </a:spcBef>
                        <a:buClr>
                          <a:srgbClr val="4FE14F"/>
                        </a:buClr>
                      </a:pPr>
                      <a:r>
                        <a:rPr lang="es-419" sz="1400" b="0" spc="-5" dirty="0">
                          <a:solidFill>
                            <a:schemeClr val="accent2"/>
                          </a:solidFill>
                          <a:latin typeface="Raleway" panose="020B0003030101060003" pitchFamily="34" charset="0"/>
                          <a:cs typeface="SF Pro Display"/>
                        </a:rPr>
                        <a:t>(En la industria de las remodelaciones de casas)</a:t>
                      </a:r>
                    </a:p>
                    <a:p>
                      <a:pPr marL="90805" marR="116205">
                        <a:lnSpc>
                          <a:spcPct val="100000"/>
                        </a:lnSpc>
                        <a:spcBef>
                          <a:spcPts val="300"/>
                        </a:spcBef>
                        <a:buClr>
                          <a:srgbClr val="4FE14F"/>
                        </a:buClr>
                      </a:pPr>
                      <a:endParaRPr lang="es-419" sz="1400" b="0" spc="-5" dirty="0">
                        <a:solidFill>
                          <a:schemeClr val="accent2"/>
                        </a:solidFill>
                        <a:latin typeface="Raleway" panose="020B0003030101060003" pitchFamily="34" charset="0"/>
                        <a:cs typeface="SF Pro Display"/>
                      </a:endParaRPr>
                    </a:p>
                    <a:p>
                      <a:pPr marL="90805" marR="116205">
                        <a:lnSpc>
                          <a:spcPct val="100000"/>
                        </a:lnSpc>
                        <a:spcBef>
                          <a:spcPts val="300"/>
                        </a:spcBef>
                        <a:buClr>
                          <a:srgbClr val="4FE14F"/>
                        </a:buClr>
                      </a:pPr>
                      <a:endParaRPr lang="es-419" sz="1400" b="0" dirty="0">
                        <a:solidFill>
                          <a:schemeClr val="accent2"/>
                        </a:solidFill>
                        <a:latin typeface="Raleway" panose="020B0003030101060003" pitchFamily="34" charset="0"/>
                        <a:cs typeface="SF Pro Display"/>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377825" marR="323850" indent="-287020">
                        <a:lnSpc>
                          <a:spcPct val="100000"/>
                        </a:lnSpc>
                        <a:spcBef>
                          <a:spcPts val="300"/>
                        </a:spcBef>
                        <a:buClr>
                          <a:srgbClr val="4FE14F"/>
                        </a:buClr>
                        <a:buFont typeface="Arial"/>
                        <a:buChar char="•"/>
                        <a:tabLst>
                          <a:tab pos="377825" algn="l"/>
                          <a:tab pos="378460" algn="l"/>
                        </a:tabLst>
                      </a:pPr>
                      <a:r>
                        <a:rPr lang="es-CL" sz="1400" b="0" dirty="0">
                          <a:solidFill>
                            <a:schemeClr val="accent2"/>
                          </a:solidFill>
                        </a:rPr>
                        <a:t>Profesionales con pocos hijos que van al colegio, rondan los 40 años, y están decidiendo remodelar la casa, tienen ideas, pero han visto diseños de conocidos, van a invertir con tiempo y de una vez. Tienen presupuesto, necesitan buena contraparte, les preocupan los fiascos… </a:t>
                      </a:r>
                      <a:endParaRPr lang="es-MX" sz="1400" b="0" spc="-45" dirty="0">
                        <a:solidFill>
                          <a:schemeClr val="accent2"/>
                        </a:solidFill>
                        <a:latin typeface="Raleway" panose="020B0003030101060003" pitchFamily="34" charset="0"/>
                        <a:cs typeface="SF Pro Display"/>
                      </a:endParaRPr>
                    </a:p>
                    <a:p>
                      <a:pPr marL="377825" marR="323850" indent="-287020">
                        <a:lnSpc>
                          <a:spcPct val="100000"/>
                        </a:lnSpc>
                        <a:spcBef>
                          <a:spcPts val="300"/>
                        </a:spcBef>
                        <a:buClr>
                          <a:srgbClr val="4FE14F"/>
                        </a:buClr>
                        <a:buFont typeface="Arial"/>
                        <a:buChar char="•"/>
                        <a:tabLst>
                          <a:tab pos="377825" algn="l"/>
                          <a:tab pos="378460" algn="l"/>
                        </a:tabLst>
                      </a:pPr>
                      <a:endParaRPr lang="es-MX" sz="1400" b="0" dirty="0">
                        <a:solidFill>
                          <a:schemeClr val="accent2"/>
                        </a:solidFill>
                        <a:latin typeface="Raleway" panose="020B0003030101060003" pitchFamily="34" charset="0"/>
                        <a:cs typeface="SF Pro Display"/>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377825" marR="148590" indent="-287020">
                        <a:lnSpc>
                          <a:spcPct val="100000"/>
                        </a:lnSpc>
                        <a:spcBef>
                          <a:spcPts val="300"/>
                        </a:spcBef>
                        <a:buClr>
                          <a:srgbClr val="4FE14F"/>
                        </a:buClr>
                        <a:buFont typeface="Arial"/>
                        <a:buChar char="•"/>
                        <a:tabLst>
                          <a:tab pos="377825" algn="l"/>
                          <a:tab pos="378460" algn="l"/>
                        </a:tabLst>
                      </a:pPr>
                      <a:r>
                        <a:rPr lang="es-MX" sz="1400" b="1" dirty="0">
                          <a:solidFill>
                            <a:schemeClr val="accent2"/>
                          </a:solidFill>
                          <a:latin typeface="Raleway" panose="020B0003030101060003" pitchFamily="34" charset="0"/>
                          <a:cs typeface="SF Pro Display"/>
                        </a:rPr>
                        <a:t>Se deben mostrar los temas donde no hay satisfacción del cliente con la oferta tradicional del rubro, producto o servicio.</a:t>
                      </a:r>
                    </a:p>
                    <a:p>
                      <a:pPr marL="377825" marR="148590" indent="-287020">
                        <a:lnSpc>
                          <a:spcPct val="100000"/>
                        </a:lnSpc>
                        <a:spcBef>
                          <a:spcPts val="300"/>
                        </a:spcBef>
                        <a:buClr>
                          <a:srgbClr val="4FE14F"/>
                        </a:buClr>
                        <a:buFont typeface="Arial"/>
                        <a:buChar char="•"/>
                        <a:tabLst>
                          <a:tab pos="377825" algn="l"/>
                          <a:tab pos="378460" algn="l"/>
                        </a:tabLst>
                      </a:pPr>
                      <a:endParaRPr lang="es-MX" sz="1400" b="0" dirty="0">
                        <a:solidFill>
                          <a:schemeClr val="accent2"/>
                        </a:solidFill>
                        <a:latin typeface="Raleway" panose="020B0003030101060003" pitchFamily="34" charset="0"/>
                        <a:cs typeface="SF Pro Display"/>
                      </a:endParaRPr>
                    </a:p>
                    <a:p>
                      <a:pPr marL="377825" marR="148590" indent="-287020">
                        <a:lnSpc>
                          <a:spcPct val="100000"/>
                        </a:lnSpc>
                        <a:spcBef>
                          <a:spcPts val="300"/>
                        </a:spcBef>
                        <a:buClr>
                          <a:srgbClr val="4FE14F"/>
                        </a:buClr>
                        <a:buFont typeface="Arial"/>
                        <a:buChar char="•"/>
                        <a:tabLst>
                          <a:tab pos="377825" algn="l"/>
                          <a:tab pos="378460" algn="l"/>
                        </a:tabLst>
                      </a:pPr>
                      <a:r>
                        <a:rPr lang="es-MX" sz="1400" b="0" dirty="0">
                          <a:solidFill>
                            <a:schemeClr val="accent2"/>
                          </a:solidFill>
                          <a:latin typeface="Raleway" panose="020B0003030101060003" pitchFamily="34" charset="0"/>
                          <a:cs typeface="SF Pro Display"/>
                        </a:rPr>
                        <a:t>Los contratistas no venden diseño, ni arquitectura, tienen poco respaldo para los pagos, o las formas de financiar, dan pocas seguridades con los tiempos y calidad de terminaciones.</a:t>
                      </a:r>
                    </a:p>
                    <a:p>
                      <a:pPr marL="377825" marR="148590" indent="-287020">
                        <a:lnSpc>
                          <a:spcPct val="100000"/>
                        </a:lnSpc>
                        <a:spcBef>
                          <a:spcPts val="300"/>
                        </a:spcBef>
                        <a:buClr>
                          <a:srgbClr val="4FE14F"/>
                        </a:buClr>
                        <a:buFont typeface="Arial"/>
                        <a:buChar char="•"/>
                        <a:tabLst>
                          <a:tab pos="377825" algn="l"/>
                          <a:tab pos="378460" algn="l"/>
                        </a:tabLst>
                      </a:pPr>
                      <a:endParaRPr lang="es-MX" sz="1400" b="0" dirty="0">
                        <a:solidFill>
                          <a:schemeClr val="accent2"/>
                        </a:solidFill>
                        <a:latin typeface="Raleway" panose="020B0003030101060003" pitchFamily="34" charset="0"/>
                        <a:cs typeface="SF Pro Display"/>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3" name="object 4">
            <a:extLst>
              <a:ext uri="{FF2B5EF4-FFF2-40B4-BE49-F238E27FC236}">
                <a16:creationId xmlns:a16="http://schemas.microsoft.com/office/drawing/2014/main" id="{B06AD459-FD54-D56D-2A51-430DF1430CFD}"/>
              </a:ext>
            </a:extLst>
          </p:cNvPr>
          <p:cNvGraphicFramePr>
            <a:graphicFrameLocks noGrp="1"/>
          </p:cNvGraphicFramePr>
          <p:nvPr/>
        </p:nvGraphicFramePr>
        <p:xfrm>
          <a:off x="658810" y="3701971"/>
          <a:ext cx="10874375" cy="2135122"/>
        </p:xfrm>
        <a:graphic>
          <a:graphicData uri="http://schemas.openxmlformats.org/drawingml/2006/table">
            <a:tbl>
              <a:tblPr firstRow="1" bandRow="1">
                <a:tableStyleId>{2D5ABB26-0587-4C30-8999-92F81FD0307C}</a:tableStyleId>
              </a:tblPr>
              <a:tblGrid>
                <a:gridCol w="2269584">
                  <a:extLst>
                    <a:ext uri="{9D8B030D-6E8A-4147-A177-3AD203B41FA5}">
                      <a16:colId xmlns:a16="http://schemas.microsoft.com/office/drawing/2014/main" val="20000"/>
                    </a:ext>
                  </a:extLst>
                </a:gridCol>
                <a:gridCol w="3923818">
                  <a:extLst>
                    <a:ext uri="{9D8B030D-6E8A-4147-A177-3AD203B41FA5}">
                      <a16:colId xmlns:a16="http://schemas.microsoft.com/office/drawing/2014/main" val="20001"/>
                    </a:ext>
                  </a:extLst>
                </a:gridCol>
                <a:gridCol w="4680973">
                  <a:extLst>
                    <a:ext uri="{9D8B030D-6E8A-4147-A177-3AD203B41FA5}">
                      <a16:colId xmlns:a16="http://schemas.microsoft.com/office/drawing/2014/main" val="2432266983"/>
                    </a:ext>
                  </a:extLst>
                </a:gridCol>
              </a:tblGrid>
              <a:tr h="343004">
                <a:tc>
                  <a:txBody>
                    <a:bodyPr/>
                    <a:lstStyle/>
                    <a:p>
                      <a:pPr marL="90805">
                        <a:lnSpc>
                          <a:spcPct val="100000"/>
                        </a:lnSpc>
                        <a:spcBef>
                          <a:spcPts val="280"/>
                        </a:spcBef>
                      </a:pPr>
                      <a:r>
                        <a:rPr lang="es-419" sz="1400" b="1" spc="-5" dirty="0">
                          <a:solidFill>
                            <a:srgbClr val="3C5154"/>
                          </a:solidFill>
                          <a:latin typeface="+mj-lt"/>
                        </a:rPr>
                        <a:t>GRUPO DE CLIENTES</a:t>
                      </a:r>
                      <a:endParaRPr lang="es-419" sz="1400" dirty="0">
                        <a:solidFill>
                          <a:srgbClr val="3C5154"/>
                        </a:solidFill>
                        <a:latin typeface="+mj-lt"/>
                        <a:cs typeface="Montserrat"/>
                      </a:endParaRPr>
                    </a:p>
                  </a:txBody>
                  <a:tcPr marL="0" marR="0" marT="3556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solidFill>
                  </a:tcPr>
                </a:tc>
                <a:tc>
                  <a:txBody>
                    <a:bodyPr/>
                    <a:lstStyle/>
                    <a:p>
                      <a:pPr marL="91440">
                        <a:lnSpc>
                          <a:spcPct val="100000"/>
                        </a:lnSpc>
                        <a:spcBef>
                          <a:spcPts val="280"/>
                        </a:spcBef>
                      </a:pPr>
                      <a:r>
                        <a:rPr lang="es-419" sz="1400" b="1" spc="-5" dirty="0">
                          <a:solidFill>
                            <a:srgbClr val="3C5154"/>
                          </a:solidFill>
                          <a:latin typeface="+mj-lt"/>
                        </a:rPr>
                        <a:t>DESCRIPCIÓN</a:t>
                      </a:r>
                      <a:endParaRPr lang="es-419" sz="1400" dirty="0">
                        <a:solidFill>
                          <a:srgbClr val="3C5154"/>
                        </a:solidFill>
                        <a:latin typeface="+mj-lt"/>
                        <a:cs typeface="Montserrat"/>
                      </a:endParaRPr>
                    </a:p>
                  </a:txBody>
                  <a:tcPr marL="0" marR="0" marT="3556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solidFill>
                  </a:tcPr>
                </a:tc>
                <a:tc>
                  <a:txBody>
                    <a:bodyPr/>
                    <a:lstStyle/>
                    <a:p>
                      <a:pPr marL="91440">
                        <a:lnSpc>
                          <a:spcPct val="100000"/>
                        </a:lnSpc>
                        <a:spcBef>
                          <a:spcPts val="280"/>
                        </a:spcBef>
                      </a:pPr>
                      <a:r>
                        <a:rPr lang="es-419" sz="1400" dirty="0">
                          <a:solidFill>
                            <a:srgbClr val="3C5154"/>
                          </a:solidFill>
                          <a:latin typeface="+mj-lt"/>
                          <a:cs typeface="Montserrat"/>
                        </a:rPr>
                        <a:t>¿POR QUE NO LO RECONOCE LA INDUSTRIA?</a:t>
                      </a:r>
                    </a:p>
                  </a:txBody>
                  <a:tcPr marL="0" marR="0" marT="3556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solidFill>
                  </a:tcPr>
                </a:tc>
                <a:extLst>
                  <a:ext uri="{0D108BD9-81ED-4DB2-BD59-A6C34878D82A}">
                    <a16:rowId xmlns:a16="http://schemas.microsoft.com/office/drawing/2014/main" val="10000"/>
                  </a:ext>
                </a:extLst>
              </a:tr>
              <a:tr h="1792118">
                <a:tc>
                  <a:txBody>
                    <a:bodyPr/>
                    <a:lstStyle/>
                    <a:p>
                      <a:pPr marL="90805" marR="116205">
                        <a:lnSpc>
                          <a:spcPct val="100000"/>
                        </a:lnSpc>
                        <a:spcBef>
                          <a:spcPts val="300"/>
                        </a:spcBef>
                        <a:buClr>
                          <a:srgbClr val="4FE14F"/>
                        </a:buClr>
                      </a:pPr>
                      <a:r>
                        <a:rPr lang="es-419" sz="1400" b="0" spc="-5" dirty="0">
                          <a:solidFill>
                            <a:schemeClr val="accent2"/>
                          </a:solidFill>
                          <a:latin typeface="Raleway" panose="020B0003030101060003" pitchFamily="34" charset="0"/>
                          <a:cs typeface="SF Pro Display"/>
                        </a:rPr>
                        <a:t>Estudiante brillante con vocación de investigador</a:t>
                      </a:r>
                    </a:p>
                    <a:p>
                      <a:pPr marL="90805" marR="116205">
                        <a:lnSpc>
                          <a:spcPct val="100000"/>
                        </a:lnSpc>
                        <a:spcBef>
                          <a:spcPts val="300"/>
                        </a:spcBef>
                        <a:buClr>
                          <a:srgbClr val="4FE14F"/>
                        </a:buClr>
                      </a:pPr>
                      <a:endParaRPr lang="es-419" sz="1400" b="0" spc="-5" dirty="0">
                        <a:solidFill>
                          <a:schemeClr val="accent2"/>
                        </a:solidFill>
                        <a:latin typeface="Raleway" panose="020B0003030101060003" pitchFamily="34" charset="0"/>
                        <a:cs typeface="SF Pro Display"/>
                      </a:endParaRPr>
                    </a:p>
                    <a:p>
                      <a:pPr marL="90805" marR="116205">
                        <a:lnSpc>
                          <a:spcPct val="100000"/>
                        </a:lnSpc>
                        <a:spcBef>
                          <a:spcPts val="300"/>
                        </a:spcBef>
                        <a:buClr>
                          <a:srgbClr val="4FE14F"/>
                        </a:buClr>
                      </a:pPr>
                      <a:r>
                        <a:rPr lang="es-419" sz="1400" b="0" spc="-5" dirty="0">
                          <a:solidFill>
                            <a:schemeClr val="accent2"/>
                          </a:solidFill>
                          <a:latin typeface="Raleway" panose="020B0003030101060003" pitchFamily="34" charset="0"/>
                          <a:cs typeface="SF Pro Display"/>
                        </a:rPr>
                        <a:t>(En el mercado de la educación de universitaria)</a:t>
                      </a: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377825" marR="323850" indent="-287020">
                        <a:lnSpc>
                          <a:spcPct val="100000"/>
                        </a:lnSpc>
                        <a:spcBef>
                          <a:spcPts val="300"/>
                        </a:spcBef>
                        <a:buClr>
                          <a:srgbClr val="4FE14F"/>
                        </a:buClr>
                        <a:buFont typeface="Arial"/>
                        <a:buChar char="•"/>
                        <a:tabLst>
                          <a:tab pos="377825" algn="l"/>
                          <a:tab pos="378460" algn="l"/>
                        </a:tabLst>
                      </a:pPr>
                      <a:r>
                        <a:rPr lang="es-ES" sz="1400" b="0" dirty="0">
                          <a:solidFill>
                            <a:schemeClr val="accent2"/>
                          </a:solidFill>
                        </a:rPr>
                        <a:t>Son alumnos/as que destacan muy pronto en sus carreras, generan buenos vínculos con profesores, de buena escritura y conceptualización de problemas académicos.</a:t>
                      </a:r>
                      <a:endParaRPr lang="es-MX" sz="1400" b="0" spc="-45" dirty="0">
                        <a:solidFill>
                          <a:schemeClr val="accent2"/>
                        </a:solidFill>
                        <a:latin typeface="Raleway" panose="020B0003030101060003" pitchFamily="34" charset="0"/>
                        <a:cs typeface="SF Pro Display"/>
                      </a:endParaRPr>
                    </a:p>
                    <a:p>
                      <a:pPr marL="377825" marR="323850" indent="-287020">
                        <a:lnSpc>
                          <a:spcPct val="100000"/>
                        </a:lnSpc>
                        <a:spcBef>
                          <a:spcPts val="300"/>
                        </a:spcBef>
                        <a:buClr>
                          <a:srgbClr val="4FE14F"/>
                        </a:buClr>
                        <a:buFont typeface="Arial"/>
                        <a:buChar char="•"/>
                        <a:tabLst>
                          <a:tab pos="377825" algn="l"/>
                          <a:tab pos="378460" algn="l"/>
                        </a:tabLst>
                      </a:pPr>
                      <a:endParaRPr lang="es-MX" sz="1400" b="0" dirty="0">
                        <a:solidFill>
                          <a:schemeClr val="accent2"/>
                        </a:solidFill>
                        <a:latin typeface="Raleway" panose="020B0003030101060003" pitchFamily="34" charset="0"/>
                        <a:cs typeface="SF Pro Display"/>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377825" marR="148590" indent="-287020">
                        <a:lnSpc>
                          <a:spcPct val="100000"/>
                        </a:lnSpc>
                        <a:spcBef>
                          <a:spcPts val="300"/>
                        </a:spcBef>
                        <a:buClr>
                          <a:srgbClr val="4FE14F"/>
                        </a:buClr>
                        <a:buFont typeface="Arial"/>
                        <a:buChar char="•"/>
                        <a:tabLst>
                          <a:tab pos="377825" algn="l"/>
                          <a:tab pos="378460" algn="l"/>
                        </a:tabLst>
                      </a:pPr>
                      <a:r>
                        <a:rPr lang="es-MX" sz="1400" b="0" dirty="0">
                          <a:solidFill>
                            <a:schemeClr val="accent2"/>
                          </a:solidFill>
                          <a:latin typeface="Raleway" panose="020B0003030101060003" pitchFamily="34" charset="0"/>
                          <a:cs typeface="SF Pro Display"/>
                        </a:rPr>
                        <a:t>Las exigencias de los pregrados son bajas para ellos.</a:t>
                      </a:r>
                    </a:p>
                    <a:p>
                      <a:pPr marL="377825" marR="148590" indent="-287020">
                        <a:lnSpc>
                          <a:spcPct val="100000"/>
                        </a:lnSpc>
                        <a:spcBef>
                          <a:spcPts val="300"/>
                        </a:spcBef>
                        <a:buClr>
                          <a:srgbClr val="4FE14F"/>
                        </a:buClr>
                        <a:buFont typeface="Arial"/>
                        <a:buChar char="•"/>
                        <a:tabLst>
                          <a:tab pos="377825" algn="l"/>
                          <a:tab pos="378460" algn="l"/>
                        </a:tabLst>
                      </a:pPr>
                      <a:r>
                        <a:rPr lang="es-MX" sz="1400" b="0" dirty="0">
                          <a:solidFill>
                            <a:schemeClr val="accent2"/>
                          </a:solidFill>
                          <a:latin typeface="Raleway" panose="020B0003030101060003" pitchFamily="34" charset="0"/>
                          <a:cs typeface="SF Pro Display"/>
                        </a:rPr>
                        <a:t>Los tiempos para desarrollar una carrera de nivel doctoral son amplios, no están facilitados.</a:t>
                      </a:r>
                    </a:p>
                    <a:p>
                      <a:pPr marL="377825" marR="148590" indent="-287020">
                        <a:lnSpc>
                          <a:spcPct val="100000"/>
                        </a:lnSpc>
                        <a:spcBef>
                          <a:spcPts val="300"/>
                        </a:spcBef>
                        <a:buClr>
                          <a:srgbClr val="4FE14F"/>
                        </a:buClr>
                        <a:buFont typeface="Arial"/>
                        <a:buChar char="•"/>
                        <a:tabLst>
                          <a:tab pos="377825" algn="l"/>
                          <a:tab pos="378460" algn="l"/>
                        </a:tabLst>
                      </a:pPr>
                      <a:r>
                        <a:rPr lang="es-MX" sz="1400" b="0" dirty="0">
                          <a:solidFill>
                            <a:schemeClr val="accent2"/>
                          </a:solidFill>
                          <a:latin typeface="Raleway" panose="020B0003030101060003" pitchFamily="34" charset="0"/>
                          <a:cs typeface="SF Pro Display"/>
                        </a:rPr>
                        <a:t>Muchos ramos profesionales que no les sirven para la carrera de investigador.</a:t>
                      </a: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5045211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31E71BD-8C81-4A11-B96B-D2944E232708}"/>
              </a:ext>
            </a:extLst>
          </p:cNvPr>
          <p:cNvSpPr txBox="1"/>
          <p:nvPr/>
        </p:nvSpPr>
        <p:spPr>
          <a:xfrm>
            <a:off x="712341" y="511747"/>
            <a:ext cx="985238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prstClr val="black"/>
                </a:solidFill>
                <a:effectLst/>
                <a:uLnTx/>
                <a:uFillTx/>
                <a:latin typeface="Montserrat SemiBold" pitchFamily="2" charset="0"/>
                <a:ea typeface="+mn-ea"/>
                <a:cs typeface="+mn-cs"/>
              </a:rPr>
              <a:t>La curva de valor y los océanos azules</a:t>
            </a:r>
            <a:endParaRPr kumimoji="0" lang="es-CL" sz="2800" b="0" i="0" u="none" strike="noStrike" kern="1200" cap="none" spc="0" normalizeH="0" baseline="0" noProof="0" dirty="0">
              <a:ln>
                <a:noFill/>
              </a:ln>
              <a:solidFill>
                <a:prstClr val="black"/>
              </a:solidFill>
              <a:effectLst/>
              <a:uLnTx/>
              <a:uFillTx/>
              <a:latin typeface="Montserrat SemiBold" pitchFamily="2" charset="0"/>
              <a:ea typeface="+mn-ea"/>
              <a:cs typeface="+mn-cs"/>
            </a:endParaRPr>
          </a:p>
        </p:txBody>
      </p:sp>
      <p:sp>
        <p:nvSpPr>
          <p:cNvPr id="3" name="CuadroTexto 2">
            <a:extLst>
              <a:ext uri="{FF2B5EF4-FFF2-40B4-BE49-F238E27FC236}">
                <a16:creationId xmlns:a16="http://schemas.microsoft.com/office/drawing/2014/main" id="{8C4C6836-9E2A-4269-BC89-E37992EAA1B2}"/>
              </a:ext>
            </a:extLst>
          </p:cNvPr>
          <p:cNvSpPr txBox="1"/>
          <p:nvPr/>
        </p:nvSpPr>
        <p:spPr>
          <a:xfrm>
            <a:off x="712341" y="1445985"/>
            <a:ext cx="3629382" cy="470898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Avenir Next" panose="020B0503020202020204" pitchFamily="34" charset="0"/>
              </a:rPr>
              <a:t>Al trabajar en océanos azules, se busca entender el valor para cada segmento de cliente a través de los atributos de producto. Ejemplo, un auto pude ofrecer ser: rápido, bonito, accesorios de audio, color, exclusividad, costo de mantención, precio de venta, atención en el concesionario, precio de repuestos, facilidad de reventa.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CL" sz="1200" dirty="0">
              <a:solidFill>
                <a:prstClr val="black"/>
              </a:solidFill>
              <a:latin typeface="Avenir Next" panose="020B0503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Avenir Next" panose="020B0503020202020204" pitchFamily="34" charset="0"/>
              </a:rPr>
              <a:t>Una curva de valor es una </a:t>
            </a:r>
            <a:r>
              <a:rPr kumimoji="0" lang="es-CL" sz="1200" b="1" i="0" u="none" strike="noStrike" kern="1200" cap="none" spc="0" normalizeH="0" baseline="0" noProof="0" dirty="0">
                <a:ln>
                  <a:noFill/>
                </a:ln>
                <a:solidFill>
                  <a:prstClr val="black"/>
                </a:solidFill>
                <a:effectLst/>
                <a:uLnTx/>
                <a:uFillTx/>
                <a:latin typeface="Avenir Next" panose="020B0503020202020204" pitchFamily="34" charset="0"/>
              </a:rPr>
              <a:t>forma de representar gráficamente la dinámica competitiva del mercado</a:t>
            </a:r>
            <a:r>
              <a:rPr kumimoji="0" lang="es-CL" sz="1200" b="0" i="0" u="none" strike="noStrike" kern="1200" cap="none" spc="0" normalizeH="0" baseline="0" noProof="0" dirty="0">
                <a:ln>
                  <a:noFill/>
                </a:ln>
                <a:solidFill>
                  <a:prstClr val="black"/>
                </a:solidFill>
                <a:effectLst/>
                <a:uLnTx/>
                <a:uFillTx/>
                <a:latin typeface="Avenir Next" panose="020B0503020202020204" pitchFamily="34" charset="0"/>
              </a:rPr>
              <a:t>, centrándose en la percepción del valor que aportan los atributos relevantes para la experiencia del cliente.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CL" sz="1200" dirty="0">
              <a:solidFill>
                <a:prstClr val="black"/>
              </a:solidFill>
              <a:latin typeface="Avenir Next" panose="020B0503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Avenir Next" panose="020B0503020202020204" pitchFamily="34" charset="0"/>
              </a:rPr>
              <a:t>La clave es encontrar en algunos segmentos, espacios para crear valor, y otros para rebajar costos (o atributos). Ejemplo, al segmento de comida fitness, le importan el diseño, la frescura del alimento, no tiene tanto problema con el precio, rapidez y amabilidad de servicio (espacios para crear valor); y, por otra parte, no quieren tanto alimento, aumenta el % de verduras en su porción, son clientes leales, previsible su consumo, no varían tanto su consumo (espacio para crear ahorros).</a:t>
            </a:r>
          </a:p>
        </p:txBody>
      </p:sp>
      <p:grpSp>
        <p:nvGrpSpPr>
          <p:cNvPr id="4" name="Grupo 93">
            <a:extLst>
              <a:ext uri="{FF2B5EF4-FFF2-40B4-BE49-F238E27FC236}">
                <a16:creationId xmlns:a16="http://schemas.microsoft.com/office/drawing/2014/main" id="{DFE9D01F-8BD7-48F4-B5A9-7D22CEC79E8A}"/>
              </a:ext>
            </a:extLst>
          </p:cNvPr>
          <p:cNvGrpSpPr/>
          <p:nvPr/>
        </p:nvGrpSpPr>
        <p:grpSpPr>
          <a:xfrm>
            <a:off x="5309157" y="2043770"/>
            <a:ext cx="6219625" cy="4210652"/>
            <a:chOff x="5146775" y="1439124"/>
            <a:chExt cx="6219625" cy="4210652"/>
          </a:xfrm>
        </p:grpSpPr>
        <p:grpSp>
          <p:nvGrpSpPr>
            <p:cNvPr id="5" name="Grupo 74">
              <a:extLst>
                <a:ext uri="{FF2B5EF4-FFF2-40B4-BE49-F238E27FC236}">
                  <a16:creationId xmlns:a16="http://schemas.microsoft.com/office/drawing/2014/main" id="{7D620C0C-8A4E-4F70-BF55-57E615363A52}"/>
                </a:ext>
              </a:extLst>
            </p:cNvPr>
            <p:cNvGrpSpPr/>
            <p:nvPr/>
          </p:nvGrpSpPr>
          <p:grpSpPr>
            <a:xfrm>
              <a:off x="5765748" y="2319261"/>
              <a:ext cx="5555226" cy="2781539"/>
              <a:chOff x="5765748" y="2319261"/>
              <a:chExt cx="5555226" cy="2781539"/>
            </a:xfrm>
          </p:grpSpPr>
          <p:cxnSp>
            <p:nvCxnSpPr>
              <p:cNvPr id="44" name="Conector recto 70">
                <a:extLst>
                  <a:ext uri="{FF2B5EF4-FFF2-40B4-BE49-F238E27FC236}">
                    <a16:creationId xmlns:a16="http://schemas.microsoft.com/office/drawing/2014/main" id="{01A2CD41-E9CB-46B2-81E7-EDC2FC75711E}"/>
                  </a:ext>
                </a:extLst>
              </p:cNvPr>
              <p:cNvCxnSpPr/>
              <p:nvPr/>
            </p:nvCxnSpPr>
            <p:spPr>
              <a:xfrm>
                <a:off x="5765748" y="2319261"/>
                <a:ext cx="5555226" cy="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45" name="Conector recto 71">
                <a:extLst>
                  <a:ext uri="{FF2B5EF4-FFF2-40B4-BE49-F238E27FC236}">
                    <a16:creationId xmlns:a16="http://schemas.microsoft.com/office/drawing/2014/main" id="{6E15A442-A134-4576-B1FE-579D7DDA741C}"/>
                  </a:ext>
                </a:extLst>
              </p:cNvPr>
              <p:cNvCxnSpPr/>
              <p:nvPr/>
            </p:nvCxnSpPr>
            <p:spPr>
              <a:xfrm>
                <a:off x="5765748" y="5100800"/>
                <a:ext cx="5555226" cy="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46" name="Conector recto 72">
                <a:extLst>
                  <a:ext uri="{FF2B5EF4-FFF2-40B4-BE49-F238E27FC236}">
                    <a16:creationId xmlns:a16="http://schemas.microsoft.com/office/drawing/2014/main" id="{835EAE9E-E636-47F2-B810-E35F12E6C491}"/>
                  </a:ext>
                </a:extLst>
              </p:cNvPr>
              <p:cNvCxnSpPr/>
              <p:nvPr/>
            </p:nvCxnSpPr>
            <p:spPr>
              <a:xfrm>
                <a:off x="5765748" y="3228130"/>
                <a:ext cx="5555226" cy="0"/>
              </a:xfrm>
              <a:prstGeom prst="line">
                <a:avLst/>
              </a:prstGeom>
              <a:ln w="28575">
                <a:solidFill>
                  <a:schemeClr val="accent4"/>
                </a:solidFill>
                <a:prstDash val="sysDot"/>
              </a:ln>
            </p:spPr>
            <p:style>
              <a:lnRef idx="1">
                <a:schemeClr val="accent1"/>
              </a:lnRef>
              <a:fillRef idx="0">
                <a:schemeClr val="accent1"/>
              </a:fillRef>
              <a:effectRef idx="0">
                <a:schemeClr val="accent1"/>
              </a:effectRef>
              <a:fontRef idx="minor">
                <a:schemeClr val="tx1"/>
              </a:fontRef>
            </p:style>
          </p:cxnSp>
          <p:cxnSp>
            <p:nvCxnSpPr>
              <p:cNvPr id="47" name="Conector recto 73">
                <a:extLst>
                  <a:ext uri="{FF2B5EF4-FFF2-40B4-BE49-F238E27FC236}">
                    <a16:creationId xmlns:a16="http://schemas.microsoft.com/office/drawing/2014/main" id="{6969ECA0-E01F-42E6-A058-A1B9730F1ACE}"/>
                  </a:ext>
                </a:extLst>
              </p:cNvPr>
              <p:cNvCxnSpPr/>
              <p:nvPr/>
            </p:nvCxnSpPr>
            <p:spPr>
              <a:xfrm>
                <a:off x="5765748" y="4164234"/>
                <a:ext cx="5555226" cy="0"/>
              </a:xfrm>
              <a:prstGeom prst="line">
                <a:avLst/>
              </a:prstGeom>
              <a:ln w="28575">
                <a:solidFill>
                  <a:schemeClr val="accent4"/>
                </a:solidFill>
                <a:prstDash val="sysDot"/>
              </a:ln>
            </p:spPr>
            <p:style>
              <a:lnRef idx="1">
                <a:schemeClr val="accent1"/>
              </a:lnRef>
              <a:fillRef idx="0">
                <a:schemeClr val="accent1"/>
              </a:fillRef>
              <a:effectRef idx="0">
                <a:schemeClr val="accent1"/>
              </a:effectRef>
              <a:fontRef idx="minor">
                <a:schemeClr val="tx1"/>
              </a:fontRef>
            </p:style>
          </p:cxnSp>
        </p:grpSp>
        <p:sp>
          <p:nvSpPr>
            <p:cNvPr id="6" name="Elipse 7">
              <a:extLst>
                <a:ext uri="{FF2B5EF4-FFF2-40B4-BE49-F238E27FC236}">
                  <a16:creationId xmlns:a16="http://schemas.microsoft.com/office/drawing/2014/main" id="{A5A47356-088F-46DE-9DFB-24E580967C70}"/>
                </a:ext>
              </a:extLst>
            </p:cNvPr>
            <p:cNvSpPr/>
            <p:nvPr/>
          </p:nvSpPr>
          <p:spPr>
            <a:xfrm>
              <a:off x="5774436" y="3848916"/>
              <a:ext cx="177554" cy="1775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C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4E696D"/>
                </a:solidFill>
                <a:effectLst/>
                <a:uLnTx/>
                <a:uFillTx/>
                <a:latin typeface="Raleway"/>
                <a:ea typeface="+mn-ea"/>
                <a:cs typeface="+mn-cs"/>
              </a:endParaRPr>
            </a:p>
          </p:txBody>
        </p:sp>
        <p:sp>
          <p:nvSpPr>
            <p:cNvPr id="7" name="Elipse 8">
              <a:extLst>
                <a:ext uri="{FF2B5EF4-FFF2-40B4-BE49-F238E27FC236}">
                  <a16:creationId xmlns:a16="http://schemas.microsoft.com/office/drawing/2014/main" id="{01038EDF-C5F7-49AE-824D-E7550F615CEB}"/>
                </a:ext>
              </a:extLst>
            </p:cNvPr>
            <p:cNvSpPr/>
            <p:nvPr/>
          </p:nvSpPr>
          <p:spPr>
            <a:xfrm>
              <a:off x="5774436" y="3479998"/>
              <a:ext cx="177554" cy="17755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C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4E696D"/>
                </a:solidFill>
                <a:effectLst/>
                <a:uLnTx/>
                <a:uFillTx/>
                <a:latin typeface="Raleway"/>
                <a:ea typeface="+mn-ea"/>
                <a:cs typeface="+mn-cs"/>
              </a:endParaRPr>
            </a:p>
          </p:txBody>
        </p:sp>
        <p:sp>
          <p:nvSpPr>
            <p:cNvPr id="8" name="Elipse 9">
              <a:extLst>
                <a:ext uri="{FF2B5EF4-FFF2-40B4-BE49-F238E27FC236}">
                  <a16:creationId xmlns:a16="http://schemas.microsoft.com/office/drawing/2014/main" id="{7655F1B1-B808-44A7-8039-0C8D72B3B768}"/>
                </a:ext>
              </a:extLst>
            </p:cNvPr>
            <p:cNvSpPr/>
            <p:nvPr/>
          </p:nvSpPr>
          <p:spPr>
            <a:xfrm>
              <a:off x="6400806" y="3588502"/>
              <a:ext cx="177554" cy="1775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C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4E696D"/>
                </a:solidFill>
                <a:effectLst/>
                <a:uLnTx/>
                <a:uFillTx/>
                <a:latin typeface="Raleway"/>
                <a:ea typeface="+mn-ea"/>
                <a:cs typeface="+mn-cs"/>
              </a:endParaRPr>
            </a:p>
          </p:txBody>
        </p:sp>
        <p:sp>
          <p:nvSpPr>
            <p:cNvPr id="9" name="Elipse 10">
              <a:extLst>
                <a:ext uri="{FF2B5EF4-FFF2-40B4-BE49-F238E27FC236}">
                  <a16:creationId xmlns:a16="http://schemas.microsoft.com/office/drawing/2014/main" id="{323B3B9E-7D41-4245-9B36-BB32B647DDFC}"/>
                </a:ext>
              </a:extLst>
            </p:cNvPr>
            <p:cNvSpPr/>
            <p:nvPr/>
          </p:nvSpPr>
          <p:spPr>
            <a:xfrm>
              <a:off x="7238268" y="4999806"/>
              <a:ext cx="177554" cy="17755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C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4E696D"/>
                </a:solidFill>
                <a:effectLst/>
                <a:uLnTx/>
                <a:uFillTx/>
                <a:latin typeface="Raleway"/>
                <a:ea typeface="+mn-ea"/>
                <a:cs typeface="+mn-cs"/>
              </a:endParaRPr>
            </a:p>
          </p:txBody>
        </p:sp>
        <p:sp>
          <p:nvSpPr>
            <p:cNvPr id="10" name="Elipse 11">
              <a:extLst>
                <a:ext uri="{FF2B5EF4-FFF2-40B4-BE49-F238E27FC236}">
                  <a16:creationId xmlns:a16="http://schemas.microsoft.com/office/drawing/2014/main" id="{60081E70-454B-43F3-89A1-05FA2D312376}"/>
                </a:ext>
              </a:extLst>
            </p:cNvPr>
            <p:cNvSpPr/>
            <p:nvPr/>
          </p:nvSpPr>
          <p:spPr>
            <a:xfrm>
              <a:off x="7238268" y="3543128"/>
              <a:ext cx="177554" cy="1775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C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4E696D"/>
                </a:solidFill>
                <a:effectLst/>
                <a:uLnTx/>
                <a:uFillTx/>
                <a:latin typeface="Raleway"/>
                <a:ea typeface="+mn-ea"/>
                <a:cs typeface="+mn-cs"/>
              </a:endParaRPr>
            </a:p>
          </p:txBody>
        </p:sp>
        <p:sp>
          <p:nvSpPr>
            <p:cNvPr id="11" name="Elipse 12">
              <a:extLst>
                <a:ext uri="{FF2B5EF4-FFF2-40B4-BE49-F238E27FC236}">
                  <a16:creationId xmlns:a16="http://schemas.microsoft.com/office/drawing/2014/main" id="{6E12D499-6778-47BB-B9E9-397A89384FC2}"/>
                </a:ext>
              </a:extLst>
            </p:cNvPr>
            <p:cNvSpPr/>
            <p:nvPr/>
          </p:nvSpPr>
          <p:spPr>
            <a:xfrm>
              <a:off x="6400806" y="5002028"/>
              <a:ext cx="177554" cy="17755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C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4E696D"/>
                </a:solidFill>
                <a:effectLst/>
                <a:uLnTx/>
                <a:uFillTx/>
                <a:latin typeface="Raleway"/>
                <a:ea typeface="+mn-ea"/>
                <a:cs typeface="+mn-cs"/>
              </a:endParaRPr>
            </a:p>
          </p:txBody>
        </p:sp>
        <p:sp>
          <p:nvSpPr>
            <p:cNvPr id="12" name="Elipse 13">
              <a:extLst>
                <a:ext uri="{FF2B5EF4-FFF2-40B4-BE49-F238E27FC236}">
                  <a16:creationId xmlns:a16="http://schemas.microsoft.com/office/drawing/2014/main" id="{E09EC94D-51C6-4DFB-9D30-3AB008574692}"/>
                </a:ext>
              </a:extLst>
            </p:cNvPr>
            <p:cNvSpPr/>
            <p:nvPr/>
          </p:nvSpPr>
          <p:spPr>
            <a:xfrm>
              <a:off x="8030357" y="3336966"/>
              <a:ext cx="177554" cy="1775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C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4E696D"/>
                </a:solidFill>
                <a:effectLst/>
                <a:uLnTx/>
                <a:uFillTx/>
                <a:latin typeface="Raleway"/>
                <a:ea typeface="+mn-ea"/>
                <a:cs typeface="+mn-cs"/>
              </a:endParaRPr>
            </a:p>
          </p:txBody>
        </p:sp>
        <p:sp>
          <p:nvSpPr>
            <p:cNvPr id="13" name="Elipse 14">
              <a:extLst>
                <a:ext uri="{FF2B5EF4-FFF2-40B4-BE49-F238E27FC236}">
                  <a16:creationId xmlns:a16="http://schemas.microsoft.com/office/drawing/2014/main" id="{1E11E3AF-0C16-4070-ADF4-BF1B5BB6664B}"/>
                </a:ext>
              </a:extLst>
            </p:cNvPr>
            <p:cNvSpPr/>
            <p:nvPr/>
          </p:nvSpPr>
          <p:spPr>
            <a:xfrm>
              <a:off x="8030357" y="4353956"/>
              <a:ext cx="177554" cy="17755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C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4E696D"/>
                </a:solidFill>
                <a:effectLst/>
                <a:uLnTx/>
                <a:uFillTx/>
                <a:latin typeface="Raleway"/>
                <a:ea typeface="+mn-ea"/>
                <a:cs typeface="+mn-cs"/>
              </a:endParaRPr>
            </a:p>
          </p:txBody>
        </p:sp>
        <p:sp>
          <p:nvSpPr>
            <p:cNvPr id="14" name="Elipse 15">
              <a:extLst>
                <a:ext uri="{FF2B5EF4-FFF2-40B4-BE49-F238E27FC236}">
                  <a16:creationId xmlns:a16="http://schemas.microsoft.com/office/drawing/2014/main" id="{60299FC5-CEF6-4D0B-8A29-7D9E75FE9ABC}"/>
                </a:ext>
              </a:extLst>
            </p:cNvPr>
            <p:cNvSpPr/>
            <p:nvPr/>
          </p:nvSpPr>
          <p:spPr>
            <a:xfrm>
              <a:off x="8633054" y="3723640"/>
              <a:ext cx="177554" cy="1775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C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4E696D"/>
                </a:solidFill>
                <a:effectLst/>
                <a:uLnTx/>
                <a:uFillTx/>
                <a:latin typeface="Raleway"/>
                <a:ea typeface="+mn-ea"/>
                <a:cs typeface="+mn-cs"/>
              </a:endParaRPr>
            </a:p>
          </p:txBody>
        </p:sp>
        <p:sp>
          <p:nvSpPr>
            <p:cNvPr id="15" name="Elipse 16">
              <a:extLst>
                <a:ext uri="{FF2B5EF4-FFF2-40B4-BE49-F238E27FC236}">
                  <a16:creationId xmlns:a16="http://schemas.microsoft.com/office/drawing/2014/main" id="{03895261-7BA4-414D-80A7-3266A99FAA58}"/>
                </a:ext>
              </a:extLst>
            </p:cNvPr>
            <p:cNvSpPr/>
            <p:nvPr/>
          </p:nvSpPr>
          <p:spPr>
            <a:xfrm>
              <a:off x="8633054" y="4218818"/>
              <a:ext cx="177554" cy="17755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C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4E696D"/>
                </a:solidFill>
                <a:effectLst/>
                <a:uLnTx/>
                <a:uFillTx/>
                <a:latin typeface="Raleway"/>
                <a:ea typeface="+mn-ea"/>
                <a:cs typeface="+mn-cs"/>
              </a:endParaRPr>
            </a:p>
          </p:txBody>
        </p:sp>
        <p:sp>
          <p:nvSpPr>
            <p:cNvPr id="16" name="Elipse 17">
              <a:extLst>
                <a:ext uri="{FF2B5EF4-FFF2-40B4-BE49-F238E27FC236}">
                  <a16:creationId xmlns:a16="http://schemas.microsoft.com/office/drawing/2014/main" id="{4EB24438-DFCB-44EE-874D-081A12E6AD74}"/>
                </a:ext>
              </a:extLst>
            </p:cNvPr>
            <p:cNvSpPr/>
            <p:nvPr/>
          </p:nvSpPr>
          <p:spPr>
            <a:xfrm>
              <a:off x="9209118" y="3147576"/>
              <a:ext cx="177554" cy="17755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C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4E696D"/>
                </a:solidFill>
                <a:effectLst/>
                <a:uLnTx/>
                <a:uFillTx/>
                <a:latin typeface="Raleway"/>
                <a:ea typeface="+mn-ea"/>
                <a:cs typeface="+mn-cs"/>
              </a:endParaRPr>
            </a:p>
          </p:txBody>
        </p:sp>
        <p:sp>
          <p:nvSpPr>
            <p:cNvPr id="17" name="Elipse 18">
              <a:extLst>
                <a:ext uri="{FF2B5EF4-FFF2-40B4-BE49-F238E27FC236}">
                  <a16:creationId xmlns:a16="http://schemas.microsoft.com/office/drawing/2014/main" id="{90C6854E-4D67-496D-BCDC-FEC0BAFD6934}"/>
                </a:ext>
              </a:extLst>
            </p:cNvPr>
            <p:cNvSpPr/>
            <p:nvPr/>
          </p:nvSpPr>
          <p:spPr>
            <a:xfrm>
              <a:off x="9209118" y="4065924"/>
              <a:ext cx="177554" cy="1775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C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4E696D"/>
                </a:solidFill>
                <a:effectLst/>
                <a:uLnTx/>
                <a:uFillTx/>
                <a:latin typeface="Raleway"/>
                <a:ea typeface="+mn-ea"/>
                <a:cs typeface="+mn-cs"/>
              </a:endParaRPr>
            </a:p>
          </p:txBody>
        </p:sp>
        <p:sp>
          <p:nvSpPr>
            <p:cNvPr id="18" name="Elipse 19">
              <a:extLst>
                <a:ext uri="{FF2B5EF4-FFF2-40B4-BE49-F238E27FC236}">
                  <a16:creationId xmlns:a16="http://schemas.microsoft.com/office/drawing/2014/main" id="{CBA749A6-6441-4A0C-9FFB-5FACBDE0EA49}"/>
                </a:ext>
              </a:extLst>
            </p:cNvPr>
            <p:cNvSpPr/>
            <p:nvPr/>
          </p:nvSpPr>
          <p:spPr>
            <a:xfrm>
              <a:off x="9857190" y="4065924"/>
              <a:ext cx="177554" cy="1775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C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4E696D"/>
                </a:solidFill>
                <a:effectLst/>
                <a:uLnTx/>
                <a:uFillTx/>
                <a:latin typeface="Raleway"/>
                <a:ea typeface="+mn-ea"/>
                <a:cs typeface="+mn-cs"/>
              </a:endParaRPr>
            </a:p>
          </p:txBody>
        </p:sp>
        <p:sp>
          <p:nvSpPr>
            <p:cNvPr id="19" name="Elipse 20">
              <a:extLst>
                <a:ext uri="{FF2B5EF4-FFF2-40B4-BE49-F238E27FC236}">
                  <a16:creationId xmlns:a16="http://schemas.microsoft.com/office/drawing/2014/main" id="{7BAA3BD0-8557-4A07-9E46-FA110D302107}"/>
                </a:ext>
              </a:extLst>
            </p:cNvPr>
            <p:cNvSpPr/>
            <p:nvPr/>
          </p:nvSpPr>
          <p:spPr>
            <a:xfrm>
              <a:off x="9857190" y="2787536"/>
              <a:ext cx="177554" cy="17755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C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4E696D"/>
                </a:solidFill>
                <a:effectLst/>
                <a:uLnTx/>
                <a:uFillTx/>
                <a:latin typeface="Raleway"/>
                <a:ea typeface="+mn-ea"/>
                <a:cs typeface="+mn-cs"/>
              </a:endParaRPr>
            </a:p>
          </p:txBody>
        </p:sp>
        <p:sp>
          <p:nvSpPr>
            <p:cNvPr id="20" name="Elipse 21">
              <a:extLst>
                <a:ext uri="{FF2B5EF4-FFF2-40B4-BE49-F238E27FC236}">
                  <a16:creationId xmlns:a16="http://schemas.microsoft.com/office/drawing/2014/main" id="{B3DDD934-08CE-4763-AD67-4C7023386683}"/>
                </a:ext>
              </a:extLst>
            </p:cNvPr>
            <p:cNvSpPr/>
            <p:nvPr/>
          </p:nvSpPr>
          <p:spPr>
            <a:xfrm>
              <a:off x="10550636" y="2787536"/>
              <a:ext cx="177554" cy="17755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C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4E696D"/>
                </a:solidFill>
                <a:effectLst/>
                <a:uLnTx/>
                <a:uFillTx/>
                <a:latin typeface="Raleway"/>
                <a:ea typeface="+mn-ea"/>
                <a:cs typeface="+mn-cs"/>
              </a:endParaRPr>
            </a:p>
          </p:txBody>
        </p:sp>
        <p:sp>
          <p:nvSpPr>
            <p:cNvPr id="21" name="Elipse 22">
              <a:extLst>
                <a:ext uri="{FF2B5EF4-FFF2-40B4-BE49-F238E27FC236}">
                  <a16:creationId xmlns:a16="http://schemas.microsoft.com/office/drawing/2014/main" id="{E44FC7A0-E4BE-437A-9276-7A7542E442BD}"/>
                </a:ext>
              </a:extLst>
            </p:cNvPr>
            <p:cNvSpPr/>
            <p:nvPr/>
          </p:nvSpPr>
          <p:spPr>
            <a:xfrm>
              <a:off x="11188846" y="2787536"/>
              <a:ext cx="177554" cy="17755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C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4E696D"/>
                </a:solidFill>
                <a:effectLst/>
                <a:uLnTx/>
                <a:uFillTx/>
                <a:latin typeface="Raleway"/>
                <a:ea typeface="+mn-ea"/>
                <a:cs typeface="+mn-cs"/>
              </a:endParaRPr>
            </a:p>
          </p:txBody>
        </p:sp>
        <p:grpSp>
          <p:nvGrpSpPr>
            <p:cNvPr id="22" name="Grupo 56">
              <a:extLst>
                <a:ext uri="{FF2B5EF4-FFF2-40B4-BE49-F238E27FC236}">
                  <a16:creationId xmlns:a16="http://schemas.microsoft.com/office/drawing/2014/main" id="{81B6DAC6-72D6-40A4-8895-340F8272C546}"/>
                </a:ext>
              </a:extLst>
            </p:cNvPr>
            <p:cNvGrpSpPr/>
            <p:nvPr/>
          </p:nvGrpSpPr>
          <p:grpSpPr>
            <a:xfrm>
              <a:off x="5856004" y="2877624"/>
              <a:ext cx="5416061" cy="2235201"/>
              <a:chOff x="5856004" y="2877624"/>
              <a:chExt cx="5416061" cy="2235201"/>
            </a:xfrm>
          </p:grpSpPr>
          <p:cxnSp>
            <p:nvCxnSpPr>
              <p:cNvPr id="37" name="Conector recto 40">
                <a:extLst>
                  <a:ext uri="{FF2B5EF4-FFF2-40B4-BE49-F238E27FC236}">
                    <a16:creationId xmlns:a16="http://schemas.microsoft.com/office/drawing/2014/main" id="{8EBD6ABD-9126-4F92-AE55-DC498D854FB1}"/>
                  </a:ext>
                </a:extLst>
              </p:cNvPr>
              <p:cNvCxnSpPr>
                <a:cxnSpLocks/>
              </p:cNvCxnSpPr>
              <p:nvPr/>
            </p:nvCxnSpPr>
            <p:spPr>
              <a:xfrm>
                <a:off x="5856004" y="3549748"/>
                <a:ext cx="656492" cy="1563077"/>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8" name="Conector recto 44">
                <a:extLst>
                  <a:ext uri="{FF2B5EF4-FFF2-40B4-BE49-F238E27FC236}">
                    <a16:creationId xmlns:a16="http://schemas.microsoft.com/office/drawing/2014/main" id="{15031AB8-7AF6-47A7-AE7D-C593C9E5B8F3}"/>
                  </a:ext>
                </a:extLst>
              </p:cNvPr>
              <p:cNvCxnSpPr/>
              <p:nvPr/>
            </p:nvCxnSpPr>
            <p:spPr>
              <a:xfrm>
                <a:off x="6485142" y="5105010"/>
                <a:ext cx="836246"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9" name="Conector recto 46">
                <a:extLst>
                  <a:ext uri="{FF2B5EF4-FFF2-40B4-BE49-F238E27FC236}">
                    <a16:creationId xmlns:a16="http://schemas.microsoft.com/office/drawing/2014/main" id="{901B2301-5B22-4288-9036-86B4C1B5F1B8}"/>
                  </a:ext>
                </a:extLst>
              </p:cNvPr>
              <p:cNvCxnSpPr/>
              <p:nvPr/>
            </p:nvCxnSpPr>
            <p:spPr>
              <a:xfrm flipV="1">
                <a:off x="7348743" y="4444609"/>
                <a:ext cx="777631" cy="664308"/>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0" name="Conector recto 48">
                <a:extLst>
                  <a:ext uri="{FF2B5EF4-FFF2-40B4-BE49-F238E27FC236}">
                    <a16:creationId xmlns:a16="http://schemas.microsoft.com/office/drawing/2014/main" id="{757D021F-586D-47B1-99FE-AC12802AAF90}"/>
                  </a:ext>
                </a:extLst>
              </p:cNvPr>
              <p:cNvCxnSpPr/>
              <p:nvPr/>
            </p:nvCxnSpPr>
            <p:spPr>
              <a:xfrm flipV="1">
                <a:off x="8114650" y="4315655"/>
                <a:ext cx="621323" cy="121138"/>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1" name="Conector recto 49">
                <a:extLst>
                  <a:ext uri="{FF2B5EF4-FFF2-40B4-BE49-F238E27FC236}">
                    <a16:creationId xmlns:a16="http://schemas.microsoft.com/office/drawing/2014/main" id="{370869B4-8863-43BC-9202-9A5AA340BADD}"/>
                  </a:ext>
                </a:extLst>
              </p:cNvPr>
              <p:cNvCxnSpPr>
                <a:cxnSpLocks/>
              </p:cNvCxnSpPr>
              <p:nvPr/>
            </p:nvCxnSpPr>
            <p:spPr>
              <a:xfrm flipV="1">
                <a:off x="8732065" y="3233225"/>
                <a:ext cx="570523" cy="108633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 name="Conector recto 53">
                <a:extLst>
                  <a:ext uri="{FF2B5EF4-FFF2-40B4-BE49-F238E27FC236}">
                    <a16:creationId xmlns:a16="http://schemas.microsoft.com/office/drawing/2014/main" id="{A1C15461-2822-4C37-A851-087E3A0997C0}"/>
                  </a:ext>
                </a:extLst>
              </p:cNvPr>
              <p:cNvCxnSpPr/>
              <p:nvPr/>
            </p:nvCxnSpPr>
            <p:spPr>
              <a:xfrm flipV="1">
                <a:off x="9310403" y="2881532"/>
                <a:ext cx="621324" cy="359508"/>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3" name="Conector recto 55">
                <a:extLst>
                  <a:ext uri="{FF2B5EF4-FFF2-40B4-BE49-F238E27FC236}">
                    <a16:creationId xmlns:a16="http://schemas.microsoft.com/office/drawing/2014/main" id="{4DFBFED8-2FC2-4CB1-937A-60154151014B}"/>
                  </a:ext>
                </a:extLst>
              </p:cNvPr>
              <p:cNvCxnSpPr/>
              <p:nvPr/>
            </p:nvCxnSpPr>
            <p:spPr>
              <a:xfrm>
                <a:off x="9935634" y="2877624"/>
                <a:ext cx="1336431"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cxnSp>
          <p:nvCxnSpPr>
            <p:cNvPr id="23" name="Conector recto 58">
              <a:extLst>
                <a:ext uri="{FF2B5EF4-FFF2-40B4-BE49-F238E27FC236}">
                  <a16:creationId xmlns:a16="http://schemas.microsoft.com/office/drawing/2014/main" id="{3ECB738E-7AEF-49C5-9571-AD3E39BAC22D}"/>
                </a:ext>
              </a:extLst>
            </p:cNvPr>
            <p:cNvCxnSpPr/>
            <p:nvPr/>
          </p:nvCxnSpPr>
          <p:spPr>
            <a:xfrm flipV="1">
              <a:off x="5859911" y="3666979"/>
              <a:ext cx="629139" cy="28526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Conector recto 60">
              <a:extLst>
                <a:ext uri="{FF2B5EF4-FFF2-40B4-BE49-F238E27FC236}">
                  <a16:creationId xmlns:a16="http://schemas.microsoft.com/office/drawing/2014/main" id="{E1C45DD5-7BEA-4143-A1F7-0B7A84F69D60}"/>
                </a:ext>
              </a:extLst>
            </p:cNvPr>
            <p:cNvCxnSpPr/>
            <p:nvPr/>
          </p:nvCxnSpPr>
          <p:spPr>
            <a:xfrm flipV="1">
              <a:off x="6489050" y="3639625"/>
              <a:ext cx="836246" cy="3126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Conector recto 62">
              <a:extLst>
                <a:ext uri="{FF2B5EF4-FFF2-40B4-BE49-F238E27FC236}">
                  <a16:creationId xmlns:a16="http://schemas.microsoft.com/office/drawing/2014/main" id="{97E5F3CB-BF9E-4ED5-AA81-349099E3A8CF}"/>
                </a:ext>
              </a:extLst>
            </p:cNvPr>
            <p:cNvCxnSpPr/>
            <p:nvPr/>
          </p:nvCxnSpPr>
          <p:spPr>
            <a:xfrm flipV="1">
              <a:off x="7325296" y="3412979"/>
              <a:ext cx="793261" cy="230554"/>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Conector recto 64">
              <a:extLst>
                <a:ext uri="{FF2B5EF4-FFF2-40B4-BE49-F238E27FC236}">
                  <a16:creationId xmlns:a16="http://schemas.microsoft.com/office/drawing/2014/main" id="{8FB76B1B-FB90-4F84-A7BB-1583FFFB936E}"/>
                </a:ext>
              </a:extLst>
            </p:cNvPr>
            <p:cNvCxnSpPr/>
            <p:nvPr/>
          </p:nvCxnSpPr>
          <p:spPr>
            <a:xfrm>
              <a:off x="8118557" y="3416886"/>
              <a:ext cx="586154" cy="386862"/>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Conector recto 66">
              <a:extLst>
                <a:ext uri="{FF2B5EF4-FFF2-40B4-BE49-F238E27FC236}">
                  <a16:creationId xmlns:a16="http://schemas.microsoft.com/office/drawing/2014/main" id="{2FED1DCC-EF5B-4ABB-BD1E-FA4EE84BE163}"/>
                </a:ext>
              </a:extLst>
            </p:cNvPr>
            <p:cNvCxnSpPr/>
            <p:nvPr/>
          </p:nvCxnSpPr>
          <p:spPr>
            <a:xfrm>
              <a:off x="8712527" y="3803748"/>
              <a:ext cx="582246" cy="363415"/>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Conector recto 68">
              <a:extLst>
                <a:ext uri="{FF2B5EF4-FFF2-40B4-BE49-F238E27FC236}">
                  <a16:creationId xmlns:a16="http://schemas.microsoft.com/office/drawing/2014/main" id="{5C25D826-8258-4F2C-9944-461DD22ADED6}"/>
                </a:ext>
              </a:extLst>
            </p:cNvPr>
            <p:cNvCxnSpPr/>
            <p:nvPr/>
          </p:nvCxnSpPr>
          <p:spPr>
            <a:xfrm>
              <a:off x="9298680" y="4167163"/>
              <a:ext cx="6604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CuadroTexto 76">
              <a:extLst>
                <a:ext uri="{FF2B5EF4-FFF2-40B4-BE49-F238E27FC236}">
                  <a16:creationId xmlns:a16="http://schemas.microsoft.com/office/drawing/2014/main" id="{C29E3AC5-468D-4F42-B95E-487C8903AC3A}"/>
                </a:ext>
              </a:extLst>
            </p:cNvPr>
            <p:cNvSpPr txBox="1"/>
            <p:nvPr/>
          </p:nvSpPr>
          <p:spPr>
            <a:xfrm>
              <a:off x="5146775" y="2166171"/>
              <a:ext cx="581114" cy="307777"/>
            </a:xfrm>
            <a:prstGeom prst="rect">
              <a:avLst/>
            </a:prstGeom>
            <a:noFill/>
          </p:spPr>
          <p:txBody>
            <a:bodyPr wrap="square" rtlCol="0">
              <a:spAutoFit/>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4E696D"/>
                  </a:solidFill>
                  <a:effectLst/>
                  <a:uLnTx/>
                  <a:uFillTx/>
                  <a:latin typeface="Raleway"/>
                  <a:ea typeface="+mn-ea"/>
                  <a:cs typeface="+mn-cs"/>
                </a:rPr>
                <a:t>Alto</a:t>
              </a:r>
            </a:p>
          </p:txBody>
        </p:sp>
        <p:sp>
          <p:nvSpPr>
            <p:cNvPr id="30" name="CuadroTexto 77">
              <a:extLst>
                <a:ext uri="{FF2B5EF4-FFF2-40B4-BE49-F238E27FC236}">
                  <a16:creationId xmlns:a16="http://schemas.microsoft.com/office/drawing/2014/main" id="{FEAAA482-7299-4726-911C-E918BCA6466D}"/>
                </a:ext>
              </a:extLst>
            </p:cNvPr>
            <p:cNvSpPr txBox="1"/>
            <p:nvPr/>
          </p:nvSpPr>
          <p:spPr>
            <a:xfrm>
              <a:off x="5146775" y="4934325"/>
              <a:ext cx="581114" cy="307777"/>
            </a:xfrm>
            <a:prstGeom prst="rect">
              <a:avLst/>
            </a:prstGeom>
            <a:noFill/>
          </p:spPr>
          <p:txBody>
            <a:bodyPr wrap="square" rtlCol="0">
              <a:spAutoFit/>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4E696D"/>
                  </a:solidFill>
                  <a:effectLst/>
                  <a:uLnTx/>
                  <a:uFillTx/>
                  <a:latin typeface="Raleway"/>
                  <a:ea typeface="+mn-ea"/>
                  <a:cs typeface="+mn-cs"/>
                </a:rPr>
                <a:t>Bajo</a:t>
              </a:r>
            </a:p>
          </p:txBody>
        </p:sp>
        <p:sp>
          <p:nvSpPr>
            <p:cNvPr id="31" name="CuadroTexto 78">
              <a:extLst>
                <a:ext uri="{FF2B5EF4-FFF2-40B4-BE49-F238E27FC236}">
                  <a16:creationId xmlns:a16="http://schemas.microsoft.com/office/drawing/2014/main" id="{E3217F3B-1DFF-450A-8857-81BAB3C2AA2C}"/>
                </a:ext>
              </a:extLst>
            </p:cNvPr>
            <p:cNvSpPr txBox="1"/>
            <p:nvPr/>
          </p:nvSpPr>
          <p:spPr>
            <a:xfrm rot="16200000">
              <a:off x="4375438" y="3569832"/>
              <a:ext cx="2123792" cy="307777"/>
            </a:xfrm>
            <a:prstGeom prst="rect">
              <a:avLst/>
            </a:prstGeom>
            <a:noFill/>
          </p:spPr>
          <p:txBody>
            <a:bodyPr wrap="square" rtlCol="0">
              <a:spAutoFit/>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4E696D"/>
                  </a:solidFill>
                  <a:effectLst/>
                  <a:uLnTx/>
                  <a:uFillTx/>
                  <a:latin typeface="Raleway"/>
                  <a:ea typeface="+mn-ea"/>
                  <a:cs typeface="+mn-cs"/>
                </a:rPr>
                <a:t>Nivel de Oferta</a:t>
              </a:r>
            </a:p>
          </p:txBody>
        </p:sp>
        <p:sp>
          <p:nvSpPr>
            <p:cNvPr id="32" name="CuadroTexto 79">
              <a:extLst>
                <a:ext uri="{FF2B5EF4-FFF2-40B4-BE49-F238E27FC236}">
                  <a16:creationId xmlns:a16="http://schemas.microsoft.com/office/drawing/2014/main" id="{B7CDADA3-3B94-408E-8C03-039AE47A6694}"/>
                </a:ext>
              </a:extLst>
            </p:cNvPr>
            <p:cNvSpPr txBox="1"/>
            <p:nvPr/>
          </p:nvSpPr>
          <p:spPr>
            <a:xfrm>
              <a:off x="5753528" y="5341999"/>
              <a:ext cx="5546220" cy="307777"/>
            </a:xfrm>
            <a:prstGeom prst="rect">
              <a:avLst/>
            </a:prstGeom>
            <a:noFill/>
          </p:spPr>
          <p:txBody>
            <a:bodyPr wrap="square" rtlCol="0">
              <a:spAutoFit/>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4E696D"/>
                  </a:solidFill>
                  <a:effectLst/>
                  <a:uLnTx/>
                  <a:uFillTx/>
                  <a:latin typeface="Raleway"/>
                  <a:ea typeface="+mn-ea"/>
                  <a:cs typeface="+mn-cs"/>
                </a:rPr>
                <a:t>FACTORES COMPETITIVOS (Percepción de valor)</a:t>
              </a:r>
            </a:p>
          </p:txBody>
        </p:sp>
        <p:sp>
          <p:nvSpPr>
            <p:cNvPr id="33" name="CuadroTexto 80">
              <a:extLst>
                <a:ext uri="{FF2B5EF4-FFF2-40B4-BE49-F238E27FC236}">
                  <a16:creationId xmlns:a16="http://schemas.microsoft.com/office/drawing/2014/main" id="{60F96A4C-54C2-4082-B4B0-0E98BF428465}"/>
                </a:ext>
              </a:extLst>
            </p:cNvPr>
            <p:cNvSpPr txBox="1"/>
            <p:nvPr/>
          </p:nvSpPr>
          <p:spPr>
            <a:xfrm>
              <a:off x="7590698" y="1439124"/>
              <a:ext cx="3709050" cy="253916"/>
            </a:xfrm>
            <a:prstGeom prst="rect">
              <a:avLst/>
            </a:prstGeom>
            <a:noFill/>
          </p:spPr>
          <p:txBody>
            <a:bodyPr wrap="square" rtlCol="0">
              <a:spAutoFit/>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050" b="0" i="0" u="none" strike="noStrike" kern="1200" cap="none" spc="0" normalizeH="0" baseline="0" noProof="0" dirty="0">
                  <a:ln>
                    <a:noFill/>
                  </a:ln>
                  <a:solidFill>
                    <a:srgbClr val="4E696D"/>
                  </a:solidFill>
                  <a:effectLst/>
                  <a:uLnTx/>
                  <a:uFillTx/>
                  <a:latin typeface="Raleway"/>
                  <a:ea typeface="+mn-ea"/>
                  <a:cs typeface="+mn-cs"/>
                </a:rPr>
                <a:t>Curva de valor de la solución de un océano azul</a:t>
              </a:r>
            </a:p>
          </p:txBody>
        </p:sp>
        <p:sp>
          <p:nvSpPr>
            <p:cNvPr id="34" name="Elipse 90">
              <a:extLst>
                <a:ext uri="{FF2B5EF4-FFF2-40B4-BE49-F238E27FC236}">
                  <a16:creationId xmlns:a16="http://schemas.microsoft.com/office/drawing/2014/main" id="{0C4BB49C-B98A-462D-A299-878D92485F0A}"/>
                </a:ext>
              </a:extLst>
            </p:cNvPr>
            <p:cNvSpPr/>
            <p:nvPr/>
          </p:nvSpPr>
          <p:spPr>
            <a:xfrm>
              <a:off x="7362007" y="1479668"/>
              <a:ext cx="177554" cy="17755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C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4E696D"/>
                </a:solidFill>
                <a:effectLst/>
                <a:uLnTx/>
                <a:uFillTx/>
                <a:latin typeface="Raleway"/>
                <a:ea typeface="+mn-ea"/>
                <a:cs typeface="+mn-cs"/>
              </a:endParaRPr>
            </a:p>
          </p:txBody>
        </p:sp>
        <p:sp>
          <p:nvSpPr>
            <p:cNvPr id="35" name="Elipse 91">
              <a:extLst>
                <a:ext uri="{FF2B5EF4-FFF2-40B4-BE49-F238E27FC236}">
                  <a16:creationId xmlns:a16="http://schemas.microsoft.com/office/drawing/2014/main" id="{A6F77D2D-4F90-4A68-A201-D63613C5C253}"/>
                </a:ext>
              </a:extLst>
            </p:cNvPr>
            <p:cNvSpPr/>
            <p:nvPr/>
          </p:nvSpPr>
          <p:spPr>
            <a:xfrm>
              <a:off x="7362007" y="1804948"/>
              <a:ext cx="177554" cy="1775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C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4E696D"/>
                </a:solidFill>
                <a:effectLst/>
                <a:uLnTx/>
                <a:uFillTx/>
                <a:latin typeface="Raleway"/>
                <a:ea typeface="+mn-ea"/>
                <a:cs typeface="+mn-cs"/>
              </a:endParaRPr>
            </a:p>
          </p:txBody>
        </p:sp>
        <p:sp>
          <p:nvSpPr>
            <p:cNvPr id="36" name="CuadroTexto 92">
              <a:extLst>
                <a:ext uri="{FF2B5EF4-FFF2-40B4-BE49-F238E27FC236}">
                  <a16:creationId xmlns:a16="http://schemas.microsoft.com/office/drawing/2014/main" id="{CE203C0D-8B1C-4C9F-BBC9-FADA84CC7980}"/>
                </a:ext>
              </a:extLst>
            </p:cNvPr>
            <p:cNvSpPr txBox="1"/>
            <p:nvPr/>
          </p:nvSpPr>
          <p:spPr>
            <a:xfrm>
              <a:off x="7590698" y="1777240"/>
              <a:ext cx="3598148" cy="415498"/>
            </a:xfrm>
            <a:prstGeom prst="rect">
              <a:avLst/>
            </a:prstGeom>
            <a:noFill/>
          </p:spPr>
          <p:txBody>
            <a:bodyPr wrap="square" rtlCol="0">
              <a:spAutoFit/>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050" b="0" i="0" u="none" strike="noStrike" kern="1200" cap="none" spc="0" normalizeH="0" baseline="0" noProof="0" dirty="0">
                  <a:ln>
                    <a:noFill/>
                  </a:ln>
                  <a:solidFill>
                    <a:srgbClr val="4E696D"/>
                  </a:solidFill>
                  <a:effectLst/>
                  <a:uLnTx/>
                  <a:uFillTx/>
                  <a:latin typeface="Raleway"/>
                  <a:ea typeface="+mn-ea"/>
                  <a:cs typeface="+mn-cs"/>
                </a:rPr>
                <a:t>Curva del producto tradicional en la industria establecida</a:t>
              </a:r>
            </a:p>
          </p:txBody>
        </p:sp>
      </p:grpSp>
    </p:spTree>
    <p:extLst>
      <p:ext uri="{BB962C8B-B14F-4D97-AF65-F5344CB8AC3E}">
        <p14:creationId xmlns:p14="http://schemas.microsoft.com/office/powerpoint/2010/main" val="42635338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1E39782A-3BA7-4E05-9DFB-30DD30A3D255}"/>
              </a:ext>
            </a:extLst>
          </p:cNvPr>
          <p:cNvSpPr/>
          <p:nvPr/>
        </p:nvSpPr>
        <p:spPr bwMode="auto">
          <a:xfrm>
            <a:off x="6086476" y="-6350"/>
            <a:ext cx="6105525" cy="1172633"/>
          </a:xfrm>
          <a:prstGeom prst="rect">
            <a:avLst/>
          </a:prstGeom>
          <a:solidFill>
            <a:srgbClr val="1581C5"/>
          </a:solidFill>
          <a:ln>
            <a:solidFill>
              <a:srgbClr val="1581C5"/>
            </a:solidFill>
            <a:headEnd type="none" w="med" len="med"/>
            <a:tailEnd type="none" w="med" len="med"/>
          </a:ln>
        </p:spPr>
        <p:style>
          <a:lnRef idx="2">
            <a:schemeClr val="dk1">
              <a:shade val="50000"/>
            </a:schemeClr>
          </a:lnRef>
          <a:fillRef idx="1">
            <a:schemeClr val="dk1"/>
          </a:fillRef>
          <a:effectRef idx="0">
            <a:schemeClr val="dk1"/>
          </a:effectRef>
          <a:fontRef idx="minor">
            <a:schemeClr val="lt1"/>
          </a:fontRef>
        </p:style>
        <p:txBody>
          <a:bodyPr/>
          <a:lstStyle/>
          <a:p>
            <a:pPr marL="0" marR="0" lvl="0" indent="0" algn="ctr" defTabSz="609630" rtl="0" eaLnBrk="1" fontAlgn="base" latinLnBrk="0" hangingPunct="1">
              <a:lnSpc>
                <a:spcPct val="100000"/>
              </a:lnSpc>
              <a:spcBef>
                <a:spcPct val="0"/>
              </a:spcBef>
              <a:spcAft>
                <a:spcPct val="0"/>
              </a:spcAft>
              <a:buClrTx/>
              <a:buSzTx/>
              <a:buFontTx/>
              <a:buNone/>
              <a:tabLst/>
              <a:defRPr/>
            </a:pPr>
            <a:endParaRPr kumimoji="0" lang="es-CL" sz="2800" b="0" i="0" u="none" strike="noStrike" kern="1200" cap="none" spc="0" normalizeH="0" baseline="0" noProof="0" dirty="0">
              <a:ln>
                <a:noFill/>
              </a:ln>
              <a:solidFill>
                <a:srgbClr val="6439EF"/>
              </a:solidFill>
              <a:effectLst/>
              <a:uLnTx/>
              <a:uFillTx/>
              <a:latin typeface="Gill Sans" charset="0"/>
              <a:ea typeface="+mn-ea"/>
              <a:cs typeface="+mn-cs"/>
              <a:sym typeface="Gill Sans" charset="0"/>
            </a:endParaRPr>
          </a:p>
        </p:txBody>
      </p:sp>
      <p:sp>
        <p:nvSpPr>
          <p:cNvPr id="174083" name="Rectángulo 7">
            <a:extLst>
              <a:ext uri="{FF2B5EF4-FFF2-40B4-BE49-F238E27FC236}">
                <a16:creationId xmlns:a16="http://schemas.microsoft.com/office/drawing/2014/main" id="{7F0D577A-4A53-4CB9-A668-C0752B0595B3}"/>
              </a:ext>
            </a:extLst>
          </p:cNvPr>
          <p:cNvSpPr>
            <a:spLocks noChangeArrowheads="1"/>
          </p:cNvSpPr>
          <p:nvPr/>
        </p:nvSpPr>
        <p:spPr bwMode="auto">
          <a:xfrm>
            <a:off x="0" y="-12700"/>
            <a:ext cx="6096000" cy="6858000"/>
          </a:xfrm>
          <a:prstGeom prst="rect">
            <a:avLst/>
          </a:prstGeom>
          <a:solidFill>
            <a:schemeClr val="tx1"/>
          </a:solidFill>
          <a:ln>
            <a:noFill/>
          </a:ln>
        </p:spPr>
        <p:txBody>
          <a:bodyPr/>
          <a:lstStyle/>
          <a:p>
            <a:pPr marL="0" marR="0" lvl="0" indent="0" algn="ctr" defTabSz="609630" rtl="0" eaLnBrk="1" fontAlgn="base" latinLnBrk="0" hangingPunct="1">
              <a:lnSpc>
                <a:spcPct val="100000"/>
              </a:lnSpc>
              <a:spcBef>
                <a:spcPct val="0"/>
              </a:spcBef>
              <a:spcAft>
                <a:spcPct val="0"/>
              </a:spcAft>
              <a:buClrTx/>
              <a:buSzTx/>
              <a:buFontTx/>
              <a:buNone/>
              <a:tabLst/>
              <a:defRPr/>
            </a:pPr>
            <a:endParaRPr kumimoji="0" lang="es-CL" altLang="es-CL" sz="2800" b="0" i="0" u="none" strike="noStrike" kern="1200" cap="none" spc="0" normalizeH="0" baseline="0" noProof="0" dirty="0">
              <a:ln>
                <a:noFill/>
              </a:ln>
              <a:solidFill>
                <a:srgbClr val="000000"/>
              </a:solidFill>
              <a:effectLst/>
              <a:uLnTx/>
              <a:uFillTx/>
              <a:latin typeface="Gill Sans" charset="0"/>
              <a:ea typeface="+mn-ea"/>
              <a:cs typeface="+mn-cs"/>
              <a:sym typeface="Gill Sans" charset="0"/>
            </a:endParaRPr>
          </a:p>
        </p:txBody>
      </p:sp>
      <p:pic>
        <p:nvPicPr>
          <p:cNvPr id="174084" name="Picture 2" descr="Este es el primer teléfono inteligente 5G de Verizon: CNET ...">
            <a:extLst>
              <a:ext uri="{FF2B5EF4-FFF2-40B4-BE49-F238E27FC236}">
                <a16:creationId xmlns:a16="http://schemas.microsoft.com/office/drawing/2014/main" id="{EA80537D-AE91-451E-8997-35181200AA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9411" r="20261"/>
          <a:stretch>
            <a:fillRect/>
          </a:stretch>
        </p:blipFill>
        <p:spPr bwMode="auto">
          <a:xfrm>
            <a:off x="-9525" y="1172632"/>
            <a:ext cx="6096001" cy="5685367"/>
          </a:xfrm>
          <a:prstGeom prst="rect">
            <a:avLst/>
          </a:prstGeom>
          <a:solidFill>
            <a:srgbClr val="FDC405"/>
          </a:solidFill>
          <a:ln>
            <a:noFill/>
          </a:ln>
        </p:spPr>
      </p:pic>
      <p:sp>
        <p:nvSpPr>
          <p:cNvPr id="174085" name="CuadroTexto 5">
            <a:extLst>
              <a:ext uri="{FF2B5EF4-FFF2-40B4-BE49-F238E27FC236}">
                <a16:creationId xmlns:a16="http://schemas.microsoft.com/office/drawing/2014/main" id="{6B176CEC-6BB9-4ADF-9AB9-B91E61C565B4}"/>
              </a:ext>
            </a:extLst>
          </p:cNvPr>
          <p:cNvSpPr txBox="1">
            <a:spLocks noChangeArrowheads="1"/>
          </p:cNvSpPr>
          <p:nvPr/>
        </p:nvSpPr>
        <p:spPr bwMode="auto">
          <a:xfrm>
            <a:off x="1504951" y="263525"/>
            <a:ext cx="325441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s-CL"/>
            </a:defPPr>
            <a:lvl1pPr defTabSz="609630" eaLnBrk="0" fontAlgn="base" hangingPunct="0">
              <a:spcBef>
                <a:spcPct val="0"/>
              </a:spcBef>
              <a:spcAft>
                <a:spcPct val="0"/>
              </a:spcAft>
              <a:defRPr sz="2800" b="1">
                <a:solidFill>
                  <a:schemeClr val="bg1"/>
                </a:solidFill>
                <a:latin typeface="+mj-lt"/>
              </a:defRPr>
            </a:lvl1pPr>
          </a:lstStyle>
          <a:p>
            <a:pPr marL="0" marR="0" lvl="0" indent="0" algn="l" defTabSz="609630" rtl="0" eaLnBrk="0" fontAlgn="base" latinLnBrk="0" hangingPunct="0">
              <a:lnSpc>
                <a:spcPct val="100000"/>
              </a:lnSpc>
              <a:spcBef>
                <a:spcPct val="0"/>
              </a:spcBef>
              <a:spcAft>
                <a:spcPct val="0"/>
              </a:spcAft>
              <a:buClrTx/>
              <a:buSzTx/>
              <a:buFontTx/>
              <a:buNone/>
              <a:tabLst/>
              <a:defRPr/>
            </a:pPr>
            <a:r>
              <a:rPr kumimoji="0" lang="es-CL" altLang="es-CL" sz="2800" b="1" i="0" u="none" strike="noStrike" kern="1200" cap="none" spc="0" normalizeH="0" baseline="0" noProof="0" dirty="0">
                <a:ln>
                  <a:noFill/>
                </a:ln>
                <a:solidFill>
                  <a:prstClr val="white"/>
                </a:solidFill>
                <a:effectLst/>
                <a:uLnTx/>
                <a:uFillTx/>
                <a:latin typeface="Montserrat ExtraBold"/>
                <a:ea typeface="+mn-ea"/>
                <a:cs typeface="+mn-cs"/>
                <a:sym typeface="Gill Sans" charset="0"/>
              </a:rPr>
              <a:t>Producto actual</a:t>
            </a:r>
          </a:p>
        </p:txBody>
      </p:sp>
      <p:sp>
        <p:nvSpPr>
          <p:cNvPr id="174086" name="CuadroTexto 6">
            <a:extLst>
              <a:ext uri="{FF2B5EF4-FFF2-40B4-BE49-F238E27FC236}">
                <a16:creationId xmlns:a16="http://schemas.microsoft.com/office/drawing/2014/main" id="{B9AF0E0E-690E-4293-9F6A-8C864ED2BB57}"/>
              </a:ext>
            </a:extLst>
          </p:cNvPr>
          <p:cNvSpPr txBox="1">
            <a:spLocks noChangeArrowheads="1"/>
          </p:cNvSpPr>
          <p:nvPr/>
        </p:nvSpPr>
        <p:spPr bwMode="auto">
          <a:xfrm>
            <a:off x="7234767" y="263525"/>
            <a:ext cx="4112023" cy="533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l" defTabSz="609630" rtl="0" eaLnBrk="0" fontAlgn="base" latinLnBrk="0" hangingPunct="0">
              <a:lnSpc>
                <a:spcPct val="100000"/>
              </a:lnSpc>
              <a:spcBef>
                <a:spcPct val="0"/>
              </a:spcBef>
              <a:spcAft>
                <a:spcPct val="0"/>
              </a:spcAft>
              <a:buClrTx/>
              <a:buSzTx/>
              <a:buFontTx/>
              <a:buNone/>
              <a:tabLst/>
              <a:defRPr/>
            </a:pPr>
            <a:r>
              <a:rPr kumimoji="0" lang="es-CL" altLang="es-CL" sz="2800" b="1" i="0" u="none" strike="noStrike" kern="1200" cap="none" spc="0" normalizeH="0" baseline="0" noProof="0" dirty="0">
                <a:ln>
                  <a:noFill/>
                </a:ln>
                <a:solidFill>
                  <a:prstClr val="white"/>
                </a:solidFill>
                <a:effectLst/>
                <a:uLnTx/>
                <a:uFillTx/>
                <a:latin typeface="Montserrat ExtraBold"/>
                <a:ea typeface="+mn-ea"/>
                <a:cs typeface="+mn-cs"/>
                <a:sym typeface="Gill Sans" charset="0"/>
              </a:rPr>
              <a:t>Producto innovador</a:t>
            </a:r>
          </a:p>
        </p:txBody>
      </p:sp>
      <p:pic>
        <p:nvPicPr>
          <p:cNvPr id="174087" name="Picture 4" descr="Imágenes de Moviles Para Personas Mayores">
            <a:extLst>
              <a:ext uri="{FF2B5EF4-FFF2-40B4-BE49-F238E27FC236}">
                <a16:creationId xmlns:a16="http://schemas.microsoft.com/office/drawing/2014/main" id="{C732C1FF-8025-4163-9C83-F3B405E769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9521"/>
          <a:stretch>
            <a:fillRect/>
          </a:stretch>
        </p:blipFill>
        <p:spPr bwMode="auto">
          <a:xfrm>
            <a:off x="6101292" y="1172633"/>
            <a:ext cx="6090708" cy="5685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uadroTexto 15">
            <a:extLst>
              <a:ext uri="{FF2B5EF4-FFF2-40B4-BE49-F238E27FC236}">
                <a16:creationId xmlns:a16="http://schemas.microsoft.com/office/drawing/2014/main" id="{00E44A44-0AFF-4494-A600-C877AF2CCB6A}"/>
              </a:ext>
            </a:extLst>
          </p:cNvPr>
          <p:cNvSpPr txBox="1"/>
          <p:nvPr/>
        </p:nvSpPr>
        <p:spPr>
          <a:xfrm>
            <a:off x="4394681" y="5177670"/>
            <a:ext cx="3421687" cy="463653"/>
          </a:xfrm>
          <a:prstGeom prst="roundRect">
            <a:avLst/>
          </a:prstGeom>
          <a:solidFill>
            <a:srgbClr val="0E5784"/>
          </a:solidFill>
        </p:spPr>
        <p:txBody>
          <a:bodyPr wrap="square" lIns="163001" tIns="81494" rIns="163001" bIns="81494" rtlCol="0" anchor="ctr">
            <a:noAutofit/>
          </a:bodyPr>
          <a:lstStyle/>
          <a:p>
            <a:pPr marL="0" marR="0" lvl="0" indent="0" algn="ctr" defTabSz="544288" rtl="0" eaLnBrk="1" fontAlgn="auto" latinLnBrk="0" hangingPunct="1">
              <a:lnSpc>
                <a:spcPct val="114000"/>
              </a:lnSpc>
              <a:spcBef>
                <a:spcPts val="200"/>
              </a:spcBef>
              <a:spcAft>
                <a:spcPts val="0"/>
              </a:spcAft>
              <a:buClrTx/>
              <a:buSzTx/>
              <a:buFontTx/>
              <a:buNone/>
              <a:tabLst/>
              <a:defRPr/>
            </a:pPr>
            <a:r>
              <a:rPr kumimoji="0" lang="es-CL" sz="16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Montserrat"/>
                <a:ea typeface="+mn-ea"/>
                <a:cs typeface="+mn-cs"/>
                <a:sym typeface="Gill Sans" charset="0"/>
              </a:rPr>
              <a:t>Teléfono para adulto mayor</a:t>
            </a:r>
            <a:endParaRPr kumimoji="0" lang="es-CL" sz="1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Montserrat"/>
              <a:ea typeface="+mn-ea"/>
              <a:cs typeface="+mn-cs"/>
              <a:sym typeface="Gill Sans"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F688DF-D655-4A53-AF64-8D48290249D2}"/>
              </a:ext>
            </a:extLst>
          </p:cNvPr>
          <p:cNvSpPr txBox="1"/>
          <p:nvPr/>
        </p:nvSpPr>
        <p:spPr>
          <a:xfrm>
            <a:off x="663218" y="526740"/>
            <a:ext cx="9852382"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srgbClr val="000000"/>
                </a:solidFill>
                <a:effectLst/>
                <a:uLnTx/>
                <a:uFillTx/>
                <a:latin typeface="Montserrat SemiBold" pitchFamily="2" charset="0"/>
                <a:ea typeface="+mn-ea"/>
                <a:cs typeface="+mn-cs"/>
              </a:rPr>
              <a:t>¿Cómo construimos una nueva curva de valor que nos diferencie de la competencia?</a:t>
            </a:r>
            <a:endParaRPr kumimoji="0" lang="es-CL" sz="2800" b="0" i="0" u="none" strike="noStrike" kern="1200" cap="none" spc="0" normalizeH="0" baseline="0" noProof="0" dirty="0">
              <a:ln>
                <a:noFill/>
              </a:ln>
              <a:solidFill>
                <a:srgbClr val="000000"/>
              </a:solidFill>
              <a:effectLst/>
              <a:uLnTx/>
              <a:uFillTx/>
              <a:latin typeface="Montserrat SemiBold" pitchFamily="2" charset="0"/>
              <a:ea typeface="+mn-ea"/>
              <a:cs typeface="+mn-cs"/>
            </a:endParaRPr>
          </a:p>
        </p:txBody>
      </p:sp>
      <p:sp>
        <p:nvSpPr>
          <p:cNvPr id="3" name="CuadroTexto 2">
            <a:extLst>
              <a:ext uri="{FF2B5EF4-FFF2-40B4-BE49-F238E27FC236}">
                <a16:creationId xmlns:a16="http://schemas.microsoft.com/office/drawing/2014/main" id="{77743C7C-F40B-4D42-AE0A-01927DA3CEA3}"/>
              </a:ext>
            </a:extLst>
          </p:cNvPr>
          <p:cNvSpPr txBox="1"/>
          <p:nvPr/>
        </p:nvSpPr>
        <p:spPr>
          <a:xfrm>
            <a:off x="663218" y="1743397"/>
            <a:ext cx="10865564"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A través de la matriz CREA, que son cuatro acciones conjuntan que configuran una nueva curva de valor.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endParaRPr>
          </a:p>
        </p:txBody>
      </p:sp>
      <p:sp>
        <p:nvSpPr>
          <p:cNvPr id="4" name="Text Placeholder 9">
            <a:extLst>
              <a:ext uri="{FF2B5EF4-FFF2-40B4-BE49-F238E27FC236}">
                <a16:creationId xmlns:a16="http://schemas.microsoft.com/office/drawing/2014/main" id="{8D4FB682-7961-433F-9640-6435DD1BC9DA}"/>
              </a:ext>
            </a:extLst>
          </p:cNvPr>
          <p:cNvSpPr txBox="1">
            <a:spLocks/>
          </p:cNvSpPr>
          <p:nvPr/>
        </p:nvSpPr>
        <p:spPr>
          <a:xfrm>
            <a:off x="2774417" y="2663026"/>
            <a:ext cx="2890004" cy="765974"/>
          </a:xfrm>
          <a:prstGeom prst="rect">
            <a:avLst/>
          </a:prstGeom>
          <a:solidFill>
            <a:schemeClr val="accent3"/>
          </a:solidFill>
          <a:ln w="28575">
            <a:solidFill>
              <a:schemeClr val="bg1"/>
            </a:solidFill>
          </a:ln>
        </p:spPr>
        <p:txBody>
          <a:bodyPr vert="horz" lIns="648000" tIns="45720" rIns="503999" bIns="45720" rtlCol="0" anchor="ctr">
            <a:noAutofit/>
          </a:bodyPr>
          <a:lstStyle>
            <a:lvl1pPr marL="228600" indent="-228600" algn="l" defTabSz="914400" rtl="0" eaLnBrk="1" latinLnBrk="0" hangingPunct="1">
              <a:lnSpc>
                <a:spcPct val="90000"/>
              </a:lnSpc>
              <a:spcBef>
                <a:spcPts val="1000"/>
              </a:spcBef>
              <a:buClr>
                <a:srgbClr val="4FE14F"/>
              </a:buClr>
              <a:buFont typeface="Wingdings" pitchFamily="2" charset="2"/>
              <a:buChar char="§"/>
              <a:defRPr sz="2000" kern="1200">
                <a:solidFill>
                  <a:schemeClr val="bg2"/>
                </a:solidFill>
                <a:latin typeface="+mn-lt"/>
                <a:ea typeface="Open Sans SemiBold" panose="020B0706030804020204" pitchFamily="34" charset="0"/>
                <a:cs typeface="Open Sans SemiBold" panose="020B0706030804020204" pitchFamily="34" charset="0"/>
              </a:defRPr>
            </a:lvl1pPr>
            <a:lvl2pPr marL="685800" indent="-228600" algn="l" defTabSz="914400" rtl="0" eaLnBrk="1" latinLnBrk="0" hangingPunct="1">
              <a:lnSpc>
                <a:spcPct val="90000"/>
              </a:lnSpc>
              <a:spcBef>
                <a:spcPts val="500"/>
              </a:spcBef>
              <a:buClr>
                <a:srgbClr val="4FE14F"/>
              </a:buClr>
              <a:buFont typeface="Wingdings" pitchFamily="2" charset="2"/>
              <a:buChar char="§"/>
              <a:defRPr sz="18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Clr>
                <a:srgbClr val="4FE14F"/>
              </a:buClr>
              <a:buFont typeface="Wingdings" pitchFamily="2" charset="2"/>
              <a:buChar char="§"/>
              <a:defRPr sz="16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Clr>
                <a:srgbClr val="4FE14F"/>
              </a:buClr>
              <a:buFont typeface="Wingdings" pitchFamily="2" charset="2"/>
              <a:buChar char="§"/>
              <a:defRPr sz="14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Clr>
                <a:srgbClr val="4FE14F"/>
              </a:buClr>
              <a:buFont typeface="Wingdings" pitchFamily="2" charset="2"/>
              <a:buChar char="§"/>
              <a:defRPr sz="1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4FE14F"/>
              </a:buClr>
              <a:buSzTx/>
              <a:buFont typeface="Wingdings" pitchFamily="2" charset="2"/>
              <a:buNone/>
              <a:tabLst/>
              <a:defRPr/>
            </a:pPr>
            <a:r>
              <a:rPr kumimoji="0" lang="es-CL" sz="2400" b="0" i="0" u="none" strike="noStrike" kern="1200" cap="none" spc="0" normalizeH="0" baseline="0" noProof="0" dirty="0">
                <a:ln>
                  <a:noFill/>
                </a:ln>
                <a:solidFill>
                  <a:srgbClr val="FFFFFF"/>
                </a:solidFill>
                <a:effectLst/>
                <a:uLnTx/>
                <a:uFillTx/>
                <a:latin typeface="Montserrat ExtraBold"/>
                <a:ea typeface="Open Sans SemiBold" panose="020B0706030804020204" pitchFamily="34" charset="0"/>
                <a:cs typeface="Open Sans SemiBold" panose="020B0706030804020204" pitchFamily="34" charset="0"/>
              </a:rPr>
              <a:t>CREAR</a:t>
            </a:r>
          </a:p>
        </p:txBody>
      </p:sp>
      <p:sp>
        <p:nvSpPr>
          <p:cNvPr id="5" name="Oval 7">
            <a:extLst>
              <a:ext uri="{FF2B5EF4-FFF2-40B4-BE49-F238E27FC236}">
                <a16:creationId xmlns:a16="http://schemas.microsoft.com/office/drawing/2014/main" id="{420BBF1A-C5DA-4000-B7CF-DCC2A79F722C}"/>
              </a:ext>
            </a:extLst>
          </p:cNvPr>
          <p:cNvSpPr/>
          <p:nvPr/>
        </p:nvSpPr>
        <p:spPr>
          <a:xfrm>
            <a:off x="2166144" y="2556058"/>
            <a:ext cx="1041613" cy="100846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4000" b="1" i="0" u="none" strike="noStrike" kern="1200" cap="none" spc="0" normalizeH="0" baseline="0" noProof="0" dirty="0">
                <a:ln>
                  <a:noFill/>
                </a:ln>
                <a:solidFill>
                  <a:srgbClr val="4E696D"/>
                </a:solidFill>
                <a:effectLst/>
                <a:uLnTx/>
                <a:uFillTx/>
                <a:latin typeface="Montserrat ExtraBold"/>
                <a:ea typeface="+mn-ea"/>
                <a:cs typeface="+mn-cs"/>
              </a:rPr>
              <a:t>C</a:t>
            </a:r>
          </a:p>
        </p:txBody>
      </p:sp>
      <p:sp>
        <p:nvSpPr>
          <p:cNvPr id="6" name="Text Placeholder 9">
            <a:extLst>
              <a:ext uri="{FF2B5EF4-FFF2-40B4-BE49-F238E27FC236}">
                <a16:creationId xmlns:a16="http://schemas.microsoft.com/office/drawing/2014/main" id="{A82759B9-3C87-4C83-B7F3-4153949F537E}"/>
              </a:ext>
            </a:extLst>
          </p:cNvPr>
          <p:cNvSpPr txBox="1">
            <a:spLocks/>
          </p:cNvSpPr>
          <p:nvPr/>
        </p:nvSpPr>
        <p:spPr>
          <a:xfrm>
            <a:off x="6951811" y="2663026"/>
            <a:ext cx="3073421" cy="765974"/>
          </a:xfrm>
          <a:prstGeom prst="rect">
            <a:avLst/>
          </a:prstGeom>
          <a:solidFill>
            <a:schemeClr val="accent3"/>
          </a:solidFill>
          <a:ln w="28575">
            <a:solidFill>
              <a:schemeClr val="bg1"/>
            </a:solidFill>
          </a:ln>
        </p:spPr>
        <p:txBody>
          <a:bodyPr vert="horz" lIns="648000" tIns="45720" rIns="503999" bIns="45720" rtlCol="0" anchor="ctr">
            <a:noAutofit/>
          </a:bodyPr>
          <a:lstStyle>
            <a:lvl1pPr marL="228600" indent="-228600" algn="l" defTabSz="914400" rtl="0" eaLnBrk="1" latinLnBrk="0" hangingPunct="1">
              <a:lnSpc>
                <a:spcPct val="90000"/>
              </a:lnSpc>
              <a:spcBef>
                <a:spcPts val="1000"/>
              </a:spcBef>
              <a:buClr>
                <a:srgbClr val="4FE14F"/>
              </a:buClr>
              <a:buFont typeface="Wingdings" pitchFamily="2" charset="2"/>
              <a:buChar char="§"/>
              <a:defRPr sz="2000" kern="1200">
                <a:solidFill>
                  <a:schemeClr val="bg2"/>
                </a:solidFill>
                <a:latin typeface="+mn-lt"/>
                <a:ea typeface="Open Sans SemiBold" panose="020B0706030804020204" pitchFamily="34" charset="0"/>
                <a:cs typeface="Open Sans SemiBold" panose="020B0706030804020204" pitchFamily="34" charset="0"/>
              </a:defRPr>
            </a:lvl1pPr>
            <a:lvl2pPr marL="685800" indent="-228600" algn="l" defTabSz="914400" rtl="0" eaLnBrk="1" latinLnBrk="0" hangingPunct="1">
              <a:lnSpc>
                <a:spcPct val="90000"/>
              </a:lnSpc>
              <a:spcBef>
                <a:spcPts val="500"/>
              </a:spcBef>
              <a:buClr>
                <a:srgbClr val="4FE14F"/>
              </a:buClr>
              <a:buFont typeface="Wingdings" pitchFamily="2" charset="2"/>
              <a:buChar char="§"/>
              <a:defRPr sz="18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Clr>
                <a:srgbClr val="4FE14F"/>
              </a:buClr>
              <a:buFont typeface="Wingdings" pitchFamily="2" charset="2"/>
              <a:buChar char="§"/>
              <a:defRPr sz="16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Clr>
                <a:srgbClr val="4FE14F"/>
              </a:buClr>
              <a:buFont typeface="Wingdings" pitchFamily="2" charset="2"/>
              <a:buChar char="§"/>
              <a:defRPr sz="14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Clr>
                <a:srgbClr val="4FE14F"/>
              </a:buClr>
              <a:buFont typeface="Wingdings" pitchFamily="2" charset="2"/>
              <a:buChar char="§"/>
              <a:defRPr sz="1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4FE14F"/>
              </a:buClr>
              <a:buSzTx/>
              <a:buFont typeface="Wingdings" pitchFamily="2" charset="2"/>
              <a:buNone/>
              <a:tabLst/>
              <a:defRPr/>
            </a:pPr>
            <a:r>
              <a:rPr kumimoji="0" lang="es-CL" sz="2400" b="0" i="0" u="none" strike="noStrike" kern="1200" cap="none" spc="0" normalizeH="0" baseline="0" noProof="0" dirty="0">
                <a:ln>
                  <a:noFill/>
                </a:ln>
                <a:solidFill>
                  <a:srgbClr val="FFFFFF"/>
                </a:solidFill>
                <a:effectLst/>
                <a:uLnTx/>
                <a:uFillTx/>
                <a:latin typeface="Montserrat ExtraBold"/>
                <a:ea typeface="Open Sans SemiBold" panose="020B0706030804020204" pitchFamily="34" charset="0"/>
                <a:cs typeface="Open Sans SemiBold" panose="020B0706030804020204" pitchFamily="34" charset="0"/>
              </a:rPr>
              <a:t>REDUCIR</a:t>
            </a:r>
          </a:p>
        </p:txBody>
      </p:sp>
      <p:sp>
        <p:nvSpPr>
          <p:cNvPr id="7" name="Oval 7">
            <a:extLst>
              <a:ext uri="{FF2B5EF4-FFF2-40B4-BE49-F238E27FC236}">
                <a16:creationId xmlns:a16="http://schemas.microsoft.com/office/drawing/2014/main" id="{7FC91CBB-FF9B-4565-820F-60713A52A81C}"/>
              </a:ext>
            </a:extLst>
          </p:cNvPr>
          <p:cNvSpPr/>
          <p:nvPr/>
        </p:nvSpPr>
        <p:spPr>
          <a:xfrm>
            <a:off x="6343538" y="2556058"/>
            <a:ext cx="1041613" cy="100846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4000" b="1" i="0" u="none" strike="noStrike" kern="1200" cap="none" spc="0" normalizeH="0" baseline="0" noProof="0" dirty="0">
                <a:ln>
                  <a:noFill/>
                </a:ln>
                <a:solidFill>
                  <a:srgbClr val="4E696D"/>
                </a:solidFill>
                <a:effectLst/>
                <a:uLnTx/>
                <a:uFillTx/>
                <a:latin typeface="Montserrat ExtraBold"/>
                <a:ea typeface="+mn-ea"/>
                <a:cs typeface="+mn-cs"/>
              </a:rPr>
              <a:t>R</a:t>
            </a:r>
          </a:p>
        </p:txBody>
      </p:sp>
      <p:sp>
        <p:nvSpPr>
          <p:cNvPr id="8" name="Text Placeholder 9">
            <a:extLst>
              <a:ext uri="{FF2B5EF4-FFF2-40B4-BE49-F238E27FC236}">
                <a16:creationId xmlns:a16="http://schemas.microsoft.com/office/drawing/2014/main" id="{26E964AB-6922-45A7-90B6-9F5DDAC85621}"/>
              </a:ext>
            </a:extLst>
          </p:cNvPr>
          <p:cNvSpPr txBox="1">
            <a:spLocks/>
          </p:cNvSpPr>
          <p:nvPr/>
        </p:nvSpPr>
        <p:spPr>
          <a:xfrm>
            <a:off x="6951811" y="4012967"/>
            <a:ext cx="3073421" cy="765974"/>
          </a:xfrm>
          <a:prstGeom prst="rect">
            <a:avLst/>
          </a:prstGeom>
          <a:solidFill>
            <a:schemeClr val="accent3"/>
          </a:solidFill>
          <a:ln w="28575">
            <a:solidFill>
              <a:schemeClr val="bg1"/>
            </a:solidFill>
          </a:ln>
        </p:spPr>
        <p:txBody>
          <a:bodyPr vert="horz" lIns="648000" tIns="45720" rIns="503999" bIns="45720" rtlCol="0" anchor="ctr">
            <a:noAutofit/>
          </a:bodyPr>
          <a:lstStyle>
            <a:lvl1pPr marL="228600" indent="-228600" algn="l" defTabSz="914400" rtl="0" eaLnBrk="1" latinLnBrk="0" hangingPunct="1">
              <a:lnSpc>
                <a:spcPct val="90000"/>
              </a:lnSpc>
              <a:spcBef>
                <a:spcPts val="1000"/>
              </a:spcBef>
              <a:buClr>
                <a:srgbClr val="4FE14F"/>
              </a:buClr>
              <a:buFont typeface="Wingdings" pitchFamily="2" charset="2"/>
              <a:buChar char="§"/>
              <a:defRPr sz="2000" kern="1200">
                <a:solidFill>
                  <a:schemeClr val="bg2"/>
                </a:solidFill>
                <a:latin typeface="+mn-lt"/>
                <a:ea typeface="Open Sans SemiBold" panose="020B0706030804020204" pitchFamily="34" charset="0"/>
                <a:cs typeface="Open Sans SemiBold" panose="020B0706030804020204" pitchFamily="34" charset="0"/>
              </a:defRPr>
            </a:lvl1pPr>
            <a:lvl2pPr marL="685800" indent="-228600" algn="l" defTabSz="914400" rtl="0" eaLnBrk="1" latinLnBrk="0" hangingPunct="1">
              <a:lnSpc>
                <a:spcPct val="90000"/>
              </a:lnSpc>
              <a:spcBef>
                <a:spcPts val="500"/>
              </a:spcBef>
              <a:buClr>
                <a:srgbClr val="4FE14F"/>
              </a:buClr>
              <a:buFont typeface="Wingdings" pitchFamily="2" charset="2"/>
              <a:buChar char="§"/>
              <a:defRPr sz="18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Clr>
                <a:srgbClr val="4FE14F"/>
              </a:buClr>
              <a:buFont typeface="Wingdings" pitchFamily="2" charset="2"/>
              <a:buChar char="§"/>
              <a:defRPr sz="16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Clr>
                <a:srgbClr val="4FE14F"/>
              </a:buClr>
              <a:buFont typeface="Wingdings" pitchFamily="2" charset="2"/>
              <a:buChar char="§"/>
              <a:defRPr sz="14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Clr>
                <a:srgbClr val="4FE14F"/>
              </a:buClr>
              <a:buFont typeface="Wingdings" pitchFamily="2" charset="2"/>
              <a:buChar char="§"/>
              <a:defRPr sz="1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4FE14F"/>
              </a:buClr>
              <a:buSzTx/>
              <a:buFont typeface="Wingdings" pitchFamily="2" charset="2"/>
              <a:buNone/>
              <a:tabLst/>
              <a:defRPr/>
            </a:pPr>
            <a:r>
              <a:rPr kumimoji="0" lang="es-CL" sz="2400" b="0" i="0" u="none" strike="noStrike" kern="1200" cap="none" spc="0" normalizeH="0" baseline="0" noProof="0" dirty="0">
                <a:ln>
                  <a:noFill/>
                </a:ln>
                <a:solidFill>
                  <a:srgbClr val="FFFFFF"/>
                </a:solidFill>
                <a:effectLst/>
                <a:uLnTx/>
                <a:uFillTx/>
                <a:latin typeface="Montserrat ExtraBold"/>
                <a:ea typeface="Open Sans SemiBold" panose="020B0706030804020204" pitchFamily="34" charset="0"/>
                <a:cs typeface="Open Sans SemiBold" panose="020B0706030804020204" pitchFamily="34" charset="0"/>
              </a:rPr>
              <a:t>AUMENTAR</a:t>
            </a:r>
          </a:p>
        </p:txBody>
      </p:sp>
      <p:sp>
        <p:nvSpPr>
          <p:cNvPr id="9" name="Oval 7">
            <a:extLst>
              <a:ext uri="{FF2B5EF4-FFF2-40B4-BE49-F238E27FC236}">
                <a16:creationId xmlns:a16="http://schemas.microsoft.com/office/drawing/2014/main" id="{EE109BB1-4107-4CA7-9C31-5993B4829DA9}"/>
              </a:ext>
            </a:extLst>
          </p:cNvPr>
          <p:cNvSpPr/>
          <p:nvPr/>
        </p:nvSpPr>
        <p:spPr>
          <a:xfrm>
            <a:off x="6343538" y="3905999"/>
            <a:ext cx="1041613" cy="100846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4000" b="1" i="0" u="none" strike="noStrike" kern="1200" cap="none" spc="0" normalizeH="0" baseline="0" noProof="0" dirty="0">
                <a:ln>
                  <a:noFill/>
                </a:ln>
                <a:solidFill>
                  <a:srgbClr val="4E696D"/>
                </a:solidFill>
                <a:effectLst/>
                <a:uLnTx/>
                <a:uFillTx/>
                <a:latin typeface="Montserrat ExtraBold"/>
                <a:ea typeface="+mn-ea"/>
                <a:cs typeface="+mn-cs"/>
              </a:rPr>
              <a:t>A</a:t>
            </a:r>
          </a:p>
        </p:txBody>
      </p:sp>
      <p:sp>
        <p:nvSpPr>
          <p:cNvPr id="10" name="Text Placeholder 9">
            <a:extLst>
              <a:ext uri="{FF2B5EF4-FFF2-40B4-BE49-F238E27FC236}">
                <a16:creationId xmlns:a16="http://schemas.microsoft.com/office/drawing/2014/main" id="{18C0A7F7-86E2-4F9D-B256-FD3AC9DB1DB5}"/>
              </a:ext>
            </a:extLst>
          </p:cNvPr>
          <p:cNvSpPr txBox="1">
            <a:spLocks/>
          </p:cNvSpPr>
          <p:nvPr/>
        </p:nvSpPr>
        <p:spPr>
          <a:xfrm>
            <a:off x="2753045" y="4012967"/>
            <a:ext cx="2911376" cy="765974"/>
          </a:xfrm>
          <a:prstGeom prst="rect">
            <a:avLst/>
          </a:prstGeom>
          <a:solidFill>
            <a:schemeClr val="accent3"/>
          </a:solidFill>
          <a:ln w="28575">
            <a:solidFill>
              <a:schemeClr val="bg1"/>
            </a:solidFill>
          </a:ln>
        </p:spPr>
        <p:txBody>
          <a:bodyPr vert="horz" lIns="648000" tIns="45720" rIns="503999" bIns="45720" rtlCol="0" anchor="ctr">
            <a:noAutofit/>
          </a:bodyPr>
          <a:lstStyle>
            <a:lvl1pPr marL="228600" indent="-228600" algn="l" defTabSz="914400" rtl="0" eaLnBrk="1" latinLnBrk="0" hangingPunct="1">
              <a:lnSpc>
                <a:spcPct val="90000"/>
              </a:lnSpc>
              <a:spcBef>
                <a:spcPts val="1000"/>
              </a:spcBef>
              <a:buClr>
                <a:srgbClr val="4FE14F"/>
              </a:buClr>
              <a:buFont typeface="Wingdings" pitchFamily="2" charset="2"/>
              <a:buChar char="§"/>
              <a:defRPr sz="2000" kern="1200">
                <a:solidFill>
                  <a:schemeClr val="bg2"/>
                </a:solidFill>
                <a:latin typeface="+mn-lt"/>
                <a:ea typeface="Open Sans SemiBold" panose="020B0706030804020204" pitchFamily="34" charset="0"/>
                <a:cs typeface="Open Sans SemiBold" panose="020B0706030804020204" pitchFamily="34" charset="0"/>
              </a:defRPr>
            </a:lvl1pPr>
            <a:lvl2pPr marL="685800" indent="-228600" algn="l" defTabSz="914400" rtl="0" eaLnBrk="1" latinLnBrk="0" hangingPunct="1">
              <a:lnSpc>
                <a:spcPct val="90000"/>
              </a:lnSpc>
              <a:spcBef>
                <a:spcPts val="500"/>
              </a:spcBef>
              <a:buClr>
                <a:srgbClr val="4FE14F"/>
              </a:buClr>
              <a:buFont typeface="Wingdings" pitchFamily="2" charset="2"/>
              <a:buChar char="§"/>
              <a:defRPr sz="18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Clr>
                <a:srgbClr val="4FE14F"/>
              </a:buClr>
              <a:buFont typeface="Wingdings" pitchFamily="2" charset="2"/>
              <a:buChar char="§"/>
              <a:defRPr sz="16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Clr>
                <a:srgbClr val="4FE14F"/>
              </a:buClr>
              <a:buFont typeface="Wingdings" pitchFamily="2" charset="2"/>
              <a:buChar char="§"/>
              <a:defRPr sz="14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Clr>
                <a:srgbClr val="4FE14F"/>
              </a:buClr>
              <a:buFont typeface="Wingdings" pitchFamily="2" charset="2"/>
              <a:buChar char="§"/>
              <a:defRPr sz="1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4FE14F"/>
              </a:buClr>
              <a:buSzTx/>
              <a:buFont typeface="Wingdings" pitchFamily="2" charset="2"/>
              <a:buNone/>
              <a:tabLst/>
              <a:defRPr/>
            </a:pPr>
            <a:r>
              <a:rPr kumimoji="0" lang="es-CL" sz="2400" b="0" i="0" u="none" strike="noStrike" kern="1200" cap="none" spc="0" normalizeH="0" baseline="0" noProof="0" dirty="0">
                <a:ln>
                  <a:noFill/>
                </a:ln>
                <a:solidFill>
                  <a:srgbClr val="FFFFFF"/>
                </a:solidFill>
                <a:effectLst/>
                <a:uLnTx/>
                <a:uFillTx/>
                <a:latin typeface="Montserrat ExtraBold"/>
                <a:ea typeface="Open Sans SemiBold" panose="020B0706030804020204" pitchFamily="34" charset="0"/>
                <a:cs typeface="Open Sans SemiBold" panose="020B0706030804020204" pitchFamily="34" charset="0"/>
              </a:rPr>
              <a:t>ELIMINAR</a:t>
            </a:r>
          </a:p>
        </p:txBody>
      </p:sp>
      <p:sp>
        <p:nvSpPr>
          <p:cNvPr id="11" name="Oval 7">
            <a:extLst>
              <a:ext uri="{FF2B5EF4-FFF2-40B4-BE49-F238E27FC236}">
                <a16:creationId xmlns:a16="http://schemas.microsoft.com/office/drawing/2014/main" id="{C7E6A27E-5F21-487A-8F0B-B2487ECFD8D3}"/>
              </a:ext>
            </a:extLst>
          </p:cNvPr>
          <p:cNvSpPr/>
          <p:nvPr/>
        </p:nvSpPr>
        <p:spPr>
          <a:xfrm>
            <a:off x="2144772" y="3905999"/>
            <a:ext cx="1041613" cy="100846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4000" b="1" i="0" u="none" strike="noStrike" kern="1200" cap="none" spc="0" normalizeH="0" baseline="0" noProof="0" dirty="0">
                <a:ln>
                  <a:noFill/>
                </a:ln>
                <a:solidFill>
                  <a:srgbClr val="4E696D"/>
                </a:solidFill>
                <a:effectLst/>
                <a:uLnTx/>
                <a:uFillTx/>
                <a:latin typeface="Montserrat ExtraBold"/>
                <a:ea typeface="+mn-ea"/>
                <a:cs typeface="+mn-cs"/>
              </a:rPr>
              <a:t>E</a:t>
            </a:r>
          </a:p>
        </p:txBody>
      </p:sp>
      <p:sp>
        <p:nvSpPr>
          <p:cNvPr id="12" name="CuadroTexto 1">
            <a:extLst>
              <a:ext uri="{FF2B5EF4-FFF2-40B4-BE49-F238E27FC236}">
                <a16:creationId xmlns:a16="http://schemas.microsoft.com/office/drawing/2014/main" id="{19687F61-5FF2-4E0C-988C-30C2EB83867F}"/>
              </a:ext>
            </a:extLst>
          </p:cNvPr>
          <p:cNvSpPr txBox="1"/>
          <p:nvPr/>
        </p:nvSpPr>
        <p:spPr>
          <a:xfrm>
            <a:off x="2166145" y="5265461"/>
            <a:ext cx="7859088" cy="901498"/>
          </a:xfrm>
          <a:prstGeom prst="rect">
            <a:avLst/>
          </a:prstGeom>
          <a:solidFill>
            <a:schemeClr val="accent3"/>
          </a:solidFill>
          <a:ln w="28575">
            <a:solidFill>
              <a:schemeClr val="bg1"/>
            </a:solidFill>
          </a:ln>
        </p:spPr>
        <p:txBody>
          <a:bodyPr wrap="square" lIns="468000" t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2000" b="0" i="0" u="none" strike="noStrike" kern="1200" cap="none" spc="0" normalizeH="0" baseline="0" noProof="0" dirty="0">
                <a:ln>
                  <a:noFill/>
                </a:ln>
                <a:solidFill>
                  <a:srgbClr val="FFFFFF"/>
                </a:solidFill>
                <a:effectLst/>
                <a:uLnTx/>
                <a:uFillTx/>
                <a:latin typeface="Raleway"/>
                <a:ea typeface="+mn-ea"/>
                <a:cs typeface="+mn-cs"/>
              </a:rPr>
              <a:t>Cuando trabajas en Innovación de valor debes tomar estas cuatro decisiones simultáneamente. </a:t>
            </a:r>
          </a:p>
        </p:txBody>
      </p:sp>
    </p:spTree>
    <p:extLst>
      <p:ext uri="{BB962C8B-B14F-4D97-AF65-F5344CB8AC3E}">
        <p14:creationId xmlns:p14="http://schemas.microsoft.com/office/powerpoint/2010/main" val="2625315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14 CuadroTexto">
            <a:extLst>
              <a:ext uri="{FF2B5EF4-FFF2-40B4-BE49-F238E27FC236}">
                <a16:creationId xmlns:a16="http://schemas.microsoft.com/office/drawing/2014/main" id="{F60CEBD0-3FD3-449B-A517-4DFE71EAFA45}"/>
              </a:ext>
            </a:extLst>
          </p:cNvPr>
          <p:cNvSpPr txBox="1">
            <a:spLocks noChangeArrowheads="1"/>
          </p:cNvSpPr>
          <p:nvPr/>
        </p:nvSpPr>
        <p:spPr bwMode="auto">
          <a:xfrm>
            <a:off x="714375" y="2552510"/>
            <a:ext cx="3959225" cy="1351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853" tIns="54428" rIns="108853" bIns="54428">
            <a:spAutoFit/>
          </a:bodyPr>
          <a:lstStyle>
            <a:lvl1pPr marL="361950" indent="-3619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609630" rtl="0" eaLnBrk="1" fontAlgn="base" latinLnBrk="0" hangingPunct="1">
              <a:lnSpc>
                <a:spcPct val="114000"/>
              </a:lnSpc>
              <a:spcBef>
                <a:spcPct val="0"/>
              </a:spcBef>
              <a:spcAft>
                <a:spcPct val="0"/>
              </a:spcAft>
              <a:buClrTx/>
              <a:buSzTx/>
              <a:tabLst/>
              <a:defRPr/>
            </a:pPr>
            <a:r>
              <a:rPr kumimoji="0" lang="es-CL" b="0" i="0" u="none" strike="noStrike" kern="1200" cap="none" spc="0" normalizeH="0" baseline="0" noProof="0" dirty="0">
                <a:ln>
                  <a:noFill/>
                </a:ln>
                <a:effectLst/>
                <a:uLnTx/>
                <a:uFillTx/>
                <a:latin typeface="Montserrat Medium" panose="00000600000000000000" pitchFamily="2" charset="0"/>
                <a:sym typeface="Gill Sans" charset="0"/>
              </a:rPr>
              <a:t>¿Cómo </a:t>
            </a:r>
            <a:r>
              <a:rPr kumimoji="0" lang="es-CL" b="1" i="0" u="none" strike="noStrike" kern="1200" cap="none" spc="0" normalizeH="0" baseline="0" noProof="0" dirty="0">
                <a:ln>
                  <a:noFill/>
                </a:ln>
                <a:solidFill>
                  <a:srgbClr val="6439EF"/>
                </a:solidFill>
                <a:effectLst/>
                <a:highlight>
                  <a:srgbClr val="3CF6D0"/>
                </a:highlight>
                <a:uLnTx/>
                <a:uFillTx/>
                <a:latin typeface="Montserrat Medium" panose="00000600000000000000" pitchFamily="2" charset="0"/>
                <a:sym typeface="Gill Sans" charset="0"/>
              </a:rPr>
              <a:t>construimos una nueva curva de valor que nos diferencie de la competencia </a:t>
            </a:r>
            <a:r>
              <a:rPr kumimoji="0" lang="es-CL" b="0" i="0" u="none" strike="noStrike" kern="1200" cap="none" spc="0" normalizeH="0" baseline="0" noProof="0" dirty="0">
                <a:ln>
                  <a:noFill/>
                </a:ln>
                <a:effectLst/>
                <a:uLnTx/>
                <a:uFillTx/>
                <a:latin typeface="Montserrat Medium" panose="00000600000000000000" pitchFamily="2" charset="0"/>
                <a:sym typeface="Gill Sans" charset="0"/>
              </a:rPr>
              <a:t>tanto que la vuelva irrelevante?</a:t>
            </a:r>
            <a:endParaRPr kumimoji="0" lang="en-US" b="0" i="0" u="none" strike="noStrike" kern="1200" cap="none" spc="0" normalizeH="0" baseline="0" noProof="0" dirty="0">
              <a:ln>
                <a:noFill/>
              </a:ln>
              <a:effectLst/>
              <a:uLnTx/>
              <a:uFillTx/>
              <a:latin typeface="Montserrat Medium" panose="00000600000000000000" pitchFamily="2" charset="0"/>
              <a:sym typeface="Gill Sans" charset="0"/>
            </a:endParaRPr>
          </a:p>
        </p:txBody>
      </p:sp>
      <p:sp>
        <p:nvSpPr>
          <p:cNvPr id="16" name="15 Elipse">
            <a:extLst>
              <a:ext uri="{FF2B5EF4-FFF2-40B4-BE49-F238E27FC236}">
                <a16:creationId xmlns:a16="http://schemas.microsoft.com/office/drawing/2014/main" id="{1C427D92-3255-4087-96DC-0051FF19C1D5}"/>
              </a:ext>
            </a:extLst>
          </p:cNvPr>
          <p:cNvSpPr/>
          <p:nvPr/>
        </p:nvSpPr>
        <p:spPr>
          <a:xfrm>
            <a:off x="7607300" y="2616200"/>
            <a:ext cx="1524000" cy="1143000"/>
          </a:xfrm>
          <a:prstGeom prst="ellipse">
            <a:avLst/>
          </a:prstGeom>
          <a:solidFill>
            <a:schemeClr val="bg1"/>
          </a:solidFill>
          <a:ln w="6350">
            <a:solidFill>
              <a:schemeClr val="bg2">
                <a:lumMod val="5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algn="ctr" fontAlgn="base">
              <a:lnSpc>
                <a:spcPct val="114000"/>
              </a:lnSpc>
              <a:spcBef>
                <a:spcPct val="0"/>
              </a:spcBef>
              <a:spcAft>
                <a:spcPct val="0"/>
              </a:spcAft>
            </a:pPr>
            <a:r>
              <a:rPr lang="es-CL" sz="1400" b="1" dirty="0">
                <a:solidFill>
                  <a:srgbClr val="000000"/>
                </a:solidFill>
                <a:sym typeface="Gill Sans" charset="0"/>
              </a:rPr>
              <a:t>Nueva curva de valor</a:t>
            </a:r>
            <a:endParaRPr lang="en-US" sz="1400" b="1" dirty="0">
              <a:solidFill>
                <a:srgbClr val="000000"/>
              </a:solidFill>
              <a:sym typeface="Gill Sans" charset="0"/>
            </a:endParaRPr>
          </a:p>
        </p:txBody>
      </p:sp>
      <p:sp>
        <p:nvSpPr>
          <p:cNvPr id="17" name="16 Rectángulo">
            <a:extLst>
              <a:ext uri="{FF2B5EF4-FFF2-40B4-BE49-F238E27FC236}">
                <a16:creationId xmlns:a16="http://schemas.microsoft.com/office/drawing/2014/main" id="{CF22135B-C2AA-41DE-BDE4-6771328ECFD7}"/>
              </a:ext>
            </a:extLst>
          </p:cNvPr>
          <p:cNvSpPr/>
          <p:nvPr/>
        </p:nvSpPr>
        <p:spPr>
          <a:xfrm>
            <a:off x="5035550" y="1330326"/>
            <a:ext cx="2667000" cy="1072091"/>
          </a:xfrm>
          <a:prstGeom prst="rect">
            <a:avLst/>
          </a:prstGeom>
          <a:solidFill>
            <a:schemeClr val="bg1"/>
          </a:solidFill>
          <a:ln w="6350">
            <a:solidFill>
              <a:schemeClr val="bg2">
                <a:lumMod val="5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algn="ctr" fontAlgn="base">
              <a:lnSpc>
                <a:spcPct val="114000"/>
              </a:lnSpc>
              <a:spcBef>
                <a:spcPct val="0"/>
              </a:spcBef>
              <a:spcAft>
                <a:spcPct val="0"/>
              </a:spcAft>
            </a:pPr>
            <a:r>
              <a:rPr lang="es-CL" sz="1400" b="1" dirty="0">
                <a:solidFill>
                  <a:srgbClr val="000000"/>
                </a:solidFill>
                <a:sym typeface="Gill Sans" charset="0"/>
              </a:rPr>
              <a:t>REDUCIR </a:t>
            </a:r>
            <a:r>
              <a:rPr lang="es-CL" sz="1400" i="1" dirty="0">
                <a:solidFill>
                  <a:srgbClr val="000000"/>
                </a:solidFill>
                <a:sym typeface="Gill Sans" charset="0"/>
              </a:rPr>
              <a:t>¿Qué factores pueden ser reducidos respecto de estándares de la industria?</a:t>
            </a:r>
            <a:endParaRPr lang="en-US" sz="1400" i="1" dirty="0">
              <a:solidFill>
                <a:srgbClr val="000000"/>
              </a:solidFill>
              <a:sym typeface="Gill Sans" charset="0"/>
            </a:endParaRPr>
          </a:p>
        </p:txBody>
      </p:sp>
      <p:sp>
        <p:nvSpPr>
          <p:cNvPr id="18" name="17 Rectángulo">
            <a:extLst>
              <a:ext uri="{FF2B5EF4-FFF2-40B4-BE49-F238E27FC236}">
                <a16:creationId xmlns:a16="http://schemas.microsoft.com/office/drawing/2014/main" id="{842DA98C-203C-4C61-9C0C-FF55DD2A8503}"/>
              </a:ext>
            </a:extLst>
          </p:cNvPr>
          <p:cNvSpPr/>
          <p:nvPr/>
        </p:nvSpPr>
        <p:spPr>
          <a:xfrm>
            <a:off x="8845550" y="1330326"/>
            <a:ext cx="2667000" cy="1072091"/>
          </a:xfrm>
          <a:prstGeom prst="rect">
            <a:avLst/>
          </a:prstGeom>
          <a:solidFill>
            <a:schemeClr val="bg1"/>
          </a:solidFill>
          <a:ln w="6350">
            <a:solidFill>
              <a:schemeClr val="bg2">
                <a:lumMod val="5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algn="ctr" fontAlgn="base">
              <a:lnSpc>
                <a:spcPct val="114000"/>
              </a:lnSpc>
              <a:spcBef>
                <a:spcPct val="0"/>
              </a:spcBef>
              <a:spcAft>
                <a:spcPct val="0"/>
              </a:spcAft>
            </a:pPr>
            <a:r>
              <a:rPr lang="es-CL" sz="1400" b="1" dirty="0">
                <a:solidFill>
                  <a:srgbClr val="000000"/>
                </a:solidFill>
                <a:sym typeface="Gill Sans" charset="0"/>
              </a:rPr>
              <a:t>CREAR </a:t>
            </a:r>
            <a:r>
              <a:rPr lang="es-CL" sz="1400" i="1" dirty="0">
                <a:solidFill>
                  <a:srgbClr val="000000"/>
                </a:solidFill>
                <a:sym typeface="Gill Sans" charset="0"/>
              </a:rPr>
              <a:t>¿Qué factores puedo crear que la industria no los haya ofrecido?</a:t>
            </a:r>
            <a:endParaRPr lang="en-US" sz="1400" i="1" dirty="0">
              <a:solidFill>
                <a:srgbClr val="000000"/>
              </a:solidFill>
              <a:sym typeface="Gill Sans" charset="0"/>
            </a:endParaRPr>
          </a:p>
        </p:txBody>
      </p:sp>
      <p:sp>
        <p:nvSpPr>
          <p:cNvPr id="19" name="18 Rectángulo">
            <a:extLst>
              <a:ext uri="{FF2B5EF4-FFF2-40B4-BE49-F238E27FC236}">
                <a16:creationId xmlns:a16="http://schemas.microsoft.com/office/drawing/2014/main" id="{AAEAF409-3BFC-458A-B10A-C759C9D4AA2E}"/>
              </a:ext>
            </a:extLst>
          </p:cNvPr>
          <p:cNvSpPr/>
          <p:nvPr/>
        </p:nvSpPr>
        <p:spPr>
          <a:xfrm>
            <a:off x="5035550" y="3902076"/>
            <a:ext cx="2667000" cy="1072091"/>
          </a:xfrm>
          <a:prstGeom prst="rect">
            <a:avLst/>
          </a:prstGeom>
          <a:solidFill>
            <a:schemeClr val="bg1"/>
          </a:solidFill>
          <a:ln w="6350">
            <a:solidFill>
              <a:schemeClr val="bg2">
                <a:lumMod val="5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algn="ctr" fontAlgn="base">
              <a:lnSpc>
                <a:spcPct val="114000"/>
              </a:lnSpc>
              <a:spcBef>
                <a:spcPct val="0"/>
              </a:spcBef>
              <a:spcAft>
                <a:spcPct val="0"/>
              </a:spcAft>
            </a:pPr>
            <a:r>
              <a:rPr lang="es-CL" sz="1400" b="1" dirty="0">
                <a:solidFill>
                  <a:srgbClr val="000000"/>
                </a:solidFill>
                <a:sym typeface="Gill Sans" charset="0"/>
              </a:rPr>
              <a:t>ELIMINAR </a:t>
            </a:r>
            <a:r>
              <a:rPr lang="es-CL" sz="1400" i="1" dirty="0">
                <a:solidFill>
                  <a:srgbClr val="000000"/>
                </a:solidFill>
                <a:sym typeface="Gill Sans" charset="0"/>
              </a:rPr>
              <a:t>¿Qué factores pueden ser eliminados de la oferta?</a:t>
            </a:r>
            <a:endParaRPr lang="en-US" sz="1400" i="1" dirty="0">
              <a:solidFill>
                <a:srgbClr val="000000"/>
              </a:solidFill>
              <a:sym typeface="Gill Sans" charset="0"/>
            </a:endParaRPr>
          </a:p>
        </p:txBody>
      </p:sp>
      <p:sp>
        <p:nvSpPr>
          <p:cNvPr id="20" name="19 Rectángulo">
            <a:extLst>
              <a:ext uri="{FF2B5EF4-FFF2-40B4-BE49-F238E27FC236}">
                <a16:creationId xmlns:a16="http://schemas.microsoft.com/office/drawing/2014/main" id="{DB0BF587-F30C-485F-B85C-79259464C86B}"/>
              </a:ext>
            </a:extLst>
          </p:cNvPr>
          <p:cNvSpPr/>
          <p:nvPr/>
        </p:nvSpPr>
        <p:spPr>
          <a:xfrm>
            <a:off x="8845550" y="3902076"/>
            <a:ext cx="2667000" cy="1072091"/>
          </a:xfrm>
          <a:prstGeom prst="rect">
            <a:avLst/>
          </a:prstGeom>
          <a:solidFill>
            <a:schemeClr val="bg1"/>
          </a:solidFill>
          <a:ln w="6350">
            <a:solidFill>
              <a:schemeClr val="bg2">
                <a:lumMod val="5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algn="ctr" fontAlgn="base">
              <a:lnSpc>
                <a:spcPct val="114000"/>
              </a:lnSpc>
              <a:spcBef>
                <a:spcPct val="0"/>
              </a:spcBef>
              <a:spcAft>
                <a:spcPct val="0"/>
              </a:spcAft>
            </a:pPr>
            <a:r>
              <a:rPr lang="es-CL" sz="1400" b="1" dirty="0">
                <a:solidFill>
                  <a:srgbClr val="000000"/>
                </a:solidFill>
                <a:sym typeface="Gill Sans" charset="0"/>
              </a:rPr>
              <a:t>AUMENTAR </a:t>
            </a:r>
            <a:r>
              <a:rPr lang="es-CL" sz="1400" i="1" dirty="0">
                <a:solidFill>
                  <a:srgbClr val="000000"/>
                </a:solidFill>
                <a:sym typeface="Gill Sans" charset="0"/>
              </a:rPr>
              <a:t>¿Qué factores es necesario aumentar para generar mayor diferenciación?</a:t>
            </a:r>
            <a:endParaRPr lang="en-US" sz="1400" i="1" dirty="0">
              <a:solidFill>
                <a:srgbClr val="000000"/>
              </a:solidFill>
              <a:sym typeface="Gill Sans" charset="0"/>
            </a:endParaRPr>
          </a:p>
        </p:txBody>
      </p:sp>
      <p:cxnSp>
        <p:nvCxnSpPr>
          <p:cNvPr id="22" name="21 Conector angular">
            <a:extLst>
              <a:ext uri="{FF2B5EF4-FFF2-40B4-BE49-F238E27FC236}">
                <a16:creationId xmlns:a16="http://schemas.microsoft.com/office/drawing/2014/main" id="{92F73581-7383-4435-8B95-D058FF725076}"/>
              </a:ext>
            </a:extLst>
          </p:cNvPr>
          <p:cNvCxnSpPr>
            <a:stCxn id="17" idx="2"/>
            <a:endCxn id="16" idx="2"/>
          </p:cNvCxnSpPr>
          <p:nvPr/>
        </p:nvCxnSpPr>
        <p:spPr>
          <a:xfrm rot="16200000" flipH="1">
            <a:off x="6595534" y="2175934"/>
            <a:ext cx="785283" cy="1238250"/>
          </a:xfrm>
          <a:prstGeom prst="bentConnector2">
            <a:avLst/>
          </a:prstGeom>
          <a:ln w="9525">
            <a:solidFill>
              <a:schemeClr val="bg2">
                <a:lumMod val="50000"/>
              </a:schemeClr>
            </a:solidFill>
            <a:tailEnd type="arrow"/>
          </a:ln>
        </p:spPr>
        <p:style>
          <a:lnRef idx="1">
            <a:schemeClr val="accent2"/>
          </a:lnRef>
          <a:fillRef idx="0">
            <a:schemeClr val="accent2"/>
          </a:fillRef>
          <a:effectRef idx="0">
            <a:schemeClr val="accent2"/>
          </a:effectRef>
          <a:fontRef idx="minor">
            <a:schemeClr val="tx1"/>
          </a:fontRef>
        </p:style>
      </p:cxnSp>
      <p:cxnSp>
        <p:nvCxnSpPr>
          <p:cNvPr id="25" name="24 Forma">
            <a:extLst>
              <a:ext uri="{FF2B5EF4-FFF2-40B4-BE49-F238E27FC236}">
                <a16:creationId xmlns:a16="http://schemas.microsoft.com/office/drawing/2014/main" id="{B98FD86F-AE1E-4A24-872E-4DAD1FB88B6F}"/>
              </a:ext>
            </a:extLst>
          </p:cNvPr>
          <p:cNvCxnSpPr>
            <a:stCxn id="19" idx="0"/>
            <a:endCxn id="16" idx="2"/>
          </p:cNvCxnSpPr>
          <p:nvPr/>
        </p:nvCxnSpPr>
        <p:spPr>
          <a:xfrm rot="5400000" flipH="1" flipV="1">
            <a:off x="6630988" y="2925763"/>
            <a:ext cx="714375" cy="1238250"/>
          </a:xfrm>
          <a:prstGeom prst="bentConnector2">
            <a:avLst/>
          </a:prstGeom>
          <a:ln w="9525">
            <a:solidFill>
              <a:schemeClr val="bg2">
                <a:lumMod val="50000"/>
              </a:schemeClr>
            </a:solidFill>
            <a:tailEnd type="arrow"/>
          </a:ln>
        </p:spPr>
        <p:style>
          <a:lnRef idx="1">
            <a:schemeClr val="accent2"/>
          </a:lnRef>
          <a:fillRef idx="0">
            <a:schemeClr val="accent2"/>
          </a:fillRef>
          <a:effectRef idx="0">
            <a:schemeClr val="accent2"/>
          </a:effectRef>
          <a:fontRef idx="minor">
            <a:schemeClr val="tx1"/>
          </a:fontRef>
        </p:style>
      </p:cxnSp>
      <p:cxnSp>
        <p:nvCxnSpPr>
          <p:cNvPr id="27" name="26 Forma">
            <a:extLst>
              <a:ext uri="{FF2B5EF4-FFF2-40B4-BE49-F238E27FC236}">
                <a16:creationId xmlns:a16="http://schemas.microsoft.com/office/drawing/2014/main" id="{E86A5E91-4A9B-4FC9-8F7D-AADF7195A08C}"/>
              </a:ext>
            </a:extLst>
          </p:cNvPr>
          <p:cNvCxnSpPr>
            <a:stCxn id="18" idx="2"/>
            <a:endCxn id="16" idx="6"/>
          </p:cNvCxnSpPr>
          <p:nvPr/>
        </p:nvCxnSpPr>
        <p:spPr>
          <a:xfrm rot="5400000">
            <a:off x="9262534" y="2271184"/>
            <a:ext cx="785283" cy="1047750"/>
          </a:xfrm>
          <a:prstGeom prst="bentConnector2">
            <a:avLst/>
          </a:prstGeom>
          <a:ln w="9525">
            <a:solidFill>
              <a:schemeClr val="bg2">
                <a:lumMod val="50000"/>
              </a:schemeClr>
            </a:solidFill>
            <a:tailEnd type="arrow"/>
          </a:ln>
        </p:spPr>
        <p:style>
          <a:lnRef idx="1">
            <a:schemeClr val="accent2"/>
          </a:lnRef>
          <a:fillRef idx="0">
            <a:schemeClr val="accent2"/>
          </a:fillRef>
          <a:effectRef idx="0">
            <a:schemeClr val="accent2"/>
          </a:effectRef>
          <a:fontRef idx="minor">
            <a:schemeClr val="tx1"/>
          </a:fontRef>
        </p:style>
      </p:cxnSp>
      <p:cxnSp>
        <p:nvCxnSpPr>
          <p:cNvPr id="29" name="28 Forma">
            <a:extLst>
              <a:ext uri="{FF2B5EF4-FFF2-40B4-BE49-F238E27FC236}">
                <a16:creationId xmlns:a16="http://schemas.microsoft.com/office/drawing/2014/main" id="{07310BBA-7F0D-4507-B952-E54BEB8D8ADA}"/>
              </a:ext>
            </a:extLst>
          </p:cNvPr>
          <p:cNvCxnSpPr>
            <a:stCxn id="20" idx="0"/>
            <a:endCxn id="16" idx="6"/>
          </p:cNvCxnSpPr>
          <p:nvPr/>
        </p:nvCxnSpPr>
        <p:spPr>
          <a:xfrm rot="16200000" flipV="1">
            <a:off x="9297988" y="3021013"/>
            <a:ext cx="714375" cy="1047750"/>
          </a:xfrm>
          <a:prstGeom prst="bentConnector2">
            <a:avLst/>
          </a:prstGeom>
          <a:ln w="9525">
            <a:solidFill>
              <a:schemeClr val="bg2">
                <a:lumMod val="50000"/>
              </a:schemeClr>
            </a:solidFill>
            <a:tailEnd type="arrow"/>
          </a:ln>
        </p:spPr>
        <p:style>
          <a:lnRef idx="1">
            <a:schemeClr val="accent2"/>
          </a:lnRef>
          <a:fillRef idx="0">
            <a:schemeClr val="accent2"/>
          </a:fillRef>
          <a:effectRef idx="0">
            <a:schemeClr val="accent2"/>
          </a:effectRef>
          <a:fontRef idx="minor">
            <a:schemeClr val="tx1"/>
          </a:fontRef>
        </p:style>
      </p:cxnSp>
      <p:sp>
        <p:nvSpPr>
          <p:cNvPr id="15" name="Rectangle 1">
            <a:extLst>
              <a:ext uri="{FF2B5EF4-FFF2-40B4-BE49-F238E27FC236}">
                <a16:creationId xmlns:a16="http://schemas.microsoft.com/office/drawing/2014/main" id="{85130F42-31A9-40B6-BE4F-7A788239DAA0}"/>
              </a:ext>
            </a:extLst>
          </p:cNvPr>
          <p:cNvSpPr>
            <a:spLocks noChangeArrowheads="1"/>
          </p:cNvSpPr>
          <p:nvPr/>
        </p:nvSpPr>
        <p:spPr bwMode="auto">
          <a:xfrm>
            <a:off x="717550" y="5405045"/>
            <a:ext cx="11582400" cy="32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853" tIns="54428" rIns="108853" bIns="54428" anchor="ctr">
            <a:spAutoFit/>
          </a:bodyPr>
          <a:lstStyle/>
          <a:p>
            <a:pPr defTabSz="609630" fontAlgn="base">
              <a:spcBef>
                <a:spcPct val="0"/>
              </a:spcBef>
              <a:spcAft>
                <a:spcPct val="0"/>
              </a:spcAft>
              <a:defRPr/>
            </a:pPr>
            <a:r>
              <a:rPr lang="en-US" sz="1000" b="1" dirty="0">
                <a:sym typeface="Gill Sans" charset="0"/>
              </a:rPr>
              <a:t>Fuente</a:t>
            </a:r>
            <a:r>
              <a:rPr lang="en-US" sz="1400" b="1" dirty="0">
                <a:solidFill>
                  <a:srgbClr val="000000"/>
                </a:solidFill>
                <a:latin typeface="Arial" charset="0"/>
                <a:cs typeface="Times New Roman" pitchFamily="18" charset="0"/>
                <a:sym typeface="Gill Sans" charset="0"/>
              </a:rPr>
              <a:t>: </a:t>
            </a:r>
            <a:r>
              <a:rPr lang="en-US" sz="1000" i="1" dirty="0">
                <a:sym typeface="Gill Sans" charset="0"/>
              </a:rPr>
              <a:t>Chan Kim, W. and Mauborgne, R. (1997). Value Innovation. Harvard Business Review, January – February. Boston.</a:t>
            </a:r>
          </a:p>
        </p:txBody>
      </p:sp>
      <p:sp>
        <p:nvSpPr>
          <p:cNvPr id="21" name="Rectangle 7">
            <a:extLst>
              <a:ext uri="{FF2B5EF4-FFF2-40B4-BE49-F238E27FC236}">
                <a16:creationId xmlns:a16="http://schemas.microsoft.com/office/drawing/2014/main" id="{2D6DC762-AEE4-445B-A920-68C22682AE83}"/>
              </a:ext>
            </a:extLst>
          </p:cNvPr>
          <p:cNvSpPr/>
          <p:nvPr/>
        </p:nvSpPr>
        <p:spPr>
          <a:xfrm>
            <a:off x="695325" y="6187868"/>
            <a:ext cx="5619751" cy="253916"/>
          </a:xfrm>
          <a:prstGeom prst="rect">
            <a:avLst/>
          </a:prstGeom>
        </p:spPr>
        <p:txBody>
          <a:bodyPr wrap="square" lIns="0" rIns="0">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s-CL" sz="800" b="0" i="0" u="none" strike="noStrike" kern="1200" cap="small" spc="0" normalizeH="0" baseline="0" noProof="0" dirty="0">
                <a:ln>
                  <a:noFill/>
                </a:ln>
                <a:solidFill>
                  <a:prstClr val="black">
                    <a:lumMod val="75000"/>
                    <a:lumOff val="25000"/>
                  </a:prstClr>
                </a:solidFill>
                <a:effectLst/>
                <a:uLnTx/>
                <a:uFillTx/>
                <a:latin typeface="Montserrat Medium" panose="00000600000000000000" pitchFamily="2" charset="0"/>
                <a:ea typeface="+mn-ea"/>
                <a:cs typeface="+mn-cs"/>
              </a:rPr>
              <a:t>UNIDAD 02    </a:t>
            </a:r>
            <a:r>
              <a:rPr kumimoji="0" lang="es-CL" sz="800" b="0" i="0" u="none" strike="noStrike" kern="1200" cap="none" spc="0" normalizeH="0" baseline="0" noProof="0" dirty="0">
                <a:ln>
                  <a:noFill/>
                </a:ln>
                <a:solidFill>
                  <a:prstClr val="black"/>
                </a:solidFill>
                <a:effectLst/>
                <a:uLnTx/>
                <a:uFillTx/>
                <a:latin typeface="Montserrat Medium" panose="00000600000000000000" pitchFamily="2" charset="0"/>
                <a:ea typeface="+mn-ea"/>
                <a:cs typeface="+mn-cs"/>
              </a:rPr>
              <a:t>|    </a:t>
            </a:r>
            <a:r>
              <a:rPr lang="es-CL" sz="1050" dirty="0">
                <a:solidFill>
                  <a:prstClr val="black">
                    <a:lumMod val="75000"/>
                    <a:lumOff val="25000"/>
                  </a:prstClr>
                </a:solidFill>
                <a:latin typeface="Montserrat Medium" panose="00000600000000000000" pitchFamily="2" charset="0"/>
              </a:rPr>
              <a:t>Innovación de valor, estrategia desde los productos</a:t>
            </a:r>
            <a:endParaRPr kumimoji="0" lang="es-CL" sz="1100" b="0" i="0" u="none" strike="noStrike" kern="1200" cap="none" spc="0" normalizeH="0" baseline="0" noProof="0" dirty="0">
              <a:ln>
                <a:noFill/>
              </a:ln>
              <a:solidFill>
                <a:prstClr val="black">
                  <a:lumMod val="75000"/>
                  <a:lumOff val="25000"/>
                </a:prstClr>
              </a:solidFill>
              <a:effectLst/>
              <a:uLnTx/>
              <a:uFillTx/>
              <a:latin typeface="Montserrat Medium" panose="00000600000000000000" pitchFamily="2" charset="0"/>
              <a:ea typeface="+mn-ea"/>
              <a:cs typeface="+mn-cs"/>
            </a:endParaRPr>
          </a:p>
        </p:txBody>
      </p:sp>
      <p:sp>
        <p:nvSpPr>
          <p:cNvPr id="23" name="Title 1">
            <a:extLst>
              <a:ext uri="{FF2B5EF4-FFF2-40B4-BE49-F238E27FC236}">
                <a16:creationId xmlns:a16="http://schemas.microsoft.com/office/drawing/2014/main" id="{E946C246-1924-447E-8B7B-98DA21698642}"/>
              </a:ext>
            </a:extLst>
          </p:cNvPr>
          <p:cNvSpPr txBox="1">
            <a:spLocks/>
          </p:cNvSpPr>
          <p:nvPr/>
        </p:nvSpPr>
        <p:spPr>
          <a:xfrm>
            <a:off x="714375" y="561976"/>
            <a:ext cx="10515600" cy="73342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kern="1200">
                <a:solidFill>
                  <a:schemeClr val="tx1"/>
                </a:solidFill>
                <a:latin typeface="Montserrat ExtraBold" panose="00000900000000000000" pitchFamily="2" charset="0"/>
                <a:ea typeface="+mj-ea"/>
                <a:cs typeface="+mj-cs"/>
              </a:defRPr>
            </a:lvl1pPr>
          </a:lstStyle>
          <a:p>
            <a:r>
              <a:rPr lang="es-ES_tradnl" sz="2400" dirty="0"/>
              <a:t>Blue </a:t>
            </a:r>
            <a:r>
              <a:rPr lang="es-ES_tradnl" sz="2400" dirty="0" err="1"/>
              <a:t>Ocean</a:t>
            </a:r>
            <a:r>
              <a:rPr lang="es-ES_tradnl" sz="2400" dirty="0"/>
              <a:t> </a:t>
            </a:r>
            <a:r>
              <a:rPr lang="es-ES_tradnl" sz="2400" dirty="0" err="1"/>
              <a:t>Strategy</a:t>
            </a:r>
            <a:endParaRPr lang="es-ES_tradnl" sz="2400" dirty="0"/>
          </a:p>
          <a:p>
            <a:r>
              <a:rPr lang="es-ES_tradnl" sz="2000" dirty="0">
                <a:solidFill>
                  <a:srgbClr val="6439EF"/>
                </a:solidFill>
              </a:rPr>
              <a:t>Marco de 4 acciones</a:t>
            </a:r>
          </a:p>
        </p:txBody>
      </p:sp>
    </p:spTree>
    <p:extLst>
      <p:ext uri="{BB962C8B-B14F-4D97-AF65-F5344CB8AC3E}">
        <p14:creationId xmlns:p14="http://schemas.microsoft.com/office/powerpoint/2010/main" val="20413632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F688DF-D655-4A53-AF64-8D48290249D2}"/>
              </a:ext>
            </a:extLst>
          </p:cNvPr>
          <p:cNvSpPr txBox="1"/>
          <p:nvPr/>
        </p:nvSpPr>
        <p:spPr>
          <a:xfrm>
            <a:off x="663218" y="741151"/>
            <a:ext cx="985238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srgbClr val="000000"/>
                </a:solidFill>
                <a:effectLst/>
                <a:uLnTx/>
                <a:uFillTx/>
                <a:latin typeface="Montserrat SemiBold" pitchFamily="2" charset="0"/>
                <a:ea typeface="+mn-ea"/>
                <a:cs typeface="+mn-cs"/>
              </a:rPr>
              <a:t>Preguntas clave para hacer innovación de valor:</a:t>
            </a:r>
            <a:endParaRPr kumimoji="0" lang="es-CL" sz="2800" b="0" i="0" u="none" strike="noStrike" kern="1200" cap="none" spc="0" normalizeH="0" baseline="0" noProof="0" dirty="0">
              <a:ln>
                <a:noFill/>
              </a:ln>
              <a:solidFill>
                <a:srgbClr val="000000"/>
              </a:solidFill>
              <a:effectLst/>
              <a:uLnTx/>
              <a:uFillTx/>
              <a:latin typeface="Montserrat SemiBold" pitchFamily="2" charset="0"/>
              <a:ea typeface="+mn-ea"/>
              <a:cs typeface="+mn-cs"/>
            </a:endParaRPr>
          </a:p>
        </p:txBody>
      </p:sp>
      <p:sp>
        <p:nvSpPr>
          <p:cNvPr id="13" name="Text Placeholder 9">
            <a:extLst>
              <a:ext uri="{FF2B5EF4-FFF2-40B4-BE49-F238E27FC236}">
                <a16:creationId xmlns:a16="http://schemas.microsoft.com/office/drawing/2014/main" id="{0CEE559F-81E7-4B96-B224-AE3A60F69780}"/>
              </a:ext>
            </a:extLst>
          </p:cNvPr>
          <p:cNvSpPr txBox="1">
            <a:spLocks/>
          </p:cNvSpPr>
          <p:nvPr/>
        </p:nvSpPr>
        <p:spPr>
          <a:xfrm>
            <a:off x="1271491" y="3984833"/>
            <a:ext cx="4349944" cy="1965249"/>
          </a:xfrm>
          <a:prstGeom prst="rect">
            <a:avLst/>
          </a:prstGeom>
          <a:solidFill>
            <a:schemeClr val="accent3"/>
          </a:solidFill>
          <a:ln w="28575">
            <a:solidFill>
              <a:schemeClr val="bg1"/>
            </a:solidFill>
          </a:ln>
        </p:spPr>
        <p:txBody>
          <a:bodyPr vert="horz" lIns="648000" tIns="45720" rIns="503999" bIns="45720" rtlCol="0" anchor="ctr">
            <a:noAutofit/>
          </a:bodyPr>
          <a:lstStyle>
            <a:lvl1pPr marL="228600" indent="-228600" algn="l" defTabSz="914400" rtl="0" eaLnBrk="1" latinLnBrk="0" hangingPunct="1">
              <a:lnSpc>
                <a:spcPct val="90000"/>
              </a:lnSpc>
              <a:spcBef>
                <a:spcPts val="1000"/>
              </a:spcBef>
              <a:buClr>
                <a:srgbClr val="4FE14F"/>
              </a:buClr>
              <a:buFont typeface="Wingdings" pitchFamily="2" charset="2"/>
              <a:buChar char="§"/>
              <a:defRPr sz="2000" kern="1200">
                <a:solidFill>
                  <a:schemeClr val="bg2"/>
                </a:solidFill>
                <a:latin typeface="+mn-lt"/>
                <a:ea typeface="Open Sans SemiBold" panose="020B0706030804020204" pitchFamily="34" charset="0"/>
                <a:cs typeface="Open Sans SemiBold" panose="020B0706030804020204" pitchFamily="34" charset="0"/>
              </a:defRPr>
            </a:lvl1pPr>
            <a:lvl2pPr marL="685800" indent="-228600" algn="l" defTabSz="914400" rtl="0" eaLnBrk="1" latinLnBrk="0" hangingPunct="1">
              <a:lnSpc>
                <a:spcPct val="90000"/>
              </a:lnSpc>
              <a:spcBef>
                <a:spcPts val="500"/>
              </a:spcBef>
              <a:buClr>
                <a:srgbClr val="4FE14F"/>
              </a:buClr>
              <a:buFont typeface="Wingdings" pitchFamily="2" charset="2"/>
              <a:buChar char="§"/>
              <a:defRPr sz="18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Clr>
                <a:srgbClr val="4FE14F"/>
              </a:buClr>
              <a:buFont typeface="Wingdings" pitchFamily="2" charset="2"/>
              <a:buChar char="§"/>
              <a:defRPr sz="16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Clr>
                <a:srgbClr val="4FE14F"/>
              </a:buClr>
              <a:buFont typeface="Wingdings" pitchFamily="2" charset="2"/>
              <a:buChar char="§"/>
              <a:defRPr sz="14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Clr>
                <a:srgbClr val="4FE14F"/>
              </a:buClr>
              <a:buFont typeface="Wingdings" pitchFamily="2" charset="2"/>
              <a:buChar char="§"/>
              <a:defRPr sz="1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4FE14F"/>
              </a:buClr>
              <a:buSzTx/>
              <a:buFont typeface="Wingdings" pitchFamily="2" charset="2"/>
              <a:buNone/>
              <a:tabLst/>
              <a:defRPr/>
            </a:pPr>
            <a:r>
              <a:rPr kumimoji="0" lang="es-CL" sz="1400" b="0" i="0" u="none" strike="noStrike" kern="1200" cap="none" spc="0" normalizeH="0" baseline="0" noProof="0" dirty="0">
                <a:ln>
                  <a:noFill/>
                </a:ln>
                <a:solidFill>
                  <a:srgbClr val="FFFFFF"/>
                </a:solidFill>
                <a:effectLst/>
                <a:uLnTx/>
                <a:uFillTx/>
                <a:latin typeface="Raleway"/>
                <a:ea typeface="Open Sans SemiBold" panose="020B0706030804020204" pitchFamily="34" charset="0"/>
                <a:cs typeface="Open Sans SemiBold" panose="020B0706030804020204" pitchFamily="34" charset="0"/>
              </a:rPr>
              <a:t>¿Qué factores podemos </a:t>
            </a:r>
            <a:r>
              <a:rPr kumimoji="0" lang="es-CL" sz="1400" b="1" i="0" u="none" strike="noStrike" kern="1200" cap="none" spc="0" normalizeH="0" baseline="0" noProof="0" dirty="0">
                <a:ln>
                  <a:noFill/>
                </a:ln>
                <a:solidFill>
                  <a:srgbClr val="79F7D5"/>
                </a:solidFill>
                <a:effectLst/>
                <a:uLnTx/>
                <a:uFillTx/>
                <a:latin typeface="Raleway"/>
                <a:ea typeface="Open Sans SemiBold" panose="020B0706030804020204" pitchFamily="34" charset="0"/>
                <a:cs typeface="Open Sans SemiBold" panose="020B0706030804020204" pitchFamily="34" charset="0"/>
              </a:rPr>
              <a:t>ELIMINAR</a:t>
            </a:r>
            <a:r>
              <a:rPr kumimoji="0" lang="es-CL" sz="1400" b="0" i="0" u="none" strike="noStrike" kern="1200" cap="none" spc="0" normalizeH="0" baseline="0" noProof="0" dirty="0">
                <a:ln>
                  <a:noFill/>
                </a:ln>
                <a:solidFill>
                  <a:srgbClr val="FFFFFF"/>
                </a:solidFill>
                <a:effectLst/>
                <a:uLnTx/>
                <a:uFillTx/>
                <a:latin typeface="Raleway"/>
                <a:ea typeface="Open Sans SemiBold" panose="020B0706030804020204" pitchFamily="34" charset="0"/>
                <a:cs typeface="Open Sans SemiBold" panose="020B0706030804020204" pitchFamily="34" charset="0"/>
              </a:rPr>
              <a:t> de la oferta?</a:t>
            </a:r>
          </a:p>
          <a:p>
            <a:pPr marL="0" marR="0" lvl="0" indent="0" algn="l" defTabSz="914400" rtl="0" eaLnBrk="1" fontAlgn="auto" latinLnBrk="0" hangingPunct="1">
              <a:lnSpc>
                <a:spcPct val="90000"/>
              </a:lnSpc>
              <a:spcBef>
                <a:spcPts val="1000"/>
              </a:spcBef>
              <a:spcAft>
                <a:spcPts val="0"/>
              </a:spcAft>
              <a:buClr>
                <a:srgbClr val="4FE14F"/>
              </a:buClr>
              <a:buSzTx/>
              <a:buFont typeface="Wingdings" pitchFamily="2" charset="2"/>
              <a:buNone/>
              <a:tabLst/>
              <a:defRPr/>
            </a:pPr>
            <a:r>
              <a:rPr kumimoji="0" lang="es-CL" sz="1400" b="0" i="0" u="none" strike="noStrike" kern="1200" cap="none" spc="0" normalizeH="0" baseline="0" noProof="0" dirty="0">
                <a:ln>
                  <a:noFill/>
                </a:ln>
                <a:solidFill>
                  <a:srgbClr val="FFFFFF"/>
                </a:solidFill>
                <a:effectLst/>
                <a:uLnTx/>
                <a:uFillTx/>
                <a:latin typeface="Raleway"/>
                <a:ea typeface="Open Sans SemiBold" panose="020B0706030804020204" pitchFamily="34" charset="0"/>
                <a:cs typeface="Open Sans SemiBold" panose="020B0706030804020204" pitchFamily="34" charset="0"/>
              </a:rPr>
              <a:t>Algo que el cliente no quiere o no necesita y debemos sacar de nuestro producto o servicio, ya que el cliente lo percibe como negativo, o tenerlo o no tenerlo da realmente igual.</a:t>
            </a:r>
          </a:p>
        </p:txBody>
      </p:sp>
      <p:sp>
        <p:nvSpPr>
          <p:cNvPr id="14" name="Oval 7">
            <a:extLst>
              <a:ext uri="{FF2B5EF4-FFF2-40B4-BE49-F238E27FC236}">
                <a16:creationId xmlns:a16="http://schemas.microsoft.com/office/drawing/2014/main" id="{15069A51-6EB4-4554-A412-9618BD003387}"/>
              </a:ext>
            </a:extLst>
          </p:cNvPr>
          <p:cNvSpPr/>
          <p:nvPr/>
        </p:nvSpPr>
        <p:spPr>
          <a:xfrm>
            <a:off x="663218" y="3905800"/>
            <a:ext cx="1041613" cy="100846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4000" b="1" i="0" u="none" strike="noStrike" kern="1200" cap="none" spc="0" normalizeH="0" baseline="0" noProof="0" dirty="0">
                <a:ln>
                  <a:noFill/>
                </a:ln>
                <a:solidFill>
                  <a:srgbClr val="4E696D"/>
                </a:solidFill>
                <a:effectLst/>
                <a:uLnTx/>
                <a:uFillTx/>
                <a:latin typeface="Montserrat ExtraBold"/>
                <a:ea typeface="+mn-ea"/>
                <a:cs typeface="+mn-cs"/>
              </a:rPr>
              <a:t>E</a:t>
            </a:r>
          </a:p>
        </p:txBody>
      </p:sp>
      <p:sp>
        <p:nvSpPr>
          <p:cNvPr id="15" name="Text Placeholder 9">
            <a:extLst>
              <a:ext uri="{FF2B5EF4-FFF2-40B4-BE49-F238E27FC236}">
                <a16:creationId xmlns:a16="http://schemas.microsoft.com/office/drawing/2014/main" id="{ADF6EF54-4282-4355-B445-CA066D3D2DEE}"/>
              </a:ext>
            </a:extLst>
          </p:cNvPr>
          <p:cNvSpPr txBox="1">
            <a:spLocks/>
          </p:cNvSpPr>
          <p:nvPr/>
        </p:nvSpPr>
        <p:spPr>
          <a:xfrm>
            <a:off x="6708678" y="1729200"/>
            <a:ext cx="4774941" cy="1938449"/>
          </a:xfrm>
          <a:prstGeom prst="rect">
            <a:avLst/>
          </a:prstGeom>
          <a:solidFill>
            <a:schemeClr val="accent3"/>
          </a:solidFill>
          <a:ln w="28575">
            <a:solidFill>
              <a:schemeClr val="bg1"/>
            </a:solidFill>
          </a:ln>
        </p:spPr>
        <p:txBody>
          <a:bodyPr vert="horz" lIns="648000" tIns="45720" rIns="503999" bIns="45720" rtlCol="0" anchor="ctr">
            <a:noAutofit/>
          </a:bodyPr>
          <a:lstStyle>
            <a:lvl1pPr marL="228600" indent="-228600" algn="l" defTabSz="914400" rtl="0" eaLnBrk="1" latinLnBrk="0" hangingPunct="1">
              <a:lnSpc>
                <a:spcPct val="90000"/>
              </a:lnSpc>
              <a:spcBef>
                <a:spcPts val="1000"/>
              </a:spcBef>
              <a:buClr>
                <a:srgbClr val="4FE14F"/>
              </a:buClr>
              <a:buFont typeface="Wingdings" pitchFamily="2" charset="2"/>
              <a:buChar char="§"/>
              <a:defRPr sz="2000" kern="1200">
                <a:solidFill>
                  <a:schemeClr val="bg2"/>
                </a:solidFill>
                <a:latin typeface="+mn-lt"/>
                <a:ea typeface="Open Sans SemiBold" panose="020B0706030804020204" pitchFamily="34" charset="0"/>
                <a:cs typeface="Open Sans SemiBold" panose="020B0706030804020204" pitchFamily="34" charset="0"/>
              </a:defRPr>
            </a:lvl1pPr>
            <a:lvl2pPr marL="685800" indent="-228600" algn="l" defTabSz="914400" rtl="0" eaLnBrk="1" latinLnBrk="0" hangingPunct="1">
              <a:lnSpc>
                <a:spcPct val="90000"/>
              </a:lnSpc>
              <a:spcBef>
                <a:spcPts val="500"/>
              </a:spcBef>
              <a:buClr>
                <a:srgbClr val="4FE14F"/>
              </a:buClr>
              <a:buFont typeface="Wingdings" pitchFamily="2" charset="2"/>
              <a:buChar char="§"/>
              <a:defRPr sz="18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Clr>
                <a:srgbClr val="4FE14F"/>
              </a:buClr>
              <a:buFont typeface="Wingdings" pitchFamily="2" charset="2"/>
              <a:buChar char="§"/>
              <a:defRPr sz="16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Clr>
                <a:srgbClr val="4FE14F"/>
              </a:buClr>
              <a:buFont typeface="Wingdings" pitchFamily="2" charset="2"/>
              <a:buChar char="§"/>
              <a:defRPr sz="14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Clr>
                <a:srgbClr val="4FE14F"/>
              </a:buClr>
              <a:buFont typeface="Wingdings" pitchFamily="2" charset="2"/>
              <a:buChar char="§"/>
              <a:defRPr sz="1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4FE14F"/>
              </a:buClr>
              <a:buSzTx/>
              <a:buFont typeface="Wingdings" pitchFamily="2" charset="2"/>
              <a:buNone/>
              <a:tabLst/>
              <a:defRPr/>
            </a:pPr>
            <a:r>
              <a:rPr kumimoji="0" lang="es-CL" sz="1400" b="0" i="0" u="none" strike="noStrike" kern="1200" cap="none" spc="0" normalizeH="0" baseline="0" noProof="0" dirty="0">
                <a:ln>
                  <a:noFill/>
                </a:ln>
                <a:solidFill>
                  <a:srgbClr val="FFFFFF"/>
                </a:solidFill>
                <a:effectLst/>
                <a:uLnTx/>
                <a:uFillTx/>
                <a:latin typeface="Raleway"/>
                <a:ea typeface="Open Sans SemiBold" panose="020B0706030804020204" pitchFamily="34" charset="0"/>
                <a:cs typeface="Open Sans SemiBold" panose="020B0706030804020204" pitchFamily="34" charset="0"/>
              </a:rPr>
              <a:t>¿Qué factores podemos </a:t>
            </a:r>
            <a:r>
              <a:rPr kumimoji="0" lang="es-CL" sz="1400" b="1" i="0" u="none" strike="noStrike" kern="1200" cap="none" spc="0" normalizeH="0" baseline="0" noProof="0" dirty="0">
                <a:ln>
                  <a:noFill/>
                </a:ln>
                <a:solidFill>
                  <a:srgbClr val="79F7D5"/>
                </a:solidFill>
                <a:effectLst/>
                <a:uLnTx/>
                <a:uFillTx/>
                <a:latin typeface="Raleway"/>
                <a:ea typeface="Open Sans SemiBold" panose="020B0706030804020204" pitchFamily="34" charset="0"/>
                <a:cs typeface="Open Sans SemiBold" panose="020B0706030804020204" pitchFamily="34" charset="0"/>
              </a:rPr>
              <a:t>REDUCIR</a:t>
            </a:r>
            <a:r>
              <a:rPr kumimoji="0" lang="es-CL" sz="1400" b="0" i="0" u="none" strike="noStrike" kern="1200" cap="none" spc="0" normalizeH="0" baseline="0" noProof="0" dirty="0">
                <a:ln>
                  <a:noFill/>
                </a:ln>
                <a:solidFill>
                  <a:srgbClr val="FFFFFF"/>
                </a:solidFill>
                <a:effectLst/>
                <a:uLnTx/>
                <a:uFillTx/>
                <a:latin typeface="Raleway"/>
                <a:ea typeface="Open Sans SemiBold" panose="020B0706030804020204" pitchFamily="34" charset="0"/>
                <a:cs typeface="Open Sans SemiBold" panose="020B0706030804020204" pitchFamily="34" charset="0"/>
              </a:rPr>
              <a:t> respecto a los estándares de la industria? </a:t>
            </a:r>
          </a:p>
          <a:p>
            <a:pPr marL="0" marR="0" lvl="0" indent="0" algn="l" defTabSz="914400" rtl="0" eaLnBrk="1" fontAlgn="auto" latinLnBrk="0" hangingPunct="1">
              <a:lnSpc>
                <a:spcPct val="90000"/>
              </a:lnSpc>
              <a:spcBef>
                <a:spcPts val="1000"/>
              </a:spcBef>
              <a:spcAft>
                <a:spcPts val="0"/>
              </a:spcAft>
              <a:buClr>
                <a:srgbClr val="4FE14F"/>
              </a:buClr>
              <a:buSzTx/>
              <a:buFont typeface="Wingdings" pitchFamily="2" charset="2"/>
              <a:buNone/>
              <a:tabLst/>
              <a:defRPr/>
            </a:pPr>
            <a:r>
              <a:rPr kumimoji="0" lang="es-CL" sz="1400" b="0" i="0" u="none" strike="noStrike" kern="1200" cap="none" spc="0" normalizeH="0" baseline="0" noProof="0" dirty="0">
                <a:ln>
                  <a:noFill/>
                </a:ln>
                <a:solidFill>
                  <a:srgbClr val="FFFFFF"/>
                </a:solidFill>
                <a:effectLst/>
                <a:uLnTx/>
                <a:uFillTx/>
                <a:latin typeface="Raleway"/>
                <a:ea typeface="Open Sans SemiBold" panose="020B0706030804020204" pitchFamily="34" charset="0"/>
                <a:cs typeface="Open Sans SemiBold" panose="020B0706030804020204" pitchFamily="34" charset="0"/>
              </a:rPr>
              <a:t>Algo que nuestro producto o servicio tiene y que no debemos eliminar, si no que simplemente reducirlo de alguna forma, teniendo en cuenta que el cliente no lo necesita tan acentuado o por que darle mucha relevancia no aporta valor adicional.</a:t>
            </a:r>
          </a:p>
        </p:txBody>
      </p:sp>
      <p:sp>
        <p:nvSpPr>
          <p:cNvPr id="16" name="Oval 7">
            <a:extLst>
              <a:ext uri="{FF2B5EF4-FFF2-40B4-BE49-F238E27FC236}">
                <a16:creationId xmlns:a16="http://schemas.microsoft.com/office/drawing/2014/main" id="{29BB60AB-48B9-4B15-8E76-55677BE70CE1}"/>
              </a:ext>
            </a:extLst>
          </p:cNvPr>
          <p:cNvSpPr/>
          <p:nvPr/>
        </p:nvSpPr>
        <p:spPr>
          <a:xfrm>
            <a:off x="6100405" y="1650167"/>
            <a:ext cx="1041613" cy="100846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4000" b="1" i="0" u="none" strike="noStrike" kern="1200" cap="none" spc="0" normalizeH="0" baseline="0" noProof="0" dirty="0">
                <a:ln>
                  <a:noFill/>
                </a:ln>
                <a:solidFill>
                  <a:srgbClr val="4E696D"/>
                </a:solidFill>
                <a:effectLst/>
                <a:uLnTx/>
                <a:uFillTx/>
                <a:latin typeface="Montserrat ExtraBold"/>
                <a:ea typeface="+mn-ea"/>
                <a:cs typeface="+mn-cs"/>
              </a:rPr>
              <a:t>R</a:t>
            </a:r>
          </a:p>
        </p:txBody>
      </p:sp>
      <p:sp>
        <p:nvSpPr>
          <p:cNvPr id="17" name="Text Placeholder 9">
            <a:extLst>
              <a:ext uri="{FF2B5EF4-FFF2-40B4-BE49-F238E27FC236}">
                <a16:creationId xmlns:a16="http://schemas.microsoft.com/office/drawing/2014/main" id="{F7CFA0A2-3F88-4E29-8997-80BE249562F3}"/>
              </a:ext>
            </a:extLst>
          </p:cNvPr>
          <p:cNvSpPr txBox="1">
            <a:spLocks/>
          </p:cNvSpPr>
          <p:nvPr/>
        </p:nvSpPr>
        <p:spPr>
          <a:xfrm>
            <a:off x="1271491" y="1702400"/>
            <a:ext cx="4349944" cy="1965249"/>
          </a:xfrm>
          <a:prstGeom prst="rect">
            <a:avLst/>
          </a:prstGeom>
          <a:solidFill>
            <a:schemeClr val="accent3"/>
          </a:solidFill>
          <a:ln w="28575">
            <a:solidFill>
              <a:schemeClr val="bg1"/>
            </a:solidFill>
          </a:ln>
        </p:spPr>
        <p:txBody>
          <a:bodyPr vert="horz" lIns="648000" tIns="45720" rIns="503999" bIns="45720" rtlCol="0" anchor="ctr">
            <a:noAutofit/>
          </a:bodyPr>
          <a:lstStyle>
            <a:lvl1pPr marL="228600" indent="-228600" algn="l" defTabSz="914400" rtl="0" eaLnBrk="1" latinLnBrk="0" hangingPunct="1">
              <a:lnSpc>
                <a:spcPct val="90000"/>
              </a:lnSpc>
              <a:spcBef>
                <a:spcPts val="1000"/>
              </a:spcBef>
              <a:buClr>
                <a:srgbClr val="4FE14F"/>
              </a:buClr>
              <a:buFont typeface="Wingdings" pitchFamily="2" charset="2"/>
              <a:buChar char="§"/>
              <a:defRPr sz="2000" kern="1200">
                <a:solidFill>
                  <a:schemeClr val="bg2"/>
                </a:solidFill>
                <a:latin typeface="+mn-lt"/>
                <a:ea typeface="Open Sans SemiBold" panose="020B0706030804020204" pitchFamily="34" charset="0"/>
                <a:cs typeface="Open Sans SemiBold" panose="020B0706030804020204" pitchFamily="34" charset="0"/>
              </a:defRPr>
            </a:lvl1pPr>
            <a:lvl2pPr marL="685800" indent="-228600" algn="l" defTabSz="914400" rtl="0" eaLnBrk="1" latinLnBrk="0" hangingPunct="1">
              <a:lnSpc>
                <a:spcPct val="90000"/>
              </a:lnSpc>
              <a:spcBef>
                <a:spcPts val="500"/>
              </a:spcBef>
              <a:buClr>
                <a:srgbClr val="4FE14F"/>
              </a:buClr>
              <a:buFont typeface="Wingdings" pitchFamily="2" charset="2"/>
              <a:buChar char="§"/>
              <a:defRPr sz="18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Clr>
                <a:srgbClr val="4FE14F"/>
              </a:buClr>
              <a:buFont typeface="Wingdings" pitchFamily="2" charset="2"/>
              <a:buChar char="§"/>
              <a:defRPr sz="16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Clr>
                <a:srgbClr val="4FE14F"/>
              </a:buClr>
              <a:buFont typeface="Wingdings" pitchFamily="2" charset="2"/>
              <a:buChar char="§"/>
              <a:defRPr sz="14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Clr>
                <a:srgbClr val="4FE14F"/>
              </a:buClr>
              <a:buFont typeface="Wingdings" pitchFamily="2" charset="2"/>
              <a:buChar char="§"/>
              <a:defRPr sz="1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4FE14F"/>
              </a:buClr>
              <a:buSzTx/>
              <a:buFont typeface="Wingdings" pitchFamily="2" charset="2"/>
              <a:buNone/>
              <a:tabLst/>
              <a:defRPr/>
            </a:pPr>
            <a:r>
              <a:rPr kumimoji="0" lang="es-CL" sz="1400" b="0" i="0" u="none" strike="noStrike" kern="1200" cap="none" spc="0" normalizeH="0" baseline="0" noProof="0" dirty="0">
                <a:ln>
                  <a:noFill/>
                </a:ln>
                <a:solidFill>
                  <a:srgbClr val="FFFFFF"/>
                </a:solidFill>
                <a:effectLst/>
                <a:uLnTx/>
                <a:uFillTx/>
                <a:latin typeface="Raleway"/>
                <a:ea typeface="Open Sans SemiBold" panose="020B0706030804020204" pitchFamily="34" charset="0"/>
                <a:cs typeface="Open Sans SemiBold" panose="020B0706030804020204" pitchFamily="34" charset="0"/>
              </a:rPr>
              <a:t>¿Qué factores que la industria no haya ofrecido podemos</a:t>
            </a:r>
            <a:r>
              <a:rPr kumimoji="0" lang="es-CL" sz="1400" b="0" i="0" u="none" strike="noStrike" kern="1200" cap="none" spc="0" normalizeH="0" baseline="0" noProof="0" dirty="0">
                <a:ln>
                  <a:noFill/>
                </a:ln>
                <a:solidFill>
                  <a:srgbClr val="79F7D5"/>
                </a:solidFill>
                <a:effectLst/>
                <a:uLnTx/>
                <a:uFillTx/>
                <a:latin typeface="Raleway"/>
                <a:ea typeface="Open Sans SemiBold" panose="020B0706030804020204" pitchFamily="34" charset="0"/>
                <a:cs typeface="Open Sans SemiBold" panose="020B0706030804020204" pitchFamily="34" charset="0"/>
              </a:rPr>
              <a:t> </a:t>
            </a:r>
            <a:r>
              <a:rPr kumimoji="0" lang="es-CL" sz="1400" b="1" i="0" u="none" strike="noStrike" kern="1200" cap="none" spc="0" normalizeH="0" baseline="0" noProof="0" dirty="0">
                <a:ln>
                  <a:noFill/>
                </a:ln>
                <a:solidFill>
                  <a:srgbClr val="79F7D5"/>
                </a:solidFill>
                <a:effectLst/>
                <a:uLnTx/>
                <a:uFillTx/>
                <a:latin typeface="Raleway"/>
                <a:ea typeface="Open Sans SemiBold" panose="020B0706030804020204" pitchFamily="34" charset="0"/>
                <a:cs typeface="Open Sans SemiBold" panose="020B0706030804020204" pitchFamily="34" charset="0"/>
              </a:rPr>
              <a:t>CREAR</a:t>
            </a:r>
            <a:r>
              <a:rPr kumimoji="0" lang="es-CL" sz="1400" b="0" i="0" u="none" strike="noStrike" kern="1200" cap="none" spc="0" normalizeH="0" baseline="0" noProof="0" dirty="0">
                <a:ln>
                  <a:noFill/>
                </a:ln>
                <a:solidFill>
                  <a:srgbClr val="FFFFFF"/>
                </a:solidFill>
                <a:effectLst/>
                <a:uLnTx/>
                <a:uFillTx/>
                <a:latin typeface="Raleway"/>
                <a:ea typeface="Open Sans SemiBold" panose="020B0706030804020204" pitchFamily="34" charset="0"/>
                <a:cs typeface="Open Sans SemiBold" panose="020B0706030804020204" pitchFamily="34" charset="0"/>
              </a:rPr>
              <a:t>?</a:t>
            </a:r>
          </a:p>
          <a:p>
            <a:pPr marL="0" marR="0" lvl="0" indent="0" algn="l" defTabSz="914400" rtl="0" eaLnBrk="1" fontAlgn="auto" latinLnBrk="0" hangingPunct="1">
              <a:lnSpc>
                <a:spcPct val="90000"/>
              </a:lnSpc>
              <a:spcBef>
                <a:spcPts val="1000"/>
              </a:spcBef>
              <a:spcAft>
                <a:spcPts val="0"/>
              </a:spcAft>
              <a:buClr>
                <a:srgbClr val="4FE14F"/>
              </a:buClr>
              <a:buSzTx/>
              <a:buFont typeface="Wingdings" pitchFamily="2" charset="2"/>
              <a:buNone/>
              <a:tabLst/>
              <a:defRPr/>
            </a:pPr>
            <a:r>
              <a:rPr kumimoji="0" lang="es-CL" sz="1400" b="0" i="0" u="none" strike="noStrike" kern="1200" cap="none" spc="0" normalizeH="0" baseline="0" noProof="0" dirty="0">
                <a:ln>
                  <a:noFill/>
                </a:ln>
                <a:solidFill>
                  <a:srgbClr val="FFFFFF"/>
                </a:solidFill>
                <a:effectLst/>
                <a:uLnTx/>
                <a:uFillTx/>
                <a:latin typeface="Raleway"/>
                <a:ea typeface="Open Sans SemiBold" panose="020B0706030804020204" pitchFamily="34" charset="0"/>
                <a:cs typeface="Open Sans SemiBold" panose="020B0706030804020204" pitchFamily="34" charset="0"/>
              </a:rPr>
              <a:t>Algo que el cliente busca, no tenemos y debemos integrar, ya sea trayendo a nuestra solución algo que otro ya tiene o creando algo que no existe y es clave.</a:t>
            </a:r>
          </a:p>
        </p:txBody>
      </p:sp>
      <p:sp>
        <p:nvSpPr>
          <p:cNvPr id="18" name="Oval 7">
            <a:extLst>
              <a:ext uri="{FF2B5EF4-FFF2-40B4-BE49-F238E27FC236}">
                <a16:creationId xmlns:a16="http://schemas.microsoft.com/office/drawing/2014/main" id="{0D2CA6B3-7566-4C7A-8421-7BCE82444C5F}"/>
              </a:ext>
            </a:extLst>
          </p:cNvPr>
          <p:cNvSpPr/>
          <p:nvPr/>
        </p:nvSpPr>
        <p:spPr>
          <a:xfrm>
            <a:off x="663218" y="1626573"/>
            <a:ext cx="1041613" cy="100846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4000" b="1" i="0" u="none" strike="noStrike" kern="1200" cap="none" spc="0" normalizeH="0" baseline="0" noProof="0" dirty="0">
                <a:ln>
                  <a:noFill/>
                </a:ln>
                <a:solidFill>
                  <a:srgbClr val="4E696D"/>
                </a:solidFill>
                <a:effectLst/>
                <a:uLnTx/>
                <a:uFillTx/>
                <a:latin typeface="Montserrat ExtraBold"/>
                <a:ea typeface="+mn-ea"/>
                <a:cs typeface="+mn-cs"/>
              </a:rPr>
              <a:t>C</a:t>
            </a:r>
          </a:p>
        </p:txBody>
      </p:sp>
      <p:sp>
        <p:nvSpPr>
          <p:cNvPr id="19" name="Text Placeholder 9">
            <a:extLst>
              <a:ext uri="{FF2B5EF4-FFF2-40B4-BE49-F238E27FC236}">
                <a16:creationId xmlns:a16="http://schemas.microsoft.com/office/drawing/2014/main" id="{4E4F0B7A-0967-4BF7-B275-30CC7A8BC2B4}"/>
              </a:ext>
            </a:extLst>
          </p:cNvPr>
          <p:cNvSpPr txBox="1">
            <a:spLocks/>
          </p:cNvSpPr>
          <p:nvPr/>
        </p:nvSpPr>
        <p:spPr>
          <a:xfrm>
            <a:off x="6708678" y="3995055"/>
            <a:ext cx="4774941" cy="1965249"/>
          </a:xfrm>
          <a:prstGeom prst="rect">
            <a:avLst/>
          </a:prstGeom>
          <a:solidFill>
            <a:schemeClr val="accent3"/>
          </a:solidFill>
          <a:ln w="28575">
            <a:solidFill>
              <a:schemeClr val="bg1"/>
            </a:solidFill>
          </a:ln>
        </p:spPr>
        <p:txBody>
          <a:bodyPr vert="horz" lIns="648000" tIns="45720" rIns="503999" bIns="45720" rtlCol="0" anchor="ctr">
            <a:noAutofit/>
          </a:bodyPr>
          <a:lstStyle>
            <a:lvl1pPr marL="228600" indent="-228600" algn="l" defTabSz="914400" rtl="0" eaLnBrk="1" latinLnBrk="0" hangingPunct="1">
              <a:lnSpc>
                <a:spcPct val="90000"/>
              </a:lnSpc>
              <a:spcBef>
                <a:spcPts val="1000"/>
              </a:spcBef>
              <a:buClr>
                <a:srgbClr val="4FE14F"/>
              </a:buClr>
              <a:buFont typeface="Wingdings" pitchFamily="2" charset="2"/>
              <a:buChar char="§"/>
              <a:defRPr sz="2000" kern="1200">
                <a:solidFill>
                  <a:schemeClr val="bg2"/>
                </a:solidFill>
                <a:latin typeface="+mn-lt"/>
                <a:ea typeface="Open Sans SemiBold" panose="020B0706030804020204" pitchFamily="34" charset="0"/>
                <a:cs typeface="Open Sans SemiBold" panose="020B0706030804020204" pitchFamily="34" charset="0"/>
              </a:defRPr>
            </a:lvl1pPr>
            <a:lvl2pPr marL="685800" indent="-228600" algn="l" defTabSz="914400" rtl="0" eaLnBrk="1" latinLnBrk="0" hangingPunct="1">
              <a:lnSpc>
                <a:spcPct val="90000"/>
              </a:lnSpc>
              <a:spcBef>
                <a:spcPts val="500"/>
              </a:spcBef>
              <a:buClr>
                <a:srgbClr val="4FE14F"/>
              </a:buClr>
              <a:buFont typeface="Wingdings" pitchFamily="2" charset="2"/>
              <a:buChar char="§"/>
              <a:defRPr sz="18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Clr>
                <a:srgbClr val="4FE14F"/>
              </a:buClr>
              <a:buFont typeface="Wingdings" pitchFamily="2" charset="2"/>
              <a:buChar char="§"/>
              <a:defRPr sz="16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Clr>
                <a:srgbClr val="4FE14F"/>
              </a:buClr>
              <a:buFont typeface="Wingdings" pitchFamily="2" charset="2"/>
              <a:buChar char="§"/>
              <a:defRPr sz="14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Clr>
                <a:srgbClr val="4FE14F"/>
              </a:buClr>
              <a:buFont typeface="Wingdings" pitchFamily="2" charset="2"/>
              <a:buChar char="§"/>
              <a:defRPr sz="1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4FE14F"/>
              </a:buClr>
              <a:buSzTx/>
              <a:buFont typeface="Wingdings" pitchFamily="2" charset="2"/>
              <a:buNone/>
              <a:tabLst/>
              <a:defRPr/>
            </a:pPr>
            <a:r>
              <a:rPr kumimoji="0" lang="es-CL" sz="1400" b="0" i="0" u="none" strike="noStrike" kern="1200" cap="none" spc="0" normalizeH="0" baseline="0" noProof="0">
                <a:ln>
                  <a:noFill/>
                </a:ln>
                <a:solidFill>
                  <a:srgbClr val="FFFFFF"/>
                </a:solidFill>
                <a:effectLst/>
                <a:uLnTx/>
                <a:uFillTx/>
                <a:latin typeface="Raleway"/>
                <a:ea typeface="Open Sans SemiBold" panose="020B0706030804020204" pitchFamily="34" charset="0"/>
                <a:cs typeface="Open Sans SemiBold" panose="020B0706030804020204" pitchFamily="34" charset="0"/>
              </a:rPr>
              <a:t>¿Qué factores podemos </a:t>
            </a:r>
            <a:r>
              <a:rPr kumimoji="0" lang="es-CL" sz="1400" b="1" i="0" u="none" strike="noStrike" kern="1200" cap="none" spc="0" normalizeH="0" baseline="0" noProof="0">
                <a:ln>
                  <a:noFill/>
                </a:ln>
                <a:solidFill>
                  <a:srgbClr val="79F7D5"/>
                </a:solidFill>
                <a:effectLst/>
                <a:uLnTx/>
                <a:uFillTx/>
                <a:latin typeface="Raleway"/>
                <a:ea typeface="Open Sans SemiBold" panose="020B0706030804020204" pitchFamily="34" charset="0"/>
                <a:cs typeface="Open Sans SemiBold" panose="020B0706030804020204" pitchFamily="34" charset="0"/>
              </a:rPr>
              <a:t>AUMENTAR</a:t>
            </a:r>
            <a:r>
              <a:rPr kumimoji="0" lang="es-CL" sz="1400" b="0" i="0" u="none" strike="noStrike" kern="1200" cap="none" spc="0" normalizeH="0" baseline="0" noProof="0">
                <a:ln>
                  <a:noFill/>
                </a:ln>
                <a:solidFill>
                  <a:srgbClr val="FFFFFF"/>
                </a:solidFill>
                <a:effectLst/>
                <a:uLnTx/>
                <a:uFillTx/>
                <a:latin typeface="Raleway"/>
                <a:ea typeface="Open Sans SemiBold" panose="020B0706030804020204" pitchFamily="34" charset="0"/>
                <a:cs typeface="Open Sans SemiBold" panose="020B0706030804020204" pitchFamily="34" charset="0"/>
              </a:rPr>
              <a:t> para generar mayor diferenciación?</a:t>
            </a:r>
          </a:p>
          <a:p>
            <a:pPr marL="0" marR="0" lvl="0" indent="0" algn="l" defTabSz="914400" rtl="0" eaLnBrk="1" fontAlgn="auto" latinLnBrk="0" hangingPunct="1">
              <a:lnSpc>
                <a:spcPct val="90000"/>
              </a:lnSpc>
              <a:spcBef>
                <a:spcPts val="1000"/>
              </a:spcBef>
              <a:spcAft>
                <a:spcPts val="0"/>
              </a:spcAft>
              <a:buClr>
                <a:srgbClr val="4FE14F"/>
              </a:buClr>
              <a:buSzTx/>
              <a:buFont typeface="Wingdings" pitchFamily="2" charset="2"/>
              <a:buNone/>
              <a:tabLst/>
              <a:defRPr/>
            </a:pPr>
            <a:r>
              <a:rPr kumimoji="0" lang="es-CL" sz="1400" b="0" i="0" u="none" strike="noStrike" kern="1200" cap="none" spc="0" normalizeH="0" baseline="0" noProof="0">
                <a:ln>
                  <a:noFill/>
                </a:ln>
                <a:solidFill>
                  <a:srgbClr val="FFFFFF"/>
                </a:solidFill>
                <a:effectLst/>
                <a:uLnTx/>
                <a:uFillTx/>
                <a:latin typeface="Raleway"/>
                <a:ea typeface="Open Sans SemiBold" panose="020B0706030804020204" pitchFamily="34" charset="0"/>
                <a:cs typeface="Open Sans SemiBold" panose="020B0706030804020204" pitchFamily="34" charset="0"/>
              </a:rPr>
              <a:t>Algo que nuestro producto o servicio tiene y que no debemos crear, si no que simplemente aumentarlo o mejorarlo, porque para nuestro cliente no es suficiente de la forma actual.</a:t>
            </a:r>
            <a:endParaRPr kumimoji="0" lang="es-CL" sz="1400" b="0" i="0" u="none" strike="noStrike" kern="1200" cap="none" spc="0" normalizeH="0" baseline="0" noProof="0" dirty="0">
              <a:ln>
                <a:noFill/>
              </a:ln>
              <a:solidFill>
                <a:srgbClr val="FFFFFF"/>
              </a:solidFill>
              <a:effectLst/>
              <a:uLnTx/>
              <a:uFillTx/>
              <a:latin typeface="Raleway"/>
              <a:ea typeface="Open Sans SemiBold" panose="020B0706030804020204" pitchFamily="34" charset="0"/>
              <a:cs typeface="Open Sans SemiBold" panose="020B0706030804020204" pitchFamily="34" charset="0"/>
            </a:endParaRPr>
          </a:p>
        </p:txBody>
      </p:sp>
      <p:sp>
        <p:nvSpPr>
          <p:cNvPr id="20" name="Oval 7">
            <a:extLst>
              <a:ext uri="{FF2B5EF4-FFF2-40B4-BE49-F238E27FC236}">
                <a16:creationId xmlns:a16="http://schemas.microsoft.com/office/drawing/2014/main" id="{87AF0DEC-F04F-4B69-8567-D6FB205A7930}"/>
              </a:ext>
            </a:extLst>
          </p:cNvPr>
          <p:cNvSpPr/>
          <p:nvPr/>
        </p:nvSpPr>
        <p:spPr>
          <a:xfrm>
            <a:off x="6100405" y="3916022"/>
            <a:ext cx="989312" cy="100846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4000" b="1" i="0" u="none" strike="noStrike" kern="1200" cap="none" spc="0" normalizeH="0" baseline="0" noProof="0" dirty="0">
                <a:ln>
                  <a:noFill/>
                </a:ln>
                <a:solidFill>
                  <a:srgbClr val="4E696D"/>
                </a:solidFill>
                <a:effectLst/>
                <a:uLnTx/>
                <a:uFillTx/>
                <a:latin typeface="Montserrat ExtraBold"/>
                <a:ea typeface="+mn-ea"/>
                <a:cs typeface="+mn-cs"/>
              </a:rPr>
              <a:t>A</a:t>
            </a:r>
          </a:p>
        </p:txBody>
      </p:sp>
    </p:spTree>
    <p:extLst>
      <p:ext uri="{BB962C8B-B14F-4D97-AF65-F5344CB8AC3E}">
        <p14:creationId xmlns:p14="http://schemas.microsoft.com/office/powerpoint/2010/main" val="13947684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F688DF-D655-4A53-AF64-8D48290249D2}"/>
              </a:ext>
            </a:extLst>
          </p:cNvPr>
          <p:cNvSpPr txBox="1"/>
          <p:nvPr/>
        </p:nvSpPr>
        <p:spPr>
          <a:xfrm>
            <a:off x="663218" y="534355"/>
            <a:ext cx="985238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srgbClr val="000000"/>
                </a:solidFill>
                <a:effectLst/>
                <a:uLnTx/>
                <a:uFillTx/>
                <a:latin typeface="Montserrat SemiBold" pitchFamily="2" charset="0"/>
                <a:ea typeface="+mn-ea"/>
                <a:cs typeface="+mn-cs"/>
              </a:rPr>
              <a:t>Innovación de Valor </a:t>
            </a:r>
            <a:endParaRPr kumimoji="0" lang="es-CL" sz="2800" b="0" i="0" u="none" strike="noStrike" kern="1200" cap="none" spc="0" normalizeH="0" baseline="0" noProof="0" dirty="0">
              <a:ln>
                <a:noFill/>
              </a:ln>
              <a:solidFill>
                <a:srgbClr val="000000"/>
              </a:solidFill>
              <a:effectLst/>
              <a:uLnTx/>
              <a:uFillTx/>
              <a:latin typeface="Montserrat SemiBold" pitchFamily="2" charset="0"/>
              <a:ea typeface="+mn-ea"/>
              <a:cs typeface="+mn-cs"/>
            </a:endParaRPr>
          </a:p>
        </p:txBody>
      </p:sp>
      <p:sp>
        <p:nvSpPr>
          <p:cNvPr id="3" name="CuadroTexto 2">
            <a:extLst>
              <a:ext uri="{FF2B5EF4-FFF2-40B4-BE49-F238E27FC236}">
                <a16:creationId xmlns:a16="http://schemas.microsoft.com/office/drawing/2014/main" id="{77743C7C-F40B-4D42-AE0A-01927DA3CEA3}"/>
              </a:ext>
            </a:extLst>
          </p:cNvPr>
          <p:cNvSpPr txBox="1"/>
          <p:nvPr/>
        </p:nvSpPr>
        <p:spPr>
          <a:xfrm>
            <a:off x="663218" y="1243969"/>
            <a:ext cx="10865564"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dirty="0">
                <a:ln>
                  <a:noFill/>
                </a:ln>
                <a:solidFill>
                  <a:srgbClr val="000000"/>
                </a:solidFill>
                <a:effectLst/>
                <a:uLnTx/>
                <a:uFillTx/>
                <a:latin typeface="Avenir Next" panose="020B0503020202020204" pitchFamily="34" charset="0"/>
              </a:rPr>
              <a:t>En innovación de valor además de aumentar atributos que funcionan bien y reducir atributos que no son tan importantes, es necesario </a:t>
            </a:r>
            <a:r>
              <a:rPr kumimoji="0" lang="es-CL" sz="1200" b="1" i="0" u="none" strike="noStrike" kern="1200" cap="none" spc="0" normalizeH="0" baseline="0" noProof="0" dirty="0">
                <a:ln>
                  <a:noFill/>
                </a:ln>
                <a:solidFill>
                  <a:srgbClr val="000000"/>
                </a:solidFill>
                <a:effectLst/>
                <a:uLnTx/>
                <a:uFillTx/>
                <a:latin typeface="Avenir Next" panose="020B0503020202020204" pitchFamily="34" charset="0"/>
              </a:rPr>
              <a:t>crear elementos en la oferta que no existan y eliminar elementos que existan y se den por sentados en la industria, pero no que no sean necesarios (innovaciones)</a:t>
            </a:r>
            <a:r>
              <a:rPr kumimoji="0" lang="es-CL" sz="1200" b="0" i="0" u="none" strike="noStrike" kern="1200" cap="none" spc="0" normalizeH="0" baseline="0" noProof="0" dirty="0">
                <a:ln>
                  <a:noFill/>
                </a:ln>
                <a:solidFill>
                  <a:srgbClr val="000000"/>
                </a:solidFill>
                <a:effectLst/>
                <a:uLnTx/>
                <a:uFillTx/>
                <a:latin typeface="Avenir Next" panose="020B050302020202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200" b="0" i="0" u="none" strike="noStrike" kern="1200" cap="none" spc="0" normalizeH="0" baseline="0" noProof="0" dirty="0">
              <a:ln>
                <a:noFill/>
              </a:ln>
              <a:solidFill>
                <a:srgbClr val="000000"/>
              </a:solidFill>
              <a:effectLst/>
              <a:uLnTx/>
              <a:uFillTx/>
              <a:latin typeface="Avenir Next" panose="020B0503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dirty="0">
                <a:ln>
                  <a:noFill/>
                </a:ln>
                <a:solidFill>
                  <a:srgbClr val="000000"/>
                </a:solidFill>
                <a:effectLst/>
                <a:uLnTx/>
                <a:uFillTx/>
                <a:latin typeface="Avenir Next" panose="020B0503020202020204" pitchFamily="34" charset="0"/>
              </a:rPr>
              <a:t>Estos 2 elementos, la creación y la eliminación, </a:t>
            </a:r>
            <a:r>
              <a:rPr kumimoji="0" lang="es-CL" sz="1200" b="1" i="0" u="none" strike="noStrike" kern="1200" cap="none" spc="0" normalizeH="0" baseline="0" noProof="0" dirty="0">
                <a:ln>
                  <a:noFill/>
                </a:ln>
                <a:solidFill>
                  <a:srgbClr val="000000"/>
                </a:solidFill>
                <a:effectLst/>
                <a:uLnTx/>
                <a:uFillTx/>
                <a:latin typeface="Avenir Next" panose="020B0503020202020204" pitchFamily="34" charset="0"/>
              </a:rPr>
              <a:t>aglomeran la dificultad de encontrar oportunidades significativas y océanos azules</a:t>
            </a:r>
            <a:r>
              <a:rPr kumimoji="0" lang="es-CL" sz="1200" b="0" i="0" u="none" strike="noStrike" kern="1200" cap="none" spc="0" normalizeH="0" baseline="0" noProof="0" dirty="0">
                <a:ln>
                  <a:noFill/>
                </a:ln>
                <a:solidFill>
                  <a:srgbClr val="000000"/>
                </a:solidFill>
                <a:effectLst/>
                <a:uLnTx/>
                <a:uFillTx/>
                <a:latin typeface="Avenir Next" panose="020B0503020202020204" pitchFamily="34" charset="0"/>
              </a:rPr>
              <a:t>. Si eres capaz de identificar bien esto, puedes tener mayor éxito con el método.</a:t>
            </a:r>
          </a:p>
        </p:txBody>
      </p:sp>
      <p:pic>
        <p:nvPicPr>
          <p:cNvPr id="1026" name="Picture 2" descr="El Cirque Du Soleil renueva su imagen para convertirse en un grupo  multimarca — Brandemia">
            <a:extLst>
              <a:ext uri="{FF2B5EF4-FFF2-40B4-BE49-F238E27FC236}">
                <a16:creationId xmlns:a16="http://schemas.microsoft.com/office/drawing/2014/main" id="{85D43970-7003-05B9-AAE8-0E1FE30C42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9068" y="2684482"/>
            <a:ext cx="2394288" cy="16795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a Ford EcoSport® se Dejó de Fabricar | ¿Y Ahora Qué? | Ford.com">
            <a:extLst>
              <a:ext uri="{FF2B5EF4-FFF2-40B4-BE49-F238E27FC236}">
                <a16:creationId xmlns:a16="http://schemas.microsoft.com/office/drawing/2014/main" id="{B01F4559-FFFF-2D3B-4C2B-07B870B089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6379" y="2684482"/>
            <a:ext cx="2999241" cy="167957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Nerdstrong Gym Helps Geeks Level Up Their Fitness — WITHINGS BLOG">
            <a:extLst>
              <a:ext uri="{FF2B5EF4-FFF2-40B4-BE49-F238E27FC236}">
                <a16:creationId xmlns:a16="http://schemas.microsoft.com/office/drawing/2014/main" id="{AF15E96B-6780-53F3-1A2A-29186C8307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48643" y="2686496"/>
            <a:ext cx="2516341" cy="1677561"/>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8AA2A7A3-DA2E-4B60-732A-2383FDA5DD5C}"/>
              </a:ext>
            </a:extLst>
          </p:cNvPr>
          <p:cNvSpPr txBox="1"/>
          <p:nvPr/>
        </p:nvSpPr>
        <p:spPr>
          <a:xfrm>
            <a:off x="1749067" y="4604241"/>
            <a:ext cx="2394287" cy="1631216"/>
          </a:xfrm>
          <a:prstGeom prst="rect">
            <a:avLst/>
          </a:prstGeom>
          <a:noFill/>
        </p:spPr>
        <p:txBody>
          <a:bodyPr wrap="square" rtlCol="0">
            <a:spAutoFit/>
          </a:bodyPr>
          <a:lstStyle/>
          <a:p>
            <a:r>
              <a:rPr lang="es-CL" sz="1400" dirty="0" err="1">
                <a:latin typeface="Avenir Next" panose="020B0503020202020204" pitchFamily="34" charset="0"/>
              </a:rPr>
              <a:t>Cirque</a:t>
            </a:r>
            <a:r>
              <a:rPr lang="es-CL" sz="1400" dirty="0">
                <a:latin typeface="Avenir Next" panose="020B0503020202020204" pitchFamily="34" charset="0"/>
              </a:rPr>
              <a:t> du </a:t>
            </a:r>
            <a:r>
              <a:rPr lang="es-CL" sz="1400" dirty="0" err="1">
                <a:latin typeface="Avenir Next" panose="020B0503020202020204" pitchFamily="34" charset="0"/>
              </a:rPr>
              <a:t>soleil</a:t>
            </a:r>
            <a:endParaRPr lang="es-CL" sz="1400" dirty="0">
              <a:latin typeface="Avenir Next" panose="020B0503020202020204" pitchFamily="34" charset="0"/>
            </a:endParaRPr>
          </a:p>
          <a:p>
            <a:endParaRPr lang="es-CL" sz="1400" dirty="0">
              <a:latin typeface="Avenir Next" panose="020B0503020202020204" pitchFamily="34" charset="0"/>
            </a:endParaRPr>
          </a:p>
          <a:p>
            <a:r>
              <a:rPr lang="es-CL" sz="1200" dirty="0">
                <a:latin typeface="Avenir Next" panose="020B0503020202020204" pitchFamily="34" charset="0"/>
              </a:rPr>
              <a:t>Aposto a renovar el circo, eliminando animales, pausas entre actos, disminuyo el tiempo, aumentando calidad de los artistas, música, sentido del espectáculo.</a:t>
            </a:r>
          </a:p>
        </p:txBody>
      </p:sp>
      <p:sp>
        <p:nvSpPr>
          <p:cNvPr id="5" name="CuadroTexto 4">
            <a:extLst>
              <a:ext uri="{FF2B5EF4-FFF2-40B4-BE49-F238E27FC236}">
                <a16:creationId xmlns:a16="http://schemas.microsoft.com/office/drawing/2014/main" id="{36454159-C32F-2911-6EF8-2D22151C64FE}"/>
              </a:ext>
            </a:extLst>
          </p:cNvPr>
          <p:cNvSpPr txBox="1"/>
          <p:nvPr/>
        </p:nvSpPr>
        <p:spPr>
          <a:xfrm>
            <a:off x="4596379" y="4604241"/>
            <a:ext cx="2394287" cy="1631216"/>
          </a:xfrm>
          <a:prstGeom prst="rect">
            <a:avLst/>
          </a:prstGeom>
          <a:noFill/>
        </p:spPr>
        <p:txBody>
          <a:bodyPr wrap="square" rtlCol="0">
            <a:spAutoFit/>
          </a:bodyPr>
          <a:lstStyle/>
          <a:p>
            <a:r>
              <a:rPr lang="es-CL" sz="1400" dirty="0">
                <a:latin typeface="Avenir Next" panose="020B0503020202020204" pitchFamily="34" charset="0"/>
              </a:rPr>
              <a:t>Ford </a:t>
            </a:r>
            <a:r>
              <a:rPr lang="es-CL" sz="1400" dirty="0" err="1">
                <a:latin typeface="Avenir Next" panose="020B0503020202020204" pitchFamily="34" charset="0"/>
              </a:rPr>
              <a:t>Ecosport</a:t>
            </a:r>
            <a:endParaRPr lang="es-CL" sz="1400" dirty="0">
              <a:latin typeface="Avenir Next" panose="020B0503020202020204" pitchFamily="34" charset="0"/>
            </a:endParaRPr>
          </a:p>
          <a:p>
            <a:endParaRPr lang="es-CL" sz="1400" dirty="0">
              <a:latin typeface="Avenir Next" panose="020B0503020202020204" pitchFamily="34" charset="0"/>
            </a:endParaRPr>
          </a:p>
          <a:p>
            <a:r>
              <a:rPr lang="es-CL" sz="1200" dirty="0">
                <a:latin typeface="Avenir Next" panose="020B0503020202020204" pitchFamily="34" charset="0"/>
              </a:rPr>
              <a:t>Se percato de un segmento que quería un jeep, pero lo ocupaba siempre en la ciudad, bajo el precio, redujo la robustez del chasis, y lo hizo 4x2.</a:t>
            </a:r>
          </a:p>
        </p:txBody>
      </p:sp>
      <p:sp>
        <p:nvSpPr>
          <p:cNvPr id="6" name="CuadroTexto 5">
            <a:extLst>
              <a:ext uri="{FF2B5EF4-FFF2-40B4-BE49-F238E27FC236}">
                <a16:creationId xmlns:a16="http://schemas.microsoft.com/office/drawing/2014/main" id="{703719B3-E3DD-D931-C76B-2A2D13C2122D}"/>
              </a:ext>
            </a:extLst>
          </p:cNvPr>
          <p:cNvSpPr txBox="1"/>
          <p:nvPr/>
        </p:nvSpPr>
        <p:spPr>
          <a:xfrm>
            <a:off x="8048643" y="4604241"/>
            <a:ext cx="2516341" cy="1631216"/>
          </a:xfrm>
          <a:prstGeom prst="rect">
            <a:avLst/>
          </a:prstGeom>
          <a:noFill/>
        </p:spPr>
        <p:txBody>
          <a:bodyPr wrap="square" rtlCol="0">
            <a:spAutoFit/>
          </a:bodyPr>
          <a:lstStyle/>
          <a:p>
            <a:r>
              <a:rPr lang="es-CL" sz="1400" dirty="0" err="1">
                <a:latin typeface="Avenir Next" panose="020B0503020202020204" pitchFamily="34" charset="0"/>
              </a:rPr>
              <a:t>Nerdstrong</a:t>
            </a:r>
            <a:endParaRPr lang="es-CL" sz="1400" dirty="0">
              <a:latin typeface="Avenir Next" panose="020B0503020202020204" pitchFamily="34" charset="0"/>
            </a:endParaRPr>
          </a:p>
          <a:p>
            <a:endParaRPr lang="es-CL" sz="1400" dirty="0">
              <a:latin typeface="Avenir Next" panose="020B0503020202020204" pitchFamily="34" charset="0"/>
            </a:endParaRPr>
          </a:p>
          <a:p>
            <a:r>
              <a:rPr lang="es-CL" sz="1200" dirty="0">
                <a:latin typeface="Avenir Next" panose="020B0503020202020204" pitchFamily="34" charset="0"/>
              </a:rPr>
              <a:t>Un gimnasio especial para “nerds” o “</a:t>
            </a:r>
            <a:r>
              <a:rPr lang="es-CL" sz="1200" dirty="0" err="1">
                <a:latin typeface="Avenir Next" panose="020B0503020202020204" pitchFamily="34" charset="0"/>
              </a:rPr>
              <a:t>geeks</a:t>
            </a:r>
            <a:r>
              <a:rPr lang="es-CL" sz="1200" dirty="0">
                <a:latin typeface="Avenir Next" panose="020B0503020202020204" pitchFamily="34" charset="0"/>
              </a:rPr>
              <a:t>”, donde se ambienta en series, superhéroes, y se realizan más ejercicios tipo crossfit. Apuesta por más comunidad, menos maquinas.</a:t>
            </a:r>
          </a:p>
        </p:txBody>
      </p:sp>
    </p:spTree>
    <p:extLst>
      <p:ext uri="{BB962C8B-B14F-4D97-AF65-F5344CB8AC3E}">
        <p14:creationId xmlns:p14="http://schemas.microsoft.com/office/powerpoint/2010/main" val="32492992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35015A84-F539-4347-B6AE-60964B3BC79B}"/>
              </a:ext>
            </a:extLst>
          </p:cNvPr>
          <p:cNvSpPr txBox="1"/>
          <p:nvPr/>
        </p:nvSpPr>
        <p:spPr>
          <a:xfrm>
            <a:off x="663218" y="1362303"/>
            <a:ext cx="5432782" cy="4524315"/>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CL" dirty="0">
                <a:solidFill>
                  <a:srgbClr val="000000"/>
                </a:solidFill>
                <a:latin typeface="Avenir Next" panose="020B0503020202020204" pitchFamily="34" charset="0"/>
              </a:rPr>
              <a:t>Siguiendo con e</a:t>
            </a:r>
            <a:r>
              <a:rPr kumimoji="0" lang="es-CL" b="0" i="0" u="none" strike="noStrike" kern="1200" cap="none" spc="0" normalizeH="0" baseline="0" noProof="0" dirty="0">
                <a:ln>
                  <a:noFill/>
                </a:ln>
                <a:solidFill>
                  <a:srgbClr val="000000"/>
                </a:solidFill>
                <a:effectLst/>
                <a:uLnTx/>
                <a:uFillTx/>
                <a:latin typeface="Avenir Next" panose="020B0503020202020204" pitchFamily="34" charset="0"/>
              </a:rPr>
              <a:t>l trabajo de un startup (Ries, E., 2011):</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CL" b="0" i="0" u="none" strike="noStrike" kern="1200" cap="none" spc="0" normalizeH="0" baseline="0" noProof="0" dirty="0">
              <a:ln>
                <a:noFill/>
              </a:ln>
              <a:solidFill>
                <a:srgbClr val="000000"/>
              </a:solidFill>
              <a:effectLst/>
              <a:uLnTx/>
              <a:uFillTx/>
              <a:latin typeface="Avenir Next" panose="020B0503020202020204" pitchFamily="34"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s-CL" b="0" i="0" u="none" strike="noStrike" kern="1200" cap="none" spc="0" normalizeH="0" baseline="0" noProof="0" dirty="0">
                <a:ln>
                  <a:noFill/>
                </a:ln>
                <a:solidFill>
                  <a:srgbClr val="000000"/>
                </a:solidFill>
                <a:effectLst/>
                <a:uLnTx/>
                <a:uFillTx/>
                <a:latin typeface="Avenir Next" panose="020B0503020202020204" pitchFamily="34" charset="0"/>
              </a:rPr>
              <a:t>Medir rigurosamente dónde está en el momento actual, afrontando lo que revele esa evaluación.</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s-CL" b="1" i="0" u="none" strike="noStrike" kern="1200" cap="none" spc="0" normalizeH="0" baseline="0" noProof="0" dirty="0">
                <a:ln>
                  <a:noFill/>
                </a:ln>
                <a:solidFill>
                  <a:srgbClr val="000000"/>
                </a:solidFill>
                <a:effectLst/>
                <a:uLnTx/>
                <a:uFillTx/>
                <a:latin typeface="Avenir Next" panose="020B0503020202020204" pitchFamily="34" charset="0"/>
              </a:rPr>
              <a:t>Diseñar experimentos para descubrir cómo hacer avanzar las cifras reales hacia el ideal reflejado en su plan de negocios.</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endParaRPr lang="es-CL" dirty="0">
              <a:solidFill>
                <a:srgbClr val="000000"/>
              </a:solidFill>
              <a:latin typeface="Avenir Next" panose="020B0503020202020204" pitchFamily="34" charset="0"/>
            </a:endParaRPr>
          </a:p>
          <a:p>
            <a:pPr marR="0" lvl="0" algn="just" defTabSz="914400" rtl="0" eaLnBrk="1" fontAlgn="auto" latinLnBrk="0" hangingPunct="1">
              <a:lnSpc>
                <a:spcPct val="100000"/>
              </a:lnSpc>
              <a:spcBef>
                <a:spcPts val="0"/>
              </a:spcBef>
              <a:spcAft>
                <a:spcPts val="0"/>
              </a:spcAft>
              <a:buClrTx/>
              <a:buSzTx/>
              <a:tabLst/>
              <a:defRPr/>
            </a:pPr>
            <a:r>
              <a:rPr kumimoji="0" lang="es-CL" i="0" u="none" strike="noStrike" kern="1200" cap="none" spc="0" normalizeH="0" baseline="0" noProof="0" dirty="0">
                <a:ln>
                  <a:noFill/>
                </a:ln>
                <a:solidFill>
                  <a:srgbClr val="000000"/>
                </a:solidFill>
                <a:effectLst/>
                <a:uLnTx/>
                <a:uFillTx/>
                <a:latin typeface="Avenir Next" panose="020B0503020202020204" pitchFamily="34" charset="0"/>
              </a:rPr>
              <a:t>En el ajuste se deben realizar experimentos, se debe colectar evidencia real, frente a clientes, esta es la gran diferencia entre un plan de oficina, y permite comenzar pequeño, y luego crecer en la medida de las evidencias, bajando el riesgo de clientes y mercado.</a:t>
            </a:r>
          </a:p>
        </p:txBody>
      </p:sp>
      <p:sp>
        <p:nvSpPr>
          <p:cNvPr id="7" name="CuadroTexto 6">
            <a:extLst>
              <a:ext uri="{FF2B5EF4-FFF2-40B4-BE49-F238E27FC236}">
                <a16:creationId xmlns:a16="http://schemas.microsoft.com/office/drawing/2014/main" id="{A224E7A3-B03F-48BE-B633-7B9D93285BA0}"/>
              </a:ext>
            </a:extLst>
          </p:cNvPr>
          <p:cNvSpPr txBox="1"/>
          <p:nvPr/>
        </p:nvSpPr>
        <p:spPr>
          <a:xfrm>
            <a:off x="663218" y="6136070"/>
            <a:ext cx="10865564"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0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Fuente: Ries, E. (2011)</a:t>
            </a:r>
          </a:p>
        </p:txBody>
      </p:sp>
      <p:sp>
        <p:nvSpPr>
          <p:cNvPr id="3" name="TextBox 1">
            <a:extLst>
              <a:ext uri="{FF2B5EF4-FFF2-40B4-BE49-F238E27FC236}">
                <a16:creationId xmlns:a16="http://schemas.microsoft.com/office/drawing/2014/main" id="{136500C6-A866-7F4D-8138-D3F5C399D157}"/>
              </a:ext>
            </a:extLst>
          </p:cNvPr>
          <p:cNvSpPr txBox="1"/>
          <p:nvPr/>
        </p:nvSpPr>
        <p:spPr>
          <a:xfrm>
            <a:off x="663218" y="444900"/>
            <a:ext cx="1086556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srgbClr val="000000"/>
                </a:solidFill>
                <a:effectLst/>
                <a:uLnTx/>
                <a:uFillTx/>
                <a:latin typeface="Montserrat SemiBold" pitchFamily="2" charset="0"/>
                <a:ea typeface="+mn-ea"/>
                <a:cs typeface="+mn-cs"/>
              </a:rPr>
              <a:t>Trabajo de un startup para el ajuste del modelo</a:t>
            </a:r>
            <a:endParaRPr kumimoji="0" lang="es-CL" sz="2800" b="0" i="0" u="none" strike="noStrike" kern="1200" cap="none" spc="0" normalizeH="0" baseline="0" noProof="0" dirty="0">
              <a:ln>
                <a:noFill/>
              </a:ln>
              <a:solidFill>
                <a:srgbClr val="000000"/>
              </a:solidFill>
              <a:effectLst/>
              <a:uLnTx/>
              <a:uFillTx/>
              <a:latin typeface="Montserrat SemiBold" pitchFamily="2" charset="0"/>
              <a:ea typeface="+mn-ea"/>
              <a:cs typeface="+mn-cs"/>
            </a:endParaRPr>
          </a:p>
        </p:txBody>
      </p:sp>
      <p:pic>
        <p:nvPicPr>
          <p:cNvPr id="2050" name="Picture 2" descr="SpaceX | Starship | Elon Musk | El “fracaso” del Starship: Cuánto costó la  prueba que terminó con el cohete más potente del mundo estallando | NASA |  Estados Unidos | MUNDO | EL COMERCIO PERÚ">
            <a:extLst>
              <a:ext uri="{FF2B5EF4-FFF2-40B4-BE49-F238E27FC236}">
                <a16:creationId xmlns:a16="http://schemas.microsoft.com/office/drawing/2014/main" id="{9BA860DB-8057-3336-7452-801FB58023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1431" y="1362303"/>
            <a:ext cx="4427351" cy="5019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36492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F688DF-D655-4A53-AF64-8D48290249D2}"/>
              </a:ext>
            </a:extLst>
          </p:cNvPr>
          <p:cNvSpPr txBox="1"/>
          <p:nvPr/>
        </p:nvSpPr>
        <p:spPr>
          <a:xfrm>
            <a:off x="663217" y="680992"/>
            <a:ext cx="10865563"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srgbClr val="000000"/>
                </a:solidFill>
                <a:effectLst/>
                <a:uLnTx/>
                <a:uFillTx/>
                <a:latin typeface="Montserrat SemiBold" pitchFamily="2" charset="0"/>
                <a:ea typeface="+mn-ea"/>
                <a:cs typeface="+mn-cs"/>
              </a:rPr>
              <a:t>Hipótesis y experimentos</a:t>
            </a:r>
            <a:endParaRPr kumimoji="0" lang="es-CL" sz="2800" b="0" i="0" u="none" strike="noStrike" kern="1200" cap="none" spc="0" normalizeH="0" baseline="0" noProof="0" dirty="0">
              <a:ln>
                <a:noFill/>
              </a:ln>
              <a:solidFill>
                <a:srgbClr val="000000"/>
              </a:solidFill>
              <a:effectLst/>
              <a:uLnTx/>
              <a:uFillTx/>
              <a:latin typeface="Montserrat SemiBold" pitchFamily="2" charset="0"/>
              <a:ea typeface="+mn-ea"/>
              <a:cs typeface="+mn-cs"/>
            </a:endParaRPr>
          </a:p>
        </p:txBody>
      </p:sp>
      <p:sp>
        <p:nvSpPr>
          <p:cNvPr id="3" name="CuadroTexto 2">
            <a:extLst>
              <a:ext uri="{FF2B5EF4-FFF2-40B4-BE49-F238E27FC236}">
                <a16:creationId xmlns:a16="http://schemas.microsoft.com/office/drawing/2014/main" id="{3E1F4521-E8EE-4906-A3D4-6F12E876F341}"/>
              </a:ext>
            </a:extLst>
          </p:cNvPr>
          <p:cNvSpPr txBox="1"/>
          <p:nvPr/>
        </p:nvSpPr>
        <p:spPr>
          <a:xfrm>
            <a:off x="663218" y="1878670"/>
            <a:ext cx="10865564" cy="3139321"/>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Otra arista importante es el planteamiento de </a:t>
            </a:r>
            <a:r>
              <a:rPr kumimoji="0" lang="es-CL" sz="1800" b="1"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hipótesis que puedan ser comprobadas a través de experimentos</a:t>
            </a:r>
            <a:r>
              <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 Se hace referencia a la necesidad de que los startups llevan a cabo pruebas reales para entender cómo pueden mejorar y hacer avanzar sus métricas hacia los objetivos establecidos.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Los experimentos pueden hacerse de distintas maneras, pero siempre el objetivo es apuntar a la recopilación de datos concretos y observar cómo reacciona el mercado ante las diferentes iniciativas y cambios implementados por un startup.</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Esto ayuda a ajustar su enfoque de manera más efectiva y a avanzar hacia el éxito de acuerdo con su modelo de negocios.</a:t>
            </a:r>
          </a:p>
        </p:txBody>
      </p:sp>
    </p:spTree>
    <p:extLst>
      <p:ext uri="{BB962C8B-B14F-4D97-AF65-F5344CB8AC3E}">
        <p14:creationId xmlns:p14="http://schemas.microsoft.com/office/powerpoint/2010/main" val="17583865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n 17">
            <a:extLst>
              <a:ext uri="{FF2B5EF4-FFF2-40B4-BE49-F238E27FC236}">
                <a16:creationId xmlns:a16="http://schemas.microsoft.com/office/drawing/2014/main" id="{504039F1-0D44-43DE-AF18-17232480A53E}"/>
              </a:ext>
            </a:extLst>
          </p:cNvPr>
          <p:cNvPicPr>
            <a:picLocks noChangeAspect="1"/>
          </p:cNvPicPr>
          <p:nvPr/>
        </p:nvPicPr>
        <p:blipFill>
          <a:blip r:embed="rId3"/>
          <a:stretch>
            <a:fillRect/>
          </a:stretch>
        </p:blipFill>
        <p:spPr>
          <a:xfrm>
            <a:off x="810123" y="129443"/>
            <a:ext cx="10571754" cy="6229249"/>
          </a:xfrm>
          <a:prstGeom prst="rect">
            <a:avLst/>
          </a:prstGeom>
        </p:spPr>
      </p:pic>
      <p:sp>
        <p:nvSpPr>
          <p:cNvPr id="19" name="Rectangle 20">
            <a:extLst>
              <a:ext uri="{FF2B5EF4-FFF2-40B4-BE49-F238E27FC236}">
                <a16:creationId xmlns:a16="http://schemas.microsoft.com/office/drawing/2014/main" id="{46E67ACC-FF8A-4806-AA41-8B5BAC641318}"/>
              </a:ext>
            </a:extLst>
          </p:cNvPr>
          <p:cNvSpPr>
            <a:spLocks/>
          </p:cNvSpPr>
          <p:nvPr/>
        </p:nvSpPr>
        <p:spPr bwMode="auto">
          <a:xfrm>
            <a:off x="5364701" y="380720"/>
            <a:ext cx="3212032" cy="2092881"/>
          </a:xfrm>
          <a:prstGeom prst="rect">
            <a:avLst/>
          </a:prstGeom>
          <a:solidFill>
            <a:schemeClr val="bg1"/>
          </a:solidFill>
          <a:ln>
            <a:noFill/>
          </a:ln>
        </p:spPr>
        <p:txBody>
          <a:bodyPr lIns="0" tIns="0" rIns="30471" bIns="0"/>
          <a:lstStyle>
            <a:lvl1pPr marL="6350" algn="ctr" defTabSz="684213">
              <a:spcBef>
                <a:spcPts val="1400"/>
              </a:spcBef>
              <a:defRPr sz="5700">
                <a:solidFill>
                  <a:srgbClr val="878787"/>
                </a:solidFill>
                <a:latin typeface="Lucida Grande"/>
                <a:ea typeface="ヒラギノ角ゴ ProN W3"/>
                <a:cs typeface="ヒラギノ角ゴ ProN W3"/>
                <a:sym typeface="Lucida Grande"/>
              </a:defRPr>
            </a:lvl1pPr>
            <a:lvl2pPr marL="742950" indent="-285750" algn="ctr" defTabSz="684213">
              <a:spcBef>
                <a:spcPts val="1200"/>
              </a:spcBef>
              <a:defRPr sz="5200">
                <a:solidFill>
                  <a:srgbClr val="878787"/>
                </a:solidFill>
                <a:latin typeface="Lucida Grande"/>
                <a:ea typeface="ヒラギノ角ゴ ProN W3"/>
                <a:cs typeface="ヒラギノ角ゴ ProN W3"/>
                <a:sym typeface="Lucida Grande"/>
              </a:defRPr>
            </a:lvl2pPr>
            <a:lvl3pPr marL="1143000" indent="-228600" algn="ctr" defTabSz="684213">
              <a:spcBef>
                <a:spcPts val="1000"/>
              </a:spcBef>
              <a:defRPr sz="4300">
                <a:solidFill>
                  <a:srgbClr val="878787"/>
                </a:solidFill>
                <a:latin typeface="Lucida Grande"/>
                <a:ea typeface="ヒラギノ角ゴ ProN W3"/>
                <a:cs typeface="ヒラギノ角ゴ ProN W3"/>
                <a:sym typeface="Lucida Grande"/>
              </a:defRPr>
            </a:lvl3pPr>
            <a:lvl4pPr marL="1600200" indent="-228600" algn="ctr" defTabSz="684213">
              <a:spcBef>
                <a:spcPts val="900"/>
              </a:spcBef>
              <a:defRPr sz="3600">
                <a:solidFill>
                  <a:srgbClr val="878787"/>
                </a:solidFill>
                <a:latin typeface="Lucida Grande"/>
                <a:ea typeface="ヒラギノ角ゴ ProN W3"/>
                <a:cs typeface="ヒラギノ角ゴ ProN W3"/>
                <a:sym typeface="Lucida Grande"/>
              </a:defRPr>
            </a:lvl4pPr>
            <a:lvl5pPr marL="2057400" indent="-228600" algn="ctr" defTabSz="684213">
              <a:spcBef>
                <a:spcPts val="900"/>
              </a:spcBef>
              <a:defRPr sz="3600">
                <a:solidFill>
                  <a:srgbClr val="878787"/>
                </a:solidFill>
                <a:latin typeface="Lucida Grande"/>
                <a:ea typeface="ヒラギノ角ゴ ProN W3"/>
                <a:cs typeface="ヒラギノ角ゴ ProN W3"/>
                <a:sym typeface="Lucida Grande"/>
              </a:defRPr>
            </a:lvl5pPr>
            <a:lvl6pPr marL="2514600" indent="-228600" algn="ctr" defTabSz="684213" eaLnBrk="0" fontAlgn="base" hangingPunct="0">
              <a:spcBef>
                <a:spcPts val="900"/>
              </a:spcBef>
              <a:spcAft>
                <a:spcPct val="0"/>
              </a:spcAft>
              <a:defRPr sz="3600">
                <a:solidFill>
                  <a:srgbClr val="878787"/>
                </a:solidFill>
                <a:latin typeface="Lucida Grande"/>
                <a:ea typeface="ヒラギノ角ゴ ProN W3"/>
                <a:cs typeface="ヒラギノ角ゴ ProN W3"/>
                <a:sym typeface="Lucida Grande"/>
              </a:defRPr>
            </a:lvl6pPr>
            <a:lvl7pPr marL="2971800" indent="-228600" algn="ctr" defTabSz="684213" eaLnBrk="0" fontAlgn="base" hangingPunct="0">
              <a:spcBef>
                <a:spcPts val="900"/>
              </a:spcBef>
              <a:spcAft>
                <a:spcPct val="0"/>
              </a:spcAft>
              <a:defRPr sz="3600">
                <a:solidFill>
                  <a:srgbClr val="878787"/>
                </a:solidFill>
                <a:latin typeface="Lucida Grande"/>
                <a:ea typeface="ヒラギノ角ゴ ProN W3"/>
                <a:cs typeface="ヒラギノ角ゴ ProN W3"/>
                <a:sym typeface="Lucida Grande"/>
              </a:defRPr>
            </a:lvl7pPr>
            <a:lvl8pPr marL="3429000" indent="-228600" algn="ctr" defTabSz="684213" eaLnBrk="0" fontAlgn="base" hangingPunct="0">
              <a:spcBef>
                <a:spcPts val="900"/>
              </a:spcBef>
              <a:spcAft>
                <a:spcPct val="0"/>
              </a:spcAft>
              <a:defRPr sz="3600">
                <a:solidFill>
                  <a:srgbClr val="878787"/>
                </a:solidFill>
                <a:latin typeface="Lucida Grande"/>
                <a:ea typeface="ヒラギノ角ゴ ProN W3"/>
                <a:cs typeface="ヒラギノ角ゴ ProN W3"/>
                <a:sym typeface="Lucida Grande"/>
              </a:defRPr>
            </a:lvl8pPr>
            <a:lvl9pPr marL="3886200" indent="-228600" algn="ctr" defTabSz="684213" eaLnBrk="0" fontAlgn="base" hangingPunct="0">
              <a:spcBef>
                <a:spcPts val="900"/>
              </a:spcBef>
              <a:spcAft>
                <a:spcPct val="0"/>
              </a:spcAft>
              <a:defRPr sz="3600">
                <a:solidFill>
                  <a:srgbClr val="878787"/>
                </a:solidFill>
                <a:latin typeface="Lucida Grande"/>
                <a:ea typeface="ヒラギノ角ゴ ProN W3"/>
                <a:cs typeface="ヒラギノ角ゴ ProN W3"/>
                <a:sym typeface="Lucida Grande"/>
              </a:defRPr>
            </a:lvl9pPr>
          </a:lstStyle>
          <a:p>
            <a:pPr marL="6350" marR="0" lvl="0" indent="0" algn="l" defTabSz="684181" rtl="0" eaLnBrk="0" fontAlgn="base" latinLnBrk="0" hangingPunct="0">
              <a:lnSpc>
                <a:spcPct val="100000"/>
              </a:lnSpc>
              <a:spcBef>
                <a:spcPct val="0"/>
              </a:spcBef>
              <a:spcAft>
                <a:spcPct val="0"/>
              </a:spcAft>
              <a:buClrTx/>
              <a:buSzTx/>
              <a:buFontTx/>
              <a:buNone/>
              <a:tabLst/>
              <a:defRPr/>
            </a:pPr>
            <a:r>
              <a:rPr kumimoji="0" lang="es-CL" altLang="es-ES" sz="1200" b="1" i="0" u="none" strike="noStrike" kern="1200" cap="none" spc="0" normalizeH="0" baseline="0" noProof="0" dirty="0">
                <a:ln>
                  <a:noFill/>
                </a:ln>
                <a:solidFill>
                  <a:srgbClr val="000000"/>
                </a:solidFill>
                <a:effectLst/>
                <a:uLnTx/>
                <a:uFillTx/>
                <a:latin typeface="Montserrat" panose="00000500000000000000" pitchFamily="2" charset="0"/>
                <a:ea typeface="Helvetica Neue Light"/>
                <a:cs typeface="Helvetica Neue Light"/>
                <a:sym typeface="Helvetica Neue Light"/>
              </a:rPr>
              <a:t>Riesgo de Deseabilidad: </a:t>
            </a:r>
          </a:p>
          <a:p>
            <a:pPr marL="6350" marR="0" lvl="0" indent="0" algn="l" defTabSz="684181" rtl="0" eaLnBrk="0" fontAlgn="base" latinLnBrk="0" hangingPunct="0">
              <a:lnSpc>
                <a:spcPct val="100000"/>
              </a:lnSpc>
              <a:spcBef>
                <a:spcPct val="0"/>
              </a:spcBef>
              <a:spcAft>
                <a:spcPct val="0"/>
              </a:spcAft>
              <a:buClrTx/>
              <a:buSzTx/>
              <a:buFontTx/>
              <a:buNone/>
              <a:tabLst/>
              <a:defRPr/>
            </a:pPr>
            <a:r>
              <a:rPr kumimoji="0" lang="es-CL" altLang="es-ES" sz="1200" b="0" i="1" u="none" strike="noStrike" kern="1200" cap="none" spc="0" normalizeH="0" baseline="0" noProof="0" dirty="0">
                <a:ln>
                  <a:noFill/>
                </a:ln>
                <a:solidFill>
                  <a:srgbClr val="000000"/>
                </a:solidFill>
                <a:effectLst/>
                <a:uLnTx/>
                <a:uFillTx/>
                <a:latin typeface="Montserrat" panose="00000500000000000000" pitchFamily="2" charset="0"/>
                <a:ea typeface="Helvetica Neue Light"/>
                <a:cs typeface="Helvetica Neue Light"/>
                <a:sym typeface="Helvetica Neue Light"/>
              </a:rPr>
              <a:t>Los clientes no están interesados</a:t>
            </a:r>
          </a:p>
          <a:p>
            <a:pPr marL="6350" marR="0" lvl="0" indent="0" algn="l" defTabSz="684181" rtl="0" eaLnBrk="0" fontAlgn="base" latinLnBrk="0" hangingPunct="0">
              <a:lnSpc>
                <a:spcPct val="100000"/>
              </a:lnSpc>
              <a:spcBef>
                <a:spcPct val="0"/>
              </a:spcBef>
              <a:spcAft>
                <a:spcPct val="0"/>
              </a:spcAft>
              <a:buClrTx/>
              <a:buSzTx/>
              <a:buFontTx/>
              <a:buNone/>
              <a:tabLst/>
              <a:defRPr/>
            </a:pPr>
            <a:r>
              <a:rPr kumimoji="0" lang="es-CL" altLang="es-ES" sz="1200" b="0" i="0" u="none" strike="noStrike" kern="1200" cap="none" spc="0" normalizeH="0" baseline="0" noProof="0" dirty="0">
                <a:ln>
                  <a:noFill/>
                </a:ln>
                <a:solidFill>
                  <a:srgbClr val="000000"/>
                </a:solidFill>
                <a:effectLst/>
                <a:uLnTx/>
                <a:uFillTx/>
                <a:latin typeface="Montserrat" panose="00000500000000000000" pitchFamily="2" charset="0"/>
                <a:ea typeface="Helvetica Neue Light"/>
                <a:cs typeface="Helvetica Neue Light"/>
                <a:sym typeface="Helvetica Neue Light"/>
              </a:rPr>
              <a:t>El riesgo es que el mercado al que se dirige una empresa sea demasiado pequeño; que muy pocos clientes quieren la propuesta de valor; o que la empresa no puede llegar, adquirir y retener a los clientes objetivo.</a:t>
            </a:r>
          </a:p>
          <a:p>
            <a:pPr marL="6350" marR="0" lvl="0" indent="0" algn="l" defTabSz="684181" rtl="0" eaLnBrk="0" fontAlgn="base" latinLnBrk="0" hangingPunct="0">
              <a:lnSpc>
                <a:spcPct val="100000"/>
              </a:lnSpc>
              <a:spcBef>
                <a:spcPct val="0"/>
              </a:spcBef>
              <a:spcAft>
                <a:spcPct val="0"/>
              </a:spcAft>
              <a:buClrTx/>
              <a:buSzTx/>
              <a:buFontTx/>
              <a:buNone/>
              <a:tabLst/>
              <a:defRPr/>
            </a:pPr>
            <a:br>
              <a:rPr kumimoji="0" lang="es-ES" altLang="es-ES" sz="1200" b="0" i="0" u="none" strike="noStrike" kern="1200" cap="none" spc="0" normalizeH="0" baseline="0" noProof="0" dirty="0">
                <a:ln>
                  <a:noFill/>
                </a:ln>
                <a:solidFill>
                  <a:srgbClr val="000000"/>
                </a:solidFill>
                <a:effectLst/>
                <a:uLnTx/>
                <a:uFillTx/>
                <a:latin typeface="Montserrat" panose="00000500000000000000" pitchFamily="2" charset="0"/>
                <a:ea typeface="Helvetica Neue Light"/>
                <a:cs typeface="Helvetica Neue Light"/>
                <a:sym typeface="Helvetica Neue Light"/>
              </a:rPr>
            </a:br>
            <a:endParaRPr kumimoji="0" lang="es-CL" altLang="es-ES" sz="1200" b="0" i="1" u="none" strike="noStrike" kern="1200" cap="none" spc="0" normalizeH="0" baseline="0" noProof="0" dirty="0">
              <a:ln>
                <a:noFill/>
              </a:ln>
              <a:solidFill>
                <a:srgbClr val="000000"/>
              </a:solidFill>
              <a:effectLst/>
              <a:uLnTx/>
              <a:uFillTx/>
              <a:latin typeface="Montserrat" panose="00000500000000000000" pitchFamily="2" charset="0"/>
              <a:ea typeface="Helvetica Neue Light"/>
              <a:cs typeface="Helvetica Neue Light"/>
              <a:sym typeface="Helvetica Neue Light"/>
            </a:endParaRPr>
          </a:p>
        </p:txBody>
      </p:sp>
      <p:sp>
        <p:nvSpPr>
          <p:cNvPr id="20" name="Rectangle 20">
            <a:extLst>
              <a:ext uri="{FF2B5EF4-FFF2-40B4-BE49-F238E27FC236}">
                <a16:creationId xmlns:a16="http://schemas.microsoft.com/office/drawing/2014/main" id="{EE0AA03E-B7C0-49B9-AFA6-C729162B0C0A}"/>
              </a:ext>
            </a:extLst>
          </p:cNvPr>
          <p:cNvSpPr>
            <a:spLocks/>
          </p:cNvSpPr>
          <p:nvPr/>
        </p:nvSpPr>
        <p:spPr bwMode="auto">
          <a:xfrm>
            <a:off x="474133" y="4280546"/>
            <a:ext cx="2798041" cy="2078146"/>
          </a:xfrm>
          <a:prstGeom prst="rect">
            <a:avLst/>
          </a:prstGeom>
          <a:solidFill>
            <a:schemeClr val="bg1"/>
          </a:solidFill>
          <a:ln>
            <a:noFill/>
          </a:ln>
        </p:spPr>
        <p:txBody>
          <a:bodyPr lIns="0" tIns="0" rIns="30471" bIns="0"/>
          <a:lstStyle>
            <a:lvl1pPr marL="6350" algn="ctr" defTabSz="684213">
              <a:spcBef>
                <a:spcPts val="1400"/>
              </a:spcBef>
              <a:defRPr sz="5700">
                <a:solidFill>
                  <a:srgbClr val="878787"/>
                </a:solidFill>
                <a:latin typeface="Lucida Grande"/>
                <a:ea typeface="ヒラギノ角ゴ ProN W3"/>
                <a:cs typeface="ヒラギノ角ゴ ProN W3"/>
                <a:sym typeface="Lucida Grande"/>
              </a:defRPr>
            </a:lvl1pPr>
            <a:lvl2pPr marL="742950" indent="-285750" algn="ctr" defTabSz="684213">
              <a:spcBef>
                <a:spcPts val="1200"/>
              </a:spcBef>
              <a:defRPr sz="5200">
                <a:solidFill>
                  <a:srgbClr val="878787"/>
                </a:solidFill>
                <a:latin typeface="Lucida Grande"/>
                <a:ea typeface="ヒラギノ角ゴ ProN W3"/>
                <a:cs typeface="ヒラギノ角ゴ ProN W3"/>
                <a:sym typeface="Lucida Grande"/>
              </a:defRPr>
            </a:lvl2pPr>
            <a:lvl3pPr marL="1143000" indent="-228600" algn="ctr" defTabSz="684213">
              <a:spcBef>
                <a:spcPts val="1000"/>
              </a:spcBef>
              <a:defRPr sz="4300">
                <a:solidFill>
                  <a:srgbClr val="878787"/>
                </a:solidFill>
                <a:latin typeface="Lucida Grande"/>
                <a:ea typeface="ヒラギノ角ゴ ProN W3"/>
                <a:cs typeface="ヒラギノ角ゴ ProN W3"/>
                <a:sym typeface="Lucida Grande"/>
              </a:defRPr>
            </a:lvl3pPr>
            <a:lvl4pPr marL="1600200" indent="-228600" algn="ctr" defTabSz="684213">
              <a:spcBef>
                <a:spcPts val="900"/>
              </a:spcBef>
              <a:defRPr sz="3600">
                <a:solidFill>
                  <a:srgbClr val="878787"/>
                </a:solidFill>
                <a:latin typeface="Lucida Grande"/>
                <a:ea typeface="ヒラギノ角ゴ ProN W3"/>
                <a:cs typeface="ヒラギノ角ゴ ProN W3"/>
                <a:sym typeface="Lucida Grande"/>
              </a:defRPr>
            </a:lvl4pPr>
            <a:lvl5pPr marL="2057400" indent="-228600" algn="ctr" defTabSz="684213">
              <a:spcBef>
                <a:spcPts val="900"/>
              </a:spcBef>
              <a:defRPr sz="3600">
                <a:solidFill>
                  <a:srgbClr val="878787"/>
                </a:solidFill>
                <a:latin typeface="Lucida Grande"/>
                <a:ea typeface="ヒラギノ角ゴ ProN W3"/>
                <a:cs typeface="ヒラギノ角ゴ ProN W3"/>
                <a:sym typeface="Lucida Grande"/>
              </a:defRPr>
            </a:lvl5pPr>
            <a:lvl6pPr marL="2514600" indent="-228600" algn="ctr" defTabSz="684213" eaLnBrk="0" fontAlgn="base" hangingPunct="0">
              <a:spcBef>
                <a:spcPts val="900"/>
              </a:spcBef>
              <a:spcAft>
                <a:spcPct val="0"/>
              </a:spcAft>
              <a:defRPr sz="3600">
                <a:solidFill>
                  <a:srgbClr val="878787"/>
                </a:solidFill>
                <a:latin typeface="Lucida Grande"/>
                <a:ea typeface="ヒラギノ角ゴ ProN W3"/>
                <a:cs typeface="ヒラギノ角ゴ ProN W3"/>
                <a:sym typeface="Lucida Grande"/>
              </a:defRPr>
            </a:lvl6pPr>
            <a:lvl7pPr marL="2971800" indent="-228600" algn="ctr" defTabSz="684213" eaLnBrk="0" fontAlgn="base" hangingPunct="0">
              <a:spcBef>
                <a:spcPts val="900"/>
              </a:spcBef>
              <a:spcAft>
                <a:spcPct val="0"/>
              </a:spcAft>
              <a:defRPr sz="3600">
                <a:solidFill>
                  <a:srgbClr val="878787"/>
                </a:solidFill>
                <a:latin typeface="Lucida Grande"/>
                <a:ea typeface="ヒラギノ角ゴ ProN W3"/>
                <a:cs typeface="ヒラギノ角ゴ ProN W3"/>
                <a:sym typeface="Lucida Grande"/>
              </a:defRPr>
            </a:lvl7pPr>
            <a:lvl8pPr marL="3429000" indent="-228600" algn="ctr" defTabSz="684213" eaLnBrk="0" fontAlgn="base" hangingPunct="0">
              <a:spcBef>
                <a:spcPts val="900"/>
              </a:spcBef>
              <a:spcAft>
                <a:spcPct val="0"/>
              </a:spcAft>
              <a:defRPr sz="3600">
                <a:solidFill>
                  <a:srgbClr val="878787"/>
                </a:solidFill>
                <a:latin typeface="Lucida Grande"/>
                <a:ea typeface="ヒラギノ角ゴ ProN W3"/>
                <a:cs typeface="ヒラギノ角ゴ ProN W3"/>
                <a:sym typeface="Lucida Grande"/>
              </a:defRPr>
            </a:lvl8pPr>
            <a:lvl9pPr marL="3886200" indent="-228600" algn="ctr" defTabSz="684213" eaLnBrk="0" fontAlgn="base" hangingPunct="0">
              <a:spcBef>
                <a:spcPts val="900"/>
              </a:spcBef>
              <a:spcAft>
                <a:spcPct val="0"/>
              </a:spcAft>
              <a:defRPr sz="3600">
                <a:solidFill>
                  <a:srgbClr val="878787"/>
                </a:solidFill>
                <a:latin typeface="Lucida Grande"/>
                <a:ea typeface="ヒラギノ角ゴ ProN W3"/>
                <a:cs typeface="ヒラギノ角ゴ ProN W3"/>
                <a:sym typeface="Lucida Grande"/>
              </a:defRPr>
            </a:lvl9pPr>
          </a:lstStyle>
          <a:p>
            <a:pPr marL="6350" marR="0" lvl="0" indent="0" algn="l" defTabSz="684181" rtl="0" eaLnBrk="0" fontAlgn="base" latinLnBrk="0" hangingPunct="0">
              <a:lnSpc>
                <a:spcPct val="100000"/>
              </a:lnSpc>
              <a:spcBef>
                <a:spcPct val="0"/>
              </a:spcBef>
              <a:spcAft>
                <a:spcPct val="0"/>
              </a:spcAft>
              <a:buClrTx/>
              <a:buSzTx/>
              <a:buFontTx/>
              <a:buNone/>
              <a:tabLst/>
              <a:defRPr/>
            </a:pPr>
            <a:r>
              <a:rPr kumimoji="0" lang="es-CL" altLang="es-ES" sz="1200" b="1" i="0" u="none" strike="noStrike" kern="1200" cap="none" spc="0" normalizeH="0" baseline="0" noProof="0" dirty="0">
                <a:ln>
                  <a:noFill/>
                </a:ln>
                <a:solidFill>
                  <a:srgbClr val="000000"/>
                </a:solidFill>
                <a:effectLst/>
                <a:uLnTx/>
                <a:uFillTx/>
                <a:latin typeface="Montserrat" panose="00000500000000000000" pitchFamily="2" charset="0"/>
                <a:ea typeface="Helvetica Neue Light"/>
                <a:cs typeface="Helvetica Neue Light"/>
                <a:sym typeface="Helvetica Neue Light"/>
              </a:rPr>
              <a:t>Riesgo de Factibilidad: </a:t>
            </a:r>
          </a:p>
          <a:p>
            <a:pPr marL="6350" marR="0" lvl="0" indent="0" algn="l" defTabSz="684181" rtl="0" eaLnBrk="0" fontAlgn="base" latinLnBrk="0" hangingPunct="0">
              <a:lnSpc>
                <a:spcPct val="100000"/>
              </a:lnSpc>
              <a:spcBef>
                <a:spcPct val="0"/>
              </a:spcBef>
              <a:spcAft>
                <a:spcPct val="0"/>
              </a:spcAft>
              <a:buClrTx/>
              <a:buSzTx/>
              <a:buFontTx/>
              <a:buNone/>
              <a:tabLst/>
              <a:defRPr/>
            </a:pPr>
            <a:r>
              <a:rPr kumimoji="0" lang="es-CL" altLang="es-ES" sz="1200" b="0" i="1" u="none" strike="noStrike" kern="1200" cap="none" spc="0" normalizeH="0" baseline="0" noProof="0" dirty="0">
                <a:ln>
                  <a:noFill/>
                </a:ln>
                <a:solidFill>
                  <a:srgbClr val="000000"/>
                </a:solidFill>
                <a:effectLst/>
                <a:uLnTx/>
                <a:uFillTx/>
                <a:latin typeface="Montserrat" panose="00000500000000000000" pitchFamily="2" charset="0"/>
                <a:ea typeface="Helvetica Neue Light"/>
                <a:cs typeface="Helvetica Neue Light"/>
                <a:sym typeface="Helvetica Neue Light"/>
              </a:rPr>
              <a:t>No podemos construir y entregar</a:t>
            </a:r>
          </a:p>
          <a:p>
            <a:pPr marL="6350" marR="0" lvl="0" indent="0" algn="l" defTabSz="684181" rtl="0" eaLnBrk="0" fontAlgn="base" latinLnBrk="0" hangingPunct="0">
              <a:lnSpc>
                <a:spcPct val="100000"/>
              </a:lnSpc>
              <a:spcBef>
                <a:spcPct val="0"/>
              </a:spcBef>
              <a:spcAft>
                <a:spcPct val="0"/>
              </a:spcAft>
              <a:buClrTx/>
              <a:buSzTx/>
              <a:buFontTx/>
              <a:buNone/>
              <a:tabLst/>
              <a:defRPr/>
            </a:pPr>
            <a:r>
              <a:rPr kumimoji="0" lang="es-CL" altLang="es-ES" sz="1200" b="0" i="0" u="none" strike="noStrike" kern="1200" cap="none" spc="0" normalizeH="0" baseline="0" noProof="0" dirty="0">
                <a:ln>
                  <a:noFill/>
                </a:ln>
                <a:solidFill>
                  <a:srgbClr val="000000"/>
                </a:solidFill>
                <a:effectLst/>
                <a:uLnTx/>
                <a:uFillTx/>
                <a:latin typeface="Montserrat" panose="00000500000000000000" pitchFamily="2" charset="0"/>
                <a:ea typeface="Helvetica Neue Light"/>
                <a:cs typeface="Helvetica Neue Light"/>
                <a:sym typeface="Helvetica Neue Light"/>
              </a:rPr>
              <a:t>El riesgo es que una empresa no pueda acceder a recursos clave, no pueda desarrollar capacidades para realizar actividades clave o no pueda encontrar socios clave para construir y escalar la propuesta de valor.</a:t>
            </a:r>
            <a:endParaRPr kumimoji="0" lang="es-ES" altLang="es-ES" sz="1200" b="0" i="0" u="none" strike="noStrike" kern="1200" cap="none" spc="0" normalizeH="0" baseline="0" noProof="0" dirty="0">
              <a:ln>
                <a:noFill/>
              </a:ln>
              <a:solidFill>
                <a:srgbClr val="000000"/>
              </a:solidFill>
              <a:effectLst/>
              <a:uLnTx/>
              <a:uFillTx/>
              <a:latin typeface="Montserrat" panose="00000500000000000000" pitchFamily="2" charset="0"/>
              <a:ea typeface="Helvetica Neue Light"/>
              <a:cs typeface="Helvetica Neue Light"/>
              <a:sym typeface="Helvetica Neue Light"/>
            </a:endParaRPr>
          </a:p>
          <a:p>
            <a:pPr marL="292087" marR="0" lvl="0" indent="-285737" algn="l" defTabSz="684181"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s-ES" altLang="es-ES" sz="1200" b="0" i="0" u="none" strike="noStrike" kern="1200" cap="none" spc="0" normalizeH="0" baseline="0" noProof="0" dirty="0">
              <a:ln>
                <a:noFill/>
              </a:ln>
              <a:solidFill>
                <a:srgbClr val="000000"/>
              </a:solidFill>
              <a:effectLst/>
              <a:uLnTx/>
              <a:uFillTx/>
              <a:latin typeface="Montserrat" panose="00000500000000000000" pitchFamily="2" charset="0"/>
              <a:ea typeface="Helvetica Neue Light"/>
              <a:cs typeface="Helvetica Neue Light"/>
              <a:sym typeface="Helvetica Neue Light"/>
            </a:endParaRPr>
          </a:p>
          <a:p>
            <a:pPr marL="292087" marR="0" lvl="0" indent="-285737" algn="l" defTabSz="684181"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s-ES" altLang="es-ES" sz="1200" b="0" i="0" u="none" strike="noStrike" kern="1200" cap="none" spc="0" normalizeH="0" baseline="0" noProof="0" dirty="0">
              <a:ln>
                <a:noFill/>
              </a:ln>
              <a:solidFill>
                <a:srgbClr val="000000"/>
              </a:solidFill>
              <a:effectLst/>
              <a:uLnTx/>
              <a:uFillTx/>
              <a:latin typeface="Montserrat" panose="00000500000000000000" pitchFamily="2" charset="0"/>
              <a:ea typeface="Helvetica Neue Light"/>
              <a:cs typeface="Helvetica Neue Light"/>
              <a:sym typeface="Helvetica Neue Light"/>
            </a:endParaRPr>
          </a:p>
          <a:p>
            <a:pPr marL="6350" marR="0" lvl="0" indent="0" algn="l" defTabSz="684181" rtl="0" eaLnBrk="0" fontAlgn="base" latinLnBrk="0" hangingPunct="0">
              <a:lnSpc>
                <a:spcPct val="100000"/>
              </a:lnSpc>
              <a:spcBef>
                <a:spcPct val="0"/>
              </a:spcBef>
              <a:spcAft>
                <a:spcPct val="0"/>
              </a:spcAft>
              <a:buClrTx/>
              <a:buSzTx/>
              <a:buFontTx/>
              <a:buNone/>
              <a:tabLst/>
              <a:defRPr/>
            </a:pPr>
            <a:br>
              <a:rPr kumimoji="0" lang="es-ES" altLang="es-ES" sz="1200" b="0" i="0" u="none" strike="noStrike" kern="1200" cap="none" spc="0" normalizeH="0" baseline="0" noProof="0" dirty="0">
                <a:ln>
                  <a:noFill/>
                </a:ln>
                <a:solidFill>
                  <a:srgbClr val="000000"/>
                </a:solidFill>
                <a:effectLst/>
                <a:uLnTx/>
                <a:uFillTx/>
                <a:latin typeface="Montserrat" panose="00000500000000000000" pitchFamily="2" charset="0"/>
                <a:ea typeface="Helvetica Neue Light"/>
                <a:cs typeface="Helvetica Neue Light"/>
                <a:sym typeface="Helvetica Neue Light"/>
              </a:rPr>
            </a:br>
            <a:endParaRPr kumimoji="0" lang="es-CL" altLang="es-ES" sz="1200" b="0" i="1" u="none" strike="noStrike" kern="1200" cap="none" spc="0" normalizeH="0" baseline="0" noProof="0" dirty="0">
              <a:ln>
                <a:noFill/>
              </a:ln>
              <a:solidFill>
                <a:srgbClr val="000000"/>
              </a:solidFill>
              <a:effectLst/>
              <a:uLnTx/>
              <a:uFillTx/>
              <a:latin typeface="Montserrat" panose="00000500000000000000" pitchFamily="2" charset="0"/>
              <a:ea typeface="Helvetica Neue Light"/>
              <a:cs typeface="Helvetica Neue Light"/>
              <a:sym typeface="Helvetica Neue Light"/>
            </a:endParaRPr>
          </a:p>
        </p:txBody>
      </p:sp>
      <p:sp>
        <p:nvSpPr>
          <p:cNvPr id="21" name="Rectangle 20">
            <a:extLst>
              <a:ext uri="{FF2B5EF4-FFF2-40B4-BE49-F238E27FC236}">
                <a16:creationId xmlns:a16="http://schemas.microsoft.com/office/drawing/2014/main" id="{52E7EC77-675A-44A7-B2C1-489A9F144B3F}"/>
              </a:ext>
            </a:extLst>
          </p:cNvPr>
          <p:cNvSpPr>
            <a:spLocks/>
          </p:cNvSpPr>
          <p:nvPr/>
        </p:nvSpPr>
        <p:spPr bwMode="auto">
          <a:xfrm>
            <a:off x="8919828" y="3765831"/>
            <a:ext cx="3066672" cy="1815037"/>
          </a:xfrm>
          <a:prstGeom prst="rect">
            <a:avLst/>
          </a:prstGeom>
          <a:solidFill>
            <a:schemeClr val="bg1"/>
          </a:solidFill>
          <a:ln>
            <a:noFill/>
          </a:ln>
        </p:spPr>
        <p:txBody>
          <a:bodyPr lIns="0" tIns="0" rIns="30471" bIns="0"/>
          <a:lstStyle>
            <a:lvl1pPr marL="6350" algn="ctr" defTabSz="684213">
              <a:spcBef>
                <a:spcPts val="1400"/>
              </a:spcBef>
              <a:defRPr sz="5700">
                <a:solidFill>
                  <a:srgbClr val="878787"/>
                </a:solidFill>
                <a:latin typeface="Lucida Grande"/>
                <a:ea typeface="ヒラギノ角ゴ ProN W3"/>
                <a:cs typeface="ヒラギノ角ゴ ProN W3"/>
                <a:sym typeface="Lucida Grande"/>
              </a:defRPr>
            </a:lvl1pPr>
            <a:lvl2pPr marL="742950" indent="-285750" algn="ctr" defTabSz="684213">
              <a:spcBef>
                <a:spcPts val="1200"/>
              </a:spcBef>
              <a:defRPr sz="5200">
                <a:solidFill>
                  <a:srgbClr val="878787"/>
                </a:solidFill>
                <a:latin typeface="Lucida Grande"/>
                <a:ea typeface="ヒラギノ角ゴ ProN W3"/>
                <a:cs typeface="ヒラギノ角ゴ ProN W3"/>
                <a:sym typeface="Lucida Grande"/>
              </a:defRPr>
            </a:lvl2pPr>
            <a:lvl3pPr marL="1143000" indent="-228600" algn="ctr" defTabSz="684213">
              <a:spcBef>
                <a:spcPts val="1000"/>
              </a:spcBef>
              <a:defRPr sz="4300">
                <a:solidFill>
                  <a:srgbClr val="878787"/>
                </a:solidFill>
                <a:latin typeface="Lucida Grande"/>
                <a:ea typeface="ヒラギノ角ゴ ProN W3"/>
                <a:cs typeface="ヒラギノ角ゴ ProN W3"/>
                <a:sym typeface="Lucida Grande"/>
              </a:defRPr>
            </a:lvl3pPr>
            <a:lvl4pPr marL="1600200" indent="-228600" algn="ctr" defTabSz="684213">
              <a:spcBef>
                <a:spcPts val="900"/>
              </a:spcBef>
              <a:defRPr sz="3600">
                <a:solidFill>
                  <a:srgbClr val="878787"/>
                </a:solidFill>
                <a:latin typeface="Lucida Grande"/>
                <a:ea typeface="ヒラギノ角ゴ ProN W3"/>
                <a:cs typeface="ヒラギノ角ゴ ProN W3"/>
                <a:sym typeface="Lucida Grande"/>
              </a:defRPr>
            </a:lvl4pPr>
            <a:lvl5pPr marL="2057400" indent="-228600" algn="ctr" defTabSz="684213">
              <a:spcBef>
                <a:spcPts val="900"/>
              </a:spcBef>
              <a:defRPr sz="3600">
                <a:solidFill>
                  <a:srgbClr val="878787"/>
                </a:solidFill>
                <a:latin typeface="Lucida Grande"/>
                <a:ea typeface="ヒラギノ角ゴ ProN W3"/>
                <a:cs typeface="ヒラギノ角ゴ ProN W3"/>
                <a:sym typeface="Lucida Grande"/>
              </a:defRPr>
            </a:lvl5pPr>
            <a:lvl6pPr marL="2514600" indent="-228600" algn="ctr" defTabSz="684213" eaLnBrk="0" fontAlgn="base" hangingPunct="0">
              <a:spcBef>
                <a:spcPts val="900"/>
              </a:spcBef>
              <a:spcAft>
                <a:spcPct val="0"/>
              </a:spcAft>
              <a:defRPr sz="3600">
                <a:solidFill>
                  <a:srgbClr val="878787"/>
                </a:solidFill>
                <a:latin typeface="Lucida Grande"/>
                <a:ea typeface="ヒラギノ角ゴ ProN W3"/>
                <a:cs typeface="ヒラギノ角ゴ ProN W3"/>
                <a:sym typeface="Lucida Grande"/>
              </a:defRPr>
            </a:lvl6pPr>
            <a:lvl7pPr marL="2971800" indent="-228600" algn="ctr" defTabSz="684213" eaLnBrk="0" fontAlgn="base" hangingPunct="0">
              <a:spcBef>
                <a:spcPts val="900"/>
              </a:spcBef>
              <a:spcAft>
                <a:spcPct val="0"/>
              </a:spcAft>
              <a:defRPr sz="3600">
                <a:solidFill>
                  <a:srgbClr val="878787"/>
                </a:solidFill>
                <a:latin typeface="Lucida Grande"/>
                <a:ea typeface="ヒラギノ角ゴ ProN W3"/>
                <a:cs typeface="ヒラギノ角ゴ ProN W3"/>
                <a:sym typeface="Lucida Grande"/>
              </a:defRPr>
            </a:lvl7pPr>
            <a:lvl8pPr marL="3429000" indent="-228600" algn="ctr" defTabSz="684213" eaLnBrk="0" fontAlgn="base" hangingPunct="0">
              <a:spcBef>
                <a:spcPts val="900"/>
              </a:spcBef>
              <a:spcAft>
                <a:spcPct val="0"/>
              </a:spcAft>
              <a:defRPr sz="3600">
                <a:solidFill>
                  <a:srgbClr val="878787"/>
                </a:solidFill>
                <a:latin typeface="Lucida Grande"/>
                <a:ea typeface="ヒラギノ角ゴ ProN W3"/>
                <a:cs typeface="ヒラギノ角ゴ ProN W3"/>
                <a:sym typeface="Lucida Grande"/>
              </a:defRPr>
            </a:lvl8pPr>
            <a:lvl9pPr marL="3886200" indent="-228600" algn="ctr" defTabSz="684213" eaLnBrk="0" fontAlgn="base" hangingPunct="0">
              <a:spcBef>
                <a:spcPts val="900"/>
              </a:spcBef>
              <a:spcAft>
                <a:spcPct val="0"/>
              </a:spcAft>
              <a:defRPr sz="3600">
                <a:solidFill>
                  <a:srgbClr val="878787"/>
                </a:solidFill>
                <a:latin typeface="Lucida Grande"/>
                <a:ea typeface="ヒラギノ角ゴ ProN W3"/>
                <a:cs typeface="ヒラギノ角ゴ ProN W3"/>
                <a:sym typeface="Lucida Grande"/>
              </a:defRPr>
            </a:lvl9pPr>
          </a:lstStyle>
          <a:p>
            <a:pPr marL="6350" marR="0" lvl="0" indent="0" algn="l" defTabSz="684181" rtl="0" eaLnBrk="0" fontAlgn="base" latinLnBrk="0" hangingPunct="0">
              <a:lnSpc>
                <a:spcPct val="100000"/>
              </a:lnSpc>
              <a:spcBef>
                <a:spcPct val="0"/>
              </a:spcBef>
              <a:spcAft>
                <a:spcPct val="0"/>
              </a:spcAft>
              <a:buClrTx/>
              <a:buSzTx/>
              <a:buFontTx/>
              <a:buNone/>
              <a:tabLst/>
              <a:defRPr/>
            </a:pPr>
            <a:r>
              <a:rPr kumimoji="0" lang="es-CL" altLang="es-ES" sz="1200" b="1" i="0" u="none" strike="noStrike" kern="1200" cap="none" spc="0" normalizeH="0" baseline="0" noProof="0" dirty="0">
                <a:ln>
                  <a:noFill/>
                </a:ln>
                <a:solidFill>
                  <a:srgbClr val="000000"/>
                </a:solidFill>
                <a:effectLst/>
                <a:uLnTx/>
                <a:uFillTx/>
                <a:latin typeface="Montserrat" panose="00000500000000000000" pitchFamily="2" charset="0"/>
                <a:ea typeface="Helvetica Neue Light"/>
                <a:cs typeface="Helvetica Neue Light"/>
                <a:sym typeface="Helvetica Neue Light"/>
              </a:rPr>
              <a:t>Riesgo de Viabilidad: </a:t>
            </a:r>
          </a:p>
          <a:p>
            <a:pPr marL="6350" marR="0" lvl="0" indent="0" algn="l" defTabSz="684181" rtl="0" eaLnBrk="0" fontAlgn="base" latinLnBrk="0" hangingPunct="0">
              <a:lnSpc>
                <a:spcPct val="100000"/>
              </a:lnSpc>
              <a:spcBef>
                <a:spcPct val="0"/>
              </a:spcBef>
              <a:spcAft>
                <a:spcPct val="0"/>
              </a:spcAft>
              <a:buClrTx/>
              <a:buSzTx/>
              <a:buFontTx/>
              <a:buNone/>
              <a:tabLst/>
              <a:defRPr/>
            </a:pPr>
            <a:r>
              <a:rPr kumimoji="0" lang="es-CL" altLang="es-ES" sz="1200" b="0" i="1" u="none" strike="noStrike" kern="1200" cap="none" spc="0" normalizeH="0" baseline="0" noProof="0" dirty="0">
                <a:ln>
                  <a:noFill/>
                </a:ln>
                <a:solidFill>
                  <a:srgbClr val="000000"/>
                </a:solidFill>
                <a:effectLst/>
                <a:uLnTx/>
                <a:uFillTx/>
                <a:latin typeface="Montserrat" panose="00000500000000000000" pitchFamily="2" charset="0"/>
                <a:ea typeface="Helvetica Neue Light"/>
                <a:cs typeface="Helvetica Neue Light"/>
                <a:sym typeface="Helvetica Neue Light"/>
              </a:rPr>
              <a:t>No podemos ganar suficiente dinero</a:t>
            </a:r>
          </a:p>
          <a:p>
            <a:pPr marL="6350" marR="0" lvl="0" indent="0" algn="l" defTabSz="684181" rtl="0" eaLnBrk="0" fontAlgn="base" latinLnBrk="0" hangingPunct="0">
              <a:lnSpc>
                <a:spcPct val="100000"/>
              </a:lnSpc>
              <a:spcBef>
                <a:spcPct val="0"/>
              </a:spcBef>
              <a:spcAft>
                <a:spcPct val="0"/>
              </a:spcAft>
              <a:buClrTx/>
              <a:buSzTx/>
              <a:buFontTx/>
              <a:buNone/>
              <a:tabLst/>
              <a:defRPr/>
            </a:pPr>
            <a:r>
              <a:rPr kumimoji="0" lang="es-CL" altLang="es-ES" sz="1200" b="0" i="0" u="none" strike="noStrike" kern="1200" cap="none" spc="0" normalizeH="0" baseline="0" noProof="0" dirty="0">
                <a:ln>
                  <a:noFill/>
                </a:ln>
                <a:solidFill>
                  <a:srgbClr val="000000"/>
                </a:solidFill>
                <a:effectLst/>
                <a:uLnTx/>
                <a:uFillTx/>
                <a:latin typeface="Montserrat" panose="00000500000000000000" pitchFamily="2" charset="0"/>
                <a:ea typeface="Helvetica Neue Light"/>
                <a:cs typeface="Helvetica Neue Light"/>
                <a:sym typeface="Helvetica Neue Light"/>
              </a:rPr>
              <a:t>El riesgo es que una empresa no pueda generar flujos de ingresos exitosos, que los clientes no estén dispuestos a pagar (lo suficiente) o que los costos sean demasiado altos para obtener una ganancia sostenible.</a:t>
            </a:r>
            <a:endParaRPr kumimoji="0" lang="es-ES" altLang="es-ES" sz="1200" b="0" i="0" u="none" strike="noStrike" kern="1200" cap="none" spc="0" normalizeH="0" baseline="0" noProof="0" dirty="0">
              <a:ln>
                <a:noFill/>
              </a:ln>
              <a:solidFill>
                <a:srgbClr val="000000"/>
              </a:solidFill>
              <a:effectLst/>
              <a:uLnTx/>
              <a:uFillTx/>
              <a:latin typeface="Montserrat" panose="00000500000000000000" pitchFamily="2" charset="0"/>
              <a:ea typeface="Helvetica Neue Light"/>
              <a:cs typeface="Helvetica Neue Light"/>
              <a:sym typeface="Helvetica Neue Light"/>
            </a:endParaRPr>
          </a:p>
          <a:p>
            <a:pPr marL="292087" marR="0" lvl="0" indent="-285737" algn="l" defTabSz="684181"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s-ES" altLang="es-ES" sz="1200" b="0" i="0" u="none" strike="noStrike" kern="1200" cap="none" spc="0" normalizeH="0" baseline="0" noProof="0" dirty="0">
              <a:ln>
                <a:noFill/>
              </a:ln>
              <a:solidFill>
                <a:srgbClr val="000000"/>
              </a:solidFill>
              <a:effectLst/>
              <a:uLnTx/>
              <a:uFillTx/>
              <a:latin typeface="Montserrat" panose="00000500000000000000" pitchFamily="2" charset="0"/>
              <a:ea typeface="Helvetica Neue Light"/>
              <a:cs typeface="Helvetica Neue Light"/>
              <a:sym typeface="Helvetica Neue Light"/>
            </a:endParaRPr>
          </a:p>
          <a:p>
            <a:pPr marL="292087" marR="0" lvl="0" indent="-285737" algn="l" defTabSz="684181"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s-ES" altLang="es-ES" sz="1200" b="0" i="0" u="none" strike="noStrike" kern="1200" cap="none" spc="0" normalizeH="0" baseline="0" noProof="0" dirty="0">
              <a:ln>
                <a:noFill/>
              </a:ln>
              <a:solidFill>
                <a:srgbClr val="000000"/>
              </a:solidFill>
              <a:effectLst/>
              <a:uLnTx/>
              <a:uFillTx/>
              <a:latin typeface="Montserrat" panose="00000500000000000000" pitchFamily="2" charset="0"/>
              <a:ea typeface="Helvetica Neue Light"/>
              <a:cs typeface="Helvetica Neue Light"/>
              <a:sym typeface="Helvetica Neue Light"/>
            </a:endParaRPr>
          </a:p>
          <a:p>
            <a:pPr marL="6350" marR="0" lvl="0" indent="0" algn="l" defTabSz="684181" rtl="0" eaLnBrk="0" fontAlgn="base" latinLnBrk="0" hangingPunct="0">
              <a:lnSpc>
                <a:spcPct val="100000"/>
              </a:lnSpc>
              <a:spcBef>
                <a:spcPct val="0"/>
              </a:spcBef>
              <a:spcAft>
                <a:spcPct val="0"/>
              </a:spcAft>
              <a:buClrTx/>
              <a:buSzTx/>
              <a:buFontTx/>
              <a:buNone/>
              <a:tabLst/>
              <a:defRPr/>
            </a:pPr>
            <a:br>
              <a:rPr kumimoji="0" lang="es-ES" altLang="es-ES" sz="1200" b="0" i="0" u="none" strike="noStrike" kern="1200" cap="none" spc="0" normalizeH="0" baseline="0" noProof="0" dirty="0">
                <a:ln>
                  <a:noFill/>
                </a:ln>
                <a:solidFill>
                  <a:srgbClr val="000000"/>
                </a:solidFill>
                <a:effectLst/>
                <a:uLnTx/>
                <a:uFillTx/>
                <a:latin typeface="Montserrat" panose="00000500000000000000" pitchFamily="2" charset="0"/>
                <a:ea typeface="Helvetica Neue Light"/>
                <a:cs typeface="Helvetica Neue Light"/>
                <a:sym typeface="Helvetica Neue Light"/>
              </a:rPr>
            </a:br>
            <a:endParaRPr kumimoji="0" lang="es-CL" altLang="es-ES" sz="1200" b="0" i="1" u="none" strike="noStrike" kern="1200" cap="none" spc="0" normalizeH="0" baseline="0" noProof="0" dirty="0">
              <a:ln>
                <a:noFill/>
              </a:ln>
              <a:solidFill>
                <a:srgbClr val="000000"/>
              </a:solidFill>
              <a:effectLst/>
              <a:uLnTx/>
              <a:uFillTx/>
              <a:latin typeface="Montserrat" panose="00000500000000000000" pitchFamily="2" charset="0"/>
              <a:ea typeface="Helvetica Neue Light"/>
              <a:cs typeface="Helvetica Neue Light"/>
              <a:sym typeface="Helvetica Neue Light"/>
            </a:endParaRPr>
          </a:p>
        </p:txBody>
      </p:sp>
      <p:sp>
        <p:nvSpPr>
          <p:cNvPr id="6" name="CuadroTexto 5">
            <a:extLst>
              <a:ext uri="{FF2B5EF4-FFF2-40B4-BE49-F238E27FC236}">
                <a16:creationId xmlns:a16="http://schemas.microsoft.com/office/drawing/2014/main" id="{0E6E75E4-95E7-4CCF-989B-05D66A380767}"/>
              </a:ext>
            </a:extLst>
          </p:cNvPr>
          <p:cNvSpPr txBox="1"/>
          <p:nvPr/>
        </p:nvSpPr>
        <p:spPr>
          <a:xfrm>
            <a:off x="474133" y="6354169"/>
            <a:ext cx="10865564"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000" b="0" i="0" u="none" strike="noStrike" kern="1200" cap="none" spc="0" normalizeH="0" baseline="0" noProof="0" dirty="0">
                <a:ln>
                  <a:noFill/>
                </a:ln>
                <a:solidFill>
                  <a:srgbClr val="000000"/>
                </a:solidFill>
                <a:effectLst/>
                <a:uLnTx/>
                <a:uFillTx/>
                <a:latin typeface="Montserrat" panose="00000500000000000000" pitchFamily="2" charset="0"/>
              </a:rPr>
              <a:t>Fuente: Osterwalder, A. (2020)</a:t>
            </a:r>
          </a:p>
        </p:txBody>
      </p:sp>
      <p:sp>
        <p:nvSpPr>
          <p:cNvPr id="7" name="CuadroTexto 6">
            <a:extLst>
              <a:ext uri="{FF2B5EF4-FFF2-40B4-BE49-F238E27FC236}">
                <a16:creationId xmlns:a16="http://schemas.microsoft.com/office/drawing/2014/main" id="{8F630E6A-26A5-4DF3-A9C4-AFE523191895}"/>
              </a:ext>
            </a:extLst>
          </p:cNvPr>
          <p:cNvSpPr txBox="1"/>
          <p:nvPr/>
        </p:nvSpPr>
        <p:spPr>
          <a:xfrm>
            <a:off x="474132" y="380720"/>
            <a:ext cx="2798041" cy="15696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srgbClr val="000000"/>
                </a:solidFill>
                <a:effectLst/>
                <a:uLnTx/>
                <a:uFillTx/>
                <a:latin typeface="Montserrat" panose="00000500000000000000" pitchFamily="2" charset="0"/>
              </a:rPr>
              <a:t>Usando la herramienta del lienzo del modelo de negocios CANVAS, se identifican riesgos inminentes que aparecen en los startups: </a:t>
            </a:r>
          </a:p>
        </p:txBody>
      </p:sp>
    </p:spTree>
    <p:extLst>
      <p:ext uri="{BB962C8B-B14F-4D97-AF65-F5344CB8AC3E}">
        <p14:creationId xmlns:p14="http://schemas.microsoft.com/office/powerpoint/2010/main" val="235605270"/>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C00E0ABD-AC30-4A1E-B10B-8DB1DF017042}"/>
              </a:ext>
            </a:extLst>
          </p:cNvPr>
          <p:cNvPicPr>
            <a:picLocks noChangeAspect="1"/>
          </p:cNvPicPr>
          <p:nvPr/>
        </p:nvPicPr>
        <p:blipFill>
          <a:blip r:embed="rId2"/>
          <a:stretch>
            <a:fillRect/>
          </a:stretch>
        </p:blipFill>
        <p:spPr>
          <a:xfrm>
            <a:off x="2292178" y="192561"/>
            <a:ext cx="7834183" cy="6472877"/>
          </a:xfrm>
          <a:prstGeom prst="rect">
            <a:avLst/>
          </a:prstGeom>
        </p:spPr>
      </p:pic>
    </p:spTree>
    <p:extLst>
      <p:ext uri="{BB962C8B-B14F-4D97-AF65-F5344CB8AC3E}">
        <p14:creationId xmlns:p14="http://schemas.microsoft.com/office/powerpoint/2010/main" val="23741453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FBBC7046-FAA1-48C5-BEDC-6E74C9017B07}"/>
              </a:ext>
            </a:extLst>
          </p:cNvPr>
          <p:cNvSpPr/>
          <p:nvPr/>
        </p:nvSpPr>
        <p:spPr>
          <a:xfrm>
            <a:off x="663218" y="2467931"/>
            <a:ext cx="10865564" cy="3317094"/>
          </a:xfrm>
          <a:prstGeom prst="rect">
            <a:avLst/>
          </a:prstGeom>
        </p:spPr>
        <p:txBody>
          <a:bodyPr wrap="square" lIns="179296" tIns="89646" rIns="179296" bIns="89646">
            <a:spAutoFit/>
          </a:bodyPr>
          <a:lstStyle/>
          <a:p>
            <a:pPr marL="0" marR="0" lvl="0" indent="0" algn="just" defTabSz="896596" rtl="0" eaLnBrk="0" fontAlgn="base" latinLnBrk="0" hangingPunct="0">
              <a:lnSpc>
                <a:spcPct val="114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000000"/>
                </a:solidFill>
                <a:effectLst/>
                <a:uLnTx/>
                <a:uFillTx/>
                <a:latin typeface="Montserrat" panose="00000500000000000000" pitchFamily="2" charset="0"/>
                <a:cs typeface="TradeGothic Light"/>
                <a:sym typeface="Gill Sans" charset="0"/>
              </a:rPr>
              <a:t>1. Hipótesis de deseabilidad: </a:t>
            </a:r>
            <a:r>
              <a:rPr kumimoji="0" lang="es-CL" sz="1800" b="0" i="0" u="none" strike="noStrike" kern="1200" cap="none" spc="0" normalizeH="0" baseline="0" noProof="0" dirty="0">
                <a:ln>
                  <a:noFill/>
                </a:ln>
                <a:solidFill>
                  <a:srgbClr val="000000"/>
                </a:solidFill>
                <a:effectLst/>
                <a:uLnTx/>
                <a:uFillTx/>
                <a:latin typeface="Montserrat" panose="00000500000000000000" pitchFamily="2" charset="0"/>
                <a:cs typeface="TradeGothic Light"/>
                <a:sym typeface="Gill Sans" charset="0"/>
              </a:rPr>
              <a:t>Todas aquellas que involucren establecer el </a:t>
            </a:r>
            <a:r>
              <a:rPr kumimoji="0" lang="es-CL" sz="1800" b="1" i="0" u="none" strike="noStrike" kern="1200" cap="none" spc="0" normalizeH="0" baseline="0" noProof="0" dirty="0">
                <a:ln>
                  <a:noFill/>
                </a:ln>
                <a:solidFill>
                  <a:srgbClr val="333399"/>
                </a:solidFill>
                <a:effectLst/>
                <a:uLnTx/>
                <a:uFillTx/>
                <a:latin typeface="Montserrat" panose="00000500000000000000" pitchFamily="2" charset="0"/>
                <a:sym typeface="Gill Sans" charset="0"/>
              </a:rPr>
              <a:t>eje entre propuesta de valor y cliente</a:t>
            </a:r>
            <a:r>
              <a:rPr kumimoji="0" lang="es-CL" sz="1800" b="0" i="0" u="none" strike="noStrike" kern="1200" cap="none" spc="0" normalizeH="0" baseline="0" noProof="0" dirty="0">
                <a:ln>
                  <a:noFill/>
                </a:ln>
                <a:solidFill>
                  <a:srgbClr val="000000"/>
                </a:solidFill>
                <a:effectLst/>
                <a:uLnTx/>
                <a:uFillTx/>
                <a:latin typeface="Montserrat" panose="00000500000000000000" pitchFamily="2" charset="0"/>
                <a:cs typeface="TradeGothic Light"/>
                <a:sym typeface="Gill Sans" charset="0"/>
              </a:rPr>
              <a:t> a la velocidad de adquisición que requiere el modelo.</a:t>
            </a:r>
            <a:endParaRPr kumimoji="0" lang="es-CL" sz="1800" b="1" i="0" u="none" strike="noStrike" kern="1200" cap="none" spc="0" normalizeH="0" baseline="0" noProof="0" dirty="0">
              <a:ln>
                <a:noFill/>
              </a:ln>
              <a:solidFill>
                <a:srgbClr val="000000"/>
              </a:solidFill>
              <a:effectLst/>
              <a:uLnTx/>
              <a:uFillTx/>
              <a:latin typeface="Montserrat" panose="00000500000000000000" pitchFamily="2" charset="0"/>
              <a:cs typeface="TradeGothic Light"/>
              <a:sym typeface="Gill Sans" charset="0"/>
            </a:endParaRPr>
          </a:p>
          <a:p>
            <a:pPr marL="0" marR="0" lvl="0" indent="0" algn="just" defTabSz="896596" rtl="0" eaLnBrk="0" fontAlgn="base" latinLnBrk="0" hangingPunct="0">
              <a:lnSpc>
                <a:spcPct val="114000"/>
              </a:lnSpc>
              <a:spcBef>
                <a:spcPct val="0"/>
              </a:spcBef>
              <a:spcAft>
                <a:spcPct val="0"/>
              </a:spcAft>
              <a:buClrTx/>
              <a:buSzTx/>
              <a:buFontTx/>
              <a:buNone/>
              <a:tabLst/>
              <a:defRPr/>
            </a:pPr>
            <a:endParaRPr kumimoji="0" lang="es-CL" sz="1800" b="1" i="0" u="none" strike="noStrike" kern="1200" cap="none" spc="0" normalizeH="0" baseline="0" noProof="0" dirty="0">
              <a:ln>
                <a:noFill/>
              </a:ln>
              <a:solidFill>
                <a:srgbClr val="000000"/>
              </a:solidFill>
              <a:effectLst/>
              <a:uLnTx/>
              <a:uFillTx/>
              <a:latin typeface="Montserrat" panose="00000500000000000000" pitchFamily="2" charset="0"/>
              <a:cs typeface="TradeGothic Light"/>
              <a:sym typeface="Gill Sans" charset="0"/>
            </a:endParaRPr>
          </a:p>
          <a:p>
            <a:pPr marL="0" marR="0" lvl="0" indent="0" algn="just" defTabSz="896596" rtl="0" eaLnBrk="0" fontAlgn="base" latinLnBrk="0" hangingPunct="0">
              <a:lnSpc>
                <a:spcPct val="114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000000"/>
                </a:solidFill>
                <a:effectLst/>
                <a:uLnTx/>
                <a:uFillTx/>
                <a:latin typeface="Montserrat" panose="00000500000000000000" pitchFamily="2" charset="0"/>
                <a:cs typeface="TradeGothic Light"/>
                <a:sym typeface="Gill Sans" charset="0"/>
              </a:rPr>
              <a:t>2. Hipótesis de factibilidad: </a:t>
            </a:r>
            <a:r>
              <a:rPr kumimoji="0" lang="es-CL" sz="1800" b="0" i="0" u="none" strike="noStrike" kern="1200" cap="none" spc="0" normalizeH="0" baseline="0" noProof="0" dirty="0">
                <a:ln>
                  <a:noFill/>
                </a:ln>
                <a:solidFill>
                  <a:srgbClr val="000000"/>
                </a:solidFill>
                <a:effectLst/>
                <a:uLnTx/>
                <a:uFillTx/>
                <a:latin typeface="Montserrat" panose="00000500000000000000" pitchFamily="2" charset="0"/>
                <a:cs typeface="TradeGothic Light"/>
                <a:sym typeface="Gill Sans" charset="0"/>
              </a:rPr>
              <a:t>Tienen que ver con lograr </a:t>
            </a:r>
            <a:r>
              <a:rPr kumimoji="0" lang="es-CL" sz="1800" b="1" i="0" u="none" strike="noStrike" kern="1200" cap="none" spc="0" normalizeH="0" baseline="0" noProof="0" dirty="0">
                <a:ln>
                  <a:noFill/>
                </a:ln>
                <a:solidFill>
                  <a:srgbClr val="333399"/>
                </a:solidFill>
                <a:effectLst/>
                <a:uLnTx/>
                <a:uFillTx/>
                <a:latin typeface="Montserrat" panose="00000500000000000000" pitchFamily="2" charset="0"/>
                <a:cs typeface="TradeGothic Light"/>
                <a:sym typeface="Gill Sans" charset="0"/>
              </a:rPr>
              <a:t>fabricar</a:t>
            </a:r>
            <a:r>
              <a:rPr kumimoji="0" lang="es-CL" sz="1800" b="0" i="0" u="none" strike="noStrike" kern="1200" cap="none" spc="0" normalizeH="0" baseline="0" noProof="0" dirty="0">
                <a:ln>
                  <a:noFill/>
                </a:ln>
                <a:solidFill>
                  <a:srgbClr val="000000"/>
                </a:solidFill>
                <a:effectLst/>
                <a:uLnTx/>
                <a:uFillTx/>
                <a:latin typeface="Montserrat" panose="00000500000000000000" pitchFamily="2" charset="0"/>
                <a:cs typeface="TradeGothic Light"/>
                <a:sym typeface="Gill Sans" charset="0"/>
              </a:rPr>
              <a:t>, producir valor a la velocidad y calidad que el modelo requiere para cumplir la propuesta de valor.</a:t>
            </a:r>
          </a:p>
          <a:p>
            <a:pPr marL="0" marR="0" lvl="0" indent="0" algn="just" defTabSz="896596" rtl="0" eaLnBrk="0" fontAlgn="base" latinLnBrk="0" hangingPunct="0">
              <a:lnSpc>
                <a:spcPct val="114000"/>
              </a:lnSpc>
              <a:spcBef>
                <a:spcPct val="0"/>
              </a:spcBef>
              <a:spcAft>
                <a:spcPct val="0"/>
              </a:spcAft>
              <a:buClrTx/>
              <a:buSzTx/>
              <a:buFontTx/>
              <a:buNone/>
              <a:tabLst/>
              <a:defRPr/>
            </a:pPr>
            <a:endParaRPr kumimoji="0" lang="es-CL" sz="1800" b="0" i="0" u="none" strike="noStrike" kern="1200" cap="none" spc="0" normalizeH="0" baseline="0" noProof="0" dirty="0">
              <a:ln>
                <a:noFill/>
              </a:ln>
              <a:solidFill>
                <a:srgbClr val="000000"/>
              </a:solidFill>
              <a:effectLst/>
              <a:uLnTx/>
              <a:uFillTx/>
              <a:latin typeface="Montserrat" panose="00000500000000000000" pitchFamily="2" charset="0"/>
              <a:cs typeface="TradeGothic Light"/>
              <a:sym typeface="Gill Sans" charset="0"/>
            </a:endParaRPr>
          </a:p>
          <a:p>
            <a:pPr marL="0" marR="0" lvl="0" indent="0" algn="just" defTabSz="896596" rtl="0" eaLnBrk="0" fontAlgn="base" latinLnBrk="0" hangingPunct="0">
              <a:lnSpc>
                <a:spcPct val="114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000000"/>
                </a:solidFill>
                <a:effectLst/>
                <a:uLnTx/>
                <a:uFillTx/>
                <a:latin typeface="Montserrat" panose="00000500000000000000" pitchFamily="2" charset="0"/>
                <a:cs typeface="TradeGothic Light"/>
                <a:sym typeface="Gill Sans" charset="0"/>
              </a:rPr>
              <a:t>3. Hipótesis de viabilidad: </a:t>
            </a:r>
            <a:r>
              <a:rPr kumimoji="0" lang="es-CL" sz="1800" b="0" i="0" u="none" strike="noStrike" kern="1200" cap="none" spc="0" normalizeH="0" baseline="0" noProof="0" dirty="0">
                <a:ln>
                  <a:noFill/>
                </a:ln>
                <a:solidFill>
                  <a:srgbClr val="000000"/>
                </a:solidFill>
                <a:effectLst/>
                <a:uLnTx/>
                <a:uFillTx/>
                <a:latin typeface="Montserrat" panose="00000500000000000000" pitchFamily="2" charset="0"/>
                <a:cs typeface="TradeGothic Light"/>
                <a:sym typeface="Gill Sans" charset="0"/>
              </a:rPr>
              <a:t>Implican trabajar sobre el </a:t>
            </a:r>
            <a:r>
              <a:rPr kumimoji="0" lang="es-CL" sz="1800" b="1" i="0" u="none" strike="noStrike" kern="1200" cap="none" spc="0" normalizeH="0" baseline="0" noProof="0" dirty="0">
                <a:ln>
                  <a:noFill/>
                </a:ln>
                <a:solidFill>
                  <a:srgbClr val="333399"/>
                </a:solidFill>
                <a:effectLst/>
                <a:uLnTx/>
                <a:uFillTx/>
                <a:latin typeface="Montserrat" panose="00000500000000000000" pitchFamily="2" charset="0"/>
                <a:sym typeface="Gill Sans" charset="0"/>
              </a:rPr>
              <a:t>ajuste entre costos e ingresos</a:t>
            </a:r>
            <a:r>
              <a:rPr kumimoji="0" lang="es-CL" sz="1800" b="0" i="0" u="none" strike="noStrike" kern="1200" cap="none" spc="0" normalizeH="0" baseline="0" noProof="0" dirty="0">
                <a:ln>
                  <a:noFill/>
                </a:ln>
                <a:solidFill>
                  <a:srgbClr val="000000"/>
                </a:solidFill>
                <a:effectLst/>
                <a:uLnTx/>
                <a:uFillTx/>
                <a:latin typeface="Montserrat" panose="00000500000000000000" pitchFamily="2" charset="0"/>
                <a:cs typeface="TradeGothic Light"/>
                <a:sym typeface="Gill Sans" charset="0"/>
              </a:rPr>
              <a:t>, considerando curvas de aprendizaje, economías de escala para la fabricación, y fuentes de ingreso y pago efectivo.</a:t>
            </a:r>
          </a:p>
          <a:p>
            <a:pPr marL="0" marR="0" lvl="0" indent="0" algn="just" defTabSz="896596" rtl="0" eaLnBrk="0" fontAlgn="base" latinLnBrk="0" hangingPunct="0">
              <a:lnSpc>
                <a:spcPct val="114000"/>
              </a:lnSpc>
              <a:spcBef>
                <a:spcPct val="0"/>
              </a:spcBef>
              <a:spcAft>
                <a:spcPct val="0"/>
              </a:spcAft>
              <a:buClrTx/>
              <a:buSzTx/>
              <a:buFontTx/>
              <a:buNone/>
              <a:tabLst/>
              <a:defRPr/>
            </a:pPr>
            <a:endParaRPr kumimoji="0" lang="es-CL" sz="1800" b="0" i="0" u="none" strike="noStrike" kern="1200" cap="none" spc="0" normalizeH="0" baseline="0" noProof="0" dirty="0">
              <a:ln>
                <a:noFill/>
              </a:ln>
              <a:solidFill>
                <a:srgbClr val="000000"/>
              </a:solidFill>
              <a:effectLst/>
              <a:uLnTx/>
              <a:uFillTx/>
              <a:latin typeface="Montserrat" panose="00000500000000000000" pitchFamily="2" charset="0"/>
              <a:cs typeface="TradeGothic Light"/>
              <a:sym typeface="Gill Sans" charset="0"/>
            </a:endParaRPr>
          </a:p>
        </p:txBody>
      </p:sp>
      <p:sp>
        <p:nvSpPr>
          <p:cNvPr id="9" name="CuadroTexto 8">
            <a:extLst>
              <a:ext uri="{FF2B5EF4-FFF2-40B4-BE49-F238E27FC236}">
                <a16:creationId xmlns:a16="http://schemas.microsoft.com/office/drawing/2014/main" id="{820C1E1C-041F-40A9-9F9C-4C2380C89669}"/>
              </a:ext>
            </a:extLst>
          </p:cNvPr>
          <p:cNvSpPr txBox="1"/>
          <p:nvPr/>
        </p:nvSpPr>
        <p:spPr>
          <a:xfrm>
            <a:off x="663218" y="1820134"/>
            <a:ext cx="10865564" cy="369332"/>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sz="1800" b="0" i="0" u="none" strike="noStrike" kern="1200" cap="none" spc="0" normalizeH="0" baseline="0" noProof="0" dirty="0">
                <a:ln>
                  <a:noFill/>
                </a:ln>
                <a:solidFill>
                  <a:srgbClr val="000000"/>
                </a:solidFill>
                <a:effectLst/>
                <a:uLnTx/>
                <a:uFillTx/>
                <a:latin typeface="Montserrat" panose="00000500000000000000" pitchFamily="2" charset="0"/>
              </a:rPr>
              <a:t>Frente a los riesgos, es necesario el establecimiento de hipótesis comprobables.</a:t>
            </a:r>
          </a:p>
        </p:txBody>
      </p:sp>
      <p:sp>
        <p:nvSpPr>
          <p:cNvPr id="11" name="TextBox 1">
            <a:extLst>
              <a:ext uri="{FF2B5EF4-FFF2-40B4-BE49-F238E27FC236}">
                <a16:creationId xmlns:a16="http://schemas.microsoft.com/office/drawing/2014/main" id="{970A3619-4D33-4CC1-A2DF-B4AAC58138D4}"/>
              </a:ext>
            </a:extLst>
          </p:cNvPr>
          <p:cNvSpPr txBox="1"/>
          <p:nvPr/>
        </p:nvSpPr>
        <p:spPr>
          <a:xfrm>
            <a:off x="663218" y="599473"/>
            <a:ext cx="1086556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srgbClr val="000000"/>
                </a:solidFill>
                <a:effectLst/>
                <a:uLnTx/>
                <a:uFillTx/>
                <a:latin typeface="Montserrat SemiBold" pitchFamily="2" charset="0"/>
              </a:rPr>
              <a:t>Planteamiento de hipótesis</a:t>
            </a:r>
            <a:endParaRPr kumimoji="0" lang="es-CL" sz="2800" b="0" i="0" u="none" strike="noStrike" kern="1200" cap="none" spc="0" normalizeH="0" baseline="0" noProof="0" dirty="0">
              <a:ln>
                <a:noFill/>
              </a:ln>
              <a:solidFill>
                <a:srgbClr val="000000"/>
              </a:solidFill>
              <a:effectLst/>
              <a:uLnTx/>
              <a:uFillTx/>
              <a:latin typeface="Montserrat SemiBold" pitchFamily="2" charset="0"/>
            </a:endParaRPr>
          </a:p>
        </p:txBody>
      </p:sp>
      <p:sp>
        <p:nvSpPr>
          <p:cNvPr id="15" name="CuadroTexto 14">
            <a:extLst>
              <a:ext uri="{FF2B5EF4-FFF2-40B4-BE49-F238E27FC236}">
                <a16:creationId xmlns:a16="http://schemas.microsoft.com/office/drawing/2014/main" id="{879DCBA3-228D-47BF-AEB1-823E5ABD2523}"/>
              </a:ext>
            </a:extLst>
          </p:cNvPr>
          <p:cNvSpPr txBox="1"/>
          <p:nvPr/>
        </p:nvSpPr>
        <p:spPr>
          <a:xfrm>
            <a:off x="663218" y="6136070"/>
            <a:ext cx="10865564"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000" b="0" i="0" u="none" strike="noStrike" kern="1200" cap="none" spc="0" normalizeH="0" baseline="0" noProof="0" dirty="0">
                <a:ln>
                  <a:noFill/>
                </a:ln>
                <a:solidFill>
                  <a:srgbClr val="000000"/>
                </a:solidFill>
                <a:effectLst/>
                <a:uLnTx/>
                <a:uFillTx/>
                <a:latin typeface="Montserrat" panose="00000500000000000000" pitchFamily="2" charset="0"/>
              </a:rPr>
              <a:t>Fuente: Osterwalder, A. (2020)</a:t>
            </a:r>
          </a:p>
        </p:txBody>
      </p:sp>
    </p:spTree>
    <p:extLst>
      <p:ext uri="{BB962C8B-B14F-4D97-AF65-F5344CB8AC3E}">
        <p14:creationId xmlns:p14="http://schemas.microsoft.com/office/powerpoint/2010/main" val="56867578"/>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607A46-DC42-4F6B-A4E2-792BAD38C470}"/>
              </a:ext>
            </a:extLst>
          </p:cNvPr>
          <p:cNvSpPr>
            <a:spLocks noGrp="1"/>
          </p:cNvSpPr>
          <p:nvPr>
            <p:ph type="title" idx="4294967295"/>
          </p:nvPr>
        </p:nvSpPr>
        <p:spPr>
          <a:xfrm>
            <a:off x="695325" y="549276"/>
            <a:ext cx="10515600" cy="551938"/>
          </a:xfrm>
          <a:prstGeom prst="rect">
            <a:avLst/>
          </a:prstGeom>
        </p:spPr>
        <p:txBody>
          <a:bodyPr vert="horz" lIns="91440" tIns="45720" rIns="91440" bIns="45720" rtlCol="0" anchor="ctr">
            <a:noAutofit/>
          </a:bodyPr>
          <a:lstStyle>
            <a:lvl1pPr algn="l" defTabSz="914446" rtl="0" eaLnBrk="1" latinLnBrk="0" hangingPunct="1">
              <a:lnSpc>
                <a:spcPct val="90000"/>
              </a:lnSpc>
              <a:spcBef>
                <a:spcPct val="0"/>
              </a:spcBef>
              <a:buNone/>
              <a:defRPr sz="2800" kern="1200">
                <a:solidFill>
                  <a:schemeClr val="tx1"/>
                </a:solidFill>
                <a:latin typeface="Montserrat ExtraBold" panose="00000900000000000000" pitchFamily="2" charset="0"/>
                <a:ea typeface="+mj-ea"/>
                <a:cs typeface="+mj-cs"/>
              </a:defRPr>
            </a:lvl1pPr>
          </a:lstStyle>
          <a:p>
            <a:pPr algn="ctr"/>
            <a:r>
              <a:rPr lang="en-US"/>
              <a:t>Click to edit Master title style</a:t>
            </a:r>
            <a:endParaRPr lang="es-CL" dirty="0"/>
          </a:p>
        </p:txBody>
      </p:sp>
      <p:sp>
        <p:nvSpPr>
          <p:cNvPr id="3" name="Marcador de contenido 2">
            <a:extLst>
              <a:ext uri="{FF2B5EF4-FFF2-40B4-BE49-F238E27FC236}">
                <a16:creationId xmlns:a16="http://schemas.microsoft.com/office/drawing/2014/main" id="{85383212-EE1B-42BF-9E72-27C2CAA1CF48}"/>
              </a:ext>
            </a:extLst>
          </p:cNvPr>
          <p:cNvSpPr>
            <a:spLocks noGrp="1"/>
          </p:cNvSpPr>
          <p:nvPr>
            <p:ph idx="4294967295"/>
          </p:nvPr>
        </p:nvSpPr>
        <p:spPr>
          <a:xfrm>
            <a:off x="695325" y="1567008"/>
            <a:ext cx="10515600" cy="4351338"/>
          </a:xfrm>
          <a:prstGeom prst="rect">
            <a:avLst/>
          </a:prstGeom>
        </p:spPr>
        <p:txBody>
          <a:bodyPr vert="horz" lIns="91440" tIns="45720" rIns="91440" bIns="45720" rtlCol="0">
            <a:noAutofit/>
          </a:bodyPr>
          <a:lstStyle>
            <a:lvl1pPr marL="228611" indent="-228611" algn="l" defTabSz="914446" rtl="0" eaLnBrk="1" latinLnBrk="0" hangingPunct="1">
              <a:lnSpc>
                <a:spcPct val="90000"/>
              </a:lnSpc>
              <a:spcBef>
                <a:spcPts val="1000"/>
              </a:spcBef>
              <a:buFontTx/>
              <a:buChar char="–"/>
              <a:defRPr sz="1800" kern="1200">
                <a:solidFill>
                  <a:schemeClr val="tx1"/>
                </a:solidFill>
                <a:latin typeface="+mn-lt"/>
                <a:ea typeface="Open Sans SemiBold" panose="020B0706030804020204" pitchFamily="34" charset="0"/>
                <a:cs typeface="Open Sans SemiBold" panose="020B0706030804020204" pitchFamily="34" charset="0"/>
              </a:defRPr>
            </a:lvl1pPr>
            <a:lvl2pPr marL="685834" indent="-228611" algn="l" defTabSz="914446" rtl="0" eaLnBrk="1" latinLnBrk="0" hangingPunct="1">
              <a:lnSpc>
                <a:spcPct val="90000"/>
              </a:lnSpc>
              <a:spcBef>
                <a:spcPts val="500"/>
              </a:spcBef>
              <a:buFontTx/>
              <a:buChar char="–"/>
              <a:defRPr sz="1600" kern="1200">
                <a:solidFill>
                  <a:schemeClr val="tx1"/>
                </a:solidFill>
                <a:latin typeface="+mn-lt"/>
                <a:ea typeface="+mn-ea"/>
                <a:cs typeface="+mn-cs"/>
              </a:defRPr>
            </a:lvl2pPr>
            <a:lvl3pPr marL="1143057" indent="-228611" algn="l" defTabSz="914446" rtl="0" eaLnBrk="1" latinLnBrk="0" hangingPunct="1">
              <a:lnSpc>
                <a:spcPct val="90000"/>
              </a:lnSpc>
              <a:spcBef>
                <a:spcPts val="500"/>
              </a:spcBef>
              <a:buFontTx/>
              <a:buChar char="–"/>
              <a:defRPr sz="1400" kern="1200">
                <a:solidFill>
                  <a:schemeClr val="tx1"/>
                </a:solidFill>
                <a:latin typeface="+mn-lt"/>
                <a:ea typeface="+mn-ea"/>
                <a:cs typeface="+mn-cs"/>
              </a:defRPr>
            </a:lvl3pPr>
            <a:lvl4pPr marL="1600280" indent="-228611" algn="l" defTabSz="914446" rtl="0" eaLnBrk="1" latinLnBrk="0" hangingPunct="1">
              <a:lnSpc>
                <a:spcPct val="90000"/>
              </a:lnSpc>
              <a:spcBef>
                <a:spcPts val="500"/>
              </a:spcBef>
              <a:buFontTx/>
              <a:buChar char="–"/>
              <a:defRPr sz="1200" kern="1200">
                <a:solidFill>
                  <a:schemeClr val="tx1"/>
                </a:solidFill>
                <a:latin typeface="+mn-lt"/>
                <a:ea typeface="+mn-ea"/>
                <a:cs typeface="+mn-cs"/>
              </a:defRPr>
            </a:lvl4pPr>
            <a:lvl5pPr marL="2057503" indent="-228611" algn="l" defTabSz="914446" rtl="0" eaLnBrk="1" latinLnBrk="0" hangingPunct="1">
              <a:lnSpc>
                <a:spcPct val="90000"/>
              </a:lnSpc>
              <a:spcBef>
                <a:spcPts val="500"/>
              </a:spcBef>
              <a:buFontTx/>
              <a:buChar char="–"/>
              <a:defRPr sz="12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L" dirty="0"/>
          </a:p>
        </p:txBody>
      </p:sp>
      <p:pic>
        <p:nvPicPr>
          <p:cNvPr id="6" name="Imagen 5">
            <a:extLst>
              <a:ext uri="{FF2B5EF4-FFF2-40B4-BE49-F238E27FC236}">
                <a16:creationId xmlns:a16="http://schemas.microsoft.com/office/drawing/2014/main" id="{5B55E1CE-757C-405A-B22C-864455551A77}"/>
              </a:ext>
            </a:extLst>
          </p:cNvPr>
          <p:cNvPicPr>
            <a:picLocks noChangeAspect="1"/>
          </p:cNvPicPr>
          <p:nvPr/>
        </p:nvPicPr>
        <p:blipFill>
          <a:blip r:embed="rId2"/>
          <a:stretch>
            <a:fillRect/>
          </a:stretch>
        </p:blipFill>
        <p:spPr>
          <a:xfrm>
            <a:off x="6994002" y="2467640"/>
            <a:ext cx="4519508" cy="2946657"/>
          </a:xfrm>
          <a:prstGeom prst="rect">
            <a:avLst/>
          </a:prstGeom>
        </p:spPr>
      </p:pic>
    </p:spTree>
    <p:extLst>
      <p:ext uri="{BB962C8B-B14F-4D97-AF65-F5344CB8AC3E}">
        <p14:creationId xmlns:p14="http://schemas.microsoft.com/office/powerpoint/2010/main" val="30502199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
            <a:extLst>
              <a:ext uri="{FF2B5EF4-FFF2-40B4-BE49-F238E27FC236}">
                <a16:creationId xmlns:a16="http://schemas.microsoft.com/office/drawing/2014/main" id="{FDDE499A-CB50-4628-88AD-E8BFB6DF6A43}"/>
              </a:ext>
            </a:extLst>
          </p:cNvPr>
          <p:cNvSpPr txBox="1"/>
          <p:nvPr/>
        </p:nvSpPr>
        <p:spPr>
          <a:xfrm>
            <a:off x="663218" y="662372"/>
            <a:ext cx="1086556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prstClr val="black"/>
                </a:solidFill>
                <a:effectLst/>
                <a:uLnTx/>
                <a:uFillTx/>
                <a:latin typeface="Montserrat SemiBold" pitchFamily="2" charset="0"/>
                <a:ea typeface="+mn-ea"/>
                <a:cs typeface="+mn-cs"/>
              </a:rPr>
              <a:t>¿Cómo se hacen estos ajustes?</a:t>
            </a:r>
            <a:endParaRPr kumimoji="0" lang="es-CL" sz="2800" b="0" i="0" u="none" strike="noStrike" kern="1200" cap="none" spc="0" normalizeH="0" baseline="0" noProof="0" dirty="0">
              <a:ln>
                <a:noFill/>
              </a:ln>
              <a:solidFill>
                <a:prstClr val="black"/>
              </a:solidFill>
              <a:effectLst/>
              <a:uLnTx/>
              <a:uFillTx/>
              <a:latin typeface="Montserrat SemiBold" pitchFamily="2" charset="0"/>
              <a:ea typeface="+mn-ea"/>
              <a:cs typeface="+mn-cs"/>
            </a:endParaRPr>
          </a:p>
        </p:txBody>
      </p:sp>
      <p:sp>
        <p:nvSpPr>
          <p:cNvPr id="5" name="CuadroTexto 4">
            <a:extLst>
              <a:ext uri="{FF2B5EF4-FFF2-40B4-BE49-F238E27FC236}">
                <a16:creationId xmlns:a16="http://schemas.microsoft.com/office/drawing/2014/main" id="{39B07157-96AD-461A-B306-DE45664BAEDD}"/>
              </a:ext>
            </a:extLst>
          </p:cNvPr>
          <p:cNvSpPr txBox="1"/>
          <p:nvPr/>
        </p:nvSpPr>
        <p:spPr>
          <a:xfrm>
            <a:off x="663218" y="1878670"/>
            <a:ext cx="10865564" cy="2585323"/>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Para realizar una comprobación de las hipótesis es necesaria la realización de experimentos.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Los experimentos en el contexto de Lean Startup son </a:t>
            </a:r>
            <a:r>
              <a:rPr kumimoji="0" lang="es-CL" sz="18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pruebas controladas y sistemáticas que un startup lleva a cabo para validar o refutar hipótesis clave sobre su modelo de negocio</a:t>
            </a:r>
            <a:r>
              <a:rPr kumimoji="0" lang="es-CL"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Estos experimentos pueden adoptar diversas formas, como pruebas de producto mínimo viable (MVP), pruebas de mercado, entrevistas con clientes potenciales, pruebas de precios, pruebas de marketing, entre otras.</a:t>
            </a:r>
          </a:p>
        </p:txBody>
      </p:sp>
      <p:sp>
        <p:nvSpPr>
          <p:cNvPr id="7" name="CuadroTexto 6">
            <a:extLst>
              <a:ext uri="{FF2B5EF4-FFF2-40B4-BE49-F238E27FC236}">
                <a16:creationId xmlns:a16="http://schemas.microsoft.com/office/drawing/2014/main" id="{2FE51316-98D3-43CD-B1A8-DA4FCE8B0C04}"/>
              </a:ext>
            </a:extLst>
          </p:cNvPr>
          <p:cNvSpPr txBox="1"/>
          <p:nvPr/>
        </p:nvSpPr>
        <p:spPr>
          <a:xfrm>
            <a:off x="663218" y="5680291"/>
            <a:ext cx="10865564"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000" b="0" i="1"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MVP: El producto mínimo viable es el producto/servicio sin diseño final pero funcional, cumple con el mínimo de características para conseguir un objetivo específico. </a:t>
            </a:r>
          </a:p>
        </p:txBody>
      </p:sp>
    </p:spTree>
    <p:extLst>
      <p:ext uri="{BB962C8B-B14F-4D97-AF65-F5344CB8AC3E}">
        <p14:creationId xmlns:p14="http://schemas.microsoft.com/office/powerpoint/2010/main" val="35214342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
            <a:extLst>
              <a:ext uri="{FF2B5EF4-FFF2-40B4-BE49-F238E27FC236}">
                <a16:creationId xmlns:a16="http://schemas.microsoft.com/office/drawing/2014/main" id="{FDDE499A-CB50-4628-88AD-E8BFB6DF6A43}"/>
              </a:ext>
            </a:extLst>
          </p:cNvPr>
          <p:cNvSpPr txBox="1"/>
          <p:nvPr/>
        </p:nvSpPr>
        <p:spPr>
          <a:xfrm>
            <a:off x="689550" y="517317"/>
            <a:ext cx="1083923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prstClr val="black"/>
                </a:solidFill>
                <a:effectLst/>
                <a:uLnTx/>
                <a:uFillTx/>
                <a:latin typeface="Montserrat SemiBold" pitchFamily="2" charset="0"/>
                <a:ea typeface="+mn-ea"/>
                <a:cs typeface="+mn-cs"/>
              </a:rPr>
              <a:t>Realizar experimentos</a:t>
            </a:r>
            <a:endParaRPr kumimoji="0" lang="es-CL" sz="2800" b="0" i="0" u="none" strike="noStrike" kern="1200" cap="none" spc="0" normalizeH="0" baseline="0" noProof="0" dirty="0">
              <a:ln>
                <a:noFill/>
              </a:ln>
              <a:solidFill>
                <a:prstClr val="black"/>
              </a:solidFill>
              <a:effectLst/>
              <a:uLnTx/>
              <a:uFillTx/>
              <a:latin typeface="Montserrat SemiBold" pitchFamily="2" charset="0"/>
              <a:ea typeface="+mn-ea"/>
              <a:cs typeface="+mn-cs"/>
            </a:endParaRPr>
          </a:p>
        </p:txBody>
      </p:sp>
      <p:sp>
        <p:nvSpPr>
          <p:cNvPr id="5" name="CuadroTexto 4">
            <a:extLst>
              <a:ext uri="{FF2B5EF4-FFF2-40B4-BE49-F238E27FC236}">
                <a16:creationId xmlns:a16="http://schemas.microsoft.com/office/drawing/2014/main" id="{39B07157-96AD-461A-B306-DE45664BAEDD}"/>
              </a:ext>
            </a:extLst>
          </p:cNvPr>
          <p:cNvSpPr txBox="1"/>
          <p:nvPr/>
        </p:nvSpPr>
        <p:spPr>
          <a:xfrm>
            <a:off x="663218" y="1878670"/>
            <a:ext cx="10865564" cy="1200329"/>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El objetivo de </a:t>
            </a:r>
            <a:r>
              <a:rPr kumimoji="0" lang="es-CL" sz="18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diseñar prototipos es hacer realidad las ideas para poder verlas, para poder sentirlas</a:t>
            </a:r>
            <a:r>
              <a:rPr kumimoji="0" lang="es-CL"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 así como para identificar rápidamente las suposiciones que hay detrás; mientras que </a:t>
            </a:r>
            <a:r>
              <a:rPr kumimoji="0" lang="es-CL" sz="18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la misión de la validación es añadir rigor al proceso de diseño</a:t>
            </a:r>
            <a:r>
              <a:rPr kumimoji="0" lang="es-CL"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 La validación exige la realización de experimentos para probar las suposiciones y medir los resultados. </a:t>
            </a:r>
          </a:p>
        </p:txBody>
      </p:sp>
      <p:sp>
        <p:nvSpPr>
          <p:cNvPr id="6" name="Rectángulo 5">
            <a:extLst>
              <a:ext uri="{FF2B5EF4-FFF2-40B4-BE49-F238E27FC236}">
                <a16:creationId xmlns:a16="http://schemas.microsoft.com/office/drawing/2014/main" id="{AA1BA4AC-95BE-407C-AEC2-E0985CC4D778}"/>
              </a:ext>
            </a:extLst>
          </p:cNvPr>
          <p:cNvSpPr/>
          <p:nvPr/>
        </p:nvSpPr>
        <p:spPr bwMode="auto">
          <a:xfrm>
            <a:off x="689550" y="3416000"/>
            <a:ext cx="360000" cy="360000"/>
          </a:xfrm>
          <a:prstGeom prst="rect">
            <a:avLst/>
          </a:prstGeom>
          <a:solidFill>
            <a:srgbClr val="ED6723"/>
          </a:solidFill>
          <a:ln>
            <a:solidFill>
              <a:srgbClr val="ED6723"/>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CL" sz="1600" b="1" i="0" u="none" strike="noStrike" kern="1200" cap="none" spc="0" normalizeH="0" baseline="0" noProof="0" dirty="0">
                <a:ln>
                  <a:noFill/>
                </a:ln>
                <a:solidFill>
                  <a:prstClr val="white"/>
                </a:solidFill>
                <a:effectLst/>
                <a:uLnTx/>
                <a:uFillTx/>
                <a:latin typeface="Montserrat"/>
                <a:ea typeface="ヒラギノ角ゴ ProN W3" charset="0"/>
                <a:cs typeface="ヒラギノ角ゴ ProN W3" charset="0"/>
                <a:sym typeface="Gill Sans" charset="0"/>
              </a:rPr>
              <a:t>1</a:t>
            </a:r>
          </a:p>
        </p:txBody>
      </p:sp>
      <p:sp>
        <p:nvSpPr>
          <p:cNvPr id="8" name="Rectángulo 7">
            <a:extLst>
              <a:ext uri="{FF2B5EF4-FFF2-40B4-BE49-F238E27FC236}">
                <a16:creationId xmlns:a16="http://schemas.microsoft.com/office/drawing/2014/main" id="{E3896391-EAD3-43F3-90EA-84CFF80B0E58}"/>
              </a:ext>
            </a:extLst>
          </p:cNvPr>
          <p:cNvSpPr/>
          <p:nvPr/>
        </p:nvSpPr>
        <p:spPr bwMode="auto">
          <a:xfrm>
            <a:off x="689550" y="3928400"/>
            <a:ext cx="360000" cy="360000"/>
          </a:xfrm>
          <a:prstGeom prst="rect">
            <a:avLst/>
          </a:prstGeom>
          <a:solidFill>
            <a:srgbClr val="ED6723"/>
          </a:solidFill>
          <a:ln>
            <a:solidFill>
              <a:srgbClr val="ED6723"/>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CL" sz="1600" b="1" i="0" u="none" strike="noStrike" kern="1200" cap="none" spc="0" normalizeH="0" baseline="0" noProof="0" dirty="0">
                <a:ln>
                  <a:noFill/>
                </a:ln>
                <a:solidFill>
                  <a:prstClr val="white"/>
                </a:solidFill>
                <a:effectLst/>
                <a:uLnTx/>
                <a:uFillTx/>
                <a:latin typeface="Montserrat"/>
                <a:ea typeface="ヒラギノ角ゴ ProN W3" charset="0"/>
                <a:cs typeface="ヒラギノ角ゴ ProN W3" charset="0"/>
                <a:sym typeface="Gill Sans" charset="0"/>
              </a:rPr>
              <a:t>2</a:t>
            </a:r>
          </a:p>
        </p:txBody>
      </p:sp>
      <p:sp>
        <p:nvSpPr>
          <p:cNvPr id="9" name="Rectángulo 8">
            <a:extLst>
              <a:ext uri="{FF2B5EF4-FFF2-40B4-BE49-F238E27FC236}">
                <a16:creationId xmlns:a16="http://schemas.microsoft.com/office/drawing/2014/main" id="{06DB66A0-34F6-4DCE-BB82-40D1C2CC3169}"/>
              </a:ext>
            </a:extLst>
          </p:cNvPr>
          <p:cNvSpPr/>
          <p:nvPr/>
        </p:nvSpPr>
        <p:spPr bwMode="auto">
          <a:xfrm>
            <a:off x="689550" y="4440800"/>
            <a:ext cx="360000" cy="360000"/>
          </a:xfrm>
          <a:prstGeom prst="rect">
            <a:avLst/>
          </a:prstGeom>
          <a:solidFill>
            <a:srgbClr val="ED6723"/>
          </a:solidFill>
          <a:ln>
            <a:solidFill>
              <a:srgbClr val="ED6723"/>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CL" sz="1600" b="1" i="0" u="none" strike="noStrike" kern="1200" cap="none" spc="0" normalizeH="0" baseline="0" noProof="0" dirty="0">
                <a:ln>
                  <a:noFill/>
                </a:ln>
                <a:solidFill>
                  <a:prstClr val="white"/>
                </a:solidFill>
                <a:effectLst/>
                <a:uLnTx/>
                <a:uFillTx/>
                <a:latin typeface="Montserrat"/>
                <a:ea typeface="ヒラギノ角ゴ ProN W3" charset="0"/>
                <a:cs typeface="ヒラギノ角ゴ ProN W3" charset="0"/>
                <a:sym typeface="Gill Sans" charset="0"/>
              </a:rPr>
              <a:t>3</a:t>
            </a:r>
          </a:p>
        </p:txBody>
      </p:sp>
      <p:sp>
        <p:nvSpPr>
          <p:cNvPr id="10" name="CuadroTexto 9">
            <a:extLst>
              <a:ext uri="{FF2B5EF4-FFF2-40B4-BE49-F238E27FC236}">
                <a16:creationId xmlns:a16="http://schemas.microsoft.com/office/drawing/2014/main" id="{7E86D6F6-5715-4D86-8EE4-81B3ED934740}"/>
              </a:ext>
            </a:extLst>
          </p:cNvPr>
          <p:cNvSpPr txBox="1"/>
          <p:nvPr/>
        </p:nvSpPr>
        <p:spPr>
          <a:xfrm>
            <a:off x="1049550" y="3418734"/>
            <a:ext cx="504645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srgbClr val="000000"/>
                </a:solidFill>
                <a:effectLst/>
                <a:uLnTx/>
                <a:uFillTx/>
                <a:latin typeface="Montserrat"/>
                <a:ea typeface="+mn-ea"/>
                <a:cs typeface="+mn-cs"/>
                <a:sym typeface="Gill Sans" charset="0"/>
              </a:rPr>
              <a:t>¿Qué sabes en realidad? ¿Qué necesitas saber?</a:t>
            </a:r>
          </a:p>
        </p:txBody>
      </p:sp>
      <p:sp>
        <p:nvSpPr>
          <p:cNvPr id="11" name="CuadroTexto 10">
            <a:extLst>
              <a:ext uri="{FF2B5EF4-FFF2-40B4-BE49-F238E27FC236}">
                <a16:creationId xmlns:a16="http://schemas.microsoft.com/office/drawing/2014/main" id="{8D76BFB9-AF58-42BC-A751-B5FA083EA778}"/>
              </a:ext>
            </a:extLst>
          </p:cNvPr>
          <p:cNvSpPr txBox="1"/>
          <p:nvPr/>
        </p:nvSpPr>
        <p:spPr>
          <a:xfrm>
            <a:off x="1049549" y="3931134"/>
            <a:ext cx="504645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srgbClr val="000000"/>
                </a:solidFill>
                <a:effectLst/>
                <a:uLnTx/>
                <a:uFillTx/>
                <a:latin typeface="Montserrat"/>
                <a:ea typeface="+mn-ea"/>
                <a:cs typeface="+mn-cs"/>
                <a:sym typeface="Gill Sans" charset="0"/>
              </a:rPr>
              <a:t>¿Cuáles son las suposiciones que tienes?</a:t>
            </a:r>
          </a:p>
        </p:txBody>
      </p:sp>
      <p:sp>
        <p:nvSpPr>
          <p:cNvPr id="12" name="CuadroTexto 11">
            <a:extLst>
              <a:ext uri="{FF2B5EF4-FFF2-40B4-BE49-F238E27FC236}">
                <a16:creationId xmlns:a16="http://schemas.microsoft.com/office/drawing/2014/main" id="{396F821F-FF40-44EA-8BB9-963B6DA1E483}"/>
              </a:ext>
            </a:extLst>
          </p:cNvPr>
          <p:cNvSpPr txBox="1"/>
          <p:nvPr/>
        </p:nvSpPr>
        <p:spPr>
          <a:xfrm>
            <a:off x="1049549" y="4440610"/>
            <a:ext cx="504645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srgbClr val="000000"/>
                </a:solidFill>
                <a:effectLst/>
                <a:uLnTx/>
                <a:uFillTx/>
                <a:latin typeface="Montserrat"/>
                <a:ea typeface="+mn-ea"/>
                <a:cs typeface="+mn-cs"/>
                <a:sym typeface="Gill Sans" charset="0"/>
              </a:rPr>
              <a:t>¿Cuál es tu suposición más arriesgada?</a:t>
            </a:r>
          </a:p>
        </p:txBody>
      </p:sp>
      <p:pic>
        <p:nvPicPr>
          <p:cNvPr id="13" name="Imagen 12">
            <a:extLst>
              <a:ext uri="{FF2B5EF4-FFF2-40B4-BE49-F238E27FC236}">
                <a16:creationId xmlns:a16="http://schemas.microsoft.com/office/drawing/2014/main" id="{C74D5E9E-DA95-4A68-A324-5BE56261A279}"/>
              </a:ext>
            </a:extLst>
          </p:cNvPr>
          <p:cNvPicPr>
            <a:picLocks noChangeAspect="1"/>
          </p:cNvPicPr>
          <p:nvPr/>
        </p:nvPicPr>
        <p:blipFill>
          <a:blip r:embed="rId2"/>
          <a:stretch>
            <a:fillRect/>
          </a:stretch>
        </p:blipFill>
        <p:spPr>
          <a:xfrm>
            <a:off x="7306507" y="3162526"/>
            <a:ext cx="3835943" cy="2916547"/>
          </a:xfrm>
          <a:prstGeom prst="rect">
            <a:avLst/>
          </a:prstGeom>
        </p:spPr>
      </p:pic>
    </p:spTree>
    <p:extLst>
      <p:ext uri="{BB962C8B-B14F-4D97-AF65-F5344CB8AC3E}">
        <p14:creationId xmlns:p14="http://schemas.microsoft.com/office/powerpoint/2010/main" val="20349248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
            <a:extLst>
              <a:ext uri="{FF2B5EF4-FFF2-40B4-BE49-F238E27FC236}">
                <a16:creationId xmlns:a16="http://schemas.microsoft.com/office/drawing/2014/main" id="{FDDE499A-CB50-4628-88AD-E8BFB6DF6A43}"/>
              </a:ext>
            </a:extLst>
          </p:cNvPr>
          <p:cNvSpPr txBox="1"/>
          <p:nvPr/>
        </p:nvSpPr>
        <p:spPr>
          <a:xfrm>
            <a:off x="663217" y="485049"/>
            <a:ext cx="1086556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prstClr val="black"/>
                </a:solidFill>
                <a:effectLst/>
                <a:uLnTx/>
                <a:uFillTx/>
                <a:latin typeface="Montserrat SemiBold" pitchFamily="2" charset="0"/>
                <a:ea typeface="+mn-ea"/>
                <a:cs typeface="+mn-cs"/>
              </a:rPr>
              <a:t>Lienzo del Experimento</a:t>
            </a:r>
            <a:endParaRPr kumimoji="0" lang="es-CL" sz="2800" b="0" i="0" u="none" strike="noStrike" kern="1200" cap="none" spc="0" normalizeH="0" baseline="0" noProof="0" dirty="0">
              <a:ln>
                <a:noFill/>
              </a:ln>
              <a:solidFill>
                <a:prstClr val="black"/>
              </a:solidFill>
              <a:effectLst/>
              <a:uLnTx/>
              <a:uFillTx/>
              <a:latin typeface="Montserrat SemiBold" pitchFamily="2" charset="0"/>
              <a:ea typeface="+mn-ea"/>
              <a:cs typeface="+mn-cs"/>
            </a:endParaRPr>
          </a:p>
        </p:txBody>
      </p:sp>
      <p:sp>
        <p:nvSpPr>
          <p:cNvPr id="5" name="CuadroTexto 4">
            <a:extLst>
              <a:ext uri="{FF2B5EF4-FFF2-40B4-BE49-F238E27FC236}">
                <a16:creationId xmlns:a16="http://schemas.microsoft.com/office/drawing/2014/main" id="{39B07157-96AD-461A-B306-DE45664BAEDD}"/>
              </a:ext>
            </a:extLst>
          </p:cNvPr>
          <p:cNvSpPr txBox="1"/>
          <p:nvPr/>
        </p:nvSpPr>
        <p:spPr>
          <a:xfrm>
            <a:off x="663218" y="1345270"/>
            <a:ext cx="10865564" cy="1200329"/>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Cuando tengas la suposición a probar, tendrás que decidir cuál es el mejor método para medirla y probarla con un enfoque cuantitativo. La herramienta del lienzo de experimento </a:t>
            </a:r>
            <a:r>
              <a:rPr kumimoji="0" lang="es-CL" sz="18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ofrece un método claro y directo para convertir las suposiciones en experimentos observables y cuantificables</a:t>
            </a:r>
            <a:r>
              <a:rPr kumimoji="0" lang="es-CL"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a:t>
            </a:r>
          </a:p>
        </p:txBody>
      </p:sp>
      <p:sp>
        <p:nvSpPr>
          <p:cNvPr id="14" name="Rectángulo 13">
            <a:extLst>
              <a:ext uri="{FF2B5EF4-FFF2-40B4-BE49-F238E27FC236}">
                <a16:creationId xmlns:a16="http://schemas.microsoft.com/office/drawing/2014/main" id="{A77B9A83-B50B-4015-88A3-33A4FB7747CE}"/>
              </a:ext>
            </a:extLst>
          </p:cNvPr>
          <p:cNvSpPr/>
          <p:nvPr/>
        </p:nvSpPr>
        <p:spPr bwMode="auto">
          <a:xfrm>
            <a:off x="689551" y="3022300"/>
            <a:ext cx="360000" cy="360000"/>
          </a:xfrm>
          <a:prstGeom prst="rect">
            <a:avLst/>
          </a:prstGeom>
          <a:solidFill>
            <a:srgbClr val="ED6723"/>
          </a:solidFill>
          <a:ln>
            <a:solidFill>
              <a:srgbClr val="ED6723"/>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CL" sz="1600" b="1" i="0" u="none" strike="noStrike" kern="1200" cap="none" spc="0" normalizeH="0" baseline="0" noProof="0" dirty="0">
                <a:ln>
                  <a:noFill/>
                </a:ln>
                <a:solidFill>
                  <a:prstClr val="white"/>
                </a:solidFill>
                <a:effectLst/>
                <a:uLnTx/>
                <a:uFillTx/>
                <a:latin typeface="Montserrat"/>
                <a:ea typeface="ヒラギノ角ゴ ProN W3" charset="0"/>
                <a:cs typeface="ヒラギノ角ゴ ProN W3" charset="0"/>
                <a:sym typeface="Gill Sans" charset="0"/>
              </a:rPr>
              <a:t>1</a:t>
            </a:r>
          </a:p>
        </p:txBody>
      </p:sp>
      <p:sp>
        <p:nvSpPr>
          <p:cNvPr id="15" name="Rectángulo 14">
            <a:extLst>
              <a:ext uri="{FF2B5EF4-FFF2-40B4-BE49-F238E27FC236}">
                <a16:creationId xmlns:a16="http://schemas.microsoft.com/office/drawing/2014/main" id="{5C0ED4FA-DAAD-42D0-B3DE-0F4B45FAB578}"/>
              </a:ext>
            </a:extLst>
          </p:cNvPr>
          <p:cNvSpPr/>
          <p:nvPr/>
        </p:nvSpPr>
        <p:spPr bwMode="auto">
          <a:xfrm>
            <a:off x="689551" y="3534700"/>
            <a:ext cx="360000" cy="360000"/>
          </a:xfrm>
          <a:prstGeom prst="rect">
            <a:avLst/>
          </a:prstGeom>
          <a:solidFill>
            <a:srgbClr val="ED6723"/>
          </a:solidFill>
          <a:ln>
            <a:solidFill>
              <a:srgbClr val="ED6723"/>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CL" sz="1600" b="1" i="0" u="none" strike="noStrike" kern="1200" cap="none" spc="0" normalizeH="0" baseline="0" noProof="0" dirty="0">
                <a:ln>
                  <a:noFill/>
                </a:ln>
                <a:solidFill>
                  <a:prstClr val="white"/>
                </a:solidFill>
                <a:effectLst/>
                <a:uLnTx/>
                <a:uFillTx/>
                <a:latin typeface="Montserrat"/>
                <a:ea typeface="ヒラギノ角ゴ ProN W3" charset="0"/>
                <a:cs typeface="ヒラギノ角ゴ ProN W3" charset="0"/>
                <a:sym typeface="Gill Sans" charset="0"/>
              </a:rPr>
              <a:t>2</a:t>
            </a:r>
          </a:p>
        </p:txBody>
      </p:sp>
      <p:sp>
        <p:nvSpPr>
          <p:cNvPr id="16" name="Rectángulo 15">
            <a:extLst>
              <a:ext uri="{FF2B5EF4-FFF2-40B4-BE49-F238E27FC236}">
                <a16:creationId xmlns:a16="http://schemas.microsoft.com/office/drawing/2014/main" id="{328A3A45-56AA-4622-9507-E2DCF93A05A0}"/>
              </a:ext>
            </a:extLst>
          </p:cNvPr>
          <p:cNvSpPr/>
          <p:nvPr/>
        </p:nvSpPr>
        <p:spPr bwMode="auto">
          <a:xfrm>
            <a:off x="689551" y="4047100"/>
            <a:ext cx="360000" cy="360000"/>
          </a:xfrm>
          <a:prstGeom prst="rect">
            <a:avLst/>
          </a:prstGeom>
          <a:solidFill>
            <a:srgbClr val="ED6723"/>
          </a:solidFill>
          <a:ln>
            <a:solidFill>
              <a:srgbClr val="ED6723"/>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CL" sz="1600" b="1" i="0" u="none" strike="noStrike" kern="1200" cap="none" spc="0" normalizeH="0" baseline="0" noProof="0" dirty="0">
                <a:ln>
                  <a:noFill/>
                </a:ln>
                <a:solidFill>
                  <a:prstClr val="white"/>
                </a:solidFill>
                <a:effectLst/>
                <a:uLnTx/>
                <a:uFillTx/>
                <a:latin typeface="Montserrat"/>
                <a:ea typeface="ヒラギノ角ゴ ProN W3" charset="0"/>
                <a:cs typeface="ヒラギノ角ゴ ProN W3" charset="0"/>
                <a:sym typeface="Gill Sans" charset="0"/>
              </a:rPr>
              <a:t>3</a:t>
            </a:r>
          </a:p>
        </p:txBody>
      </p:sp>
      <p:sp>
        <p:nvSpPr>
          <p:cNvPr id="17" name="CuadroTexto 16">
            <a:extLst>
              <a:ext uri="{FF2B5EF4-FFF2-40B4-BE49-F238E27FC236}">
                <a16:creationId xmlns:a16="http://schemas.microsoft.com/office/drawing/2014/main" id="{E5C0473F-1024-4EE3-84FF-5460BD654CF6}"/>
              </a:ext>
            </a:extLst>
          </p:cNvPr>
          <p:cNvSpPr txBox="1"/>
          <p:nvPr/>
        </p:nvSpPr>
        <p:spPr>
          <a:xfrm>
            <a:off x="1049551" y="3025034"/>
            <a:ext cx="504645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srgbClr val="000000"/>
                </a:solidFill>
                <a:effectLst/>
                <a:uLnTx/>
                <a:uFillTx/>
                <a:latin typeface="Montserrat"/>
                <a:ea typeface="+mn-ea"/>
                <a:cs typeface="+mn-cs"/>
                <a:sym typeface="Gill Sans" charset="0"/>
              </a:rPr>
              <a:t>El experimento adecuado</a:t>
            </a:r>
          </a:p>
        </p:txBody>
      </p:sp>
      <p:sp>
        <p:nvSpPr>
          <p:cNvPr id="18" name="CuadroTexto 17">
            <a:extLst>
              <a:ext uri="{FF2B5EF4-FFF2-40B4-BE49-F238E27FC236}">
                <a16:creationId xmlns:a16="http://schemas.microsoft.com/office/drawing/2014/main" id="{8742AEAA-6582-47D3-A912-2852F8E66D1B}"/>
              </a:ext>
            </a:extLst>
          </p:cNvPr>
          <p:cNvSpPr txBox="1"/>
          <p:nvPr/>
        </p:nvSpPr>
        <p:spPr>
          <a:xfrm>
            <a:off x="1049550" y="3537434"/>
            <a:ext cx="504645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srgbClr val="000000"/>
                </a:solidFill>
                <a:effectLst/>
                <a:uLnTx/>
                <a:uFillTx/>
                <a:latin typeface="Montserrat"/>
                <a:ea typeface="+mn-ea"/>
                <a:cs typeface="+mn-cs"/>
                <a:sym typeface="Gill Sans" charset="0"/>
              </a:rPr>
              <a:t>Elaborar una buena hipótesis </a:t>
            </a:r>
          </a:p>
        </p:txBody>
      </p:sp>
      <p:sp>
        <p:nvSpPr>
          <p:cNvPr id="19" name="CuadroTexto 18">
            <a:extLst>
              <a:ext uri="{FF2B5EF4-FFF2-40B4-BE49-F238E27FC236}">
                <a16:creationId xmlns:a16="http://schemas.microsoft.com/office/drawing/2014/main" id="{8BFBB091-2EA9-436B-939A-CE00A14CD858}"/>
              </a:ext>
            </a:extLst>
          </p:cNvPr>
          <p:cNvSpPr txBox="1"/>
          <p:nvPr/>
        </p:nvSpPr>
        <p:spPr>
          <a:xfrm>
            <a:off x="1049550" y="4046910"/>
            <a:ext cx="504645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srgbClr val="000000"/>
                </a:solidFill>
                <a:effectLst/>
                <a:uLnTx/>
                <a:uFillTx/>
                <a:latin typeface="Montserrat"/>
                <a:ea typeface="+mn-ea"/>
                <a:cs typeface="+mn-cs"/>
                <a:sym typeface="Gill Sans" charset="0"/>
              </a:rPr>
              <a:t>Cuantificar las predicciones</a:t>
            </a:r>
          </a:p>
        </p:txBody>
      </p:sp>
      <p:sp>
        <p:nvSpPr>
          <p:cNvPr id="20" name="Rectángulo 19">
            <a:extLst>
              <a:ext uri="{FF2B5EF4-FFF2-40B4-BE49-F238E27FC236}">
                <a16:creationId xmlns:a16="http://schemas.microsoft.com/office/drawing/2014/main" id="{D1BAB6EC-D86E-416A-80AD-21B191277ABF}"/>
              </a:ext>
            </a:extLst>
          </p:cNvPr>
          <p:cNvSpPr/>
          <p:nvPr/>
        </p:nvSpPr>
        <p:spPr bwMode="auto">
          <a:xfrm>
            <a:off x="689551" y="4547624"/>
            <a:ext cx="360000" cy="360000"/>
          </a:xfrm>
          <a:prstGeom prst="rect">
            <a:avLst/>
          </a:prstGeom>
          <a:solidFill>
            <a:srgbClr val="ED6723"/>
          </a:solidFill>
          <a:ln>
            <a:solidFill>
              <a:srgbClr val="ED6723"/>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CL" sz="1600" b="1" i="0" u="none" strike="noStrike" kern="1200" cap="none" spc="0" normalizeH="0" baseline="0" noProof="0" dirty="0">
                <a:ln>
                  <a:noFill/>
                </a:ln>
                <a:solidFill>
                  <a:prstClr val="white"/>
                </a:solidFill>
                <a:effectLst/>
                <a:uLnTx/>
                <a:uFillTx/>
                <a:latin typeface="Montserrat"/>
                <a:ea typeface="ヒラギノ角ゴ ProN W3" charset="0"/>
                <a:cs typeface="ヒラギノ角ゴ ProN W3" charset="0"/>
                <a:sym typeface="Gill Sans" charset="0"/>
              </a:rPr>
              <a:t>4</a:t>
            </a:r>
          </a:p>
        </p:txBody>
      </p:sp>
      <p:sp>
        <p:nvSpPr>
          <p:cNvPr id="21" name="CuadroTexto 20">
            <a:extLst>
              <a:ext uri="{FF2B5EF4-FFF2-40B4-BE49-F238E27FC236}">
                <a16:creationId xmlns:a16="http://schemas.microsoft.com/office/drawing/2014/main" id="{D429893F-DB62-4951-B0E8-D5DBE8BDBDB3}"/>
              </a:ext>
            </a:extLst>
          </p:cNvPr>
          <p:cNvSpPr txBox="1"/>
          <p:nvPr/>
        </p:nvSpPr>
        <p:spPr>
          <a:xfrm>
            <a:off x="1049550" y="4547434"/>
            <a:ext cx="504645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srgbClr val="000000"/>
                </a:solidFill>
                <a:effectLst/>
                <a:uLnTx/>
                <a:uFillTx/>
                <a:latin typeface="Montserrat"/>
                <a:ea typeface="+mn-ea"/>
                <a:cs typeface="+mn-cs"/>
                <a:sym typeface="Gill Sans" charset="0"/>
              </a:rPr>
              <a:t>Realizar el experimento</a:t>
            </a:r>
          </a:p>
        </p:txBody>
      </p:sp>
      <p:pic>
        <p:nvPicPr>
          <p:cNvPr id="22" name="Imagen 21">
            <a:extLst>
              <a:ext uri="{FF2B5EF4-FFF2-40B4-BE49-F238E27FC236}">
                <a16:creationId xmlns:a16="http://schemas.microsoft.com/office/drawing/2014/main" id="{9BEC4B59-F305-4C50-A5DD-2DFB3646169E}"/>
              </a:ext>
            </a:extLst>
          </p:cNvPr>
          <p:cNvPicPr>
            <a:picLocks noChangeAspect="1"/>
          </p:cNvPicPr>
          <p:nvPr/>
        </p:nvPicPr>
        <p:blipFill>
          <a:blip r:embed="rId2"/>
          <a:stretch>
            <a:fillRect/>
          </a:stretch>
        </p:blipFill>
        <p:spPr>
          <a:xfrm>
            <a:off x="5977216" y="2545599"/>
            <a:ext cx="5525233" cy="3736820"/>
          </a:xfrm>
          <a:prstGeom prst="rect">
            <a:avLst/>
          </a:prstGeom>
        </p:spPr>
      </p:pic>
    </p:spTree>
    <p:extLst>
      <p:ext uri="{BB962C8B-B14F-4D97-AF65-F5344CB8AC3E}">
        <p14:creationId xmlns:p14="http://schemas.microsoft.com/office/powerpoint/2010/main" val="7112180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8BAF465B-475D-4899-A40D-305D4D0EC63F}"/>
              </a:ext>
            </a:extLst>
          </p:cNvPr>
          <p:cNvSpPr/>
          <p:nvPr/>
        </p:nvSpPr>
        <p:spPr bwMode="auto">
          <a:xfrm>
            <a:off x="748679" y="2379900"/>
            <a:ext cx="2826000" cy="2224800"/>
          </a:xfrm>
          <a:prstGeom prst="rect">
            <a:avLst/>
          </a:prstGeom>
          <a:solidFill>
            <a:srgbClr val="ED6723"/>
          </a:solidFill>
          <a:ln>
            <a:solidFill>
              <a:srgbClr val="ED6723"/>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CL" sz="1600" b="1" i="0" u="none" strike="noStrike" kern="1200" cap="none" spc="0" normalizeH="0" baseline="0" noProof="0" dirty="0">
                <a:ln>
                  <a:noFill/>
                </a:ln>
                <a:solidFill>
                  <a:prstClr val="white"/>
                </a:solidFill>
                <a:effectLst/>
                <a:uLnTx/>
                <a:uFillTx/>
                <a:latin typeface="Montserrat"/>
                <a:ea typeface="ヒラギノ角ゴ ProN W3" charset="0"/>
                <a:cs typeface="ヒラギノ角ゴ ProN W3" charset="0"/>
                <a:sym typeface="Gill Sans" charset="0"/>
              </a:rPr>
              <a:t>Un equilibrio cuantitativo – cualitativo</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s-CL" sz="1300" b="0" i="0" u="none" strike="noStrike" kern="1200" cap="none" spc="0" normalizeH="0" baseline="0" noProof="0" dirty="0">
                <a:ln>
                  <a:noFill/>
                </a:ln>
                <a:solidFill>
                  <a:prstClr val="white"/>
                </a:solidFill>
                <a:effectLst/>
                <a:uLnTx/>
                <a:uFillTx/>
                <a:latin typeface="Montserrat"/>
                <a:ea typeface="ヒラギノ角ゴ ProN W3" charset="0"/>
                <a:cs typeface="ヒラギノ角ゴ ProN W3" charset="0"/>
                <a:sym typeface="Gill Sans" charset="0"/>
              </a:rPr>
              <a:t>Trabaje con experimentos y observación, y lleve los datos a un Excel. Ocupar cálculos directos de margen, pero ojala también Estado de resultados.</a:t>
            </a:r>
          </a:p>
        </p:txBody>
      </p:sp>
      <p:sp>
        <p:nvSpPr>
          <p:cNvPr id="5" name="Rectángulo 4">
            <a:extLst>
              <a:ext uri="{FF2B5EF4-FFF2-40B4-BE49-F238E27FC236}">
                <a16:creationId xmlns:a16="http://schemas.microsoft.com/office/drawing/2014/main" id="{A18CC95B-BB40-4249-A5E9-1E4D59E6EE04}"/>
              </a:ext>
            </a:extLst>
          </p:cNvPr>
          <p:cNvSpPr/>
          <p:nvPr/>
        </p:nvSpPr>
        <p:spPr bwMode="auto">
          <a:xfrm>
            <a:off x="4331690" y="904393"/>
            <a:ext cx="2826000" cy="2223982"/>
          </a:xfrm>
          <a:prstGeom prst="rect">
            <a:avLst/>
          </a:prstGeom>
          <a:solidFill>
            <a:srgbClr val="ED6723"/>
          </a:solidFill>
          <a:ln>
            <a:solidFill>
              <a:srgbClr val="ED6723"/>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CL" sz="1600" b="1" i="0" u="none" strike="noStrike" kern="1200" cap="none" spc="0" normalizeH="0" baseline="0" noProof="0" dirty="0">
                <a:ln>
                  <a:noFill/>
                </a:ln>
                <a:solidFill>
                  <a:prstClr val="white"/>
                </a:solidFill>
                <a:effectLst/>
                <a:uLnTx/>
                <a:uFillTx/>
                <a:latin typeface="Montserrat"/>
                <a:ea typeface="+mn-ea"/>
                <a:cs typeface="+mn-cs"/>
                <a:sym typeface="Gill Sans" charset="0"/>
              </a:rPr>
              <a:t>Pruebas a pequeña escala y luego crecer</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s-CL" sz="1300" b="0" i="0" u="none" strike="noStrike" kern="1200" cap="none" spc="0" normalizeH="0" baseline="0" noProof="0" dirty="0">
                <a:ln>
                  <a:noFill/>
                </a:ln>
                <a:solidFill>
                  <a:prstClr val="white"/>
                </a:solidFill>
                <a:effectLst/>
                <a:uLnTx/>
                <a:uFillTx/>
                <a:latin typeface="Montserrat"/>
                <a:ea typeface="+mn-ea"/>
                <a:cs typeface="+mn-cs"/>
                <a:sym typeface="Gill Sans" charset="0"/>
              </a:rPr>
              <a:t>Trabajar con la escala de validación, ¿Cuál es el menor tamaño adecuado para comprobar hipótesis? La escala es muy importante, pequeña para no malgastar, suficiente para validar.</a:t>
            </a:r>
          </a:p>
        </p:txBody>
      </p:sp>
      <p:sp>
        <p:nvSpPr>
          <p:cNvPr id="6" name="Rectángulo 5">
            <a:extLst>
              <a:ext uri="{FF2B5EF4-FFF2-40B4-BE49-F238E27FC236}">
                <a16:creationId xmlns:a16="http://schemas.microsoft.com/office/drawing/2014/main" id="{E00A869A-F3CC-4627-845E-CE19EFD4EC3A}"/>
              </a:ext>
            </a:extLst>
          </p:cNvPr>
          <p:cNvSpPr/>
          <p:nvPr/>
        </p:nvSpPr>
        <p:spPr bwMode="auto">
          <a:xfrm>
            <a:off x="4331690" y="3429000"/>
            <a:ext cx="2826000" cy="2224800"/>
          </a:xfrm>
          <a:prstGeom prst="rect">
            <a:avLst/>
          </a:prstGeom>
          <a:solidFill>
            <a:srgbClr val="ED6723"/>
          </a:solidFill>
          <a:ln>
            <a:solidFill>
              <a:srgbClr val="ED6723"/>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CL" sz="1600" b="1" i="0" u="none" strike="noStrike" kern="1200" cap="none" spc="0" normalizeH="0" baseline="0" noProof="0" dirty="0">
                <a:ln>
                  <a:noFill/>
                </a:ln>
                <a:solidFill>
                  <a:prstClr val="white"/>
                </a:solidFill>
                <a:effectLst/>
                <a:uLnTx/>
                <a:uFillTx/>
                <a:latin typeface="Montserrat"/>
                <a:ea typeface="+mn-ea"/>
                <a:cs typeface="+mn-cs"/>
                <a:sym typeface="Gill Sans" charset="0"/>
              </a:rPr>
              <a:t>No condicionar los resultados</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CL" sz="1300" b="0" i="0" u="none" strike="noStrike" kern="1200" cap="none" spc="0" normalizeH="0" baseline="0" noProof="0" dirty="0">
              <a:ln>
                <a:noFill/>
              </a:ln>
              <a:solidFill>
                <a:prstClr val="white"/>
              </a:solidFill>
              <a:effectLst/>
              <a:uLnTx/>
              <a:uFillTx/>
              <a:latin typeface="Montserrat"/>
              <a:ea typeface="+mn-ea"/>
              <a:cs typeface="+mn-cs"/>
              <a:sym typeface="Gill Sans"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s-CL" sz="1300" b="0" i="0" u="none" strike="noStrike" kern="1200" cap="none" spc="0" normalizeH="0" baseline="0" noProof="0" dirty="0">
                <a:ln>
                  <a:noFill/>
                </a:ln>
                <a:solidFill>
                  <a:prstClr val="white"/>
                </a:solidFill>
                <a:effectLst/>
                <a:uLnTx/>
                <a:uFillTx/>
                <a:latin typeface="Montserrat"/>
                <a:ea typeface="+mn-ea"/>
                <a:cs typeface="+mn-cs"/>
                <a:sym typeface="Gill Sans" charset="0"/>
              </a:rPr>
              <a:t>Evitar todos los prejuicios que condicionen la observación, discusión, análisis, puede volver ciegos los juicios y condicionar, profundizando fallas.</a:t>
            </a:r>
          </a:p>
        </p:txBody>
      </p:sp>
      <p:sp>
        <p:nvSpPr>
          <p:cNvPr id="7" name="Rectángulo 6">
            <a:extLst>
              <a:ext uri="{FF2B5EF4-FFF2-40B4-BE49-F238E27FC236}">
                <a16:creationId xmlns:a16="http://schemas.microsoft.com/office/drawing/2014/main" id="{C93A7BEE-C817-4030-82E5-FB3B8514760F}"/>
              </a:ext>
            </a:extLst>
          </p:cNvPr>
          <p:cNvSpPr/>
          <p:nvPr/>
        </p:nvSpPr>
        <p:spPr bwMode="auto">
          <a:xfrm>
            <a:off x="7914701" y="903575"/>
            <a:ext cx="2826000" cy="2224800"/>
          </a:xfrm>
          <a:prstGeom prst="rect">
            <a:avLst/>
          </a:prstGeom>
          <a:solidFill>
            <a:srgbClr val="ED6723"/>
          </a:solidFill>
          <a:ln>
            <a:solidFill>
              <a:srgbClr val="ED6723"/>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CL" sz="1600" b="1" i="0" u="none" strike="noStrike" kern="1200" cap="none" spc="0" normalizeH="0" baseline="0" noProof="0" dirty="0">
                <a:ln>
                  <a:noFill/>
                </a:ln>
                <a:solidFill>
                  <a:prstClr val="white"/>
                </a:solidFill>
                <a:effectLst/>
                <a:uLnTx/>
                <a:uFillTx/>
                <a:latin typeface="Montserrat"/>
                <a:ea typeface="+mn-ea"/>
                <a:cs typeface="+mn-cs"/>
                <a:sym typeface="Gill Sans" charset="0"/>
              </a:rPr>
              <a:t>Probar a la competencia</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s-CL" sz="1300" b="0" i="0" u="none" strike="noStrike" kern="1200" cap="none" spc="0" normalizeH="0" baseline="0" noProof="0" dirty="0">
                <a:ln>
                  <a:noFill/>
                </a:ln>
                <a:solidFill>
                  <a:prstClr val="white"/>
                </a:solidFill>
                <a:effectLst/>
                <a:uLnTx/>
                <a:uFillTx/>
                <a:latin typeface="Montserrat"/>
                <a:ea typeface="+mn-ea"/>
                <a:cs typeface="+mn-cs"/>
                <a:sym typeface="Gill Sans" charset="0"/>
              </a:rPr>
              <a:t>Se puede aprender mucho de la competencia ¿Por qué lo hacen de una cierta manera? ¿Cuál es la lógica de sus decisiones? Atributos, cliente frente a producto, etc.</a:t>
            </a:r>
          </a:p>
        </p:txBody>
      </p:sp>
      <p:sp>
        <p:nvSpPr>
          <p:cNvPr id="8" name="Rectángulo 7">
            <a:extLst>
              <a:ext uri="{FF2B5EF4-FFF2-40B4-BE49-F238E27FC236}">
                <a16:creationId xmlns:a16="http://schemas.microsoft.com/office/drawing/2014/main" id="{38C152E0-7EBC-4B69-A083-4A45C081CC97}"/>
              </a:ext>
            </a:extLst>
          </p:cNvPr>
          <p:cNvSpPr/>
          <p:nvPr/>
        </p:nvSpPr>
        <p:spPr bwMode="auto">
          <a:xfrm>
            <a:off x="7916268" y="3492300"/>
            <a:ext cx="2824433" cy="2223981"/>
          </a:xfrm>
          <a:prstGeom prst="rect">
            <a:avLst/>
          </a:prstGeom>
          <a:solidFill>
            <a:srgbClr val="ED6723"/>
          </a:solidFill>
          <a:ln>
            <a:solidFill>
              <a:srgbClr val="ED6723"/>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CL" sz="1600" b="1" i="0" u="none" strike="noStrike" kern="1200" cap="none" spc="0" normalizeH="0" baseline="0" noProof="0" dirty="0">
                <a:ln>
                  <a:noFill/>
                </a:ln>
                <a:solidFill>
                  <a:prstClr val="white"/>
                </a:solidFill>
                <a:effectLst/>
                <a:uLnTx/>
                <a:uFillTx/>
                <a:latin typeface="Montserrat"/>
                <a:ea typeface="+mn-ea"/>
                <a:cs typeface="+mn-cs"/>
                <a:sym typeface="Gill Sans" charset="0"/>
              </a:rPr>
              <a:t>Prueba en la calle, directo</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s-CL" sz="1300" b="0" i="0" u="none" strike="noStrike" kern="1200" cap="none" spc="0" normalizeH="0" baseline="0" noProof="0" dirty="0">
                <a:ln>
                  <a:noFill/>
                </a:ln>
                <a:solidFill>
                  <a:prstClr val="white"/>
                </a:solidFill>
                <a:effectLst/>
                <a:uLnTx/>
                <a:uFillTx/>
                <a:latin typeface="Montserrat"/>
                <a:ea typeface="+mn-ea"/>
                <a:cs typeface="+mn-cs"/>
                <a:sym typeface="Gill Sans" charset="0"/>
              </a:rPr>
              <a:t>No hay nada como estar de frente al cliente, físicamente, sintiendo las pruebas de producto o conversando, es aprendizaje directo, muy valiosos. Por lo mismo, no es evitable para los fundadores, participar de las pruebas.</a:t>
            </a:r>
          </a:p>
        </p:txBody>
      </p:sp>
      <p:sp>
        <p:nvSpPr>
          <p:cNvPr id="9" name="TextBox 1">
            <a:extLst>
              <a:ext uri="{FF2B5EF4-FFF2-40B4-BE49-F238E27FC236}">
                <a16:creationId xmlns:a16="http://schemas.microsoft.com/office/drawing/2014/main" id="{718FDAA7-2FA1-4A6B-9CF3-7943EC5F47AF}"/>
              </a:ext>
            </a:extLst>
          </p:cNvPr>
          <p:cNvSpPr txBox="1"/>
          <p:nvPr/>
        </p:nvSpPr>
        <p:spPr>
          <a:xfrm>
            <a:off x="748679" y="903575"/>
            <a:ext cx="2826000"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prstClr val="black"/>
                </a:solidFill>
                <a:effectLst/>
                <a:uLnTx/>
                <a:uFillTx/>
                <a:latin typeface="Montserrat SemiBold" pitchFamily="2" charset="0"/>
                <a:ea typeface="+mn-ea"/>
                <a:cs typeface="+mn-cs"/>
              </a:rPr>
              <a:t>Consejos</a:t>
            </a:r>
            <a:endParaRPr kumimoji="0" lang="es-CL" sz="2800" b="0" i="0" u="none" strike="noStrike" kern="1200" cap="none" spc="0" normalizeH="0" baseline="0" noProof="0" dirty="0">
              <a:ln>
                <a:noFill/>
              </a:ln>
              <a:solidFill>
                <a:prstClr val="black"/>
              </a:solidFill>
              <a:effectLst/>
              <a:uLnTx/>
              <a:uFillTx/>
              <a:latin typeface="Montserrat SemiBold" pitchFamily="2" charset="0"/>
              <a:ea typeface="+mn-ea"/>
              <a:cs typeface="+mn-cs"/>
            </a:endParaRPr>
          </a:p>
        </p:txBody>
      </p:sp>
    </p:spTree>
    <p:extLst>
      <p:ext uri="{BB962C8B-B14F-4D97-AF65-F5344CB8AC3E}">
        <p14:creationId xmlns:p14="http://schemas.microsoft.com/office/powerpoint/2010/main" val="5201926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0DCF66-16FB-2158-887A-13D0EB0DAC35}"/>
              </a:ext>
            </a:extLst>
          </p:cNvPr>
          <p:cNvSpPr>
            <a:spLocks noGrp="1"/>
          </p:cNvSpPr>
          <p:nvPr>
            <p:ph type="title"/>
          </p:nvPr>
        </p:nvSpPr>
        <p:spPr>
          <a:xfrm>
            <a:off x="838200" y="1477828"/>
            <a:ext cx="5257800" cy="1821963"/>
          </a:xfrm>
        </p:spPr>
        <p:txBody>
          <a:bodyPr/>
          <a:lstStyle/>
          <a:p>
            <a:r>
              <a:rPr lang="es-CL" dirty="0"/>
              <a:t>Alcanzando la escalabilidad. Análisis de modelo de negocios y flujos proyectados</a:t>
            </a:r>
          </a:p>
        </p:txBody>
      </p:sp>
    </p:spTree>
    <p:extLst>
      <p:ext uri="{BB962C8B-B14F-4D97-AF65-F5344CB8AC3E}">
        <p14:creationId xmlns:p14="http://schemas.microsoft.com/office/powerpoint/2010/main" val="38969821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70066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D1C2F94B-C656-9702-F8FB-1D77273C2070}"/>
              </a:ext>
            </a:extLst>
          </p:cNvPr>
          <p:cNvGrpSpPr/>
          <p:nvPr/>
        </p:nvGrpSpPr>
        <p:grpSpPr>
          <a:xfrm>
            <a:off x="666750" y="2157768"/>
            <a:ext cx="7772401" cy="2542464"/>
            <a:chOff x="666750" y="1186218"/>
            <a:chExt cx="7772401" cy="2542464"/>
          </a:xfrm>
        </p:grpSpPr>
        <p:pic>
          <p:nvPicPr>
            <p:cNvPr id="3" name="Imagen 2">
              <a:extLst>
                <a:ext uri="{FF2B5EF4-FFF2-40B4-BE49-F238E27FC236}">
                  <a16:creationId xmlns:a16="http://schemas.microsoft.com/office/drawing/2014/main" id="{C428AC40-5F6B-A803-A8E0-AF59E971D045}"/>
                </a:ext>
              </a:extLst>
            </p:cNvPr>
            <p:cNvPicPr>
              <a:picLocks noChangeAspect="1"/>
            </p:cNvPicPr>
            <p:nvPr/>
          </p:nvPicPr>
          <p:blipFill>
            <a:blip r:embed="rId2"/>
            <a:stretch>
              <a:fillRect/>
            </a:stretch>
          </p:blipFill>
          <p:spPr>
            <a:xfrm>
              <a:off x="666750" y="1186218"/>
              <a:ext cx="7772400" cy="2542464"/>
            </a:xfrm>
            <a:prstGeom prst="rect">
              <a:avLst/>
            </a:prstGeom>
          </p:spPr>
        </p:pic>
        <p:sp>
          <p:nvSpPr>
            <p:cNvPr id="4" name="Rectángulo 3">
              <a:extLst>
                <a:ext uri="{FF2B5EF4-FFF2-40B4-BE49-F238E27FC236}">
                  <a16:creationId xmlns:a16="http://schemas.microsoft.com/office/drawing/2014/main" id="{2E66CE8B-F29D-F3D9-622E-A20FACC8DB09}"/>
                </a:ext>
              </a:extLst>
            </p:cNvPr>
            <p:cNvSpPr/>
            <p:nvPr/>
          </p:nvSpPr>
          <p:spPr>
            <a:xfrm>
              <a:off x="4186239" y="1186218"/>
              <a:ext cx="4252912" cy="2542464"/>
            </a:xfrm>
            <a:prstGeom prst="rect">
              <a:avLst/>
            </a:prstGeom>
            <a:solidFill>
              <a:srgbClr val="593BB9">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pSp>
      <p:sp>
        <p:nvSpPr>
          <p:cNvPr id="5" name="CuadroTexto 4">
            <a:extLst>
              <a:ext uri="{FF2B5EF4-FFF2-40B4-BE49-F238E27FC236}">
                <a16:creationId xmlns:a16="http://schemas.microsoft.com/office/drawing/2014/main" id="{2CF29723-CCAD-A4F0-07CB-2F9B450C9D42}"/>
              </a:ext>
            </a:extLst>
          </p:cNvPr>
          <p:cNvSpPr txBox="1"/>
          <p:nvPr/>
        </p:nvSpPr>
        <p:spPr>
          <a:xfrm>
            <a:off x="666750" y="471488"/>
            <a:ext cx="7827784" cy="369332"/>
          </a:xfrm>
          <a:prstGeom prst="rect">
            <a:avLst/>
          </a:prstGeom>
          <a:noFill/>
        </p:spPr>
        <p:txBody>
          <a:bodyPr wrap="none" rtlCol="0">
            <a:spAutoFit/>
          </a:bodyPr>
          <a:lstStyle/>
          <a:p>
            <a:r>
              <a:rPr lang="es-CL" b="1" dirty="0"/>
              <a:t>Mis primeros nueve meses (MVP + Experimentos/ </a:t>
            </a:r>
            <a:r>
              <a:rPr lang="es-CL" b="1" dirty="0" err="1"/>
              <a:t>Product</a:t>
            </a:r>
            <a:r>
              <a:rPr lang="es-CL" b="1" dirty="0"/>
              <a:t> </a:t>
            </a:r>
            <a:r>
              <a:rPr lang="es-CL" b="1" dirty="0" err="1"/>
              <a:t>Market</a:t>
            </a:r>
            <a:r>
              <a:rPr lang="es-CL" b="1" dirty="0"/>
              <a:t> </a:t>
            </a:r>
            <a:r>
              <a:rPr lang="es-CL" b="1" dirty="0" err="1"/>
              <a:t>Fit</a:t>
            </a:r>
            <a:r>
              <a:rPr lang="es-CL" b="1" dirty="0"/>
              <a:t>)</a:t>
            </a:r>
          </a:p>
        </p:txBody>
      </p:sp>
      <p:sp>
        <p:nvSpPr>
          <p:cNvPr id="7" name="CuadroTexto 6">
            <a:extLst>
              <a:ext uri="{FF2B5EF4-FFF2-40B4-BE49-F238E27FC236}">
                <a16:creationId xmlns:a16="http://schemas.microsoft.com/office/drawing/2014/main" id="{03C9A94C-7374-EDCA-7C8E-8B7537B0192E}"/>
              </a:ext>
            </a:extLst>
          </p:cNvPr>
          <p:cNvSpPr txBox="1"/>
          <p:nvPr/>
        </p:nvSpPr>
        <p:spPr>
          <a:xfrm>
            <a:off x="666748" y="1012954"/>
            <a:ext cx="10858501" cy="954107"/>
          </a:xfrm>
          <a:prstGeom prst="rect">
            <a:avLst/>
          </a:prstGeom>
          <a:noFill/>
        </p:spPr>
        <p:txBody>
          <a:bodyPr wrap="square">
            <a:spAutoFit/>
          </a:bodyPr>
          <a:lstStyle/>
          <a:p>
            <a:pPr algn="l">
              <a:buNone/>
            </a:pPr>
            <a:r>
              <a:rPr lang="es-419" sz="1400" b="0" i="0" u="none" strike="noStrike" dirty="0">
                <a:effectLst/>
                <a:latin typeface="Raleway" pitchFamily="2" charset="77"/>
              </a:rPr>
              <a:t>En esta etapa es relevante determinar quienes parten, y como irá creciendo las contrataciones. Las asignaciones de sueldos, donde operar, es muy relevante tensionar a la baja todos los costos pues no habiendo ventas todo es negativo. Poner el acento en la construcción del MVP y buscar el campo de prueba de los pilotos, en clientes validos respecto de las hipotesis por probar.</a:t>
            </a:r>
          </a:p>
          <a:p>
            <a:pPr algn="l">
              <a:buNone/>
            </a:pPr>
            <a:r>
              <a:rPr lang="es-419" sz="1400" dirty="0">
                <a:latin typeface="Raleway" pitchFamily="2" charset="77"/>
              </a:rPr>
              <a:t>Costear los experimentos, y determinar sus tiempos, amarrar a indicadores perseguidos que validen las hipótesis.</a:t>
            </a:r>
            <a:endParaRPr lang="es-CL" sz="1400" b="0" i="0" u="none" strike="noStrike" dirty="0">
              <a:effectLst/>
              <a:latin typeface="Raleway" pitchFamily="2" charset="77"/>
            </a:endParaRPr>
          </a:p>
        </p:txBody>
      </p:sp>
      <p:sp>
        <p:nvSpPr>
          <p:cNvPr id="8" name="CuadroTexto 7">
            <a:extLst>
              <a:ext uri="{FF2B5EF4-FFF2-40B4-BE49-F238E27FC236}">
                <a16:creationId xmlns:a16="http://schemas.microsoft.com/office/drawing/2014/main" id="{A7286ECF-CB57-0005-FB7C-FFD3A5CA2A79}"/>
              </a:ext>
            </a:extLst>
          </p:cNvPr>
          <p:cNvSpPr txBox="1"/>
          <p:nvPr/>
        </p:nvSpPr>
        <p:spPr>
          <a:xfrm>
            <a:off x="666748" y="4890939"/>
            <a:ext cx="10858501" cy="954107"/>
          </a:xfrm>
          <a:prstGeom prst="rect">
            <a:avLst/>
          </a:prstGeom>
          <a:noFill/>
        </p:spPr>
        <p:txBody>
          <a:bodyPr wrap="square">
            <a:spAutoFit/>
          </a:bodyPr>
          <a:lstStyle/>
          <a:p>
            <a:pPr algn="l">
              <a:buNone/>
            </a:pPr>
            <a:r>
              <a:rPr lang="es-419" sz="1400" b="0" i="0" u="none" strike="noStrike" dirty="0">
                <a:effectLst/>
                <a:latin typeface="Raleway" pitchFamily="2" charset="77"/>
              </a:rPr>
              <a:t>La etapa se situa en 9 o 10 meses, pero se puede prolongar facilmente, sin embargo, la idea es lograr en ese tiempo generar algunas fuentes de ingreso primarias, incipientes, pero que comiencen a colaborar al financiamiento.</a:t>
            </a:r>
          </a:p>
          <a:p>
            <a:pPr algn="l">
              <a:buNone/>
            </a:pPr>
            <a:r>
              <a:rPr lang="es-419" sz="1400" dirty="0">
                <a:latin typeface="Raleway" pitchFamily="2" charset="77"/>
              </a:rPr>
              <a:t>Por esto, independiente de no alcanzar el </a:t>
            </a:r>
            <a:r>
              <a:rPr lang="es-419" sz="1400" b="1" dirty="0">
                <a:latin typeface="Raleway" pitchFamily="2" charset="77"/>
              </a:rPr>
              <a:t>Product market fit</a:t>
            </a:r>
            <a:r>
              <a:rPr lang="es-419" sz="1400" dirty="0">
                <a:latin typeface="Raleway" pitchFamily="2" charset="77"/>
              </a:rPr>
              <a:t>, si se puede adelantar que los clientes paguen por pilotos, pruebas, o servicios.</a:t>
            </a:r>
            <a:r>
              <a:rPr lang="es-419" sz="1400" b="0" i="0" u="none" strike="noStrike" dirty="0">
                <a:effectLst/>
                <a:latin typeface="Raleway" pitchFamily="2" charset="77"/>
              </a:rPr>
              <a:t> </a:t>
            </a:r>
            <a:endParaRPr lang="es-CL" sz="1400" b="0" i="0" u="none" strike="noStrike" dirty="0">
              <a:effectLst/>
              <a:latin typeface="Raleway" pitchFamily="2" charset="77"/>
            </a:endParaRPr>
          </a:p>
        </p:txBody>
      </p:sp>
    </p:spTree>
    <p:extLst>
      <p:ext uri="{BB962C8B-B14F-4D97-AF65-F5344CB8AC3E}">
        <p14:creationId xmlns:p14="http://schemas.microsoft.com/office/powerpoint/2010/main" val="34738866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963F9-02B9-065C-186A-FC1FE29E6A97}"/>
              </a:ext>
            </a:extLst>
          </p:cNvPr>
          <p:cNvSpPr txBox="1">
            <a:spLocks/>
          </p:cNvSpPr>
          <p:nvPr/>
        </p:nvSpPr>
        <p:spPr>
          <a:xfrm>
            <a:off x="658812" y="588972"/>
            <a:ext cx="10874375" cy="1054090"/>
          </a:xfrm>
          <a:prstGeom prst="rect">
            <a:avLst/>
          </a:prstGeom>
        </p:spPr>
        <p:txBody>
          <a:bodyPr/>
          <a:lstStyle>
            <a:lvl1pPr algn="l" defTabSz="914400" rtl="0" eaLnBrk="1" latinLnBrk="0" hangingPunct="1">
              <a:lnSpc>
                <a:spcPct val="90000"/>
              </a:lnSpc>
              <a:spcBef>
                <a:spcPct val="0"/>
              </a:spcBef>
              <a:buNone/>
              <a:defRPr sz="3200" kern="1200">
                <a:solidFill>
                  <a:schemeClr val="accent3"/>
                </a:solidFill>
                <a:latin typeface="+mj-lt"/>
                <a:ea typeface="+mj-ea"/>
                <a:cs typeface="+mj-cs"/>
              </a:defRPr>
            </a:lvl1pPr>
          </a:lstStyle>
          <a:p>
            <a:pPr>
              <a:lnSpc>
                <a:spcPct val="100000"/>
              </a:lnSpc>
              <a:spcBef>
                <a:spcPts val="0"/>
              </a:spcBef>
              <a:defRPr/>
            </a:pPr>
            <a:r>
              <a:rPr lang="es-CL" sz="2800" b="1" dirty="0">
                <a:ea typeface="+mn-ea"/>
                <a:cs typeface="+mn-cs"/>
              </a:rPr>
              <a:t>La tecnología (y el diseño detrás) muchas veces busca </a:t>
            </a:r>
            <a:r>
              <a:rPr lang="es-CL" sz="2400" b="1" dirty="0">
                <a:solidFill>
                  <a:schemeClr val="accent4"/>
                </a:solidFill>
                <a:ea typeface="+mn-ea"/>
                <a:cs typeface="+mn-cs"/>
              </a:rPr>
              <a:t>superar una barrera o adecuarse a una restricción…</a:t>
            </a:r>
            <a:endParaRPr lang="es-CL" sz="2800" b="1" dirty="0">
              <a:solidFill>
                <a:schemeClr val="accent4"/>
              </a:solidFill>
              <a:ea typeface="+mn-ea"/>
              <a:cs typeface="+mn-cs"/>
            </a:endParaRPr>
          </a:p>
        </p:txBody>
      </p:sp>
      <p:pic>
        <p:nvPicPr>
          <p:cNvPr id="1026" name="Picture 2">
            <a:extLst>
              <a:ext uri="{FF2B5EF4-FFF2-40B4-BE49-F238E27FC236}">
                <a16:creationId xmlns:a16="http://schemas.microsoft.com/office/drawing/2014/main" id="{1071EC89-AED2-8BCA-F67B-481F1E795A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812" y="2137736"/>
            <a:ext cx="3394075" cy="1018223"/>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10E03441-C076-A387-9488-E2578A63BE81}"/>
              </a:ext>
            </a:extLst>
          </p:cNvPr>
          <p:cNvSpPr txBox="1"/>
          <p:nvPr/>
        </p:nvSpPr>
        <p:spPr>
          <a:xfrm>
            <a:off x="658812" y="3517376"/>
            <a:ext cx="3394075" cy="1754326"/>
          </a:xfrm>
          <a:prstGeom prst="rect">
            <a:avLst/>
          </a:prstGeom>
          <a:noFill/>
        </p:spPr>
        <p:txBody>
          <a:bodyPr wrap="square" rtlCol="0">
            <a:spAutoFit/>
          </a:bodyPr>
          <a:lstStyle/>
          <a:p>
            <a:r>
              <a:rPr lang="es-CL" dirty="0"/>
              <a:t>Diseño la tecnología de </a:t>
            </a:r>
            <a:r>
              <a:rPr lang="en-US" i="1" noProof="0" dirty="0"/>
              <a:t>streaming</a:t>
            </a:r>
            <a:r>
              <a:rPr lang="es-CL" dirty="0"/>
              <a:t> para que pareciera instantánea. </a:t>
            </a:r>
          </a:p>
          <a:p>
            <a:endParaRPr lang="es-CL" dirty="0"/>
          </a:p>
          <a:p>
            <a:r>
              <a:rPr lang="es-CL" b="1" dirty="0"/>
              <a:t>Comenzar a escuchar en 0,2 segundos</a:t>
            </a:r>
          </a:p>
        </p:txBody>
      </p:sp>
      <p:pic>
        <p:nvPicPr>
          <p:cNvPr id="1028" name="Picture 4">
            <a:extLst>
              <a:ext uri="{FF2B5EF4-FFF2-40B4-BE49-F238E27FC236}">
                <a16:creationId xmlns:a16="http://schemas.microsoft.com/office/drawing/2014/main" id="{3DFB74EA-04AE-59AC-1A39-CF1851C105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4855" y="2320218"/>
            <a:ext cx="3394075" cy="424260"/>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B7356A1D-A819-6B9D-D36A-9D100FE2F2FC}"/>
              </a:ext>
            </a:extLst>
          </p:cNvPr>
          <p:cNvSpPr txBox="1"/>
          <p:nvPr/>
        </p:nvSpPr>
        <p:spPr>
          <a:xfrm>
            <a:off x="4614854" y="3517376"/>
            <a:ext cx="3394075" cy="1754326"/>
          </a:xfrm>
          <a:prstGeom prst="rect">
            <a:avLst/>
          </a:prstGeom>
          <a:noFill/>
        </p:spPr>
        <p:txBody>
          <a:bodyPr wrap="square" rtlCol="0">
            <a:spAutoFit/>
          </a:bodyPr>
          <a:lstStyle/>
          <a:p>
            <a:r>
              <a:rPr lang="es-419" dirty="0"/>
              <a:t>Cohetes que bajaran el precio de trasladarse al espacio con el concepto de taxi espacial</a:t>
            </a:r>
            <a:r>
              <a:rPr lang="es-CL" dirty="0"/>
              <a:t>. </a:t>
            </a:r>
          </a:p>
          <a:p>
            <a:endParaRPr lang="es-CL" dirty="0"/>
          </a:p>
          <a:p>
            <a:r>
              <a:rPr lang="es-CL" b="1" dirty="0"/>
              <a:t>Menos de USD$ 200 por tonelada</a:t>
            </a:r>
          </a:p>
        </p:txBody>
      </p:sp>
      <p:pic>
        <p:nvPicPr>
          <p:cNvPr id="1030" name="Picture 6" descr="iPod - Wikipedia, la enciclopedia libre">
            <a:extLst>
              <a:ext uri="{FF2B5EF4-FFF2-40B4-BE49-F238E27FC236}">
                <a16:creationId xmlns:a16="http://schemas.microsoft.com/office/drawing/2014/main" id="{18F387CC-9D19-EF72-14EB-26674B6B32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97892" y="1643062"/>
            <a:ext cx="2692400" cy="1585934"/>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ED6EABFD-6320-14DB-812D-7FCC4FF8DD52}"/>
              </a:ext>
            </a:extLst>
          </p:cNvPr>
          <p:cNvSpPr txBox="1"/>
          <p:nvPr/>
        </p:nvSpPr>
        <p:spPr>
          <a:xfrm>
            <a:off x="8597892" y="3517376"/>
            <a:ext cx="2946401" cy="1200329"/>
          </a:xfrm>
          <a:prstGeom prst="rect">
            <a:avLst/>
          </a:prstGeom>
          <a:noFill/>
        </p:spPr>
        <p:txBody>
          <a:bodyPr wrap="square" rtlCol="0">
            <a:spAutoFit/>
          </a:bodyPr>
          <a:lstStyle/>
          <a:p>
            <a:r>
              <a:rPr lang="es-419" b="1" dirty="0"/>
              <a:t>Ipod </a:t>
            </a:r>
            <a:r>
              <a:rPr lang="es-419" dirty="0"/>
              <a:t>que quepa en el bolsillo monedero de un jeans. También, </a:t>
            </a:r>
            <a:r>
              <a:rPr lang="es-419" b="1" dirty="0"/>
              <a:t>más de 1000 canciones.</a:t>
            </a:r>
            <a:endParaRPr lang="es-CL" b="1" dirty="0"/>
          </a:p>
        </p:txBody>
      </p:sp>
      <p:sp>
        <p:nvSpPr>
          <p:cNvPr id="6" name="CuadroTexto 5">
            <a:extLst>
              <a:ext uri="{FF2B5EF4-FFF2-40B4-BE49-F238E27FC236}">
                <a16:creationId xmlns:a16="http://schemas.microsoft.com/office/drawing/2014/main" id="{8C08B1A6-C8BA-96C0-B7D6-581A23F97117}"/>
              </a:ext>
            </a:extLst>
          </p:cNvPr>
          <p:cNvSpPr txBox="1"/>
          <p:nvPr/>
        </p:nvSpPr>
        <p:spPr>
          <a:xfrm>
            <a:off x="4614854" y="5645810"/>
            <a:ext cx="6675438" cy="369332"/>
          </a:xfrm>
          <a:prstGeom prst="rect">
            <a:avLst/>
          </a:prstGeom>
          <a:noFill/>
        </p:spPr>
        <p:txBody>
          <a:bodyPr wrap="square" rtlCol="0">
            <a:spAutoFit/>
          </a:bodyPr>
          <a:lstStyle/>
          <a:p>
            <a:r>
              <a:rPr lang="es-CL" b="1" dirty="0"/>
              <a:t>Estos son los indicadores que guían el diseño…</a:t>
            </a:r>
          </a:p>
        </p:txBody>
      </p:sp>
    </p:spTree>
    <p:extLst>
      <p:ext uri="{BB962C8B-B14F-4D97-AF65-F5344CB8AC3E}">
        <p14:creationId xmlns:p14="http://schemas.microsoft.com/office/powerpoint/2010/main" val="28168062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9522F09C-F2B4-4D7B-87A4-F852C8B47290}"/>
              </a:ext>
            </a:extLst>
          </p:cNvPr>
          <p:cNvPicPr>
            <a:picLocks noChangeAspect="1"/>
          </p:cNvPicPr>
          <p:nvPr/>
        </p:nvPicPr>
        <p:blipFill>
          <a:blip r:embed="rId2"/>
          <a:stretch>
            <a:fillRect/>
          </a:stretch>
        </p:blipFill>
        <p:spPr>
          <a:xfrm>
            <a:off x="677221" y="2314661"/>
            <a:ext cx="4863889" cy="3632170"/>
          </a:xfrm>
          <a:prstGeom prst="rect">
            <a:avLst/>
          </a:prstGeom>
        </p:spPr>
      </p:pic>
      <p:sp>
        <p:nvSpPr>
          <p:cNvPr id="6" name="CuadroTexto 5">
            <a:extLst>
              <a:ext uri="{FF2B5EF4-FFF2-40B4-BE49-F238E27FC236}">
                <a16:creationId xmlns:a16="http://schemas.microsoft.com/office/drawing/2014/main" id="{0A04B32A-6A18-4DA4-AC4A-EBD10821530A}"/>
              </a:ext>
            </a:extLst>
          </p:cNvPr>
          <p:cNvSpPr txBox="1"/>
          <p:nvPr/>
        </p:nvSpPr>
        <p:spPr>
          <a:xfrm>
            <a:off x="677221" y="562708"/>
            <a:ext cx="10670717" cy="1077218"/>
          </a:xfrm>
          <a:prstGeom prst="rect">
            <a:avLst/>
          </a:prstGeom>
          <a:noFill/>
        </p:spPr>
        <p:txBody>
          <a:bodyPr wrap="square" rtlCol="0">
            <a:spAutoFit/>
          </a:bodyPr>
          <a:lstStyle/>
          <a:p>
            <a:r>
              <a:rPr lang="es-CL" sz="1600" dirty="0">
                <a:latin typeface="Avenir Next" panose="020B0503020202020204" pitchFamily="34" charset="0"/>
              </a:rPr>
              <a:t>Las </a:t>
            </a:r>
            <a:r>
              <a:rPr lang="es-CL" sz="1600" b="1" dirty="0">
                <a:latin typeface="Avenir Next" panose="020B0503020202020204" pitchFamily="34" charset="0"/>
              </a:rPr>
              <a:t>competencias medulares </a:t>
            </a:r>
            <a:r>
              <a:rPr lang="es-CL" sz="1600" dirty="0">
                <a:latin typeface="Avenir Next" panose="020B0503020202020204" pitchFamily="34" charset="0"/>
              </a:rPr>
              <a:t>son producto del aprendizaje colectivo de la organización, especialmente como coordina diversas herramientas o técnicas e integra tecnologías distintas.</a:t>
            </a:r>
          </a:p>
          <a:p>
            <a:endParaRPr lang="es-CL" sz="1600" dirty="0">
              <a:latin typeface="Avenir Next" panose="020B0503020202020204" pitchFamily="34" charset="0"/>
            </a:endParaRPr>
          </a:p>
          <a:p>
            <a:r>
              <a:rPr lang="es-CL" sz="1600" dirty="0">
                <a:latin typeface="Avenir Next" panose="020B0503020202020204" pitchFamily="34" charset="0"/>
              </a:rPr>
              <a:t>Ejemplo puede ser la capacidad de Sony para miniaturizar o la experticia de Phillips en luminarias.</a:t>
            </a:r>
          </a:p>
        </p:txBody>
      </p:sp>
      <p:sp>
        <p:nvSpPr>
          <p:cNvPr id="7" name="CuadroTexto 6">
            <a:extLst>
              <a:ext uri="{FF2B5EF4-FFF2-40B4-BE49-F238E27FC236}">
                <a16:creationId xmlns:a16="http://schemas.microsoft.com/office/drawing/2014/main" id="{36CDBEA5-1801-4824-8A7B-75D0974BCAD0}"/>
              </a:ext>
            </a:extLst>
          </p:cNvPr>
          <p:cNvSpPr txBox="1"/>
          <p:nvPr/>
        </p:nvSpPr>
        <p:spPr>
          <a:xfrm>
            <a:off x="677221" y="6330464"/>
            <a:ext cx="10670717" cy="276999"/>
          </a:xfrm>
          <a:prstGeom prst="rect">
            <a:avLst/>
          </a:prstGeom>
          <a:noFill/>
        </p:spPr>
        <p:txBody>
          <a:bodyPr wrap="square" rtlCol="0">
            <a:spAutoFit/>
          </a:bodyPr>
          <a:lstStyle/>
          <a:p>
            <a:r>
              <a:rPr lang="es-CL" sz="1200" dirty="0">
                <a:latin typeface="Avenir Next" panose="020B0503020202020204" pitchFamily="34" charset="0"/>
              </a:rPr>
              <a:t>Fuente: </a:t>
            </a:r>
            <a:r>
              <a:rPr lang="en-US" sz="1200" dirty="0">
                <a:latin typeface="Avenir Next" panose="020B0503020202020204" pitchFamily="34" charset="0"/>
              </a:rPr>
              <a:t>Prahalad, C.K. &amp; Hamel, G. (1990).’The Core Competence of the </a:t>
            </a:r>
            <a:r>
              <a:rPr lang="en-US" sz="1200" dirty="0" err="1">
                <a:latin typeface="Avenir Next" panose="020B0503020202020204" pitchFamily="34" charset="0"/>
              </a:rPr>
              <a:t>Corporatión</a:t>
            </a:r>
            <a:r>
              <a:rPr lang="en-US" sz="1200" dirty="0">
                <a:latin typeface="Avenir Next" panose="020B0503020202020204" pitchFamily="34" charset="0"/>
              </a:rPr>
              <a:t>’. HBR</a:t>
            </a:r>
            <a:endParaRPr lang="es-CL" sz="1200" dirty="0">
              <a:latin typeface="Avenir Next" panose="020B0503020202020204" pitchFamily="34" charset="0"/>
            </a:endParaRPr>
          </a:p>
        </p:txBody>
      </p:sp>
      <p:sp>
        <p:nvSpPr>
          <p:cNvPr id="2" name="CuadroTexto 1">
            <a:extLst>
              <a:ext uri="{FF2B5EF4-FFF2-40B4-BE49-F238E27FC236}">
                <a16:creationId xmlns:a16="http://schemas.microsoft.com/office/drawing/2014/main" id="{C55D3603-4A9F-3EA7-810C-5796451184C8}"/>
              </a:ext>
            </a:extLst>
          </p:cNvPr>
          <p:cNvSpPr txBox="1"/>
          <p:nvPr/>
        </p:nvSpPr>
        <p:spPr>
          <a:xfrm>
            <a:off x="5897217" y="1962004"/>
            <a:ext cx="5450721" cy="523220"/>
          </a:xfrm>
          <a:prstGeom prst="rect">
            <a:avLst/>
          </a:prstGeom>
          <a:noFill/>
        </p:spPr>
        <p:txBody>
          <a:bodyPr wrap="square" rtlCol="0">
            <a:spAutoFit/>
          </a:bodyPr>
          <a:lstStyle/>
          <a:p>
            <a:r>
              <a:rPr lang="es-CL" sz="1400" b="1" dirty="0">
                <a:latin typeface="Raleway" pitchFamily="2" charset="77"/>
              </a:rPr>
              <a:t>Productos finales</a:t>
            </a:r>
            <a:r>
              <a:rPr lang="es-CL" sz="1400" dirty="0">
                <a:latin typeface="Raleway" pitchFamily="2" charset="77"/>
              </a:rPr>
              <a:t>/ son los productos de venta al público y que dentro de su diferenciación tienen el componente tecnológico.</a:t>
            </a:r>
          </a:p>
        </p:txBody>
      </p:sp>
      <p:sp>
        <p:nvSpPr>
          <p:cNvPr id="3" name="CuadroTexto 2">
            <a:extLst>
              <a:ext uri="{FF2B5EF4-FFF2-40B4-BE49-F238E27FC236}">
                <a16:creationId xmlns:a16="http://schemas.microsoft.com/office/drawing/2014/main" id="{F2E177BF-454E-671F-AA90-998DEF159B83}"/>
              </a:ext>
            </a:extLst>
          </p:cNvPr>
          <p:cNvSpPr txBox="1"/>
          <p:nvPr/>
        </p:nvSpPr>
        <p:spPr>
          <a:xfrm>
            <a:off x="5897217" y="2684191"/>
            <a:ext cx="5450721" cy="738664"/>
          </a:xfrm>
          <a:prstGeom prst="rect">
            <a:avLst/>
          </a:prstGeom>
          <a:noFill/>
        </p:spPr>
        <p:txBody>
          <a:bodyPr wrap="square" rtlCol="0">
            <a:spAutoFit/>
          </a:bodyPr>
          <a:lstStyle/>
          <a:p>
            <a:r>
              <a:rPr lang="es-CL" sz="1400" b="1" dirty="0">
                <a:latin typeface="Raleway" pitchFamily="2" charset="77"/>
              </a:rPr>
              <a:t>Línea de negocios</a:t>
            </a:r>
            <a:r>
              <a:rPr lang="es-CL" sz="1400" dirty="0">
                <a:latin typeface="Raleway" pitchFamily="2" charset="77"/>
              </a:rPr>
              <a:t>/ es una línea de negocios en un “concepto”, considera un portafolio de productos, generaciones, y segmentos.</a:t>
            </a:r>
          </a:p>
        </p:txBody>
      </p:sp>
      <p:sp>
        <p:nvSpPr>
          <p:cNvPr id="4" name="CuadroTexto 3">
            <a:extLst>
              <a:ext uri="{FF2B5EF4-FFF2-40B4-BE49-F238E27FC236}">
                <a16:creationId xmlns:a16="http://schemas.microsoft.com/office/drawing/2014/main" id="{C44CF4B1-7B5D-6A93-9599-D10122F24E4E}"/>
              </a:ext>
            </a:extLst>
          </p:cNvPr>
          <p:cNvSpPr txBox="1"/>
          <p:nvPr/>
        </p:nvSpPr>
        <p:spPr>
          <a:xfrm>
            <a:off x="5897217" y="3623014"/>
            <a:ext cx="5450721" cy="738664"/>
          </a:xfrm>
          <a:prstGeom prst="rect">
            <a:avLst/>
          </a:prstGeom>
          <a:noFill/>
        </p:spPr>
        <p:txBody>
          <a:bodyPr wrap="square" rtlCol="0">
            <a:spAutoFit/>
          </a:bodyPr>
          <a:lstStyle/>
          <a:p>
            <a:r>
              <a:rPr lang="es-CL" sz="1400" b="1" dirty="0">
                <a:latin typeface="Raleway" pitchFamily="2" charset="77"/>
              </a:rPr>
              <a:t>Componente CORE</a:t>
            </a:r>
            <a:r>
              <a:rPr lang="es-CL" sz="1400" dirty="0">
                <a:latin typeface="Raleway" pitchFamily="2" charset="77"/>
              </a:rPr>
              <a:t>/ es el componente tecnológico que da la ventaja competitiva, la unidad de tecnología que produce la diferenciación.</a:t>
            </a:r>
          </a:p>
        </p:txBody>
      </p:sp>
      <p:sp>
        <p:nvSpPr>
          <p:cNvPr id="8" name="CuadroTexto 7">
            <a:extLst>
              <a:ext uri="{FF2B5EF4-FFF2-40B4-BE49-F238E27FC236}">
                <a16:creationId xmlns:a16="http://schemas.microsoft.com/office/drawing/2014/main" id="{9A26585C-D68E-160F-F278-7ABBDDC2C88C}"/>
              </a:ext>
            </a:extLst>
          </p:cNvPr>
          <p:cNvSpPr txBox="1"/>
          <p:nvPr/>
        </p:nvSpPr>
        <p:spPr>
          <a:xfrm>
            <a:off x="5897217" y="4561241"/>
            <a:ext cx="5450721" cy="1169551"/>
          </a:xfrm>
          <a:prstGeom prst="rect">
            <a:avLst/>
          </a:prstGeom>
          <a:noFill/>
        </p:spPr>
        <p:txBody>
          <a:bodyPr wrap="square" rtlCol="0">
            <a:spAutoFit/>
          </a:bodyPr>
          <a:lstStyle/>
          <a:p>
            <a:r>
              <a:rPr lang="es-CL" sz="1400" b="1" dirty="0">
                <a:latin typeface="Raleway" pitchFamily="2" charset="77"/>
              </a:rPr>
              <a:t>Centros de competencias</a:t>
            </a:r>
            <a:r>
              <a:rPr lang="es-CL" sz="1400" dirty="0">
                <a:latin typeface="Raleway" pitchFamily="2" charset="77"/>
              </a:rPr>
              <a:t>/ son las unidades de trabajo que producen y están a cargo del componente tecnológico. Se diferencian por el </a:t>
            </a:r>
            <a:r>
              <a:rPr lang="es-CL" sz="1400" b="1" dirty="0">
                <a:latin typeface="Raleway" pitchFamily="2" charset="77"/>
              </a:rPr>
              <a:t>capital humano avanzado </a:t>
            </a:r>
            <a:r>
              <a:rPr lang="es-CL" sz="1400" dirty="0">
                <a:latin typeface="Raleway" pitchFamily="2" charset="77"/>
              </a:rPr>
              <a:t>(técnicos, expertos) y la </a:t>
            </a:r>
            <a:r>
              <a:rPr lang="es-CL" sz="1400" b="1" dirty="0">
                <a:latin typeface="Raleway" pitchFamily="2" charset="77"/>
              </a:rPr>
              <a:t>infraestructura tecnológica </a:t>
            </a:r>
            <a:r>
              <a:rPr lang="es-CL" sz="1400" dirty="0">
                <a:latin typeface="Raleway" pitchFamily="2" charset="77"/>
              </a:rPr>
              <a:t>(laboratorios, máquinas, equipos).</a:t>
            </a:r>
          </a:p>
        </p:txBody>
      </p:sp>
      <p:sp>
        <p:nvSpPr>
          <p:cNvPr id="9" name="CuadroTexto 8">
            <a:extLst>
              <a:ext uri="{FF2B5EF4-FFF2-40B4-BE49-F238E27FC236}">
                <a16:creationId xmlns:a16="http://schemas.microsoft.com/office/drawing/2014/main" id="{71FF116D-EBB7-28AF-6252-32BB582301A6}"/>
              </a:ext>
            </a:extLst>
          </p:cNvPr>
          <p:cNvSpPr txBox="1"/>
          <p:nvPr/>
        </p:nvSpPr>
        <p:spPr>
          <a:xfrm>
            <a:off x="677221" y="1792726"/>
            <a:ext cx="2611612" cy="369332"/>
          </a:xfrm>
          <a:prstGeom prst="rect">
            <a:avLst/>
          </a:prstGeom>
          <a:noFill/>
        </p:spPr>
        <p:txBody>
          <a:bodyPr wrap="none" rtlCol="0">
            <a:spAutoFit/>
          </a:bodyPr>
          <a:lstStyle/>
          <a:p>
            <a:r>
              <a:rPr lang="es-CL" b="1" dirty="0">
                <a:solidFill>
                  <a:srgbClr val="7030A0"/>
                </a:solidFill>
              </a:rPr>
              <a:t>Definir una ruta inicial</a:t>
            </a:r>
          </a:p>
        </p:txBody>
      </p:sp>
      <p:sp>
        <p:nvSpPr>
          <p:cNvPr id="10" name="Elipse 9">
            <a:extLst>
              <a:ext uri="{FF2B5EF4-FFF2-40B4-BE49-F238E27FC236}">
                <a16:creationId xmlns:a16="http://schemas.microsoft.com/office/drawing/2014/main" id="{33737864-C3AA-11F4-C757-15268E33034A}"/>
              </a:ext>
            </a:extLst>
          </p:cNvPr>
          <p:cNvSpPr/>
          <p:nvPr/>
        </p:nvSpPr>
        <p:spPr>
          <a:xfrm>
            <a:off x="1095375" y="4885001"/>
            <a:ext cx="342900" cy="3693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Elipse 10">
            <a:extLst>
              <a:ext uri="{FF2B5EF4-FFF2-40B4-BE49-F238E27FC236}">
                <a16:creationId xmlns:a16="http://schemas.microsoft.com/office/drawing/2014/main" id="{F40670C6-A8DB-E521-5A96-2D4EB62A4A4C}"/>
              </a:ext>
            </a:extLst>
          </p:cNvPr>
          <p:cNvSpPr/>
          <p:nvPr/>
        </p:nvSpPr>
        <p:spPr>
          <a:xfrm>
            <a:off x="1811577" y="4130746"/>
            <a:ext cx="342900" cy="3693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2" name="Elipse 11">
            <a:extLst>
              <a:ext uri="{FF2B5EF4-FFF2-40B4-BE49-F238E27FC236}">
                <a16:creationId xmlns:a16="http://schemas.microsoft.com/office/drawing/2014/main" id="{0512D6B1-BBEA-9807-C946-7DB7BBCE1E33}"/>
              </a:ext>
            </a:extLst>
          </p:cNvPr>
          <p:cNvSpPr/>
          <p:nvPr/>
        </p:nvSpPr>
        <p:spPr>
          <a:xfrm>
            <a:off x="1438275" y="2750863"/>
            <a:ext cx="342900" cy="3693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3" name="Elipse 12">
            <a:extLst>
              <a:ext uri="{FF2B5EF4-FFF2-40B4-BE49-F238E27FC236}">
                <a16:creationId xmlns:a16="http://schemas.microsoft.com/office/drawing/2014/main" id="{A386D329-C161-D627-7DA9-5375F6F703EA}"/>
              </a:ext>
            </a:extLst>
          </p:cNvPr>
          <p:cNvSpPr/>
          <p:nvPr/>
        </p:nvSpPr>
        <p:spPr>
          <a:xfrm>
            <a:off x="2766265" y="4998226"/>
            <a:ext cx="219823" cy="2610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cxnSp>
        <p:nvCxnSpPr>
          <p:cNvPr id="15" name="Conector recto de flecha 14">
            <a:extLst>
              <a:ext uri="{FF2B5EF4-FFF2-40B4-BE49-F238E27FC236}">
                <a16:creationId xmlns:a16="http://schemas.microsoft.com/office/drawing/2014/main" id="{C5A13004-CE04-66F7-CFB0-8947A293C720}"/>
              </a:ext>
            </a:extLst>
          </p:cNvPr>
          <p:cNvCxnSpPr>
            <a:cxnSpLocks/>
            <a:stCxn id="10" idx="7"/>
            <a:endCxn id="11" idx="3"/>
          </p:cNvCxnSpPr>
          <p:nvPr/>
        </p:nvCxnSpPr>
        <p:spPr>
          <a:xfrm flipV="1">
            <a:off x="1388058" y="4445991"/>
            <a:ext cx="473736" cy="4930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17">
            <a:extLst>
              <a:ext uri="{FF2B5EF4-FFF2-40B4-BE49-F238E27FC236}">
                <a16:creationId xmlns:a16="http://schemas.microsoft.com/office/drawing/2014/main" id="{D1822D0B-CEB2-3740-4B32-681366663605}"/>
              </a:ext>
            </a:extLst>
          </p:cNvPr>
          <p:cNvCxnSpPr>
            <a:stCxn id="13" idx="1"/>
            <a:endCxn id="11" idx="5"/>
          </p:cNvCxnSpPr>
          <p:nvPr/>
        </p:nvCxnSpPr>
        <p:spPr>
          <a:xfrm flipH="1" flipV="1">
            <a:off x="2104260" y="4445991"/>
            <a:ext cx="694197" cy="5904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ector recto de flecha 19">
            <a:extLst>
              <a:ext uri="{FF2B5EF4-FFF2-40B4-BE49-F238E27FC236}">
                <a16:creationId xmlns:a16="http://schemas.microsoft.com/office/drawing/2014/main" id="{17344BF1-9265-B345-EDA1-2938F60CAAFE}"/>
              </a:ext>
            </a:extLst>
          </p:cNvPr>
          <p:cNvCxnSpPr>
            <a:stCxn id="11" idx="0"/>
            <a:endCxn id="12" idx="5"/>
          </p:cNvCxnSpPr>
          <p:nvPr/>
        </p:nvCxnSpPr>
        <p:spPr>
          <a:xfrm flipH="1" flipV="1">
            <a:off x="1730958" y="3066108"/>
            <a:ext cx="252069" cy="10646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67620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Netflix: la plataforma cierra este histórico servicio a finales de mes -  Sortiraparis.com">
            <a:extLst>
              <a:ext uri="{FF2B5EF4-FFF2-40B4-BE49-F238E27FC236}">
                <a16:creationId xmlns:a16="http://schemas.microsoft.com/office/drawing/2014/main" id="{7C21E69D-D026-4B67-0C3D-938C651E9F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9138" y="2147886"/>
            <a:ext cx="2517321" cy="14097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escargar Logo Tesla PNG transparente - StickPNG">
            <a:extLst>
              <a:ext uri="{FF2B5EF4-FFF2-40B4-BE49-F238E27FC236}">
                <a16:creationId xmlns:a16="http://schemas.microsoft.com/office/drawing/2014/main" id="{AD65B3D7-85F7-C14E-EF5D-5B3F462C1A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9988" y="1171574"/>
            <a:ext cx="2386012" cy="238601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NVIDIA - Advantech">
            <a:extLst>
              <a:ext uri="{FF2B5EF4-FFF2-40B4-BE49-F238E27FC236}">
                <a16:creationId xmlns:a16="http://schemas.microsoft.com/office/drawing/2014/main" id="{8E66CE04-3D5F-6B80-9DF6-3A6C4CA927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0304" y="2147886"/>
            <a:ext cx="2517322" cy="14097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F39663DC-30F0-793B-5F1D-D55D2DE86E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89571" y="2147886"/>
            <a:ext cx="2517322" cy="1278640"/>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319BB332-176E-1559-9741-F5992855338D}"/>
              </a:ext>
            </a:extLst>
          </p:cNvPr>
          <p:cNvSpPr txBox="1"/>
          <p:nvPr/>
        </p:nvSpPr>
        <p:spPr>
          <a:xfrm>
            <a:off x="719138" y="461489"/>
            <a:ext cx="10711552" cy="677108"/>
          </a:xfrm>
          <a:prstGeom prst="rect">
            <a:avLst/>
          </a:prstGeom>
          <a:noFill/>
        </p:spPr>
        <p:txBody>
          <a:bodyPr wrap="square" rtlCol="0">
            <a:spAutoFit/>
          </a:bodyPr>
          <a:lstStyle/>
          <a:p>
            <a:r>
              <a:rPr lang="es-CL" sz="2400" b="1" dirty="0">
                <a:latin typeface="Raleway" pitchFamily="2" charset="77"/>
              </a:rPr>
              <a:t>Componente CORE</a:t>
            </a:r>
            <a:r>
              <a:rPr lang="es-CL" sz="1400" dirty="0">
                <a:latin typeface="Raleway" pitchFamily="2" charset="77"/>
              </a:rPr>
              <a:t>/ es el componente tecnológico que da la ventaja competitiva, la unidad de tecnología que produce la diferenciación.</a:t>
            </a:r>
          </a:p>
        </p:txBody>
      </p:sp>
      <p:sp>
        <p:nvSpPr>
          <p:cNvPr id="4" name="CuadroTexto 3">
            <a:extLst>
              <a:ext uri="{FF2B5EF4-FFF2-40B4-BE49-F238E27FC236}">
                <a16:creationId xmlns:a16="http://schemas.microsoft.com/office/drawing/2014/main" id="{468A1789-506C-544B-654C-86E7AE5BEABF}"/>
              </a:ext>
            </a:extLst>
          </p:cNvPr>
          <p:cNvSpPr txBox="1"/>
          <p:nvPr/>
        </p:nvSpPr>
        <p:spPr>
          <a:xfrm>
            <a:off x="719138" y="3673014"/>
            <a:ext cx="2517321" cy="523220"/>
          </a:xfrm>
          <a:prstGeom prst="rect">
            <a:avLst/>
          </a:prstGeom>
          <a:noFill/>
        </p:spPr>
        <p:txBody>
          <a:bodyPr wrap="square" rtlCol="0">
            <a:spAutoFit/>
          </a:bodyPr>
          <a:lstStyle/>
          <a:p>
            <a:r>
              <a:rPr lang="es-CL" sz="1400" b="1" dirty="0"/>
              <a:t>Algoritmo de personalización</a:t>
            </a:r>
          </a:p>
        </p:txBody>
      </p:sp>
      <p:sp>
        <p:nvSpPr>
          <p:cNvPr id="6" name="CuadroTexto 5">
            <a:extLst>
              <a:ext uri="{FF2B5EF4-FFF2-40B4-BE49-F238E27FC236}">
                <a16:creationId xmlns:a16="http://schemas.microsoft.com/office/drawing/2014/main" id="{8C620DF9-2045-0B5D-938E-D8F8EF452D37}"/>
              </a:ext>
            </a:extLst>
          </p:cNvPr>
          <p:cNvSpPr txBox="1"/>
          <p:nvPr/>
        </p:nvSpPr>
        <p:spPr>
          <a:xfrm>
            <a:off x="3443287" y="3673014"/>
            <a:ext cx="3228975" cy="492443"/>
          </a:xfrm>
          <a:prstGeom prst="rect">
            <a:avLst/>
          </a:prstGeom>
          <a:noFill/>
        </p:spPr>
        <p:txBody>
          <a:bodyPr wrap="square" rtlCol="0">
            <a:spAutoFit/>
          </a:bodyPr>
          <a:lstStyle/>
          <a:p>
            <a:r>
              <a:rPr lang="es-CL" sz="1400" b="1" dirty="0"/>
              <a:t>Tecnología y arquitectura de </a:t>
            </a:r>
            <a:r>
              <a:rPr lang="es-CL" sz="1200" b="1" dirty="0"/>
              <a:t>baterías de litio, autonomía y carga</a:t>
            </a:r>
            <a:endParaRPr lang="es-CL" sz="1400" b="1" dirty="0"/>
          </a:p>
        </p:txBody>
      </p:sp>
      <p:sp>
        <p:nvSpPr>
          <p:cNvPr id="7" name="CuadroTexto 6">
            <a:extLst>
              <a:ext uri="{FF2B5EF4-FFF2-40B4-BE49-F238E27FC236}">
                <a16:creationId xmlns:a16="http://schemas.microsoft.com/office/drawing/2014/main" id="{91B7B988-12B0-95B3-0E4B-0B808C91B546}"/>
              </a:ext>
            </a:extLst>
          </p:cNvPr>
          <p:cNvSpPr txBox="1"/>
          <p:nvPr/>
        </p:nvSpPr>
        <p:spPr>
          <a:xfrm>
            <a:off x="6572250" y="3673014"/>
            <a:ext cx="2517321" cy="523220"/>
          </a:xfrm>
          <a:prstGeom prst="rect">
            <a:avLst/>
          </a:prstGeom>
          <a:noFill/>
        </p:spPr>
        <p:txBody>
          <a:bodyPr wrap="square" rtlCol="0">
            <a:spAutoFit/>
          </a:bodyPr>
          <a:lstStyle/>
          <a:p>
            <a:r>
              <a:rPr lang="es-CL" sz="1400" b="1" dirty="0"/>
              <a:t>Chip especializado para AI, capacidad de proceso.</a:t>
            </a:r>
          </a:p>
        </p:txBody>
      </p:sp>
      <p:sp>
        <p:nvSpPr>
          <p:cNvPr id="8" name="CuadroTexto 7">
            <a:extLst>
              <a:ext uri="{FF2B5EF4-FFF2-40B4-BE49-F238E27FC236}">
                <a16:creationId xmlns:a16="http://schemas.microsoft.com/office/drawing/2014/main" id="{B591A3A7-F132-DDC0-4A98-E1B2B13D7B6B}"/>
              </a:ext>
            </a:extLst>
          </p:cNvPr>
          <p:cNvSpPr txBox="1"/>
          <p:nvPr/>
        </p:nvSpPr>
        <p:spPr>
          <a:xfrm>
            <a:off x="9089571" y="3673014"/>
            <a:ext cx="2517321" cy="523220"/>
          </a:xfrm>
          <a:prstGeom prst="rect">
            <a:avLst/>
          </a:prstGeom>
          <a:noFill/>
        </p:spPr>
        <p:txBody>
          <a:bodyPr wrap="square" rtlCol="0">
            <a:spAutoFit/>
          </a:bodyPr>
          <a:lstStyle/>
          <a:p>
            <a:r>
              <a:rPr lang="es-CL" sz="1400" b="1" dirty="0"/>
              <a:t>Red de satélites de baja altura en línea</a:t>
            </a:r>
          </a:p>
        </p:txBody>
      </p:sp>
      <p:sp>
        <p:nvSpPr>
          <p:cNvPr id="10" name="CuadroTexto 9">
            <a:extLst>
              <a:ext uri="{FF2B5EF4-FFF2-40B4-BE49-F238E27FC236}">
                <a16:creationId xmlns:a16="http://schemas.microsoft.com/office/drawing/2014/main" id="{146B7B12-C5EC-2A39-9DD5-B1CEBE45D019}"/>
              </a:ext>
            </a:extLst>
          </p:cNvPr>
          <p:cNvSpPr txBox="1"/>
          <p:nvPr/>
        </p:nvSpPr>
        <p:spPr>
          <a:xfrm>
            <a:off x="719138" y="4267478"/>
            <a:ext cx="2517321" cy="1015663"/>
          </a:xfrm>
          <a:prstGeom prst="rect">
            <a:avLst/>
          </a:prstGeom>
          <a:noFill/>
        </p:spPr>
        <p:txBody>
          <a:bodyPr wrap="square">
            <a:spAutoFit/>
          </a:bodyPr>
          <a:lstStyle/>
          <a:p>
            <a:pPr algn="l" rtl="0">
              <a:buNone/>
            </a:pPr>
            <a:r>
              <a:rPr lang="es-CL" sz="1000" b="0" i="0" u="none" strike="noStrike" dirty="0">
                <a:solidFill>
                  <a:srgbClr val="0A0A0A"/>
                </a:solidFill>
                <a:effectLst/>
                <a:latin typeface="Raleway" pitchFamily="2" charset="77"/>
              </a:rPr>
              <a:t>El algoritmo de personalización de Netflix se apoya en una sofisticada combinación de </a:t>
            </a:r>
            <a:r>
              <a:rPr lang="es-CL" sz="1000" dirty="0">
                <a:latin typeface="Raleway" pitchFamily="2" charset="77"/>
              </a:rPr>
              <a:t>inteligencia artificial (IA), aprendizaje automático y técnicas de análisis de datos</a:t>
            </a:r>
            <a:r>
              <a:rPr lang="es-CL" sz="1000" b="0" i="0" u="none" strike="noStrike" dirty="0">
                <a:solidFill>
                  <a:srgbClr val="0A0A0A"/>
                </a:solidFill>
                <a:effectLst/>
                <a:latin typeface="Raleway" pitchFamily="2" charset="77"/>
              </a:rPr>
              <a:t> para ofrecer una experiencia única a cada usuario. </a:t>
            </a:r>
            <a:endParaRPr lang="es-CL" sz="1000" dirty="0">
              <a:latin typeface="Raleway" pitchFamily="2" charset="77"/>
            </a:endParaRPr>
          </a:p>
        </p:txBody>
      </p:sp>
      <p:sp>
        <p:nvSpPr>
          <p:cNvPr id="12" name="CuadroTexto 11">
            <a:extLst>
              <a:ext uri="{FF2B5EF4-FFF2-40B4-BE49-F238E27FC236}">
                <a16:creationId xmlns:a16="http://schemas.microsoft.com/office/drawing/2014/main" id="{627E5131-E35D-21A5-D2B6-734A2213AD5C}"/>
              </a:ext>
            </a:extLst>
          </p:cNvPr>
          <p:cNvSpPr txBox="1"/>
          <p:nvPr/>
        </p:nvSpPr>
        <p:spPr>
          <a:xfrm>
            <a:off x="3443287" y="4196234"/>
            <a:ext cx="3128963" cy="1554272"/>
          </a:xfrm>
          <a:prstGeom prst="rect">
            <a:avLst/>
          </a:prstGeom>
          <a:noFill/>
        </p:spPr>
        <p:txBody>
          <a:bodyPr wrap="square">
            <a:spAutoFit/>
          </a:bodyPr>
          <a:lstStyle>
            <a:defPPr>
              <a:defRPr lang="es-CL"/>
            </a:defPPr>
            <a:lvl1pPr>
              <a:buNone/>
              <a:defRPr sz="1000" b="0" i="0" u="none" strike="noStrike">
                <a:solidFill>
                  <a:srgbClr val="0A0A0A"/>
                </a:solidFill>
                <a:effectLst/>
                <a:latin typeface="Raleway" pitchFamily="2" charset="77"/>
              </a:defRPr>
            </a:lvl1pPr>
          </a:lstStyle>
          <a:p>
            <a:r>
              <a:rPr lang="es-CL" dirty="0"/>
              <a:t>Las capacidades de Tesla en el ámbito de los materiales de litio y baterías se consideran superiores y distintivas por varias razones, que van desde su tecnología de baterías hasta su estrategia para controlar la cadena de suministro.</a:t>
            </a:r>
          </a:p>
          <a:p>
            <a:endParaRPr lang="es-CL" sz="400" dirty="0"/>
          </a:p>
          <a:p>
            <a:pPr marL="171450" indent="-171450">
              <a:buFont typeface="Arial" panose="020B0604020202020204" pitchFamily="34" charset="0"/>
              <a:buChar char="•"/>
            </a:pPr>
            <a:r>
              <a:rPr lang="es-CL" dirty="0"/>
              <a:t>Integración vertical y cadena de suministros</a:t>
            </a:r>
          </a:p>
          <a:p>
            <a:pPr marL="171450" indent="-171450">
              <a:buFont typeface="Arial" panose="020B0604020202020204" pitchFamily="34" charset="0"/>
              <a:buChar char="•"/>
            </a:pPr>
            <a:r>
              <a:rPr lang="es-CL" dirty="0"/>
              <a:t>Innovación en composición</a:t>
            </a:r>
          </a:p>
          <a:p>
            <a:pPr marL="171450" indent="-171450">
              <a:buFont typeface="Arial" panose="020B0604020202020204" pitchFamily="34" charset="0"/>
              <a:buChar char="•"/>
            </a:pPr>
            <a:r>
              <a:rPr lang="es-CL" dirty="0"/>
              <a:t>Software avanzado para baterías (BMS)</a:t>
            </a:r>
          </a:p>
          <a:p>
            <a:pPr marL="171450" indent="-171450">
              <a:buFont typeface="Arial" panose="020B0604020202020204" pitchFamily="34" charset="0"/>
              <a:buChar char="•"/>
            </a:pPr>
            <a:r>
              <a:rPr lang="es-CL" dirty="0"/>
              <a:t>Eficiencia del vehículo</a:t>
            </a:r>
          </a:p>
        </p:txBody>
      </p:sp>
      <p:sp>
        <p:nvSpPr>
          <p:cNvPr id="14" name="CuadroTexto 13">
            <a:extLst>
              <a:ext uri="{FF2B5EF4-FFF2-40B4-BE49-F238E27FC236}">
                <a16:creationId xmlns:a16="http://schemas.microsoft.com/office/drawing/2014/main" id="{5E153A7E-E55E-0CB2-FAEF-EE31DB07BC25}"/>
              </a:ext>
            </a:extLst>
          </p:cNvPr>
          <p:cNvSpPr txBox="1"/>
          <p:nvPr/>
        </p:nvSpPr>
        <p:spPr>
          <a:xfrm>
            <a:off x="6572250" y="4196234"/>
            <a:ext cx="2517321" cy="1631216"/>
          </a:xfrm>
          <a:prstGeom prst="rect">
            <a:avLst/>
          </a:prstGeom>
          <a:noFill/>
        </p:spPr>
        <p:txBody>
          <a:bodyPr wrap="square">
            <a:spAutoFit/>
          </a:bodyPr>
          <a:lstStyle>
            <a:defPPr>
              <a:defRPr lang="es-CL"/>
            </a:defPPr>
            <a:lvl1pPr>
              <a:buNone/>
              <a:defRPr sz="1000" b="0" i="0" u="none" strike="noStrike">
                <a:solidFill>
                  <a:srgbClr val="0A0A0A"/>
                </a:solidFill>
                <a:effectLst/>
                <a:latin typeface="Raleway" pitchFamily="2" charset="77"/>
              </a:defRPr>
            </a:lvl1pPr>
          </a:lstStyle>
          <a:p>
            <a:r>
              <a:rPr lang="es-CL" dirty="0"/>
              <a:t>La supremacía de los chips de NVIDIA en el campo de la inteligencia artificial (IA) se basa en una combinación de hardware especializado, un ecosistema de software robusto y una estrategia a largo plazo.</a:t>
            </a:r>
          </a:p>
          <a:p>
            <a:r>
              <a:rPr lang="es-CL" dirty="0"/>
              <a:t>Su innovación no se limita solo a la potencia de cálculo, sino a cómo la optimiza específicamente para cargas de trabajo de IA. </a:t>
            </a:r>
          </a:p>
        </p:txBody>
      </p:sp>
      <p:sp>
        <p:nvSpPr>
          <p:cNvPr id="16" name="CuadroTexto 15">
            <a:extLst>
              <a:ext uri="{FF2B5EF4-FFF2-40B4-BE49-F238E27FC236}">
                <a16:creationId xmlns:a16="http://schemas.microsoft.com/office/drawing/2014/main" id="{16622256-8ED6-764E-45F9-A26A1BEF5AFB}"/>
              </a:ext>
            </a:extLst>
          </p:cNvPr>
          <p:cNvSpPr txBox="1"/>
          <p:nvPr/>
        </p:nvSpPr>
        <p:spPr>
          <a:xfrm>
            <a:off x="9089571" y="4196234"/>
            <a:ext cx="2826204" cy="1323439"/>
          </a:xfrm>
          <a:prstGeom prst="rect">
            <a:avLst/>
          </a:prstGeom>
          <a:noFill/>
        </p:spPr>
        <p:txBody>
          <a:bodyPr wrap="square">
            <a:spAutoFit/>
          </a:bodyPr>
          <a:lstStyle>
            <a:defPPr>
              <a:defRPr lang="es-CL"/>
            </a:defPPr>
            <a:lvl1pPr>
              <a:buNone/>
              <a:defRPr sz="1000" b="0" i="0" u="none" strike="noStrike">
                <a:solidFill>
                  <a:srgbClr val="0A0A0A"/>
                </a:solidFill>
                <a:effectLst/>
                <a:latin typeface="Raleway" pitchFamily="2" charset="77"/>
              </a:defRPr>
            </a:lvl1pPr>
          </a:lstStyle>
          <a:p>
            <a:r>
              <a:rPr lang="es-CL" dirty="0"/>
              <a:t>Las capacidades diferenciales de </a:t>
            </a:r>
            <a:r>
              <a:rPr lang="es-CL" dirty="0" err="1"/>
              <a:t>Starlink</a:t>
            </a:r>
            <a:r>
              <a:rPr lang="es-CL" dirty="0"/>
              <a:t> se basan en un enfoque radicalmente diferente al de los proveedores tradicionales de internet satelital. En lugar de utilizar satélites grandes y estacionarios en órbita geoestacionaria, </a:t>
            </a:r>
            <a:r>
              <a:rPr lang="es-CL" dirty="0" err="1"/>
              <a:t>Starlink</a:t>
            </a:r>
            <a:r>
              <a:rPr lang="es-CL" dirty="0"/>
              <a:t> emplea una Mega constelación de miles de satélites pequeños en órbita terrestre baja (LEO).</a:t>
            </a:r>
          </a:p>
        </p:txBody>
      </p:sp>
    </p:spTree>
    <p:extLst>
      <p:ext uri="{BB962C8B-B14F-4D97-AF65-F5344CB8AC3E}">
        <p14:creationId xmlns:p14="http://schemas.microsoft.com/office/powerpoint/2010/main" val="27396001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Netflix: la plataforma cierra este histórico servicio a finales de mes -  Sortiraparis.com">
            <a:extLst>
              <a:ext uri="{FF2B5EF4-FFF2-40B4-BE49-F238E27FC236}">
                <a16:creationId xmlns:a16="http://schemas.microsoft.com/office/drawing/2014/main" id="{0E3877AE-94EB-E62C-64D0-BAF06B5DD7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5312" y="1389819"/>
            <a:ext cx="2517321" cy="1409700"/>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967B33BF-2956-C9CB-A0EA-B5B2E58CBC0E}"/>
              </a:ext>
            </a:extLst>
          </p:cNvPr>
          <p:cNvSpPr txBox="1"/>
          <p:nvPr/>
        </p:nvSpPr>
        <p:spPr>
          <a:xfrm>
            <a:off x="3578679" y="3061129"/>
            <a:ext cx="2517321" cy="523220"/>
          </a:xfrm>
          <a:prstGeom prst="rect">
            <a:avLst/>
          </a:prstGeom>
          <a:noFill/>
        </p:spPr>
        <p:txBody>
          <a:bodyPr wrap="square" rtlCol="0">
            <a:spAutoFit/>
          </a:bodyPr>
          <a:lstStyle/>
          <a:p>
            <a:r>
              <a:rPr lang="es-CL" sz="1400" b="1" dirty="0"/>
              <a:t>Algoritmo de personalización</a:t>
            </a:r>
          </a:p>
        </p:txBody>
      </p:sp>
      <p:sp>
        <p:nvSpPr>
          <p:cNvPr id="4" name="CuadroTexto 3">
            <a:extLst>
              <a:ext uri="{FF2B5EF4-FFF2-40B4-BE49-F238E27FC236}">
                <a16:creationId xmlns:a16="http://schemas.microsoft.com/office/drawing/2014/main" id="{8B804D42-E549-AA36-619C-D19047B21786}"/>
              </a:ext>
            </a:extLst>
          </p:cNvPr>
          <p:cNvSpPr txBox="1"/>
          <p:nvPr/>
        </p:nvSpPr>
        <p:spPr>
          <a:xfrm>
            <a:off x="3578679" y="3584349"/>
            <a:ext cx="2724150" cy="1015663"/>
          </a:xfrm>
          <a:prstGeom prst="rect">
            <a:avLst/>
          </a:prstGeom>
          <a:noFill/>
        </p:spPr>
        <p:txBody>
          <a:bodyPr wrap="square">
            <a:spAutoFit/>
          </a:bodyPr>
          <a:lstStyle/>
          <a:p>
            <a:pPr algn="l" rtl="0">
              <a:buNone/>
            </a:pPr>
            <a:r>
              <a:rPr lang="es-CL" sz="1000" b="0" i="0" u="none" strike="noStrike" dirty="0">
                <a:solidFill>
                  <a:srgbClr val="0A0A0A"/>
                </a:solidFill>
                <a:effectLst/>
                <a:latin typeface="Raleway" pitchFamily="2" charset="77"/>
              </a:rPr>
              <a:t>El algoritmo de personalización de Netflix se apoya en una sofisticada combinación de </a:t>
            </a:r>
            <a:r>
              <a:rPr lang="es-CL" sz="1000" dirty="0">
                <a:latin typeface="Raleway" pitchFamily="2" charset="77"/>
              </a:rPr>
              <a:t>inteligencia artificial (IA), aprendizaje automático y técnicas de análisis de datos</a:t>
            </a:r>
            <a:r>
              <a:rPr lang="es-CL" sz="1000" b="0" i="0" u="none" strike="noStrike" dirty="0">
                <a:solidFill>
                  <a:srgbClr val="0A0A0A"/>
                </a:solidFill>
                <a:effectLst/>
                <a:latin typeface="Raleway" pitchFamily="2" charset="77"/>
              </a:rPr>
              <a:t> para ofrecer una experiencia única a cada usuario. </a:t>
            </a:r>
            <a:endParaRPr lang="es-CL" sz="1000" dirty="0">
              <a:latin typeface="Raleway" pitchFamily="2" charset="77"/>
            </a:endParaRPr>
          </a:p>
        </p:txBody>
      </p:sp>
      <p:sp>
        <p:nvSpPr>
          <p:cNvPr id="5" name="CuadroTexto 4">
            <a:extLst>
              <a:ext uri="{FF2B5EF4-FFF2-40B4-BE49-F238E27FC236}">
                <a16:creationId xmlns:a16="http://schemas.microsoft.com/office/drawing/2014/main" id="{482F38F2-BAB1-9F66-D23E-55B56DF3499C}"/>
              </a:ext>
            </a:extLst>
          </p:cNvPr>
          <p:cNvSpPr txBox="1"/>
          <p:nvPr/>
        </p:nvSpPr>
        <p:spPr>
          <a:xfrm>
            <a:off x="595312" y="305995"/>
            <a:ext cx="11001375" cy="646331"/>
          </a:xfrm>
          <a:prstGeom prst="rect">
            <a:avLst/>
          </a:prstGeom>
          <a:noFill/>
        </p:spPr>
        <p:txBody>
          <a:bodyPr wrap="square" rtlCol="0">
            <a:spAutoFit/>
          </a:bodyPr>
          <a:lstStyle/>
          <a:p>
            <a:r>
              <a:rPr lang="es-CL" dirty="0"/>
              <a:t>Los </a:t>
            </a:r>
            <a:r>
              <a:rPr lang="es-CL" b="1" dirty="0">
                <a:solidFill>
                  <a:srgbClr val="7030A0"/>
                </a:solidFill>
              </a:rPr>
              <a:t>módulos/ componentes centrales sostienen la diferenciación</a:t>
            </a:r>
            <a:r>
              <a:rPr lang="es-CL" dirty="0"/>
              <a:t>, y </a:t>
            </a:r>
            <a:r>
              <a:rPr lang="es-CL" b="1" dirty="0"/>
              <a:t>se van volviendo complejos </a:t>
            </a:r>
            <a:r>
              <a:rPr lang="es-CL" dirty="0"/>
              <a:t>para mejorarla y hacerla más difícil de imitar. Esto es la estrategia tecnológica…</a:t>
            </a:r>
          </a:p>
        </p:txBody>
      </p:sp>
      <p:sp>
        <p:nvSpPr>
          <p:cNvPr id="6" name="Elipse 5">
            <a:extLst>
              <a:ext uri="{FF2B5EF4-FFF2-40B4-BE49-F238E27FC236}">
                <a16:creationId xmlns:a16="http://schemas.microsoft.com/office/drawing/2014/main" id="{5F5C5A20-BEA0-D694-C4EE-6484F3A6AABD}"/>
              </a:ext>
            </a:extLst>
          </p:cNvPr>
          <p:cNvSpPr/>
          <p:nvPr/>
        </p:nvSpPr>
        <p:spPr>
          <a:xfrm>
            <a:off x="595312" y="3322739"/>
            <a:ext cx="2076451" cy="117157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CL" sz="1200" b="1" dirty="0"/>
              <a:t>Personalización</a:t>
            </a:r>
          </a:p>
        </p:txBody>
      </p:sp>
      <p:cxnSp>
        <p:nvCxnSpPr>
          <p:cNvPr id="8" name="Conector recto 7">
            <a:extLst>
              <a:ext uri="{FF2B5EF4-FFF2-40B4-BE49-F238E27FC236}">
                <a16:creationId xmlns:a16="http://schemas.microsoft.com/office/drawing/2014/main" id="{CE804DFF-018D-9FB4-0907-17CF8BCF50E0}"/>
              </a:ext>
            </a:extLst>
          </p:cNvPr>
          <p:cNvCxnSpPr>
            <a:endCxn id="3" idx="1"/>
          </p:cNvCxnSpPr>
          <p:nvPr/>
        </p:nvCxnSpPr>
        <p:spPr>
          <a:xfrm flipV="1">
            <a:off x="2671763" y="3322739"/>
            <a:ext cx="906916" cy="58578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49F6465F-1D9E-2CD7-F42E-5E668E5D0CBB}"/>
              </a:ext>
            </a:extLst>
          </p:cNvPr>
          <p:cNvCxnSpPr>
            <a:stCxn id="3" idx="0"/>
          </p:cNvCxnSpPr>
          <p:nvPr/>
        </p:nvCxnSpPr>
        <p:spPr>
          <a:xfrm flipV="1">
            <a:off x="4837340" y="1728788"/>
            <a:ext cx="1465489" cy="1332341"/>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F549154F-6A7C-125F-0866-A97E3DF35751}"/>
              </a:ext>
            </a:extLst>
          </p:cNvPr>
          <p:cNvSpPr txBox="1"/>
          <p:nvPr/>
        </p:nvSpPr>
        <p:spPr>
          <a:xfrm>
            <a:off x="6302829" y="1540671"/>
            <a:ext cx="3190297" cy="307777"/>
          </a:xfrm>
          <a:prstGeom prst="rect">
            <a:avLst/>
          </a:prstGeom>
          <a:noFill/>
        </p:spPr>
        <p:txBody>
          <a:bodyPr wrap="none" rtlCol="0">
            <a:spAutoFit/>
          </a:bodyPr>
          <a:lstStyle/>
          <a:p>
            <a:r>
              <a:rPr lang="es-CL" sz="1400" b="1" dirty="0"/>
              <a:t>Sistema de recomendación hibrido</a:t>
            </a:r>
          </a:p>
        </p:txBody>
      </p:sp>
      <p:cxnSp>
        <p:nvCxnSpPr>
          <p:cNvPr id="13" name="Conector recto 12">
            <a:extLst>
              <a:ext uri="{FF2B5EF4-FFF2-40B4-BE49-F238E27FC236}">
                <a16:creationId xmlns:a16="http://schemas.microsoft.com/office/drawing/2014/main" id="{082EF558-485B-4D81-00C6-13D26C2880AC}"/>
              </a:ext>
            </a:extLst>
          </p:cNvPr>
          <p:cNvCxnSpPr>
            <a:stCxn id="11" idx="2"/>
          </p:cNvCxnSpPr>
          <p:nvPr/>
        </p:nvCxnSpPr>
        <p:spPr>
          <a:xfrm flipH="1">
            <a:off x="7897977" y="1848448"/>
            <a:ext cx="1" cy="837602"/>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4" name="CuadroTexto 13">
            <a:extLst>
              <a:ext uri="{FF2B5EF4-FFF2-40B4-BE49-F238E27FC236}">
                <a16:creationId xmlns:a16="http://schemas.microsoft.com/office/drawing/2014/main" id="{1CA823D3-CCC2-3F86-8E92-CF852256290E}"/>
              </a:ext>
            </a:extLst>
          </p:cNvPr>
          <p:cNvSpPr txBox="1"/>
          <p:nvPr/>
        </p:nvSpPr>
        <p:spPr>
          <a:xfrm>
            <a:off x="7897977" y="1945172"/>
            <a:ext cx="2510624" cy="646331"/>
          </a:xfrm>
          <a:prstGeom prst="rect">
            <a:avLst/>
          </a:prstGeom>
          <a:noFill/>
        </p:spPr>
        <p:txBody>
          <a:bodyPr wrap="none" rtlCol="0">
            <a:spAutoFit/>
          </a:bodyPr>
          <a:lstStyle/>
          <a:p>
            <a:pPr marL="171450" indent="-171450">
              <a:buFont typeface="Arial" panose="020B0604020202020204" pitchFamily="34" charset="0"/>
              <a:buChar char="•"/>
            </a:pPr>
            <a:r>
              <a:rPr lang="es-CL" sz="1200" dirty="0"/>
              <a:t>Filtrado colaborativo</a:t>
            </a:r>
          </a:p>
          <a:p>
            <a:pPr marL="171450" indent="-171450">
              <a:buFont typeface="Arial" panose="020B0604020202020204" pitchFamily="34" charset="0"/>
              <a:buChar char="•"/>
            </a:pPr>
            <a:r>
              <a:rPr lang="es-CL" sz="1200" dirty="0"/>
              <a:t>Filtrado basado en contenidos</a:t>
            </a:r>
          </a:p>
          <a:p>
            <a:pPr marL="171450" indent="-171450">
              <a:buFont typeface="Arial" panose="020B0604020202020204" pitchFamily="34" charset="0"/>
              <a:buChar char="•"/>
            </a:pPr>
            <a:r>
              <a:rPr lang="es-CL" sz="1200" dirty="0"/>
              <a:t>Aprendizaje profundo</a:t>
            </a:r>
          </a:p>
        </p:txBody>
      </p:sp>
      <p:sp>
        <p:nvSpPr>
          <p:cNvPr id="15" name="CuadroTexto 14">
            <a:extLst>
              <a:ext uri="{FF2B5EF4-FFF2-40B4-BE49-F238E27FC236}">
                <a16:creationId xmlns:a16="http://schemas.microsoft.com/office/drawing/2014/main" id="{33496C34-D194-42F5-BDAD-A08F39B9F16B}"/>
              </a:ext>
            </a:extLst>
          </p:cNvPr>
          <p:cNvSpPr txBox="1"/>
          <p:nvPr/>
        </p:nvSpPr>
        <p:spPr>
          <a:xfrm>
            <a:off x="7002916" y="3168850"/>
            <a:ext cx="2803973" cy="307777"/>
          </a:xfrm>
          <a:prstGeom prst="rect">
            <a:avLst/>
          </a:prstGeom>
          <a:noFill/>
        </p:spPr>
        <p:txBody>
          <a:bodyPr wrap="none" rtlCol="0">
            <a:spAutoFit/>
          </a:bodyPr>
          <a:lstStyle/>
          <a:p>
            <a:r>
              <a:rPr lang="es-CL" sz="1400" b="1" dirty="0"/>
              <a:t>Aprendizaje profundo a escala</a:t>
            </a:r>
          </a:p>
        </p:txBody>
      </p:sp>
      <p:cxnSp>
        <p:nvCxnSpPr>
          <p:cNvPr id="16" name="Conector recto 15">
            <a:extLst>
              <a:ext uri="{FF2B5EF4-FFF2-40B4-BE49-F238E27FC236}">
                <a16:creationId xmlns:a16="http://schemas.microsoft.com/office/drawing/2014/main" id="{4F5098F1-78CC-BAF6-D9DD-115EF12451C9}"/>
              </a:ext>
            </a:extLst>
          </p:cNvPr>
          <p:cNvCxnSpPr>
            <a:cxnSpLocks/>
            <a:stCxn id="15" idx="2"/>
          </p:cNvCxnSpPr>
          <p:nvPr/>
        </p:nvCxnSpPr>
        <p:spPr>
          <a:xfrm>
            <a:off x="8404903" y="3476627"/>
            <a:ext cx="0" cy="89534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7" name="CuadroTexto 16">
            <a:extLst>
              <a:ext uri="{FF2B5EF4-FFF2-40B4-BE49-F238E27FC236}">
                <a16:creationId xmlns:a16="http://schemas.microsoft.com/office/drawing/2014/main" id="{3A192BCD-2BE1-1EE0-1989-FDF649346788}"/>
              </a:ext>
            </a:extLst>
          </p:cNvPr>
          <p:cNvSpPr txBox="1"/>
          <p:nvPr/>
        </p:nvSpPr>
        <p:spPr>
          <a:xfrm>
            <a:off x="8404902" y="3582535"/>
            <a:ext cx="2688557" cy="646331"/>
          </a:xfrm>
          <a:prstGeom prst="rect">
            <a:avLst/>
          </a:prstGeom>
          <a:noFill/>
        </p:spPr>
        <p:txBody>
          <a:bodyPr wrap="none" rtlCol="0">
            <a:spAutoFit/>
          </a:bodyPr>
          <a:lstStyle/>
          <a:p>
            <a:pPr marL="171450" indent="-171450">
              <a:buFont typeface="Arial" panose="020B0604020202020204" pitchFamily="34" charset="0"/>
              <a:buChar char="•"/>
            </a:pPr>
            <a:r>
              <a:rPr lang="es-CL" sz="1200" dirty="0"/>
              <a:t>Análisis de datos de interacción</a:t>
            </a:r>
          </a:p>
          <a:p>
            <a:pPr marL="171450" indent="-171450">
              <a:buFont typeface="Arial" panose="020B0604020202020204" pitchFamily="34" charset="0"/>
              <a:buChar char="•"/>
            </a:pPr>
            <a:r>
              <a:rPr lang="es-CL" sz="1200" dirty="0"/>
              <a:t>Análisis de metadatos profundos</a:t>
            </a:r>
          </a:p>
          <a:p>
            <a:pPr marL="171450" indent="-171450">
              <a:buFont typeface="Arial" panose="020B0604020202020204" pitchFamily="34" charset="0"/>
              <a:buChar char="•"/>
            </a:pPr>
            <a:r>
              <a:rPr lang="es-CL" sz="1200" dirty="0"/>
              <a:t>Predicción y optimización</a:t>
            </a:r>
          </a:p>
        </p:txBody>
      </p:sp>
      <p:cxnSp>
        <p:nvCxnSpPr>
          <p:cNvPr id="20" name="Conector recto 19">
            <a:extLst>
              <a:ext uri="{FF2B5EF4-FFF2-40B4-BE49-F238E27FC236}">
                <a16:creationId xmlns:a16="http://schemas.microsoft.com/office/drawing/2014/main" id="{1DCBBD7B-B296-39E5-4F09-DFEA7136B007}"/>
              </a:ext>
            </a:extLst>
          </p:cNvPr>
          <p:cNvCxnSpPr>
            <a:stCxn id="3" idx="3"/>
            <a:endCxn id="15" idx="1"/>
          </p:cNvCxnSpPr>
          <p:nvPr/>
        </p:nvCxnSpPr>
        <p:spPr>
          <a:xfrm>
            <a:off x="6096000" y="3322739"/>
            <a:ext cx="90691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D9E4C0D5-5EFC-C5BF-B219-3666FD0FEBB8}"/>
              </a:ext>
            </a:extLst>
          </p:cNvPr>
          <p:cNvCxnSpPr>
            <a:cxnSpLocks/>
          </p:cNvCxnSpPr>
          <p:nvPr/>
        </p:nvCxnSpPr>
        <p:spPr>
          <a:xfrm>
            <a:off x="6095999" y="4494314"/>
            <a:ext cx="1690689" cy="456604"/>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3" name="CuadroTexto 22">
            <a:extLst>
              <a:ext uri="{FF2B5EF4-FFF2-40B4-BE49-F238E27FC236}">
                <a16:creationId xmlns:a16="http://schemas.microsoft.com/office/drawing/2014/main" id="{D8237F8C-3581-610A-AA73-1B4E6DDE8861}"/>
              </a:ext>
            </a:extLst>
          </p:cNvPr>
          <p:cNvSpPr txBox="1"/>
          <p:nvPr/>
        </p:nvSpPr>
        <p:spPr>
          <a:xfrm>
            <a:off x="7897977" y="4832599"/>
            <a:ext cx="2186817" cy="307777"/>
          </a:xfrm>
          <a:prstGeom prst="rect">
            <a:avLst/>
          </a:prstGeom>
          <a:noFill/>
        </p:spPr>
        <p:txBody>
          <a:bodyPr wrap="none" rtlCol="0">
            <a:spAutoFit/>
          </a:bodyPr>
          <a:lstStyle/>
          <a:p>
            <a:r>
              <a:rPr lang="es-CL" sz="1400" b="1" dirty="0"/>
              <a:t>Pruebas A/B continuas</a:t>
            </a:r>
          </a:p>
        </p:txBody>
      </p:sp>
      <p:cxnSp>
        <p:nvCxnSpPr>
          <p:cNvPr id="24" name="Conector recto 23">
            <a:extLst>
              <a:ext uri="{FF2B5EF4-FFF2-40B4-BE49-F238E27FC236}">
                <a16:creationId xmlns:a16="http://schemas.microsoft.com/office/drawing/2014/main" id="{02D26560-1AE3-105C-C4B6-22739584C62A}"/>
              </a:ext>
            </a:extLst>
          </p:cNvPr>
          <p:cNvCxnSpPr>
            <a:cxnSpLocks/>
            <a:stCxn id="23" idx="2"/>
          </p:cNvCxnSpPr>
          <p:nvPr/>
        </p:nvCxnSpPr>
        <p:spPr>
          <a:xfrm>
            <a:off x="8991386" y="5140376"/>
            <a:ext cx="0" cy="6037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5" name="CuadroTexto 24">
            <a:extLst>
              <a:ext uri="{FF2B5EF4-FFF2-40B4-BE49-F238E27FC236}">
                <a16:creationId xmlns:a16="http://schemas.microsoft.com/office/drawing/2014/main" id="{120CE5FE-8AFB-B607-F75C-1FC3C5E0126D}"/>
              </a:ext>
            </a:extLst>
          </p:cNvPr>
          <p:cNvSpPr txBox="1"/>
          <p:nvPr/>
        </p:nvSpPr>
        <p:spPr>
          <a:xfrm>
            <a:off x="9001787" y="5140376"/>
            <a:ext cx="2284600" cy="646331"/>
          </a:xfrm>
          <a:prstGeom prst="rect">
            <a:avLst/>
          </a:prstGeom>
          <a:noFill/>
        </p:spPr>
        <p:txBody>
          <a:bodyPr wrap="none" rtlCol="0">
            <a:spAutoFit/>
          </a:bodyPr>
          <a:lstStyle/>
          <a:p>
            <a:pPr marL="171450" indent="-171450">
              <a:buFont typeface="Arial" panose="020B0604020202020204" pitchFamily="34" charset="0"/>
              <a:buChar char="•"/>
            </a:pPr>
            <a:r>
              <a:rPr lang="es-CL" sz="1200" dirty="0"/>
              <a:t>Optimización de miniaturas</a:t>
            </a:r>
          </a:p>
          <a:p>
            <a:pPr marL="171450" indent="-171450">
              <a:buFont typeface="Arial" panose="020B0604020202020204" pitchFamily="34" charset="0"/>
              <a:buChar char="•"/>
            </a:pPr>
            <a:r>
              <a:rPr lang="es-CL" sz="1200" dirty="0"/>
              <a:t>Validación de algoritmos</a:t>
            </a:r>
          </a:p>
          <a:p>
            <a:pPr marL="171450" indent="-171450">
              <a:buFont typeface="Arial" panose="020B0604020202020204" pitchFamily="34" charset="0"/>
              <a:buChar char="•"/>
            </a:pPr>
            <a:r>
              <a:rPr lang="es-CL" sz="1200" dirty="0"/>
              <a:t>Diseño de la interfaz</a:t>
            </a:r>
          </a:p>
        </p:txBody>
      </p:sp>
      <p:cxnSp>
        <p:nvCxnSpPr>
          <p:cNvPr id="29" name="Conector recto de flecha 28">
            <a:extLst>
              <a:ext uri="{FF2B5EF4-FFF2-40B4-BE49-F238E27FC236}">
                <a16:creationId xmlns:a16="http://schemas.microsoft.com/office/drawing/2014/main" id="{9298F6F7-490A-3629-2455-66FAB4EF6FE4}"/>
              </a:ext>
            </a:extLst>
          </p:cNvPr>
          <p:cNvCxnSpPr/>
          <p:nvPr/>
        </p:nvCxnSpPr>
        <p:spPr>
          <a:xfrm>
            <a:off x="595312" y="5329238"/>
            <a:ext cx="6105526" cy="0"/>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30" name="CuadroTexto 29">
            <a:extLst>
              <a:ext uri="{FF2B5EF4-FFF2-40B4-BE49-F238E27FC236}">
                <a16:creationId xmlns:a16="http://schemas.microsoft.com/office/drawing/2014/main" id="{AB624E16-BB8B-5F6E-7B0C-9A02111EADEC}"/>
              </a:ext>
            </a:extLst>
          </p:cNvPr>
          <p:cNvSpPr txBox="1"/>
          <p:nvPr/>
        </p:nvSpPr>
        <p:spPr>
          <a:xfrm>
            <a:off x="595312" y="4986756"/>
            <a:ext cx="1726755" cy="276999"/>
          </a:xfrm>
          <a:prstGeom prst="rect">
            <a:avLst/>
          </a:prstGeom>
          <a:noFill/>
        </p:spPr>
        <p:txBody>
          <a:bodyPr wrap="none" rtlCol="0">
            <a:spAutoFit/>
          </a:bodyPr>
          <a:lstStyle/>
          <a:p>
            <a:r>
              <a:rPr lang="es-CL" sz="1200" i="1" dirty="0"/>
              <a:t>Complejidad creciente</a:t>
            </a:r>
          </a:p>
        </p:txBody>
      </p:sp>
      <p:sp>
        <p:nvSpPr>
          <p:cNvPr id="31" name="CuadroTexto 30">
            <a:extLst>
              <a:ext uri="{FF2B5EF4-FFF2-40B4-BE49-F238E27FC236}">
                <a16:creationId xmlns:a16="http://schemas.microsoft.com/office/drawing/2014/main" id="{B0F03B0D-C805-E7E2-4B85-E2605DBBD70E}"/>
              </a:ext>
            </a:extLst>
          </p:cNvPr>
          <p:cNvSpPr txBox="1"/>
          <p:nvPr/>
        </p:nvSpPr>
        <p:spPr>
          <a:xfrm>
            <a:off x="1380824" y="5374777"/>
            <a:ext cx="490840" cy="369332"/>
          </a:xfrm>
          <a:prstGeom prst="rect">
            <a:avLst/>
          </a:prstGeom>
          <a:noFill/>
        </p:spPr>
        <p:txBody>
          <a:bodyPr wrap="none" rtlCol="0">
            <a:spAutoFit/>
          </a:bodyPr>
          <a:lstStyle/>
          <a:p>
            <a:r>
              <a:rPr lang="es-CL" b="1" dirty="0"/>
              <a:t>1.0</a:t>
            </a:r>
          </a:p>
        </p:txBody>
      </p:sp>
      <p:sp>
        <p:nvSpPr>
          <p:cNvPr id="32" name="CuadroTexto 31">
            <a:extLst>
              <a:ext uri="{FF2B5EF4-FFF2-40B4-BE49-F238E27FC236}">
                <a16:creationId xmlns:a16="http://schemas.microsoft.com/office/drawing/2014/main" id="{1272971B-2BA4-8F1A-21B7-708C0BE6779B}"/>
              </a:ext>
            </a:extLst>
          </p:cNvPr>
          <p:cNvSpPr txBox="1"/>
          <p:nvPr/>
        </p:nvSpPr>
        <p:spPr>
          <a:xfrm>
            <a:off x="568062" y="5435235"/>
            <a:ext cx="575799" cy="307777"/>
          </a:xfrm>
          <a:prstGeom prst="rect">
            <a:avLst/>
          </a:prstGeom>
          <a:noFill/>
        </p:spPr>
        <p:txBody>
          <a:bodyPr wrap="none" rtlCol="0">
            <a:spAutoFit/>
          </a:bodyPr>
          <a:lstStyle/>
          <a:p>
            <a:r>
              <a:rPr lang="es-CL" sz="1400" dirty="0"/>
              <a:t>MVP</a:t>
            </a:r>
          </a:p>
        </p:txBody>
      </p:sp>
      <p:sp>
        <p:nvSpPr>
          <p:cNvPr id="33" name="CuadroTexto 32">
            <a:extLst>
              <a:ext uri="{FF2B5EF4-FFF2-40B4-BE49-F238E27FC236}">
                <a16:creationId xmlns:a16="http://schemas.microsoft.com/office/drawing/2014/main" id="{B0E0923B-1BB6-3481-82EE-1996EE6B52A4}"/>
              </a:ext>
            </a:extLst>
          </p:cNvPr>
          <p:cNvSpPr txBox="1"/>
          <p:nvPr/>
        </p:nvSpPr>
        <p:spPr>
          <a:xfrm>
            <a:off x="2619262" y="5373680"/>
            <a:ext cx="506870" cy="369332"/>
          </a:xfrm>
          <a:prstGeom prst="rect">
            <a:avLst/>
          </a:prstGeom>
          <a:noFill/>
        </p:spPr>
        <p:txBody>
          <a:bodyPr wrap="none" rtlCol="0">
            <a:spAutoFit/>
          </a:bodyPr>
          <a:lstStyle/>
          <a:p>
            <a:r>
              <a:rPr lang="es-CL" b="1" dirty="0"/>
              <a:t>2.0</a:t>
            </a:r>
          </a:p>
        </p:txBody>
      </p:sp>
      <p:sp>
        <p:nvSpPr>
          <p:cNvPr id="34" name="CuadroTexto 33">
            <a:extLst>
              <a:ext uri="{FF2B5EF4-FFF2-40B4-BE49-F238E27FC236}">
                <a16:creationId xmlns:a16="http://schemas.microsoft.com/office/drawing/2014/main" id="{5033A9DE-EC92-DE47-A400-4C1FCE49F2E7}"/>
              </a:ext>
            </a:extLst>
          </p:cNvPr>
          <p:cNvSpPr txBox="1"/>
          <p:nvPr/>
        </p:nvSpPr>
        <p:spPr>
          <a:xfrm>
            <a:off x="3871199" y="5380943"/>
            <a:ext cx="505267" cy="369332"/>
          </a:xfrm>
          <a:prstGeom prst="rect">
            <a:avLst/>
          </a:prstGeom>
          <a:noFill/>
        </p:spPr>
        <p:txBody>
          <a:bodyPr wrap="none" rtlCol="0">
            <a:spAutoFit/>
          </a:bodyPr>
          <a:lstStyle/>
          <a:p>
            <a:r>
              <a:rPr lang="es-CL" b="1" dirty="0"/>
              <a:t>3.0</a:t>
            </a:r>
          </a:p>
        </p:txBody>
      </p:sp>
      <p:sp>
        <p:nvSpPr>
          <p:cNvPr id="35" name="CuadroTexto 34">
            <a:extLst>
              <a:ext uri="{FF2B5EF4-FFF2-40B4-BE49-F238E27FC236}">
                <a16:creationId xmlns:a16="http://schemas.microsoft.com/office/drawing/2014/main" id="{B15ADE0D-D374-2036-C2E7-A45EAA40840D}"/>
              </a:ext>
            </a:extLst>
          </p:cNvPr>
          <p:cNvSpPr txBox="1"/>
          <p:nvPr/>
        </p:nvSpPr>
        <p:spPr>
          <a:xfrm>
            <a:off x="5121533" y="5432171"/>
            <a:ext cx="508473" cy="369332"/>
          </a:xfrm>
          <a:prstGeom prst="rect">
            <a:avLst/>
          </a:prstGeom>
          <a:noFill/>
        </p:spPr>
        <p:txBody>
          <a:bodyPr wrap="none" rtlCol="0">
            <a:spAutoFit/>
          </a:bodyPr>
          <a:lstStyle/>
          <a:p>
            <a:r>
              <a:rPr lang="es-CL" b="1" dirty="0"/>
              <a:t>4.0</a:t>
            </a:r>
          </a:p>
        </p:txBody>
      </p:sp>
      <p:sp>
        <p:nvSpPr>
          <p:cNvPr id="36" name="CuadroTexto 35">
            <a:extLst>
              <a:ext uri="{FF2B5EF4-FFF2-40B4-BE49-F238E27FC236}">
                <a16:creationId xmlns:a16="http://schemas.microsoft.com/office/drawing/2014/main" id="{7EBE13E6-93AB-545D-A299-08EAAB6BF1CD}"/>
              </a:ext>
            </a:extLst>
          </p:cNvPr>
          <p:cNvSpPr txBox="1"/>
          <p:nvPr/>
        </p:nvSpPr>
        <p:spPr>
          <a:xfrm>
            <a:off x="1492389" y="5761855"/>
            <a:ext cx="1525402" cy="707886"/>
          </a:xfrm>
          <a:prstGeom prst="rect">
            <a:avLst/>
          </a:prstGeom>
          <a:noFill/>
        </p:spPr>
        <p:txBody>
          <a:bodyPr wrap="square" rtlCol="0">
            <a:spAutoFit/>
          </a:bodyPr>
          <a:lstStyle/>
          <a:p>
            <a:r>
              <a:rPr lang="es-CL" sz="1000" b="1" noProof="0" dirty="0" err="1"/>
              <a:t>Product</a:t>
            </a:r>
            <a:r>
              <a:rPr lang="es-CL" sz="1000" b="1" noProof="0" dirty="0"/>
              <a:t> </a:t>
            </a:r>
            <a:r>
              <a:rPr lang="es-CL" sz="1000" b="1" noProof="0" dirty="0" err="1"/>
              <a:t>Market</a:t>
            </a:r>
            <a:r>
              <a:rPr lang="es-CL" sz="1000" b="1" noProof="0" dirty="0"/>
              <a:t> </a:t>
            </a:r>
            <a:r>
              <a:rPr lang="es-CL" sz="1000" b="1" noProof="0" dirty="0" err="1"/>
              <a:t>Fit</a:t>
            </a:r>
            <a:endParaRPr lang="es-CL" sz="1000" b="1" noProof="0" dirty="0"/>
          </a:p>
          <a:p>
            <a:r>
              <a:rPr lang="es-CL" sz="1000" dirty="0"/>
              <a:t>Innovaciones de producto que encajen con el cliente</a:t>
            </a:r>
            <a:endParaRPr lang="es-CL" sz="1000" noProof="0" dirty="0"/>
          </a:p>
        </p:txBody>
      </p:sp>
      <p:sp>
        <p:nvSpPr>
          <p:cNvPr id="37" name="CuadroTexto 36">
            <a:extLst>
              <a:ext uri="{FF2B5EF4-FFF2-40B4-BE49-F238E27FC236}">
                <a16:creationId xmlns:a16="http://schemas.microsoft.com/office/drawing/2014/main" id="{B47087F2-422F-C12C-27BC-1D27BF0ED4B7}"/>
              </a:ext>
            </a:extLst>
          </p:cNvPr>
          <p:cNvSpPr txBox="1"/>
          <p:nvPr/>
        </p:nvSpPr>
        <p:spPr>
          <a:xfrm>
            <a:off x="3419323" y="5743012"/>
            <a:ext cx="1554913" cy="1015663"/>
          </a:xfrm>
          <a:prstGeom prst="rect">
            <a:avLst/>
          </a:prstGeom>
          <a:noFill/>
        </p:spPr>
        <p:txBody>
          <a:bodyPr wrap="square" rtlCol="0">
            <a:spAutoFit/>
          </a:bodyPr>
          <a:lstStyle/>
          <a:p>
            <a:r>
              <a:rPr lang="es-CL" sz="1000" b="1" noProof="0" dirty="0"/>
              <a:t>Ajuste del modelo de negocios</a:t>
            </a:r>
          </a:p>
          <a:p>
            <a:r>
              <a:rPr lang="es-CL" sz="1000" dirty="0"/>
              <a:t>Innovaciones producto y proceso para mejorar el negocio y ajustar modelo</a:t>
            </a:r>
            <a:endParaRPr lang="es-CL" sz="1000" noProof="0" dirty="0"/>
          </a:p>
        </p:txBody>
      </p:sp>
      <p:sp>
        <p:nvSpPr>
          <p:cNvPr id="38" name="CuadroTexto 37">
            <a:extLst>
              <a:ext uri="{FF2B5EF4-FFF2-40B4-BE49-F238E27FC236}">
                <a16:creationId xmlns:a16="http://schemas.microsoft.com/office/drawing/2014/main" id="{16689A9E-EE7A-7199-7C6C-7B3C4343C60F}"/>
              </a:ext>
            </a:extLst>
          </p:cNvPr>
          <p:cNvSpPr txBox="1"/>
          <p:nvPr/>
        </p:nvSpPr>
        <p:spPr>
          <a:xfrm>
            <a:off x="5381830" y="5786111"/>
            <a:ext cx="1841997" cy="707886"/>
          </a:xfrm>
          <a:prstGeom prst="rect">
            <a:avLst/>
          </a:prstGeom>
          <a:noFill/>
        </p:spPr>
        <p:txBody>
          <a:bodyPr wrap="square" rtlCol="0">
            <a:spAutoFit/>
          </a:bodyPr>
          <a:lstStyle/>
          <a:p>
            <a:r>
              <a:rPr lang="es-CL" sz="1000" b="1" noProof="0" dirty="0"/>
              <a:t>Escalamiento</a:t>
            </a:r>
          </a:p>
          <a:p>
            <a:r>
              <a:rPr lang="es-CL" sz="1000" dirty="0"/>
              <a:t>Aumento de </a:t>
            </a:r>
            <a:r>
              <a:rPr lang="es-CL" sz="1000" b="1" dirty="0"/>
              <a:t>complejidad</a:t>
            </a:r>
            <a:r>
              <a:rPr lang="es-CL" sz="1000" dirty="0"/>
              <a:t> que logre </a:t>
            </a:r>
            <a:r>
              <a:rPr lang="es-CL" sz="1000" dirty="0" err="1"/>
              <a:t>lock</a:t>
            </a:r>
            <a:r>
              <a:rPr lang="es-CL" sz="1000" dirty="0"/>
              <a:t> in con clientes</a:t>
            </a:r>
            <a:endParaRPr lang="es-CL" sz="1000" noProof="0" dirty="0"/>
          </a:p>
        </p:txBody>
      </p:sp>
      <p:sp>
        <p:nvSpPr>
          <p:cNvPr id="39" name="CuadroTexto 38">
            <a:extLst>
              <a:ext uri="{FF2B5EF4-FFF2-40B4-BE49-F238E27FC236}">
                <a16:creationId xmlns:a16="http://schemas.microsoft.com/office/drawing/2014/main" id="{D5C971C4-E12E-4AEC-7D95-99D73130A9D2}"/>
              </a:ext>
            </a:extLst>
          </p:cNvPr>
          <p:cNvSpPr txBox="1"/>
          <p:nvPr/>
        </p:nvSpPr>
        <p:spPr>
          <a:xfrm>
            <a:off x="915953" y="2953736"/>
            <a:ext cx="1433406" cy="307777"/>
          </a:xfrm>
          <a:prstGeom prst="rect">
            <a:avLst/>
          </a:prstGeom>
          <a:noFill/>
        </p:spPr>
        <p:txBody>
          <a:bodyPr wrap="none" rtlCol="0">
            <a:spAutoFit/>
          </a:bodyPr>
          <a:lstStyle/>
          <a:p>
            <a:r>
              <a:rPr lang="es-CL" sz="1400" b="1" dirty="0">
                <a:solidFill>
                  <a:srgbClr val="7030A0"/>
                </a:solidFill>
              </a:rPr>
              <a:t>Diferenciación</a:t>
            </a:r>
          </a:p>
        </p:txBody>
      </p:sp>
      <p:sp>
        <p:nvSpPr>
          <p:cNvPr id="40" name="CuadroTexto 39">
            <a:extLst>
              <a:ext uri="{FF2B5EF4-FFF2-40B4-BE49-F238E27FC236}">
                <a16:creationId xmlns:a16="http://schemas.microsoft.com/office/drawing/2014/main" id="{291D14F2-CE1C-DC29-11E0-0408DFF3D0D3}"/>
              </a:ext>
            </a:extLst>
          </p:cNvPr>
          <p:cNvSpPr txBox="1"/>
          <p:nvPr/>
        </p:nvSpPr>
        <p:spPr>
          <a:xfrm>
            <a:off x="3578679" y="2537909"/>
            <a:ext cx="1650546" cy="523220"/>
          </a:xfrm>
          <a:prstGeom prst="rect">
            <a:avLst/>
          </a:prstGeom>
          <a:noFill/>
        </p:spPr>
        <p:txBody>
          <a:bodyPr wrap="square" rtlCol="0">
            <a:spAutoFit/>
          </a:bodyPr>
          <a:lstStyle/>
          <a:p>
            <a:r>
              <a:rPr lang="es-CL" sz="1400" b="1" dirty="0">
                <a:solidFill>
                  <a:srgbClr val="7030A0"/>
                </a:solidFill>
              </a:rPr>
              <a:t>Componente CORE</a:t>
            </a:r>
          </a:p>
        </p:txBody>
      </p:sp>
    </p:spTree>
    <p:extLst>
      <p:ext uri="{BB962C8B-B14F-4D97-AF65-F5344CB8AC3E}">
        <p14:creationId xmlns:p14="http://schemas.microsoft.com/office/powerpoint/2010/main" val="292003792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DEFF8-7272-0972-E501-58B4C389D821}"/>
            </a:ext>
          </a:extLst>
        </p:cNvPr>
        <p:cNvGrpSpPr/>
        <p:nvPr/>
      </p:nvGrpSpPr>
      <p:grpSpPr>
        <a:xfrm>
          <a:off x="0" y="0"/>
          <a:ext cx="0" cy="0"/>
          <a:chOff x="0" y="0"/>
          <a:chExt cx="0" cy="0"/>
        </a:xfrm>
      </p:grpSpPr>
      <p:cxnSp>
        <p:nvCxnSpPr>
          <p:cNvPr id="22" name="Conector recto 21">
            <a:extLst>
              <a:ext uri="{FF2B5EF4-FFF2-40B4-BE49-F238E27FC236}">
                <a16:creationId xmlns:a16="http://schemas.microsoft.com/office/drawing/2014/main" id="{D330CA15-C1BE-81D0-673F-B9D304D0A443}"/>
              </a:ext>
            </a:extLst>
          </p:cNvPr>
          <p:cNvCxnSpPr>
            <a:cxnSpLocks/>
            <a:endCxn id="23" idx="1"/>
          </p:cNvCxnSpPr>
          <p:nvPr/>
        </p:nvCxnSpPr>
        <p:spPr>
          <a:xfrm>
            <a:off x="2671763" y="3908526"/>
            <a:ext cx="5016436" cy="66347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CuadroTexto 2">
            <a:extLst>
              <a:ext uri="{FF2B5EF4-FFF2-40B4-BE49-F238E27FC236}">
                <a16:creationId xmlns:a16="http://schemas.microsoft.com/office/drawing/2014/main" id="{C013180D-D357-6FB5-2A73-FEB53C81CC5E}"/>
              </a:ext>
            </a:extLst>
          </p:cNvPr>
          <p:cNvSpPr txBox="1"/>
          <p:nvPr/>
        </p:nvSpPr>
        <p:spPr>
          <a:xfrm>
            <a:off x="3578679" y="3061129"/>
            <a:ext cx="2803971" cy="492443"/>
          </a:xfrm>
          <a:prstGeom prst="rect">
            <a:avLst/>
          </a:prstGeom>
          <a:noFill/>
        </p:spPr>
        <p:txBody>
          <a:bodyPr wrap="square" rtlCol="0">
            <a:spAutoFit/>
          </a:bodyPr>
          <a:lstStyle/>
          <a:p>
            <a:r>
              <a:rPr lang="es-CL" sz="1400" b="1" dirty="0"/>
              <a:t>Tecnología y arquitectura de </a:t>
            </a:r>
            <a:r>
              <a:rPr lang="es-CL" sz="1200" b="1" dirty="0"/>
              <a:t>baterías de litio, autonomía y carga</a:t>
            </a:r>
            <a:endParaRPr lang="es-CL" sz="1400" b="1" dirty="0"/>
          </a:p>
        </p:txBody>
      </p:sp>
      <p:sp>
        <p:nvSpPr>
          <p:cNvPr id="4" name="CuadroTexto 3">
            <a:extLst>
              <a:ext uri="{FF2B5EF4-FFF2-40B4-BE49-F238E27FC236}">
                <a16:creationId xmlns:a16="http://schemas.microsoft.com/office/drawing/2014/main" id="{74323290-D9ED-194C-7AE3-6E7E4244D32D}"/>
              </a:ext>
            </a:extLst>
          </p:cNvPr>
          <p:cNvSpPr txBox="1"/>
          <p:nvPr/>
        </p:nvSpPr>
        <p:spPr>
          <a:xfrm>
            <a:off x="3578679" y="3541485"/>
            <a:ext cx="2517315" cy="1184940"/>
          </a:xfrm>
          <a:prstGeom prst="rect">
            <a:avLst/>
          </a:prstGeom>
          <a:solidFill>
            <a:schemeClr val="bg1"/>
          </a:solidFill>
        </p:spPr>
        <p:txBody>
          <a:bodyPr wrap="square">
            <a:spAutoFit/>
          </a:bodyPr>
          <a:lstStyle/>
          <a:p>
            <a:r>
              <a:rPr lang="es-CL" sz="1000" dirty="0"/>
              <a:t>Las capacidades de Tesla en el ámbito de los materiales de litio y baterías se consideran superiores y distintivas por varias razones, que van desde su tecnología de baterías hasta su estrategia para controlar la cadena de suministro.</a:t>
            </a:r>
          </a:p>
          <a:p>
            <a:endParaRPr lang="es-CL" sz="100" dirty="0"/>
          </a:p>
        </p:txBody>
      </p:sp>
      <p:sp>
        <p:nvSpPr>
          <p:cNvPr id="5" name="CuadroTexto 4">
            <a:extLst>
              <a:ext uri="{FF2B5EF4-FFF2-40B4-BE49-F238E27FC236}">
                <a16:creationId xmlns:a16="http://schemas.microsoft.com/office/drawing/2014/main" id="{09F696E4-5960-4099-A583-85CACFE5824F}"/>
              </a:ext>
            </a:extLst>
          </p:cNvPr>
          <p:cNvSpPr txBox="1"/>
          <p:nvPr/>
        </p:nvSpPr>
        <p:spPr>
          <a:xfrm>
            <a:off x="595312" y="305995"/>
            <a:ext cx="11001375" cy="646331"/>
          </a:xfrm>
          <a:prstGeom prst="rect">
            <a:avLst/>
          </a:prstGeom>
          <a:noFill/>
        </p:spPr>
        <p:txBody>
          <a:bodyPr wrap="square" rtlCol="0">
            <a:spAutoFit/>
          </a:bodyPr>
          <a:lstStyle/>
          <a:p>
            <a:r>
              <a:rPr lang="es-CL" dirty="0"/>
              <a:t>Los </a:t>
            </a:r>
            <a:r>
              <a:rPr lang="es-CL" b="1" dirty="0">
                <a:solidFill>
                  <a:srgbClr val="7030A0"/>
                </a:solidFill>
              </a:rPr>
              <a:t>módulos/ componentes centrales sostienen la diferenciación</a:t>
            </a:r>
            <a:r>
              <a:rPr lang="es-CL" dirty="0"/>
              <a:t>, y </a:t>
            </a:r>
            <a:r>
              <a:rPr lang="es-CL" b="1" dirty="0"/>
              <a:t>se van volviendo complejos </a:t>
            </a:r>
            <a:r>
              <a:rPr lang="es-CL" dirty="0"/>
              <a:t>para mejorarla y hacerla más difícil de imitar. Esto es la estrategia tecnológica…</a:t>
            </a:r>
          </a:p>
        </p:txBody>
      </p:sp>
      <p:sp>
        <p:nvSpPr>
          <p:cNvPr id="6" name="Elipse 5">
            <a:extLst>
              <a:ext uri="{FF2B5EF4-FFF2-40B4-BE49-F238E27FC236}">
                <a16:creationId xmlns:a16="http://schemas.microsoft.com/office/drawing/2014/main" id="{0D2A3C5A-C200-9F01-AEC5-F7EF7532A500}"/>
              </a:ext>
            </a:extLst>
          </p:cNvPr>
          <p:cNvSpPr/>
          <p:nvPr/>
        </p:nvSpPr>
        <p:spPr>
          <a:xfrm>
            <a:off x="595312" y="3322739"/>
            <a:ext cx="2076451" cy="117157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CL" sz="1200" b="1" dirty="0"/>
              <a:t>Autonomía </a:t>
            </a:r>
          </a:p>
        </p:txBody>
      </p:sp>
      <p:cxnSp>
        <p:nvCxnSpPr>
          <p:cNvPr id="8" name="Conector recto 7">
            <a:extLst>
              <a:ext uri="{FF2B5EF4-FFF2-40B4-BE49-F238E27FC236}">
                <a16:creationId xmlns:a16="http://schemas.microsoft.com/office/drawing/2014/main" id="{E0E6011C-B0D8-01D8-3489-F7ED6D52D911}"/>
              </a:ext>
            </a:extLst>
          </p:cNvPr>
          <p:cNvCxnSpPr>
            <a:cxnSpLocks/>
            <a:endCxn id="3" idx="1"/>
          </p:cNvCxnSpPr>
          <p:nvPr/>
        </p:nvCxnSpPr>
        <p:spPr>
          <a:xfrm flipV="1">
            <a:off x="2671763" y="3307351"/>
            <a:ext cx="906916" cy="60117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4D09B590-6440-CF94-428D-E9A60F722379}"/>
              </a:ext>
            </a:extLst>
          </p:cNvPr>
          <p:cNvCxnSpPr>
            <a:cxnSpLocks/>
            <a:stCxn id="3" idx="0"/>
          </p:cNvCxnSpPr>
          <p:nvPr/>
        </p:nvCxnSpPr>
        <p:spPr>
          <a:xfrm flipV="1">
            <a:off x="4980665" y="1728788"/>
            <a:ext cx="1322164" cy="1332341"/>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E3D784CA-0CAE-54F2-7145-953DC53AAEA8}"/>
              </a:ext>
            </a:extLst>
          </p:cNvPr>
          <p:cNvSpPr txBox="1"/>
          <p:nvPr/>
        </p:nvSpPr>
        <p:spPr>
          <a:xfrm>
            <a:off x="6302829" y="1540671"/>
            <a:ext cx="3991798" cy="307777"/>
          </a:xfrm>
          <a:prstGeom prst="rect">
            <a:avLst/>
          </a:prstGeom>
          <a:noFill/>
        </p:spPr>
        <p:txBody>
          <a:bodyPr wrap="none" rtlCol="0">
            <a:spAutoFit/>
          </a:bodyPr>
          <a:lstStyle/>
          <a:p>
            <a:r>
              <a:rPr lang="es-CL" sz="1400" b="1" dirty="0"/>
              <a:t>Integración vertical y cadena de suministros</a:t>
            </a:r>
          </a:p>
        </p:txBody>
      </p:sp>
      <p:sp>
        <p:nvSpPr>
          <p:cNvPr id="15" name="CuadroTexto 14">
            <a:extLst>
              <a:ext uri="{FF2B5EF4-FFF2-40B4-BE49-F238E27FC236}">
                <a16:creationId xmlns:a16="http://schemas.microsoft.com/office/drawing/2014/main" id="{F66ED6B3-5572-88D1-7AE1-0D5456F67052}"/>
              </a:ext>
            </a:extLst>
          </p:cNvPr>
          <p:cNvSpPr txBox="1"/>
          <p:nvPr/>
        </p:nvSpPr>
        <p:spPr>
          <a:xfrm>
            <a:off x="7002916" y="3168850"/>
            <a:ext cx="3557384" cy="307777"/>
          </a:xfrm>
          <a:prstGeom prst="rect">
            <a:avLst/>
          </a:prstGeom>
          <a:noFill/>
        </p:spPr>
        <p:txBody>
          <a:bodyPr wrap="none" rtlCol="0">
            <a:spAutoFit/>
          </a:bodyPr>
          <a:lstStyle/>
          <a:p>
            <a:r>
              <a:rPr lang="es-CL" sz="1400" b="1" dirty="0"/>
              <a:t>Software avanzado para baterías (BMS)</a:t>
            </a:r>
          </a:p>
        </p:txBody>
      </p:sp>
      <p:cxnSp>
        <p:nvCxnSpPr>
          <p:cNvPr id="20" name="Conector recto 19">
            <a:extLst>
              <a:ext uri="{FF2B5EF4-FFF2-40B4-BE49-F238E27FC236}">
                <a16:creationId xmlns:a16="http://schemas.microsoft.com/office/drawing/2014/main" id="{50A378AD-4B14-7BAE-6408-1A30D875A41E}"/>
              </a:ext>
            </a:extLst>
          </p:cNvPr>
          <p:cNvCxnSpPr>
            <a:cxnSpLocks/>
            <a:stCxn id="3" idx="3"/>
            <a:endCxn id="15" idx="1"/>
          </p:cNvCxnSpPr>
          <p:nvPr/>
        </p:nvCxnSpPr>
        <p:spPr>
          <a:xfrm>
            <a:off x="6382650" y="3307351"/>
            <a:ext cx="620266" cy="1538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3" name="CuadroTexto 22">
            <a:extLst>
              <a:ext uri="{FF2B5EF4-FFF2-40B4-BE49-F238E27FC236}">
                <a16:creationId xmlns:a16="http://schemas.microsoft.com/office/drawing/2014/main" id="{C670F68F-730D-BAB1-8C50-678A71A511DD}"/>
              </a:ext>
            </a:extLst>
          </p:cNvPr>
          <p:cNvSpPr txBox="1"/>
          <p:nvPr/>
        </p:nvSpPr>
        <p:spPr>
          <a:xfrm>
            <a:off x="7688199" y="4418116"/>
            <a:ext cx="2125903" cy="307777"/>
          </a:xfrm>
          <a:prstGeom prst="rect">
            <a:avLst/>
          </a:prstGeom>
          <a:noFill/>
        </p:spPr>
        <p:txBody>
          <a:bodyPr wrap="none" rtlCol="0">
            <a:spAutoFit/>
          </a:bodyPr>
          <a:lstStyle/>
          <a:p>
            <a:r>
              <a:rPr lang="es-CL" sz="1400" b="1" dirty="0"/>
              <a:t>Eficiencia del vehículo</a:t>
            </a:r>
          </a:p>
        </p:txBody>
      </p:sp>
      <p:cxnSp>
        <p:nvCxnSpPr>
          <p:cNvPr id="29" name="Conector recto de flecha 28">
            <a:extLst>
              <a:ext uri="{FF2B5EF4-FFF2-40B4-BE49-F238E27FC236}">
                <a16:creationId xmlns:a16="http://schemas.microsoft.com/office/drawing/2014/main" id="{6A647A94-0D90-F9F2-BE98-06EA57127725}"/>
              </a:ext>
            </a:extLst>
          </p:cNvPr>
          <p:cNvCxnSpPr/>
          <p:nvPr/>
        </p:nvCxnSpPr>
        <p:spPr>
          <a:xfrm>
            <a:off x="595312" y="5329238"/>
            <a:ext cx="6105526" cy="0"/>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30" name="CuadroTexto 29">
            <a:extLst>
              <a:ext uri="{FF2B5EF4-FFF2-40B4-BE49-F238E27FC236}">
                <a16:creationId xmlns:a16="http://schemas.microsoft.com/office/drawing/2014/main" id="{DD95D692-25AB-4103-DB8B-FA9892E2837A}"/>
              </a:ext>
            </a:extLst>
          </p:cNvPr>
          <p:cNvSpPr txBox="1"/>
          <p:nvPr/>
        </p:nvSpPr>
        <p:spPr>
          <a:xfrm>
            <a:off x="595312" y="4986756"/>
            <a:ext cx="1726755" cy="276999"/>
          </a:xfrm>
          <a:prstGeom prst="rect">
            <a:avLst/>
          </a:prstGeom>
          <a:noFill/>
        </p:spPr>
        <p:txBody>
          <a:bodyPr wrap="none" rtlCol="0">
            <a:spAutoFit/>
          </a:bodyPr>
          <a:lstStyle/>
          <a:p>
            <a:r>
              <a:rPr lang="es-CL" sz="1200" i="1" dirty="0"/>
              <a:t>Complejidad creciente</a:t>
            </a:r>
          </a:p>
        </p:txBody>
      </p:sp>
      <p:sp>
        <p:nvSpPr>
          <p:cNvPr id="31" name="CuadroTexto 30">
            <a:extLst>
              <a:ext uri="{FF2B5EF4-FFF2-40B4-BE49-F238E27FC236}">
                <a16:creationId xmlns:a16="http://schemas.microsoft.com/office/drawing/2014/main" id="{58954396-9E82-5AAF-0E69-0D3AD434C1EA}"/>
              </a:ext>
            </a:extLst>
          </p:cNvPr>
          <p:cNvSpPr txBox="1"/>
          <p:nvPr/>
        </p:nvSpPr>
        <p:spPr>
          <a:xfrm>
            <a:off x="1380824" y="5374777"/>
            <a:ext cx="490840" cy="369332"/>
          </a:xfrm>
          <a:prstGeom prst="rect">
            <a:avLst/>
          </a:prstGeom>
          <a:noFill/>
        </p:spPr>
        <p:txBody>
          <a:bodyPr wrap="none" rtlCol="0">
            <a:spAutoFit/>
          </a:bodyPr>
          <a:lstStyle/>
          <a:p>
            <a:r>
              <a:rPr lang="es-CL" b="1" dirty="0"/>
              <a:t>1.0</a:t>
            </a:r>
          </a:p>
        </p:txBody>
      </p:sp>
      <p:sp>
        <p:nvSpPr>
          <p:cNvPr id="32" name="CuadroTexto 31">
            <a:extLst>
              <a:ext uri="{FF2B5EF4-FFF2-40B4-BE49-F238E27FC236}">
                <a16:creationId xmlns:a16="http://schemas.microsoft.com/office/drawing/2014/main" id="{FCA87C4F-1CD0-5A3E-5FBC-E7C59795E5A2}"/>
              </a:ext>
            </a:extLst>
          </p:cNvPr>
          <p:cNvSpPr txBox="1"/>
          <p:nvPr/>
        </p:nvSpPr>
        <p:spPr>
          <a:xfrm>
            <a:off x="568062" y="5435235"/>
            <a:ext cx="575799" cy="307777"/>
          </a:xfrm>
          <a:prstGeom prst="rect">
            <a:avLst/>
          </a:prstGeom>
          <a:noFill/>
        </p:spPr>
        <p:txBody>
          <a:bodyPr wrap="none" rtlCol="0">
            <a:spAutoFit/>
          </a:bodyPr>
          <a:lstStyle/>
          <a:p>
            <a:r>
              <a:rPr lang="es-CL" sz="1400" dirty="0"/>
              <a:t>MVP</a:t>
            </a:r>
          </a:p>
        </p:txBody>
      </p:sp>
      <p:sp>
        <p:nvSpPr>
          <p:cNvPr id="33" name="CuadroTexto 32">
            <a:extLst>
              <a:ext uri="{FF2B5EF4-FFF2-40B4-BE49-F238E27FC236}">
                <a16:creationId xmlns:a16="http://schemas.microsoft.com/office/drawing/2014/main" id="{A58B49F3-D8F9-96AE-DB48-ED618A7A37F6}"/>
              </a:ext>
            </a:extLst>
          </p:cNvPr>
          <p:cNvSpPr txBox="1"/>
          <p:nvPr/>
        </p:nvSpPr>
        <p:spPr>
          <a:xfrm>
            <a:off x="2619262" y="5373680"/>
            <a:ext cx="506870" cy="369332"/>
          </a:xfrm>
          <a:prstGeom prst="rect">
            <a:avLst/>
          </a:prstGeom>
          <a:noFill/>
        </p:spPr>
        <p:txBody>
          <a:bodyPr wrap="none" rtlCol="0">
            <a:spAutoFit/>
          </a:bodyPr>
          <a:lstStyle/>
          <a:p>
            <a:r>
              <a:rPr lang="es-CL" b="1" dirty="0"/>
              <a:t>2.0</a:t>
            </a:r>
          </a:p>
        </p:txBody>
      </p:sp>
      <p:sp>
        <p:nvSpPr>
          <p:cNvPr id="34" name="CuadroTexto 33">
            <a:extLst>
              <a:ext uri="{FF2B5EF4-FFF2-40B4-BE49-F238E27FC236}">
                <a16:creationId xmlns:a16="http://schemas.microsoft.com/office/drawing/2014/main" id="{828D96E5-7308-115F-AE3A-9C015BB3EC2D}"/>
              </a:ext>
            </a:extLst>
          </p:cNvPr>
          <p:cNvSpPr txBox="1"/>
          <p:nvPr/>
        </p:nvSpPr>
        <p:spPr>
          <a:xfrm>
            <a:off x="3871199" y="5380943"/>
            <a:ext cx="505267" cy="369332"/>
          </a:xfrm>
          <a:prstGeom prst="rect">
            <a:avLst/>
          </a:prstGeom>
          <a:noFill/>
        </p:spPr>
        <p:txBody>
          <a:bodyPr wrap="none" rtlCol="0">
            <a:spAutoFit/>
          </a:bodyPr>
          <a:lstStyle/>
          <a:p>
            <a:r>
              <a:rPr lang="es-CL" b="1" dirty="0"/>
              <a:t>3.0</a:t>
            </a:r>
          </a:p>
        </p:txBody>
      </p:sp>
      <p:sp>
        <p:nvSpPr>
          <p:cNvPr id="35" name="CuadroTexto 34">
            <a:extLst>
              <a:ext uri="{FF2B5EF4-FFF2-40B4-BE49-F238E27FC236}">
                <a16:creationId xmlns:a16="http://schemas.microsoft.com/office/drawing/2014/main" id="{9EA96F18-E46D-CAA6-06EF-86EFB16D91EF}"/>
              </a:ext>
            </a:extLst>
          </p:cNvPr>
          <p:cNvSpPr txBox="1"/>
          <p:nvPr/>
        </p:nvSpPr>
        <p:spPr>
          <a:xfrm>
            <a:off x="5121533" y="5432171"/>
            <a:ext cx="508473" cy="369332"/>
          </a:xfrm>
          <a:prstGeom prst="rect">
            <a:avLst/>
          </a:prstGeom>
          <a:noFill/>
        </p:spPr>
        <p:txBody>
          <a:bodyPr wrap="none" rtlCol="0">
            <a:spAutoFit/>
          </a:bodyPr>
          <a:lstStyle/>
          <a:p>
            <a:r>
              <a:rPr lang="es-CL" b="1" dirty="0"/>
              <a:t>4.0</a:t>
            </a:r>
          </a:p>
        </p:txBody>
      </p:sp>
      <p:sp>
        <p:nvSpPr>
          <p:cNvPr id="36" name="CuadroTexto 35">
            <a:extLst>
              <a:ext uri="{FF2B5EF4-FFF2-40B4-BE49-F238E27FC236}">
                <a16:creationId xmlns:a16="http://schemas.microsoft.com/office/drawing/2014/main" id="{3E80B6ED-4F5B-2EDF-AA7B-CE7EEA505673}"/>
              </a:ext>
            </a:extLst>
          </p:cNvPr>
          <p:cNvSpPr txBox="1"/>
          <p:nvPr/>
        </p:nvSpPr>
        <p:spPr>
          <a:xfrm>
            <a:off x="1492389" y="5761855"/>
            <a:ext cx="1525402" cy="707886"/>
          </a:xfrm>
          <a:prstGeom prst="rect">
            <a:avLst/>
          </a:prstGeom>
          <a:noFill/>
        </p:spPr>
        <p:txBody>
          <a:bodyPr wrap="square" rtlCol="0">
            <a:spAutoFit/>
          </a:bodyPr>
          <a:lstStyle/>
          <a:p>
            <a:r>
              <a:rPr lang="es-CL" sz="1000" b="1" noProof="0" dirty="0" err="1"/>
              <a:t>Product</a:t>
            </a:r>
            <a:r>
              <a:rPr lang="es-CL" sz="1000" b="1" noProof="0" dirty="0"/>
              <a:t> </a:t>
            </a:r>
            <a:r>
              <a:rPr lang="es-CL" sz="1000" b="1" noProof="0" dirty="0" err="1"/>
              <a:t>Market</a:t>
            </a:r>
            <a:r>
              <a:rPr lang="es-CL" sz="1000" b="1" noProof="0" dirty="0"/>
              <a:t> </a:t>
            </a:r>
            <a:r>
              <a:rPr lang="es-CL" sz="1000" b="1" noProof="0" dirty="0" err="1"/>
              <a:t>Fit</a:t>
            </a:r>
            <a:endParaRPr lang="es-CL" sz="1000" b="1" noProof="0" dirty="0"/>
          </a:p>
          <a:p>
            <a:r>
              <a:rPr lang="es-CL" sz="1000" dirty="0"/>
              <a:t>Innovaciones de producto que encajen con el cliente</a:t>
            </a:r>
            <a:endParaRPr lang="es-CL" sz="1000" noProof="0" dirty="0"/>
          </a:p>
        </p:txBody>
      </p:sp>
      <p:sp>
        <p:nvSpPr>
          <p:cNvPr id="37" name="CuadroTexto 36">
            <a:extLst>
              <a:ext uri="{FF2B5EF4-FFF2-40B4-BE49-F238E27FC236}">
                <a16:creationId xmlns:a16="http://schemas.microsoft.com/office/drawing/2014/main" id="{F9930A31-69DA-D393-FD84-D028213F0FD5}"/>
              </a:ext>
            </a:extLst>
          </p:cNvPr>
          <p:cNvSpPr txBox="1"/>
          <p:nvPr/>
        </p:nvSpPr>
        <p:spPr>
          <a:xfrm>
            <a:off x="3419323" y="5743012"/>
            <a:ext cx="1554913" cy="1015663"/>
          </a:xfrm>
          <a:prstGeom prst="rect">
            <a:avLst/>
          </a:prstGeom>
          <a:noFill/>
        </p:spPr>
        <p:txBody>
          <a:bodyPr wrap="square" rtlCol="0">
            <a:spAutoFit/>
          </a:bodyPr>
          <a:lstStyle/>
          <a:p>
            <a:r>
              <a:rPr lang="es-CL" sz="1000" b="1" noProof="0" dirty="0"/>
              <a:t>Ajuste del modelo de negocios</a:t>
            </a:r>
          </a:p>
          <a:p>
            <a:r>
              <a:rPr lang="es-CL" sz="1000" dirty="0"/>
              <a:t>Innovaciones producto y proceso para mejorar el negocio y ajustar modelo</a:t>
            </a:r>
            <a:endParaRPr lang="es-CL" sz="1000" noProof="0" dirty="0"/>
          </a:p>
        </p:txBody>
      </p:sp>
      <p:sp>
        <p:nvSpPr>
          <p:cNvPr id="38" name="CuadroTexto 37">
            <a:extLst>
              <a:ext uri="{FF2B5EF4-FFF2-40B4-BE49-F238E27FC236}">
                <a16:creationId xmlns:a16="http://schemas.microsoft.com/office/drawing/2014/main" id="{15F3B770-BC8D-0461-AA44-40D80D37BC6F}"/>
              </a:ext>
            </a:extLst>
          </p:cNvPr>
          <p:cNvSpPr txBox="1"/>
          <p:nvPr/>
        </p:nvSpPr>
        <p:spPr>
          <a:xfrm>
            <a:off x="5381830" y="5786111"/>
            <a:ext cx="1841997" cy="707886"/>
          </a:xfrm>
          <a:prstGeom prst="rect">
            <a:avLst/>
          </a:prstGeom>
          <a:noFill/>
        </p:spPr>
        <p:txBody>
          <a:bodyPr wrap="square" rtlCol="0">
            <a:spAutoFit/>
          </a:bodyPr>
          <a:lstStyle/>
          <a:p>
            <a:r>
              <a:rPr lang="es-CL" sz="1000" b="1" noProof="0" dirty="0"/>
              <a:t>Escalamiento</a:t>
            </a:r>
          </a:p>
          <a:p>
            <a:r>
              <a:rPr lang="es-CL" sz="1000" dirty="0"/>
              <a:t>Aumento de </a:t>
            </a:r>
            <a:r>
              <a:rPr lang="es-CL" sz="1000" b="1" dirty="0"/>
              <a:t>complejidad</a:t>
            </a:r>
            <a:r>
              <a:rPr lang="es-CL" sz="1000" dirty="0"/>
              <a:t> que logre </a:t>
            </a:r>
            <a:r>
              <a:rPr lang="es-CL" sz="1000" b="1" dirty="0" err="1"/>
              <a:t>lock</a:t>
            </a:r>
            <a:r>
              <a:rPr lang="es-CL" sz="1000" b="1" dirty="0"/>
              <a:t> in </a:t>
            </a:r>
            <a:r>
              <a:rPr lang="es-CL" sz="1000" dirty="0"/>
              <a:t>con clientes</a:t>
            </a:r>
            <a:endParaRPr lang="es-CL" sz="1000" noProof="0" dirty="0"/>
          </a:p>
        </p:txBody>
      </p:sp>
      <p:sp>
        <p:nvSpPr>
          <p:cNvPr id="39" name="CuadroTexto 38">
            <a:extLst>
              <a:ext uri="{FF2B5EF4-FFF2-40B4-BE49-F238E27FC236}">
                <a16:creationId xmlns:a16="http://schemas.microsoft.com/office/drawing/2014/main" id="{D47A93CA-505F-4E96-5D36-850EBCEE300E}"/>
              </a:ext>
            </a:extLst>
          </p:cNvPr>
          <p:cNvSpPr txBox="1"/>
          <p:nvPr/>
        </p:nvSpPr>
        <p:spPr>
          <a:xfrm>
            <a:off x="915953" y="2953736"/>
            <a:ext cx="1433406" cy="307777"/>
          </a:xfrm>
          <a:prstGeom prst="rect">
            <a:avLst/>
          </a:prstGeom>
          <a:noFill/>
        </p:spPr>
        <p:txBody>
          <a:bodyPr wrap="none" rtlCol="0">
            <a:spAutoFit/>
          </a:bodyPr>
          <a:lstStyle/>
          <a:p>
            <a:r>
              <a:rPr lang="es-CL" sz="1400" b="1" dirty="0">
                <a:solidFill>
                  <a:srgbClr val="7030A0"/>
                </a:solidFill>
              </a:rPr>
              <a:t>Diferenciación</a:t>
            </a:r>
          </a:p>
        </p:txBody>
      </p:sp>
      <p:sp>
        <p:nvSpPr>
          <p:cNvPr id="40" name="CuadroTexto 39">
            <a:extLst>
              <a:ext uri="{FF2B5EF4-FFF2-40B4-BE49-F238E27FC236}">
                <a16:creationId xmlns:a16="http://schemas.microsoft.com/office/drawing/2014/main" id="{2BDAFC02-94E4-9B3C-20F2-47625BC13720}"/>
              </a:ext>
            </a:extLst>
          </p:cNvPr>
          <p:cNvSpPr txBox="1"/>
          <p:nvPr/>
        </p:nvSpPr>
        <p:spPr>
          <a:xfrm>
            <a:off x="3578679" y="2537909"/>
            <a:ext cx="1650546" cy="523220"/>
          </a:xfrm>
          <a:prstGeom prst="rect">
            <a:avLst/>
          </a:prstGeom>
          <a:noFill/>
        </p:spPr>
        <p:txBody>
          <a:bodyPr wrap="square" rtlCol="0">
            <a:spAutoFit/>
          </a:bodyPr>
          <a:lstStyle/>
          <a:p>
            <a:r>
              <a:rPr lang="es-CL" sz="1400" b="1" dirty="0">
                <a:solidFill>
                  <a:srgbClr val="7030A0"/>
                </a:solidFill>
              </a:rPr>
              <a:t>Componente CORE</a:t>
            </a:r>
          </a:p>
        </p:txBody>
      </p:sp>
      <p:pic>
        <p:nvPicPr>
          <p:cNvPr id="7" name="Picture 4" descr="Descargar Logo Tesla PNG transparente - StickPNG">
            <a:extLst>
              <a:ext uri="{FF2B5EF4-FFF2-40B4-BE49-F238E27FC236}">
                <a16:creationId xmlns:a16="http://schemas.microsoft.com/office/drawing/2014/main" id="{0EEDEF5E-080B-F4FF-ECBE-76EEB3B332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441" y="1156765"/>
            <a:ext cx="1781297" cy="1781297"/>
          </a:xfrm>
          <a:prstGeom prst="rect">
            <a:avLst/>
          </a:prstGeom>
          <a:noFill/>
          <a:extLst>
            <a:ext uri="{909E8E84-426E-40DD-AFC4-6F175D3DCCD1}">
              <a14:hiddenFill xmlns:a14="http://schemas.microsoft.com/office/drawing/2010/main">
                <a:solidFill>
                  <a:srgbClr val="FFFFFF"/>
                </a:solidFill>
              </a14:hiddenFill>
            </a:ext>
          </a:extLst>
        </p:spPr>
      </p:pic>
      <p:sp>
        <p:nvSpPr>
          <p:cNvPr id="19" name="CuadroTexto 18">
            <a:extLst>
              <a:ext uri="{FF2B5EF4-FFF2-40B4-BE49-F238E27FC236}">
                <a16:creationId xmlns:a16="http://schemas.microsoft.com/office/drawing/2014/main" id="{941DC146-6F6D-9494-A50A-D4B1900E27FA}"/>
              </a:ext>
            </a:extLst>
          </p:cNvPr>
          <p:cNvSpPr txBox="1"/>
          <p:nvPr/>
        </p:nvSpPr>
        <p:spPr>
          <a:xfrm>
            <a:off x="6896741" y="2363248"/>
            <a:ext cx="2736647" cy="307777"/>
          </a:xfrm>
          <a:prstGeom prst="rect">
            <a:avLst/>
          </a:prstGeom>
          <a:noFill/>
        </p:spPr>
        <p:txBody>
          <a:bodyPr wrap="none" rtlCol="0">
            <a:spAutoFit/>
          </a:bodyPr>
          <a:lstStyle/>
          <a:p>
            <a:r>
              <a:rPr lang="es-CL" sz="1400" b="1" dirty="0"/>
              <a:t>Innovación en la composición</a:t>
            </a:r>
          </a:p>
        </p:txBody>
      </p:sp>
      <p:cxnSp>
        <p:nvCxnSpPr>
          <p:cNvPr id="26" name="Conector recto 25">
            <a:extLst>
              <a:ext uri="{FF2B5EF4-FFF2-40B4-BE49-F238E27FC236}">
                <a16:creationId xmlns:a16="http://schemas.microsoft.com/office/drawing/2014/main" id="{1CA4BB0A-6CD1-1D4D-8699-DF4175D9E2CC}"/>
              </a:ext>
            </a:extLst>
          </p:cNvPr>
          <p:cNvCxnSpPr>
            <a:endCxn id="19" idx="1"/>
          </p:cNvCxnSpPr>
          <p:nvPr/>
        </p:nvCxnSpPr>
        <p:spPr>
          <a:xfrm flipV="1">
            <a:off x="6095994" y="2517137"/>
            <a:ext cx="800747" cy="42092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3" name="Conector recto 42">
            <a:extLst>
              <a:ext uri="{FF2B5EF4-FFF2-40B4-BE49-F238E27FC236}">
                <a16:creationId xmlns:a16="http://schemas.microsoft.com/office/drawing/2014/main" id="{1862A714-2808-8F9F-97D7-043D8D0F1D84}"/>
              </a:ext>
            </a:extLst>
          </p:cNvPr>
          <p:cNvCxnSpPr>
            <a:cxnSpLocks/>
            <a:endCxn id="23" idx="1"/>
          </p:cNvCxnSpPr>
          <p:nvPr/>
        </p:nvCxnSpPr>
        <p:spPr>
          <a:xfrm>
            <a:off x="6382650" y="3535262"/>
            <a:ext cx="1305549" cy="1036743"/>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73608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DC28A4B5-4CD6-9118-F636-A7CA44369ED1}"/>
              </a:ext>
            </a:extLst>
          </p:cNvPr>
          <p:cNvSpPr txBox="1"/>
          <p:nvPr/>
        </p:nvSpPr>
        <p:spPr>
          <a:xfrm>
            <a:off x="590550" y="489311"/>
            <a:ext cx="11082337" cy="892552"/>
          </a:xfrm>
          <a:prstGeom prst="rect">
            <a:avLst/>
          </a:prstGeom>
          <a:noFill/>
        </p:spPr>
        <p:txBody>
          <a:bodyPr wrap="square" rtlCol="0">
            <a:spAutoFit/>
          </a:bodyPr>
          <a:lstStyle/>
          <a:p>
            <a:r>
              <a:rPr lang="es-CL" sz="2400" b="1" dirty="0">
                <a:latin typeface="Raleway" pitchFamily="2" charset="77"/>
              </a:rPr>
              <a:t>Centros de competencias</a:t>
            </a:r>
            <a:r>
              <a:rPr lang="es-CL" sz="1400" dirty="0">
                <a:latin typeface="Raleway" pitchFamily="2" charset="77"/>
              </a:rPr>
              <a:t>/ son las unidades de trabajo que producen y están a cargo del componente tecnológico. Se diferencian por el </a:t>
            </a:r>
            <a:r>
              <a:rPr lang="es-CL" sz="1400" b="1" dirty="0">
                <a:latin typeface="Raleway" pitchFamily="2" charset="77"/>
              </a:rPr>
              <a:t>capital humano avanzado </a:t>
            </a:r>
            <a:r>
              <a:rPr lang="es-CL" sz="1400" dirty="0">
                <a:latin typeface="Raleway" pitchFamily="2" charset="77"/>
              </a:rPr>
              <a:t>(técnicos, expertos) y la </a:t>
            </a:r>
            <a:r>
              <a:rPr lang="es-CL" sz="1400" b="1" dirty="0">
                <a:latin typeface="Raleway" pitchFamily="2" charset="77"/>
              </a:rPr>
              <a:t>infraestructura tecnológica </a:t>
            </a:r>
            <a:r>
              <a:rPr lang="es-CL" sz="1400" dirty="0">
                <a:latin typeface="Raleway" pitchFamily="2" charset="77"/>
              </a:rPr>
              <a:t>(laboratorios, máquinas, equipos).</a:t>
            </a:r>
          </a:p>
        </p:txBody>
      </p:sp>
      <p:pic>
        <p:nvPicPr>
          <p:cNvPr id="2050" name="Picture 2" descr="Mercado Libre anuncia nuevo centro de distribución en Chile y primer hub  regional en Concepción">
            <a:extLst>
              <a:ext uri="{FF2B5EF4-FFF2-40B4-BE49-F238E27FC236}">
                <a16:creationId xmlns:a16="http://schemas.microsoft.com/office/drawing/2014/main" id="{EC670CC5-0611-12C3-0A61-9FE6510EE2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3413" y="1671947"/>
            <a:ext cx="7748587" cy="351410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logísticainversa #ecommerce #mercadolibre #eficienciaoperativa | Fabian  Rodriguez | 11 comentarios">
            <a:extLst>
              <a:ext uri="{FF2B5EF4-FFF2-40B4-BE49-F238E27FC236}">
                <a16:creationId xmlns:a16="http://schemas.microsoft.com/office/drawing/2014/main" id="{970F684D-5AF0-4C9E-594A-CB62E65480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0225" y="1671947"/>
            <a:ext cx="2643188" cy="3514106"/>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C817373C-8F81-B0B3-7E8D-FA2F3DD9C0BC}"/>
              </a:ext>
            </a:extLst>
          </p:cNvPr>
          <p:cNvSpPr txBox="1"/>
          <p:nvPr/>
        </p:nvSpPr>
        <p:spPr>
          <a:xfrm>
            <a:off x="1800226" y="5291471"/>
            <a:ext cx="2643188" cy="646331"/>
          </a:xfrm>
          <a:prstGeom prst="rect">
            <a:avLst/>
          </a:prstGeom>
          <a:noFill/>
        </p:spPr>
        <p:txBody>
          <a:bodyPr wrap="square" rtlCol="0">
            <a:spAutoFit/>
          </a:bodyPr>
          <a:lstStyle/>
          <a:p>
            <a:r>
              <a:rPr lang="es-CL" b="1" dirty="0"/>
              <a:t>Equipo de logística </a:t>
            </a:r>
            <a:r>
              <a:rPr lang="es-CL" dirty="0"/>
              <a:t>Mercado Libre</a:t>
            </a:r>
          </a:p>
        </p:txBody>
      </p:sp>
      <p:sp>
        <p:nvSpPr>
          <p:cNvPr id="4" name="CuadroTexto 3">
            <a:extLst>
              <a:ext uri="{FF2B5EF4-FFF2-40B4-BE49-F238E27FC236}">
                <a16:creationId xmlns:a16="http://schemas.microsoft.com/office/drawing/2014/main" id="{892D4BB3-77E8-4F1D-4A12-79F505BE4CA4}"/>
              </a:ext>
            </a:extLst>
          </p:cNvPr>
          <p:cNvSpPr txBox="1"/>
          <p:nvPr/>
        </p:nvSpPr>
        <p:spPr>
          <a:xfrm>
            <a:off x="4443413" y="5291471"/>
            <a:ext cx="3071812" cy="646331"/>
          </a:xfrm>
          <a:prstGeom prst="rect">
            <a:avLst/>
          </a:prstGeom>
          <a:noFill/>
        </p:spPr>
        <p:txBody>
          <a:bodyPr wrap="square" rtlCol="0">
            <a:spAutoFit/>
          </a:bodyPr>
          <a:lstStyle/>
          <a:p>
            <a:r>
              <a:rPr lang="es-CL" b="1" dirty="0"/>
              <a:t>Centros de distribución</a:t>
            </a:r>
          </a:p>
          <a:p>
            <a:r>
              <a:rPr lang="es-CL" dirty="0"/>
              <a:t>Mercado Libre</a:t>
            </a:r>
          </a:p>
        </p:txBody>
      </p:sp>
      <p:pic>
        <p:nvPicPr>
          <p:cNvPr id="2054" name="Picture 6" descr="Crea tu tienda en Mercado Libre: activa gratis Mi página">
            <a:extLst>
              <a:ext uri="{FF2B5EF4-FFF2-40B4-BE49-F238E27FC236}">
                <a16:creationId xmlns:a16="http://schemas.microsoft.com/office/drawing/2014/main" id="{9CBD9657-6EFB-4826-0B77-F29F08652C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14563" y="1905000"/>
            <a:ext cx="1558324" cy="152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84685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CB7409-2288-5753-5282-D41F420B7119}"/>
              </a:ext>
            </a:extLst>
          </p:cNvPr>
          <p:cNvSpPr>
            <a:spLocks noGrp="1"/>
          </p:cNvSpPr>
          <p:nvPr>
            <p:ph type="title"/>
          </p:nvPr>
        </p:nvSpPr>
        <p:spPr/>
        <p:txBody>
          <a:bodyPr/>
          <a:lstStyle/>
          <a:p>
            <a:r>
              <a:rPr lang="es-CL" dirty="0"/>
              <a:t>Casos de Startups en crecimiento</a:t>
            </a:r>
          </a:p>
        </p:txBody>
      </p:sp>
    </p:spTree>
    <p:extLst>
      <p:ext uri="{BB962C8B-B14F-4D97-AF65-F5344CB8AC3E}">
        <p14:creationId xmlns:p14="http://schemas.microsoft.com/office/powerpoint/2010/main" val="25038184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AE77C5D2-F0ED-BB67-E3E5-936B0711D020}"/>
              </a:ext>
            </a:extLst>
          </p:cNvPr>
          <p:cNvGrpSpPr/>
          <p:nvPr/>
        </p:nvGrpSpPr>
        <p:grpSpPr>
          <a:xfrm>
            <a:off x="3959202" y="0"/>
            <a:ext cx="6473456" cy="6858000"/>
            <a:chOff x="2791307" y="0"/>
            <a:chExt cx="6473456" cy="6858000"/>
          </a:xfrm>
        </p:grpSpPr>
        <p:pic>
          <p:nvPicPr>
            <p:cNvPr id="3" name="Imagen 2">
              <a:extLst>
                <a:ext uri="{FF2B5EF4-FFF2-40B4-BE49-F238E27FC236}">
                  <a16:creationId xmlns:a16="http://schemas.microsoft.com/office/drawing/2014/main" id="{9EBA1B5D-9E2B-AEF2-E5DC-8C718ADA7BBB}"/>
                </a:ext>
              </a:extLst>
            </p:cNvPr>
            <p:cNvPicPr>
              <a:picLocks noChangeAspect="1"/>
            </p:cNvPicPr>
            <p:nvPr/>
          </p:nvPicPr>
          <p:blipFill>
            <a:blip r:embed="rId2"/>
            <a:stretch>
              <a:fillRect/>
            </a:stretch>
          </p:blipFill>
          <p:spPr>
            <a:xfrm>
              <a:off x="2791307" y="0"/>
              <a:ext cx="3168763" cy="6858000"/>
            </a:xfrm>
            <a:prstGeom prst="rect">
              <a:avLst/>
            </a:prstGeom>
          </p:spPr>
        </p:pic>
        <p:pic>
          <p:nvPicPr>
            <p:cNvPr id="5" name="Imagen 4">
              <a:extLst>
                <a:ext uri="{FF2B5EF4-FFF2-40B4-BE49-F238E27FC236}">
                  <a16:creationId xmlns:a16="http://schemas.microsoft.com/office/drawing/2014/main" id="{11428E20-6C97-7BF3-C65E-D8DD708B3F24}"/>
                </a:ext>
              </a:extLst>
            </p:cNvPr>
            <p:cNvPicPr>
              <a:picLocks noChangeAspect="1"/>
            </p:cNvPicPr>
            <p:nvPr/>
          </p:nvPicPr>
          <p:blipFill>
            <a:blip r:embed="rId3"/>
            <a:stretch>
              <a:fillRect/>
            </a:stretch>
          </p:blipFill>
          <p:spPr>
            <a:xfrm>
              <a:off x="6096000" y="0"/>
              <a:ext cx="3168763" cy="6858000"/>
            </a:xfrm>
            <a:prstGeom prst="rect">
              <a:avLst/>
            </a:prstGeom>
          </p:spPr>
        </p:pic>
      </p:grpSp>
      <p:pic>
        <p:nvPicPr>
          <p:cNvPr id="1026" name="Picture 2" descr="The Boring Company - Wikipedia">
            <a:extLst>
              <a:ext uri="{FF2B5EF4-FFF2-40B4-BE49-F238E27FC236}">
                <a16:creationId xmlns:a16="http://schemas.microsoft.com/office/drawing/2014/main" id="{8919ECD7-D7F3-5E87-5D12-3E3F769FDB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1474" y="353800"/>
            <a:ext cx="3175000" cy="1409700"/>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57032116-F4C3-E6FE-EFDD-D3AD3F9116DB}"/>
              </a:ext>
            </a:extLst>
          </p:cNvPr>
          <p:cNvSpPr txBox="1"/>
          <p:nvPr/>
        </p:nvSpPr>
        <p:spPr>
          <a:xfrm>
            <a:off x="391474" y="2199861"/>
            <a:ext cx="2868561" cy="646331"/>
          </a:xfrm>
          <a:prstGeom prst="rect">
            <a:avLst/>
          </a:prstGeom>
          <a:noFill/>
        </p:spPr>
        <p:txBody>
          <a:bodyPr wrap="square" rtlCol="0">
            <a:spAutoFit/>
          </a:bodyPr>
          <a:lstStyle/>
          <a:p>
            <a:r>
              <a:rPr lang="es-CL" dirty="0">
                <a:latin typeface="Raleway" pitchFamily="2" charset="77"/>
              </a:rPr>
              <a:t>Una idea loca para un problema real…</a:t>
            </a:r>
          </a:p>
        </p:txBody>
      </p:sp>
      <p:cxnSp>
        <p:nvCxnSpPr>
          <p:cNvPr id="10" name="Conector recto 9">
            <a:extLst>
              <a:ext uri="{FF2B5EF4-FFF2-40B4-BE49-F238E27FC236}">
                <a16:creationId xmlns:a16="http://schemas.microsoft.com/office/drawing/2014/main" id="{B6986BE4-31A2-BE8F-1C2B-9E1A737B68B7}"/>
              </a:ext>
            </a:extLst>
          </p:cNvPr>
          <p:cNvCxnSpPr>
            <a:stCxn id="8" idx="3"/>
          </p:cNvCxnSpPr>
          <p:nvPr/>
        </p:nvCxnSpPr>
        <p:spPr>
          <a:xfrm flipV="1">
            <a:off x="3260035" y="1484243"/>
            <a:ext cx="699167" cy="1038784"/>
          </a:xfrm>
          <a:prstGeom prst="line">
            <a:avLst/>
          </a:prstGeom>
          <a:ln w="38100"/>
        </p:spPr>
        <p:style>
          <a:lnRef idx="2">
            <a:schemeClr val="dk1"/>
          </a:lnRef>
          <a:fillRef idx="0">
            <a:schemeClr val="dk1"/>
          </a:fillRef>
          <a:effectRef idx="1">
            <a:schemeClr val="dk1"/>
          </a:effectRef>
          <a:fontRef idx="minor">
            <a:schemeClr val="tx1"/>
          </a:fontRef>
        </p:style>
      </p:cxnSp>
      <p:cxnSp>
        <p:nvCxnSpPr>
          <p:cNvPr id="12" name="Conector recto 11">
            <a:extLst>
              <a:ext uri="{FF2B5EF4-FFF2-40B4-BE49-F238E27FC236}">
                <a16:creationId xmlns:a16="http://schemas.microsoft.com/office/drawing/2014/main" id="{9354326C-5ACF-E621-E76B-5E0A088A42E2}"/>
              </a:ext>
            </a:extLst>
          </p:cNvPr>
          <p:cNvCxnSpPr>
            <a:cxnSpLocks/>
          </p:cNvCxnSpPr>
          <p:nvPr/>
        </p:nvCxnSpPr>
        <p:spPr>
          <a:xfrm>
            <a:off x="2981739" y="2504661"/>
            <a:ext cx="291548" cy="5114"/>
          </a:xfrm>
          <a:prstGeom prst="line">
            <a:avLst/>
          </a:prstGeom>
          <a:ln w="38100"/>
        </p:spPr>
        <p:style>
          <a:lnRef idx="2">
            <a:schemeClr val="dk1"/>
          </a:lnRef>
          <a:fillRef idx="0">
            <a:schemeClr val="dk1"/>
          </a:fillRef>
          <a:effectRef idx="1">
            <a:schemeClr val="dk1"/>
          </a:effectRef>
          <a:fontRef idx="minor">
            <a:schemeClr val="tx1"/>
          </a:fontRef>
        </p:style>
      </p:cxnSp>
      <p:sp>
        <p:nvSpPr>
          <p:cNvPr id="13" name="Corchete izquierdo 12">
            <a:extLst>
              <a:ext uri="{FF2B5EF4-FFF2-40B4-BE49-F238E27FC236}">
                <a16:creationId xmlns:a16="http://schemas.microsoft.com/office/drawing/2014/main" id="{8FD2A446-2E7C-E5BD-5493-88CF946F0234}"/>
              </a:ext>
            </a:extLst>
          </p:cNvPr>
          <p:cNvSpPr/>
          <p:nvPr/>
        </p:nvSpPr>
        <p:spPr>
          <a:xfrm>
            <a:off x="3566475" y="2846192"/>
            <a:ext cx="223648" cy="2865495"/>
          </a:xfrm>
          <a:prstGeom prst="leftBrace">
            <a:avLst/>
          </a:prstGeom>
          <a:ln w="38100"/>
        </p:spPr>
        <p:style>
          <a:lnRef idx="2">
            <a:schemeClr val="dk1"/>
          </a:lnRef>
          <a:fillRef idx="0">
            <a:schemeClr val="dk1"/>
          </a:fillRef>
          <a:effectRef idx="1">
            <a:schemeClr val="dk1"/>
          </a:effectRef>
          <a:fontRef idx="minor">
            <a:schemeClr val="tx1"/>
          </a:fontRef>
        </p:style>
        <p:txBody>
          <a:bodyPr rtlCol="0" anchor="ctr"/>
          <a:lstStyle/>
          <a:p>
            <a:pPr algn="ctr"/>
            <a:endParaRPr lang="es-CL"/>
          </a:p>
        </p:txBody>
      </p:sp>
      <p:sp>
        <p:nvSpPr>
          <p:cNvPr id="14" name="CuadroTexto 13">
            <a:extLst>
              <a:ext uri="{FF2B5EF4-FFF2-40B4-BE49-F238E27FC236}">
                <a16:creationId xmlns:a16="http://schemas.microsoft.com/office/drawing/2014/main" id="{90CCC255-133C-8ABB-0C50-335FE560BBC6}"/>
              </a:ext>
            </a:extLst>
          </p:cNvPr>
          <p:cNvSpPr txBox="1"/>
          <p:nvPr/>
        </p:nvSpPr>
        <p:spPr>
          <a:xfrm>
            <a:off x="391474" y="3176416"/>
            <a:ext cx="2881813" cy="3108543"/>
          </a:xfrm>
          <a:prstGeom prst="rect">
            <a:avLst/>
          </a:prstGeom>
          <a:noFill/>
        </p:spPr>
        <p:txBody>
          <a:bodyPr wrap="square" rtlCol="0">
            <a:spAutoFit/>
          </a:bodyPr>
          <a:lstStyle/>
          <a:p>
            <a:r>
              <a:rPr lang="es-CL" sz="1400" b="1" dirty="0">
                <a:latin typeface="Raleway" pitchFamily="2" charset="77"/>
              </a:rPr>
              <a:t>Validar el problema…</a:t>
            </a:r>
          </a:p>
          <a:p>
            <a:endParaRPr lang="es-CL" sz="1400" dirty="0">
              <a:latin typeface="Raleway" pitchFamily="2" charset="77"/>
            </a:endParaRPr>
          </a:p>
          <a:p>
            <a:r>
              <a:rPr lang="es-CL" sz="1400" dirty="0">
                <a:latin typeface="Raleway" pitchFamily="2" charset="77"/>
              </a:rPr>
              <a:t>Se necesitan túneles en las ciudades (y en muchas otras partes), </a:t>
            </a:r>
          </a:p>
          <a:p>
            <a:endParaRPr lang="es-CL" sz="1400" dirty="0">
              <a:latin typeface="Raleway" pitchFamily="2" charset="77"/>
            </a:endParaRPr>
          </a:p>
          <a:p>
            <a:r>
              <a:rPr lang="es-CL" sz="1400" b="1" dirty="0">
                <a:latin typeface="Raleway" pitchFamily="2" charset="77"/>
              </a:rPr>
              <a:t>Validar al cliente…</a:t>
            </a:r>
          </a:p>
          <a:p>
            <a:endParaRPr lang="es-CL" sz="1400" b="1" dirty="0">
              <a:latin typeface="Raleway" pitchFamily="2" charset="77"/>
            </a:endParaRPr>
          </a:p>
          <a:p>
            <a:r>
              <a:rPr lang="es-CL" sz="1400" dirty="0">
                <a:latin typeface="Raleway" pitchFamily="2" charset="77"/>
              </a:rPr>
              <a:t> hay gente comprando “túneles”….y el precio es ridículo</a:t>
            </a:r>
          </a:p>
          <a:p>
            <a:endParaRPr lang="es-CL" sz="1400" dirty="0">
              <a:latin typeface="Raleway" pitchFamily="2" charset="77"/>
            </a:endParaRPr>
          </a:p>
          <a:p>
            <a:r>
              <a:rPr lang="es-CL" sz="1400" b="1" dirty="0">
                <a:latin typeface="Raleway" pitchFamily="2" charset="77"/>
              </a:rPr>
              <a:t>Validar la solución…</a:t>
            </a:r>
          </a:p>
          <a:p>
            <a:endParaRPr lang="es-CL" sz="1400" dirty="0">
              <a:latin typeface="Raleway" pitchFamily="2" charset="77"/>
            </a:endParaRPr>
          </a:p>
          <a:p>
            <a:r>
              <a:rPr lang="es-CL" sz="1400" dirty="0">
                <a:latin typeface="Raleway" pitchFamily="2" charset="77"/>
              </a:rPr>
              <a:t>Buscar un MVP rápido…</a:t>
            </a:r>
          </a:p>
        </p:txBody>
      </p:sp>
      <p:cxnSp>
        <p:nvCxnSpPr>
          <p:cNvPr id="16" name="Conector recto 15">
            <a:extLst>
              <a:ext uri="{FF2B5EF4-FFF2-40B4-BE49-F238E27FC236}">
                <a16:creationId xmlns:a16="http://schemas.microsoft.com/office/drawing/2014/main" id="{EB3746E3-6521-212E-EAB4-D57610DAD2CF}"/>
              </a:ext>
            </a:extLst>
          </p:cNvPr>
          <p:cNvCxnSpPr/>
          <p:nvPr/>
        </p:nvCxnSpPr>
        <p:spPr>
          <a:xfrm>
            <a:off x="3273287" y="6109252"/>
            <a:ext cx="685915" cy="357809"/>
          </a:xfrm>
          <a:prstGeom prst="line">
            <a:avLst/>
          </a:prstGeom>
          <a:ln w="38100"/>
        </p:spPr>
        <p:style>
          <a:lnRef idx="2">
            <a:schemeClr val="dk1"/>
          </a:lnRef>
          <a:fillRef idx="0">
            <a:schemeClr val="dk1"/>
          </a:fillRef>
          <a:effectRef idx="1">
            <a:schemeClr val="dk1"/>
          </a:effectRef>
          <a:fontRef idx="minor">
            <a:schemeClr val="tx1"/>
          </a:fontRef>
        </p:style>
      </p:cxnSp>
      <p:cxnSp>
        <p:nvCxnSpPr>
          <p:cNvPr id="18" name="Conector recto 17">
            <a:extLst>
              <a:ext uri="{FF2B5EF4-FFF2-40B4-BE49-F238E27FC236}">
                <a16:creationId xmlns:a16="http://schemas.microsoft.com/office/drawing/2014/main" id="{394A6B6A-68C8-BF13-E822-339801EA6C7A}"/>
              </a:ext>
            </a:extLst>
          </p:cNvPr>
          <p:cNvCxnSpPr>
            <a:cxnSpLocks/>
          </p:cNvCxnSpPr>
          <p:nvPr/>
        </p:nvCxnSpPr>
        <p:spPr>
          <a:xfrm>
            <a:off x="2988364" y="6102627"/>
            <a:ext cx="291548" cy="5114"/>
          </a:xfrm>
          <a:prstGeom prst="line">
            <a:avLst/>
          </a:prstGeom>
          <a:ln w="38100"/>
        </p:spPr>
        <p:style>
          <a:lnRef idx="2">
            <a:schemeClr val="dk1"/>
          </a:lnRef>
          <a:fillRef idx="0">
            <a:schemeClr val="dk1"/>
          </a:fillRef>
          <a:effectRef idx="1">
            <a:schemeClr val="dk1"/>
          </a:effectRef>
          <a:fontRef idx="minor">
            <a:schemeClr val="tx1"/>
          </a:fontRef>
        </p:style>
      </p:cxnSp>
      <p:sp>
        <p:nvSpPr>
          <p:cNvPr id="19" name="CuadroTexto 18">
            <a:extLst>
              <a:ext uri="{FF2B5EF4-FFF2-40B4-BE49-F238E27FC236}">
                <a16:creationId xmlns:a16="http://schemas.microsoft.com/office/drawing/2014/main" id="{8286D254-6505-AB10-392A-D8054F6958E1}"/>
              </a:ext>
            </a:extLst>
          </p:cNvPr>
          <p:cNvSpPr txBox="1"/>
          <p:nvPr/>
        </p:nvSpPr>
        <p:spPr>
          <a:xfrm>
            <a:off x="10432658" y="1114911"/>
            <a:ext cx="1481046" cy="1169551"/>
          </a:xfrm>
          <a:prstGeom prst="rect">
            <a:avLst/>
          </a:prstGeom>
          <a:noFill/>
        </p:spPr>
        <p:txBody>
          <a:bodyPr wrap="square" rtlCol="0">
            <a:spAutoFit/>
          </a:bodyPr>
          <a:lstStyle/>
          <a:p>
            <a:r>
              <a:rPr lang="es-CL" sz="1400" b="1" dirty="0">
                <a:latin typeface="Raleway" pitchFamily="2" charset="77"/>
              </a:rPr>
              <a:t>Súper ángel </a:t>
            </a:r>
          </a:p>
          <a:p>
            <a:r>
              <a:rPr lang="es-CL" sz="1400" dirty="0">
                <a:latin typeface="Raleway" pitchFamily="2" charset="77"/>
              </a:rPr>
              <a:t>(o serie A)</a:t>
            </a:r>
          </a:p>
          <a:p>
            <a:r>
              <a:rPr lang="es-CL" sz="1400" b="1" dirty="0">
                <a:latin typeface="Raleway" pitchFamily="2" charset="77"/>
              </a:rPr>
              <a:t>Ventas de productos alternativos</a:t>
            </a:r>
          </a:p>
        </p:txBody>
      </p:sp>
      <p:sp>
        <p:nvSpPr>
          <p:cNvPr id="20" name="CuadroTexto 19">
            <a:extLst>
              <a:ext uri="{FF2B5EF4-FFF2-40B4-BE49-F238E27FC236}">
                <a16:creationId xmlns:a16="http://schemas.microsoft.com/office/drawing/2014/main" id="{0D679BF9-124F-FC50-F923-151D66E617F8}"/>
              </a:ext>
            </a:extLst>
          </p:cNvPr>
          <p:cNvSpPr txBox="1"/>
          <p:nvPr/>
        </p:nvSpPr>
        <p:spPr>
          <a:xfrm>
            <a:off x="10432659" y="2387481"/>
            <a:ext cx="1481046" cy="1600438"/>
          </a:xfrm>
          <a:prstGeom prst="rect">
            <a:avLst/>
          </a:prstGeom>
          <a:noFill/>
        </p:spPr>
        <p:txBody>
          <a:bodyPr wrap="square" rtlCol="0">
            <a:spAutoFit/>
          </a:bodyPr>
          <a:lstStyle>
            <a:defPPr>
              <a:defRPr lang="es-CL"/>
            </a:defPPr>
            <a:lvl1pPr>
              <a:defRPr sz="1400" b="1">
                <a:latin typeface="Raleway" pitchFamily="2" charset="77"/>
              </a:defRPr>
            </a:lvl1pPr>
          </a:lstStyle>
          <a:p>
            <a:r>
              <a:rPr lang="es-CL" dirty="0"/>
              <a:t>Lograr </a:t>
            </a:r>
            <a:r>
              <a:rPr lang="es-CL" b="0" dirty="0"/>
              <a:t>indicadores críticos en 1</a:t>
            </a:r>
            <a:r>
              <a:rPr lang="es-CL" b="0" baseline="30000" dirty="0"/>
              <a:t>ros </a:t>
            </a:r>
            <a:r>
              <a:rPr lang="es-CL" b="0" dirty="0"/>
              <a:t>experimentos</a:t>
            </a:r>
          </a:p>
          <a:p>
            <a:endParaRPr lang="es-CL" b="0" dirty="0"/>
          </a:p>
          <a:p>
            <a:r>
              <a:rPr lang="es-CL" dirty="0"/>
              <a:t>Reducción de costos del 99%</a:t>
            </a:r>
          </a:p>
        </p:txBody>
      </p:sp>
      <p:sp>
        <p:nvSpPr>
          <p:cNvPr id="21" name="CuadroTexto 20">
            <a:extLst>
              <a:ext uri="{FF2B5EF4-FFF2-40B4-BE49-F238E27FC236}">
                <a16:creationId xmlns:a16="http://schemas.microsoft.com/office/drawing/2014/main" id="{D57D8A11-4BFA-7FE7-D09A-7A58A118A96A}"/>
              </a:ext>
            </a:extLst>
          </p:cNvPr>
          <p:cNvSpPr txBox="1"/>
          <p:nvPr/>
        </p:nvSpPr>
        <p:spPr>
          <a:xfrm>
            <a:off x="10432658" y="3987919"/>
            <a:ext cx="1613568" cy="1061829"/>
          </a:xfrm>
          <a:prstGeom prst="rect">
            <a:avLst/>
          </a:prstGeom>
          <a:noFill/>
        </p:spPr>
        <p:txBody>
          <a:bodyPr wrap="square" rtlCol="0">
            <a:spAutoFit/>
          </a:bodyPr>
          <a:lstStyle>
            <a:defPPr>
              <a:defRPr lang="es-CL"/>
            </a:defPPr>
            <a:lvl1pPr>
              <a:defRPr sz="1400" b="1">
                <a:latin typeface="Raleway" pitchFamily="2" charset="77"/>
              </a:defRPr>
            </a:lvl1pPr>
          </a:lstStyle>
          <a:p>
            <a:r>
              <a:rPr lang="es-CL" dirty="0"/>
              <a:t>1</a:t>
            </a:r>
            <a:r>
              <a:rPr lang="es-CL" baseline="30000" dirty="0"/>
              <a:t>ra</a:t>
            </a:r>
            <a:r>
              <a:rPr lang="es-CL" dirty="0"/>
              <a:t> venta</a:t>
            </a:r>
          </a:p>
          <a:p>
            <a:r>
              <a:rPr lang="es-CL" b="0" dirty="0"/>
              <a:t>Validación </a:t>
            </a:r>
            <a:r>
              <a:rPr lang="es-CL" sz="1100" b="0" dirty="0"/>
              <a:t>comercial, cliente principal </a:t>
            </a:r>
            <a:r>
              <a:rPr lang="es-CL" sz="1100" dirty="0"/>
              <a:t>ciudades</a:t>
            </a:r>
            <a:r>
              <a:rPr lang="es-CL" sz="1100" b="0" dirty="0"/>
              <a:t> </a:t>
            </a:r>
            <a:r>
              <a:rPr lang="es-CL" sz="1100" dirty="0" err="1"/>
              <a:t>Product</a:t>
            </a:r>
            <a:r>
              <a:rPr lang="es-CL" sz="1100" dirty="0"/>
              <a:t> </a:t>
            </a:r>
            <a:r>
              <a:rPr lang="es-CL" sz="1100" dirty="0" err="1"/>
              <a:t>Market</a:t>
            </a:r>
            <a:r>
              <a:rPr lang="es-CL" sz="1100" dirty="0"/>
              <a:t> </a:t>
            </a:r>
            <a:r>
              <a:rPr lang="es-CL" sz="1100" dirty="0" err="1"/>
              <a:t>Fit</a:t>
            </a:r>
            <a:endParaRPr lang="es-CL" dirty="0"/>
          </a:p>
        </p:txBody>
      </p:sp>
      <p:sp>
        <p:nvSpPr>
          <p:cNvPr id="22" name="CuadroTexto 21">
            <a:extLst>
              <a:ext uri="{FF2B5EF4-FFF2-40B4-BE49-F238E27FC236}">
                <a16:creationId xmlns:a16="http://schemas.microsoft.com/office/drawing/2014/main" id="{4077688A-759C-CAD7-4BA8-1C29D6D781F5}"/>
              </a:ext>
            </a:extLst>
          </p:cNvPr>
          <p:cNvSpPr txBox="1"/>
          <p:nvPr/>
        </p:nvSpPr>
        <p:spPr>
          <a:xfrm>
            <a:off x="10432658" y="5353819"/>
            <a:ext cx="1481046" cy="923330"/>
          </a:xfrm>
          <a:prstGeom prst="rect">
            <a:avLst/>
          </a:prstGeom>
          <a:noFill/>
        </p:spPr>
        <p:txBody>
          <a:bodyPr wrap="square" rtlCol="0">
            <a:spAutoFit/>
          </a:bodyPr>
          <a:lstStyle/>
          <a:p>
            <a:r>
              <a:rPr lang="es-CL" sz="1400" b="1" dirty="0">
                <a:latin typeface="Raleway" pitchFamily="2" charset="77"/>
              </a:rPr>
              <a:t>Serie C</a:t>
            </a:r>
          </a:p>
          <a:p>
            <a:r>
              <a:rPr lang="es-CL" sz="1400" b="1" dirty="0">
                <a:latin typeface="Raleway" pitchFamily="2" charset="77"/>
              </a:rPr>
              <a:t>MMUSD$ 675</a:t>
            </a:r>
          </a:p>
          <a:p>
            <a:r>
              <a:rPr lang="es-CL" sz="1400" dirty="0">
                <a:latin typeface="Raleway" pitchFamily="2" charset="77"/>
              </a:rPr>
              <a:t>Valorización de </a:t>
            </a:r>
            <a:r>
              <a:rPr lang="es-CL" sz="1200" dirty="0">
                <a:latin typeface="Raleway" pitchFamily="2" charset="77"/>
              </a:rPr>
              <a:t>USD$ 5,7 </a:t>
            </a:r>
            <a:r>
              <a:rPr lang="es-CL" sz="1200" dirty="0" err="1">
                <a:latin typeface="Raleway" pitchFamily="2" charset="77"/>
              </a:rPr>
              <a:t>Billions</a:t>
            </a:r>
            <a:endParaRPr lang="es-CL" sz="1400" dirty="0">
              <a:latin typeface="Raleway" pitchFamily="2" charset="77"/>
            </a:endParaRPr>
          </a:p>
        </p:txBody>
      </p:sp>
    </p:spTree>
    <p:extLst>
      <p:ext uri="{BB962C8B-B14F-4D97-AF65-F5344CB8AC3E}">
        <p14:creationId xmlns:p14="http://schemas.microsoft.com/office/powerpoint/2010/main" val="31511172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3CE28750-F82E-B4F0-33E0-FCA154846B25}"/>
              </a:ext>
            </a:extLst>
          </p:cNvPr>
          <p:cNvPicPr>
            <a:picLocks noChangeAspect="1"/>
          </p:cNvPicPr>
          <p:nvPr/>
        </p:nvPicPr>
        <p:blipFill>
          <a:blip r:embed="rId2"/>
          <a:srcRect t="11299"/>
          <a:stretch>
            <a:fillRect/>
          </a:stretch>
        </p:blipFill>
        <p:spPr>
          <a:xfrm>
            <a:off x="533076" y="387457"/>
            <a:ext cx="3168763" cy="6083085"/>
          </a:xfrm>
          <a:prstGeom prst="rect">
            <a:avLst/>
          </a:prstGeom>
        </p:spPr>
      </p:pic>
      <p:pic>
        <p:nvPicPr>
          <p:cNvPr id="3" name="Imagen 2">
            <a:extLst>
              <a:ext uri="{FF2B5EF4-FFF2-40B4-BE49-F238E27FC236}">
                <a16:creationId xmlns:a16="http://schemas.microsoft.com/office/drawing/2014/main" id="{C24F5CD3-E1D8-792D-D6D0-E95EC97C7772}"/>
              </a:ext>
            </a:extLst>
          </p:cNvPr>
          <p:cNvPicPr>
            <a:picLocks noChangeAspect="1"/>
          </p:cNvPicPr>
          <p:nvPr/>
        </p:nvPicPr>
        <p:blipFill>
          <a:blip r:embed="rId3"/>
          <a:stretch>
            <a:fillRect/>
          </a:stretch>
        </p:blipFill>
        <p:spPr>
          <a:xfrm>
            <a:off x="3714428" y="1612915"/>
            <a:ext cx="4863889" cy="3632170"/>
          </a:xfrm>
          <a:prstGeom prst="rect">
            <a:avLst/>
          </a:prstGeom>
        </p:spPr>
      </p:pic>
      <p:pic>
        <p:nvPicPr>
          <p:cNvPr id="3074" name="Picture 2" descr="Everything we know about the Boring Company's three TBM's - Tunnel Insider">
            <a:extLst>
              <a:ext uri="{FF2B5EF4-FFF2-40B4-BE49-F238E27FC236}">
                <a16:creationId xmlns:a16="http://schemas.microsoft.com/office/drawing/2014/main" id="{7F5B06B0-76FD-6F35-B484-0A1B02BB6D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3694" y="2072898"/>
            <a:ext cx="4068306" cy="2712203"/>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36154353-AA64-D0BD-566C-95BD02541338}"/>
              </a:ext>
            </a:extLst>
          </p:cNvPr>
          <p:cNvSpPr txBox="1"/>
          <p:nvPr/>
        </p:nvSpPr>
        <p:spPr>
          <a:xfrm>
            <a:off x="3714428" y="387457"/>
            <a:ext cx="3517310" cy="461665"/>
          </a:xfrm>
          <a:prstGeom prst="rect">
            <a:avLst/>
          </a:prstGeom>
          <a:noFill/>
        </p:spPr>
        <p:txBody>
          <a:bodyPr wrap="none" rtlCol="0">
            <a:spAutoFit/>
          </a:bodyPr>
          <a:lstStyle/>
          <a:p>
            <a:r>
              <a:rPr lang="es-CL" sz="2400" b="1" dirty="0">
                <a:latin typeface="Raleway" pitchFamily="2" charset="77"/>
              </a:rPr>
              <a:t>Estrategia tecnológica</a:t>
            </a:r>
          </a:p>
        </p:txBody>
      </p:sp>
      <p:sp>
        <p:nvSpPr>
          <p:cNvPr id="5" name="CuadroTexto 4">
            <a:extLst>
              <a:ext uri="{FF2B5EF4-FFF2-40B4-BE49-F238E27FC236}">
                <a16:creationId xmlns:a16="http://schemas.microsoft.com/office/drawing/2014/main" id="{A88AC2D7-04D0-04A0-B90E-B28F050CA4BC}"/>
              </a:ext>
            </a:extLst>
          </p:cNvPr>
          <p:cNvSpPr txBox="1"/>
          <p:nvPr/>
        </p:nvSpPr>
        <p:spPr>
          <a:xfrm>
            <a:off x="9332263" y="4937307"/>
            <a:ext cx="2608406" cy="769441"/>
          </a:xfrm>
          <a:prstGeom prst="rect">
            <a:avLst/>
          </a:prstGeom>
          <a:noFill/>
        </p:spPr>
        <p:txBody>
          <a:bodyPr wrap="none" rtlCol="0">
            <a:spAutoFit/>
          </a:bodyPr>
          <a:lstStyle/>
          <a:p>
            <a:r>
              <a:rPr lang="es-CL" sz="1400" b="1" dirty="0">
                <a:latin typeface="Raleway" pitchFamily="2" charset="77"/>
              </a:rPr>
              <a:t>Componente central (CORE)</a:t>
            </a:r>
          </a:p>
          <a:p>
            <a:r>
              <a:rPr lang="es-CL" sz="1400" dirty="0">
                <a:latin typeface="Raleway" pitchFamily="2" charset="77"/>
              </a:rPr>
              <a:t>PRUFROCK</a:t>
            </a:r>
          </a:p>
          <a:p>
            <a:r>
              <a:rPr lang="es-CL" sz="1600" dirty="0">
                <a:latin typeface="Raleway" pitchFamily="2" charset="77"/>
              </a:rPr>
              <a:t>El monstruo</a:t>
            </a:r>
          </a:p>
        </p:txBody>
      </p:sp>
      <p:sp>
        <p:nvSpPr>
          <p:cNvPr id="6" name="CuadroTexto 5">
            <a:extLst>
              <a:ext uri="{FF2B5EF4-FFF2-40B4-BE49-F238E27FC236}">
                <a16:creationId xmlns:a16="http://schemas.microsoft.com/office/drawing/2014/main" id="{AB40BF4E-00FA-0C58-7771-8365CD5B3C03}"/>
              </a:ext>
            </a:extLst>
          </p:cNvPr>
          <p:cNvSpPr txBox="1"/>
          <p:nvPr/>
        </p:nvSpPr>
        <p:spPr>
          <a:xfrm>
            <a:off x="3926196" y="2505644"/>
            <a:ext cx="1656223" cy="246221"/>
          </a:xfrm>
          <a:prstGeom prst="rect">
            <a:avLst/>
          </a:prstGeom>
          <a:noFill/>
        </p:spPr>
        <p:txBody>
          <a:bodyPr wrap="none" rtlCol="0">
            <a:spAutoFit/>
          </a:bodyPr>
          <a:lstStyle/>
          <a:p>
            <a:r>
              <a:rPr lang="es-CL" sz="1000" b="1" dirty="0">
                <a:highlight>
                  <a:srgbClr val="00FFFF"/>
                </a:highlight>
                <a:latin typeface="Raleway" pitchFamily="2" charset="77"/>
              </a:rPr>
              <a:t>Infraestructura esencial</a:t>
            </a:r>
          </a:p>
        </p:txBody>
      </p:sp>
      <p:sp>
        <p:nvSpPr>
          <p:cNvPr id="7" name="CuadroTexto 6">
            <a:extLst>
              <a:ext uri="{FF2B5EF4-FFF2-40B4-BE49-F238E27FC236}">
                <a16:creationId xmlns:a16="http://schemas.microsoft.com/office/drawing/2014/main" id="{A9560EB3-D614-F780-7F2E-6E981418D190}"/>
              </a:ext>
            </a:extLst>
          </p:cNvPr>
          <p:cNvSpPr txBox="1"/>
          <p:nvPr/>
        </p:nvSpPr>
        <p:spPr>
          <a:xfrm>
            <a:off x="3926196" y="1936169"/>
            <a:ext cx="2037737" cy="246221"/>
          </a:xfrm>
          <a:prstGeom prst="rect">
            <a:avLst/>
          </a:prstGeom>
          <a:noFill/>
        </p:spPr>
        <p:txBody>
          <a:bodyPr wrap="none" rtlCol="0">
            <a:spAutoFit/>
          </a:bodyPr>
          <a:lstStyle/>
          <a:p>
            <a:r>
              <a:rPr lang="es-CL" sz="1000" b="1" dirty="0">
                <a:highlight>
                  <a:srgbClr val="00FFFF"/>
                </a:highlight>
                <a:latin typeface="Raleway" pitchFamily="2" charset="77"/>
              </a:rPr>
              <a:t>Agua / electricidad / internet</a:t>
            </a:r>
          </a:p>
        </p:txBody>
      </p:sp>
      <p:pic>
        <p:nvPicPr>
          <p:cNvPr id="3076" name="Picture 4" descr="The Boring Company's first prototype tunnel – RHS Hawk Eye">
            <a:extLst>
              <a:ext uri="{FF2B5EF4-FFF2-40B4-BE49-F238E27FC236}">
                <a16:creationId xmlns:a16="http://schemas.microsoft.com/office/drawing/2014/main" id="{373E5653-5013-D92A-B632-1077B2F0C98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73675" y="3097787"/>
            <a:ext cx="1644650" cy="123190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Conector recto de flecha 8">
            <a:extLst>
              <a:ext uri="{FF2B5EF4-FFF2-40B4-BE49-F238E27FC236}">
                <a16:creationId xmlns:a16="http://schemas.microsoft.com/office/drawing/2014/main" id="{34C31C01-8D5A-2B7E-8D22-F97A38AE79C4}"/>
              </a:ext>
            </a:extLst>
          </p:cNvPr>
          <p:cNvCxnSpPr/>
          <p:nvPr/>
        </p:nvCxnSpPr>
        <p:spPr>
          <a:xfrm flipV="1">
            <a:off x="6918325" y="3428999"/>
            <a:ext cx="1006475" cy="28473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 name="CuadroTexto 9">
            <a:extLst>
              <a:ext uri="{FF2B5EF4-FFF2-40B4-BE49-F238E27FC236}">
                <a16:creationId xmlns:a16="http://schemas.microsoft.com/office/drawing/2014/main" id="{A4B3C208-6105-9DC9-EBCD-09C9AFDFB509}"/>
              </a:ext>
            </a:extLst>
          </p:cNvPr>
          <p:cNvSpPr txBox="1"/>
          <p:nvPr/>
        </p:nvSpPr>
        <p:spPr>
          <a:xfrm>
            <a:off x="4455785" y="5245084"/>
            <a:ext cx="3518912" cy="1169551"/>
          </a:xfrm>
          <a:prstGeom prst="rect">
            <a:avLst/>
          </a:prstGeom>
          <a:noFill/>
        </p:spPr>
        <p:txBody>
          <a:bodyPr wrap="none" rtlCol="0">
            <a:spAutoFit/>
          </a:bodyPr>
          <a:lstStyle/>
          <a:p>
            <a:r>
              <a:rPr lang="es-CL" sz="1400" b="1" dirty="0">
                <a:latin typeface="Raleway" pitchFamily="2" charset="77"/>
              </a:rPr>
              <a:t>Centros de competencias</a:t>
            </a:r>
          </a:p>
          <a:p>
            <a:endParaRPr lang="es-CL" sz="1400" dirty="0">
              <a:latin typeface="Raleway" pitchFamily="2" charset="77"/>
            </a:endParaRPr>
          </a:p>
          <a:p>
            <a:pPr marL="285750" indent="-285750">
              <a:buFont typeface="Arial" panose="020B0604020202020204" pitchFamily="34" charset="0"/>
              <a:buChar char="•"/>
            </a:pPr>
            <a:r>
              <a:rPr lang="es-CL" sz="1400" dirty="0">
                <a:latin typeface="Raleway" pitchFamily="2" charset="77"/>
              </a:rPr>
              <a:t>Equipos de especialistas</a:t>
            </a:r>
          </a:p>
          <a:p>
            <a:pPr marL="285750" indent="-285750">
              <a:buFont typeface="Arial" panose="020B0604020202020204" pitchFamily="34" charset="0"/>
              <a:buChar char="•"/>
            </a:pPr>
            <a:r>
              <a:rPr lang="es-CL" sz="1400" dirty="0">
                <a:latin typeface="Raleway" pitchFamily="2" charset="77"/>
              </a:rPr>
              <a:t>Infraestructura, equipos, laboratorios</a:t>
            </a:r>
          </a:p>
          <a:p>
            <a:pPr marL="285750" indent="-285750">
              <a:buFont typeface="Arial" panose="020B0604020202020204" pitchFamily="34" charset="0"/>
              <a:buChar char="•"/>
            </a:pPr>
            <a:r>
              <a:rPr lang="es-CL" sz="1400" dirty="0">
                <a:latin typeface="Raleway" pitchFamily="2" charset="77"/>
              </a:rPr>
              <a:t>Patentes</a:t>
            </a:r>
          </a:p>
        </p:txBody>
      </p:sp>
      <p:pic>
        <p:nvPicPr>
          <p:cNvPr id="11" name="Imagen 10">
            <a:extLst>
              <a:ext uri="{FF2B5EF4-FFF2-40B4-BE49-F238E27FC236}">
                <a16:creationId xmlns:a16="http://schemas.microsoft.com/office/drawing/2014/main" id="{181A665F-BDEA-9066-F76C-5CD29F7F3D9B}"/>
              </a:ext>
            </a:extLst>
          </p:cNvPr>
          <p:cNvPicPr>
            <a:picLocks noChangeAspect="1"/>
          </p:cNvPicPr>
          <p:nvPr/>
        </p:nvPicPr>
        <p:blipFill>
          <a:blip r:embed="rId6"/>
          <a:stretch>
            <a:fillRect/>
          </a:stretch>
        </p:blipFill>
        <p:spPr>
          <a:xfrm>
            <a:off x="8123694" y="443365"/>
            <a:ext cx="3708400" cy="1141334"/>
          </a:xfrm>
          <a:prstGeom prst="rect">
            <a:avLst/>
          </a:prstGeom>
        </p:spPr>
      </p:pic>
      <p:cxnSp>
        <p:nvCxnSpPr>
          <p:cNvPr id="13" name="Conector recto 12">
            <a:extLst>
              <a:ext uri="{FF2B5EF4-FFF2-40B4-BE49-F238E27FC236}">
                <a16:creationId xmlns:a16="http://schemas.microsoft.com/office/drawing/2014/main" id="{5DF533E0-8A2D-ED26-EAA7-66E8C43B27EF}"/>
              </a:ext>
            </a:extLst>
          </p:cNvPr>
          <p:cNvCxnSpPr>
            <a:cxnSpLocks/>
          </p:cNvCxnSpPr>
          <p:nvPr/>
        </p:nvCxnSpPr>
        <p:spPr>
          <a:xfrm flipH="1">
            <a:off x="7269838" y="1014032"/>
            <a:ext cx="891956" cy="901879"/>
          </a:xfrm>
          <a:prstGeom prst="line">
            <a:avLst/>
          </a:prstGeom>
          <a:ln w="38100"/>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66491911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ow to Buy The Boring Company Stock in 2025">
            <a:extLst>
              <a:ext uri="{FF2B5EF4-FFF2-40B4-BE49-F238E27FC236}">
                <a16:creationId xmlns:a16="http://schemas.microsoft.com/office/drawing/2014/main" id="{07947CC9-81E9-1C83-AFCB-0E29A8ED29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709" y="1836334"/>
            <a:ext cx="4471469" cy="453657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The Boring Company - Wikipedia">
            <a:extLst>
              <a:ext uri="{FF2B5EF4-FFF2-40B4-BE49-F238E27FC236}">
                <a16:creationId xmlns:a16="http://schemas.microsoft.com/office/drawing/2014/main" id="{8A8915DF-446D-A061-8178-1EBD0F1D7E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1474" y="353800"/>
            <a:ext cx="3175000" cy="1409700"/>
          </a:xfrm>
          <a:prstGeom prst="rect">
            <a:avLst/>
          </a:prstGeom>
          <a:noFill/>
          <a:extLst>
            <a:ext uri="{909E8E84-426E-40DD-AFC4-6F175D3DCCD1}">
              <a14:hiddenFill xmlns:a14="http://schemas.microsoft.com/office/drawing/2010/main">
                <a:solidFill>
                  <a:srgbClr val="FFFFFF"/>
                </a:solidFill>
              </a14:hiddenFill>
            </a:ext>
          </a:extLst>
        </p:spPr>
      </p:pic>
      <p:cxnSp>
        <p:nvCxnSpPr>
          <p:cNvPr id="6" name="Conector recto 5">
            <a:extLst>
              <a:ext uri="{FF2B5EF4-FFF2-40B4-BE49-F238E27FC236}">
                <a16:creationId xmlns:a16="http://schemas.microsoft.com/office/drawing/2014/main" id="{3FAB9B4E-54D2-0250-DA4E-9E4A56A3ADD5}"/>
              </a:ext>
            </a:extLst>
          </p:cNvPr>
          <p:cNvCxnSpPr/>
          <p:nvPr/>
        </p:nvCxnSpPr>
        <p:spPr>
          <a:xfrm flipV="1">
            <a:off x="5727700" y="3928533"/>
            <a:ext cx="914400" cy="103255"/>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8" name="Conector recto 7">
            <a:extLst>
              <a:ext uri="{FF2B5EF4-FFF2-40B4-BE49-F238E27FC236}">
                <a16:creationId xmlns:a16="http://schemas.microsoft.com/office/drawing/2014/main" id="{3DB6793C-0549-1191-488A-72647AB7914A}"/>
              </a:ext>
            </a:extLst>
          </p:cNvPr>
          <p:cNvCxnSpPr>
            <a:cxnSpLocks/>
          </p:cNvCxnSpPr>
          <p:nvPr/>
        </p:nvCxnSpPr>
        <p:spPr>
          <a:xfrm flipV="1">
            <a:off x="10219267" y="485090"/>
            <a:ext cx="1189319" cy="2542775"/>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9" name="CuadroTexto 8">
            <a:extLst>
              <a:ext uri="{FF2B5EF4-FFF2-40B4-BE49-F238E27FC236}">
                <a16:creationId xmlns:a16="http://schemas.microsoft.com/office/drawing/2014/main" id="{C8A8B7BB-9F60-6754-B149-34380AC10063}"/>
              </a:ext>
            </a:extLst>
          </p:cNvPr>
          <p:cNvSpPr txBox="1"/>
          <p:nvPr/>
        </p:nvSpPr>
        <p:spPr>
          <a:xfrm>
            <a:off x="5049309" y="3610828"/>
            <a:ext cx="678391" cy="369332"/>
          </a:xfrm>
          <a:prstGeom prst="rect">
            <a:avLst/>
          </a:prstGeom>
          <a:noFill/>
        </p:spPr>
        <p:txBody>
          <a:bodyPr wrap="none" rtlCol="0">
            <a:spAutoFit/>
          </a:bodyPr>
          <a:lstStyle/>
          <a:p>
            <a:r>
              <a:rPr lang="es-CL" dirty="0">
                <a:latin typeface="Raleway" pitchFamily="2" charset="77"/>
              </a:rPr>
              <a:t>2018</a:t>
            </a:r>
          </a:p>
        </p:txBody>
      </p:sp>
      <p:sp>
        <p:nvSpPr>
          <p:cNvPr id="10" name="CuadroTexto 9">
            <a:extLst>
              <a:ext uri="{FF2B5EF4-FFF2-40B4-BE49-F238E27FC236}">
                <a16:creationId xmlns:a16="http://schemas.microsoft.com/office/drawing/2014/main" id="{1BE04705-0CA3-BE4D-F9D3-E5BBFACAF7F2}"/>
              </a:ext>
            </a:extLst>
          </p:cNvPr>
          <p:cNvSpPr txBox="1"/>
          <p:nvPr/>
        </p:nvSpPr>
        <p:spPr>
          <a:xfrm>
            <a:off x="11408586" y="485090"/>
            <a:ext cx="691215" cy="369332"/>
          </a:xfrm>
          <a:prstGeom prst="rect">
            <a:avLst/>
          </a:prstGeom>
          <a:noFill/>
        </p:spPr>
        <p:txBody>
          <a:bodyPr wrap="none" rtlCol="0">
            <a:spAutoFit/>
          </a:bodyPr>
          <a:lstStyle/>
          <a:p>
            <a:r>
              <a:rPr lang="es-CL" dirty="0">
                <a:latin typeface="Raleway" pitchFamily="2" charset="77"/>
              </a:rPr>
              <a:t>2025</a:t>
            </a:r>
          </a:p>
        </p:txBody>
      </p:sp>
      <p:sp>
        <p:nvSpPr>
          <p:cNvPr id="11" name="CuadroTexto 10">
            <a:extLst>
              <a:ext uri="{FF2B5EF4-FFF2-40B4-BE49-F238E27FC236}">
                <a16:creationId xmlns:a16="http://schemas.microsoft.com/office/drawing/2014/main" id="{3AD7E4E2-76A7-6BD8-FFB8-26DBABA1DDAF}"/>
              </a:ext>
            </a:extLst>
          </p:cNvPr>
          <p:cNvSpPr txBox="1"/>
          <p:nvPr/>
        </p:nvSpPr>
        <p:spPr>
          <a:xfrm>
            <a:off x="4699000" y="4031788"/>
            <a:ext cx="534121" cy="461665"/>
          </a:xfrm>
          <a:prstGeom prst="rect">
            <a:avLst/>
          </a:prstGeom>
          <a:noFill/>
        </p:spPr>
        <p:txBody>
          <a:bodyPr wrap="none" rtlCol="0">
            <a:spAutoFit/>
          </a:bodyPr>
          <a:lstStyle/>
          <a:p>
            <a:r>
              <a:rPr lang="es-CL" sz="1200" b="1" dirty="0">
                <a:latin typeface="Raleway" pitchFamily="2" charset="77"/>
              </a:rPr>
              <a:t>MVP</a:t>
            </a:r>
          </a:p>
          <a:p>
            <a:r>
              <a:rPr lang="es-CL" sz="1200" dirty="0">
                <a:latin typeface="Raleway" pitchFamily="2" charset="77"/>
              </a:rPr>
              <a:t>2016</a:t>
            </a:r>
          </a:p>
        </p:txBody>
      </p:sp>
      <p:sp>
        <p:nvSpPr>
          <p:cNvPr id="12" name="CuadroTexto 11">
            <a:extLst>
              <a:ext uri="{FF2B5EF4-FFF2-40B4-BE49-F238E27FC236}">
                <a16:creationId xmlns:a16="http://schemas.microsoft.com/office/drawing/2014/main" id="{AFD05C06-4585-D298-311C-1021DC1F5777}"/>
              </a:ext>
            </a:extLst>
          </p:cNvPr>
          <p:cNvSpPr txBox="1"/>
          <p:nvPr/>
        </p:nvSpPr>
        <p:spPr>
          <a:xfrm>
            <a:off x="6604738" y="4156760"/>
            <a:ext cx="861133" cy="415498"/>
          </a:xfrm>
          <a:prstGeom prst="rect">
            <a:avLst/>
          </a:prstGeom>
          <a:noFill/>
        </p:spPr>
        <p:txBody>
          <a:bodyPr wrap="none" rtlCol="0">
            <a:spAutoFit/>
          </a:bodyPr>
          <a:lstStyle/>
          <a:p>
            <a:r>
              <a:rPr lang="es-CL" sz="1000" b="1" dirty="0">
                <a:latin typeface="Raleway" pitchFamily="2" charset="77"/>
              </a:rPr>
              <a:t>1er cliente</a:t>
            </a:r>
          </a:p>
          <a:p>
            <a:r>
              <a:rPr lang="es-CL" sz="1000" dirty="0">
                <a:latin typeface="Raleway" pitchFamily="2" charset="77"/>
              </a:rPr>
              <a:t>2019</a:t>
            </a:r>
          </a:p>
        </p:txBody>
      </p:sp>
      <p:sp>
        <p:nvSpPr>
          <p:cNvPr id="13" name="CuadroTexto 12">
            <a:extLst>
              <a:ext uri="{FF2B5EF4-FFF2-40B4-BE49-F238E27FC236}">
                <a16:creationId xmlns:a16="http://schemas.microsoft.com/office/drawing/2014/main" id="{AD40D769-B157-53C6-3F7C-F4A7FABD6190}"/>
              </a:ext>
            </a:extLst>
          </p:cNvPr>
          <p:cNvSpPr txBox="1"/>
          <p:nvPr/>
        </p:nvSpPr>
        <p:spPr>
          <a:xfrm>
            <a:off x="7136679" y="3123179"/>
            <a:ext cx="675185" cy="553998"/>
          </a:xfrm>
          <a:prstGeom prst="rect">
            <a:avLst/>
          </a:prstGeom>
          <a:noFill/>
        </p:spPr>
        <p:txBody>
          <a:bodyPr wrap="none" rtlCol="0">
            <a:spAutoFit/>
          </a:bodyPr>
          <a:lstStyle/>
          <a:p>
            <a:r>
              <a:rPr lang="en-US" sz="1000" b="1" noProof="0" dirty="0">
                <a:latin typeface="Raleway" pitchFamily="2" charset="77"/>
              </a:rPr>
              <a:t>Product</a:t>
            </a:r>
          </a:p>
          <a:p>
            <a:r>
              <a:rPr lang="en-US" sz="1000" b="1" noProof="0" dirty="0">
                <a:latin typeface="Raleway" pitchFamily="2" charset="77"/>
              </a:rPr>
              <a:t>Market</a:t>
            </a:r>
          </a:p>
          <a:p>
            <a:r>
              <a:rPr lang="en-US" sz="1000" b="1" noProof="0" dirty="0">
                <a:latin typeface="Raleway" pitchFamily="2" charset="77"/>
              </a:rPr>
              <a:t>Fit</a:t>
            </a:r>
          </a:p>
        </p:txBody>
      </p:sp>
      <p:sp>
        <p:nvSpPr>
          <p:cNvPr id="14" name="Elipse 13">
            <a:extLst>
              <a:ext uri="{FF2B5EF4-FFF2-40B4-BE49-F238E27FC236}">
                <a16:creationId xmlns:a16="http://schemas.microsoft.com/office/drawing/2014/main" id="{520014D5-F1AA-FFD5-6B51-FB6D01392220}"/>
              </a:ext>
            </a:extLst>
          </p:cNvPr>
          <p:cNvSpPr/>
          <p:nvPr/>
        </p:nvSpPr>
        <p:spPr>
          <a:xfrm>
            <a:off x="6672438" y="3836469"/>
            <a:ext cx="144000" cy="144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a:p>
        </p:txBody>
      </p:sp>
      <p:sp>
        <p:nvSpPr>
          <p:cNvPr id="15" name="Elipse 14">
            <a:extLst>
              <a:ext uri="{FF2B5EF4-FFF2-40B4-BE49-F238E27FC236}">
                <a16:creationId xmlns:a16="http://schemas.microsoft.com/office/drawing/2014/main" id="{A6124AF1-0B6B-EA05-613C-549B8561F5FA}"/>
              </a:ext>
            </a:extLst>
          </p:cNvPr>
          <p:cNvSpPr/>
          <p:nvPr/>
        </p:nvSpPr>
        <p:spPr>
          <a:xfrm>
            <a:off x="7442200" y="3568700"/>
            <a:ext cx="144000" cy="144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a:p>
        </p:txBody>
      </p:sp>
      <p:sp>
        <p:nvSpPr>
          <p:cNvPr id="16" name="Triángulo 15">
            <a:extLst>
              <a:ext uri="{FF2B5EF4-FFF2-40B4-BE49-F238E27FC236}">
                <a16:creationId xmlns:a16="http://schemas.microsoft.com/office/drawing/2014/main" id="{0CDFAC8D-2BF6-A38F-7163-807FF305FA13}"/>
              </a:ext>
            </a:extLst>
          </p:cNvPr>
          <p:cNvSpPr/>
          <p:nvPr/>
        </p:nvSpPr>
        <p:spPr>
          <a:xfrm>
            <a:off x="5612656" y="4069748"/>
            <a:ext cx="139700" cy="589521"/>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a:p>
        </p:txBody>
      </p:sp>
      <p:sp>
        <p:nvSpPr>
          <p:cNvPr id="17" name="Triángulo 16">
            <a:extLst>
              <a:ext uri="{FF2B5EF4-FFF2-40B4-BE49-F238E27FC236}">
                <a16:creationId xmlns:a16="http://schemas.microsoft.com/office/drawing/2014/main" id="{206E1113-6714-EF0E-BA62-80F077556864}"/>
              </a:ext>
            </a:extLst>
          </p:cNvPr>
          <p:cNvSpPr/>
          <p:nvPr/>
        </p:nvSpPr>
        <p:spPr>
          <a:xfrm>
            <a:off x="7768462" y="4069747"/>
            <a:ext cx="139700" cy="589521"/>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a:p>
        </p:txBody>
      </p:sp>
      <p:sp>
        <p:nvSpPr>
          <p:cNvPr id="18" name="CuadroTexto 17">
            <a:extLst>
              <a:ext uri="{FF2B5EF4-FFF2-40B4-BE49-F238E27FC236}">
                <a16:creationId xmlns:a16="http://schemas.microsoft.com/office/drawing/2014/main" id="{9426B576-BADC-D5B7-C0B4-595DA3397AA0}"/>
              </a:ext>
            </a:extLst>
          </p:cNvPr>
          <p:cNvSpPr txBox="1"/>
          <p:nvPr/>
        </p:nvSpPr>
        <p:spPr>
          <a:xfrm>
            <a:off x="5527238" y="4659268"/>
            <a:ext cx="604653" cy="246221"/>
          </a:xfrm>
          <a:prstGeom prst="rect">
            <a:avLst/>
          </a:prstGeom>
          <a:noFill/>
        </p:spPr>
        <p:txBody>
          <a:bodyPr wrap="none" rtlCol="0">
            <a:spAutoFit/>
          </a:bodyPr>
          <a:lstStyle/>
          <a:p>
            <a:r>
              <a:rPr lang="es-CL" sz="1000" dirty="0">
                <a:latin typeface="Raleway" pitchFamily="2" charset="77"/>
              </a:rPr>
              <a:t>Serie A</a:t>
            </a:r>
          </a:p>
        </p:txBody>
      </p:sp>
      <p:sp>
        <p:nvSpPr>
          <p:cNvPr id="19" name="CuadroTexto 18">
            <a:extLst>
              <a:ext uri="{FF2B5EF4-FFF2-40B4-BE49-F238E27FC236}">
                <a16:creationId xmlns:a16="http://schemas.microsoft.com/office/drawing/2014/main" id="{5C88F3D3-DCF4-173A-C823-4DD97B949241}"/>
              </a:ext>
            </a:extLst>
          </p:cNvPr>
          <p:cNvSpPr txBox="1"/>
          <p:nvPr/>
        </p:nvSpPr>
        <p:spPr>
          <a:xfrm>
            <a:off x="7896470" y="4413047"/>
            <a:ext cx="606256" cy="246221"/>
          </a:xfrm>
          <a:prstGeom prst="rect">
            <a:avLst/>
          </a:prstGeom>
          <a:noFill/>
        </p:spPr>
        <p:txBody>
          <a:bodyPr wrap="none" rtlCol="0">
            <a:spAutoFit/>
          </a:bodyPr>
          <a:lstStyle/>
          <a:p>
            <a:r>
              <a:rPr lang="es-CL" sz="1000" dirty="0">
                <a:latin typeface="Raleway" pitchFamily="2" charset="77"/>
              </a:rPr>
              <a:t>Serie C</a:t>
            </a:r>
          </a:p>
        </p:txBody>
      </p:sp>
      <p:pic>
        <p:nvPicPr>
          <p:cNvPr id="20" name="Imagen 19">
            <a:extLst>
              <a:ext uri="{FF2B5EF4-FFF2-40B4-BE49-F238E27FC236}">
                <a16:creationId xmlns:a16="http://schemas.microsoft.com/office/drawing/2014/main" id="{DE5DF448-92AB-07DC-B496-E456937070B8}"/>
              </a:ext>
            </a:extLst>
          </p:cNvPr>
          <p:cNvPicPr>
            <a:picLocks noChangeAspect="1"/>
          </p:cNvPicPr>
          <p:nvPr/>
        </p:nvPicPr>
        <p:blipFill>
          <a:blip r:embed="rId4"/>
          <a:stretch>
            <a:fillRect/>
          </a:stretch>
        </p:blipFill>
        <p:spPr>
          <a:xfrm>
            <a:off x="387340" y="1940610"/>
            <a:ext cx="3694701" cy="4432300"/>
          </a:xfrm>
          <a:prstGeom prst="rect">
            <a:avLst/>
          </a:prstGeom>
        </p:spPr>
      </p:pic>
      <p:sp>
        <p:nvSpPr>
          <p:cNvPr id="21" name="CuadroTexto 20">
            <a:extLst>
              <a:ext uri="{FF2B5EF4-FFF2-40B4-BE49-F238E27FC236}">
                <a16:creationId xmlns:a16="http://schemas.microsoft.com/office/drawing/2014/main" id="{6104E13F-2C35-33B7-B966-1B440505C8ED}"/>
              </a:ext>
            </a:extLst>
          </p:cNvPr>
          <p:cNvSpPr txBox="1"/>
          <p:nvPr/>
        </p:nvSpPr>
        <p:spPr>
          <a:xfrm>
            <a:off x="4082041" y="5911245"/>
            <a:ext cx="1671059" cy="461665"/>
          </a:xfrm>
          <a:prstGeom prst="rect">
            <a:avLst/>
          </a:prstGeom>
          <a:noFill/>
        </p:spPr>
        <p:txBody>
          <a:bodyPr wrap="square" rtlCol="0">
            <a:spAutoFit/>
          </a:bodyPr>
          <a:lstStyle/>
          <a:p>
            <a:r>
              <a:rPr lang="es-CL" sz="1200" b="1" dirty="0">
                <a:latin typeface="Raleway" pitchFamily="2" charset="77"/>
              </a:rPr>
              <a:t>Diferenciación y condiciones de uso</a:t>
            </a:r>
          </a:p>
        </p:txBody>
      </p:sp>
      <p:sp>
        <p:nvSpPr>
          <p:cNvPr id="22" name="CuadroTexto 21">
            <a:extLst>
              <a:ext uri="{FF2B5EF4-FFF2-40B4-BE49-F238E27FC236}">
                <a16:creationId xmlns:a16="http://schemas.microsoft.com/office/drawing/2014/main" id="{1DE72663-1287-5544-6596-9A813C89E22F}"/>
              </a:ext>
            </a:extLst>
          </p:cNvPr>
          <p:cNvSpPr txBox="1"/>
          <p:nvPr/>
        </p:nvSpPr>
        <p:spPr>
          <a:xfrm>
            <a:off x="4244388" y="1590113"/>
            <a:ext cx="931665" cy="246221"/>
          </a:xfrm>
          <a:prstGeom prst="rect">
            <a:avLst/>
          </a:prstGeom>
          <a:noFill/>
        </p:spPr>
        <p:txBody>
          <a:bodyPr wrap="none" rtlCol="0">
            <a:spAutoFit/>
          </a:bodyPr>
          <a:lstStyle/>
          <a:p>
            <a:r>
              <a:rPr lang="es-CL" sz="1000" b="1" dirty="0">
                <a:solidFill>
                  <a:schemeClr val="accent5">
                    <a:lumMod val="50000"/>
                  </a:schemeClr>
                </a:solidFill>
                <a:latin typeface="Raleway" pitchFamily="2" charset="77"/>
              </a:rPr>
              <a:t>El problema</a:t>
            </a:r>
          </a:p>
        </p:txBody>
      </p:sp>
      <p:sp>
        <p:nvSpPr>
          <p:cNvPr id="23" name="CuadroTexto 22">
            <a:extLst>
              <a:ext uri="{FF2B5EF4-FFF2-40B4-BE49-F238E27FC236}">
                <a16:creationId xmlns:a16="http://schemas.microsoft.com/office/drawing/2014/main" id="{0A0FA4FF-B767-F729-A2F7-9FE20BF75220}"/>
              </a:ext>
            </a:extLst>
          </p:cNvPr>
          <p:cNvSpPr txBox="1"/>
          <p:nvPr/>
        </p:nvSpPr>
        <p:spPr>
          <a:xfrm>
            <a:off x="4524207" y="1830156"/>
            <a:ext cx="1093569" cy="246221"/>
          </a:xfrm>
          <a:prstGeom prst="rect">
            <a:avLst/>
          </a:prstGeom>
          <a:noFill/>
        </p:spPr>
        <p:txBody>
          <a:bodyPr wrap="none" rtlCol="0">
            <a:spAutoFit/>
          </a:bodyPr>
          <a:lstStyle/>
          <a:p>
            <a:r>
              <a:rPr lang="es-CL" sz="1000" b="1" dirty="0">
                <a:solidFill>
                  <a:schemeClr val="accent5">
                    <a:lumMod val="50000"/>
                  </a:schemeClr>
                </a:solidFill>
                <a:latin typeface="Raleway" pitchFamily="2" charset="77"/>
              </a:rPr>
              <a:t>Un MVP rápido</a:t>
            </a:r>
          </a:p>
        </p:txBody>
      </p:sp>
      <p:sp>
        <p:nvSpPr>
          <p:cNvPr id="24" name="CuadroTexto 23">
            <a:extLst>
              <a:ext uri="{FF2B5EF4-FFF2-40B4-BE49-F238E27FC236}">
                <a16:creationId xmlns:a16="http://schemas.microsoft.com/office/drawing/2014/main" id="{DEDB174A-866D-24EF-9BC2-2C4A1A7E44C8}"/>
              </a:ext>
            </a:extLst>
          </p:cNvPr>
          <p:cNvSpPr txBox="1"/>
          <p:nvPr/>
        </p:nvSpPr>
        <p:spPr>
          <a:xfrm>
            <a:off x="5227982" y="1099867"/>
            <a:ext cx="1516456" cy="553998"/>
          </a:xfrm>
          <a:prstGeom prst="rect">
            <a:avLst/>
          </a:prstGeom>
          <a:noFill/>
        </p:spPr>
        <p:txBody>
          <a:bodyPr wrap="square" rtlCol="0">
            <a:spAutoFit/>
          </a:bodyPr>
          <a:lstStyle/>
          <a:p>
            <a:r>
              <a:rPr lang="es-CL" sz="1000" b="1" dirty="0">
                <a:solidFill>
                  <a:schemeClr val="accent5">
                    <a:lumMod val="50000"/>
                  </a:schemeClr>
                </a:solidFill>
                <a:latin typeface="Raleway" pitchFamily="2" charset="77"/>
              </a:rPr>
              <a:t>Financiamiento temprano para buenos experimentos</a:t>
            </a:r>
          </a:p>
        </p:txBody>
      </p:sp>
      <p:sp>
        <p:nvSpPr>
          <p:cNvPr id="25" name="CuadroTexto 24">
            <a:extLst>
              <a:ext uri="{FF2B5EF4-FFF2-40B4-BE49-F238E27FC236}">
                <a16:creationId xmlns:a16="http://schemas.microsoft.com/office/drawing/2014/main" id="{4FC49919-55FC-89FA-F05B-D4ED4EDB13C0}"/>
              </a:ext>
            </a:extLst>
          </p:cNvPr>
          <p:cNvSpPr txBox="1"/>
          <p:nvPr/>
        </p:nvSpPr>
        <p:spPr>
          <a:xfrm>
            <a:off x="6820514" y="1099866"/>
            <a:ext cx="1334032" cy="553998"/>
          </a:xfrm>
          <a:prstGeom prst="rect">
            <a:avLst/>
          </a:prstGeom>
          <a:noFill/>
        </p:spPr>
        <p:txBody>
          <a:bodyPr wrap="square" rtlCol="0">
            <a:spAutoFit/>
          </a:bodyPr>
          <a:lstStyle/>
          <a:p>
            <a:r>
              <a:rPr lang="es-CL" sz="1000" b="1" dirty="0">
                <a:solidFill>
                  <a:schemeClr val="accent5">
                    <a:lumMod val="50000"/>
                  </a:schemeClr>
                </a:solidFill>
                <a:latin typeface="Raleway" pitchFamily="2" charset="77"/>
              </a:rPr>
              <a:t>Clientes para buscar el </a:t>
            </a:r>
            <a:r>
              <a:rPr lang="en-US" sz="1000" b="1" noProof="0" dirty="0">
                <a:solidFill>
                  <a:schemeClr val="accent5">
                    <a:lumMod val="50000"/>
                  </a:schemeClr>
                </a:solidFill>
                <a:latin typeface="Raleway" pitchFamily="2" charset="77"/>
              </a:rPr>
              <a:t>Product Market Fit</a:t>
            </a:r>
            <a:endParaRPr lang="es-CL" sz="1000" b="1" dirty="0">
              <a:solidFill>
                <a:schemeClr val="accent5">
                  <a:lumMod val="50000"/>
                </a:schemeClr>
              </a:solidFill>
              <a:latin typeface="Raleway" pitchFamily="2" charset="77"/>
            </a:endParaRPr>
          </a:p>
        </p:txBody>
      </p:sp>
      <p:sp>
        <p:nvSpPr>
          <p:cNvPr id="26" name="CuadroTexto 25">
            <a:extLst>
              <a:ext uri="{FF2B5EF4-FFF2-40B4-BE49-F238E27FC236}">
                <a16:creationId xmlns:a16="http://schemas.microsoft.com/office/drawing/2014/main" id="{AC7B686C-B44E-1CF6-79E1-41B01E88A422}"/>
              </a:ext>
            </a:extLst>
          </p:cNvPr>
          <p:cNvSpPr txBox="1"/>
          <p:nvPr/>
        </p:nvSpPr>
        <p:spPr>
          <a:xfrm>
            <a:off x="8732959" y="1099866"/>
            <a:ext cx="1334032" cy="400110"/>
          </a:xfrm>
          <a:prstGeom prst="rect">
            <a:avLst/>
          </a:prstGeom>
          <a:noFill/>
        </p:spPr>
        <p:txBody>
          <a:bodyPr wrap="square" rtlCol="0">
            <a:spAutoFit/>
          </a:bodyPr>
          <a:lstStyle/>
          <a:p>
            <a:r>
              <a:rPr lang="es-419" sz="1000" b="1" dirty="0">
                <a:solidFill>
                  <a:schemeClr val="accent5">
                    <a:lumMod val="50000"/>
                  </a:schemeClr>
                </a:solidFill>
                <a:latin typeface="Raleway" pitchFamily="2" charset="77"/>
              </a:rPr>
              <a:t>Ajuste del modelo de negocios</a:t>
            </a:r>
            <a:endParaRPr lang="es-CL" sz="1000" b="1" dirty="0">
              <a:solidFill>
                <a:schemeClr val="accent5">
                  <a:lumMod val="50000"/>
                </a:schemeClr>
              </a:solidFill>
              <a:latin typeface="Raleway" pitchFamily="2" charset="77"/>
            </a:endParaRPr>
          </a:p>
        </p:txBody>
      </p:sp>
      <p:sp>
        <p:nvSpPr>
          <p:cNvPr id="28" name="CuadroTexto 27">
            <a:extLst>
              <a:ext uri="{FF2B5EF4-FFF2-40B4-BE49-F238E27FC236}">
                <a16:creationId xmlns:a16="http://schemas.microsoft.com/office/drawing/2014/main" id="{B95B65F2-520C-433E-48FE-6DC740BB82ED}"/>
              </a:ext>
            </a:extLst>
          </p:cNvPr>
          <p:cNvSpPr txBox="1"/>
          <p:nvPr/>
        </p:nvSpPr>
        <p:spPr>
          <a:xfrm>
            <a:off x="10813926" y="1591469"/>
            <a:ext cx="1334032" cy="246221"/>
          </a:xfrm>
          <a:prstGeom prst="rect">
            <a:avLst/>
          </a:prstGeom>
          <a:noFill/>
        </p:spPr>
        <p:txBody>
          <a:bodyPr wrap="square" rtlCol="0">
            <a:spAutoFit/>
          </a:bodyPr>
          <a:lstStyle/>
          <a:p>
            <a:r>
              <a:rPr lang="es-419" sz="1000" b="1" dirty="0">
                <a:solidFill>
                  <a:schemeClr val="accent5">
                    <a:lumMod val="50000"/>
                  </a:schemeClr>
                </a:solidFill>
                <a:latin typeface="Raleway" pitchFamily="2" charset="77"/>
              </a:rPr>
              <a:t>Escalamiento</a:t>
            </a:r>
            <a:endParaRPr lang="es-CL" sz="1000" b="1" dirty="0">
              <a:solidFill>
                <a:schemeClr val="accent5">
                  <a:lumMod val="50000"/>
                </a:schemeClr>
              </a:solidFill>
              <a:latin typeface="Raleway" pitchFamily="2" charset="77"/>
            </a:endParaRPr>
          </a:p>
        </p:txBody>
      </p:sp>
    </p:spTree>
    <p:extLst>
      <p:ext uri="{BB962C8B-B14F-4D97-AF65-F5344CB8AC3E}">
        <p14:creationId xmlns:p14="http://schemas.microsoft.com/office/powerpoint/2010/main" val="382765424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TotalTime>
  <Words>7221</Words>
  <Application>Microsoft Macintosh PowerPoint</Application>
  <PresentationFormat>Panorámica</PresentationFormat>
  <Paragraphs>1080</Paragraphs>
  <Slides>66</Slides>
  <Notes>3</Notes>
  <HiddenSlides>0</HiddenSlides>
  <MMClips>0</MMClips>
  <ScaleCrop>false</ScaleCrop>
  <HeadingPairs>
    <vt:vector size="6" baseType="variant">
      <vt:variant>
        <vt:lpstr>Fuentes usadas</vt:lpstr>
      </vt:variant>
      <vt:variant>
        <vt:i4>17</vt:i4>
      </vt:variant>
      <vt:variant>
        <vt:lpstr>Tema</vt:lpstr>
      </vt:variant>
      <vt:variant>
        <vt:i4>2</vt:i4>
      </vt:variant>
      <vt:variant>
        <vt:lpstr>Títulos de diapositiva</vt:lpstr>
      </vt:variant>
      <vt:variant>
        <vt:i4>66</vt:i4>
      </vt:variant>
    </vt:vector>
  </HeadingPairs>
  <TitlesOfParts>
    <vt:vector size="85" baseType="lpstr">
      <vt:lpstr>Aharoni</vt:lpstr>
      <vt:lpstr>Aptos</vt:lpstr>
      <vt:lpstr>Arial</vt:lpstr>
      <vt:lpstr>Avenir Next</vt:lpstr>
      <vt:lpstr>Calibri</vt:lpstr>
      <vt:lpstr>Gill Sans</vt:lpstr>
      <vt:lpstr>Gotham</vt:lpstr>
      <vt:lpstr>Helvetica</vt:lpstr>
      <vt:lpstr>Lao Sangam MN</vt:lpstr>
      <vt:lpstr>Lucida Grande</vt:lpstr>
      <vt:lpstr>Montserrat</vt:lpstr>
      <vt:lpstr>Montserrat ExtraBold</vt:lpstr>
      <vt:lpstr>Montserrat Medium</vt:lpstr>
      <vt:lpstr>Montserrat SemiBold</vt:lpstr>
      <vt:lpstr>Raleway</vt:lpstr>
      <vt:lpstr>TradeGothic Light</vt:lpstr>
      <vt:lpstr>Wingdings</vt:lpstr>
      <vt:lpstr>Tema de Office</vt:lpstr>
      <vt:lpstr>1_Tema de Office</vt:lpstr>
      <vt:lpstr>VIRALIZA VENTURE STUDIO UINN Programa de financiamiento especializado para startups. </vt:lpstr>
      <vt:lpstr>Presentación de PowerPoint</vt:lpstr>
      <vt:lpstr>¿Por qué el modelo de negocios es tan relevante?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¿Qué implica ajustar el modelo de negocios? (y como se asimila a los flujos financieros)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El paso a paso: Realizando el análisis de valor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Click to edit Master title style</vt:lpstr>
      <vt:lpstr>Presentación de PowerPoint</vt:lpstr>
      <vt:lpstr>Presentación de PowerPoint</vt:lpstr>
      <vt:lpstr>Presentación de PowerPoint</vt:lpstr>
      <vt:lpstr>Presentación de PowerPoint</vt:lpstr>
      <vt:lpstr>Alcanzando la escalabilidad. Análisis de modelo de negocios y flujos proyectados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Casos de Startups en crecimiento</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Inti Nuñez</dc:creator>
  <cp:lastModifiedBy>Inti Nuñez</cp:lastModifiedBy>
  <cp:revision>1</cp:revision>
  <dcterms:created xsi:type="dcterms:W3CDTF">2026-01-06T18:18:06Z</dcterms:created>
  <dcterms:modified xsi:type="dcterms:W3CDTF">2026-03-05T11:49:35Z</dcterms:modified>
</cp:coreProperties>
</file>