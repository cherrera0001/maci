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7"/>
    <p:sldId id="265" r:id="rId18"/>
    <p:sldId id="266" r:id="rId19"/>
    <p:sldId id="267" r:id="rId20"/>
    <p:sldId id="268" r:id="rId21"/>
    <p:sldId id="269" r:id="rId22"/>
  </p:sldIdLst>
  <p:sldSz cy="6858000" cx="12192000"/>
  <p:notesSz cx="6858000" cy="12192000"/>
  <p:embeddedFontLst>
    <p:embeddedFont>
      <p:font typeface="Play"/>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747775"/>
          </p15:clr>
        </p15:guide>
      </p15:sldGuideLst>
    </p:ext>
    <p:ext uri="GoogleSlidesCustomDataVersion2">
      <go:slidesCustomData xmlns:go="http://customooxmlschemas.google.com/" r:id="rId16" roundtripDataSignature="AMtx7mjeXBwS2jJQJo3lHs/nJKWx2umF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Play-regular.fntdata"/><Relationship Id="rId15" Type="http://schemas.openxmlformats.org/officeDocument/2006/relationships/font" Target="fonts/Play-bold.fntdata"/><Relationship Id="rId16" Type="http://customschemas.google.com/relationships/presentationmetadata" Target="metadata"/><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1" i="0" lang="en-US" sz="1200" u="sng" cap="none" strike="noStrike">
                <a:solidFill>
                  <a:schemeClr val="dk1"/>
                </a:solidFill>
                <a:latin typeface="Arial"/>
                <a:ea typeface="Arial"/>
                <a:cs typeface="Arial"/>
                <a:sym typeface="Arial"/>
              </a:rPr>
              <a:t>CAMILO ABRIGO: </a:t>
            </a:r>
            <a:endParaRPr/>
          </a:p>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Apertura sugerida: “No venimos a mostrar gráficos por cumplir. Venimos a defender si las “ventas” del año 2016 contiene señal suficiente para generalizar el año 2017.”</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En Hito 1 no corresponde entrenar el modelo; corresponde demostrar comprensión del problema, calidad del dataset y formulación de hipótesis basada en EDA [Exploratory Data Analysis].</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Importante: entrenar en 2016 y evaluar en 2017, evitando mezclar información futura.</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 partir del análisis exploratorio, observamos que ciertas características de las propiedades  (como ubicación, número de habitaciones, tipo de propiedad y tamaño del terreno), presentan patrones asociados al precio. Por ello, planteamos que estas variables tendrán capacidad predictiva sobre el valor de las propiedades vendidas en 2017.”</a:t>
            </a:r>
            <a:endParaRPr sz="1200">
              <a:solidFill>
                <a:schemeClr val="dk1"/>
              </a:solidFill>
              <a:latin typeface="Arial"/>
              <a:ea typeface="Arial"/>
              <a:cs typeface="Arial"/>
              <a:sym typeface="Arial"/>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CAMILO ABRIGO: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Esta lámina cubre Introducción y Requerimientos/Pregunta.</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Defender: “La unidad de análisis es una venta de propiedad; el objetivo no es descubrir causalidad, sino predecir de manera robusta.”</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 presentación debe anticipar el criterio de evaluación: problema claro, relevancia y claridad técnica. Por eso aparece el baseline desde el inicio.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lang="en-US" sz="1200">
                <a:solidFill>
                  <a:srgbClr val="2DD4BF"/>
                </a:solidFill>
                <a:latin typeface="Arial"/>
                <a:ea typeface="Arial"/>
                <a:cs typeface="Arial"/>
                <a:sym typeface="Arial"/>
              </a:rPr>
              <a:t>Variable objetivo/</a:t>
            </a:r>
            <a:r>
              <a:rPr b="1" lang="en-US" sz="1200">
                <a:solidFill>
                  <a:srgbClr val="F59E0B"/>
                </a:solidFill>
                <a:latin typeface="Arial"/>
                <a:ea typeface="Arial"/>
                <a:cs typeface="Arial"/>
                <a:sym typeface="Arial"/>
              </a:rPr>
              <a:t>Benchmark exigente/ </a:t>
            </a:r>
            <a:r>
              <a:rPr b="1" lang="en-US" sz="1200">
                <a:solidFill>
                  <a:srgbClr val="FB7185"/>
                </a:solidFill>
                <a:latin typeface="Arial"/>
                <a:ea typeface="Arial"/>
                <a:cs typeface="Arial"/>
                <a:sym typeface="Arial"/>
              </a:rPr>
              <a:t>Riesgo de negocio: </a:t>
            </a:r>
            <a:r>
              <a:rPr lang="en-US" sz="1200"/>
              <a:t>“Tenemos tres criterios que orientan el modelamiento: primero, Price es un target asimétrico y sensible a valores extremos; segundo, cualquier modelo deberá demostrar valor superando un baseline simple basado en la mediana de 2016; y tercero, el error tiene impacto de negocio, por lo que no solo evaluaremos cuánto nos equivocamos en promedio, sino también la magnitud de los errores severos.”</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Si preguntan por baseline: para un primer modelo predictivo, la mediana del precio 2016 es una referencia robusta por la asimetría de precios.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Explicación de última Frase [</a:t>
            </a:r>
            <a:r>
              <a:rPr b="1" lang="en-US" sz="1200">
                <a:solidFill>
                  <a:srgbClr val="F8FAFC"/>
                </a:solidFill>
                <a:latin typeface="Arial"/>
                <a:ea typeface="Arial"/>
                <a:cs typeface="Arial"/>
                <a:sym typeface="Arial"/>
              </a:rPr>
              <a:t>Enfoque: no explicar causalidad; estimar precio con generalización fuera de muestra</a:t>
            </a:r>
            <a:r>
              <a:rPr lang="en-US" sz="1200">
                <a:solidFill>
                  <a:schemeClr val="dk1"/>
                </a:solidFill>
                <a:latin typeface="Arial"/>
                <a:ea typeface="Arial"/>
                <a:cs typeface="Arial"/>
                <a:sym typeface="Arial"/>
              </a:rPr>
              <a:t>]: No queremos demostrar por qué una propiedad vale lo que vale; queremos construir un modelo que, usando información de propiedades pasadas, estime con precisión el precio de propiedades nuevas.</a:t>
            </a:r>
            <a:endParaRPr sz="1200">
              <a:solidFill>
                <a:schemeClr val="dk1"/>
              </a:solidFill>
              <a:latin typeface="Arial"/>
              <a:ea typeface="Arial"/>
              <a:cs typeface="Arial"/>
              <a:sym typeface="Arial"/>
            </a:endParaRPr>
          </a:p>
        </p:txBody>
      </p:sp>
      <p:sp>
        <p:nvSpPr>
          <p:cNvPr id="38" name="Google Shape;3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CAMILO ABRIGO: </a:t>
            </a:r>
            <a:endParaRPr/>
          </a:p>
          <a:p>
            <a:pPr indent="0" lvl="0" marL="0" marR="0" rtl="0" algn="l">
              <a:lnSpc>
                <a:spcPct val="100000"/>
              </a:lnSpc>
              <a:spcBef>
                <a:spcPts val="0"/>
              </a:spcBef>
              <a:spcAft>
                <a:spcPts val="0"/>
              </a:spcAft>
              <a:buSzPts val="1100"/>
              <a:buNone/>
            </a:pPr>
            <a:r>
              <a:rPr lang="en-US" sz="1200"/>
              <a:t>“Nuestro EDA nos lleva a una pregunta concreta: ¿los patrones que observamos en 2016 contienen suficiente señal para predecir 2017? La hipótesis nula plantea que no: que las relaciones entre habitaciones, tipología, ubicación y precio no se mantienen lo suficiente y, por tanto, un modelo entrenado con 2016 no superaría una estimación básica. Nuestra hipótesis alternativa plantea lo contrario: que existe una estructura suficientemente estable para generalizar hacia 2017. El desafío, sin embargo, no es demostrar que 2016 explica bien 2016; es comprobar si esa señal sobrevive al cambio temporal y geográfico que ya detectamos en 2017. Por eso, finalmente, será el desempeño fuera de muestra frente a un baseline el que decida entre ambas hipótesis.”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2000"/>
              <a:t>“La pregunta no es si encontramos patrones en 2016; la pregunta es si esos patrones sobreviven a 2017.”</a:t>
            </a:r>
            <a:endParaRPr b="1" sz="2000">
              <a:solidFill>
                <a:schemeClr val="dk1"/>
              </a:solidFill>
              <a:latin typeface="Arial"/>
              <a:ea typeface="Arial"/>
              <a:cs typeface="Arial"/>
              <a:sym typeface="Arial"/>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CAMILO ABRIGO: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Esta lámina cubre Descripción de datos y Fases del ciclo de vida.</a:t>
            </a:r>
            <a:br>
              <a:rPr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Punto fuerte</a:t>
            </a:r>
            <a:r>
              <a:rPr lang="en-US" sz="1200">
                <a:solidFill>
                  <a:schemeClr val="dk1"/>
                </a:solidFill>
                <a:latin typeface="Arial"/>
                <a:ea typeface="Arial"/>
                <a:cs typeface="Arial"/>
                <a:sym typeface="Arial"/>
              </a:rPr>
              <a:t>: Clasificar variables por rol analítico evita presentar un diccionario plano y demuestra criterio de modelamiento.</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“Clasificamos las variables por su rol analítico para entender qué información aporta cada grupo al problema predictivo. Así distinguimos la variable objetivo de los predictores estructurales, geográficos, comerciales y temporales.”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Y si el profesor pregunta por qué no basta con mostrar un diccionario plano:</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“Porque un diccionario describe qué significa cada columna, pero la clasificación por rol muestra cómo pensamos utilizarlas dentro del modelo.”</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Una fila representa una propiedad/venta. El objetivo es Price. Se transforma Date con dayfirst=True ( Dato incial como Texto, se transforma a formato fecha) y se crea Year para separar 2016 y 2017.</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Mencionar que después de crear Year hay una columna derivada adicional; ya que el dataset original contiene 21 atributos; con el propósito de [separar las observaciones de 2016 y 2017]</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LIMPIEZA: </a:t>
            </a:r>
            <a:r>
              <a:rPr lang="en-US" sz="1200">
                <a:solidFill>
                  <a:schemeClr val="dk1"/>
                </a:solidFill>
                <a:latin typeface="Arial"/>
                <a:ea typeface="Arial"/>
                <a:cs typeface="Arial"/>
                <a:sym typeface="Arial"/>
              </a:rPr>
              <a:t>“En Python hicimos una validación de rangos para detectar valores potencialmente anómalos. Convertimos las variables a formato numérico con pd.to_numeric() y revisamos sus mínimos, máximos, valores nulos, negativos y ceros. La idea no es eliminar automáticamente esos datos, sino identificar cuáles necesitan una revisión antes de modelar.”</a:t>
            </a:r>
            <a:endParaRPr sz="1200">
              <a:solidFill>
                <a:schemeClr val="dk1"/>
              </a:solidFill>
              <a:latin typeface="Arial"/>
              <a:ea typeface="Arial"/>
              <a:cs typeface="Arial"/>
              <a:sym typeface="Arial"/>
            </a:endParaRPr>
          </a:p>
        </p:txBody>
      </p:sp>
      <p:sp>
        <p:nvSpPr>
          <p:cNvPr id="87" name="Google Shape;8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KEYDEN URBINA: </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Esta lámina demuestra criterio de limpieza de datos. Corrige dos puntos sensibles del notebook (</a:t>
            </a:r>
            <a:r>
              <a:rPr b="1" lang="en-US" sz="1200" u="sng">
                <a:solidFill>
                  <a:schemeClr val="dk1"/>
                </a:solidFill>
                <a:latin typeface="Arial"/>
                <a:ea typeface="Arial"/>
                <a:cs typeface="Arial"/>
                <a:sym typeface="Arial"/>
              </a:rPr>
              <a:t>Porqué el nombre del gráfico: </a:t>
            </a:r>
            <a:r>
              <a:rPr lang="en-US" sz="1200">
                <a:solidFill>
                  <a:schemeClr val="dk1"/>
                </a:solidFill>
                <a:latin typeface="Arial"/>
                <a:ea typeface="Arial"/>
                <a:cs typeface="Arial"/>
                <a:sym typeface="Arial"/>
              </a:rPr>
              <a:t>La idea no es simplemente borrar los datos faltantes para que el dataset “se vea limpio”, sino </a:t>
            </a:r>
            <a:r>
              <a:rPr b="1" lang="en-US" sz="1200">
                <a:solidFill>
                  <a:schemeClr val="dk1"/>
                </a:solidFill>
                <a:latin typeface="Arial"/>
                <a:ea typeface="Arial"/>
                <a:cs typeface="Arial"/>
                <a:sym typeface="Arial"/>
              </a:rPr>
              <a:t>identificar el problema y decidir cómo tratarlo</a:t>
            </a: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1) No afirmar que BuildingArea, YearBuilt y CouncilArea suman 100% de campos vacíos como motivo para eliminarlas. Son variables con faltantes importantes, pero no completamente vacías.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2) En la celda de correlaciones, el código revisa si existe “Price”, pero tras renombrar la columna se llama “Precio”. Si no se corrige, no se imprime la tabla específica de correlaciones con el target.</a:t>
            </a:r>
            <a:endParaRPr/>
          </a:p>
          <a:p>
            <a:pPr indent="0" lvl="0" marL="0" marR="0" rtl="0" algn="l">
              <a:lnSpc>
                <a:spcPct val="100000"/>
              </a:lnSpc>
              <a:spcBef>
                <a:spcPts val="0"/>
              </a:spcBef>
              <a:spcAft>
                <a:spcPts val="0"/>
              </a:spcAft>
              <a:buSzPts val="1100"/>
              <a:buNone/>
            </a:pPr>
            <a:r>
              <a:rPr b="1" lang="en-US" sz="1200" u="sng">
                <a:solidFill>
                  <a:schemeClr val="dk1"/>
                </a:solidFill>
                <a:latin typeface="Arial"/>
                <a:ea typeface="Arial"/>
                <a:cs typeface="Arial"/>
                <a:sym typeface="Arial"/>
              </a:rPr>
              <a:t>“Antes de extraer las correlaciones con la variable objetivo, el código valida que Price esté efectivamente disponible dentro de las variables numéricas. Esto evita errores de ejecución y asegura que el análisis se realice solo cuando la variable objetivo está correctamente reconocida.”</a:t>
            </a:r>
            <a:endParaRPr/>
          </a:p>
          <a:p>
            <a:pPr indent="0" lvl="0" marL="0" marR="0" rtl="0" algn="l">
              <a:lnSpc>
                <a:spcPct val="100000"/>
              </a:lnSpc>
              <a:spcBef>
                <a:spcPts val="0"/>
              </a:spcBef>
              <a:spcAft>
                <a:spcPts val="0"/>
              </a:spcAft>
              <a:buSzPts val="1100"/>
              <a:buNone/>
            </a:pPr>
            <a:r>
              <a:t/>
            </a:r>
            <a:endParaRPr b="1" sz="1200" u="sng">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u="sng">
                <a:solidFill>
                  <a:schemeClr val="dk1"/>
                </a:solidFill>
                <a:latin typeface="Arial"/>
                <a:ea typeface="Arial"/>
                <a:cs typeface="Arial"/>
                <a:sym typeface="Arial"/>
              </a:rPr>
              <a:t>Ejemplos: </a:t>
            </a:r>
            <a:r>
              <a:rPr lang="en-US" sz="1200">
                <a:solidFill>
                  <a:schemeClr val="dk1"/>
                </a:solidFill>
                <a:latin typeface="Arial"/>
                <a:ea typeface="Arial"/>
                <a:cs typeface="Arial"/>
                <a:sym typeface="Arial"/>
              </a:rPr>
              <a:t>qué porcentaje de datos faltantes (NaN) </a:t>
            </a:r>
            <a:endParaRPr/>
          </a:p>
          <a:p>
            <a:pPr indent="0" lvl="0" marL="0" marR="0" rtl="0" algn="l">
              <a:lnSpc>
                <a:spcPct val="100000"/>
              </a:lnSpc>
              <a:spcBef>
                <a:spcPts val="0"/>
              </a:spcBef>
              <a:spcAft>
                <a:spcPts val="0"/>
              </a:spcAft>
              <a:buSzPts val="1100"/>
              <a:buNone/>
            </a:pPr>
            <a:r>
              <a:t/>
            </a:r>
            <a:endParaRPr b="1" sz="1200" u="sng">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BuildingArea — 47,5% faltante:</a:t>
            </a:r>
            <a:r>
              <a:rPr lang="en-US" sz="1200">
                <a:solidFill>
                  <a:schemeClr val="dk1"/>
                </a:solidFill>
                <a:latin typeface="Arial"/>
                <a:ea typeface="Arial"/>
                <a:cs typeface="Arial"/>
                <a:sym typeface="Arial"/>
              </a:rPr>
              <a:t> casi </a:t>
            </a:r>
            <a:r>
              <a:rPr b="1" lang="en-US" sz="1200">
                <a:solidFill>
                  <a:schemeClr val="dk1"/>
                </a:solidFill>
                <a:latin typeface="Arial"/>
                <a:ea typeface="Arial"/>
                <a:cs typeface="Arial"/>
                <a:sym typeface="Arial"/>
              </a:rPr>
              <a:t>1 de cada 2 propiedades</a:t>
            </a:r>
            <a:r>
              <a:rPr lang="en-US" sz="1200">
                <a:solidFill>
                  <a:schemeClr val="dk1"/>
                </a:solidFill>
                <a:latin typeface="Arial"/>
                <a:ea typeface="Arial"/>
                <a:cs typeface="Arial"/>
                <a:sym typeface="Arial"/>
              </a:rPr>
              <a:t> no tiene registrado el tamaño construido. Es un nivel muy alto de ausencia y requiere especial cuidado.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YearBuilt — 39,6% faltante:</a:t>
            </a:r>
            <a:r>
              <a:rPr lang="en-US" sz="1200">
                <a:solidFill>
                  <a:schemeClr val="dk1"/>
                </a:solidFill>
                <a:latin typeface="Arial"/>
                <a:ea typeface="Arial"/>
                <a:cs typeface="Arial"/>
                <a:sym typeface="Arial"/>
              </a:rPr>
              <a:t> aproximadamente </a:t>
            </a:r>
            <a:r>
              <a:rPr b="1" lang="en-US" sz="1200">
                <a:solidFill>
                  <a:schemeClr val="dk1"/>
                </a:solidFill>
                <a:latin typeface="Arial"/>
                <a:ea typeface="Arial"/>
                <a:cs typeface="Arial"/>
                <a:sym typeface="Arial"/>
              </a:rPr>
              <a:t>4 de cada 10 propiedades</a:t>
            </a:r>
            <a:r>
              <a:rPr lang="en-US" sz="1200">
                <a:solidFill>
                  <a:schemeClr val="dk1"/>
                </a:solidFill>
                <a:latin typeface="Arial"/>
                <a:ea typeface="Arial"/>
                <a:cs typeface="Arial"/>
                <a:sym typeface="Arial"/>
              </a:rPr>
              <a:t> no tienen año de construcción informado. También es un nivel alto.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CouncilArea — 10,1% faltante:</a:t>
            </a:r>
            <a:r>
              <a:rPr lang="en-US" sz="1200">
                <a:solidFill>
                  <a:schemeClr val="dk1"/>
                </a:solidFill>
                <a:latin typeface="Arial"/>
                <a:ea typeface="Arial"/>
                <a:cs typeface="Arial"/>
                <a:sym typeface="Arial"/>
              </a:rPr>
              <a:t> alrededor de </a:t>
            </a:r>
            <a:r>
              <a:rPr b="1" lang="en-US" sz="1200">
                <a:solidFill>
                  <a:schemeClr val="dk1"/>
                </a:solidFill>
                <a:latin typeface="Arial"/>
                <a:ea typeface="Arial"/>
                <a:cs typeface="Arial"/>
                <a:sym typeface="Arial"/>
              </a:rPr>
              <a:t>1 de cada 10 registros</a:t>
            </a:r>
            <a:r>
              <a:rPr lang="en-US" sz="1200">
                <a:solidFill>
                  <a:schemeClr val="dk1"/>
                </a:solidFill>
                <a:latin typeface="Arial"/>
                <a:ea typeface="Arial"/>
                <a:cs typeface="Arial"/>
                <a:sym typeface="Arial"/>
              </a:rPr>
              <a:t> no tiene identificada la zona de gobierno local. Es un problema bastante menor que los anteriores, pero debe tratarse.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Car — 0,5% faltante:</a:t>
            </a:r>
            <a:r>
              <a:rPr lang="en-US" sz="1200">
                <a:solidFill>
                  <a:schemeClr val="dk1"/>
                </a:solidFill>
                <a:latin typeface="Arial"/>
                <a:ea typeface="Arial"/>
                <a:cs typeface="Arial"/>
                <a:sym typeface="Arial"/>
              </a:rPr>
              <a:t> prácticamente todos los registros tienen información sobre estacionamientos. Es una ausencia muy baja.</a:t>
            </a:r>
            <a:endParaRPr b="1" sz="1200" u="sng">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[Zeros Sospechosos]: </a:t>
            </a:r>
            <a:r>
              <a:rPr b="0" lang="en-US" sz="1200">
                <a:solidFill>
                  <a:schemeClr val="dk1"/>
                </a:solidFill>
                <a:latin typeface="Arial"/>
                <a:ea typeface="Arial"/>
                <a:cs typeface="Arial"/>
                <a:sym typeface="Arial"/>
              </a:rPr>
              <a:t>“Detectamos con Python valores iguales a cero en variables donde el cero podría representar una situación real o un problema de registro. No los eliminamos automáticamente; primero debemos validar su significado.”</a:t>
            </a:r>
            <a:br>
              <a:rPr lang="en-US" sz="1200">
                <a:solidFill>
                  <a:schemeClr val="dk1"/>
                </a:solidFill>
                <a:latin typeface="Arial"/>
                <a:ea typeface="Arial"/>
                <a:cs typeface="Arial"/>
                <a:sym typeface="Arial"/>
              </a:rPr>
            </a:br>
            <a:endParaRPr/>
          </a:p>
          <a:p>
            <a:pPr indent="0" lvl="0" marL="0" marR="0" rtl="0" algn="l">
              <a:lnSpc>
                <a:spcPct val="100000"/>
              </a:lnSpc>
              <a:spcBef>
                <a:spcPts val="0"/>
              </a:spcBef>
              <a:spcAft>
                <a:spcPts val="0"/>
              </a:spcAft>
              <a:buClr>
                <a:srgbClr val="F8FAFC"/>
              </a:buClr>
              <a:buSzPts val="1200"/>
              <a:buFont typeface="Arial"/>
              <a:buNone/>
            </a:pPr>
            <a:r>
              <a:rPr b="1" lang="en-US" sz="1200">
                <a:solidFill>
                  <a:srgbClr val="F8FAFC"/>
                </a:solidFill>
                <a:latin typeface="Arial"/>
                <a:ea typeface="Arial"/>
                <a:cs typeface="Arial"/>
                <a:sym typeface="Arial"/>
              </a:rPr>
              <a:t>Decisión técnica: imputación trazable + transformación log(Price) + revisión de outliers, sin borrado silencioso: </a:t>
            </a:r>
            <a:r>
              <a:rPr lang="en-US" sz="1200">
                <a:solidFill>
                  <a:schemeClr val="dk1"/>
                </a:solidFill>
                <a:latin typeface="Arial"/>
                <a:ea typeface="Arial"/>
                <a:cs typeface="Arial"/>
                <a:sym typeface="Arial"/>
              </a:rPr>
              <a:t>“Vamos a tratar los datos faltantes con reglas explícitas, reducir el impacto de precios extremos mediante log(Price): Logaritmo de precios, para reducir el efecto de propiedades extremadamente caras y revisar los outliers antes de decidir qué hacer con ellos. No eliminaremos datos automáticamente sin entender y documentar la razón.”</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27" name="Google Shape;12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KEYDEN URBINA: </a:t>
            </a:r>
            <a:endParaRPr/>
          </a:p>
          <a:p>
            <a:pPr indent="0" lvl="0" marL="0" marR="0" rtl="0" algn="l">
              <a:lnSpc>
                <a:spcPct val="100000"/>
              </a:lnSpc>
              <a:spcBef>
                <a:spcPts val="0"/>
              </a:spcBef>
              <a:spcAft>
                <a:spcPts val="0"/>
              </a:spcAft>
              <a:buSzPts val="1100"/>
              <a:buNone/>
            </a:pPr>
            <a:r>
              <a:t/>
            </a:r>
            <a:endParaRPr b="1"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Esta lámina cubre Análisis exploratorio.</a:t>
            </a:r>
            <a:br>
              <a:rPr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Mensajes clave: </a:t>
            </a:r>
            <a:r>
              <a:rPr lang="en-US" sz="1200">
                <a:solidFill>
                  <a:schemeClr val="dk1"/>
                </a:solidFill>
                <a:latin typeface="Arial"/>
                <a:ea typeface="Arial"/>
                <a:cs typeface="Arial"/>
                <a:sym typeface="Arial"/>
              </a:rPr>
              <a:t>el precio tiene señal estructural (habitaciones, baños, tipo de propiedad), una señal espacial menos intensa (distancia) y alta redundancia entre Rooms y Bedroom2.</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u="sng">
                <a:solidFill>
                  <a:schemeClr val="dk1"/>
                </a:solidFill>
                <a:latin typeface="Arial"/>
                <a:ea typeface="Arial"/>
                <a:cs typeface="Arial"/>
                <a:sym typeface="Arial"/>
              </a:rPr>
              <a:t>Explicación del Título: </a:t>
            </a:r>
            <a:r>
              <a:rPr lang="en-US" sz="1200">
                <a:solidFill>
                  <a:schemeClr val="dk1"/>
                </a:solidFill>
                <a:latin typeface="Arial"/>
                <a:ea typeface="Arial"/>
                <a:cs typeface="Arial"/>
                <a:sym typeface="Arial"/>
              </a:rPr>
              <a:t>“Cuando decimos que los predictores ‘hablan’, nos referimos a que el análisis exploratorio evidencia patrones y asociaciones entre las características de las propiedades y el precio. Esto justifica avanzar hacia un modelo predictivo, aunque todavía no implica causalidad ni garantiza capacidad predictiva fuera de muestra.”</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Gráfico de Línea: </a:t>
            </a:r>
            <a:r>
              <a:rPr lang="en-US" sz="1200">
                <a:solidFill>
                  <a:schemeClr val="dk1"/>
                </a:solidFill>
                <a:latin typeface="Arial"/>
                <a:ea typeface="Arial"/>
                <a:cs typeface="Arial"/>
                <a:sym typeface="Arial"/>
              </a:rPr>
              <a:t>“El EDA muestra una señal estructural clara: hasta aproximadamente seis habitaciones, el precio mediano aumenta junto con el número de habitaciones. Sin embargo, a partir de ese punto la relación deja de ser monotónica. Esto sugiere que Rooms es un predictor relevante, pero su efecto sobre el precio probablemente no es lineal y debe analizarse conjuntamente con otras características de la propiedad.”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Grafico Barra: </a:t>
            </a:r>
            <a:r>
              <a:rPr lang="en-US" sz="1200">
                <a:solidFill>
                  <a:schemeClr val="dk1"/>
                </a:solidFill>
                <a:latin typeface="Arial"/>
                <a:ea typeface="Arial"/>
                <a:cs typeface="Arial"/>
                <a:sym typeface="Arial"/>
              </a:rPr>
              <a:t>“En el análisis exploratorio observamos que el precio cambia claramente según el tipo de propiedad. Las casas presentan los valores más altos, seguidas por las casas pareadas y luego los dúplex. Esto sugiere que Type contiene señal predictiva y debería ser considerada dentro del modelo.”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¿qué conclusión de modelamiento obtienen de esto?: “Que Type es una variable categórica relevante y que deberá codificarse adecuadamente para incorporarla al modelo, por ejemplo mediante variables dummy u one-hot encoding.”</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Gráfico de Correlaciones: </a:t>
            </a:r>
            <a:r>
              <a:rPr lang="en-US" sz="1200">
                <a:solidFill>
                  <a:schemeClr val="dk1"/>
                </a:solidFill>
                <a:latin typeface="Arial"/>
                <a:ea typeface="Arial"/>
                <a:cs typeface="Arial"/>
                <a:sym typeface="Arial"/>
              </a:rPr>
              <a:t>“Las correlaciones muestran que las características estructurales de la propiedad presentan la mayor asociación lineal con el precio. Rooms, Bedroom2 y Bathroom alcanzan correlaciones cercanas a 0,5, mientras que Distance presenta una asociación negativa débil. Esto sugiere que existe señal predictiva, pero ninguna variable por sí sola explica completamente el precio.”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0,497 — corr. Rooms–Price: </a:t>
            </a:r>
            <a:r>
              <a:rPr lang="en-US" sz="1200">
                <a:solidFill>
                  <a:schemeClr val="dk1"/>
                </a:solidFill>
                <a:latin typeface="Arial"/>
                <a:ea typeface="Arial"/>
                <a:cs typeface="Arial"/>
                <a:sym typeface="Arial"/>
              </a:rPr>
              <a:t>Rooms muestra una relación positiva relevante con el precio, por lo que aparece como un predictor estructural con señal útil.</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0,944 — Rooms–Bedroom2: </a:t>
            </a:r>
            <a:r>
              <a:rPr lang="en-US" sz="1200">
                <a:solidFill>
                  <a:schemeClr val="dk1"/>
                </a:solidFill>
                <a:latin typeface="Arial"/>
                <a:ea typeface="Arial"/>
                <a:cs typeface="Arial"/>
                <a:sym typeface="Arial"/>
              </a:rPr>
              <a:t>redundancia: Rooms y Bedroom2 tienen una correlación de 0,944, lo que evidencia una fuerte redundancia. Antes de modelar, se debería evaluar si conviene mantener ambas variables o seleccionar una.</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-0,163 — Distance–Price: </a:t>
            </a:r>
            <a:r>
              <a:rPr lang="en-US" sz="1200">
                <a:solidFill>
                  <a:schemeClr val="dk1"/>
                </a:solidFill>
                <a:latin typeface="Arial"/>
                <a:ea typeface="Arial"/>
                <a:cs typeface="Arial"/>
                <a:sym typeface="Arial"/>
              </a:rPr>
              <a:t>señal débil: “Distance presenta una correlación negativa de -0,163 con Price. La dirección es coherente con que propiedades más alejadas tiendan a valer menos, pero la intensidad de la relación lineal es baja.”</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1,08M — mediana casas: </a:t>
            </a:r>
            <a:r>
              <a:rPr lang="en-US" sz="1200">
                <a:solidFill>
                  <a:schemeClr val="dk1"/>
                </a:solidFill>
                <a:latin typeface="Arial"/>
                <a:ea typeface="Arial"/>
                <a:cs typeface="Arial"/>
                <a:sym typeface="Arial"/>
              </a:rPr>
              <a:t>“Además de las variables numéricas, las variables categóricas también muestran señal. Las casas presentan una mediana de precio cercana a 1,08 millones, diferenciándose de otros tipos de propiedad.”</a:t>
            </a:r>
            <a:endParaRPr/>
          </a:p>
          <a:p>
            <a:pPr indent="0" lvl="0" marL="0" marR="0" rtl="0" algn="l">
              <a:lnSpc>
                <a:spcPct val="100000"/>
              </a:lnSpc>
              <a:spcBef>
                <a:spcPts val="0"/>
              </a:spcBef>
              <a:spcAft>
                <a:spcPts val="0"/>
              </a:spcAft>
              <a:buSzPts val="1100"/>
              <a:buNone/>
            </a:pP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Los outliers en habitaciones altas muestran que la relación no es perfectamente lineal. Esto justifica modelos capaces de captar no linealidad o interacción, además de transformar Price.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 diferencia por tipo es muy comunicable: casas mediana 1,08M; dúplex 560k. Esta brecha es potente para la audiencia porque conecta EDA con negocio inmobiliario.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lang="en-US" sz="1200">
                <a:solidFill>
                  <a:schemeClr val="dk1"/>
                </a:solidFill>
                <a:latin typeface="Arial"/>
                <a:ea typeface="Arial"/>
                <a:cs typeface="Arial"/>
                <a:sym typeface="Arial"/>
              </a:rPr>
              <a:t>Frase Cierre Lámina: </a:t>
            </a:r>
            <a:r>
              <a:rPr lang="en-US" sz="1200">
                <a:solidFill>
                  <a:schemeClr val="dk1"/>
                </a:solidFill>
                <a:latin typeface="Arial"/>
                <a:ea typeface="Arial"/>
                <a:cs typeface="Arial"/>
                <a:sym typeface="Arial"/>
              </a:rPr>
              <a:t>“Nuestra hipótesis no se construye solo desde una intuición inmobiliaria. Surge del EDA: encontramos señal en variables estructurales, diferencias según tipo de propiedad, una relación más débil con distancia y además detectamos redundancia entre algunos predictores.”</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51" name="Google Shape;15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200" u="sng" cap="none" strike="noStrike">
                <a:solidFill>
                  <a:schemeClr val="dk1"/>
                </a:solidFill>
                <a:latin typeface="Arial"/>
                <a:ea typeface="Arial"/>
                <a:cs typeface="Arial"/>
                <a:sym typeface="Arial"/>
              </a:rPr>
              <a:t>KEYDEN URBINA: </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Esta lámina permite responder preguntas críticas del profesor: </a:t>
            </a:r>
            <a:r>
              <a:rPr b="1" lang="en-US" sz="1200">
                <a:solidFill>
                  <a:schemeClr val="dk1"/>
                </a:solidFill>
                <a:latin typeface="Arial"/>
                <a:ea typeface="Arial"/>
                <a:cs typeface="Arial"/>
                <a:sym typeface="Arial"/>
              </a:rPr>
              <a:t>“¿Por qué no dividir aleatoriamente?”</a:t>
            </a:r>
            <a:endParaRPr/>
          </a:p>
          <a:p>
            <a:pPr indent="0" lvl="0" marL="0" marR="0" rtl="0" algn="l">
              <a:lnSpc>
                <a:spcPct val="100000"/>
              </a:lnSpc>
              <a:spcBef>
                <a:spcPts val="0"/>
              </a:spcBef>
              <a:spcAft>
                <a:spcPts val="0"/>
              </a:spcAft>
              <a:buSzPts val="1100"/>
              <a:buNone/>
            </a:pPr>
            <a:br>
              <a:rPr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La respuesta: </a:t>
            </a:r>
            <a:r>
              <a:rPr lang="en-US" sz="1200">
                <a:solidFill>
                  <a:schemeClr val="dk1"/>
                </a:solidFill>
                <a:latin typeface="Arial"/>
                <a:ea typeface="Arial"/>
                <a:cs typeface="Arial"/>
                <a:sym typeface="Arial"/>
              </a:rPr>
              <a:t>porque el objetivo del proyecto es entrenar con 2016 y evaluar en 2017. Un random split mezclaría información temporal y sobrestimaría desempeño.</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target parece estable: mediana 900.000 en 2016 y 910.000 en 2017. Pero las covariables no son estables: barrios distintos aumentan de 142 a 313 y 172 barrios de 2017 no aparecen en 2016.</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u="sng">
                <a:solidFill>
                  <a:schemeClr val="dk1"/>
                </a:solidFill>
                <a:latin typeface="Arial"/>
                <a:ea typeface="Arial"/>
                <a:cs typeface="Arial"/>
                <a:sym typeface="Arial"/>
              </a:rPr>
              <a:t>Gráfico de Barra:</a:t>
            </a:r>
            <a:endParaRPr sz="1200" u="sng">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Registros = 1,14×:</a:t>
            </a:r>
            <a:r>
              <a:rPr lang="en-US" sz="1200">
                <a:solidFill>
                  <a:schemeClr val="dk1"/>
                </a:solidFill>
                <a:latin typeface="Arial"/>
                <a:ea typeface="Arial"/>
                <a:cs typeface="Arial"/>
                <a:sym typeface="Arial"/>
              </a:rPr>
              <a:t> en 2017 hay aproximadamente </a:t>
            </a:r>
            <a:r>
              <a:rPr b="1" lang="en-US" sz="1200">
                <a:solidFill>
                  <a:schemeClr val="dk1"/>
                </a:solidFill>
                <a:latin typeface="Arial"/>
                <a:ea typeface="Arial"/>
                <a:cs typeface="Arial"/>
                <a:sym typeface="Arial"/>
              </a:rPr>
              <a:t>14% más registros</a:t>
            </a:r>
            <a:r>
              <a:rPr lang="en-US" sz="1200">
                <a:solidFill>
                  <a:schemeClr val="dk1"/>
                </a:solidFill>
                <a:latin typeface="Arial"/>
                <a:ea typeface="Arial"/>
                <a:cs typeface="Arial"/>
                <a:sym typeface="Arial"/>
              </a:rPr>
              <a:t> que en 2016.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Mediana precio = 1,01×:</a:t>
            </a:r>
            <a:r>
              <a:rPr lang="en-US" sz="1200">
                <a:solidFill>
                  <a:schemeClr val="dk1"/>
                </a:solidFill>
                <a:latin typeface="Arial"/>
                <a:ea typeface="Arial"/>
                <a:cs typeface="Arial"/>
                <a:sym typeface="Arial"/>
              </a:rPr>
              <a:t> el precio mediano de 2017 es prácticamente igual al de 2016, solo alrededor de </a:t>
            </a:r>
            <a:r>
              <a:rPr b="1" lang="en-US" sz="1200">
                <a:solidFill>
                  <a:schemeClr val="dk1"/>
                </a:solidFill>
                <a:latin typeface="Arial"/>
                <a:ea typeface="Arial"/>
                <a:cs typeface="Arial"/>
                <a:sym typeface="Arial"/>
              </a:rPr>
              <a:t>1% mayor</a:t>
            </a:r>
            <a:r>
              <a:rPr lang="en-US" sz="1200">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Mediana distancia = 1,19×:</a:t>
            </a:r>
            <a:r>
              <a:rPr lang="en-US" sz="1200">
                <a:solidFill>
                  <a:schemeClr val="dk1"/>
                </a:solidFill>
                <a:latin typeface="Arial"/>
                <a:ea typeface="Arial"/>
                <a:cs typeface="Arial"/>
                <a:sym typeface="Arial"/>
              </a:rPr>
              <a:t> las propiedades de 2017 están, en términos de mediana, aproximadamente </a:t>
            </a:r>
            <a:r>
              <a:rPr b="1" lang="en-US" sz="1200">
                <a:solidFill>
                  <a:schemeClr val="dk1"/>
                </a:solidFill>
                <a:latin typeface="Arial"/>
                <a:ea typeface="Arial"/>
                <a:cs typeface="Arial"/>
                <a:sym typeface="Arial"/>
              </a:rPr>
              <a:t>19% más alejadas del centro</a:t>
            </a:r>
            <a:r>
              <a:rPr lang="en-US" sz="1200">
                <a:solidFill>
                  <a:schemeClr val="dk1"/>
                </a:solidFill>
                <a:latin typeface="Arial"/>
                <a:ea typeface="Arial"/>
                <a:cs typeface="Arial"/>
                <a:sym typeface="Arial"/>
              </a:rPr>
              <a:t> que las de 2016. Este sí es un indicio relevante de que cambia la distribución de una variable predictora. </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Barrios = 2,20×:</a:t>
            </a:r>
            <a:r>
              <a:rPr lang="en-US" sz="1200">
                <a:solidFill>
                  <a:schemeClr val="dk1"/>
                </a:solidFill>
                <a:latin typeface="Arial"/>
                <a:ea typeface="Arial"/>
                <a:cs typeface="Arial"/>
                <a:sym typeface="Arial"/>
              </a:rPr>
              <a:t> en 2017 aparecen aproximadamente </a:t>
            </a:r>
            <a:r>
              <a:rPr b="1" lang="en-US" sz="1200">
                <a:solidFill>
                  <a:schemeClr val="dk1"/>
                </a:solidFill>
                <a:latin typeface="Arial"/>
                <a:ea typeface="Arial"/>
                <a:cs typeface="Arial"/>
                <a:sym typeface="Arial"/>
              </a:rPr>
              <a:t>2,2 veces tantos barrios representados</a:t>
            </a:r>
            <a:r>
              <a:rPr lang="en-US" sz="1200">
                <a:solidFill>
                  <a:schemeClr val="dk1"/>
                </a:solidFill>
                <a:latin typeface="Arial"/>
                <a:ea typeface="Arial"/>
                <a:cs typeface="Arial"/>
                <a:sym typeface="Arial"/>
              </a:rPr>
              <a:t> como en 2016. Es el cambio más fuerte del gráfico y significa que el modelo deberá enfrentarse a una cobertura geográfica bastante distinta.</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1" lang="en-US" sz="1200" u="sng">
                <a:solidFill>
                  <a:schemeClr val="dk1"/>
                </a:solidFill>
                <a:latin typeface="Arial"/>
                <a:ea typeface="Arial"/>
                <a:cs typeface="Arial"/>
                <a:sym typeface="Arial"/>
              </a:rPr>
              <a:t>KPI:</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+1,1% — mediana de precio: 900k → 910k: </a:t>
            </a:r>
            <a:r>
              <a:rPr lang="en-US" sz="1200">
                <a:solidFill>
                  <a:schemeClr val="dk1"/>
                </a:solidFill>
                <a:latin typeface="Arial"/>
                <a:ea typeface="Arial"/>
                <a:cs typeface="Arial"/>
                <a:sym typeface="Arial"/>
              </a:rPr>
              <a:t>“La mediana de precio sube levemente, de 900 mil a 910 mil dólares, lo que indica que el nivel central de precios cambia poco entre 2016 y 2017.”</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172 — barrios nuevos en 2017: </a:t>
            </a:r>
            <a:r>
              <a:rPr lang="en-US" sz="1200">
                <a:solidFill>
                  <a:schemeClr val="dk1"/>
                </a:solidFill>
                <a:latin typeface="Arial"/>
                <a:ea typeface="Arial"/>
                <a:cs typeface="Arial"/>
                <a:sym typeface="Arial"/>
              </a:rPr>
              <a:t>“En 2017 aparecen 172 barrios no observados en 2016. Esto representa un desafío de generalización, porque algunas categorías geográficas serán completamente nuevas para el modelo.”</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+7,1 pp — más casas en 2017: </a:t>
            </a:r>
            <a:r>
              <a:rPr lang="en-US" sz="1200">
                <a:solidFill>
                  <a:schemeClr val="dk1"/>
                </a:solidFill>
                <a:latin typeface="Arial"/>
                <a:ea typeface="Arial"/>
                <a:cs typeface="Arial"/>
                <a:sym typeface="Arial"/>
              </a:rPr>
              <a:t>“En 2017 aumenta en 7,1 puntos porcentuales la proporción de casas. Por lo tanto, el conjunto de evaluación no tiene exactamente la misma composición que el conjunto de entrenamiento.”</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10,5 km — distancia mediana 2017:  </a:t>
            </a:r>
            <a:r>
              <a:rPr lang="en-US" sz="1200">
                <a:solidFill>
                  <a:schemeClr val="dk1"/>
                </a:solidFill>
                <a:latin typeface="Arial"/>
                <a:ea typeface="Arial"/>
                <a:cs typeface="Arial"/>
                <a:sym typeface="Arial"/>
              </a:rPr>
              <a:t>“La propiedad típica de 2017, medida por la mediana, está a unos 10,5 kilómetros del centro. Esto nos permite evaluar si también hubo cambios en la distribución geográfica entre entrenamiento y evaluación.”</a:t>
            </a:r>
            <a:br>
              <a:rPr lang="en-US" sz="1200">
                <a:solidFill>
                  <a:schemeClr val="dk1"/>
                </a:solidFill>
                <a:latin typeface="Arial"/>
                <a:ea typeface="Arial"/>
                <a:cs typeface="Arial"/>
                <a:sym typeface="Arial"/>
              </a:rPr>
            </a:b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Frase Cierre: </a:t>
            </a:r>
            <a:r>
              <a:rPr lang="en-US" sz="1200">
                <a:solidFill>
                  <a:schemeClr val="dk1"/>
                </a:solidFill>
                <a:latin typeface="Arial"/>
                <a:ea typeface="Arial"/>
                <a:cs typeface="Arial"/>
                <a:sym typeface="Arial"/>
              </a:rPr>
              <a:t>“Como entrenamos con 2016 y evaluamos con 2017, debemos asumir que pueden aparecer distribuciones o categorías distintas. Por eso necesitamos una codificación robusta que permita al modelo enfrentarse a valores nuevos sin fallar y sin utilizar información de 2017 durante el entrenamiento.”</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“Parte de este cambio corresponde a covariate shift, particularmente en variables geográficas como distancia y cobertura de barrios.”</a:t>
            </a:r>
            <a:endParaRPr sz="1200">
              <a:solidFill>
                <a:schemeClr val="dk1"/>
              </a:solidFill>
              <a:latin typeface="Arial"/>
              <a:ea typeface="Arial"/>
              <a:cs typeface="Arial"/>
              <a:sym typeface="Arial"/>
            </a:endParaRPr>
          </a:p>
        </p:txBody>
      </p:sp>
      <p:sp>
        <p:nvSpPr>
          <p:cNvPr id="180" name="Google Shape;18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KEYDEN URBINA: </a:t>
            </a:r>
          </a:p>
          <a:p/>
          <a:p>
            <a:r>
              <a:t>Cierre de alto impacto: convertir el EDA en hipótesis operacional, no solo descriptiva.</a:t>
            </a:r>
          </a:p>
          <a:p/>
          <a:p>
            <a:r>
              <a:t>1. Split temporal — “fit solo 2016”: Significa que el modelo se entrena únicamente con las ventas de 2016. Los datos de 2017 no se usan para aprender, sino solo para evaluar qué tan bien generaliza el modelo.</a:t>
            </a:r>
          </a:p>
          <a:p>
            <a:r>
              <a:t>2. Pipeline — “imputación + encoding”: “Construimos un pipeline para que la limpieza y transformación de los datos se aprenda únicamente con 2016 y luego se aplique de la misma manera a 2017.”</a:t>
            </a:r>
          </a:p>
          <a:p>
            <a:r>
              <a:t>3. Target — log(Price): “Transformamos Price con logaritmo para reducir la influencia de propiedades excepcionalmente caras y facilitar que el modelo capture patrones relativos de precio.”</a:t>
            </a:r>
          </a:p>
          <a:p>
            <a:r>
              <a:t>4. Métricas — MAE, RMSE y MAPE: </a:t>
            </a:r>
          </a:p>
          <a:p>
            <a:r>
              <a:t>   MAE — Mean Absolute Error: Dice, en promedio, cuántos dólares se equivoca el modelo.</a:t>
            </a:r>
          </a:p>
          <a:p>
            <a:r>
              <a:t>   RMSE — Root Mean Squared Error: También mide error en dólares, pero penaliza mucho más los errores grandes.</a:t>
            </a:r>
          </a:p>
          <a:p>
            <a:r>
              <a:t>   MAPE — Mean Absolute Percentage Error: Expresa el error como porcentaje.</a:t>
            </a:r>
          </a:p>
          <a:p/>
          <a:p>
            <a:r>
              <a:t>Frase Cierre: “El EDA muestra que existe señal predictiva en los datos. Sin embargo, como 2017 presenta cambios respecto de 2016, el principal riesgo es el drift. Para medir si el modelo realmente generaliza, podríamos utilizar un holdout temporal (Método de retención ): entrenaremos exclusivamente con 2016 y evaluaremos sobre 2017.” [Drift: “El principal riesgo es el drift porque entrenamos con 2016, pero 2017 presenta una composición distinta. Por eso debemos comprobar si los patrones aprendidos siguen siendo válidos fuera del periodo de entrenamiento.”]</a:t>
            </a:r>
          </a:p>
          <a:p>
            <a:br/>
            <a:r>
              <a:t>1) ¿Por qué usar log(Price)? Porque Price es asimétrico y hay propiedades extremas; el log estabiliza varianza y reduce dominancia de outliers.</a:t>
            </a:r>
            <a:br/>
            <a:r>
              <a:t>2) ¿Qué hacer con barrios nuevos? Manejar unknown categories y no usar información 2017 para crear encodings supervisados.</a:t>
            </a:r>
            <a:br/>
            <a:r>
              <a:t>3) ¿Qué variables no usar? Address cruda puede sobreajustar; Date/Year deben tratarse con cuidado para no introducir leakage.</a:t>
            </a:r>
            <a:br/>
            <a:r>
              <a:t>4) ¿Qué métrica reportar? MAE es interpretable en dólares; RMSE penaliza errores grandes; MAPE es útil pero sensible a precios bajos.</a:t>
            </a:r>
          </a:p>
          <a:p/>
          <a:p>
            <a:r>
              <a:t>[HITO 2 — CONTINÚA EN LÁMINAS 9–14]</a:t>
            </a:r>
          </a:p>
          <a:p>
            <a:r>
              <a:t>Tras esta hipótesis, no improvisar un modelo. Pasar al puente: test 2016→2017, tabla de modelos, RF como resultado, quiebre geográfico y cola de precio, conclusión.</a:t>
            </a:r>
          </a:p>
        </p:txBody>
      </p:sp>
      <p:sp>
        <p:nvSpPr>
          <p:cNvPr id="210" name="Google Shape;21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PUENTE</a:t>
            </a:r>
          </a:p>
          <a:p>
            <a:r>
              <a:t>Frase de arranque: «En el Hito 1 no entrenamos para cumplir. Formulamos si 2016 tiene señal para 2017. Ahora el test es fuera de tiempo: mediana contra Random Forest, mismas 7.244 filas.»</a:t>
            </a:r>
          </a:p>
          <a:p>
            <a:r>
              <a:t>Corrección si preguntan por la lámina 5: los nulos son BuildingArea, YearBuilt y CouncilArea. Latitud, longitud y distancia tienen 0 nulos; sí influyen y están en el modelo.</a:t>
            </a:r>
          </a:p>
          <a:p>
            <a:r>
              <a:t>No decir que el precio es estable solo por +1,1%: comparable 999k vs barrios nuevos 755k.</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MÉTODO</a:t>
            </a:r>
          </a:p>
          <a:p>
            <a:r>
              <a:t>Si preguntan leakage: ningún estadístico se calcula en 2017. El one-hot ignora categorías nuevas; no las inventa.</a:t>
            </a:r>
          </a:p>
          <a:p>
            <a:r>
              <a:t>Si preguntan por Postcode: 104 códigos nuevos (26,7% de 2017); mismo problema que Barrio. No entra al modelo.</a:t>
            </a:r>
          </a:p>
          <a:p>
            <a:r>
              <a:t>Si preguntan por log(Precio): no lo usamos en esta corrida; el error se reporta en dólares, que es la métrica de negocio.</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TABLA</a:t>
            </a:r>
          </a:p>
          <a:p>
            <a:r>
              <a:t>Cifras del notebook de modelamiento (misma corrida). No mezclar con comentarios viejos del .py (0,7158 / $212k).</a:t>
            </a:r>
          </a:p>
          <a:p>
            <a:r>
              <a:t>Frase si presionan por GB: «es el mejor score; no es el modelo del proyecto. Priorizamos generalización temporal, no el máximo R².»</a:t>
            </a:r>
          </a:p>
          <a:p>
            <a:r>
              <a:t>Baseline R² negativo: predecir la mediana de 2016 en 2017 explica menos que la media del propio 2017; el MAE sigue siendo la métrica de negocio.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RESULTADO CENTRAL</a:t>
            </a:r>
          </a:p>
          <a:p>
            <a:r>
              <a:t>Oral: «Rechazamos H₀ en el agregado. No prometemos el precio de una casa puntual: 219 mil de error medio sigue siendo material para un banco.»</a:t>
            </a:r>
          </a:p>
          <a:p>
            <a:r>
              <a:t>Si piden MAPE: no lo reportamos en esta corrida; el MAE en dólares es la métrica que anunciamos desde el Hito 1.</a:t>
            </a:r>
          </a:p>
          <a:p>
            <a:r>
              <a:t>Reducción MAE: (431.649 − 218.847) / 431.649 ≈ 49,3%. Redondeo oral: «cerca de la mitad del error de la mediana».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QUIEBRE</a:t>
            </a:r>
          </a:p>
          <a:p>
            <a:r>
              <a:t>No mostrar cifras de MAE por barrio nuevo si no las corrimos en el notebook. Sí podemos describir el riesgo con el anclaje (172 / 29,1% / 755k vs 999k).</a:t>
            </a:r>
          </a:p>
          <a:p>
            <a:r>
              <a:t>Pregunta probable: ¿por qué no imputar CouncilArea con lat/long? Respuesta: es un experimento; sin MAE contra 218.847 no es un resultado. El CSV original no se toca.</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HITO 2 — CIERRE</a:t>
            </a:r>
          </a:p>
          <a:p>
            <a:r>
              <a:t>Última frase: «No venimos a vender un precio único. Venimos a mostrar que 2016 contiene señal para 2017, cuánta, y dónde esa señal se corta.»</a:t>
            </a:r>
          </a:p>
          <a:p>
            <a:r>
              <a:t>Autores: C. Abrigo, C. Herrera, K. Urbina. Dataset 13.580 × 21. SHA-256 anclado. Semilla de modelos 42.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B1220"/>
        </a:solidFill>
      </p:bgPr>
    </p:bg>
    <p:spTree>
      <p:nvGrpSpPr>
        <p:cNvPr id="7" name="Shape 7"/>
        <p:cNvGrpSpPr/>
        <p:nvPr/>
      </p:nvGrpSpPr>
      <p:grpSpPr>
        <a:xfrm>
          <a:off x="0" y="0"/>
          <a:ext cx="0" cy="0"/>
          <a:chOff x="0" y="0"/>
          <a:chExt cx="0" cy="0"/>
        </a:xfrm>
      </p:grpSpPr>
      <p:cxnSp>
        <p:nvCxnSpPr>
          <p:cNvPr id="8" name="Google Shape;8;p10"/>
          <p:cNvCxnSpPr/>
          <p:nvPr/>
        </p:nvCxnSpPr>
        <p:spPr>
          <a:xfrm>
            <a:off x="411480" y="6492240"/>
            <a:ext cx="11384280" cy="0"/>
          </a:xfrm>
          <a:prstGeom prst="straightConnector1">
            <a:avLst/>
          </a:prstGeom>
          <a:noFill/>
          <a:ln cap="flat" cmpd="sng" w="10150">
            <a:solidFill>
              <a:srgbClr val="1E293B"/>
            </a:solidFill>
            <a:prstDash val="solid"/>
            <a:round/>
            <a:headEnd len="sm" w="sm" type="none"/>
            <a:tailEnd len="sm" w="sm" type="none"/>
          </a:ln>
        </p:spPr>
      </p:cxnSp>
      <p:sp>
        <p:nvSpPr>
          <p:cNvPr id="9" name="Google Shape;9;p10"/>
          <p:cNvSpPr/>
          <p:nvPr/>
        </p:nvSpPr>
        <p:spPr>
          <a:xfrm>
            <a:off x="548640" y="6565392"/>
            <a:ext cx="4572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750"/>
              <a:buFont typeface="Arial"/>
              <a:buNone/>
            </a:pPr>
            <a:r>
              <a:rPr b="0" i="0" lang="en-US" sz="750" u="none" cap="none" strike="noStrike">
                <a:solidFill>
                  <a:srgbClr val="94A3B8"/>
                </a:solidFill>
                <a:latin typeface="Arial"/>
                <a:ea typeface="Arial"/>
                <a:cs typeface="Arial"/>
                <a:sym typeface="Arial"/>
              </a:rPr>
              <a:t>Hito 1 · EDA · Melbourne 2016→2017</a:t>
            </a:r>
            <a:endParaRPr b="0" i="0" sz="750" u="none" cap="none" strike="noStrike">
              <a:solidFill>
                <a:schemeClr val="dk1"/>
              </a:solidFill>
              <a:latin typeface="Arial"/>
              <a:ea typeface="Arial"/>
              <a:cs typeface="Arial"/>
              <a:sym typeface="Arial"/>
            </a:endParaRPr>
          </a:p>
        </p:txBody>
      </p:sp>
      <p:sp>
        <p:nvSpPr>
          <p:cNvPr id="10" name="Google Shape;10;p10"/>
          <p:cNvSpPr txBox="1"/>
          <p:nvPr>
            <p:ph idx="12"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idx="12"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64748B"/>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6" name="Shape 16"/>
        <p:cNvGrpSpPr/>
        <p:nvPr/>
      </p:nvGrpSpPr>
      <p:grpSpPr>
        <a:xfrm>
          <a:off x="0" y="0"/>
          <a:ext cx="0" cy="0"/>
          <a:chOff x="0" y="0"/>
          <a:chExt cx="0" cy="0"/>
        </a:xfrm>
      </p:grpSpPr>
      <p:sp>
        <p:nvSpPr>
          <p:cNvPr id="17" name="Google Shape;17;p1"/>
          <p:cNvSpPr/>
          <p:nvPr/>
        </p:nvSpPr>
        <p:spPr>
          <a:xfrm>
            <a:off x="0" y="10896"/>
            <a:ext cx="12191700"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8" name="Google Shape;18;p1"/>
          <p:cNvGrpSpPr/>
          <p:nvPr/>
        </p:nvGrpSpPr>
        <p:grpSpPr>
          <a:xfrm>
            <a:off x="762000" y="762000"/>
            <a:ext cx="2667000" cy="324000"/>
            <a:chOff x="762000" y="762000"/>
            <a:chExt cx="2667000" cy="324000"/>
          </a:xfrm>
        </p:grpSpPr>
        <p:sp>
          <p:nvSpPr>
            <p:cNvPr id="19" name="Google Shape;19;p1"/>
            <p:cNvSpPr/>
            <p:nvPr/>
          </p:nvSpPr>
          <p:spPr>
            <a:xfrm>
              <a:off x="762000" y="762000"/>
              <a:ext cx="2667000" cy="324000"/>
            </a:xfrm>
            <a:prstGeom prst="roundRect">
              <a:avLst>
                <a:gd fmla="val 50000" name="adj"/>
              </a:avLst>
            </a:prstGeom>
            <a:solidFill>
              <a:srgbClr val="2DD4BF">
                <a:alpha val="10196"/>
              </a:srgbClr>
            </a:solidFill>
            <a:ln cap="flat" cmpd="sng" w="14300">
              <a:solidFill>
                <a:srgbClr val="2DD4B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txBox="1"/>
            <p:nvPr/>
          </p:nvSpPr>
          <p:spPr>
            <a:xfrm>
              <a:off x="762000" y="762000"/>
              <a:ext cx="2667000" cy="32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2DD4BF"/>
                  </a:solidFill>
                  <a:latin typeface="Arial"/>
                  <a:ea typeface="Arial"/>
                  <a:cs typeface="Arial"/>
                  <a:sym typeface="Arial"/>
                </a:rPr>
                <a:t>HITO 1: EDA + HIPÓTESIS</a:t>
              </a:r>
              <a:endParaRPr b="1" i="0" sz="900" u="none" cap="none" strike="noStrike">
                <a:solidFill>
                  <a:srgbClr val="2DD4BF"/>
                </a:solidFill>
                <a:latin typeface="Arial"/>
                <a:ea typeface="Arial"/>
                <a:cs typeface="Arial"/>
                <a:sym typeface="Arial"/>
              </a:endParaRPr>
            </a:p>
          </p:txBody>
        </p:sp>
      </p:grpSp>
      <p:sp>
        <p:nvSpPr>
          <p:cNvPr id="21" name="Google Shape;21;p1"/>
          <p:cNvSpPr txBox="1"/>
          <p:nvPr/>
        </p:nvSpPr>
        <p:spPr>
          <a:xfrm>
            <a:off x="762000" y="1428750"/>
            <a:ext cx="4381500" cy="190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lang="en-US" sz="1200">
                <a:solidFill>
                  <a:srgbClr val="2DD4BF"/>
                </a:solidFill>
              </a:rPr>
              <a:t>PROBLEMA</a:t>
            </a:r>
            <a:r>
              <a:rPr b="1" i="0" lang="en-US" sz="1200" u="none" cap="none" strike="noStrike">
                <a:solidFill>
                  <a:srgbClr val="2DD4BF"/>
                </a:solidFill>
                <a:latin typeface="Arial"/>
                <a:ea typeface="Arial"/>
                <a:cs typeface="Arial"/>
                <a:sym typeface="Arial"/>
              </a:rPr>
              <a:t> N°3</a:t>
            </a:r>
            <a:endParaRPr b="1" i="0" sz="1200" u="none" cap="none" strike="noStrike">
              <a:solidFill>
                <a:srgbClr val="2DD4BF"/>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3200"/>
              <a:buFont typeface="Arial"/>
              <a:buNone/>
            </a:pPr>
            <a:r>
              <a:rPr b="1" i="0" lang="en-US" sz="3200" u="none" cap="none" strike="noStrike">
                <a:solidFill>
                  <a:srgbClr val="F8FAFC"/>
                </a:solidFill>
                <a:latin typeface="Play"/>
                <a:ea typeface="Play"/>
                <a:cs typeface="Play"/>
                <a:sym typeface="Play"/>
              </a:rPr>
              <a:t>Predicción de valor de propiedades </a:t>
            </a:r>
            <a:r>
              <a:rPr b="1" lang="en-US" sz="3200">
                <a:solidFill>
                  <a:srgbClr val="F8FAFC"/>
                </a:solidFill>
                <a:latin typeface="Play"/>
                <a:ea typeface="Play"/>
                <a:cs typeface="Play"/>
                <a:sym typeface="Play"/>
              </a:rPr>
              <a:t>en Melbourne 2016-2017</a:t>
            </a:r>
            <a:endParaRPr b="1" i="0" sz="3200" u="none" cap="none" strike="noStrike">
              <a:solidFill>
                <a:srgbClr val="F8FAFC"/>
              </a:solidFill>
              <a:latin typeface="Play"/>
              <a:ea typeface="Play"/>
              <a:cs typeface="Play"/>
              <a:sym typeface="Play"/>
            </a:endParaRPr>
          </a:p>
        </p:txBody>
      </p:sp>
      <p:sp>
        <p:nvSpPr>
          <p:cNvPr id="22" name="Google Shape;22;p1"/>
          <p:cNvSpPr txBox="1"/>
          <p:nvPr/>
        </p:nvSpPr>
        <p:spPr>
          <a:xfrm>
            <a:off x="762000" y="3238500"/>
            <a:ext cx="43815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64748B"/>
                </a:solidFill>
                <a:latin typeface="Arial"/>
                <a:ea typeface="Arial"/>
                <a:cs typeface="Arial"/>
                <a:sym typeface="Arial"/>
              </a:rPr>
              <a:t>Entrenamiento: datos 2016 · Evaluación: datos 2017</a:t>
            </a:r>
            <a:endParaRPr b="0" i="0" sz="1100" u="none" cap="none" strike="noStrike">
              <a:solidFill>
                <a:srgbClr val="64748B"/>
              </a:solidFill>
              <a:latin typeface="Arial"/>
              <a:ea typeface="Arial"/>
              <a:cs typeface="Arial"/>
              <a:sym typeface="Arial"/>
            </a:endParaRPr>
          </a:p>
        </p:txBody>
      </p:sp>
      <p:sp>
        <p:nvSpPr>
          <p:cNvPr id="23" name="Google Shape;23;p1"/>
          <p:cNvSpPr txBox="1"/>
          <p:nvPr/>
        </p:nvSpPr>
        <p:spPr>
          <a:xfrm>
            <a:off x="762000" y="5238750"/>
            <a:ext cx="4381500" cy="76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475569"/>
                </a:solidFill>
                <a:latin typeface="Arial"/>
                <a:ea typeface="Arial"/>
                <a:cs typeface="Arial"/>
                <a:sym typeface="Arial"/>
              </a:rPr>
              <a:t>Autores</a:t>
            </a:r>
            <a:endParaRPr b="0" i="0" sz="1000" u="none" cap="none" strike="noStrike">
              <a:solidFill>
                <a:srgbClr val="475569"/>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300"/>
              <a:buFont typeface="Arial"/>
              <a:buNone/>
            </a:pPr>
            <a:r>
              <a:rPr b="1" i="0" lang="en-US" sz="1300" u="none" cap="none" strike="noStrike">
                <a:solidFill>
                  <a:srgbClr val="94A3B8"/>
                </a:solidFill>
                <a:latin typeface="Arial"/>
                <a:ea typeface="Arial"/>
                <a:cs typeface="Arial"/>
                <a:sym typeface="Arial"/>
              </a:rPr>
              <a:t>C. Abrigo · C. Herrera · K. Urbina</a:t>
            </a:r>
            <a:endParaRPr b="1" i="0" sz="1300" u="none" cap="none" strike="noStrike">
              <a:solidFill>
                <a:srgbClr val="94A3B8"/>
              </a:solidFill>
              <a:latin typeface="Arial"/>
              <a:ea typeface="Arial"/>
              <a:cs typeface="Arial"/>
              <a:sym typeface="Arial"/>
            </a:endParaRPr>
          </a:p>
        </p:txBody>
      </p:sp>
      <p:grpSp>
        <p:nvGrpSpPr>
          <p:cNvPr id="24" name="Google Shape;24;p1"/>
          <p:cNvGrpSpPr/>
          <p:nvPr/>
        </p:nvGrpSpPr>
        <p:grpSpPr>
          <a:xfrm>
            <a:off x="5895975" y="1419225"/>
            <a:ext cx="2495700" cy="3448200"/>
            <a:chOff x="5895975" y="1419225"/>
            <a:chExt cx="2495700" cy="3448200"/>
          </a:xfrm>
        </p:grpSpPr>
        <p:pic>
          <p:nvPicPr>
            <p:cNvPr id="25" name="Google Shape;25;p1"/>
            <p:cNvPicPr preferRelativeResize="0"/>
            <p:nvPr/>
          </p:nvPicPr>
          <p:blipFill rotWithShape="1">
            <a:blip r:embed="rId3">
              <a:alphaModFix/>
            </a:blip>
            <a:srcRect b="0" l="0" r="0" t="0"/>
            <a:stretch/>
          </p:blipFill>
          <p:spPr>
            <a:xfrm>
              <a:off x="5895975" y="1419225"/>
              <a:ext cx="2495700" cy="3448200"/>
            </a:xfrm>
            <a:prstGeom prst="rect">
              <a:avLst/>
            </a:prstGeom>
            <a:noFill/>
            <a:ln>
              <a:noFill/>
            </a:ln>
          </p:spPr>
        </p:pic>
        <p:sp>
          <p:nvSpPr>
            <p:cNvPr id="26" name="Google Shape;26;p1"/>
            <p:cNvSpPr txBox="1"/>
            <p:nvPr/>
          </p:nvSpPr>
          <p:spPr>
            <a:xfrm>
              <a:off x="6191250" y="1714500"/>
              <a:ext cx="1905000" cy="285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8BDF8"/>
                  </a:solidFill>
                  <a:latin typeface="Arial"/>
                  <a:ea typeface="Arial"/>
                  <a:cs typeface="Arial"/>
                  <a:sym typeface="Arial"/>
                </a:rPr>
                <a:t>Entrenamiento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25"/>
                </a:spcBef>
                <a:spcAft>
                  <a:spcPts val="0"/>
                </a:spcAft>
                <a:buClr>
                  <a:srgbClr val="000000"/>
                </a:buClr>
                <a:buSzPts val="4600"/>
                <a:buFont typeface="Arial"/>
                <a:buNone/>
              </a:pPr>
              <a:r>
                <a:rPr b="1" i="0" lang="en-US" sz="4600" u="none" cap="none" strike="noStrike">
                  <a:solidFill>
                    <a:srgbClr val="38BDF8"/>
                  </a:solidFill>
                  <a:latin typeface="Play"/>
                  <a:ea typeface="Play"/>
                  <a:cs typeface="Play"/>
                  <a:sym typeface="Play"/>
                </a:rPr>
                <a:t>2016</a:t>
              </a:r>
              <a:endParaRPr b="1" i="0" sz="4600" u="none" cap="none" strike="noStrike">
                <a:solidFill>
                  <a:srgbClr val="38BDF8"/>
                </a:solidFill>
                <a:latin typeface="Play"/>
                <a:ea typeface="Play"/>
                <a:cs typeface="Play"/>
                <a:sym typeface="Play"/>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2E8F0"/>
                  </a:solidFill>
                  <a:latin typeface="Arial"/>
                  <a:ea typeface="Arial"/>
                  <a:cs typeface="Arial"/>
                  <a:sym typeface="Arial"/>
                </a:rPr>
                <a:t>Modelar y entrenar patrones de comportamiento de mercado.</a:t>
              </a:r>
              <a:endParaRPr b="0" i="0" sz="1200" u="none" cap="none" strike="noStrike">
                <a:solidFill>
                  <a:srgbClr val="E2E8F0"/>
                </a:solidFill>
                <a:latin typeface="Arial"/>
                <a:ea typeface="Arial"/>
                <a:cs typeface="Arial"/>
                <a:sym typeface="Arial"/>
              </a:endParaRPr>
            </a:p>
          </p:txBody>
        </p:sp>
      </p:grpSp>
      <p:grpSp>
        <p:nvGrpSpPr>
          <p:cNvPr id="27" name="Google Shape;27;p1"/>
          <p:cNvGrpSpPr/>
          <p:nvPr/>
        </p:nvGrpSpPr>
        <p:grpSpPr>
          <a:xfrm>
            <a:off x="8382000" y="2933700"/>
            <a:ext cx="647700" cy="419100"/>
            <a:chOff x="8382000" y="2933700"/>
            <a:chExt cx="647700" cy="419100"/>
          </a:xfrm>
        </p:grpSpPr>
        <p:pic>
          <p:nvPicPr>
            <p:cNvPr id="28" name="Google Shape;28;p1"/>
            <p:cNvPicPr preferRelativeResize="0"/>
            <p:nvPr/>
          </p:nvPicPr>
          <p:blipFill rotWithShape="1">
            <a:blip r:embed="rId4">
              <a:alphaModFix/>
            </a:blip>
            <a:srcRect b="0" l="0" r="0" t="0"/>
            <a:stretch/>
          </p:blipFill>
          <p:spPr>
            <a:xfrm>
              <a:off x="8382000" y="3133725"/>
              <a:ext cx="647700" cy="19200"/>
            </a:xfrm>
            <a:prstGeom prst="rect">
              <a:avLst/>
            </a:prstGeom>
            <a:noFill/>
            <a:ln>
              <a:noFill/>
            </a:ln>
          </p:spPr>
        </p:pic>
        <p:sp>
          <p:nvSpPr>
            <p:cNvPr id="29" name="Google Shape;29;p1"/>
            <p:cNvSpPr/>
            <p:nvPr/>
          </p:nvSpPr>
          <p:spPr>
            <a:xfrm>
              <a:off x="8505825" y="2933700"/>
              <a:ext cx="419100" cy="419100"/>
            </a:xfrm>
            <a:prstGeom prst="ellipse">
              <a:avLst/>
            </a:prstGeom>
            <a:solidFill>
              <a:srgbClr val="2DD4BF">
                <a:alpha val="10196"/>
              </a:srgbClr>
            </a:solidFill>
            <a:ln cap="flat" cmpd="sng" w="14300">
              <a:solidFill>
                <a:srgbClr val="2DD4B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 name="Google Shape;30;p1"/>
            <p:cNvPicPr preferRelativeResize="0"/>
            <p:nvPr/>
          </p:nvPicPr>
          <p:blipFill rotWithShape="1">
            <a:blip r:embed="rId5">
              <a:alphaModFix/>
            </a:blip>
            <a:srcRect b="0" l="0" r="0" t="0"/>
            <a:stretch/>
          </p:blipFill>
          <p:spPr>
            <a:xfrm>
              <a:off x="8672513" y="3062288"/>
              <a:ext cx="95400" cy="162000"/>
            </a:xfrm>
            <a:prstGeom prst="rect">
              <a:avLst/>
            </a:prstGeom>
            <a:noFill/>
            <a:ln>
              <a:noFill/>
            </a:ln>
          </p:spPr>
        </p:pic>
      </p:grpSp>
      <p:grpSp>
        <p:nvGrpSpPr>
          <p:cNvPr id="31" name="Google Shape;31;p1"/>
          <p:cNvGrpSpPr/>
          <p:nvPr/>
        </p:nvGrpSpPr>
        <p:grpSpPr>
          <a:xfrm>
            <a:off x="9039015" y="1428750"/>
            <a:ext cx="1962384" cy="3429000"/>
            <a:chOff x="9039225" y="1428750"/>
            <a:chExt cx="2083874" cy="3429000"/>
          </a:xfrm>
        </p:grpSpPr>
        <p:pic>
          <p:nvPicPr>
            <p:cNvPr id="32" name="Google Shape;32;p1"/>
            <p:cNvPicPr preferRelativeResize="0"/>
            <p:nvPr/>
          </p:nvPicPr>
          <p:blipFill rotWithShape="1">
            <a:blip r:embed="rId6">
              <a:alphaModFix/>
            </a:blip>
            <a:srcRect b="0" l="0" r="0" t="0"/>
            <a:stretch/>
          </p:blipFill>
          <p:spPr>
            <a:xfrm>
              <a:off x="9039225" y="1428750"/>
              <a:ext cx="2083874" cy="3429000"/>
            </a:xfrm>
            <a:prstGeom prst="rect">
              <a:avLst/>
            </a:prstGeom>
            <a:noFill/>
            <a:ln>
              <a:noFill/>
            </a:ln>
          </p:spPr>
        </p:pic>
        <p:sp>
          <p:nvSpPr>
            <p:cNvPr id="33" name="Google Shape;33;p1"/>
            <p:cNvSpPr txBox="1"/>
            <p:nvPr/>
          </p:nvSpPr>
          <p:spPr>
            <a:xfrm>
              <a:off x="9334499" y="1714500"/>
              <a:ext cx="1788600" cy="285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59E0B"/>
                  </a:solidFill>
                  <a:latin typeface="Arial"/>
                  <a:ea typeface="Arial"/>
                  <a:cs typeface="Arial"/>
                  <a:sym typeface="Arial"/>
                </a:rPr>
                <a:t>Evaluación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25"/>
                </a:spcBef>
                <a:spcAft>
                  <a:spcPts val="0"/>
                </a:spcAft>
                <a:buClr>
                  <a:srgbClr val="000000"/>
                </a:buClr>
                <a:buSzPts val="4600"/>
                <a:buFont typeface="Arial"/>
                <a:buNone/>
              </a:pPr>
              <a:r>
                <a:rPr b="1" i="0" lang="en-US" sz="4600" u="none" cap="none" strike="noStrike">
                  <a:solidFill>
                    <a:srgbClr val="F59E0B"/>
                  </a:solidFill>
                  <a:latin typeface="Play"/>
                  <a:ea typeface="Play"/>
                  <a:cs typeface="Play"/>
                  <a:sym typeface="Play"/>
                </a:rPr>
                <a:t>2017</a:t>
              </a:r>
              <a:endParaRPr b="1" i="0" sz="4600" u="none" cap="none" strike="noStrike">
                <a:solidFill>
                  <a:srgbClr val="F59E0B"/>
                </a:solidFill>
                <a:latin typeface="Play"/>
                <a:ea typeface="Play"/>
                <a:cs typeface="Play"/>
                <a:sym typeface="Play"/>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E2E8F0"/>
                  </a:solidFill>
                  <a:latin typeface="Arial"/>
                  <a:ea typeface="Arial"/>
                  <a:cs typeface="Arial"/>
                  <a:sym typeface="Arial"/>
                </a:rPr>
                <a:t>Probar la generalización de los modelos bajo una validación temporal.</a:t>
              </a:r>
              <a:endParaRPr b="0" i="0" sz="1200" u="none" cap="none" strike="noStrike">
                <a:solidFill>
                  <a:srgbClr val="E2E8F0"/>
                </a:solidFill>
                <a:latin typeface="Arial"/>
                <a:ea typeface="Arial"/>
                <a:cs typeface="Arial"/>
                <a:sym typeface="Arial"/>
              </a:endParaRPr>
            </a:p>
          </p:txBody>
        </p:sp>
      </p:grpSp>
      <p:sp>
        <p:nvSpPr>
          <p:cNvPr id="34" name="Google Shape;34;p1"/>
          <p:cNvSpPr txBox="1"/>
          <p:nvPr>
            <p:ph idx="4294967295" type="sldNum"/>
          </p:nvPr>
        </p:nvSpPr>
        <p:spPr>
          <a:xfrm>
            <a:off x="11475720" y="6547104"/>
            <a:ext cx="8001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i="0" lang="en-US" sz="1200" u="none" cap="none" strike="noStrike">
                <a:solidFill>
                  <a:srgbClr val="64748B"/>
                </a:solidFill>
                <a:latin typeface="Arial"/>
                <a:ea typeface="Arial"/>
                <a:cs typeface="Arial"/>
                <a:sym typeface="Arial"/>
              </a:rPr>
              <a:t>‹#›</a:t>
            </a:fld>
            <a:endParaRPr b="0" i="0" sz="1200" u="none" cap="none" strike="noStrike">
              <a:solidFill>
                <a:srgbClr val="64748B"/>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9" name="Shape 39"/>
        <p:cNvGrpSpPr/>
        <p:nvPr/>
      </p:nvGrpSpPr>
      <p:grpSpPr>
        <a:xfrm>
          <a:off x="0" y="0"/>
          <a:ext cx="0" cy="0"/>
          <a:chOff x="0" y="0"/>
          <a:chExt cx="0" cy="0"/>
        </a:xfrm>
      </p:grpSpPr>
      <p:sp>
        <p:nvSpPr>
          <p:cNvPr id="40" name="Google Shape;40;p2"/>
          <p:cNvSpPr/>
          <p:nvPr/>
        </p:nvSpPr>
        <p:spPr>
          <a:xfrm>
            <a:off x="0" y="0"/>
            <a:ext cx="12191695"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41" name="Google Shape;41;p2"/>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42" name="Google Shape;42;p2"/>
          <p:cNvCxnSpPr/>
          <p:nvPr/>
        </p:nvCxnSpPr>
        <p:spPr>
          <a:xfrm>
            <a:off x="640080" y="6482969"/>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43" name="Google Shape;43;p2"/>
          <p:cNvSpPr/>
          <p:nvPr/>
        </p:nvSpPr>
        <p:spPr>
          <a:xfrm>
            <a:off x="548640" y="347472"/>
            <a:ext cx="804672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Problema: Predecir valor sin mirar el futuro</a:t>
            </a:r>
            <a:endParaRPr b="0" i="0" sz="2600" u="none" cap="none" strike="noStrike">
              <a:solidFill>
                <a:schemeClr val="dk1"/>
              </a:solidFill>
              <a:latin typeface="Arial"/>
              <a:ea typeface="Arial"/>
              <a:cs typeface="Arial"/>
              <a:sym typeface="Arial"/>
            </a:endParaRPr>
          </a:p>
        </p:txBody>
      </p:sp>
      <p:sp>
        <p:nvSpPr>
          <p:cNvPr id="44" name="Google Shape;44;p2"/>
          <p:cNvSpPr/>
          <p:nvPr/>
        </p:nvSpPr>
        <p:spPr>
          <a:xfrm>
            <a:off x="576072" y="995343"/>
            <a:ext cx="10945368" cy="82148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Pregunta inicial de trabajo</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¿Qué características presentan los datos de propiedades de Melbourne y qué patrones observados permiten plantear una hipótesis razonable para predecir los precios de 2017 utilizando información de 2016?</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658368" y="2318845"/>
            <a:ext cx="3200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400"/>
              <a:buFont typeface="Arial"/>
              <a:buNone/>
            </a:pPr>
            <a:r>
              <a:rPr b="1" i="0" lang="en-US" sz="1400" u="none" cap="none" strike="noStrike">
                <a:solidFill>
                  <a:srgbClr val="2DD4BF"/>
                </a:solidFill>
                <a:latin typeface="Arial"/>
                <a:ea typeface="Arial"/>
                <a:cs typeface="Arial"/>
                <a:sym typeface="Arial"/>
              </a:rPr>
              <a:t>Desafío técnico</a:t>
            </a:r>
            <a:endParaRPr b="0" i="0" sz="1400" u="none" cap="none" strike="noStrike">
              <a:solidFill>
                <a:schemeClr val="dk1"/>
              </a:solidFill>
              <a:latin typeface="Arial"/>
              <a:ea typeface="Arial"/>
              <a:cs typeface="Arial"/>
              <a:sym typeface="Arial"/>
            </a:endParaRPr>
          </a:p>
        </p:txBody>
      </p:sp>
      <p:sp>
        <p:nvSpPr>
          <p:cNvPr id="46" name="Google Shape;46;p2"/>
          <p:cNvSpPr/>
          <p:nvPr/>
        </p:nvSpPr>
        <p:spPr>
          <a:xfrm>
            <a:off x="658368" y="2621055"/>
            <a:ext cx="37491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500"/>
              <a:buFont typeface="Arial"/>
              <a:buNone/>
            </a:pPr>
            <a:r>
              <a:rPr i="0" lang="en-US" sz="1500" u="none" cap="none" strike="noStrike">
                <a:solidFill>
                  <a:srgbClr val="F8FAFC"/>
                </a:solidFill>
              </a:rPr>
              <a:t>Aprender relaciones precio–atributos en 2016 y medir si sobreviven al cambio de mercado de 2017.</a:t>
            </a:r>
            <a:endParaRPr b="0" i="0" sz="1500" u="none" cap="none" strike="noStrike">
              <a:solidFill>
                <a:schemeClr val="dk1"/>
              </a:solidFill>
              <a:latin typeface="Arial"/>
              <a:ea typeface="Arial"/>
              <a:cs typeface="Arial"/>
              <a:sym typeface="Arial"/>
            </a:endParaRPr>
          </a:p>
        </p:txBody>
      </p:sp>
      <p:sp>
        <p:nvSpPr>
          <p:cNvPr id="47" name="Google Shape;47;p2"/>
          <p:cNvSpPr/>
          <p:nvPr/>
        </p:nvSpPr>
        <p:spPr>
          <a:xfrm>
            <a:off x="4663440" y="2364565"/>
            <a:ext cx="1874520" cy="987552"/>
          </a:xfrm>
          <a:prstGeom prst="roundRect">
            <a:avLst>
              <a:gd fmla="val 7407" name="adj"/>
            </a:avLst>
          </a:prstGeom>
          <a:solidFill>
            <a:srgbClr val="111827"/>
          </a:solidFill>
          <a:ln cap="flat" cmpd="sng" w="15225">
            <a:solidFill>
              <a:srgbClr val="2DD4BF">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2"/>
          <p:cNvSpPr/>
          <p:nvPr/>
        </p:nvSpPr>
        <p:spPr>
          <a:xfrm>
            <a:off x="4828032" y="2510869"/>
            <a:ext cx="154533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2300"/>
              <a:buFont typeface="Arial"/>
              <a:buNone/>
            </a:pPr>
            <a:r>
              <a:rPr b="1" i="0" lang="en-US" sz="2300" u="none" cap="none" strike="noStrike">
                <a:solidFill>
                  <a:srgbClr val="2DD4BF"/>
                </a:solidFill>
                <a:latin typeface="Arial"/>
                <a:ea typeface="Arial"/>
                <a:cs typeface="Arial"/>
                <a:sym typeface="Arial"/>
              </a:rPr>
              <a:t>13.580</a:t>
            </a:r>
            <a:endParaRPr b="0" i="0" sz="2300" u="none" cap="none" strike="noStrike">
              <a:solidFill>
                <a:schemeClr val="dk1"/>
              </a:solidFill>
              <a:latin typeface="Arial"/>
              <a:ea typeface="Arial"/>
              <a:cs typeface="Arial"/>
              <a:sym typeface="Arial"/>
            </a:endParaRPr>
          </a:p>
        </p:txBody>
      </p:sp>
      <p:sp>
        <p:nvSpPr>
          <p:cNvPr id="49" name="Google Shape;49;p2"/>
          <p:cNvSpPr/>
          <p:nvPr/>
        </p:nvSpPr>
        <p:spPr>
          <a:xfrm>
            <a:off x="4828032" y="2931493"/>
            <a:ext cx="15453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b="0" i="0" lang="en-US" sz="870" u="none" cap="none" strike="noStrike">
                <a:solidFill>
                  <a:srgbClr val="94A3B8"/>
                </a:solidFill>
                <a:latin typeface="Arial"/>
                <a:ea typeface="Arial"/>
                <a:cs typeface="Arial"/>
                <a:sym typeface="Arial"/>
              </a:rPr>
              <a:t>ventas observadas - filas</a:t>
            </a:r>
            <a:endParaRPr b="0" i="0" sz="870" u="none" cap="none" strike="noStrike">
              <a:solidFill>
                <a:schemeClr val="dk1"/>
              </a:solidFill>
              <a:latin typeface="Arial"/>
              <a:ea typeface="Arial"/>
              <a:cs typeface="Arial"/>
              <a:sym typeface="Arial"/>
            </a:endParaRPr>
          </a:p>
        </p:txBody>
      </p:sp>
      <p:sp>
        <p:nvSpPr>
          <p:cNvPr id="50" name="Google Shape;50;p2"/>
          <p:cNvSpPr/>
          <p:nvPr/>
        </p:nvSpPr>
        <p:spPr>
          <a:xfrm>
            <a:off x="6812280" y="2364565"/>
            <a:ext cx="1874520" cy="987552"/>
          </a:xfrm>
          <a:prstGeom prst="roundRect">
            <a:avLst>
              <a:gd fmla="val 7407" name="adj"/>
            </a:avLst>
          </a:prstGeom>
          <a:solidFill>
            <a:srgbClr val="111827"/>
          </a:solidFill>
          <a:ln cap="flat" cmpd="sng" w="15225">
            <a:solidFill>
              <a:srgbClr val="38BDF8">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 name="Google Shape;51;p2"/>
          <p:cNvSpPr/>
          <p:nvPr/>
        </p:nvSpPr>
        <p:spPr>
          <a:xfrm>
            <a:off x="6976872" y="2510869"/>
            <a:ext cx="154533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2300"/>
              <a:buFont typeface="Arial"/>
              <a:buNone/>
            </a:pPr>
            <a:r>
              <a:rPr b="1" i="0" lang="en-US" sz="2300" u="none" cap="none" strike="noStrike">
                <a:solidFill>
                  <a:srgbClr val="38BDF8"/>
                </a:solidFill>
                <a:latin typeface="Arial"/>
                <a:ea typeface="Arial"/>
                <a:cs typeface="Arial"/>
                <a:sym typeface="Arial"/>
              </a:rPr>
              <a:t>21</a:t>
            </a:r>
            <a:endParaRPr b="0" i="0" sz="2300" u="none" cap="none" strike="noStrike">
              <a:solidFill>
                <a:schemeClr val="dk1"/>
              </a:solidFill>
              <a:latin typeface="Arial"/>
              <a:ea typeface="Arial"/>
              <a:cs typeface="Arial"/>
              <a:sym typeface="Arial"/>
            </a:endParaRPr>
          </a:p>
        </p:txBody>
      </p:sp>
      <p:sp>
        <p:nvSpPr>
          <p:cNvPr id="52" name="Google Shape;52;p2"/>
          <p:cNvSpPr/>
          <p:nvPr/>
        </p:nvSpPr>
        <p:spPr>
          <a:xfrm>
            <a:off x="6976872" y="2931493"/>
            <a:ext cx="15453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b="0" i="0" lang="en-US" sz="870" u="none" cap="none" strike="noStrike">
                <a:solidFill>
                  <a:srgbClr val="94A3B8"/>
                </a:solidFill>
                <a:latin typeface="Arial"/>
                <a:ea typeface="Arial"/>
                <a:cs typeface="Arial"/>
                <a:sym typeface="Arial"/>
              </a:rPr>
              <a:t>atributos originales - columnas</a:t>
            </a:r>
            <a:endParaRPr b="0" i="0" sz="870" u="none" cap="none" strike="noStrike">
              <a:solidFill>
                <a:schemeClr val="dk1"/>
              </a:solidFill>
              <a:latin typeface="Arial"/>
              <a:ea typeface="Arial"/>
              <a:cs typeface="Arial"/>
              <a:sym typeface="Arial"/>
            </a:endParaRPr>
          </a:p>
        </p:txBody>
      </p:sp>
      <p:sp>
        <p:nvSpPr>
          <p:cNvPr id="53" name="Google Shape;53;p2"/>
          <p:cNvSpPr/>
          <p:nvPr/>
        </p:nvSpPr>
        <p:spPr>
          <a:xfrm>
            <a:off x="8961120" y="2364565"/>
            <a:ext cx="2194560" cy="987552"/>
          </a:xfrm>
          <a:prstGeom prst="roundRect">
            <a:avLst>
              <a:gd fmla="val 7407" name="adj"/>
            </a:avLst>
          </a:prstGeom>
          <a:solidFill>
            <a:srgbClr val="111827"/>
          </a:solidFill>
          <a:ln cap="flat" cmpd="sng" w="15225">
            <a:solidFill>
              <a:srgbClr val="F59E0B">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 name="Google Shape;54;p2"/>
          <p:cNvSpPr/>
          <p:nvPr/>
        </p:nvSpPr>
        <p:spPr>
          <a:xfrm>
            <a:off x="9125712" y="2510869"/>
            <a:ext cx="186537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2300"/>
              <a:buFont typeface="Arial"/>
              <a:buNone/>
            </a:pPr>
            <a:r>
              <a:rPr b="1" i="0" lang="en-US" sz="2300" u="none" cap="none" strike="noStrike">
                <a:solidFill>
                  <a:srgbClr val="F59E0B"/>
                </a:solidFill>
                <a:latin typeface="Arial"/>
                <a:ea typeface="Arial"/>
                <a:cs typeface="Arial"/>
                <a:sym typeface="Arial"/>
              </a:rPr>
              <a:t>2016→2017</a:t>
            </a:r>
            <a:endParaRPr b="0" i="0" sz="2300" u="none" cap="none" strike="noStrike">
              <a:solidFill>
                <a:schemeClr val="dk1"/>
              </a:solidFill>
              <a:latin typeface="Arial"/>
              <a:ea typeface="Arial"/>
              <a:cs typeface="Arial"/>
              <a:sym typeface="Arial"/>
            </a:endParaRPr>
          </a:p>
        </p:txBody>
      </p:sp>
      <p:sp>
        <p:nvSpPr>
          <p:cNvPr id="55" name="Google Shape;55;p2"/>
          <p:cNvSpPr/>
          <p:nvPr/>
        </p:nvSpPr>
        <p:spPr>
          <a:xfrm>
            <a:off x="9125712" y="2931493"/>
            <a:ext cx="1865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870">
                <a:solidFill>
                  <a:srgbClr val="94A3B8"/>
                </a:solidFill>
              </a:rPr>
              <a:t>Alcance de la </a:t>
            </a:r>
            <a:r>
              <a:rPr b="0" i="0" lang="en-US" sz="870" u="none" cap="none" strike="noStrike">
                <a:solidFill>
                  <a:srgbClr val="94A3B8"/>
                </a:solidFill>
                <a:latin typeface="Arial"/>
                <a:ea typeface="Arial"/>
                <a:cs typeface="Arial"/>
                <a:sym typeface="Arial"/>
              </a:rPr>
              <a:t>validación temporal</a:t>
            </a:r>
            <a:endParaRPr b="0" i="0" sz="870" u="none" cap="none" strike="noStrike">
              <a:solidFill>
                <a:schemeClr val="dk1"/>
              </a:solidFill>
              <a:latin typeface="Arial"/>
              <a:ea typeface="Arial"/>
              <a:cs typeface="Arial"/>
              <a:sym typeface="Arial"/>
            </a:endParaRPr>
          </a:p>
        </p:txBody>
      </p:sp>
      <p:sp>
        <p:nvSpPr>
          <p:cNvPr id="56" name="Google Shape;56;p2"/>
          <p:cNvSpPr/>
          <p:nvPr/>
        </p:nvSpPr>
        <p:spPr>
          <a:xfrm>
            <a:off x="658368" y="3964765"/>
            <a:ext cx="3383280" cy="1143000"/>
          </a:xfrm>
          <a:prstGeom prst="roundRect">
            <a:avLst>
              <a:gd fmla="val 6400" name="adj"/>
            </a:avLst>
          </a:prstGeom>
          <a:solidFill>
            <a:srgbClr val="111827"/>
          </a:solidFill>
          <a:ln cap="flat" cmpd="sng" w="12700">
            <a:solidFill>
              <a:srgbClr val="2DD4BF">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 name="Google Shape;57;p2"/>
          <p:cNvSpPr/>
          <p:nvPr/>
        </p:nvSpPr>
        <p:spPr>
          <a:xfrm>
            <a:off x="822960" y="4111069"/>
            <a:ext cx="305409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200"/>
              <a:buFont typeface="Arial"/>
              <a:buNone/>
            </a:pPr>
            <a:r>
              <a:rPr b="1" i="0" lang="en-US" sz="1200" u="none" cap="none" strike="noStrike">
                <a:solidFill>
                  <a:srgbClr val="2DD4BF"/>
                </a:solidFill>
                <a:latin typeface="Arial"/>
                <a:ea typeface="Arial"/>
                <a:cs typeface="Arial"/>
                <a:sym typeface="Arial"/>
              </a:rPr>
              <a:t>Variable objetivo</a:t>
            </a:r>
            <a:endParaRPr b="0" i="0" sz="1200" u="none" cap="none" strike="noStrike">
              <a:solidFill>
                <a:schemeClr val="dk1"/>
              </a:solidFill>
              <a:latin typeface="Arial"/>
              <a:ea typeface="Arial"/>
              <a:cs typeface="Arial"/>
              <a:sym typeface="Arial"/>
            </a:endParaRPr>
          </a:p>
        </p:txBody>
      </p:sp>
      <p:sp>
        <p:nvSpPr>
          <p:cNvPr id="58" name="Google Shape;58;p2"/>
          <p:cNvSpPr/>
          <p:nvPr/>
        </p:nvSpPr>
        <p:spPr>
          <a:xfrm>
            <a:off x="822960" y="4458541"/>
            <a:ext cx="3054096" cy="5394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920"/>
              <a:buFont typeface="Arial"/>
              <a:buNone/>
            </a:pPr>
            <a:r>
              <a:rPr b="1" i="0" lang="en-US" sz="920" u="none" cap="none" strike="noStrike">
                <a:solidFill>
                  <a:srgbClr val="F8FAFC"/>
                </a:solidFill>
              </a:rPr>
              <a:t>Pr</a:t>
            </a:r>
            <a:r>
              <a:rPr b="1" lang="en-US" sz="920">
                <a:solidFill>
                  <a:srgbClr val="F8FAFC"/>
                </a:solidFill>
              </a:rPr>
              <a:t>ecio</a:t>
            </a:r>
            <a:r>
              <a:rPr b="0" i="0" lang="en-US" sz="920" u="none" cap="none" strike="noStrike">
                <a:solidFill>
                  <a:srgbClr val="F8FAFC"/>
                </a:solidFill>
                <a:latin typeface="Arial"/>
                <a:ea typeface="Arial"/>
                <a:cs typeface="Arial"/>
                <a:sym typeface="Arial"/>
              </a:rPr>
              <a:t>: </a:t>
            </a:r>
            <a:r>
              <a:rPr lang="en-US" sz="920">
                <a:solidFill>
                  <a:srgbClr val="F8FAFC"/>
                </a:solidFill>
              </a:rPr>
              <a:t>todo el modelo busca utilizar el comportamiento del precio del 2016 para evaluar si es posible predecir los precios del 2017.</a:t>
            </a:r>
            <a:endParaRPr b="0" i="0" sz="920" u="none" cap="none" strike="noStrike">
              <a:solidFill>
                <a:schemeClr val="dk1"/>
              </a:solidFill>
              <a:latin typeface="Arial"/>
              <a:ea typeface="Arial"/>
              <a:cs typeface="Arial"/>
              <a:sym typeface="Arial"/>
            </a:endParaRPr>
          </a:p>
        </p:txBody>
      </p:sp>
      <p:sp>
        <p:nvSpPr>
          <p:cNvPr id="59" name="Google Shape;59;p2"/>
          <p:cNvSpPr/>
          <p:nvPr/>
        </p:nvSpPr>
        <p:spPr>
          <a:xfrm>
            <a:off x="4434840" y="3964765"/>
            <a:ext cx="3383280" cy="1143000"/>
          </a:xfrm>
          <a:prstGeom prst="roundRect">
            <a:avLst>
              <a:gd fmla="val 6400" name="adj"/>
            </a:avLst>
          </a:prstGeom>
          <a:solidFill>
            <a:srgbClr val="111827"/>
          </a:solidFill>
          <a:ln cap="flat" cmpd="sng" w="12700">
            <a:solidFill>
              <a:srgbClr val="F59E0B">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 name="Google Shape;60;p2"/>
          <p:cNvSpPr/>
          <p:nvPr/>
        </p:nvSpPr>
        <p:spPr>
          <a:xfrm>
            <a:off x="4599432" y="4111069"/>
            <a:ext cx="305409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200"/>
              <a:buFont typeface="Arial"/>
              <a:buNone/>
            </a:pPr>
            <a:r>
              <a:rPr b="1" i="0" lang="en-US" sz="1200" u="none" cap="none" strike="noStrike">
                <a:solidFill>
                  <a:srgbClr val="F59E0B"/>
                </a:solidFill>
                <a:latin typeface="Arial"/>
                <a:ea typeface="Arial"/>
                <a:cs typeface="Arial"/>
                <a:sym typeface="Arial"/>
              </a:rPr>
              <a:t>Benchmark exigente</a:t>
            </a:r>
            <a:endParaRPr b="0" i="0" sz="1200" u="none" cap="none" strike="noStrike">
              <a:solidFill>
                <a:schemeClr val="dk1"/>
              </a:solidFill>
              <a:latin typeface="Arial"/>
              <a:ea typeface="Arial"/>
              <a:cs typeface="Arial"/>
              <a:sym typeface="Arial"/>
            </a:endParaRPr>
          </a:p>
        </p:txBody>
      </p:sp>
      <p:sp>
        <p:nvSpPr>
          <p:cNvPr id="61" name="Google Shape;61;p2"/>
          <p:cNvSpPr/>
          <p:nvPr/>
        </p:nvSpPr>
        <p:spPr>
          <a:xfrm>
            <a:off x="4599432" y="4458541"/>
            <a:ext cx="3054096" cy="5394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920"/>
              <a:buFont typeface="Arial"/>
              <a:buNone/>
            </a:pPr>
            <a:r>
              <a:rPr b="1" i="0" lang="en-US" sz="920" u="none" cap="none" strike="noStrike">
                <a:solidFill>
                  <a:srgbClr val="F8FAFC"/>
                </a:solidFill>
              </a:rPr>
              <a:t>Modelo debe superar una predicción básica: </a:t>
            </a:r>
            <a:r>
              <a:rPr b="0" i="0" lang="en-US" sz="920" u="none" cap="none" strike="noStrike">
                <a:solidFill>
                  <a:srgbClr val="F8FAFC"/>
                </a:solidFill>
                <a:latin typeface="Arial"/>
                <a:ea typeface="Arial"/>
                <a:cs typeface="Arial"/>
                <a:sym typeface="Arial"/>
              </a:rPr>
              <a:t>mediana del precio del 2016. Ex</a:t>
            </a:r>
            <a:r>
              <a:rPr lang="en-US" sz="920">
                <a:solidFill>
                  <a:srgbClr val="F8FAFC"/>
                </a:solidFill>
              </a:rPr>
              <a:t>cluimos el promedio porque existen valores extremos que desvían este resultado.</a:t>
            </a:r>
            <a:endParaRPr b="0" i="0" sz="920" u="none" cap="none" strike="noStrike">
              <a:solidFill>
                <a:schemeClr val="dk1"/>
              </a:solidFill>
              <a:latin typeface="Arial"/>
              <a:ea typeface="Arial"/>
              <a:cs typeface="Arial"/>
              <a:sym typeface="Arial"/>
            </a:endParaRPr>
          </a:p>
        </p:txBody>
      </p:sp>
      <p:sp>
        <p:nvSpPr>
          <p:cNvPr id="62" name="Google Shape;62;p2"/>
          <p:cNvSpPr/>
          <p:nvPr/>
        </p:nvSpPr>
        <p:spPr>
          <a:xfrm>
            <a:off x="8211312" y="3964765"/>
            <a:ext cx="3383280" cy="1143000"/>
          </a:xfrm>
          <a:prstGeom prst="roundRect">
            <a:avLst>
              <a:gd fmla="val 6400" name="adj"/>
            </a:avLst>
          </a:prstGeom>
          <a:solidFill>
            <a:srgbClr val="111827"/>
          </a:solidFill>
          <a:ln cap="flat" cmpd="sng" w="12700">
            <a:solidFill>
              <a:srgbClr val="FB7185">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2"/>
          <p:cNvSpPr/>
          <p:nvPr/>
        </p:nvSpPr>
        <p:spPr>
          <a:xfrm>
            <a:off x="8375904" y="4111069"/>
            <a:ext cx="305409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7185"/>
              </a:buClr>
              <a:buSzPts val="1200"/>
              <a:buFont typeface="Arial"/>
              <a:buNone/>
            </a:pPr>
            <a:r>
              <a:rPr b="1" i="0" lang="en-US" sz="1200" u="none" cap="none" strike="noStrike">
                <a:solidFill>
                  <a:srgbClr val="FB7185"/>
                </a:solidFill>
                <a:latin typeface="Arial"/>
                <a:ea typeface="Arial"/>
                <a:cs typeface="Arial"/>
                <a:sym typeface="Arial"/>
              </a:rPr>
              <a:t>Riesgo de negocio</a:t>
            </a:r>
            <a:endParaRPr b="0" i="0" sz="1200" u="none" cap="none" strike="noStrike">
              <a:solidFill>
                <a:schemeClr val="dk1"/>
              </a:solidFill>
              <a:latin typeface="Arial"/>
              <a:ea typeface="Arial"/>
              <a:cs typeface="Arial"/>
              <a:sym typeface="Arial"/>
            </a:endParaRPr>
          </a:p>
        </p:txBody>
      </p:sp>
      <p:sp>
        <p:nvSpPr>
          <p:cNvPr id="64" name="Google Shape;64;p2"/>
          <p:cNvSpPr/>
          <p:nvPr/>
        </p:nvSpPr>
        <p:spPr>
          <a:xfrm>
            <a:off x="8375904" y="4458541"/>
            <a:ext cx="3054096" cy="5394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920"/>
              <a:buFont typeface="Arial"/>
              <a:buNone/>
            </a:pPr>
            <a:r>
              <a:rPr b="1" lang="en-US" sz="920">
                <a:solidFill>
                  <a:srgbClr val="F8FAFC"/>
                </a:solidFill>
              </a:rPr>
              <a:t>Tasación incorrecta: </a:t>
            </a:r>
            <a:r>
              <a:rPr b="0" i="0" lang="en-US" sz="920" u="none" cap="none" strike="noStrike">
                <a:solidFill>
                  <a:srgbClr val="F8FAFC"/>
                </a:solidFill>
                <a:latin typeface="Arial"/>
                <a:ea typeface="Arial"/>
                <a:cs typeface="Arial"/>
                <a:sym typeface="Arial"/>
              </a:rPr>
              <a:t>Errores grandes afectan tasación, inversión</a:t>
            </a:r>
            <a:r>
              <a:rPr lang="en-US" sz="920">
                <a:solidFill>
                  <a:srgbClr val="F8FAFC"/>
                </a:solidFill>
              </a:rPr>
              <a:t>, </a:t>
            </a:r>
            <a:r>
              <a:rPr b="0" i="0" lang="en-US" sz="920" u="none" cap="none" strike="noStrike">
                <a:solidFill>
                  <a:srgbClr val="F8FAFC"/>
                </a:solidFill>
                <a:latin typeface="Arial"/>
                <a:ea typeface="Arial"/>
                <a:cs typeface="Arial"/>
                <a:sym typeface="Arial"/>
              </a:rPr>
              <a:t>priorización inmobiliaria</a:t>
            </a:r>
            <a:r>
              <a:rPr lang="en-US" sz="920">
                <a:solidFill>
                  <a:srgbClr val="F8FAFC"/>
                </a:solidFill>
              </a:rPr>
              <a:t> y/o toma de decisiones.</a:t>
            </a:r>
            <a:endParaRPr b="0" i="0" sz="920" u="none" cap="none" strike="noStrike">
              <a:solidFill>
                <a:schemeClr val="dk1"/>
              </a:solidFill>
              <a:latin typeface="Arial"/>
              <a:ea typeface="Arial"/>
              <a:cs typeface="Arial"/>
              <a:sym typeface="Arial"/>
            </a:endParaRPr>
          </a:p>
        </p:txBody>
      </p:sp>
      <p:sp>
        <p:nvSpPr>
          <p:cNvPr id="65" name="Google Shape;65;p2"/>
          <p:cNvSpPr/>
          <p:nvPr/>
        </p:nvSpPr>
        <p:spPr>
          <a:xfrm>
            <a:off x="658376" y="5781600"/>
            <a:ext cx="109455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500"/>
              <a:buFont typeface="Arial"/>
              <a:buNone/>
            </a:pPr>
            <a:r>
              <a:rPr b="1" lang="en-US" sz="1500">
                <a:solidFill>
                  <a:srgbClr val="F8FAFC"/>
                </a:solidFill>
              </a:rPr>
              <a:t>Nuestro e</a:t>
            </a:r>
            <a:r>
              <a:rPr b="1" i="0" lang="en-US" sz="1500" u="none" cap="none" strike="noStrike">
                <a:solidFill>
                  <a:srgbClr val="F8FAFC"/>
                </a:solidFill>
                <a:latin typeface="Arial"/>
                <a:ea typeface="Arial"/>
                <a:cs typeface="Arial"/>
                <a:sym typeface="Arial"/>
              </a:rPr>
              <a:t>nfoque: no explicar causalidad de precios</a:t>
            </a:r>
            <a:r>
              <a:rPr b="1" lang="en-US" sz="1500">
                <a:solidFill>
                  <a:srgbClr val="F8FAFC"/>
                </a:solidFill>
              </a:rPr>
              <a:t> sino</a:t>
            </a:r>
            <a:r>
              <a:rPr b="1" i="0" lang="en-US" sz="1500" u="none" cap="none" strike="noStrike">
                <a:solidFill>
                  <a:srgbClr val="F8FAFC"/>
                </a:solidFill>
                <a:latin typeface="Arial"/>
                <a:ea typeface="Arial"/>
                <a:cs typeface="Arial"/>
                <a:sym typeface="Arial"/>
              </a:rPr>
              <a:t> estimar precio con generalización fuera de muestra.</a:t>
            </a:r>
            <a:endParaRPr b="0" i="0" sz="1500" u="none" cap="none" strike="noStrike">
              <a:solidFill>
                <a:schemeClr val="dk1"/>
              </a:solidFill>
              <a:latin typeface="Arial"/>
              <a:ea typeface="Arial"/>
              <a:cs typeface="Arial"/>
              <a:sym typeface="Arial"/>
            </a:endParaRPr>
          </a:p>
        </p:txBody>
      </p:sp>
      <p:sp>
        <p:nvSpPr>
          <p:cNvPr id="66" name="Google Shape;66;p2"/>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 name="Shape 71"/>
        <p:cNvGrpSpPr/>
        <p:nvPr/>
      </p:nvGrpSpPr>
      <p:grpSpPr>
        <a:xfrm>
          <a:off x="0" y="0"/>
          <a:ext cx="0" cy="0"/>
          <a:chOff x="0" y="0"/>
          <a:chExt cx="0" cy="0"/>
        </a:xfrm>
      </p:grpSpPr>
      <p:cxnSp>
        <p:nvCxnSpPr>
          <p:cNvPr id="72" name="Google Shape;72;p3"/>
          <p:cNvCxnSpPr/>
          <p:nvPr/>
        </p:nvCxnSpPr>
        <p:spPr>
          <a:xfrm>
            <a:off x="640080" y="6482969"/>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73" name="Google Shape;73;p3"/>
          <p:cNvSpPr txBox="1"/>
          <p:nvPr>
            <p:ph idx="4294967295" type="sldNum"/>
          </p:nvPr>
        </p:nvSpPr>
        <p:spPr>
          <a:xfrm>
            <a:off x="11475720" y="6547104"/>
            <a:ext cx="8001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grpSp>
        <p:nvGrpSpPr>
          <p:cNvPr id="74" name="Google Shape;74;p3"/>
          <p:cNvGrpSpPr/>
          <p:nvPr/>
        </p:nvGrpSpPr>
        <p:grpSpPr>
          <a:xfrm>
            <a:off x="762000" y="476250"/>
            <a:ext cx="7620000" cy="1047750"/>
            <a:chOff x="762000" y="476250"/>
            <a:chExt cx="7620000" cy="1047750"/>
          </a:xfrm>
        </p:grpSpPr>
        <p:grpSp>
          <p:nvGrpSpPr>
            <p:cNvPr id="75" name="Google Shape;75;p3"/>
            <p:cNvGrpSpPr/>
            <p:nvPr/>
          </p:nvGrpSpPr>
          <p:grpSpPr>
            <a:xfrm>
              <a:off x="762000" y="476250"/>
              <a:ext cx="2667000" cy="324000"/>
              <a:chOff x="762000" y="476250"/>
              <a:chExt cx="2667000" cy="324000"/>
            </a:xfrm>
          </p:grpSpPr>
          <p:sp>
            <p:nvSpPr>
              <p:cNvPr id="76" name="Google Shape;76;p3"/>
              <p:cNvSpPr/>
              <p:nvPr/>
            </p:nvSpPr>
            <p:spPr>
              <a:xfrm>
                <a:off x="762000" y="476250"/>
                <a:ext cx="2667000" cy="324000"/>
              </a:xfrm>
              <a:prstGeom prst="roundRect">
                <a:avLst>
                  <a:gd fmla="val 50000" name="adj"/>
                </a:avLst>
              </a:prstGeom>
              <a:solidFill>
                <a:srgbClr val="2DD4BF">
                  <a:alpha val="10196"/>
                </a:srgbClr>
              </a:solidFill>
              <a:ln cap="flat" cmpd="sng" w="14300">
                <a:solidFill>
                  <a:srgbClr val="2DD4BF"/>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txBox="1"/>
              <p:nvPr/>
            </p:nvSpPr>
            <p:spPr>
              <a:xfrm>
                <a:off x="762000" y="476250"/>
                <a:ext cx="2667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2DD4BF"/>
                    </a:solidFill>
                    <a:latin typeface="Arial"/>
                    <a:ea typeface="Arial"/>
                    <a:cs typeface="Arial"/>
                    <a:sym typeface="Arial"/>
                  </a:rPr>
                  <a:t>HITO 1: EDA + HIPÓTESIS DEFENDIBLE</a:t>
                </a:r>
                <a:endParaRPr b="1" i="0" sz="900" u="none" cap="none" strike="noStrike">
                  <a:solidFill>
                    <a:srgbClr val="2DD4BF"/>
                  </a:solidFill>
                  <a:latin typeface="Arial"/>
                  <a:ea typeface="Arial"/>
                  <a:cs typeface="Arial"/>
                  <a:sym typeface="Arial"/>
                </a:endParaRPr>
              </a:p>
            </p:txBody>
          </p:sp>
        </p:grpSp>
        <p:sp>
          <p:nvSpPr>
            <p:cNvPr id="78" name="Google Shape;78;p3"/>
            <p:cNvSpPr txBox="1"/>
            <p:nvPr/>
          </p:nvSpPr>
          <p:spPr>
            <a:xfrm>
              <a:off x="762000" y="952500"/>
              <a:ext cx="7620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lay"/>
                  <a:ea typeface="Play"/>
                  <a:cs typeface="Play"/>
                  <a:sym typeface="Play"/>
                </a:rPr>
                <a:t>Planteamiento de Hipótesis</a:t>
              </a:r>
              <a:endParaRPr b="1" i="0" sz="2600" u="none" cap="none" strike="noStrike">
                <a:solidFill>
                  <a:srgbClr val="F8FAFC"/>
                </a:solidFill>
                <a:latin typeface="Play"/>
                <a:ea typeface="Play"/>
                <a:cs typeface="Play"/>
                <a:sym typeface="Play"/>
              </a:endParaRPr>
            </a:p>
          </p:txBody>
        </p:sp>
      </p:grpSp>
      <p:grpSp>
        <p:nvGrpSpPr>
          <p:cNvPr id="79" name="Google Shape;79;p3"/>
          <p:cNvGrpSpPr/>
          <p:nvPr/>
        </p:nvGrpSpPr>
        <p:grpSpPr>
          <a:xfrm>
            <a:off x="752475" y="1704975"/>
            <a:ext cx="10391925" cy="3438600"/>
            <a:chOff x="752475" y="1704975"/>
            <a:chExt cx="10391925" cy="3438600"/>
          </a:xfrm>
        </p:grpSpPr>
        <p:pic>
          <p:nvPicPr>
            <p:cNvPr id="80" name="Google Shape;80;p3"/>
            <p:cNvPicPr preferRelativeResize="0"/>
            <p:nvPr/>
          </p:nvPicPr>
          <p:blipFill rotWithShape="1">
            <a:blip r:embed="rId3">
              <a:alphaModFix/>
            </a:blip>
            <a:srcRect b="0" l="0" r="0" t="0"/>
            <a:stretch/>
          </p:blipFill>
          <p:spPr>
            <a:xfrm>
              <a:off x="752475" y="1704975"/>
              <a:ext cx="5067300" cy="3438600"/>
            </a:xfrm>
            <a:prstGeom prst="rect">
              <a:avLst/>
            </a:prstGeom>
            <a:noFill/>
            <a:ln>
              <a:noFill/>
            </a:ln>
          </p:spPr>
        </p:pic>
        <p:sp>
          <p:nvSpPr>
            <p:cNvPr id="81" name="Google Shape;81;p3"/>
            <p:cNvSpPr txBox="1"/>
            <p:nvPr/>
          </p:nvSpPr>
          <p:spPr>
            <a:xfrm>
              <a:off x="1047750" y="2000250"/>
              <a:ext cx="44769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FB7185"/>
                  </a:solidFill>
                  <a:latin typeface="Play"/>
                  <a:ea typeface="Play"/>
                  <a:cs typeface="Play"/>
                  <a:sym typeface="Play"/>
                </a:rPr>
                <a:t>H0</a:t>
              </a:r>
              <a:r>
                <a:rPr b="1" i="0" lang="en-US" sz="1600" u="none" cap="none" strike="noStrike">
                  <a:solidFill>
                    <a:srgbClr val="E2E8F0"/>
                  </a:solidFill>
                  <a:latin typeface="Arial"/>
                  <a:ea typeface="Arial"/>
                  <a:cs typeface="Arial"/>
                  <a:sym typeface="Arial"/>
                </a:rPr>
                <a:t>Hipótesis Nula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0"/>
                </a:spcBef>
                <a:spcAft>
                  <a:spcPts val="0"/>
                </a:spcAft>
                <a:buClr>
                  <a:srgbClr val="000000"/>
                </a:buClr>
                <a:buSzPts val="1350"/>
                <a:buFont typeface="Arial"/>
                <a:buNone/>
              </a:pPr>
              <a:r>
                <a:rPr b="0" i="0" lang="en-US" sz="1350" u="none" cap="none" strike="noStrike">
                  <a:solidFill>
                    <a:srgbClr val="94A3B8"/>
                  </a:solidFill>
                  <a:latin typeface="Arial"/>
                  <a:ea typeface="Arial"/>
                  <a:cs typeface="Arial"/>
                  <a:sym typeface="Arial"/>
                </a:rPr>
                <a:t>Las relaciones observadas entre las características de las propiedades y sus precios en 2016 </a:t>
              </a:r>
              <a:r>
                <a:rPr b="1" i="0" lang="en-US" sz="1350" u="none" cap="none" strike="noStrike">
                  <a:solidFill>
                    <a:srgbClr val="FB7185"/>
                  </a:solidFill>
                  <a:latin typeface="Arial"/>
                  <a:ea typeface="Arial"/>
                  <a:cs typeface="Arial"/>
                  <a:sym typeface="Arial"/>
                </a:rPr>
                <a:t>no se mantienen suficientemente</a:t>
              </a:r>
              <a:r>
                <a:rPr b="0" i="0" lang="en-US" sz="1350" u="none" cap="none" strike="noStrike">
                  <a:solidFill>
                    <a:srgbClr val="94A3B8"/>
                  </a:solidFill>
                  <a:latin typeface="Arial"/>
                  <a:ea typeface="Arial"/>
                  <a:cs typeface="Arial"/>
                  <a:sym typeface="Arial"/>
                </a:rPr>
                <a:t> en 2017.</a:t>
              </a:r>
              <a:endParaRPr b="0" i="0" sz="1350" u="none" cap="none" strike="noStrike">
                <a:solidFill>
                  <a:srgbClr val="94A3B8"/>
                </a:solidFill>
                <a:latin typeface="Arial"/>
                <a:ea typeface="Arial"/>
                <a:cs typeface="Arial"/>
                <a:sym typeface="Arial"/>
              </a:endParaRPr>
            </a:p>
            <a:p>
              <a:pPr indent="0" lvl="0" marL="0" marR="0" rtl="0" algn="l">
                <a:lnSpc>
                  <a:spcPct val="100000"/>
                </a:lnSpc>
                <a:spcBef>
                  <a:spcPts val="1125"/>
                </a:spcBef>
                <a:spcAft>
                  <a:spcPts val="0"/>
                </a:spcAft>
                <a:buClr>
                  <a:srgbClr val="000000"/>
                </a:buClr>
                <a:buSzPts val="1200"/>
                <a:buFont typeface="Arial"/>
                <a:buNone/>
              </a:pPr>
              <a:r>
                <a:rPr b="0" i="0" lang="en-US" sz="1200" u="none" cap="none" strike="noStrike">
                  <a:solidFill>
                    <a:srgbClr val="64748B"/>
                  </a:solidFill>
                  <a:latin typeface="Arial"/>
                  <a:ea typeface="Arial"/>
                  <a:cs typeface="Arial"/>
                  <a:sym typeface="Arial"/>
                </a:rPr>
                <a:t>Como consecuencia, utilizar los datos de 2016 no permitiría predecir los precios de 2017 mejor que una estimación básica</a:t>
              </a:r>
              <a:endParaRPr b="0" i="0" sz="1200" u="none" cap="none" strike="noStrike">
                <a:solidFill>
                  <a:srgbClr val="64748B"/>
                </a:solidFill>
                <a:latin typeface="Arial"/>
                <a:ea typeface="Arial"/>
                <a:cs typeface="Arial"/>
                <a:sym typeface="Arial"/>
              </a:endParaRPr>
            </a:p>
          </p:txBody>
        </p:sp>
        <p:pic>
          <p:nvPicPr>
            <p:cNvPr id="82" name="Google Shape;82;p3"/>
            <p:cNvPicPr preferRelativeResize="0"/>
            <p:nvPr/>
          </p:nvPicPr>
          <p:blipFill rotWithShape="1">
            <a:blip r:embed="rId4">
              <a:alphaModFix/>
            </a:blip>
            <a:srcRect b="0" l="0" r="0" t="0"/>
            <a:stretch/>
          </p:blipFill>
          <p:spPr>
            <a:xfrm>
              <a:off x="6372225" y="1704975"/>
              <a:ext cx="4772100" cy="3438600"/>
            </a:xfrm>
            <a:prstGeom prst="rect">
              <a:avLst/>
            </a:prstGeom>
            <a:noFill/>
            <a:ln>
              <a:noFill/>
            </a:ln>
          </p:spPr>
        </p:pic>
        <p:sp>
          <p:nvSpPr>
            <p:cNvPr id="83" name="Google Shape;83;p3"/>
            <p:cNvSpPr txBox="1"/>
            <p:nvPr/>
          </p:nvSpPr>
          <p:spPr>
            <a:xfrm>
              <a:off x="6667500" y="2000250"/>
              <a:ext cx="4476900" cy="3048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2DD4BF"/>
                  </a:solidFill>
                  <a:latin typeface="Play"/>
                  <a:ea typeface="Play"/>
                  <a:cs typeface="Play"/>
                  <a:sym typeface="Play"/>
                </a:rPr>
                <a:t>H1</a:t>
              </a:r>
              <a:r>
                <a:rPr b="1" i="0" lang="en-US" sz="1600" u="none" cap="none" strike="noStrike">
                  <a:solidFill>
                    <a:srgbClr val="E2E8F0"/>
                  </a:solidFill>
                  <a:latin typeface="Arial"/>
                  <a:ea typeface="Arial"/>
                  <a:cs typeface="Arial"/>
                  <a:sym typeface="Arial"/>
                </a:rPr>
                <a:t>Hipótesis Alternativa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500"/>
                </a:spcBef>
                <a:spcAft>
                  <a:spcPts val="0"/>
                </a:spcAft>
                <a:buClr>
                  <a:srgbClr val="000000"/>
                </a:buClr>
                <a:buSzPts val="2400"/>
                <a:buFont typeface="Arial"/>
                <a:buNone/>
              </a:pPr>
              <a:r>
                <a:rPr b="0" i="0" lang="en-US" sz="2400" u="none" cap="none" strike="noStrike">
                  <a:solidFill>
                    <a:srgbClr val="94A3B8"/>
                  </a:solidFill>
                  <a:latin typeface="Arial"/>
                  <a:ea typeface="Arial"/>
                  <a:cs typeface="Arial"/>
                  <a:sym typeface="Arial"/>
                </a:rPr>
                <a:t>Se presentará al final de Trabajo</a:t>
              </a:r>
              <a:endParaRPr b="0" i="0" sz="2400" u="none" cap="none" strike="noStrike">
                <a:solidFill>
                  <a:srgbClr val="64748B"/>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88" name="Shape 88"/>
        <p:cNvGrpSpPr/>
        <p:nvPr/>
      </p:nvGrpSpPr>
      <p:grpSpPr>
        <a:xfrm>
          <a:off x="0" y="0"/>
          <a:ext cx="0" cy="0"/>
          <a:chOff x="0" y="0"/>
          <a:chExt cx="0" cy="0"/>
        </a:xfrm>
      </p:grpSpPr>
      <p:sp>
        <p:nvSpPr>
          <p:cNvPr id="89" name="Google Shape;89;p4"/>
          <p:cNvSpPr/>
          <p:nvPr/>
        </p:nvSpPr>
        <p:spPr>
          <a:xfrm>
            <a:off x="0" y="0"/>
            <a:ext cx="12191695"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0" name="Google Shape;90;p4"/>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91" name="Google Shape;91;p4"/>
          <p:cNvCxnSpPr/>
          <p:nvPr/>
        </p:nvCxnSpPr>
        <p:spPr>
          <a:xfrm>
            <a:off x="640080" y="6199632"/>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92" name="Google Shape;92;p4"/>
          <p:cNvSpPr/>
          <p:nvPr/>
        </p:nvSpPr>
        <p:spPr>
          <a:xfrm>
            <a:off x="548640" y="347472"/>
            <a:ext cx="804672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Datos y Ciclo de </a:t>
            </a:r>
            <a:r>
              <a:rPr b="1" lang="en-US" sz="2600">
                <a:solidFill>
                  <a:srgbClr val="F8FAFC"/>
                </a:solidFill>
                <a:latin typeface="Play"/>
                <a:ea typeface="Play"/>
                <a:cs typeface="Play"/>
                <a:sym typeface="Play"/>
              </a:rPr>
              <a:t>V</a:t>
            </a:r>
            <a:r>
              <a:rPr b="1" i="0" lang="en-US" sz="2600" u="none" cap="none" strike="noStrike">
                <a:solidFill>
                  <a:srgbClr val="F8FAFC"/>
                </a:solidFill>
                <a:latin typeface="Play"/>
                <a:ea typeface="Play"/>
                <a:cs typeface="Play"/>
                <a:sym typeface="Play"/>
              </a:rPr>
              <a:t>ida del </a:t>
            </a:r>
            <a:r>
              <a:rPr b="1" lang="en-US" sz="2600">
                <a:solidFill>
                  <a:srgbClr val="F8FAFC"/>
                </a:solidFill>
                <a:latin typeface="Play"/>
                <a:ea typeface="Play"/>
                <a:cs typeface="Play"/>
                <a:sym typeface="Play"/>
              </a:rPr>
              <a:t>P</a:t>
            </a:r>
            <a:r>
              <a:rPr b="1" i="0" lang="en-US" sz="2600" u="none" cap="none" strike="noStrike">
                <a:solidFill>
                  <a:srgbClr val="F8FAFC"/>
                </a:solidFill>
                <a:latin typeface="Play"/>
                <a:ea typeface="Play"/>
                <a:cs typeface="Play"/>
                <a:sym typeface="Play"/>
              </a:rPr>
              <a:t>royecto</a:t>
            </a:r>
            <a:endParaRPr b="0" i="0" sz="2600" u="none" cap="none" strike="noStrike">
              <a:solidFill>
                <a:schemeClr val="dk1"/>
              </a:solidFill>
              <a:latin typeface="Arial"/>
              <a:ea typeface="Arial"/>
              <a:cs typeface="Arial"/>
              <a:sym typeface="Arial"/>
            </a:endParaRPr>
          </a:p>
        </p:txBody>
      </p:sp>
      <p:sp>
        <p:nvSpPr>
          <p:cNvPr id="93" name="Google Shape;93;p4"/>
          <p:cNvSpPr/>
          <p:nvPr/>
        </p:nvSpPr>
        <p:spPr>
          <a:xfrm>
            <a:off x="566928" y="841248"/>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Arial"/>
              <a:buNone/>
            </a:pPr>
            <a:r>
              <a:rPr b="0" i="0" lang="en-US" sz="950" u="none" cap="none" strike="noStrike">
                <a:solidFill>
                  <a:srgbClr val="94A3B8"/>
                </a:solidFill>
                <a:latin typeface="Arial"/>
                <a:ea typeface="Arial"/>
                <a:cs typeface="Arial"/>
                <a:sym typeface="Arial"/>
              </a:rPr>
              <a:t>Desde una base cruda (dataset) a una hipótesis testeable con el modelo predi</a:t>
            </a:r>
            <a:r>
              <a:rPr lang="en-US" sz="950">
                <a:solidFill>
                  <a:srgbClr val="94A3B8"/>
                </a:solidFill>
              </a:rPr>
              <a:t>ctivo</a:t>
            </a:r>
            <a:r>
              <a:rPr b="0" i="0" lang="en-US" sz="950" u="none" cap="none" strike="noStrike">
                <a:solidFill>
                  <a:srgbClr val="94A3B8"/>
                </a:solidFill>
                <a:latin typeface="Arial"/>
                <a:ea typeface="Arial"/>
                <a:cs typeface="Arial"/>
                <a:sym typeface="Arial"/>
              </a:rPr>
              <a:t>.</a:t>
            </a:r>
            <a:endParaRPr b="0" i="0" sz="950" u="none" cap="none" strike="noStrike">
              <a:solidFill>
                <a:schemeClr val="dk1"/>
              </a:solidFill>
              <a:latin typeface="Arial"/>
              <a:ea typeface="Arial"/>
              <a:cs typeface="Arial"/>
              <a:sym typeface="Arial"/>
            </a:endParaRPr>
          </a:p>
        </p:txBody>
      </p:sp>
      <p:sp>
        <p:nvSpPr>
          <p:cNvPr id="94" name="Google Shape;94;p4"/>
          <p:cNvSpPr/>
          <p:nvPr/>
        </p:nvSpPr>
        <p:spPr>
          <a:xfrm>
            <a:off x="749808" y="1536192"/>
            <a:ext cx="2331720" cy="1051560"/>
          </a:xfrm>
          <a:prstGeom prst="roundRect">
            <a:avLst>
              <a:gd fmla="val 6957" name="adj"/>
            </a:avLst>
          </a:prstGeom>
          <a:solidFill>
            <a:srgbClr val="111827"/>
          </a:solidFill>
          <a:ln cap="flat" cmpd="sng" w="12700">
            <a:solidFill>
              <a:srgbClr val="2DD4BF">
                <a:alpha val="7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 name="Google Shape;95;p4"/>
          <p:cNvSpPr/>
          <p:nvPr/>
        </p:nvSpPr>
        <p:spPr>
          <a:xfrm>
            <a:off x="886968" y="1700784"/>
            <a:ext cx="320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400"/>
              <a:buFont typeface="Arial"/>
              <a:buNone/>
            </a:pPr>
            <a:r>
              <a:rPr b="1" i="0" lang="en-US" sz="1400" u="none" cap="none" strike="noStrike">
                <a:solidFill>
                  <a:srgbClr val="2DD4BF"/>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96" name="Google Shape;96;p4"/>
          <p:cNvSpPr/>
          <p:nvPr/>
        </p:nvSpPr>
        <p:spPr>
          <a:xfrm>
            <a:off x="1252728" y="1632240"/>
            <a:ext cx="1691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200"/>
              <a:buFont typeface="Arial"/>
              <a:buNone/>
            </a:pPr>
            <a:r>
              <a:rPr b="1" i="0" lang="en-US" sz="1200" u="none" cap="none" strike="noStrike">
                <a:solidFill>
                  <a:srgbClr val="F8FAFC"/>
                </a:solidFill>
                <a:latin typeface="Arial"/>
                <a:ea typeface="Arial"/>
                <a:cs typeface="Arial"/>
                <a:sym typeface="Arial"/>
              </a:rPr>
              <a:t>Requerimientos</a:t>
            </a:r>
            <a:endParaRPr b="0" i="0" sz="1200" u="none" cap="none" strike="noStrike">
              <a:solidFill>
                <a:schemeClr val="dk1"/>
              </a:solidFill>
              <a:latin typeface="Arial"/>
              <a:ea typeface="Arial"/>
              <a:cs typeface="Arial"/>
              <a:sym typeface="Arial"/>
            </a:endParaRPr>
          </a:p>
        </p:txBody>
      </p:sp>
      <p:sp>
        <p:nvSpPr>
          <p:cNvPr id="97" name="Google Shape;97;p4"/>
          <p:cNvSpPr/>
          <p:nvPr/>
        </p:nvSpPr>
        <p:spPr>
          <a:xfrm>
            <a:off x="1252728" y="1979712"/>
            <a:ext cx="1691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20"/>
              <a:buFont typeface="Arial"/>
              <a:buNone/>
            </a:pPr>
            <a:r>
              <a:rPr lang="en-US" sz="920">
                <a:solidFill>
                  <a:srgbClr val="94A3B8"/>
                </a:solidFill>
              </a:rPr>
              <a:t>P</a:t>
            </a:r>
            <a:r>
              <a:rPr b="0" i="0" lang="en-US" sz="920" u="none" cap="none" strike="noStrike">
                <a:solidFill>
                  <a:srgbClr val="94A3B8"/>
                </a:solidFill>
                <a:latin typeface="Arial"/>
                <a:ea typeface="Arial"/>
                <a:cs typeface="Arial"/>
                <a:sym typeface="Arial"/>
              </a:rPr>
              <a:t>redecir los precios de las viviendas en Melbourne del 2017</a:t>
            </a:r>
            <a:endParaRPr b="0" i="0" sz="920" u="none" cap="none" strike="noStrike">
              <a:solidFill>
                <a:schemeClr val="dk1"/>
              </a:solidFill>
              <a:latin typeface="Arial"/>
              <a:ea typeface="Arial"/>
              <a:cs typeface="Arial"/>
              <a:sym typeface="Arial"/>
            </a:endParaRPr>
          </a:p>
        </p:txBody>
      </p:sp>
      <p:sp>
        <p:nvSpPr>
          <p:cNvPr id="98" name="Google Shape;98;p4"/>
          <p:cNvSpPr/>
          <p:nvPr/>
        </p:nvSpPr>
        <p:spPr>
          <a:xfrm rot="5400000">
            <a:off x="3200400" y="1929384"/>
            <a:ext cx="201168" cy="201168"/>
          </a:xfrm>
          <a:prstGeom prst="triangle">
            <a:avLst>
              <a:gd fmla="val 50000" name="adj"/>
            </a:avLst>
          </a:prstGeom>
          <a:solidFill>
            <a:srgbClr val="334155"/>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 name="Google Shape;99;p4"/>
          <p:cNvSpPr/>
          <p:nvPr/>
        </p:nvSpPr>
        <p:spPr>
          <a:xfrm>
            <a:off x="3520440" y="1536192"/>
            <a:ext cx="2331720" cy="1051560"/>
          </a:xfrm>
          <a:prstGeom prst="roundRect">
            <a:avLst>
              <a:gd fmla="val 6957" name="adj"/>
            </a:avLst>
          </a:prstGeom>
          <a:solidFill>
            <a:srgbClr val="111827"/>
          </a:solidFill>
          <a:ln cap="flat" cmpd="sng" w="12700">
            <a:solidFill>
              <a:srgbClr val="38BDF8">
                <a:alpha val="7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4"/>
          <p:cNvSpPr/>
          <p:nvPr/>
        </p:nvSpPr>
        <p:spPr>
          <a:xfrm>
            <a:off x="3657600" y="1700784"/>
            <a:ext cx="320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400"/>
              <a:buFont typeface="Arial"/>
              <a:buNone/>
            </a:pPr>
            <a:r>
              <a:rPr b="1" i="0" lang="en-US" sz="1400" u="none" cap="none" strike="noStrike">
                <a:solidFill>
                  <a:srgbClr val="38BDF8"/>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101" name="Google Shape;101;p4"/>
          <p:cNvSpPr/>
          <p:nvPr/>
        </p:nvSpPr>
        <p:spPr>
          <a:xfrm>
            <a:off x="3909035" y="1632240"/>
            <a:ext cx="1691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200"/>
              <a:buFont typeface="Arial"/>
              <a:buNone/>
            </a:pPr>
            <a:r>
              <a:rPr b="1" i="0" lang="en-US" sz="1200" u="none" cap="none" strike="noStrike">
                <a:solidFill>
                  <a:srgbClr val="F8FAFC"/>
                </a:solidFill>
                <a:latin typeface="Arial"/>
                <a:ea typeface="Arial"/>
                <a:cs typeface="Arial"/>
                <a:sym typeface="Arial"/>
              </a:rPr>
              <a:t>Recolección</a:t>
            </a:r>
            <a:endParaRPr b="0" i="0" sz="1200" u="none" cap="none" strike="noStrike">
              <a:solidFill>
                <a:schemeClr val="dk1"/>
              </a:solidFill>
              <a:latin typeface="Arial"/>
              <a:ea typeface="Arial"/>
              <a:cs typeface="Arial"/>
              <a:sym typeface="Arial"/>
            </a:endParaRPr>
          </a:p>
        </p:txBody>
      </p:sp>
      <p:sp>
        <p:nvSpPr>
          <p:cNvPr id="102" name="Google Shape;102;p4"/>
          <p:cNvSpPr/>
          <p:nvPr/>
        </p:nvSpPr>
        <p:spPr>
          <a:xfrm>
            <a:off x="3909025" y="1979693"/>
            <a:ext cx="1691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20"/>
              <a:buFont typeface="Arial"/>
              <a:buNone/>
            </a:pPr>
            <a:r>
              <a:rPr lang="en-US" sz="920">
                <a:solidFill>
                  <a:srgbClr val="94A3B8"/>
                </a:solidFill>
              </a:rPr>
              <a:t>Obtención del listado de 13.580 observaciones desde 28-01-2016 hasta 23-09-2017 </a:t>
            </a:r>
            <a:r>
              <a:rPr b="0" i="0" lang="en-US" sz="920" u="sng" cap="none" strike="noStrike">
                <a:solidFill>
                  <a:srgbClr val="94A3B8"/>
                </a:solidFill>
                <a:latin typeface="Arial"/>
                <a:ea typeface="Arial"/>
                <a:cs typeface="Arial"/>
                <a:sym typeface="Arial"/>
              </a:rPr>
              <a:t>housing_data.csv</a:t>
            </a:r>
            <a:endParaRPr b="0" i="0" sz="920" u="sng" cap="none" strike="noStrike">
              <a:solidFill>
                <a:schemeClr val="dk1"/>
              </a:solidFill>
              <a:latin typeface="Arial"/>
              <a:ea typeface="Arial"/>
              <a:cs typeface="Arial"/>
              <a:sym typeface="Arial"/>
            </a:endParaRPr>
          </a:p>
        </p:txBody>
      </p:sp>
      <p:sp>
        <p:nvSpPr>
          <p:cNvPr id="103" name="Google Shape;103;p4"/>
          <p:cNvSpPr/>
          <p:nvPr/>
        </p:nvSpPr>
        <p:spPr>
          <a:xfrm rot="5400000">
            <a:off x="5971032" y="1929384"/>
            <a:ext cx="201168" cy="201168"/>
          </a:xfrm>
          <a:prstGeom prst="triangle">
            <a:avLst>
              <a:gd fmla="val 50000" name="adj"/>
            </a:avLst>
          </a:prstGeom>
          <a:solidFill>
            <a:srgbClr val="334155"/>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4"/>
          <p:cNvSpPr/>
          <p:nvPr/>
        </p:nvSpPr>
        <p:spPr>
          <a:xfrm>
            <a:off x="6291072" y="1536192"/>
            <a:ext cx="2331720" cy="1051560"/>
          </a:xfrm>
          <a:prstGeom prst="roundRect">
            <a:avLst>
              <a:gd fmla="val 6957" name="adj"/>
            </a:avLst>
          </a:prstGeom>
          <a:solidFill>
            <a:srgbClr val="111827"/>
          </a:solidFill>
          <a:ln cap="flat" cmpd="sng" w="12700">
            <a:solidFill>
              <a:srgbClr val="F59E0B">
                <a:alpha val="7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4"/>
          <p:cNvSpPr/>
          <p:nvPr/>
        </p:nvSpPr>
        <p:spPr>
          <a:xfrm>
            <a:off x="6428232" y="1700784"/>
            <a:ext cx="320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400"/>
              <a:buFont typeface="Arial"/>
              <a:buNone/>
            </a:pPr>
            <a:r>
              <a:rPr b="1" i="0" lang="en-US" sz="1400" u="none" cap="none" strike="noStrike">
                <a:solidFill>
                  <a:srgbClr val="F59E0B"/>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06" name="Google Shape;106;p4"/>
          <p:cNvSpPr/>
          <p:nvPr/>
        </p:nvSpPr>
        <p:spPr>
          <a:xfrm>
            <a:off x="6793992" y="1691640"/>
            <a:ext cx="1691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200"/>
              <a:buFont typeface="Arial"/>
              <a:buNone/>
            </a:pPr>
            <a:r>
              <a:rPr b="1" i="0" lang="en-US" sz="1200" u="none" cap="none" strike="noStrike">
                <a:solidFill>
                  <a:srgbClr val="F8FAFC"/>
                </a:solidFill>
                <a:latin typeface="Arial"/>
                <a:ea typeface="Arial"/>
                <a:cs typeface="Arial"/>
                <a:sym typeface="Arial"/>
              </a:rPr>
              <a:t>Limpieza</a:t>
            </a:r>
            <a:endParaRPr b="0" i="0" sz="1200" u="none" cap="none" strike="noStrike">
              <a:solidFill>
                <a:schemeClr val="dk1"/>
              </a:solidFill>
              <a:latin typeface="Arial"/>
              <a:ea typeface="Arial"/>
              <a:cs typeface="Arial"/>
              <a:sym typeface="Arial"/>
            </a:endParaRPr>
          </a:p>
        </p:txBody>
      </p:sp>
      <p:sp>
        <p:nvSpPr>
          <p:cNvPr id="107" name="Google Shape;107;p4"/>
          <p:cNvSpPr/>
          <p:nvPr/>
        </p:nvSpPr>
        <p:spPr>
          <a:xfrm>
            <a:off x="6793992" y="2039112"/>
            <a:ext cx="16916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20"/>
              <a:buFont typeface="Arial"/>
              <a:buNone/>
            </a:pPr>
            <a:r>
              <a:rPr lang="en-US" sz="920">
                <a:solidFill>
                  <a:srgbClr val="94A3B8"/>
                </a:solidFill>
              </a:rPr>
              <a:t>Corrección de formatos de </a:t>
            </a:r>
            <a:r>
              <a:rPr b="0" i="0" lang="en-US" sz="920" u="none" cap="none" strike="noStrike">
                <a:solidFill>
                  <a:srgbClr val="94A3B8"/>
                </a:solidFill>
                <a:latin typeface="Arial"/>
                <a:ea typeface="Arial"/>
                <a:cs typeface="Arial"/>
                <a:sym typeface="Arial"/>
              </a:rPr>
              <a:t>fechas</a:t>
            </a:r>
            <a:r>
              <a:rPr lang="en-US" sz="920">
                <a:solidFill>
                  <a:srgbClr val="94A3B8"/>
                </a:solidFill>
              </a:rPr>
              <a:t>, identificación de</a:t>
            </a:r>
            <a:r>
              <a:rPr b="0" i="0" lang="en-US" sz="920" u="none" cap="none" strike="noStrike">
                <a:solidFill>
                  <a:srgbClr val="94A3B8"/>
                </a:solidFill>
                <a:latin typeface="Arial"/>
                <a:ea typeface="Arial"/>
                <a:cs typeface="Arial"/>
                <a:sym typeface="Arial"/>
              </a:rPr>
              <a:t> nulos</a:t>
            </a:r>
            <a:r>
              <a:rPr lang="en-US" sz="920">
                <a:solidFill>
                  <a:srgbClr val="94A3B8"/>
                </a:solidFill>
              </a:rPr>
              <a:t> y</a:t>
            </a:r>
            <a:r>
              <a:rPr b="0" i="0" lang="en-US" sz="920" u="none" cap="none" strike="noStrike">
                <a:solidFill>
                  <a:srgbClr val="94A3B8"/>
                </a:solidFill>
                <a:latin typeface="Arial"/>
                <a:ea typeface="Arial"/>
                <a:cs typeface="Arial"/>
                <a:sym typeface="Arial"/>
              </a:rPr>
              <a:t> datos duplicados.</a:t>
            </a:r>
            <a:endParaRPr b="0" i="0" sz="920" u="none" cap="none" strike="noStrike">
              <a:solidFill>
                <a:schemeClr val="dk1"/>
              </a:solidFill>
              <a:latin typeface="Arial"/>
              <a:ea typeface="Arial"/>
              <a:cs typeface="Arial"/>
              <a:sym typeface="Arial"/>
            </a:endParaRPr>
          </a:p>
        </p:txBody>
      </p:sp>
      <p:sp>
        <p:nvSpPr>
          <p:cNvPr id="108" name="Google Shape;108;p4"/>
          <p:cNvSpPr/>
          <p:nvPr/>
        </p:nvSpPr>
        <p:spPr>
          <a:xfrm rot="5400000">
            <a:off x="8741664" y="1929384"/>
            <a:ext cx="201168" cy="201168"/>
          </a:xfrm>
          <a:prstGeom prst="triangle">
            <a:avLst>
              <a:gd fmla="val 50000" name="adj"/>
            </a:avLst>
          </a:prstGeom>
          <a:solidFill>
            <a:srgbClr val="334155"/>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4"/>
          <p:cNvSpPr/>
          <p:nvPr/>
        </p:nvSpPr>
        <p:spPr>
          <a:xfrm>
            <a:off x="9061704" y="1536192"/>
            <a:ext cx="2331720" cy="1051560"/>
          </a:xfrm>
          <a:prstGeom prst="roundRect">
            <a:avLst>
              <a:gd fmla="val 6957" name="adj"/>
            </a:avLst>
          </a:prstGeom>
          <a:solidFill>
            <a:srgbClr val="111827"/>
          </a:solidFill>
          <a:ln cap="flat" cmpd="sng" w="12700">
            <a:solidFill>
              <a:srgbClr val="22C55E">
                <a:alpha val="7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4"/>
          <p:cNvSpPr/>
          <p:nvPr/>
        </p:nvSpPr>
        <p:spPr>
          <a:xfrm>
            <a:off x="9198864" y="1700784"/>
            <a:ext cx="320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1400"/>
              <a:buFont typeface="Arial"/>
              <a:buNone/>
            </a:pPr>
            <a:r>
              <a:rPr b="1" i="0" lang="en-US" sz="1400" u="none" cap="none" strike="noStrike">
                <a:solidFill>
                  <a:srgbClr val="22C55E"/>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111" name="Google Shape;111;p4"/>
          <p:cNvSpPr/>
          <p:nvPr/>
        </p:nvSpPr>
        <p:spPr>
          <a:xfrm>
            <a:off x="9427525" y="1632175"/>
            <a:ext cx="1828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200"/>
              <a:buFont typeface="Arial"/>
              <a:buNone/>
            </a:pPr>
            <a:r>
              <a:rPr b="1" i="0" lang="en-US" sz="1200" u="none" cap="none" strike="noStrike">
                <a:solidFill>
                  <a:srgbClr val="F8FAFC"/>
                </a:solidFill>
                <a:latin typeface="Arial"/>
                <a:ea typeface="Arial"/>
                <a:cs typeface="Arial"/>
                <a:sym typeface="Arial"/>
              </a:rPr>
              <a:t>EDA</a:t>
            </a:r>
            <a:endParaRPr b="0" i="0" sz="1200" u="none" cap="none" strike="noStrike">
              <a:solidFill>
                <a:schemeClr val="dk1"/>
              </a:solidFill>
              <a:latin typeface="Arial"/>
              <a:ea typeface="Arial"/>
              <a:cs typeface="Arial"/>
              <a:sym typeface="Arial"/>
            </a:endParaRPr>
          </a:p>
        </p:txBody>
      </p:sp>
      <p:sp>
        <p:nvSpPr>
          <p:cNvPr id="112" name="Google Shape;112;p4"/>
          <p:cNvSpPr/>
          <p:nvPr/>
        </p:nvSpPr>
        <p:spPr>
          <a:xfrm>
            <a:off x="9427475" y="1869900"/>
            <a:ext cx="1828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20"/>
              <a:buFont typeface="Arial"/>
              <a:buNone/>
            </a:pPr>
            <a:r>
              <a:rPr lang="en-US" sz="920">
                <a:solidFill>
                  <a:srgbClr val="94A3B8"/>
                </a:solidFill>
              </a:rPr>
              <a:t>Identificación de </a:t>
            </a:r>
            <a:r>
              <a:rPr b="0" i="0" lang="en-US" sz="920" u="none" cap="none" strike="noStrike">
                <a:solidFill>
                  <a:srgbClr val="94A3B8"/>
                </a:solidFill>
                <a:latin typeface="Arial"/>
                <a:ea typeface="Arial"/>
                <a:cs typeface="Arial"/>
                <a:sym typeface="Arial"/>
              </a:rPr>
              <a:t>patrones, an</a:t>
            </a:r>
            <a:r>
              <a:rPr lang="en-US" sz="920">
                <a:solidFill>
                  <a:srgbClr val="94A3B8"/>
                </a:solidFill>
              </a:rPr>
              <a:t>álisis de relaciones entre la variable objetivo y variables secundarias</a:t>
            </a:r>
            <a:r>
              <a:rPr b="0" i="0" lang="en-US" sz="920" u="none" cap="none" strike="noStrike">
                <a:solidFill>
                  <a:srgbClr val="94A3B8"/>
                </a:solidFill>
                <a:latin typeface="Arial"/>
                <a:ea typeface="Arial"/>
                <a:cs typeface="Arial"/>
                <a:sym typeface="Arial"/>
              </a:rPr>
              <a:t> · Definici</a:t>
            </a:r>
            <a:r>
              <a:rPr lang="en-US" sz="920">
                <a:solidFill>
                  <a:srgbClr val="94A3B8"/>
                </a:solidFill>
              </a:rPr>
              <a:t>ón de </a:t>
            </a:r>
            <a:r>
              <a:rPr b="0" i="0" lang="en-US" sz="920" u="none" cap="none" strike="noStrike">
                <a:solidFill>
                  <a:srgbClr val="94A3B8"/>
                </a:solidFill>
                <a:latin typeface="Arial"/>
                <a:ea typeface="Arial"/>
                <a:cs typeface="Arial"/>
                <a:sym typeface="Arial"/>
              </a:rPr>
              <a:t>hipótesis</a:t>
            </a:r>
            <a:endParaRPr b="0" i="0" sz="920" u="none" cap="none" strike="noStrike">
              <a:solidFill>
                <a:schemeClr val="dk1"/>
              </a:solidFill>
              <a:latin typeface="Arial"/>
              <a:ea typeface="Arial"/>
              <a:cs typeface="Arial"/>
              <a:sym typeface="Arial"/>
            </a:endParaRPr>
          </a:p>
        </p:txBody>
      </p:sp>
      <p:sp>
        <p:nvSpPr>
          <p:cNvPr id="113" name="Google Shape;113;p4"/>
          <p:cNvSpPr/>
          <p:nvPr/>
        </p:nvSpPr>
        <p:spPr>
          <a:xfrm>
            <a:off x="749808" y="3154680"/>
            <a:ext cx="10652760" cy="1591056"/>
          </a:xfrm>
          <a:prstGeom prst="roundRect">
            <a:avLst>
              <a:gd fmla="val 4598" name="adj"/>
            </a:avLst>
          </a:prstGeom>
          <a:solidFill>
            <a:srgbClr val="111827"/>
          </a:solidFill>
          <a:ln cap="flat" cmpd="sng" w="12700">
            <a:solidFill>
              <a:srgbClr val="33415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 name="Google Shape;114;p4"/>
          <p:cNvSpPr/>
          <p:nvPr/>
        </p:nvSpPr>
        <p:spPr>
          <a:xfrm>
            <a:off x="960120" y="3410712"/>
            <a:ext cx="21031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000"/>
              <a:buFont typeface="Arial"/>
              <a:buNone/>
            </a:pPr>
            <a:r>
              <a:rPr b="1" i="0" lang="en-US" sz="1000" u="none" cap="none" strike="noStrike">
                <a:solidFill>
                  <a:srgbClr val="2DD4BF"/>
                </a:solidFill>
                <a:latin typeface="Arial"/>
                <a:ea typeface="Arial"/>
                <a:cs typeface="Arial"/>
                <a:sym typeface="Arial"/>
              </a:rPr>
              <a:t>Target</a:t>
            </a:r>
            <a:endParaRPr b="0" i="0" sz="1000" u="none" cap="none" strike="noStrike">
              <a:solidFill>
                <a:schemeClr val="dk1"/>
              </a:solidFill>
              <a:latin typeface="Arial"/>
              <a:ea typeface="Arial"/>
              <a:cs typeface="Arial"/>
              <a:sym typeface="Arial"/>
            </a:endParaRPr>
          </a:p>
        </p:txBody>
      </p:sp>
      <p:sp>
        <p:nvSpPr>
          <p:cNvPr id="115" name="Google Shape;115;p4"/>
          <p:cNvSpPr/>
          <p:nvPr/>
        </p:nvSpPr>
        <p:spPr>
          <a:xfrm>
            <a:off x="960120" y="3822192"/>
            <a:ext cx="210312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100"/>
              <a:buFont typeface="Arial"/>
              <a:buNone/>
            </a:pPr>
            <a:r>
              <a:rPr b="1" i="0" lang="en-US" sz="1100" u="none" cap="none" strike="noStrike">
                <a:solidFill>
                  <a:srgbClr val="F8FAFC"/>
                </a:solidFill>
                <a:latin typeface="Arial"/>
                <a:ea typeface="Arial"/>
                <a:cs typeface="Arial"/>
                <a:sym typeface="Arial"/>
              </a:rPr>
              <a:t>Pr</a:t>
            </a:r>
            <a:r>
              <a:rPr b="1" lang="en-US" sz="1100">
                <a:solidFill>
                  <a:srgbClr val="F8FAFC"/>
                </a:solidFill>
              </a:rPr>
              <a:t>ecio</a:t>
            </a:r>
            <a:endParaRPr b="0" i="0" sz="1100" u="none" cap="none" strike="noStrike">
              <a:solidFill>
                <a:schemeClr val="dk1"/>
              </a:solidFill>
              <a:latin typeface="Arial"/>
              <a:ea typeface="Arial"/>
              <a:cs typeface="Arial"/>
              <a:sym typeface="Arial"/>
            </a:endParaRPr>
          </a:p>
        </p:txBody>
      </p:sp>
      <p:sp>
        <p:nvSpPr>
          <p:cNvPr id="116" name="Google Shape;116;p4"/>
          <p:cNvSpPr/>
          <p:nvPr/>
        </p:nvSpPr>
        <p:spPr>
          <a:xfrm>
            <a:off x="3538728" y="3410712"/>
            <a:ext cx="21031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000"/>
              <a:buFont typeface="Arial"/>
              <a:buNone/>
            </a:pPr>
            <a:r>
              <a:rPr b="1" i="0" lang="en-US" sz="1000" u="none" cap="none" strike="noStrike">
                <a:solidFill>
                  <a:srgbClr val="38BDF8"/>
                </a:solidFill>
                <a:latin typeface="Arial"/>
                <a:ea typeface="Arial"/>
                <a:cs typeface="Arial"/>
                <a:sym typeface="Arial"/>
              </a:rPr>
              <a:t>Estructural</a:t>
            </a:r>
            <a:endParaRPr b="0" i="0" sz="1000" u="none" cap="none" strike="noStrike">
              <a:solidFill>
                <a:schemeClr val="dk1"/>
              </a:solidFill>
              <a:latin typeface="Arial"/>
              <a:ea typeface="Arial"/>
              <a:cs typeface="Arial"/>
              <a:sym typeface="Arial"/>
            </a:endParaRPr>
          </a:p>
        </p:txBody>
      </p:sp>
      <p:sp>
        <p:nvSpPr>
          <p:cNvPr id="117" name="Google Shape;117;p4"/>
          <p:cNvSpPr/>
          <p:nvPr/>
        </p:nvSpPr>
        <p:spPr>
          <a:xfrm>
            <a:off x="3538728" y="3822192"/>
            <a:ext cx="2103120" cy="329184"/>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1100"/>
              <a:buFont typeface="Arial"/>
              <a:buNone/>
            </a:pPr>
            <a:r>
              <a:rPr b="1" lang="en-US" sz="1100">
                <a:solidFill>
                  <a:srgbClr val="F8FAFC"/>
                </a:solidFill>
              </a:rPr>
              <a:t>Habitaciones</a:t>
            </a:r>
            <a:r>
              <a:rPr b="1" i="0" lang="en-US" sz="1100" u="none" cap="none" strike="noStrike">
                <a:solidFill>
                  <a:srgbClr val="F8FAFC"/>
                </a:solidFill>
                <a:latin typeface="Arial"/>
                <a:ea typeface="Arial"/>
                <a:cs typeface="Arial"/>
                <a:sym typeface="Arial"/>
              </a:rPr>
              <a:t> · </a:t>
            </a:r>
            <a:r>
              <a:rPr b="1" lang="en-US" sz="1100">
                <a:solidFill>
                  <a:srgbClr val="F8FAFC"/>
                </a:solidFill>
              </a:rPr>
              <a:t>Baños</a:t>
            </a:r>
            <a:r>
              <a:rPr b="1" i="0" lang="en-US" sz="1100" u="none" cap="none" strike="noStrike">
                <a:solidFill>
                  <a:srgbClr val="F8FAFC"/>
                </a:solidFill>
                <a:latin typeface="Arial"/>
                <a:ea typeface="Arial"/>
                <a:cs typeface="Arial"/>
                <a:sym typeface="Arial"/>
              </a:rPr>
              <a:t> · </a:t>
            </a:r>
            <a:r>
              <a:rPr b="1" lang="en-US" sz="1100">
                <a:solidFill>
                  <a:srgbClr val="F8FAFC"/>
                </a:solidFill>
              </a:rPr>
              <a:t>Estacionamientos</a:t>
            </a:r>
            <a:r>
              <a:rPr b="1" i="0" lang="en-US" sz="1100" u="none" cap="none" strike="noStrike">
                <a:solidFill>
                  <a:srgbClr val="F8FAFC"/>
                </a:solidFill>
                <a:latin typeface="Arial"/>
                <a:ea typeface="Arial"/>
                <a:cs typeface="Arial"/>
                <a:sym typeface="Arial"/>
              </a:rPr>
              <a:t> · </a:t>
            </a:r>
            <a:r>
              <a:rPr b="1" lang="en-US" sz="1100">
                <a:solidFill>
                  <a:srgbClr val="F8FAFC"/>
                </a:solidFill>
              </a:rPr>
              <a:t>Tamaño del terreno</a:t>
            </a:r>
            <a:r>
              <a:rPr b="1" i="0" lang="en-US" sz="1100" u="none" cap="none" strike="noStrike">
                <a:solidFill>
                  <a:srgbClr val="F8FAFC"/>
                </a:solidFill>
                <a:latin typeface="Arial"/>
                <a:ea typeface="Arial"/>
                <a:cs typeface="Arial"/>
                <a:sym typeface="Arial"/>
              </a:rPr>
              <a:t> ·</a:t>
            </a:r>
            <a:r>
              <a:rPr b="1" lang="en-US" sz="1100">
                <a:solidFill>
                  <a:srgbClr val="F8FAFC"/>
                </a:solidFill>
              </a:rPr>
              <a:t> TIpo</a:t>
            </a:r>
            <a:r>
              <a:rPr b="1" i="0" lang="en-US" sz="1100" u="none" cap="none" strike="noStrike">
                <a:solidFill>
                  <a:srgbClr val="F8FAFC"/>
                </a:solidFill>
                <a:latin typeface="Arial"/>
                <a:ea typeface="Arial"/>
                <a:cs typeface="Arial"/>
                <a:sym typeface="Arial"/>
              </a:rPr>
              <a:t> </a:t>
            </a:r>
            <a:r>
              <a:rPr b="1" i="0" lang="en-US" sz="1100" u="none" cap="none" strike="noStrike">
                <a:solidFill>
                  <a:srgbClr val="F8FAFC"/>
                </a:solidFill>
                <a:latin typeface="Arial"/>
                <a:ea typeface="Arial"/>
                <a:cs typeface="Arial"/>
                <a:sym typeface="Arial"/>
              </a:rPr>
              <a:t>·</a:t>
            </a:r>
            <a:r>
              <a:rPr b="1" i="0" lang="en-US" sz="1100" u="none" cap="none" strike="noStrike">
                <a:solidFill>
                  <a:srgbClr val="F8FAFC"/>
                </a:solidFill>
                <a:latin typeface="Arial"/>
                <a:ea typeface="Arial"/>
                <a:cs typeface="Arial"/>
                <a:sym typeface="Arial"/>
              </a:rPr>
              <a:t> Otros</a:t>
            </a:r>
            <a:endParaRPr b="0" i="0" sz="1100" u="none" cap="none" strike="noStrike">
              <a:solidFill>
                <a:schemeClr val="dk1"/>
              </a:solidFill>
              <a:latin typeface="Arial"/>
              <a:ea typeface="Arial"/>
              <a:cs typeface="Arial"/>
              <a:sym typeface="Arial"/>
            </a:endParaRPr>
          </a:p>
        </p:txBody>
      </p:sp>
      <p:sp>
        <p:nvSpPr>
          <p:cNvPr id="118" name="Google Shape;118;p4"/>
          <p:cNvSpPr/>
          <p:nvPr/>
        </p:nvSpPr>
        <p:spPr>
          <a:xfrm>
            <a:off x="6117336" y="3410712"/>
            <a:ext cx="21031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000"/>
              <a:buFont typeface="Arial"/>
              <a:buNone/>
            </a:pPr>
            <a:r>
              <a:rPr b="1" i="0" lang="en-US" sz="1000" u="none" cap="none" strike="noStrike">
                <a:solidFill>
                  <a:srgbClr val="F59E0B"/>
                </a:solidFill>
                <a:latin typeface="Arial"/>
                <a:ea typeface="Arial"/>
                <a:cs typeface="Arial"/>
                <a:sym typeface="Arial"/>
              </a:rPr>
              <a:t>Espacial</a:t>
            </a:r>
            <a:endParaRPr b="0" i="0" sz="1000" u="none" cap="none" strike="noStrike">
              <a:solidFill>
                <a:schemeClr val="dk1"/>
              </a:solidFill>
              <a:latin typeface="Arial"/>
              <a:ea typeface="Arial"/>
              <a:cs typeface="Arial"/>
              <a:sym typeface="Arial"/>
            </a:endParaRPr>
          </a:p>
        </p:txBody>
      </p:sp>
      <p:sp>
        <p:nvSpPr>
          <p:cNvPr id="119" name="Google Shape;119;p4"/>
          <p:cNvSpPr/>
          <p:nvPr/>
        </p:nvSpPr>
        <p:spPr>
          <a:xfrm>
            <a:off x="6117336" y="3822192"/>
            <a:ext cx="2103120" cy="329184"/>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1100"/>
              <a:buFont typeface="Arial"/>
              <a:buNone/>
            </a:pPr>
            <a:r>
              <a:rPr b="1" lang="en-US" sz="1100">
                <a:solidFill>
                  <a:srgbClr val="F8FAFC"/>
                </a:solidFill>
              </a:rPr>
              <a:t>Barrio</a:t>
            </a:r>
            <a:r>
              <a:rPr b="1" i="0" lang="en-US" sz="1100" u="none" cap="none" strike="noStrike">
                <a:solidFill>
                  <a:srgbClr val="F8FAFC"/>
                </a:solidFill>
                <a:latin typeface="Arial"/>
                <a:ea typeface="Arial"/>
                <a:cs typeface="Arial"/>
                <a:sym typeface="Arial"/>
              </a:rPr>
              <a:t> · Distanc</a:t>
            </a:r>
            <a:r>
              <a:rPr b="1" lang="en-US" sz="1100">
                <a:solidFill>
                  <a:srgbClr val="F8FAFC"/>
                </a:solidFill>
              </a:rPr>
              <a:t>ia</a:t>
            </a:r>
            <a:r>
              <a:rPr b="1" i="0" lang="en-US" sz="1100" u="none" cap="none" strike="noStrike">
                <a:solidFill>
                  <a:srgbClr val="F8FAFC"/>
                </a:solidFill>
                <a:latin typeface="Arial"/>
                <a:ea typeface="Arial"/>
                <a:cs typeface="Arial"/>
                <a:sym typeface="Arial"/>
              </a:rPr>
              <a:t> · Regi</a:t>
            </a:r>
            <a:r>
              <a:rPr b="1" lang="en-US" sz="1100">
                <a:solidFill>
                  <a:srgbClr val="F8FAFC"/>
                </a:solidFill>
              </a:rPr>
              <a:t>ó</a:t>
            </a:r>
            <a:r>
              <a:rPr b="1" i="0" lang="en-US" sz="1100" u="none" cap="none" strike="noStrike">
                <a:solidFill>
                  <a:srgbClr val="F8FAFC"/>
                </a:solidFill>
                <a:latin typeface="Arial"/>
                <a:ea typeface="Arial"/>
                <a:cs typeface="Arial"/>
                <a:sym typeface="Arial"/>
              </a:rPr>
              <a:t>n · Latitud y Longitud · Otros</a:t>
            </a:r>
            <a:endParaRPr b="0" i="0" sz="1100" u="none" cap="none" strike="noStrike">
              <a:solidFill>
                <a:schemeClr val="dk1"/>
              </a:solidFill>
              <a:latin typeface="Arial"/>
              <a:ea typeface="Arial"/>
              <a:cs typeface="Arial"/>
              <a:sym typeface="Arial"/>
            </a:endParaRPr>
          </a:p>
        </p:txBody>
      </p:sp>
      <p:sp>
        <p:nvSpPr>
          <p:cNvPr id="120" name="Google Shape;120;p4"/>
          <p:cNvSpPr/>
          <p:nvPr/>
        </p:nvSpPr>
        <p:spPr>
          <a:xfrm>
            <a:off x="8695944" y="3410712"/>
            <a:ext cx="21031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1000"/>
              <a:buFont typeface="Arial"/>
              <a:buNone/>
            </a:pPr>
            <a:r>
              <a:rPr b="1" i="0" lang="en-US" sz="1000" u="none" cap="none" strike="noStrike">
                <a:solidFill>
                  <a:srgbClr val="22C55E"/>
                </a:solidFill>
                <a:latin typeface="Arial"/>
                <a:ea typeface="Arial"/>
                <a:cs typeface="Arial"/>
                <a:sym typeface="Arial"/>
              </a:rPr>
              <a:t>Comercial</a:t>
            </a:r>
            <a:endParaRPr b="0" i="0" sz="1000" u="none" cap="none" strike="noStrike">
              <a:solidFill>
                <a:schemeClr val="dk1"/>
              </a:solidFill>
              <a:latin typeface="Arial"/>
              <a:ea typeface="Arial"/>
              <a:cs typeface="Arial"/>
              <a:sym typeface="Arial"/>
            </a:endParaRPr>
          </a:p>
        </p:txBody>
      </p:sp>
      <p:sp>
        <p:nvSpPr>
          <p:cNvPr id="121" name="Google Shape;121;p4"/>
          <p:cNvSpPr/>
          <p:nvPr/>
        </p:nvSpPr>
        <p:spPr>
          <a:xfrm>
            <a:off x="8695944" y="3822192"/>
            <a:ext cx="210312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100"/>
              <a:buFont typeface="Arial"/>
              <a:buNone/>
            </a:pPr>
            <a:r>
              <a:rPr b="1" i="0" lang="en-US" sz="1100" u="none" cap="none" strike="noStrike">
                <a:solidFill>
                  <a:srgbClr val="F8FAFC"/>
                </a:solidFill>
                <a:latin typeface="Arial"/>
                <a:ea typeface="Arial"/>
                <a:cs typeface="Arial"/>
                <a:sym typeface="Arial"/>
              </a:rPr>
              <a:t>M</a:t>
            </a:r>
            <a:r>
              <a:rPr b="1" lang="en-US" sz="1100">
                <a:solidFill>
                  <a:srgbClr val="F8FAFC"/>
                </a:solidFill>
              </a:rPr>
              <a:t>ét</a:t>
            </a:r>
            <a:r>
              <a:rPr b="1" i="0" lang="en-US" sz="1100" u="none" cap="none" strike="noStrike">
                <a:solidFill>
                  <a:srgbClr val="F8FAFC"/>
                </a:solidFill>
                <a:latin typeface="Arial"/>
                <a:ea typeface="Arial"/>
                <a:cs typeface="Arial"/>
                <a:sym typeface="Arial"/>
              </a:rPr>
              <a:t>od</a:t>
            </a:r>
            <a:r>
              <a:rPr b="1" lang="en-US" sz="1100">
                <a:solidFill>
                  <a:srgbClr val="F8FAFC"/>
                </a:solidFill>
              </a:rPr>
              <a:t>o</a:t>
            </a:r>
            <a:r>
              <a:rPr b="1" i="0" lang="en-US" sz="1100" u="none" cap="none" strike="noStrike">
                <a:solidFill>
                  <a:srgbClr val="F8FAFC"/>
                </a:solidFill>
                <a:latin typeface="Arial"/>
                <a:ea typeface="Arial"/>
                <a:cs typeface="Arial"/>
                <a:sym typeface="Arial"/>
              </a:rPr>
              <a:t> · </a:t>
            </a:r>
            <a:r>
              <a:rPr b="1" lang="en-US" sz="1100">
                <a:solidFill>
                  <a:srgbClr val="F8FAFC"/>
                </a:solidFill>
              </a:rPr>
              <a:t>Vendedor</a:t>
            </a:r>
            <a:r>
              <a:rPr b="1" i="0" lang="en-US" sz="1100" u="none" cap="none" strike="noStrike">
                <a:solidFill>
                  <a:srgbClr val="F8FAFC"/>
                </a:solidFill>
                <a:latin typeface="Arial"/>
                <a:ea typeface="Arial"/>
                <a:cs typeface="Arial"/>
                <a:sym typeface="Arial"/>
              </a:rPr>
              <a:t> · </a:t>
            </a:r>
            <a:r>
              <a:rPr b="1" lang="en-US" sz="1100">
                <a:solidFill>
                  <a:srgbClr val="F8FAFC"/>
                </a:solidFill>
              </a:rPr>
              <a:t>Fecha</a:t>
            </a:r>
            <a:endParaRPr b="0" i="0" sz="1100" u="none" cap="none" strike="noStrike">
              <a:solidFill>
                <a:schemeClr val="dk1"/>
              </a:solidFill>
              <a:latin typeface="Arial"/>
              <a:ea typeface="Arial"/>
              <a:cs typeface="Arial"/>
              <a:sym typeface="Arial"/>
            </a:endParaRPr>
          </a:p>
        </p:txBody>
      </p:sp>
      <p:sp>
        <p:nvSpPr>
          <p:cNvPr id="122" name="Google Shape;122;p4"/>
          <p:cNvSpPr/>
          <p:nvPr/>
        </p:nvSpPr>
        <p:spPr>
          <a:xfrm>
            <a:off x="749808" y="53035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200"/>
              <a:buFont typeface="Arial"/>
              <a:buNone/>
            </a:pPr>
            <a:r>
              <a:rPr b="0" i="0" lang="en-US" sz="1200" u="none" cap="none" strike="noStrike">
                <a:solidFill>
                  <a:srgbClr val="94A3B8"/>
                </a:solidFill>
                <a:latin typeface="Arial"/>
                <a:ea typeface="Arial"/>
                <a:cs typeface="Arial"/>
                <a:sym typeface="Arial"/>
              </a:rPr>
              <a:t>Unidad de análisis: una transacción inmobiliaria. El año se extrae de </a:t>
            </a:r>
            <a:r>
              <a:rPr lang="en-US" sz="1200">
                <a:solidFill>
                  <a:srgbClr val="94A3B8"/>
                </a:solidFill>
              </a:rPr>
              <a:t>“Fecha”</a:t>
            </a:r>
            <a:r>
              <a:rPr b="0" i="0" lang="en-US" sz="1200" u="none" cap="none" strike="noStrike">
                <a:solidFill>
                  <a:srgbClr val="94A3B8"/>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123" name="Google Shape;123;p4"/>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8" name="Shape 128"/>
        <p:cNvGrpSpPr/>
        <p:nvPr/>
      </p:nvGrpSpPr>
      <p:grpSpPr>
        <a:xfrm>
          <a:off x="0" y="0"/>
          <a:ext cx="0" cy="0"/>
          <a:chOff x="0" y="0"/>
          <a:chExt cx="0" cy="0"/>
        </a:xfrm>
      </p:grpSpPr>
      <p:sp>
        <p:nvSpPr>
          <p:cNvPr id="129" name="Google Shape;129;p5"/>
          <p:cNvSpPr/>
          <p:nvPr/>
        </p:nvSpPr>
        <p:spPr>
          <a:xfrm>
            <a:off x="0" y="0"/>
            <a:ext cx="12191695"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30" name="Google Shape;130;p5"/>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131" name="Google Shape;131;p5"/>
          <p:cNvCxnSpPr/>
          <p:nvPr/>
        </p:nvCxnSpPr>
        <p:spPr>
          <a:xfrm>
            <a:off x="640080" y="6199632"/>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132" name="Google Shape;132;p5"/>
          <p:cNvSpPr/>
          <p:nvPr/>
        </p:nvSpPr>
        <p:spPr>
          <a:xfrm>
            <a:off x="548640" y="347472"/>
            <a:ext cx="9368092"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Limpieza de Datos</a:t>
            </a:r>
            <a:r>
              <a:rPr b="1" lang="en-US" sz="2600">
                <a:solidFill>
                  <a:srgbClr val="F8FAFC"/>
                </a:solidFill>
                <a:latin typeface="Play"/>
                <a:ea typeface="Play"/>
                <a:cs typeface="Play"/>
                <a:sym typeface="Play"/>
              </a:rPr>
              <a:t> -</a:t>
            </a:r>
            <a:r>
              <a:rPr b="1" i="0" lang="en-US" sz="2600" u="none" cap="none" strike="noStrike">
                <a:solidFill>
                  <a:srgbClr val="F8FAFC"/>
                </a:solidFill>
                <a:latin typeface="Play"/>
                <a:ea typeface="Play"/>
                <a:cs typeface="Play"/>
                <a:sym typeface="Play"/>
              </a:rPr>
              <a:t> Calidad de datos:</a:t>
            </a:r>
            <a:endParaRPr b="0" i="0" sz="2600" u="none" cap="none" strike="noStrike">
              <a:solidFill>
                <a:schemeClr val="dk1"/>
              </a:solidFill>
              <a:latin typeface="Arial"/>
              <a:ea typeface="Arial"/>
              <a:cs typeface="Arial"/>
              <a:sym typeface="Arial"/>
            </a:endParaRPr>
          </a:p>
        </p:txBody>
      </p:sp>
      <p:sp>
        <p:nvSpPr>
          <p:cNvPr id="133" name="Google Shape;133;p5"/>
          <p:cNvSpPr/>
          <p:nvPr/>
        </p:nvSpPr>
        <p:spPr>
          <a:xfrm>
            <a:off x="566928" y="841248"/>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Arial"/>
              <a:buNone/>
            </a:pPr>
            <a:r>
              <a:rPr b="0" i="0" lang="en-US" sz="950" u="none" cap="none" strike="noStrike">
                <a:solidFill>
                  <a:srgbClr val="94A3B8"/>
                </a:solidFill>
                <a:latin typeface="Arial"/>
                <a:ea typeface="Arial"/>
                <a:cs typeface="Arial"/>
                <a:sym typeface="Arial"/>
              </a:rPr>
              <a:t>El EDA no solo describe; evita errores antes de modelar.</a:t>
            </a:r>
            <a:endParaRPr b="0" i="0" sz="950" u="none" cap="none" strike="noStrike">
              <a:solidFill>
                <a:schemeClr val="dk1"/>
              </a:solidFill>
              <a:latin typeface="Arial"/>
              <a:ea typeface="Arial"/>
              <a:cs typeface="Arial"/>
              <a:sym typeface="Arial"/>
            </a:endParaRPr>
          </a:p>
        </p:txBody>
      </p:sp>
      <p:pic>
        <p:nvPicPr>
          <p:cNvPr descr="/mnt/data/pitch_assets/missingness.png" id="134" name="Google Shape;134;p5"/>
          <p:cNvPicPr preferRelativeResize="0"/>
          <p:nvPr/>
        </p:nvPicPr>
        <p:blipFill rotWithShape="1">
          <a:blip r:embed="rId3">
            <a:alphaModFix/>
          </a:blip>
          <a:srcRect b="0" l="0" r="0" t="9641"/>
          <a:stretch/>
        </p:blipFill>
        <p:spPr>
          <a:xfrm>
            <a:off x="502925" y="1547525"/>
            <a:ext cx="5715001" cy="2933024"/>
          </a:xfrm>
          <a:prstGeom prst="rect">
            <a:avLst/>
          </a:prstGeom>
          <a:noFill/>
          <a:ln>
            <a:noFill/>
          </a:ln>
        </p:spPr>
      </p:pic>
      <p:sp>
        <p:nvSpPr>
          <p:cNvPr id="135" name="Google Shape;135;p5"/>
          <p:cNvSpPr/>
          <p:nvPr/>
        </p:nvSpPr>
        <p:spPr>
          <a:xfrm>
            <a:off x="6629400" y="1389900"/>
            <a:ext cx="5066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300"/>
              <a:buFont typeface="Arial"/>
              <a:buNone/>
            </a:pPr>
            <a:r>
              <a:rPr b="1" i="0" lang="en-US" sz="1300" u="none" cap="none" strike="noStrike">
                <a:solidFill>
                  <a:srgbClr val="2DD4BF"/>
                </a:solidFill>
                <a:latin typeface="Arial"/>
                <a:ea typeface="Arial"/>
                <a:cs typeface="Arial"/>
                <a:sym typeface="Arial"/>
              </a:rPr>
              <a:t>Alertas que conviene corregir/descartar antes d</a:t>
            </a:r>
            <a:r>
              <a:rPr b="1" lang="en-US" sz="1300">
                <a:solidFill>
                  <a:srgbClr val="2DD4BF"/>
                </a:solidFill>
              </a:rPr>
              <a:t>el modelo</a:t>
            </a:r>
            <a:r>
              <a:rPr b="1" i="0" lang="en-US" sz="1300" u="none" cap="none" strike="noStrike">
                <a:solidFill>
                  <a:srgbClr val="2DD4BF"/>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136" name="Google Shape;136;p5"/>
          <p:cNvSpPr/>
          <p:nvPr/>
        </p:nvSpPr>
        <p:spPr>
          <a:xfrm>
            <a:off x="6583680" y="1874520"/>
            <a:ext cx="4434840" cy="676656"/>
          </a:xfrm>
          <a:prstGeom prst="roundRect">
            <a:avLst>
              <a:gd fmla="val 10811" name="adj"/>
            </a:avLst>
          </a:prstGeom>
          <a:solidFill>
            <a:srgbClr val="111827"/>
          </a:solidFill>
          <a:ln cap="flat" cmpd="sng" w="12700">
            <a:solidFill>
              <a:srgbClr val="FB7185">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5"/>
          <p:cNvSpPr/>
          <p:nvPr/>
        </p:nvSpPr>
        <p:spPr>
          <a:xfrm>
            <a:off x="6748272" y="2020824"/>
            <a:ext cx="4105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7185"/>
              </a:buClr>
              <a:buSzPts val="1200"/>
              <a:buFont typeface="Arial"/>
              <a:buNone/>
            </a:pPr>
            <a:r>
              <a:rPr b="1" lang="en-US" sz="1200">
                <a:solidFill>
                  <a:srgbClr val="FB7185"/>
                </a:solidFill>
              </a:rPr>
              <a:t>97,2% de los nulos están en estos atributos</a:t>
            </a:r>
            <a:endParaRPr b="0" i="0" sz="1200" u="none" cap="none" strike="noStrike">
              <a:solidFill>
                <a:schemeClr val="dk1"/>
              </a:solidFill>
              <a:latin typeface="Arial"/>
              <a:ea typeface="Arial"/>
              <a:cs typeface="Arial"/>
              <a:sym typeface="Arial"/>
            </a:endParaRPr>
          </a:p>
        </p:txBody>
      </p:sp>
      <p:sp>
        <p:nvSpPr>
          <p:cNvPr id="138" name="Google Shape;138;p5"/>
          <p:cNvSpPr/>
          <p:nvPr/>
        </p:nvSpPr>
        <p:spPr>
          <a:xfrm>
            <a:off x="6748272" y="2368296"/>
            <a:ext cx="4105656" cy="7315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F8FAFC"/>
              </a:buClr>
              <a:buSzPts val="506"/>
              <a:buFont typeface="Arial"/>
              <a:buNone/>
            </a:pPr>
            <a:r>
              <a:rPr b="0" i="0" lang="en-US" sz="506" u="none" cap="none" strike="noStrike">
                <a:solidFill>
                  <a:srgbClr val="F8FAFC"/>
                </a:solidFill>
                <a:latin typeface="Arial"/>
                <a:ea typeface="Arial"/>
                <a:cs typeface="Arial"/>
                <a:sym typeface="Arial"/>
              </a:rPr>
              <a:t>BuildingArea 47,5%; YearBuilt 39,6%; CouncilArea 10,1%.</a:t>
            </a:r>
            <a:endParaRPr b="0" i="0" sz="506" u="none" cap="none" strike="noStrike">
              <a:solidFill>
                <a:schemeClr val="dk1"/>
              </a:solidFill>
              <a:latin typeface="Arial"/>
              <a:ea typeface="Arial"/>
              <a:cs typeface="Arial"/>
              <a:sym typeface="Arial"/>
            </a:endParaRPr>
          </a:p>
        </p:txBody>
      </p:sp>
      <p:sp>
        <p:nvSpPr>
          <p:cNvPr id="139" name="Google Shape;139;p5"/>
          <p:cNvSpPr/>
          <p:nvPr/>
        </p:nvSpPr>
        <p:spPr>
          <a:xfrm>
            <a:off x="6583680" y="2697480"/>
            <a:ext cx="4434840" cy="676656"/>
          </a:xfrm>
          <a:prstGeom prst="roundRect">
            <a:avLst>
              <a:gd fmla="val 10811" name="adj"/>
            </a:avLst>
          </a:prstGeom>
          <a:solidFill>
            <a:srgbClr val="111827"/>
          </a:solidFill>
          <a:ln cap="flat" cmpd="sng" w="12700">
            <a:solidFill>
              <a:srgbClr val="F59E0B">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5"/>
          <p:cNvSpPr/>
          <p:nvPr/>
        </p:nvSpPr>
        <p:spPr>
          <a:xfrm>
            <a:off x="6748272" y="2843784"/>
            <a:ext cx="4105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200"/>
              <a:buFont typeface="Arial"/>
              <a:buNone/>
            </a:pPr>
            <a:r>
              <a:rPr b="1" i="0" lang="en-US" sz="1200" u="none" cap="none" strike="noStrike">
                <a:solidFill>
                  <a:srgbClr val="F59E0B"/>
                </a:solidFill>
                <a:latin typeface="Arial"/>
                <a:ea typeface="Arial"/>
                <a:cs typeface="Arial"/>
                <a:sym typeface="Arial"/>
              </a:rPr>
              <a:t>Zeros sospechosos en estos campos</a:t>
            </a:r>
            <a:endParaRPr b="0" i="0" sz="1200" u="none" cap="none" strike="noStrike">
              <a:solidFill>
                <a:schemeClr val="dk1"/>
              </a:solidFill>
              <a:latin typeface="Arial"/>
              <a:ea typeface="Arial"/>
              <a:cs typeface="Arial"/>
              <a:sym typeface="Arial"/>
            </a:endParaRPr>
          </a:p>
        </p:txBody>
      </p:sp>
      <p:sp>
        <p:nvSpPr>
          <p:cNvPr id="141" name="Google Shape;141;p5"/>
          <p:cNvSpPr/>
          <p:nvPr/>
        </p:nvSpPr>
        <p:spPr>
          <a:xfrm>
            <a:off x="6748272" y="3191256"/>
            <a:ext cx="4105656" cy="7315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F8FAFC"/>
              </a:buClr>
              <a:buSzPts val="506"/>
              <a:buFont typeface="Arial"/>
              <a:buNone/>
            </a:pPr>
            <a:r>
              <a:rPr b="0" i="0" lang="en-US" sz="506" u="none" cap="none" strike="noStrike">
                <a:solidFill>
                  <a:srgbClr val="F8FAFC"/>
                </a:solidFill>
                <a:latin typeface="Arial"/>
                <a:ea typeface="Arial"/>
                <a:cs typeface="Arial"/>
                <a:sym typeface="Arial"/>
              </a:rPr>
              <a:t>1.939 Landsize=0; 17 BuildingArea=0; 6 Distance=0.</a:t>
            </a:r>
            <a:endParaRPr b="0" i="0" sz="506" u="none" cap="none" strike="noStrike">
              <a:solidFill>
                <a:schemeClr val="dk1"/>
              </a:solidFill>
              <a:latin typeface="Arial"/>
              <a:ea typeface="Arial"/>
              <a:cs typeface="Arial"/>
              <a:sym typeface="Arial"/>
            </a:endParaRPr>
          </a:p>
        </p:txBody>
      </p:sp>
      <p:sp>
        <p:nvSpPr>
          <p:cNvPr id="142" name="Google Shape;142;p5"/>
          <p:cNvSpPr/>
          <p:nvPr/>
        </p:nvSpPr>
        <p:spPr>
          <a:xfrm>
            <a:off x="6583680" y="3520440"/>
            <a:ext cx="4434840" cy="676656"/>
          </a:xfrm>
          <a:prstGeom prst="roundRect">
            <a:avLst>
              <a:gd fmla="val 10811" name="adj"/>
            </a:avLst>
          </a:prstGeom>
          <a:solidFill>
            <a:srgbClr val="111827"/>
          </a:solidFill>
          <a:ln cap="flat" cmpd="sng" w="12700">
            <a:solidFill>
              <a:srgbClr val="38BDF8">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5"/>
          <p:cNvSpPr/>
          <p:nvPr/>
        </p:nvSpPr>
        <p:spPr>
          <a:xfrm>
            <a:off x="6748272" y="3666744"/>
            <a:ext cx="4105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200"/>
              <a:buFont typeface="Arial"/>
              <a:buNone/>
            </a:pPr>
            <a:r>
              <a:rPr b="1" i="0" lang="en-US" sz="1200" u="none" cap="none" strike="noStrike">
                <a:solidFill>
                  <a:srgbClr val="38BDF8"/>
                </a:solidFill>
                <a:latin typeface="Arial"/>
                <a:ea typeface="Arial"/>
                <a:cs typeface="Arial"/>
                <a:sym typeface="Arial"/>
              </a:rPr>
              <a:t>Rango temporal: 201</a:t>
            </a:r>
            <a:r>
              <a:rPr b="1" lang="en-US" sz="1200">
                <a:solidFill>
                  <a:srgbClr val="38BDF8"/>
                </a:solidFill>
              </a:rPr>
              <a:t>6 (ene-dic) y 2017 (ene-sep)</a:t>
            </a:r>
            <a:endParaRPr b="0" i="0" sz="1200" u="none" cap="none" strike="noStrike">
              <a:solidFill>
                <a:schemeClr val="dk1"/>
              </a:solidFill>
              <a:latin typeface="Arial"/>
              <a:ea typeface="Arial"/>
              <a:cs typeface="Arial"/>
              <a:sym typeface="Arial"/>
            </a:endParaRPr>
          </a:p>
        </p:txBody>
      </p:sp>
      <p:sp>
        <p:nvSpPr>
          <p:cNvPr id="144" name="Google Shape;144;p5"/>
          <p:cNvSpPr/>
          <p:nvPr/>
        </p:nvSpPr>
        <p:spPr>
          <a:xfrm>
            <a:off x="6748272" y="4014216"/>
            <a:ext cx="4105656" cy="73152"/>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F8FAFC"/>
              </a:buClr>
              <a:buSzPts val="506"/>
              <a:buFont typeface="Arial"/>
              <a:buNone/>
            </a:pPr>
            <a:r>
              <a:rPr b="0" i="0" lang="en-US" sz="506" u="none" cap="none" strike="noStrike">
                <a:solidFill>
                  <a:srgbClr val="F8FAFC"/>
                </a:solidFill>
                <a:latin typeface="Arial"/>
                <a:ea typeface="Arial"/>
                <a:cs typeface="Arial"/>
                <a:sym typeface="Arial"/>
              </a:rPr>
              <a:t>2017 llega solo hasta 23-sep: no llamarlo “año completo”.</a:t>
            </a:r>
            <a:endParaRPr b="0" i="0" sz="506" u="none" cap="none" strike="noStrike">
              <a:solidFill>
                <a:schemeClr val="dk1"/>
              </a:solidFill>
              <a:latin typeface="Arial"/>
              <a:ea typeface="Arial"/>
              <a:cs typeface="Arial"/>
              <a:sym typeface="Arial"/>
            </a:endParaRPr>
          </a:p>
        </p:txBody>
      </p:sp>
      <p:sp>
        <p:nvSpPr>
          <p:cNvPr id="145" name="Google Shape;145;p5"/>
          <p:cNvSpPr/>
          <p:nvPr/>
        </p:nvSpPr>
        <p:spPr>
          <a:xfrm>
            <a:off x="658368" y="5650992"/>
            <a:ext cx="101498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350"/>
              <a:buFont typeface="Arial"/>
              <a:buNone/>
            </a:pPr>
            <a:r>
              <a:rPr b="1" i="0" lang="en-US" sz="1350" u="none" cap="none" strike="noStrike">
                <a:solidFill>
                  <a:srgbClr val="F8FAFC"/>
                </a:solidFill>
                <a:latin typeface="Arial"/>
                <a:ea typeface="Arial"/>
                <a:cs typeface="Arial"/>
                <a:sym typeface="Arial"/>
              </a:rPr>
              <a:t>Decisión técnica: </a:t>
            </a:r>
            <a:r>
              <a:rPr b="1" lang="en-US" sz="1350">
                <a:solidFill>
                  <a:srgbClr val="F8FAFC"/>
                </a:solidFill>
              </a:rPr>
              <a:t>por ahora, creemos que los atributos espaciales anteriores no influyen en los precios por la falta de datos, por lo que habría que investigar o incorporar información o simplemente eliminarlos para evitar sesgo.</a:t>
            </a:r>
            <a:endParaRPr b="0" i="0" sz="1350" u="none" cap="none" strike="noStrike">
              <a:solidFill>
                <a:schemeClr val="dk1"/>
              </a:solidFill>
              <a:latin typeface="Arial"/>
              <a:ea typeface="Arial"/>
              <a:cs typeface="Arial"/>
              <a:sym typeface="Arial"/>
            </a:endParaRPr>
          </a:p>
        </p:txBody>
      </p:sp>
      <p:sp>
        <p:nvSpPr>
          <p:cNvPr id="146" name="Google Shape;146;p5"/>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sp>
        <p:nvSpPr>
          <p:cNvPr id="147" name="Google Shape;147;p5"/>
          <p:cNvSpPr/>
          <p:nvPr/>
        </p:nvSpPr>
        <p:spPr>
          <a:xfrm>
            <a:off x="566925" y="1273325"/>
            <a:ext cx="5715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300"/>
              <a:buFont typeface="Arial"/>
              <a:buNone/>
            </a:pPr>
            <a:r>
              <a:rPr b="1" lang="en-US" sz="1300">
                <a:solidFill>
                  <a:schemeClr val="lt1"/>
                </a:solidFill>
              </a:rPr>
              <a:t>Identificación de atributos que no poseen datos en todas las filas:</a:t>
            </a:r>
            <a:endParaRPr b="0" i="0" sz="13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52" name="Shape 152"/>
        <p:cNvGrpSpPr/>
        <p:nvPr/>
      </p:nvGrpSpPr>
      <p:grpSpPr>
        <a:xfrm>
          <a:off x="0" y="0"/>
          <a:ext cx="0" cy="0"/>
          <a:chOff x="0" y="0"/>
          <a:chExt cx="0" cy="0"/>
        </a:xfrm>
      </p:grpSpPr>
      <p:sp>
        <p:nvSpPr>
          <p:cNvPr id="153" name="Google Shape;153;p6"/>
          <p:cNvSpPr/>
          <p:nvPr/>
        </p:nvSpPr>
        <p:spPr>
          <a:xfrm>
            <a:off x="0" y="347472"/>
            <a:ext cx="12191700"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54" name="Google Shape;154;p6"/>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155" name="Google Shape;155;p6"/>
          <p:cNvCxnSpPr/>
          <p:nvPr/>
        </p:nvCxnSpPr>
        <p:spPr>
          <a:xfrm>
            <a:off x="640080" y="6199632"/>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156" name="Google Shape;156;p6"/>
          <p:cNvSpPr/>
          <p:nvPr/>
        </p:nvSpPr>
        <p:spPr>
          <a:xfrm>
            <a:off x="548640" y="347472"/>
            <a:ext cx="804672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Análisis Exploratorio</a:t>
            </a:r>
            <a:r>
              <a:rPr b="1" lang="en-US" sz="2600">
                <a:solidFill>
                  <a:srgbClr val="F8FAFC"/>
                </a:solidFill>
                <a:latin typeface="Play"/>
                <a:ea typeface="Play"/>
                <a:cs typeface="Play"/>
                <a:sym typeface="Play"/>
              </a:rPr>
              <a:t> de los Datos</a:t>
            </a:r>
            <a:endParaRPr b="0" i="0" sz="2600" u="none" cap="none" strike="noStrike">
              <a:solidFill>
                <a:schemeClr val="dk1"/>
              </a:solidFill>
              <a:latin typeface="Arial"/>
              <a:ea typeface="Arial"/>
              <a:cs typeface="Arial"/>
              <a:sym typeface="Arial"/>
            </a:endParaRPr>
          </a:p>
        </p:txBody>
      </p:sp>
      <p:sp>
        <p:nvSpPr>
          <p:cNvPr id="157" name="Google Shape;157;p6"/>
          <p:cNvSpPr/>
          <p:nvPr/>
        </p:nvSpPr>
        <p:spPr>
          <a:xfrm>
            <a:off x="566928" y="841248"/>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Arial"/>
              <a:buNone/>
            </a:pPr>
            <a:r>
              <a:rPr b="0" i="0" lang="en-US" sz="950" u="none" cap="none" strike="noStrike">
                <a:solidFill>
                  <a:srgbClr val="94A3B8"/>
                </a:solidFill>
                <a:latin typeface="Arial"/>
                <a:ea typeface="Arial"/>
                <a:cs typeface="Arial"/>
                <a:sym typeface="Arial"/>
              </a:rPr>
              <a:t>La señal aparece en los </a:t>
            </a:r>
            <a:r>
              <a:rPr lang="en-US" sz="950">
                <a:solidFill>
                  <a:srgbClr val="94A3B8"/>
                </a:solidFill>
              </a:rPr>
              <a:t>atributos de </a:t>
            </a:r>
            <a:r>
              <a:rPr b="0" i="0" lang="en-US" sz="950" u="none" cap="none" strike="noStrike">
                <a:solidFill>
                  <a:srgbClr val="94A3B8"/>
                </a:solidFill>
                <a:latin typeface="Arial"/>
                <a:ea typeface="Arial"/>
                <a:cs typeface="Arial"/>
                <a:sym typeface="Arial"/>
              </a:rPr>
              <a:t>estructura</a:t>
            </a:r>
            <a:r>
              <a:rPr lang="en-US" sz="950">
                <a:solidFill>
                  <a:srgbClr val="94A3B8"/>
                </a:solidFill>
              </a:rPr>
              <a:t>: habitaciones, </a:t>
            </a:r>
            <a:r>
              <a:rPr b="0" i="0" lang="en-US" sz="950" u="none" cap="none" strike="noStrike">
                <a:solidFill>
                  <a:srgbClr val="94A3B8"/>
                </a:solidFill>
                <a:latin typeface="Arial"/>
                <a:ea typeface="Arial"/>
                <a:cs typeface="Arial"/>
                <a:sym typeface="Arial"/>
              </a:rPr>
              <a:t>tipo de vivienda y ubicación (meno</a:t>
            </a:r>
            <a:r>
              <a:rPr lang="en-US" sz="950">
                <a:solidFill>
                  <a:srgbClr val="94A3B8"/>
                </a:solidFill>
              </a:rPr>
              <a:t>r impacto)</a:t>
            </a:r>
            <a:r>
              <a:rPr b="0" i="0" lang="en-US" sz="950" u="none" cap="none" strike="noStrike">
                <a:solidFill>
                  <a:srgbClr val="94A3B8"/>
                </a:solidFill>
                <a:latin typeface="Arial"/>
                <a:ea typeface="Arial"/>
                <a:cs typeface="Arial"/>
                <a:sym typeface="Arial"/>
              </a:rPr>
              <a:t>.</a:t>
            </a:r>
            <a:endParaRPr b="0" i="0" sz="950" u="none" cap="none" strike="noStrike">
              <a:solidFill>
                <a:schemeClr val="dk1"/>
              </a:solidFill>
              <a:latin typeface="Arial"/>
              <a:ea typeface="Arial"/>
              <a:cs typeface="Arial"/>
              <a:sym typeface="Arial"/>
            </a:endParaRPr>
          </a:p>
        </p:txBody>
      </p:sp>
      <p:pic>
        <p:nvPicPr>
          <p:cNvPr descr="/mnt/data/pitch_assets/rooms_median.png" id="158" name="Google Shape;158;p6"/>
          <p:cNvPicPr preferRelativeResize="0"/>
          <p:nvPr/>
        </p:nvPicPr>
        <p:blipFill rotWithShape="1">
          <a:blip r:embed="rId3">
            <a:alphaModFix/>
          </a:blip>
          <a:srcRect b="0" l="0" r="0" t="8088"/>
          <a:stretch/>
        </p:blipFill>
        <p:spPr>
          <a:xfrm>
            <a:off x="474475" y="1702000"/>
            <a:ext cx="5029201" cy="2521300"/>
          </a:xfrm>
          <a:prstGeom prst="rect">
            <a:avLst/>
          </a:prstGeom>
          <a:noFill/>
          <a:ln>
            <a:noFill/>
          </a:ln>
        </p:spPr>
      </p:pic>
      <p:pic>
        <p:nvPicPr>
          <p:cNvPr descr="/mnt/data/pitch_assets/type_median.png" id="159" name="Google Shape;159;p6"/>
          <p:cNvPicPr preferRelativeResize="0"/>
          <p:nvPr/>
        </p:nvPicPr>
        <p:blipFill rotWithShape="1">
          <a:blip r:embed="rId4">
            <a:alphaModFix/>
          </a:blip>
          <a:srcRect b="0" l="0" r="0" t="8223"/>
          <a:stretch/>
        </p:blipFill>
        <p:spPr>
          <a:xfrm>
            <a:off x="5715000" y="1755200"/>
            <a:ext cx="2750900" cy="2475549"/>
          </a:xfrm>
          <a:prstGeom prst="rect">
            <a:avLst/>
          </a:prstGeom>
          <a:noFill/>
          <a:ln>
            <a:noFill/>
          </a:ln>
        </p:spPr>
      </p:pic>
      <p:pic>
        <p:nvPicPr>
          <p:cNvPr descr="/mnt/data/pitch_assets/correlations.png" id="160" name="Google Shape;160;p6"/>
          <p:cNvPicPr preferRelativeResize="0"/>
          <p:nvPr/>
        </p:nvPicPr>
        <p:blipFill rotWithShape="1">
          <a:blip r:embed="rId5">
            <a:alphaModFix/>
          </a:blip>
          <a:srcRect b="0" l="0" r="0" t="0"/>
          <a:stretch/>
        </p:blipFill>
        <p:spPr>
          <a:xfrm>
            <a:off x="8823960" y="1257300"/>
            <a:ext cx="2788919" cy="2880359"/>
          </a:xfrm>
          <a:prstGeom prst="rect">
            <a:avLst/>
          </a:prstGeom>
          <a:noFill/>
          <a:ln>
            <a:noFill/>
          </a:ln>
        </p:spPr>
      </p:pic>
      <p:sp>
        <p:nvSpPr>
          <p:cNvPr id="161" name="Google Shape;161;p6"/>
          <p:cNvSpPr/>
          <p:nvPr/>
        </p:nvSpPr>
        <p:spPr>
          <a:xfrm>
            <a:off x="685800" y="4572000"/>
            <a:ext cx="2057400" cy="987552"/>
          </a:xfrm>
          <a:prstGeom prst="roundRect">
            <a:avLst>
              <a:gd fmla="val 7407" name="adj"/>
            </a:avLst>
          </a:prstGeom>
          <a:solidFill>
            <a:srgbClr val="111827"/>
          </a:solidFill>
          <a:ln cap="flat" cmpd="sng" w="15225">
            <a:solidFill>
              <a:srgbClr val="2DD4BF">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2" name="Google Shape;162;p6"/>
          <p:cNvSpPr/>
          <p:nvPr/>
        </p:nvSpPr>
        <p:spPr>
          <a:xfrm>
            <a:off x="850392" y="4718304"/>
            <a:ext cx="1728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2300"/>
              <a:buFont typeface="Arial"/>
              <a:buNone/>
            </a:pPr>
            <a:r>
              <a:rPr b="1" lang="en-US" sz="1300">
                <a:solidFill>
                  <a:srgbClr val="2DD4BF"/>
                </a:solidFill>
              </a:rPr>
              <a:t>Habitaciones sí aportan señal clara</a:t>
            </a:r>
            <a:endParaRPr b="0" i="0" sz="1300" u="none" cap="none" strike="noStrike">
              <a:solidFill>
                <a:schemeClr val="dk1"/>
              </a:solidFill>
              <a:latin typeface="Arial"/>
              <a:ea typeface="Arial"/>
              <a:cs typeface="Arial"/>
              <a:sym typeface="Arial"/>
            </a:endParaRPr>
          </a:p>
        </p:txBody>
      </p:sp>
      <p:sp>
        <p:nvSpPr>
          <p:cNvPr id="163" name="Google Shape;163;p6"/>
          <p:cNvSpPr/>
          <p:nvPr/>
        </p:nvSpPr>
        <p:spPr>
          <a:xfrm>
            <a:off x="850392" y="5138928"/>
            <a:ext cx="17282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770">
                <a:solidFill>
                  <a:srgbClr val="94A3B8"/>
                </a:solidFill>
              </a:rPr>
              <a:t>A mayor cantidad de habitaciones, el precio tienden a aumentar</a:t>
            </a:r>
            <a:endParaRPr b="0" i="0" sz="770" u="none" cap="none" strike="noStrike">
              <a:solidFill>
                <a:schemeClr val="dk1"/>
              </a:solidFill>
              <a:latin typeface="Arial"/>
              <a:ea typeface="Arial"/>
              <a:cs typeface="Arial"/>
              <a:sym typeface="Arial"/>
            </a:endParaRPr>
          </a:p>
        </p:txBody>
      </p:sp>
      <p:sp>
        <p:nvSpPr>
          <p:cNvPr id="164" name="Google Shape;164;p6"/>
          <p:cNvSpPr/>
          <p:nvPr/>
        </p:nvSpPr>
        <p:spPr>
          <a:xfrm>
            <a:off x="2971800" y="4572000"/>
            <a:ext cx="2514600" cy="987552"/>
          </a:xfrm>
          <a:prstGeom prst="roundRect">
            <a:avLst>
              <a:gd fmla="val 7407" name="adj"/>
            </a:avLst>
          </a:prstGeom>
          <a:solidFill>
            <a:srgbClr val="111827"/>
          </a:solidFill>
          <a:ln cap="flat" cmpd="sng" w="15225">
            <a:solidFill>
              <a:srgbClr val="FB7185">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6"/>
          <p:cNvSpPr/>
          <p:nvPr/>
        </p:nvSpPr>
        <p:spPr>
          <a:xfrm>
            <a:off x="3136392" y="4718304"/>
            <a:ext cx="21854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7185"/>
              </a:buClr>
              <a:buSzPts val="2300"/>
              <a:buFont typeface="Arial"/>
              <a:buNone/>
            </a:pPr>
            <a:r>
              <a:rPr b="1" lang="en-US" sz="1300">
                <a:solidFill>
                  <a:srgbClr val="FB7185"/>
                </a:solidFill>
              </a:rPr>
              <a:t>El tipo de vivienda importa para establecer el precio</a:t>
            </a:r>
            <a:endParaRPr b="0" i="0" sz="1300" u="none" cap="none" strike="noStrike">
              <a:solidFill>
                <a:schemeClr val="dk1"/>
              </a:solidFill>
              <a:latin typeface="Arial"/>
              <a:ea typeface="Arial"/>
              <a:cs typeface="Arial"/>
              <a:sym typeface="Arial"/>
            </a:endParaRPr>
          </a:p>
        </p:txBody>
      </p:sp>
      <p:sp>
        <p:nvSpPr>
          <p:cNvPr id="166" name="Google Shape;166;p6"/>
          <p:cNvSpPr/>
          <p:nvPr/>
        </p:nvSpPr>
        <p:spPr>
          <a:xfrm>
            <a:off x="3136392" y="5138928"/>
            <a:ext cx="21854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770">
                <a:solidFill>
                  <a:srgbClr val="94A3B8"/>
                </a:solidFill>
              </a:rPr>
              <a:t>Las casas, casas pareadas y dúplex, presentan niveles de precios claramente distintos.</a:t>
            </a:r>
            <a:endParaRPr b="0" i="0" sz="770" u="none" cap="none" strike="noStrike">
              <a:solidFill>
                <a:schemeClr val="dk1"/>
              </a:solidFill>
              <a:latin typeface="Arial"/>
              <a:ea typeface="Arial"/>
              <a:cs typeface="Arial"/>
              <a:sym typeface="Arial"/>
            </a:endParaRPr>
          </a:p>
        </p:txBody>
      </p:sp>
      <p:sp>
        <p:nvSpPr>
          <p:cNvPr id="167" name="Google Shape;167;p6"/>
          <p:cNvSpPr/>
          <p:nvPr/>
        </p:nvSpPr>
        <p:spPr>
          <a:xfrm>
            <a:off x="5715000" y="4572000"/>
            <a:ext cx="2331720" cy="987552"/>
          </a:xfrm>
          <a:prstGeom prst="roundRect">
            <a:avLst>
              <a:gd fmla="val 7407" name="adj"/>
            </a:avLst>
          </a:prstGeom>
          <a:solidFill>
            <a:srgbClr val="111827"/>
          </a:solidFill>
          <a:ln cap="flat" cmpd="sng" w="15225">
            <a:solidFill>
              <a:srgbClr val="F59E0B">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6"/>
          <p:cNvSpPr/>
          <p:nvPr/>
        </p:nvSpPr>
        <p:spPr>
          <a:xfrm>
            <a:off x="5879592" y="4718304"/>
            <a:ext cx="200253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2300"/>
              <a:buFont typeface="Arial"/>
              <a:buNone/>
            </a:pPr>
            <a:r>
              <a:rPr b="1" lang="en-US" sz="1300">
                <a:solidFill>
                  <a:srgbClr val="F59E0B"/>
                </a:solidFill>
              </a:rPr>
              <a:t>Existen variables redundantes</a:t>
            </a:r>
            <a:endParaRPr b="0" i="0" sz="1300" u="none" cap="none" strike="noStrike">
              <a:solidFill>
                <a:schemeClr val="dk1"/>
              </a:solidFill>
              <a:latin typeface="Arial"/>
              <a:ea typeface="Arial"/>
              <a:cs typeface="Arial"/>
              <a:sym typeface="Arial"/>
            </a:endParaRPr>
          </a:p>
        </p:txBody>
      </p:sp>
      <p:sp>
        <p:nvSpPr>
          <p:cNvPr id="169" name="Google Shape;169;p6"/>
          <p:cNvSpPr/>
          <p:nvPr/>
        </p:nvSpPr>
        <p:spPr>
          <a:xfrm>
            <a:off x="5879600" y="5138925"/>
            <a:ext cx="20025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770">
                <a:solidFill>
                  <a:srgbClr val="94A3B8"/>
                </a:solidFill>
              </a:rPr>
              <a:t>Las variables “Rooms” y “Bedrooms2” tienen una correlación 0.944, por lo que entregan información muy similar.</a:t>
            </a:r>
            <a:endParaRPr b="0" i="0" sz="770" u="none" cap="none" strike="noStrike">
              <a:solidFill>
                <a:schemeClr val="dk1"/>
              </a:solidFill>
              <a:latin typeface="Arial"/>
              <a:ea typeface="Arial"/>
              <a:cs typeface="Arial"/>
              <a:sym typeface="Arial"/>
            </a:endParaRPr>
          </a:p>
        </p:txBody>
      </p:sp>
      <p:sp>
        <p:nvSpPr>
          <p:cNvPr id="170" name="Google Shape;170;p6"/>
          <p:cNvSpPr/>
          <p:nvPr/>
        </p:nvSpPr>
        <p:spPr>
          <a:xfrm>
            <a:off x="8275320" y="4572000"/>
            <a:ext cx="2148840" cy="987552"/>
          </a:xfrm>
          <a:prstGeom prst="roundRect">
            <a:avLst>
              <a:gd fmla="val 7407" name="adj"/>
            </a:avLst>
          </a:prstGeom>
          <a:solidFill>
            <a:srgbClr val="111827"/>
          </a:solidFill>
          <a:ln cap="flat" cmpd="sng" w="15225">
            <a:solidFill>
              <a:srgbClr val="38BDF8">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1" name="Google Shape;171;p6"/>
          <p:cNvSpPr/>
          <p:nvPr/>
        </p:nvSpPr>
        <p:spPr>
          <a:xfrm>
            <a:off x="8439912" y="4718304"/>
            <a:ext cx="181965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2300"/>
              <a:buFont typeface="Arial"/>
              <a:buNone/>
            </a:pPr>
            <a:r>
              <a:rPr b="1" lang="en-US" sz="1300">
                <a:solidFill>
                  <a:srgbClr val="38BDF8"/>
                </a:solidFill>
              </a:rPr>
              <a:t>La distancia tiene menor impacto</a:t>
            </a:r>
            <a:endParaRPr b="0" i="0" sz="1300" u="none" cap="none" strike="noStrike">
              <a:solidFill>
                <a:schemeClr val="dk1"/>
              </a:solidFill>
              <a:latin typeface="Arial"/>
              <a:ea typeface="Arial"/>
              <a:cs typeface="Arial"/>
              <a:sym typeface="Arial"/>
            </a:endParaRPr>
          </a:p>
        </p:txBody>
      </p:sp>
      <p:sp>
        <p:nvSpPr>
          <p:cNvPr id="172" name="Google Shape;172;p6"/>
          <p:cNvSpPr/>
          <p:nvPr/>
        </p:nvSpPr>
        <p:spPr>
          <a:xfrm>
            <a:off x="8439912" y="5138928"/>
            <a:ext cx="1819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770">
                <a:solidFill>
                  <a:srgbClr val="94A3B8"/>
                </a:solidFill>
              </a:rPr>
              <a:t>Su relación con el precio es débil (-0,163), por lo que no explica por sí misma las diferencias de valor.</a:t>
            </a:r>
            <a:endParaRPr b="0" i="0" sz="770" u="none" cap="none" strike="noStrike">
              <a:solidFill>
                <a:schemeClr val="dk1"/>
              </a:solidFill>
              <a:latin typeface="Arial"/>
              <a:ea typeface="Arial"/>
              <a:cs typeface="Arial"/>
              <a:sym typeface="Arial"/>
            </a:endParaRPr>
          </a:p>
        </p:txBody>
      </p:sp>
      <p:sp>
        <p:nvSpPr>
          <p:cNvPr id="173" name="Google Shape;173;p6"/>
          <p:cNvSpPr/>
          <p:nvPr/>
        </p:nvSpPr>
        <p:spPr>
          <a:xfrm>
            <a:off x="658368" y="5806440"/>
            <a:ext cx="75895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350"/>
              <a:buFont typeface="Arial"/>
              <a:buNone/>
            </a:pPr>
            <a:r>
              <a:rPr b="1" lang="en-US" sz="1350">
                <a:solidFill>
                  <a:srgbClr val="F8FAFC"/>
                </a:solidFill>
              </a:rPr>
              <a:t>La estructura y el tipo de los inmuebles es lo que importa para predecir los precios.</a:t>
            </a:r>
            <a:endParaRPr b="0" i="0" sz="1350" u="none" cap="none" strike="noStrike">
              <a:solidFill>
                <a:schemeClr val="dk1"/>
              </a:solidFill>
              <a:latin typeface="Arial"/>
              <a:ea typeface="Arial"/>
              <a:cs typeface="Arial"/>
              <a:sym typeface="Arial"/>
            </a:endParaRPr>
          </a:p>
        </p:txBody>
      </p:sp>
      <p:sp>
        <p:nvSpPr>
          <p:cNvPr id="174" name="Google Shape;174;p6"/>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sp>
        <p:nvSpPr>
          <p:cNvPr id="175" name="Google Shape;175;p6"/>
          <p:cNvSpPr/>
          <p:nvPr/>
        </p:nvSpPr>
        <p:spPr>
          <a:xfrm>
            <a:off x="474475" y="1294725"/>
            <a:ext cx="3909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300"/>
              <a:buFont typeface="Arial"/>
              <a:buNone/>
            </a:pPr>
            <a:r>
              <a:rPr b="1" lang="en-US" sz="1200">
                <a:solidFill>
                  <a:schemeClr val="lt1"/>
                </a:solidFill>
              </a:rPr>
              <a:t>Señal estructural: más habitaciones tienden a asociarse con mayor precio</a:t>
            </a:r>
            <a:endParaRPr b="0" i="0" sz="1200" u="none" cap="none" strike="noStrike">
              <a:solidFill>
                <a:schemeClr val="lt1"/>
              </a:solidFill>
              <a:latin typeface="Arial"/>
              <a:ea typeface="Arial"/>
              <a:cs typeface="Arial"/>
              <a:sym typeface="Arial"/>
            </a:endParaRPr>
          </a:p>
        </p:txBody>
      </p:sp>
      <p:sp>
        <p:nvSpPr>
          <p:cNvPr id="176" name="Google Shape;176;p6"/>
          <p:cNvSpPr/>
          <p:nvPr/>
        </p:nvSpPr>
        <p:spPr>
          <a:xfrm>
            <a:off x="5879600" y="1289138"/>
            <a:ext cx="2586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300"/>
              <a:buFont typeface="Arial"/>
              <a:buNone/>
            </a:pPr>
            <a:r>
              <a:rPr b="1" lang="en-US" sz="1200">
                <a:solidFill>
                  <a:schemeClr val="lt1"/>
                </a:solidFill>
              </a:rPr>
              <a:t>El tipo de vivienda marca diferencia de precios (mediana)</a:t>
            </a:r>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81" name="Shape 181"/>
        <p:cNvGrpSpPr/>
        <p:nvPr/>
      </p:nvGrpSpPr>
      <p:grpSpPr>
        <a:xfrm>
          <a:off x="0" y="0"/>
          <a:ext cx="0" cy="0"/>
          <a:chOff x="0" y="0"/>
          <a:chExt cx="0" cy="0"/>
        </a:xfrm>
      </p:grpSpPr>
      <p:sp>
        <p:nvSpPr>
          <p:cNvPr id="182" name="Google Shape;182;p7"/>
          <p:cNvSpPr/>
          <p:nvPr/>
        </p:nvSpPr>
        <p:spPr>
          <a:xfrm>
            <a:off x="0" y="0"/>
            <a:ext cx="12191695" cy="6858000"/>
          </a:xfrm>
          <a:prstGeom prst="rect">
            <a:avLst/>
          </a:prstGeom>
          <a:solidFill>
            <a:srgbClr val="0B1220"/>
          </a:solidFill>
          <a:ln cap="flat" cmpd="sng" w="12700">
            <a:solidFill>
              <a:srgbClr val="0B122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83" name="Google Shape;183;p7"/>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184" name="Google Shape;184;p7"/>
          <p:cNvCxnSpPr/>
          <p:nvPr/>
        </p:nvCxnSpPr>
        <p:spPr>
          <a:xfrm>
            <a:off x="640080" y="6199632"/>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185" name="Google Shape;185;p7"/>
          <p:cNvSpPr/>
          <p:nvPr/>
        </p:nvSpPr>
        <p:spPr>
          <a:xfrm>
            <a:off x="548640" y="347472"/>
            <a:ext cx="804672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2016→2017: precio estable, </a:t>
            </a:r>
            <a:r>
              <a:rPr b="1" lang="en-US" sz="2600">
                <a:solidFill>
                  <a:srgbClr val="F8FAFC"/>
                </a:solidFill>
                <a:latin typeface="Play"/>
                <a:ea typeface="Play"/>
                <a:cs typeface="Play"/>
                <a:sym typeface="Play"/>
              </a:rPr>
              <a:t>composición diferente</a:t>
            </a:r>
            <a:endParaRPr b="0" i="0" sz="2600" u="none" cap="none" strike="noStrike">
              <a:solidFill>
                <a:schemeClr val="dk1"/>
              </a:solidFill>
              <a:latin typeface="Arial"/>
              <a:ea typeface="Arial"/>
              <a:cs typeface="Arial"/>
              <a:sym typeface="Arial"/>
            </a:endParaRPr>
          </a:p>
        </p:txBody>
      </p:sp>
      <p:sp>
        <p:nvSpPr>
          <p:cNvPr id="186" name="Google Shape;186;p7"/>
          <p:cNvSpPr/>
          <p:nvPr/>
        </p:nvSpPr>
        <p:spPr>
          <a:xfrm>
            <a:off x="566928" y="841248"/>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Arial"/>
              <a:buNone/>
            </a:pPr>
            <a:r>
              <a:rPr lang="en-US" sz="950">
                <a:solidFill>
                  <a:srgbClr val="94A3B8"/>
                </a:solidFill>
              </a:rPr>
              <a:t>El precio se mantiene estable, pero cambia el mercado observado</a:t>
            </a:r>
            <a:endParaRPr b="0" i="0" sz="950" u="none" cap="none" strike="noStrike">
              <a:solidFill>
                <a:schemeClr val="dk1"/>
              </a:solidFill>
              <a:latin typeface="Arial"/>
              <a:ea typeface="Arial"/>
              <a:cs typeface="Arial"/>
              <a:sym typeface="Arial"/>
            </a:endParaRPr>
          </a:p>
        </p:txBody>
      </p:sp>
      <p:pic>
        <p:nvPicPr>
          <p:cNvPr descr="/mnt/data/pitch_assets/temporal_shift.png" id="187" name="Google Shape;187;p7"/>
          <p:cNvPicPr preferRelativeResize="0"/>
          <p:nvPr/>
        </p:nvPicPr>
        <p:blipFill rotWithShape="1">
          <a:blip r:embed="rId3">
            <a:alphaModFix/>
          </a:blip>
          <a:srcRect b="0" l="0" r="0" t="0"/>
          <a:stretch/>
        </p:blipFill>
        <p:spPr>
          <a:xfrm>
            <a:off x="502920" y="1485900"/>
            <a:ext cx="5760720" cy="3383280"/>
          </a:xfrm>
          <a:prstGeom prst="rect">
            <a:avLst/>
          </a:prstGeom>
          <a:noFill/>
          <a:ln>
            <a:noFill/>
          </a:ln>
        </p:spPr>
      </p:pic>
      <p:sp>
        <p:nvSpPr>
          <p:cNvPr id="188" name="Google Shape;188;p7"/>
          <p:cNvSpPr/>
          <p:nvPr/>
        </p:nvSpPr>
        <p:spPr>
          <a:xfrm>
            <a:off x="6720840" y="1604772"/>
            <a:ext cx="2240280" cy="987552"/>
          </a:xfrm>
          <a:prstGeom prst="roundRect">
            <a:avLst>
              <a:gd fmla="val 7407" name="adj"/>
            </a:avLst>
          </a:prstGeom>
          <a:solidFill>
            <a:srgbClr val="111827"/>
          </a:solidFill>
          <a:ln cap="flat" cmpd="sng" w="15225">
            <a:solidFill>
              <a:srgbClr val="22C55E">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7"/>
          <p:cNvSpPr/>
          <p:nvPr/>
        </p:nvSpPr>
        <p:spPr>
          <a:xfrm>
            <a:off x="6885432" y="1751076"/>
            <a:ext cx="191109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2300"/>
              <a:buFont typeface="Arial"/>
              <a:buNone/>
            </a:pPr>
            <a:r>
              <a:rPr b="1" i="0" lang="en-US" sz="2300" u="none" cap="none" strike="noStrike">
                <a:solidFill>
                  <a:srgbClr val="22C55E"/>
                </a:solidFill>
                <a:latin typeface="Arial"/>
                <a:ea typeface="Arial"/>
                <a:cs typeface="Arial"/>
                <a:sym typeface="Arial"/>
              </a:rPr>
              <a:t>+1,1%</a:t>
            </a:r>
            <a:endParaRPr b="0" i="0" sz="2300" u="none" cap="none" strike="noStrike">
              <a:solidFill>
                <a:schemeClr val="dk1"/>
              </a:solidFill>
              <a:latin typeface="Arial"/>
              <a:ea typeface="Arial"/>
              <a:cs typeface="Arial"/>
              <a:sym typeface="Arial"/>
            </a:endParaRPr>
          </a:p>
        </p:txBody>
      </p:sp>
      <p:sp>
        <p:nvSpPr>
          <p:cNvPr id="190" name="Google Shape;190;p7"/>
          <p:cNvSpPr/>
          <p:nvPr/>
        </p:nvSpPr>
        <p:spPr>
          <a:xfrm>
            <a:off x="6885432" y="2171700"/>
            <a:ext cx="191109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b="0" i="0" lang="en-US" sz="870" u="none" cap="none" strike="noStrike">
                <a:solidFill>
                  <a:srgbClr val="94A3B8"/>
                </a:solidFill>
                <a:latin typeface="Arial"/>
                <a:ea typeface="Arial"/>
                <a:cs typeface="Arial"/>
                <a:sym typeface="Arial"/>
              </a:rPr>
              <a:t>mediana de precio: 900k→910k lo cual es estable.</a:t>
            </a:r>
            <a:endParaRPr b="0" i="0" sz="870" u="none" cap="none" strike="noStrike">
              <a:solidFill>
                <a:schemeClr val="dk1"/>
              </a:solidFill>
              <a:latin typeface="Arial"/>
              <a:ea typeface="Arial"/>
              <a:cs typeface="Arial"/>
              <a:sym typeface="Arial"/>
            </a:endParaRPr>
          </a:p>
        </p:txBody>
      </p:sp>
      <p:sp>
        <p:nvSpPr>
          <p:cNvPr id="191" name="Google Shape;191;p7"/>
          <p:cNvSpPr/>
          <p:nvPr/>
        </p:nvSpPr>
        <p:spPr>
          <a:xfrm>
            <a:off x="9235440" y="1604772"/>
            <a:ext cx="2148840" cy="987552"/>
          </a:xfrm>
          <a:prstGeom prst="roundRect">
            <a:avLst>
              <a:gd fmla="val 7407" name="adj"/>
            </a:avLst>
          </a:prstGeom>
          <a:solidFill>
            <a:srgbClr val="111827"/>
          </a:solidFill>
          <a:ln cap="flat" cmpd="sng" w="15225">
            <a:solidFill>
              <a:srgbClr val="FB7185">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2" name="Google Shape;192;p7"/>
          <p:cNvSpPr/>
          <p:nvPr/>
        </p:nvSpPr>
        <p:spPr>
          <a:xfrm>
            <a:off x="9400032" y="1751076"/>
            <a:ext cx="181965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7185"/>
              </a:buClr>
              <a:buSzPts val="2300"/>
              <a:buFont typeface="Arial"/>
              <a:buNone/>
            </a:pPr>
            <a:r>
              <a:rPr b="1" i="0" lang="en-US" sz="2300" u="none" cap="none" strike="noStrike">
                <a:solidFill>
                  <a:srgbClr val="FB7185"/>
                </a:solidFill>
                <a:latin typeface="Arial"/>
                <a:ea typeface="Arial"/>
                <a:cs typeface="Arial"/>
                <a:sym typeface="Arial"/>
              </a:rPr>
              <a:t>172</a:t>
            </a:r>
            <a:endParaRPr b="0" i="0" sz="2300" u="none" cap="none" strike="noStrike">
              <a:solidFill>
                <a:schemeClr val="dk1"/>
              </a:solidFill>
              <a:latin typeface="Arial"/>
              <a:ea typeface="Arial"/>
              <a:cs typeface="Arial"/>
              <a:sym typeface="Arial"/>
            </a:endParaRPr>
          </a:p>
        </p:txBody>
      </p:sp>
      <p:sp>
        <p:nvSpPr>
          <p:cNvPr id="193" name="Google Shape;193;p7"/>
          <p:cNvSpPr/>
          <p:nvPr/>
        </p:nvSpPr>
        <p:spPr>
          <a:xfrm>
            <a:off x="9400032" y="2171700"/>
            <a:ext cx="1819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870">
                <a:solidFill>
                  <a:srgbClr val="94A3B8"/>
                </a:solidFill>
              </a:rPr>
              <a:t>Barrios</a:t>
            </a:r>
            <a:r>
              <a:rPr b="0" i="0" lang="en-US" sz="870" u="none" cap="none" strike="noStrike">
                <a:solidFill>
                  <a:srgbClr val="94A3B8"/>
                </a:solidFill>
                <a:latin typeface="Arial"/>
                <a:ea typeface="Arial"/>
                <a:cs typeface="Arial"/>
                <a:sym typeface="Arial"/>
              </a:rPr>
              <a:t> observados en 2017 pero </a:t>
            </a:r>
            <a:r>
              <a:rPr lang="en-US" sz="870">
                <a:solidFill>
                  <a:srgbClr val="94A3B8"/>
                </a:solidFill>
              </a:rPr>
              <a:t>no observados </a:t>
            </a:r>
            <a:r>
              <a:rPr b="0" i="0" lang="en-US" sz="870" u="none" cap="none" strike="noStrike">
                <a:solidFill>
                  <a:srgbClr val="94A3B8"/>
                </a:solidFill>
                <a:latin typeface="Arial"/>
                <a:ea typeface="Arial"/>
                <a:cs typeface="Arial"/>
                <a:sym typeface="Arial"/>
              </a:rPr>
              <a:t>en 201</a:t>
            </a:r>
            <a:r>
              <a:rPr lang="en-US" sz="870">
                <a:solidFill>
                  <a:srgbClr val="94A3B8"/>
                </a:solidFill>
              </a:rPr>
              <a:t>6</a:t>
            </a:r>
            <a:endParaRPr b="0" i="0" sz="870" u="none" cap="none" strike="noStrike">
              <a:solidFill>
                <a:schemeClr val="dk1"/>
              </a:solidFill>
              <a:latin typeface="Arial"/>
              <a:ea typeface="Arial"/>
              <a:cs typeface="Arial"/>
              <a:sym typeface="Arial"/>
            </a:endParaRPr>
          </a:p>
        </p:txBody>
      </p:sp>
      <p:sp>
        <p:nvSpPr>
          <p:cNvPr id="194" name="Google Shape;194;p7"/>
          <p:cNvSpPr/>
          <p:nvPr/>
        </p:nvSpPr>
        <p:spPr>
          <a:xfrm>
            <a:off x="6720840" y="2884932"/>
            <a:ext cx="2240280" cy="987552"/>
          </a:xfrm>
          <a:prstGeom prst="roundRect">
            <a:avLst>
              <a:gd fmla="val 7407" name="adj"/>
            </a:avLst>
          </a:prstGeom>
          <a:solidFill>
            <a:srgbClr val="111827"/>
          </a:solidFill>
          <a:ln cap="flat" cmpd="sng" w="15225">
            <a:solidFill>
              <a:srgbClr val="F59E0B">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5" name="Google Shape;195;p7"/>
          <p:cNvSpPr/>
          <p:nvPr/>
        </p:nvSpPr>
        <p:spPr>
          <a:xfrm>
            <a:off x="6885432" y="3031236"/>
            <a:ext cx="191109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2300"/>
              <a:buFont typeface="Arial"/>
              <a:buNone/>
            </a:pPr>
            <a:r>
              <a:rPr b="1" i="0" lang="en-US" sz="2300" u="none" cap="none" strike="noStrike">
                <a:solidFill>
                  <a:srgbClr val="F59E0B"/>
                </a:solidFill>
                <a:latin typeface="Arial"/>
                <a:ea typeface="Arial"/>
                <a:cs typeface="Arial"/>
                <a:sym typeface="Arial"/>
              </a:rPr>
              <a:t>+7,1 pp</a:t>
            </a:r>
            <a:endParaRPr b="0" i="0" sz="2300" u="none" cap="none" strike="noStrike">
              <a:solidFill>
                <a:schemeClr val="dk1"/>
              </a:solidFill>
              <a:latin typeface="Arial"/>
              <a:ea typeface="Arial"/>
              <a:cs typeface="Arial"/>
              <a:sym typeface="Arial"/>
            </a:endParaRPr>
          </a:p>
        </p:txBody>
      </p:sp>
      <p:sp>
        <p:nvSpPr>
          <p:cNvPr id="196" name="Google Shape;196;p7"/>
          <p:cNvSpPr/>
          <p:nvPr/>
        </p:nvSpPr>
        <p:spPr>
          <a:xfrm>
            <a:off x="6885432" y="3451860"/>
            <a:ext cx="191109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870">
                <a:solidFill>
                  <a:srgbClr val="94A3B8"/>
                </a:solidFill>
              </a:rPr>
              <a:t>Mayor participación de</a:t>
            </a:r>
            <a:r>
              <a:rPr b="0" i="0" lang="en-US" sz="870" u="none" cap="none" strike="noStrike">
                <a:solidFill>
                  <a:srgbClr val="94A3B8"/>
                </a:solidFill>
                <a:latin typeface="Arial"/>
                <a:ea typeface="Arial"/>
                <a:cs typeface="Arial"/>
                <a:sym typeface="Arial"/>
              </a:rPr>
              <a:t> casas en 2017</a:t>
            </a:r>
            <a:endParaRPr b="0" i="0" sz="870" u="none" cap="none" strike="noStrike">
              <a:solidFill>
                <a:schemeClr val="dk1"/>
              </a:solidFill>
              <a:latin typeface="Arial"/>
              <a:ea typeface="Arial"/>
              <a:cs typeface="Arial"/>
              <a:sym typeface="Arial"/>
            </a:endParaRPr>
          </a:p>
        </p:txBody>
      </p:sp>
      <p:sp>
        <p:nvSpPr>
          <p:cNvPr id="197" name="Google Shape;197;p7"/>
          <p:cNvSpPr/>
          <p:nvPr/>
        </p:nvSpPr>
        <p:spPr>
          <a:xfrm>
            <a:off x="9235440" y="2884932"/>
            <a:ext cx="2148840" cy="987552"/>
          </a:xfrm>
          <a:prstGeom prst="roundRect">
            <a:avLst>
              <a:gd fmla="val 7407" name="adj"/>
            </a:avLst>
          </a:prstGeom>
          <a:solidFill>
            <a:srgbClr val="111827"/>
          </a:solidFill>
          <a:ln cap="flat" cmpd="sng" w="15225">
            <a:solidFill>
              <a:srgbClr val="38BDF8">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8" name="Google Shape;198;p7"/>
          <p:cNvSpPr/>
          <p:nvPr/>
        </p:nvSpPr>
        <p:spPr>
          <a:xfrm>
            <a:off x="9400032" y="3031236"/>
            <a:ext cx="181965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2300"/>
              <a:buFont typeface="Arial"/>
              <a:buNone/>
            </a:pPr>
            <a:r>
              <a:rPr b="1" i="0" lang="en-US" sz="2300" u="none" cap="none" strike="noStrike">
                <a:solidFill>
                  <a:srgbClr val="38BDF8"/>
                </a:solidFill>
                <a:latin typeface="Arial"/>
                <a:ea typeface="Arial"/>
                <a:cs typeface="Arial"/>
                <a:sym typeface="Arial"/>
              </a:rPr>
              <a:t>10,5 km</a:t>
            </a:r>
            <a:endParaRPr b="0" i="0" sz="2300" u="none" cap="none" strike="noStrike">
              <a:solidFill>
                <a:schemeClr val="dk1"/>
              </a:solidFill>
              <a:latin typeface="Arial"/>
              <a:ea typeface="Arial"/>
              <a:cs typeface="Arial"/>
              <a:sym typeface="Arial"/>
            </a:endParaRPr>
          </a:p>
        </p:txBody>
      </p:sp>
      <p:sp>
        <p:nvSpPr>
          <p:cNvPr id="199" name="Google Shape;199;p7"/>
          <p:cNvSpPr/>
          <p:nvPr/>
        </p:nvSpPr>
        <p:spPr>
          <a:xfrm>
            <a:off x="9400032" y="3451860"/>
            <a:ext cx="18196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70"/>
              <a:buFont typeface="Arial"/>
              <a:buNone/>
            </a:pPr>
            <a:r>
              <a:rPr lang="en-US" sz="870">
                <a:solidFill>
                  <a:srgbClr val="94A3B8"/>
                </a:solidFill>
              </a:rPr>
              <a:t>Las propiedades de 2017 están más alejadas en términos medianos</a:t>
            </a:r>
            <a:endParaRPr b="0" i="0" sz="870" u="none" cap="none" strike="noStrike">
              <a:solidFill>
                <a:schemeClr val="dk1"/>
              </a:solidFill>
              <a:latin typeface="Arial"/>
              <a:ea typeface="Arial"/>
              <a:cs typeface="Arial"/>
              <a:sym typeface="Arial"/>
            </a:endParaRPr>
          </a:p>
        </p:txBody>
      </p:sp>
      <p:sp>
        <p:nvSpPr>
          <p:cNvPr id="200" name="Google Shape;200;p7"/>
          <p:cNvSpPr/>
          <p:nvPr/>
        </p:nvSpPr>
        <p:spPr>
          <a:xfrm>
            <a:off x="6720840" y="4320540"/>
            <a:ext cx="4663440" cy="914400"/>
          </a:xfrm>
          <a:prstGeom prst="roundRect">
            <a:avLst>
              <a:gd fmla="val 8000" name="adj"/>
            </a:avLst>
          </a:prstGeom>
          <a:solidFill>
            <a:srgbClr val="111827"/>
          </a:solidFill>
          <a:ln cap="flat" cmpd="sng" w="12700">
            <a:solidFill>
              <a:srgbClr val="2DD4BF">
                <a:alpha val="54902"/>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1" name="Google Shape;201;p7"/>
          <p:cNvSpPr/>
          <p:nvPr/>
        </p:nvSpPr>
        <p:spPr>
          <a:xfrm>
            <a:off x="6931152" y="4503420"/>
            <a:ext cx="12801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050"/>
              <a:buFont typeface="Arial"/>
              <a:buNone/>
            </a:pPr>
            <a:r>
              <a:rPr b="1" i="0" lang="en-US" sz="1050" u="none" cap="none" strike="noStrike">
                <a:solidFill>
                  <a:srgbClr val="2DD4BF"/>
                </a:solidFill>
                <a:latin typeface="Arial"/>
                <a:ea typeface="Arial"/>
                <a:cs typeface="Arial"/>
                <a:sym typeface="Arial"/>
              </a:rPr>
              <a:t>Lectura </a:t>
            </a:r>
            <a:r>
              <a:rPr b="1" lang="en-US" sz="1050">
                <a:solidFill>
                  <a:srgbClr val="2DD4BF"/>
                </a:solidFill>
              </a:rPr>
              <a:t>general</a:t>
            </a:r>
            <a:endParaRPr b="0" i="0" sz="1050" u="none" cap="none" strike="noStrike">
              <a:solidFill>
                <a:schemeClr val="dk1"/>
              </a:solidFill>
              <a:latin typeface="Arial"/>
              <a:ea typeface="Arial"/>
              <a:cs typeface="Arial"/>
              <a:sym typeface="Arial"/>
            </a:endParaRPr>
          </a:p>
        </p:txBody>
      </p:sp>
      <p:sp>
        <p:nvSpPr>
          <p:cNvPr id="202" name="Google Shape;202;p7"/>
          <p:cNvSpPr/>
          <p:nvPr/>
        </p:nvSpPr>
        <p:spPr>
          <a:xfrm>
            <a:off x="6931152" y="4777740"/>
            <a:ext cx="4069080" cy="2286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F8FAFC"/>
              </a:buClr>
              <a:buSzPts val="925"/>
              <a:buFont typeface="Arial"/>
              <a:buNone/>
            </a:pPr>
            <a:r>
              <a:rPr b="1" lang="en-US" sz="925">
                <a:solidFill>
                  <a:srgbClr val="F8FAFC"/>
                </a:solidFill>
              </a:rPr>
              <a:t>El precio típico permanece estable, pero la composición cambia</a:t>
            </a:r>
            <a:r>
              <a:rPr b="1" i="0" lang="en-US" sz="925" u="none" cap="none" strike="noStrike">
                <a:solidFill>
                  <a:srgbClr val="F8FAFC"/>
                </a:solidFill>
                <a:latin typeface="Arial"/>
                <a:ea typeface="Arial"/>
                <a:cs typeface="Arial"/>
                <a:sym typeface="Arial"/>
              </a:rPr>
              <a:t>. </a:t>
            </a:r>
            <a:r>
              <a:rPr b="1" lang="en-US" sz="925">
                <a:solidFill>
                  <a:srgbClr val="F8FAFC"/>
                </a:solidFill>
              </a:rPr>
              <a:t>El modelo debería ser capaz de predecir propiedades en zonas no observadas durante 2016.</a:t>
            </a:r>
            <a:endParaRPr b="0" i="0" sz="925" u="none" cap="none" strike="noStrike">
              <a:solidFill>
                <a:schemeClr val="dk1"/>
              </a:solidFill>
              <a:latin typeface="Arial"/>
              <a:ea typeface="Arial"/>
              <a:cs typeface="Arial"/>
              <a:sym typeface="Arial"/>
            </a:endParaRPr>
          </a:p>
        </p:txBody>
      </p:sp>
      <p:sp>
        <p:nvSpPr>
          <p:cNvPr id="203" name="Google Shape;203;p7"/>
          <p:cNvSpPr/>
          <p:nvPr/>
        </p:nvSpPr>
        <p:spPr>
          <a:xfrm>
            <a:off x="658368" y="5623560"/>
            <a:ext cx="55778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400"/>
              <a:buFont typeface="Arial"/>
              <a:buNone/>
            </a:pPr>
            <a:r>
              <a:rPr b="1" i="0" lang="en-US" sz="1400" u="none" cap="none" strike="noStrike">
                <a:solidFill>
                  <a:srgbClr val="F8FAFC"/>
                </a:solidFill>
                <a:latin typeface="Arial"/>
                <a:ea typeface="Arial"/>
                <a:cs typeface="Arial"/>
                <a:sym typeface="Arial"/>
              </a:rPr>
              <a:t>No es random split: es generalización temporal.</a:t>
            </a:r>
            <a:endParaRPr b="0" i="0" sz="1400" u="none" cap="none" strike="noStrike">
              <a:solidFill>
                <a:schemeClr val="dk1"/>
              </a:solidFill>
              <a:latin typeface="Arial"/>
              <a:ea typeface="Arial"/>
              <a:cs typeface="Arial"/>
              <a:sym typeface="Arial"/>
            </a:endParaRPr>
          </a:p>
        </p:txBody>
      </p:sp>
      <p:sp>
        <p:nvSpPr>
          <p:cNvPr id="204" name="Google Shape;204;p7"/>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pic>
        <p:nvPicPr>
          <p:cNvPr id="205" name="Google Shape;205;p7"/>
          <p:cNvPicPr preferRelativeResize="0"/>
          <p:nvPr/>
        </p:nvPicPr>
        <p:blipFill rotWithShape="1">
          <a:blip r:embed="rId4">
            <a:alphaModFix/>
          </a:blip>
          <a:srcRect b="0" l="0" r="0" t="0"/>
          <a:stretch/>
        </p:blipFill>
        <p:spPr>
          <a:xfrm>
            <a:off x="3219450" y="1459992"/>
            <a:ext cx="1543050" cy="330200"/>
          </a:xfrm>
          <a:prstGeom prst="rect">
            <a:avLst/>
          </a:prstGeom>
          <a:noFill/>
          <a:ln>
            <a:noFill/>
          </a:ln>
        </p:spPr>
      </p:pic>
      <p:pic>
        <p:nvPicPr>
          <p:cNvPr id="206" name="Google Shape;206;p7"/>
          <p:cNvPicPr preferRelativeResize="0"/>
          <p:nvPr/>
        </p:nvPicPr>
        <p:blipFill rotWithShape="1">
          <a:blip r:embed="rId4">
            <a:alphaModFix/>
          </a:blip>
          <a:srcRect b="0" l="0" r="0" t="0"/>
          <a:stretch/>
        </p:blipFill>
        <p:spPr>
          <a:xfrm>
            <a:off x="232918" y="5439664"/>
            <a:ext cx="4529582" cy="658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11" name="Shape 211"/>
        <p:cNvGrpSpPr/>
        <p:nvPr/>
      </p:nvGrpSpPr>
      <p:grpSpPr>
        <a:xfrm>
          <a:off x="0" y="0"/>
          <a:ext cx="0" cy="0"/>
          <a:chOff x="0" y="0"/>
          <a:chExt cx="0" cy="0"/>
        </a:xfrm>
      </p:grpSpPr>
      <p:cxnSp>
        <p:nvCxnSpPr>
          <p:cNvPr id="212" name="Google Shape;212;p8"/>
          <p:cNvCxnSpPr/>
          <p:nvPr/>
        </p:nvCxnSpPr>
        <p:spPr>
          <a:xfrm>
            <a:off x="9281160" y="256032"/>
            <a:ext cx="2240280" cy="0"/>
          </a:xfrm>
          <a:prstGeom prst="straightConnector1">
            <a:avLst/>
          </a:prstGeom>
          <a:noFill/>
          <a:ln cap="flat" cmpd="sng" w="19050">
            <a:solidFill>
              <a:srgbClr val="2DD4BF">
                <a:alpha val="30196"/>
              </a:srgbClr>
            </a:solidFill>
            <a:prstDash val="solid"/>
            <a:round/>
            <a:headEnd len="sm" w="sm" type="none"/>
            <a:tailEnd len="sm" w="sm" type="none"/>
          </a:ln>
        </p:spPr>
      </p:cxnSp>
      <p:cxnSp>
        <p:nvCxnSpPr>
          <p:cNvPr id="213" name="Google Shape;213;p8"/>
          <p:cNvCxnSpPr/>
          <p:nvPr/>
        </p:nvCxnSpPr>
        <p:spPr>
          <a:xfrm>
            <a:off x="8558276" y="3027682"/>
            <a:ext cx="1828800" cy="0"/>
          </a:xfrm>
          <a:prstGeom prst="straightConnector1">
            <a:avLst/>
          </a:prstGeom>
          <a:noFill/>
          <a:ln cap="flat" cmpd="sng" w="15225">
            <a:solidFill>
              <a:srgbClr val="38BDF8">
                <a:alpha val="25098"/>
              </a:srgbClr>
            </a:solidFill>
            <a:prstDash val="solid"/>
            <a:round/>
            <a:headEnd len="sm" w="sm" type="none"/>
            <a:tailEnd len="sm" w="sm" type="none"/>
          </a:ln>
        </p:spPr>
      </p:cxnSp>
      <p:sp>
        <p:nvSpPr>
          <p:cNvPr id="214" name="Google Shape;214;p8"/>
          <p:cNvSpPr/>
          <p:nvPr/>
        </p:nvSpPr>
        <p:spPr>
          <a:xfrm>
            <a:off x="548640" y="347472"/>
            <a:ext cx="804672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2600"/>
              <a:buFont typeface="Play"/>
              <a:buNone/>
            </a:pPr>
            <a:r>
              <a:rPr b="1" i="0" lang="en-US" sz="2600" u="none" cap="none" strike="noStrike">
                <a:solidFill>
                  <a:srgbClr val="F8FAFC"/>
                </a:solidFill>
                <a:latin typeface="Play"/>
                <a:ea typeface="Play"/>
                <a:cs typeface="Play"/>
                <a:sym typeface="Play"/>
              </a:rPr>
              <a:t>Hipótesis</a:t>
            </a:r>
            <a:r>
              <a:rPr b="1" lang="en-US" sz="2600">
                <a:solidFill>
                  <a:srgbClr val="F8FAFC"/>
                </a:solidFill>
                <a:latin typeface="Play"/>
                <a:ea typeface="Play"/>
                <a:cs typeface="Play"/>
                <a:sym typeface="Play"/>
              </a:rPr>
              <a:t> </a:t>
            </a:r>
            <a:r>
              <a:rPr b="1" i="0" lang="en-US" sz="2600" u="none" cap="none" strike="noStrike">
                <a:solidFill>
                  <a:srgbClr val="F8FAFC"/>
                </a:solidFill>
                <a:latin typeface="Play"/>
                <a:ea typeface="Play"/>
                <a:cs typeface="Play"/>
                <a:sym typeface="Play"/>
              </a:rPr>
              <a:t>+ Plan de Análisis</a:t>
            </a:r>
            <a:endParaRPr b="0" i="0" sz="2600" u="none" cap="none" strike="noStrike">
              <a:solidFill>
                <a:schemeClr val="dk1"/>
              </a:solidFill>
              <a:latin typeface="Arial"/>
              <a:ea typeface="Arial"/>
              <a:cs typeface="Arial"/>
              <a:sym typeface="Arial"/>
            </a:endParaRPr>
          </a:p>
        </p:txBody>
      </p:sp>
      <p:sp>
        <p:nvSpPr>
          <p:cNvPr id="215" name="Google Shape;215;p8"/>
          <p:cNvSpPr/>
          <p:nvPr/>
        </p:nvSpPr>
        <p:spPr>
          <a:xfrm>
            <a:off x="6112256" y="1344677"/>
            <a:ext cx="5257800" cy="1527048"/>
          </a:xfrm>
          <a:prstGeom prst="roundRect">
            <a:avLst>
              <a:gd fmla="val 5517" name="adj"/>
            </a:avLst>
          </a:prstGeom>
          <a:solidFill>
            <a:srgbClr val="111827"/>
          </a:solidFill>
          <a:ln cap="flat" cmpd="sng" w="15225">
            <a:solidFill>
              <a:srgbClr val="22C55E">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6" name="Google Shape;216;p8"/>
          <p:cNvSpPr/>
          <p:nvPr/>
        </p:nvSpPr>
        <p:spPr>
          <a:xfrm>
            <a:off x="6321146" y="1758697"/>
            <a:ext cx="640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2200"/>
              <a:buFont typeface="Arial"/>
              <a:buNone/>
            </a:pPr>
            <a:r>
              <a:rPr b="1" i="0" lang="en-US" sz="2200" u="none" cap="none" strike="noStrike">
                <a:solidFill>
                  <a:srgbClr val="22C55E"/>
                </a:solidFill>
                <a:latin typeface="Arial"/>
                <a:ea typeface="Arial"/>
                <a:cs typeface="Arial"/>
                <a:sym typeface="Arial"/>
              </a:rPr>
              <a:t>H1</a:t>
            </a:r>
            <a:endParaRPr b="0" i="0" sz="2200" u="none" cap="none" strike="noStrike">
              <a:solidFill>
                <a:schemeClr val="dk1"/>
              </a:solidFill>
              <a:latin typeface="Arial"/>
              <a:ea typeface="Arial"/>
              <a:cs typeface="Arial"/>
              <a:sym typeface="Arial"/>
            </a:endParaRPr>
          </a:p>
        </p:txBody>
      </p:sp>
      <p:sp>
        <p:nvSpPr>
          <p:cNvPr id="217" name="Google Shape;217;p8"/>
          <p:cNvSpPr/>
          <p:nvPr/>
        </p:nvSpPr>
        <p:spPr>
          <a:xfrm>
            <a:off x="6883502" y="1457453"/>
            <a:ext cx="4486553" cy="1325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rgbClr val="F8FAFC"/>
                </a:solidFill>
              </a:rPr>
              <a:t>Las características de las propiedades observadas en 2016 (como cantidad de habitaciones, tipo de propiedad y ubicación) mantienen una relación suficientemente estable con el precio en 2017, por lo que es posible utilizar los datos de 2016 para predecir mejor los precios de 2017.</a:t>
            </a:r>
            <a:endParaRPr i="0" sz="1400" u="none" cap="none" strike="noStrike">
              <a:solidFill>
                <a:srgbClr val="F8FAFC"/>
              </a:solidFill>
            </a:endParaRPr>
          </a:p>
        </p:txBody>
      </p:sp>
      <p:sp>
        <p:nvSpPr>
          <p:cNvPr id="218" name="Google Shape;218;p8"/>
          <p:cNvSpPr/>
          <p:nvPr/>
        </p:nvSpPr>
        <p:spPr>
          <a:xfrm>
            <a:off x="548640" y="1344677"/>
            <a:ext cx="5074920" cy="1508757"/>
          </a:xfrm>
          <a:prstGeom prst="roundRect">
            <a:avLst>
              <a:gd fmla="val 5517" name="adj"/>
            </a:avLst>
          </a:prstGeom>
          <a:solidFill>
            <a:srgbClr val="111827"/>
          </a:solidFill>
          <a:ln cap="flat" cmpd="sng" w="15225">
            <a:solidFill>
              <a:srgbClr val="FB7185">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8"/>
          <p:cNvSpPr/>
          <p:nvPr/>
        </p:nvSpPr>
        <p:spPr>
          <a:xfrm>
            <a:off x="841756" y="1837438"/>
            <a:ext cx="640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7185"/>
              </a:buClr>
              <a:buSzPts val="2200"/>
              <a:buFont typeface="Arial"/>
              <a:buNone/>
            </a:pPr>
            <a:r>
              <a:rPr b="1" i="0" lang="en-US" sz="2200" u="none" cap="none" strike="noStrike">
                <a:solidFill>
                  <a:srgbClr val="FB7185"/>
                </a:solidFill>
                <a:latin typeface="Arial"/>
                <a:ea typeface="Arial"/>
                <a:cs typeface="Arial"/>
                <a:sym typeface="Arial"/>
              </a:rPr>
              <a:t>H0</a:t>
            </a:r>
            <a:endParaRPr b="0" i="0" sz="2200" u="none" cap="none" strike="noStrike">
              <a:solidFill>
                <a:schemeClr val="dk1"/>
              </a:solidFill>
              <a:latin typeface="Arial"/>
              <a:ea typeface="Arial"/>
              <a:cs typeface="Arial"/>
              <a:sym typeface="Arial"/>
            </a:endParaRPr>
          </a:p>
        </p:txBody>
      </p:sp>
      <p:sp>
        <p:nvSpPr>
          <p:cNvPr id="220" name="Google Shape;220;p8"/>
          <p:cNvSpPr/>
          <p:nvPr/>
        </p:nvSpPr>
        <p:spPr>
          <a:xfrm>
            <a:off x="1376172" y="1747013"/>
            <a:ext cx="4201668" cy="6949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rgbClr val="F8FAFC"/>
                </a:solidFill>
              </a:rPr>
              <a:t>Las relaciones observadas entre las características de las propiedades y sus precios en 2016 no se mantienen suficientemente en 2017, por lo que utilizar los datos de 2016 no permitiría predecir los precios de 2017 mejor que una estimación básica.</a:t>
            </a:r>
            <a:endParaRPr i="0" sz="1400" u="none" cap="none" strike="noStrike">
              <a:solidFill>
                <a:srgbClr val="F8FAFC"/>
              </a:solidFill>
            </a:endParaRPr>
          </a:p>
        </p:txBody>
      </p:sp>
      <p:sp>
        <p:nvSpPr>
          <p:cNvPr id="221" name="Google Shape;221;p8"/>
          <p:cNvSpPr/>
          <p:nvPr/>
        </p:nvSpPr>
        <p:spPr>
          <a:xfrm>
            <a:off x="868680" y="3337560"/>
            <a:ext cx="2148840" cy="914400"/>
          </a:xfrm>
          <a:prstGeom prst="roundRect">
            <a:avLst>
              <a:gd fmla="val 8000" name="adj"/>
            </a:avLst>
          </a:prstGeom>
          <a:solidFill>
            <a:srgbClr val="111827"/>
          </a:solidFill>
          <a:ln cap="flat" cmpd="sng" w="12700">
            <a:solidFill>
              <a:srgbClr val="2DD4BF">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2" name="Google Shape;222;p8"/>
          <p:cNvSpPr/>
          <p:nvPr/>
        </p:nvSpPr>
        <p:spPr>
          <a:xfrm>
            <a:off x="1033272" y="3538728"/>
            <a:ext cx="320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D4BF"/>
              </a:buClr>
              <a:buSzPts val="1500"/>
              <a:buFont typeface="Arial"/>
              <a:buNone/>
            </a:pPr>
            <a:r>
              <a:rPr b="1" i="0" lang="en-US" sz="1500" u="none" cap="none" strike="noStrike">
                <a:solidFill>
                  <a:srgbClr val="2DD4BF"/>
                </a:solidFill>
                <a:latin typeface="Arial"/>
                <a:ea typeface="Arial"/>
                <a:cs typeface="Arial"/>
                <a:sym typeface="Arial"/>
              </a:rPr>
              <a:t>1</a:t>
            </a:r>
            <a:endParaRPr b="0" i="0" sz="1500" u="none" cap="none" strike="noStrike">
              <a:solidFill>
                <a:schemeClr val="dk1"/>
              </a:solidFill>
              <a:latin typeface="Arial"/>
              <a:ea typeface="Arial"/>
              <a:cs typeface="Arial"/>
              <a:sym typeface="Arial"/>
            </a:endParaRPr>
          </a:p>
        </p:txBody>
      </p:sp>
      <p:sp>
        <p:nvSpPr>
          <p:cNvPr id="223" name="Google Shape;223;p8"/>
          <p:cNvSpPr/>
          <p:nvPr/>
        </p:nvSpPr>
        <p:spPr>
          <a:xfrm>
            <a:off x="1417320" y="3520440"/>
            <a:ext cx="1325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080"/>
              <a:buFont typeface="Arial"/>
              <a:buNone/>
            </a:pPr>
            <a:r>
              <a:rPr b="1" lang="en-US" sz="1080">
                <a:solidFill>
                  <a:srgbClr val="F8FAFC"/>
                </a:solidFill>
              </a:rPr>
              <a:t>Separación temporal</a:t>
            </a:r>
            <a:endParaRPr b="0" i="0" sz="1080" u="none" cap="none" strike="noStrike">
              <a:solidFill>
                <a:schemeClr val="dk1"/>
              </a:solidFill>
              <a:latin typeface="Arial"/>
              <a:ea typeface="Arial"/>
              <a:cs typeface="Arial"/>
              <a:sym typeface="Arial"/>
            </a:endParaRPr>
          </a:p>
        </p:txBody>
      </p:sp>
      <p:sp>
        <p:nvSpPr>
          <p:cNvPr id="224" name="Google Shape;224;p8"/>
          <p:cNvSpPr/>
          <p:nvPr/>
        </p:nvSpPr>
        <p:spPr>
          <a:xfrm>
            <a:off x="1417320" y="3803904"/>
            <a:ext cx="13258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Arial"/>
              <a:buNone/>
            </a:pPr>
            <a:r>
              <a:rPr lang="en-US" sz="850">
                <a:solidFill>
                  <a:srgbClr val="94A3B8"/>
                </a:solidFill>
              </a:rPr>
              <a:t>entrenar</a:t>
            </a:r>
            <a:r>
              <a:rPr b="0" i="0" lang="en-US" sz="850" u="none" cap="none" strike="noStrike">
                <a:solidFill>
                  <a:srgbClr val="94A3B8"/>
                </a:solidFill>
                <a:latin typeface="Arial"/>
                <a:ea typeface="Arial"/>
                <a:cs typeface="Arial"/>
                <a:sym typeface="Arial"/>
              </a:rPr>
              <a:t> solo 2016</a:t>
            </a:r>
            <a:endParaRPr b="0" i="0" sz="850" u="none" cap="none" strike="noStrike">
              <a:solidFill>
                <a:schemeClr val="dk1"/>
              </a:solidFill>
              <a:latin typeface="Arial"/>
              <a:ea typeface="Arial"/>
              <a:cs typeface="Arial"/>
              <a:sym typeface="Arial"/>
            </a:endParaRPr>
          </a:p>
        </p:txBody>
      </p:sp>
      <p:sp>
        <p:nvSpPr>
          <p:cNvPr id="225" name="Google Shape;225;p8"/>
          <p:cNvSpPr/>
          <p:nvPr/>
        </p:nvSpPr>
        <p:spPr>
          <a:xfrm>
            <a:off x="3657600" y="3337560"/>
            <a:ext cx="2148840" cy="914400"/>
          </a:xfrm>
          <a:prstGeom prst="roundRect">
            <a:avLst>
              <a:gd fmla="val 8000" name="adj"/>
            </a:avLst>
          </a:prstGeom>
          <a:solidFill>
            <a:srgbClr val="111827"/>
          </a:solidFill>
          <a:ln cap="flat" cmpd="sng" w="12700">
            <a:solidFill>
              <a:srgbClr val="38BDF8">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8"/>
          <p:cNvSpPr/>
          <p:nvPr/>
        </p:nvSpPr>
        <p:spPr>
          <a:xfrm>
            <a:off x="3822192" y="3538728"/>
            <a:ext cx="320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8BDF8"/>
              </a:buClr>
              <a:buSzPts val="1500"/>
              <a:buFont typeface="Arial"/>
              <a:buNone/>
            </a:pPr>
            <a:r>
              <a:rPr b="1" i="0" lang="en-US" sz="1500" u="none" cap="none" strike="noStrike">
                <a:solidFill>
                  <a:srgbClr val="38BDF8"/>
                </a:solidFill>
                <a:latin typeface="Arial"/>
                <a:ea typeface="Arial"/>
                <a:cs typeface="Arial"/>
                <a:sym typeface="Arial"/>
              </a:rPr>
              <a:t>2</a:t>
            </a:r>
            <a:endParaRPr b="0" i="0" sz="1500" u="none" cap="none" strike="noStrike">
              <a:solidFill>
                <a:schemeClr val="dk1"/>
              </a:solidFill>
              <a:latin typeface="Arial"/>
              <a:ea typeface="Arial"/>
              <a:cs typeface="Arial"/>
              <a:sym typeface="Arial"/>
            </a:endParaRPr>
          </a:p>
        </p:txBody>
      </p:sp>
      <p:sp>
        <p:nvSpPr>
          <p:cNvPr id="227" name="Google Shape;227;p8"/>
          <p:cNvSpPr/>
          <p:nvPr/>
        </p:nvSpPr>
        <p:spPr>
          <a:xfrm>
            <a:off x="4206240" y="3520440"/>
            <a:ext cx="1325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080"/>
              <a:buFont typeface="Arial"/>
              <a:buNone/>
            </a:pPr>
            <a:r>
              <a:rPr b="1" lang="en-US" sz="1080">
                <a:solidFill>
                  <a:srgbClr val="F8FAFC"/>
                </a:solidFill>
              </a:rPr>
              <a:t>Preparación de datos</a:t>
            </a:r>
            <a:endParaRPr b="0" i="0" sz="1080" u="none" cap="none" strike="noStrike">
              <a:solidFill>
                <a:schemeClr val="dk1"/>
              </a:solidFill>
              <a:latin typeface="Arial"/>
              <a:ea typeface="Arial"/>
              <a:cs typeface="Arial"/>
              <a:sym typeface="Arial"/>
            </a:endParaRPr>
          </a:p>
        </p:txBody>
      </p:sp>
      <p:sp>
        <p:nvSpPr>
          <p:cNvPr id="228" name="Google Shape;228;p8"/>
          <p:cNvSpPr/>
          <p:nvPr/>
        </p:nvSpPr>
        <p:spPr>
          <a:xfrm>
            <a:off x="4206240" y="3803904"/>
            <a:ext cx="13258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Arial"/>
              <a:buNone/>
            </a:pPr>
            <a:r>
              <a:rPr lang="en-US" sz="850">
                <a:solidFill>
                  <a:srgbClr val="94A3B8"/>
                </a:solidFill>
              </a:rPr>
              <a:t>tratar faltantes y categorías</a:t>
            </a:r>
            <a:endParaRPr b="0" i="0" sz="850" u="none" cap="none" strike="noStrike">
              <a:solidFill>
                <a:schemeClr val="dk1"/>
              </a:solidFill>
              <a:latin typeface="Arial"/>
              <a:ea typeface="Arial"/>
              <a:cs typeface="Arial"/>
              <a:sym typeface="Arial"/>
            </a:endParaRPr>
          </a:p>
        </p:txBody>
      </p:sp>
      <p:sp>
        <p:nvSpPr>
          <p:cNvPr id="229" name="Google Shape;229;p8"/>
          <p:cNvSpPr/>
          <p:nvPr/>
        </p:nvSpPr>
        <p:spPr>
          <a:xfrm>
            <a:off x="6446520" y="3337560"/>
            <a:ext cx="2148840" cy="914400"/>
          </a:xfrm>
          <a:prstGeom prst="roundRect">
            <a:avLst>
              <a:gd fmla="val 8000" name="adj"/>
            </a:avLst>
          </a:prstGeom>
          <a:solidFill>
            <a:srgbClr val="111827"/>
          </a:solidFill>
          <a:ln cap="flat" cmpd="sng" w="12700">
            <a:solidFill>
              <a:srgbClr val="F59E0B">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8"/>
          <p:cNvSpPr/>
          <p:nvPr/>
        </p:nvSpPr>
        <p:spPr>
          <a:xfrm>
            <a:off x="6611112" y="3538728"/>
            <a:ext cx="320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500"/>
              <a:buFont typeface="Arial"/>
              <a:buNone/>
            </a:pPr>
            <a:r>
              <a:rPr b="1" i="0" lang="en-US" sz="1500" u="none" cap="none" strike="noStrike">
                <a:solidFill>
                  <a:srgbClr val="F59E0B"/>
                </a:solidFill>
                <a:latin typeface="Arial"/>
                <a:ea typeface="Arial"/>
                <a:cs typeface="Arial"/>
                <a:sym typeface="Arial"/>
              </a:rPr>
              <a:t>3</a:t>
            </a:r>
            <a:endParaRPr b="0" i="0" sz="1500" u="none" cap="none" strike="noStrike">
              <a:solidFill>
                <a:schemeClr val="dk1"/>
              </a:solidFill>
              <a:latin typeface="Arial"/>
              <a:ea typeface="Arial"/>
              <a:cs typeface="Arial"/>
              <a:sym typeface="Arial"/>
            </a:endParaRPr>
          </a:p>
        </p:txBody>
      </p:sp>
      <p:sp>
        <p:nvSpPr>
          <p:cNvPr id="231" name="Google Shape;231;p8"/>
          <p:cNvSpPr/>
          <p:nvPr/>
        </p:nvSpPr>
        <p:spPr>
          <a:xfrm>
            <a:off x="6995160" y="3520440"/>
            <a:ext cx="1325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080"/>
              <a:buFont typeface="Arial"/>
              <a:buNone/>
            </a:pPr>
            <a:r>
              <a:rPr b="1" lang="en-US" sz="1080">
                <a:solidFill>
                  <a:srgbClr val="F8FAFC"/>
                </a:solidFill>
              </a:rPr>
              <a:t>Predicción del precio</a:t>
            </a:r>
            <a:endParaRPr b="0" i="0" sz="1080" u="none" cap="none" strike="noStrike">
              <a:solidFill>
                <a:schemeClr val="dk1"/>
              </a:solidFill>
              <a:latin typeface="Arial"/>
              <a:ea typeface="Arial"/>
              <a:cs typeface="Arial"/>
              <a:sym typeface="Arial"/>
            </a:endParaRPr>
          </a:p>
        </p:txBody>
      </p:sp>
      <p:sp>
        <p:nvSpPr>
          <p:cNvPr id="232" name="Google Shape;232;p8"/>
          <p:cNvSpPr/>
          <p:nvPr/>
        </p:nvSpPr>
        <p:spPr>
          <a:xfrm>
            <a:off x="6995160" y="3803904"/>
            <a:ext cx="13258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Arial"/>
              <a:buNone/>
            </a:pPr>
            <a:r>
              <a:rPr lang="en-US" sz="850">
                <a:solidFill>
                  <a:srgbClr val="94A3B8"/>
                </a:solidFill>
              </a:rPr>
              <a:t>Construir el modelo</a:t>
            </a:r>
            <a:endParaRPr b="0" i="0" sz="850" u="none" cap="none" strike="noStrike">
              <a:solidFill>
                <a:schemeClr val="dk1"/>
              </a:solidFill>
              <a:latin typeface="Arial"/>
              <a:ea typeface="Arial"/>
              <a:cs typeface="Arial"/>
              <a:sym typeface="Arial"/>
            </a:endParaRPr>
          </a:p>
        </p:txBody>
      </p:sp>
      <p:sp>
        <p:nvSpPr>
          <p:cNvPr id="233" name="Google Shape;233;p8"/>
          <p:cNvSpPr/>
          <p:nvPr/>
        </p:nvSpPr>
        <p:spPr>
          <a:xfrm>
            <a:off x="9235440" y="3337560"/>
            <a:ext cx="2148840" cy="914400"/>
          </a:xfrm>
          <a:prstGeom prst="roundRect">
            <a:avLst>
              <a:gd fmla="val 8000" name="adj"/>
            </a:avLst>
          </a:prstGeom>
          <a:solidFill>
            <a:srgbClr val="111827"/>
          </a:solidFill>
          <a:ln cap="flat" cmpd="sng" w="12700">
            <a:solidFill>
              <a:srgbClr val="22C55E">
                <a:alpha val="65098"/>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 name="Google Shape;234;p8"/>
          <p:cNvSpPr/>
          <p:nvPr/>
        </p:nvSpPr>
        <p:spPr>
          <a:xfrm>
            <a:off x="9400032" y="3538728"/>
            <a:ext cx="320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C55E"/>
              </a:buClr>
              <a:buSzPts val="1500"/>
              <a:buFont typeface="Arial"/>
              <a:buNone/>
            </a:pPr>
            <a:r>
              <a:rPr b="1" i="0" lang="en-US" sz="1500" u="none" cap="none" strike="noStrike">
                <a:solidFill>
                  <a:srgbClr val="22C55E"/>
                </a:solidFill>
                <a:latin typeface="Arial"/>
                <a:ea typeface="Arial"/>
                <a:cs typeface="Arial"/>
                <a:sym typeface="Arial"/>
              </a:rPr>
              <a:t>4</a:t>
            </a:r>
            <a:endParaRPr b="0" i="0" sz="1500" u="none" cap="none" strike="noStrike">
              <a:solidFill>
                <a:schemeClr val="dk1"/>
              </a:solidFill>
              <a:latin typeface="Arial"/>
              <a:ea typeface="Arial"/>
              <a:cs typeface="Arial"/>
              <a:sym typeface="Arial"/>
            </a:endParaRPr>
          </a:p>
        </p:txBody>
      </p:sp>
      <p:sp>
        <p:nvSpPr>
          <p:cNvPr id="235" name="Google Shape;235;p8"/>
          <p:cNvSpPr/>
          <p:nvPr/>
        </p:nvSpPr>
        <p:spPr>
          <a:xfrm>
            <a:off x="9784080" y="3520440"/>
            <a:ext cx="1325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FAFC"/>
              </a:buClr>
              <a:buSzPts val="1080"/>
              <a:buFont typeface="Arial"/>
              <a:buNone/>
            </a:pPr>
            <a:r>
              <a:rPr b="1" lang="en-US" sz="1080">
                <a:solidFill>
                  <a:srgbClr val="F8FAFC"/>
                </a:solidFill>
              </a:rPr>
              <a:t>Evaluación del Modelo</a:t>
            </a:r>
            <a:endParaRPr b="0" i="0" sz="1080" u="none" cap="none" strike="noStrike">
              <a:solidFill>
                <a:schemeClr val="dk1"/>
              </a:solidFill>
              <a:latin typeface="Arial"/>
              <a:ea typeface="Arial"/>
              <a:cs typeface="Arial"/>
              <a:sym typeface="Arial"/>
            </a:endParaRPr>
          </a:p>
        </p:txBody>
      </p:sp>
      <p:sp>
        <p:nvSpPr>
          <p:cNvPr id="236" name="Google Shape;236;p8"/>
          <p:cNvSpPr/>
          <p:nvPr/>
        </p:nvSpPr>
        <p:spPr>
          <a:xfrm>
            <a:off x="9784080" y="3803904"/>
            <a:ext cx="13258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Arial"/>
              <a:buNone/>
            </a:pPr>
            <a:r>
              <a:rPr lang="en-US" sz="850">
                <a:solidFill>
                  <a:srgbClr val="94A3B8"/>
                </a:solidFill>
              </a:rPr>
              <a:t>Comparar errores contra el benchmark</a:t>
            </a:r>
            <a:endParaRPr b="0" i="0" sz="850" u="none" cap="none" strike="noStrike">
              <a:solidFill>
                <a:schemeClr val="dk1"/>
              </a:solidFill>
              <a:latin typeface="Arial"/>
              <a:ea typeface="Arial"/>
              <a:cs typeface="Arial"/>
              <a:sym typeface="Arial"/>
            </a:endParaRPr>
          </a:p>
        </p:txBody>
      </p:sp>
      <p:sp>
        <p:nvSpPr>
          <p:cNvPr id="237" name="Google Shape;237;p8"/>
          <p:cNvSpPr txBox="1"/>
          <p:nvPr>
            <p:ph idx="4294967295" type="sldNum"/>
          </p:nvPr>
        </p:nvSpPr>
        <p:spPr>
          <a:xfrm>
            <a:off x="11475720" y="6547104"/>
            <a:ext cx="8000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200"/>
              <a:buNone/>
            </a:pPr>
            <a:fld id="{00000000-1234-1234-1234-123412341234}" type="slidenum">
              <a:rPr b="0" lang="en-US" sz="1200">
                <a:solidFill>
                  <a:srgbClr val="64748B"/>
                </a:solidFill>
                <a:latin typeface="Arial"/>
                <a:ea typeface="Arial"/>
                <a:cs typeface="Arial"/>
                <a:sym typeface="Arial"/>
              </a:rPr>
              <a:t>‹#›</a:t>
            </a:fld>
            <a:endParaRPr sz="1200">
              <a:solidFill>
                <a:srgbClr val="64748B"/>
              </a:solidFill>
              <a:latin typeface="Arial"/>
              <a:ea typeface="Arial"/>
              <a:cs typeface="Arial"/>
              <a:sym typeface="Arial"/>
            </a:endParaRPr>
          </a:p>
        </p:txBody>
      </p:sp>
      <p:sp>
        <p:nvSpPr>
          <p:cNvPr id="238" name="Google Shape;238;p8"/>
          <p:cNvSpPr/>
          <p:nvPr/>
        </p:nvSpPr>
        <p:spPr>
          <a:xfrm>
            <a:off x="1426975" y="4700000"/>
            <a:ext cx="9010800" cy="1147500"/>
          </a:xfrm>
          <a:prstGeom prst="roundRect">
            <a:avLst>
              <a:gd fmla="val 5517" name="adj"/>
            </a:avLst>
          </a:prstGeom>
          <a:solidFill>
            <a:srgbClr val="111827"/>
          </a:solidFill>
          <a:ln cap="flat" cmpd="sng" w="15225">
            <a:solidFill>
              <a:srgbClr val="7030A0">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8"/>
          <p:cNvSpPr/>
          <p:nvPr/>
        </p:nvSpPr>
        <p:spPr>
          <a:xfrm>
            <a:off x="3367332" y="4700010"/>
            <a:ext cx="6807600" cy="114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lt1"/>
                </a:solidFill>
              </a:rPr>
              <a:t>El análisis muestra señales asociadas al precio y relativa estabilidad entre 2016 y 2017, el desafío es comprobar si esas relaciones permiten predecir 2017 mejor que una estimación básica.</a:t>
            </a:r>
            <a:endParaRPr b="1" i="0" sz="1600" u="none" cap="none" strike="noStrike">
              <a:solidFill>
                <a:schemeClr val="lt1"/>
              </a:solidFill>
              <a:latin typeface="Arial"/>
              <a:ea typeface="Arial"/>
              <a:cs typeface="Arial"/>
              <a:sym typeface="Arial"/>
            </a:endParaRPr>
          </a:p>
        </p:txBody>
      </p:sp>
      <p:sp>
        <p:nvSpPr>
          <p:cNvPr id="240" name="Google Shape;240;p8"/>
          <p:cNvSpPr/>
          <p:nvPr/>
        </p:nvSpPr>
        <p:spPr>
          <a:xfrm>
            <a:off x="1623012" y="5057106"/>
            <a:ext cx="2034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8D8D8"/>
              </a:buClr>
              <a:buSzPts val="2200"/>
              <a:buFont typeface="Arial"/>
              <a:buNone/>
            </a:pPr>
            <a:r>
              <a:rPr b="1" i="0" lang="en-US" sz="2200" u="none" cap="none" strike="noStrike">
                <a:solidFill>
                  <a:srgbClr val="D8D8D8"/>
                </a:solidFill>
                <a:latin typeface="Arial"/>
                <a:ea typeface="Arial"/>
                <a:cs typeface="Arial"/>
                <a:sym typeface="Arial"/>
              </a:rPr>
              <a:t>Conclusión</a:t>
            </a:r>
            <a:endParaRPr b="0" i="0" sz="2200" u="none" cap="none" strike="noStrike">
              <a:solidFill>
                <a:srgbClr val="D8D8D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PRESENTACIÓN ORAL FINAL</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De la hipótesis del EDA al modelo fuera de tiempo</a:t>
            </a:r>
          </a:p>
        </p:txBody>
      </p:sp>
      <p:sp>
        <p:nvSpPr>
          <p:cNvPr id="7" name="TextBox 6"/>
          <p:cNvSpPr txBox="1"/>
          <p:nvPr/>
        </p:nvSpPr>
        <p:spPr>
          <a:xfrm>
            <a:off x="457200" y="1320000"/>
            <a:ext cx="11280000" cy="420000"/>
          </a:xfrm>
          <a:prstGeom prst="rect">
            <a:avLst/>
          </a:prstGeom>
          <a:noFill/>
        </p:spPr>
        <p:txBody>
          <a:bodyPr wrap="square">
            <a:spAutoFit/>
          </a:bodyPr>
          <a:lstStyle/>
          <a:p>
            <a:pPr algn="l">
              <a:spcAft>
                <a:spcPts val="400"/>
              </a:spcAft>
            </a:pPr>
            <a:r>
              <a:rPr sz="1600" b="0">
                <a:solidFill>
                  <a:srgbClr val="1A1A1A"/>
                </a:solidFill>
                <a:latin typeface="Calibri"/>
              </a:rPr>
              <a:t>El Hito 1 formuló H₁. El Hito 2 la pone a prueba: entrenar solo 2016 y evaluar en 2017, contra la mediana.</a:t>
            </a:r>
          </a:p>
        </p:txBody>
      </p:sp>
      <p:sp>
        <p:nvSpPr>
          <p:cNvPr id="8" name="Rounded Rectangle 7"/>
          <p:cNvSpPr/>
          <p:nvPr/>
        </p:nvSpPr>
        <p:spPr>
          <a:xfrm>
            <a:off x="457200" y="1850000"/>
            <a:ext cx="3600000" cy="145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H₁</a:t>
            </a:r>
          </a:p>
          <a:p>
            <a:pPr algn="ctr"/>
            <a:r>
              <a:rPr sz="1100" b="0">
                <a:solidFill>
                  <a:srgbClr val="FFFFFF"/>
                </a:solidFill>
                <a:latin typeface="Calibri"/>
              </a:rPr>
              <a:t>Las relaciones de 2016
predicen 2017 mejor
que una mediana</a:t>
            </a:r>
          </a:p>
        </p:txBody>
      </p:sp>
      <p:sp>
        <p:nvSpPr>
          <p:cNvPr id="9" name="Rounded Rectangle 8"/>
          <p:cNvSpPr/>
          <p:nvPr/>
        </p:nvSpPr>
        <p:spPr>
          <a:xfrm>
            <a:off x="4290000" y="1850000"/>
            <a:ext cx="3600000" cy="145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Test</a:t>
            </a:r>
          </a:p>
          <a:p>
            <a:pPr algn="ctr"/>
            <a:r>
              <a:rPr sz="1100" b="0">
                <a:solidFill>
                  <a:srgbClr val="FFFFFF"/>
                </a:solidFill>
                <a:latin typeface="Calibri"/>
              </a:rPr>
              <a:t>7.244 ventas de 2017
(hasta el 23-sep;
no es año calendario)</a:t>
            </a:r>
          </a:p>
        </p:txBody>
      </p:sp>
      <p:sp>
        <p:nvSpPr>
          <p:cNvPr id="10" name="Rounded Rectangle 9"/>
          <p:cNvSpPr/>
          <p:nvPr/>
        </p:nvSpPr>
        <p:spPr>
          <a:xfrm>
            <a:off x="8120000" y="1850000"/>
            <a:ext cx="3600000" cy="145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Baseline</a:t>
            </a:r>
          </a:p>
          <a:p>
            <a:pPr algn="ctr"/>
            <a:r>
              <a:rPr sz="1100" b="0">
                <a:solidFill>
                  <a:srgbClr val="FFFFFF"/>
                </a:solidFill>
                <a:latin typeface="Calibri"/>
              </a:rPr>
              <a:t>Mediana de Precio 2016
MAE $431.649
(anclaje)</a:t>
            </a:r>
          </a:p>
        </p:txBody>
      </p:sp>
      <p:sp>
        <p:nvSpPr>
          <p:cNvPr id="11" name="TextBox 10"/>
          <p:cNvSpPr txBox="1"/>
          <p:nvPr/>
        </p:nvSpPr>
        <p:spPr>
          <a:xfrm>
            <a:off x="457200" y="3500000"/>
            <a:ext cx="11280000" cy="2200000"/>
          </a:xfrm>
          <a:prstGeom prst="rect">
            <a:avLst/>
          </a:prstGeom>
          <a:noFill/>
        </p:spPr>
        <p:txBody>
          <a:bodyPr wrap="square">
            <a:spAutoFit/>
          </a:bodyPr>
          <a:lstStyle/>
          <a:p>
            <a:pPr>
              <a:spcAft>
                <a:spcPts val="800"/>
              </a:spcAft>
            </a:pPr>
            <a:r>
              <a:rPr sz="1500" b="0">
                <a:solidFill>
                  <a:srgbClr val="1A1A1A"/>
                </a:solidFill>
                <a:latin typeface="Calibri"/>
              </a:rPr>
              <a:t>•  No reabrimos el EDA: habitaciones, tipo y ubicación ya mostraron señal; ahora medimos si generaliza.</a:t>
            </a:r>
          </a:p>
          <a:p>
            <a:pPr>
              <a:spcAft>
                <a:spcPts val="800"/>
              </a:spcAft>
            </a:pPr>
            <a:r>
              <a:rPr sz="1500" b="0">
                <a:solidFill>
                  <a:srgbClr val="1A1A1A"/>
                </a:solidFill>
                <a:latin typeface="Calibri"/>
              </a:rPr>
              <a:t>•  La ubicación entra al modelo con Distancia, Latitud, Longitud y Región — no porque falten datos espaciales (están completos), sino para generalizar a 172 barrios no vistos.</a:t>
            </a:r>
          </a:p>
          <a:p>
            <a:pPr>
              <a:spcAft>
                <a:spcPts val="800"/>
              </a:spcAft>
            </a:pPr>
            <a:r>
              <a:rPr sz="1500" b="0">
                <a:solidFill>
                  <a:srgbClr val="1A1A1A"/>
                </a:solidFill>
                <a:latin typeface="Calibri"/>
              </a:rPr>
              <a:t>•  Criterio de éxito del enunciado: describir el modelo, el método de ajuste, los resultados y una conclusión. Sin informe escrito.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MODELAMIENTO  (rúbrica 15%)</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Método: pipeline aprendido solo en 2016</a:t>
            </a:r>
          </a:p>
        </p:txBody>
      </p:sp>
      <p:sp>
        <p:nvSpPr>
          <p:cNvPr id="7" name="TextBox 6"/>
          <p:cNvSpPr txBox="1"/>
          <p:nvPr/>
        </p:nvSpPr>
        <p:spPr>
          <a:xfrm>
            <a:off x="457200" y="1320000"/>
            <a:ext cx="5600000" cy="4200000"/>
          </a:xfrm>
          <a:prstGeom prst="rect">
            <a:avLst/>
          </a:prstGeom>
          <a:noFill/>
        </p:spPr>
        <p:txBody>
          <a:bodyPr wrap="square">
            <a:spAutoFit/>
          </a:bodyPr>
          <a:lstStyle/>
          <a:p>
            <a:pPr>
              <a:spcAft>
                <a:spcPts val="800"/>
              </a:spcAft>
            </a:pPr>
            <a:r>
              <a:rPr sz="1400" b="0">
                <a:solidFill>
                  <a:srgbClr val="1A1A1A"/>
                </a:solidFill>
                <a:latin typeface="Calibri"/>
              </a:rPr>
              <a:t>•  Partición cronológica: 6.336 train (2016) / 7.244 test (2017). Jamás split aleatorio.</a:t>
            </a:r>
          </a:p>
          <a:p>
            <a:pPr>
              <a:spcAft>
                <a:spcPts val="800"/>
              </a:spcAft>
            </a:pPr>
            <a:r>
              <a:rPr sz="1400" b="0">
                <a:solidFill>
                  <a:srgbClr val="1A1A1A"/>
                </a:solidFill>
                <a:latin typeface="Calibri"/>
              </a:rPr>
              <a:t>•  Numéricas: mediana + StandardScaler, fit en 2016.</a:t>
            </a:r>
          </a:p>
          <a:p>
            <a:pPr>
              <a:spcAft>
                <a:spcPts val="800"/>
              </a:spcAft>
            </a:pPr>
            <a:r>
              <a:rPr sz="1400" b="0">
                <a:solidFill>
                  <a:srgbClr val="1A1A1A"/>
                </a:solidFill>
                <a:latin typeface="Calibri"/>
              </a:rPr>
              <a:t>•  Categóricas: constante «missing» + one-hot con handle_unknown='ignore'.</a:t>
            </a:r>
          </a:p>
          <a:p>
            <a:pPr>
              <a:spcAft>
                <a:spcPts val="800"/>
              </a:spcAft>
            </a:pPr>
            <a:r>
              <a:rPr sz="1400" b="0">
                <a:solidFill>
                  <a:srgbClr val="1A1A1A"/>
                </a:solidFill>
                <a:latin typeface="Calibri"/>
              </a:rPr>
              <a:t>•  Validación cruzada (K=5) solo dentro de 2016.</a:t>
            </a:r>
          </a:p>
          <a:p>
            <a:pPr>
              <a:spcAft>
                <a:spcPts val="800"/>
              </a:spcAft>
            </a:pPr>
            <a:r>
              <a:rPr sz="1400" b="0">
                <a:solidFill>
                  <a:srgbClr val="1A1A1A"/>
                </a:solidFill>
                <a:latin typeface="Calibri"/>
              </a:rPr>
              <a:t>•  Target: Precio en AUD (no log). Métricas: R², MAE, RMSE.</a:t>
            </a:r>
          </a:p>
          <a:p>
            <a:pPr>
              <a:spcAft>
                <a:spcPts val="800"/>
              </a:spcAft>
            </a:pPr>
            <a:r>
              <a:rPr sz="1400" b="0">
                <a:solidFill>
                  <a:srgbClr val="1A1A1A"/>
                </a:solidFill>
                <a:latin typeface="Calibri"/>
              </a:rPr>
              <a:t>•  Variables: Habitaciones, Baños, Automóviles, Distancia, Tamaño_Tierra, Latitud, Longitud, Cantidad_Propiedades + Tipo, Método, Región.</a:t>
            </a:r>
          </a:p>
        </p:txBody>
      </p:sp>
      <p:sp>
        <p:nvSpPr>
          <p:cNvPr id="8" name="Rounded Rectangle 7"/>
          <p:cNvSpPr/>
          <p:nvPr/>
        </p:nvSpPr>
        <p:spPr>
          <a:xfrm>
            <a:off x="6400000" y="1380000"/>
            <a:ext cx="5300000" cy="4000000"/>
          </a:xfrm>
          <a:prstGeom prst="round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50000" y="1500000"/>
            <a:ext cx="4900000" cy="400000"/>
          </a:xfrm>
          <a:prstGeom prst="rect">
            <a:avLst/>
          </a:prstGeom>
          <a:noFill/>
        </p:spPr>
        <p:txBody>
          <a:bodyPr wrap="square">
            <a:spAutoFit/>
          </a:bodyPr>
          <a:lstStyle/>
          <a:p>
            <a:pPr algn="l">
              <a:spcAft>
                <a:spcPts val="400"/>
              </a:spcAft>
            </a:pPr>
            <a:r>
              <a:rPr sz="1400" b="1">
                <a:solidFill>
                  <a:srgbClr val="C9A227"/>
                </a:solidFill>
                <a:latin typeface="Calibri"/>
              </a:rPr>
              <a:t>Fuera del modelo (justificado)</a:t>
            </a:r>
          </a:p>
        </p:txBody>
      </p:sp>
      <p:sp>
        <p:nvSpPr>
          <p:cNvPr id="10" name="TextBox 9"/>
          <p:cNvSpPr txBox="1"/>
          <p:nvPr/>
        </p:nvSpPr>
        <p:spPr>
          <a:xfrm>
            <a:off x="6650000" y="2000000"/>
            <a:ext cx="4900000" cy="3100000"/>
          </a:xfrm>
          <a:prstGeom prst="rect">
            <a:avLst/>
          </a:prstGeom>
          <a:noFill/>
        </p:spPr>
        <p:txBody>
          <a:bodyPr wrap="square">
            <a:spAutoFit/>
          </a:bodyPr>
          <a:lstStyle/>
          <a:p>
            <a:pPr>
              <a:spcAft>
                <a:spcPts val="1000"/>
              </a:spcAft>
            </a:pPr>
            <a:r>
              <a:rPr sz="1300" b="0">
                <a:solidFill>
                  <a:srgbClr val="FFFFFF"/>
                </a:solidFill>
                <a:latin typeface="Calibri"/>
              </a:rPr>
              <a:t>•  Barrio one-hot: 172 niveles nuevos (29,1% de 2017).</a:t>
            </a:r>
          </a:p>
          <a:p>
            <a:pPr>
              <a:spcAft>
                <a:spcPts val="1000"/>
              </a:spcAft>
            </a:pPr>
            <a:r>
              <a:rPr sz="1300" b="0">
                <a:solidFill>
                  <a:srgbClr val="FFFFFF"/>
                </a:solidFill>
                <a:latin typeface="Calibri"/>
              </a:rPr>
              <a:t>•  BuildingArea 47,5% nulo; YearBuilt 39,6% nulo.</a:t>
            </a:r>
          </a:p>
          <a:p>
            <a:pPr>
              <a:spcAft>
                <a:spcPts val="1000"/>
              </a:spcAft>
            </a:pPr>
            <a:r>
              <a:rPr sz="1300" b="0">
                <a:solidFill>
                  <a:srgbClr val="FFFFFF"/>
                </a:solidFill>
                <a:latin typeface="Calibri"/>
              </a:rPr>
              <a:t>•  Habitaciones2: r = 0,944 con Habitaciones.</a:t>
            </a:r>
          </a:p>
          <a:p>
            <a:pPr>
              <a:spcAft>
                <a:spcPts val="1000"/>
              </a:spcAft>
            </a:pPr>
            <a:r>
              <a:rPr sz="1300" b="0">
                <a:solidFill>
                  <a:srgbClr val="FFFFFF"/>
                </a:solidFill>
                <a:latin typeface="Calibri"/>
              </a:rPr>
              <a:t>•  CouncilArea: 0 nulos en 2016 y 1.369 en 2017 + 14 comunas nuevas. La ubicación ya va en coordenadas y Región.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MODELAMIENTO</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Jerarquía de modelos: se elige Random Forest</a:t>
            </a:r>
          </a:p>
        </p:txBody>
      </p:sp>
      <p:graphicFrame>
        <p:nvGraphicFramePr>
          <p:cNvPr id="7" name="Table 6"/>
          <p:cNvGraphicFramePr>
            <a:graphicFrameLocks noGrp="1"/>
          </p:cNvGraphicFramePr>
          <p:nvPr/>
        </p:nvGraphicFramePr>
        <p:xfrm>
          <a:off x="400000" y="1300000"/>
          <a:ext cx="11400000" cy="3900000"/>
        </p:xfrm>
        <a:graphic>
          <a:graphicData uri="http://schemas.openxmlformats.org/drawingml/2006/table">
            <a:tbl>
              <a:tblPr firstRow="1" bandRow="1">
                <a:tableStyleId>{5C22544A-7EE6-4342-B048-85BDC9FD1C3A}</a:tableStyleId>
              </a:tblPr>
              <a:tblGrid>
                <a:gridCol w="3200000"/>
                <a:gridCol w="2500000"/>
                <a:gridCol w="2800000"/>
                <a:gridCol w="2900000"/>
              </a:tblGrid>
              <a:tr h="557142">
                <a:tc>
                  <a:txBody>
                    <a:bodyPr wrap="square"/>
                    <a:lstStyle/>
                    <a:p>
                      <a:pPr algn="ctr"/>
                      <a:r>
                        <a:rPr sz="1200" b="1">
                          <a:solidFill>
                            <a:srgbClr val="FFFFFF"/>
                          </a:solidFill>
                          <a:latin typeface="Calibri"/>
                        </a:rPr>
                        <a:t>Modelo</a:t>
                      </a:r>
                    </a:p>
                  </a:txBody>
                  <a:tcPr>
                    <a:solidFill>
                      <a:srgbClr val="0F2744"/>
                    </a:solidFill>
                  </a:tcPr>
                </a:tc>
                <a:tc>
                  <a:txBody>
                    <a:bodyPr wrap="square"/>
                    <a:lstStyle/>
                    <a:p>
                      <a:pPr algn="ctr"/>
                      <a:r>
                        <a:rPr sz="1200" b="1">
                          <a:solidFill>
                            <a:srgbClr val="FFFFFF"/>
                          </a:solidFill>
                          <a:latin typeface="Calibri"/>
                        </a:rPr>
                        <a:t>R² test 2017</a:t>
                      </a:r>
                    </a:p>
                  </a:txBody>
                  <a:tcPr>
                    <a:solidFill>
                      <a:srgbClr val="0F2744"/>
                    </a:solidFill>
                  </a:tcPr>
                </a:tc>
                <a:tc>
                  <a:txBody>
                    <a:bodyPr wrap="square"/>
                    <a:lstStyle/>
                    <a:p>
                      <a:pPr algn="ctr"/>
                      <a:r>
                        <a:rPr sz="1200" b="1">
                          <a:solidFill>
                            <a:srgbClr val="FFFFFF"/>
                          </a:solidFill>
                          <a:latin typeface="Calibri"/>
                        </a:rPr>
                        <a:t>MAE test (AUD)</a:t>
                      </a:r>
                    </a:p>
                  </a:txBody>
                  <a:tcPr>
                    <a:solidFill>
                      <a:srgbClr val="0F2744"/>
                    </a:solidFill>
                  </a:tcPr>
                </a:tc>
                <a:tc>
                  <a:txBody>
                    <a:bodyPr wrap="square"/>
                    <a:lstStyle/>
                    <a:p>
                      <a:pPr algn="ctr"/>
                      <a:r>
                        <a:rPr sz="1200" b="1">
                          <a:solidFill>
                            <a:srgbClr val="FFFFFF"/>
                          </a:solidFill>
                          <a:latin typeface="Calibri"/>
                        </a:rPr>
                        <a:t>Lectura</a:t>
                      </a:r>
                    </a:p>
                  </a:txBody>
                  <a:tcPr>
                    <a:solidFill>
                      <a:srgbClr val="0F2744"/>
                    </a:solidFill>
                  </a:tcPr>
                </a:tc>
              </a:tr>
              <a:tr h="557142">
                <a:tc>
                  <a:txBody>
                    <a:bodyPr wrap="square"/>
                    <a:lstStyle/>
                    <a:p>
                      <a:pPr algn="l"/>
                      <a:r>
                        <a:rPr sz="1200" b="0">
                          <a:solidFill>
                            <a:srgbClr val="1A1A1A"/>
                          </a:solidFill>
                          <a:latin typeface="Calibri"/>
                        </a:rPr>
                        <a:t>Baseline (mediana 2016)</a:t>
                      </a:r>
                    </a:p>
                  </a:txBody>
                  <a:tcPr>
                    <a:solidFill>
                      <a:srgbClr val="FFFFFF"/>
                    </a:solidFill>
                  </a:tcPr>
                </a:tc>
                <a:tc>
                  <a:txBody>
                    <a:bodyPr wrap="square"/>
                    <a:lstStyle/>
                    <a:p>
                      <a:pPr algn="ctr"/>
                      <a:r>
                        <a:rPr sz="1200" b="0">
                          <a:solidFill>
                            <a:srgbClr val="1A1A1A"/>
                          </a:solidFill>
                          <a:latin typeface="Calibri"/>
                        </a:rPr>
                        <a:t>−0,0800</a:t>
                      </a:r>
                    </a:p>
                  </a:txBody>
                  <a:tcPr>
                    <a:solidFill>
                      <a:srgbClr val="FFFFFF"/>
                    </a:solidFill>
                  </a:tcPr>
                </a:tc>
                <a:tc>
                  <a:txBody>
                    <a:bodyPr wrap="square"/>
                    <a:lstStyle/>
                    <a:p>
                      <a:pPr algn="ctr"/>
                      <a:r>
                        <a:rPr sz="1200" b="0">
                          <a:solidFill>
                            <a:srgbClr val="1A1A1A"/>
                          </a:solidFill>
                          <a:latin typeface="Calibri"/>
                        </a:rPr>
                        <a:t>431.649</a:t>
                      </a:r>
                    </a:p>
                  </a:txBody>
                  <a:tcPr>
                    <a:solidFill>
                      <a:srgbClr val="FFFFFF"/>
                    </a:solidFill>
                  </a:tcPr>
                </a:tc>
                <a:tc>
                  <a:txBody>
                    <a:bodyPr wrap="square"/>
                    <a:lstStyle/>
                    <a:p>
                      <a:pPr algn="ctr"/>
                      <a:r>
                        <a:rPr sz="1200" b="0">
                          <a:solidFill>
                            <a:srgbClr val="1A1A1A"/>
                          </a:solidFill>
                          <a:latin typeface="Calibri"/>
                        </a:rPr>
                        <a:t>Referencia obligada</a:t>
                      </a:r>
                    </a:p>
                  </a:txBody>
                  <a:tcPr>
                    <a:solidFill>
                      <a:srgbClr val="FFFFFF"/>
                    </a:solidFill>
                  </a:tcPr>
                </a:tc>
              </a:tr>
              <a:tr h="557142">
                <a:tc>
                  <a:txBody>
                    <a:bodyPr wrap="square"/>
                    <a:lstStyle/>
                    <a:p>
                      <a:pPr algn="l"/>
                      <a:r>
                        <a:rPr sz="1200" b="0">
                          <a:solidFill>
                            <a:srgbClr val="1A1A1A"/>
                          </a:solidFill>
                          <a:latin typeface="Calibri"/>
                        </a:rPr>
                        <a:t>Regresión lineal</a:t>
                      </a:r>
                    </a:p>
                  </a:txBody>
                  <a:tcPr>
                    <a:solidFill>
                      <a:srgbClr val="E8EEF4"/>
                    </a:solidFill>
                  </a:tcPr>
                </a:tc>
                <a:tc>
                  <a:txBody>
                    <a:bodyPr wrap="square"/>
                    <a:lstStyle/>
                    <a:p>
                      <a:pPr algn="ctr"/>
                      <a:r>
                        <a:rPr sz="1200" b="0">
                          <a:solidFill>
                            <a:srgbClr val="1A1A1A"/>
                          </a:solidFill>
                          <a:latin typeface="Calibri"/>
                        </a:rPr>
                        <a:t>0,4757</a:t>
                      </a:r>
                    </a:p>
                  </a:txBody>
                  <a:tcPr>
                    <a:solidFill>
                      <a:srgbClr val="E8EEF4"/>
                    </a:solidFill>
                  </a:tcPr>
                </a:tc>
                <a:tc>
                  <a:txBody>
                    <a:bodyPr wrap="square"/>
                    <a:lstStyle/>
                    <a:p>
                      <a:pPr algn="ctr"/>
                      <a:r>
                        <a:rPr sz="1200" b="0">
                          <a:solidFill>
                            <a:srgbClr val="1A1A1A"/>
                          </a:solidFill>
                          <a:latin typeface="Calibri"/>
                        </a:rPr>
                        <a:t>294.888</a:t>
                      </a:r>
                    </a:p>
                  </a:txBody>
                  <a:tcPr>
                    <a:solidFill>
                      <a:srgbClr val="E8EEF4"/>
                    </a:solidFill>
                  </a:tcPr>
                </a:tc>
                <a:tc>
                  <a:txBody>
                    <a:bodyPr wrap="square"/>
                    <a:lstStyle/>
                    <a:p>
                      <a:pPr algn="ctr"/>
                      <a:r>
                        <a:rPr sz="1200" b="0">
                          <a:solidFill>
                            <a:srgbClr val="1A1A1A"/>
                          </a:solidFill>
                          <a:latin typeface="Calibri"/>
                        </a:rPr>
                        <a:t>Interpretable, corto</a:t>
                      </a:r>
                    </a:p>
                  </a:txBody>
                  <a:tcPr>
                    <a:solidFill>
                      <a:srgbClr val="E8EEF4"/>
                    </a:solidFill>
                  </a:tcPr>
                </a:tc>
              </a:tr>
              <a:tr h="557142">
                <a:tc>
                  <a:txBody>
                    <a:bodyPr wrap="square"/>
                    <a:lstStyle/>
                    <a:p>
                      <a:pPr algn="l"/>
                      <a:r>
                        <a:rPr sz="1200" b="0">
                          <a:solidFill>
                            <a:srgbClr val="1A1A1A"/>
                          </a:solidFill>
                          <a:latin typeface="Calibri"/>
                        </a:rPr>
                        <a:t>Árbol de decisión</a:t>
                      </a:r>
                    </a:p>
                  </a:txBody>
                  <a:tcPr>
                    <a:solidFill>
                      <a:srgbClr val="FFFFFF"/>
                    </a:solidFill>
                  </a:tcPr>
                </a:tc>
                <a:tc>
                  <a:txBody>
                    <a:bodyPr wrap="square"/>
                    <a:lstStyle/>
                    <a:p>
                      <a:pPr algn="ctr"/>
                      <a:r>
                        <a:rPr sz="1200" b="0">
                          <a:solidFill>
                            <a:srgbClr val="1A1A1A"/>
                          </a:solidFill>
                          <a:latin typeface="Calibri"/>
                        </a:rPr>
                        <a:t>0,6151</a:t>
                      </a:r>
                    </a:p>
                  </a:txBody>
                  <a:tcPr>
                    <a:solidFill>
                      <a:srgbClr val="FFFFFF"/>
                    </a:solidFill>
                  </a:tcPr>
                </a:tc>
                <a:tc>
                  <a:txBody>
                    <a:bodyPr wrap="square"/>
                    <a:lstStyle/>
                    <a:p>
                      <a:pPr algn="ctr"/>
                      <a:r>
                        <a:rPr sz="1200" b="0">
                          <a:solidFill>
                            <a:srgbClr val="1A1A1A"/>
                          </a:solidFill>
                          <a:latin typeface="Calibri"/>
                        </a:rPr>
                        <a:t>247.231</a:t>
                      </a:r>
                    </a:p>
                  </a:txBody>
                  <a:tcPr>
                    <a:solidFill>
                      <a:srgbClr val="FFFFFF"/>
                    </a:solidFill>
                  </a:tcPr>
                </a:tc>
                <a:tc>
                  <a:txBody>
                    <a:bodyPr wrap="square"/>
                    <a:lstStyle/>
                    <a:p>
                      <a:pPr algn="ctr"/>
                      <a:r>
                        <a:rPr sz="1200" b="0">
                          <a:solidFill>
                            <a:srgbClr val="1A1A1A"/>
                          </a:solidFill>
                          <a:latin typeface="Calibri"/>
                        </a:rPr>
                        <a:t>Primer salto no lineal</a:t>
                      </a:r>
                    </a:p>
                  </a:txBody>
                  <a:tcPr>
                    <a:solidFill>
                      <a:srgbClr val="FFFFFF"/>
                    </a:solidFill>
                  </a:tcPr>
                </a:tc>
              </a:tr>
              <a:tr h="557142">
                <a:tc>
                  <a:txBody>
                    <a:bodyPr wrap="square"/>
                    <a:lstStyle/>
                    <a:p>
                      <a:pPr algn="l"/>
                      <a:r>
                        <a:rPr sz="1200" b="1">
                          <a:solidFill>
                            <a:srgbClr val="FFFFFF"/>
                          </a:solidFill>
                          <a:latin typeface="Calibri"/>
                        </a:rPr>
                        <a:t>Random Forest</a:t>
                      </a:r>
                    </a:p>
                  </a:txBody>
                  <a:tcPr>
                    <a:solidFill>
                      <a:srgbClr val="1F6F6A"/>
                    </a:solidFill>
                  </a:tcPr>
                </a:tc>
                <a:tc>
                  <a:txBody>
                    <a:bodyPr wrap="square"/>
                    <a:lstStyle/>
                    <a:p>
                      <a:pPr algn="ctr"/>
                      <a:r>
                        <a:rPr sz="1200" b="1">
                          <a:solidFill>
                            <a:srgbClr val="FFFFFF"/>
                          </a:solidFill>
                          <a:latin typeface="Calibri"/>
                        </a:rPr>
                        <a:t>0,6908</a:t>
                      </a:r>
                    </a:p>
                  </a:txBody>
                  <a:tcPr>
                    <a:solidFill>
                      <a:srgbClr val="1F6F6A"/>
                    </a:solidFill>
                  </a:tcPr>
                </a:tc>
                <a:tc>
                  <a:txBody>
                    <a:bodyPr wrap="square"/>
                    <a:lstStyle/>
                    <a:p>
                      <a:pPr algn="ctr"/>
                      <a:r>
                        <a:rPr sz="1200" b="1">
                          <a:solidFill>
                            <a:srgbClr val="FFFFFF"/>
                          </a:solidFill>
                          <a:latin typeface="Calibri"/>
                        </a:rPr>
                        <a:t>218.847</a:t>
                      </a:r>
                    </a:p>
                  </a:txBody>
                  <a:tcPr>
                    <a:solidFill>
                      <a:srgbClr val="1F6F6A"/>
                    </a:solidFill>
                  </a:tcPr>
                </a:tc>
                <a:tc>
                  <a:txBody>
                    <a:bodyPr wrap="square"/>
                    <a:lstStyle/>
                    <a:p>
                      <a:pPr algn="ctr"/>
                      <a:r>
                        <a:rPr sz="1200" b="1">
                          <a:solidFill>
                            <a:srgbClr val="FFFFFF"/>
                          </a:solidFill>
                          <a:latin typeface="Calibri"/>
                        </a:rPr>
                        <a:t>ELEGIDO</a:t>
                      </a:r>
                    </a:p>
                  </a:txBody>
                  <a:tcPr>
                    <a:solidFill>
                      <a:srgbClr val="1F6F6A"/>
                    </a:solidFill>
                  </a:tcPr>
                </a:tc>
              </a:tr>
              <a:tr h="557142">
                <a:tc>
                  <a:txBody>
                    <a:bodyPr wrap="square"/>
                    <a:lstStyle/>
                    <a:p>
                      <a:pPr algn="l"/>
                      <a:r>
                        <a:rPr sz="1200" b="0">
                          <a:solidFill>
                            <a:srgbClr val="1A1A1A"/>
                          </a:solidFill>
                          <a:latin typeface="Calibri"/>
                        </a:rPr>
                        <a:t>Gradient Boosting</a:t>
                      </a:r>
                    </a:p>
                  </a:txBody>
                  <a:tcPr>
                    <a:solidFill>
                      <a:srgbClr val="FFFFFF"/>
                    </a:solidFill>
                  </a:tcPr>
                </a:tc>
                <a:tc>
                  <a:txBody>
                    <a:bodyPr wrap="square"/>
                    <a:lstStyle/>
                    <a:p>
                      <a:pPr algn="ctr"/>
                      <a:r>
                        <a:rPr sz="1200" b="0">
                          <a:solidFill>
                            <a:srgbClr val="1A1A1A"/>
                          </a:solidFill>
                          <a:latin typeface="Calibri"/>
                        </a:rPr>
                        <a:t>0,7191</a:t>
                      </a:r>
                    </a:p>
                  </a:txBody>
                  <a:tcPr>
                    <a:solidFill>
                      <a:srgbClr val="FFFFFF"/>
                    </a:solidFill>
                  </a:tcPr>
                </a:tc>
                <a:tc>
                  <a:txBody>
                    <a:bodyPr wrap="square"/>
                    <a:lstStyle/>
                    <a:p>
                      <a:pPr algn="ctr"/>
                      <a:r>
                        <a:rPr sz="1200" b="0">
                          <a:solidFill>
                            <a:srgbClr val="1A1A1A"/>
                          </a:solidFill>
                          <a:latin typeface="Calibri"/>
                        </a:rPr>
                        <a:t>205.546</a:t>
                      </a:r>
                    </a:p>
                  </a:txBody>
                  <a:tcPr>
                    <a:solidFill>
                      <a:srgbClr val="FFFFFF"/>
                    </a:solidFill>
                  </a:tcPr>
                </a:tc>
                <a:tc>
                  <a:txBody>
                    <a:bodyPr wrap="square"/>
                    <a:lstStyle/>
                    <a:p>
                      <a:pPr algn="ctr"/>
                      <a:r>
                        <a:rPr sz="1200" b="0">
                          <a:solidFill>
                            <a:srgbClr val="1A1A1A"/>
                          </a:solidFill>
                          <a:latin typeface="Calibri"/>
                        </a:rPr>
                        <a:t>Mejor R²; no elegido</a:t>
                      </a:r>
                    </a:p>
                  </a:txBody>
                  <a:tcPr>
                    <a:solidFill>
                      <a:srgbClr val="FFFFFF"/>
                    </a:solidFill>
                  </a:tcPr>
                </a:tc>
              </a:tr>
              <a:tr h="557148">
                <a:tc>
                  <a:txBody>
                    <a:bodyPr wrap="square"/>
                    <a:lstStyle/>
                    <a:p>
                      <a:pPr algn="l"/>
                      <a:r>
                        <a:rPr sz="1200" b="0">
                          <a:solidFill>
                            <a:srgbClr val="1A1A1A"/>
                          </a:solidFill>
                          <a:latin typeface="Calibri"/>
                        </a:rPr>
                        <a:t>RF + GridSearchCV</a:t>
                      </a:r>
                    </a:p>
                  </a:txBody>
                  <a:tcPr>
                    <a:solidFill>
                      <a:srgbClr val="E8EEF4"/>
                    </a:solidFill>
                  </a:tcPr>
                </a:tc>
                <a:tc>
                  <a:txBody>
                    <a:bodyPr wrap="square"/>
                    <a:lstStyle/>
                    <a:p>
                      <a:pPr algn="ctr"/>
                      <a:r>
                        <a:rPr sz="1200" b="0">
                          <a:solidFill>
                            <a:srgbClr val="1A1A1A"/>
                          </a:solidFill>
                          <a:latin typeface="Calibri"/>
                        </a:rPr>
                        <a:t>0,6919</a:t>
                      </a:r>
                    </a:p>
                  </a:txBody>
                  <a:tcPr>
                    <a:solidFill>
                      <a:srgbClr val="E8EEF4"/>
                    </a:solidFill>
                  </a:tcPr>
                </a:tc>
                <a:tc>
                  <a:txBody>
                    <a:bodyPr wrap="square"/>
                    <a:lstStyle/>
                    <a:p>
                      <a:pPr algn="ctr"/>
                      <a:r>
                        <a:rPr sz="1200" b="0">
                          <a:solidFill>
                            <a:srgbClr val="1A1A1A"/>
                          </a:solidFill>
                          <a:latin typeface="Calibri"/>
                        </a:rPr>
                        <a:t>218.477</a:t>
                      </a:r>
                    </a:p>
                  </a:txBody>
                  <a:tcPr>
                    <a:solidFill>
                      <a:srgbClr val="E8EEF4"/>
                    </a:solidFill>
                  </a:tcPr>
                </a:tc>
                <a:tc>
                  <a:txBody>
                    <a:bodyPr wrap="square"/>
                    <a:lstStyle/>
                    <a:p>
                      <a:pPr algn="ctr"/>
                      <a:r>
                        <a:rPr sz="1200" b="0">
                          <a:solidFill>
                            <a:srgbClr val="1A1A1A"/>
                          </a:solidFill>
                          <a:latin typeface="Calibri"/>
                        </a:rPr>
                        <a:t>Margen irrelevante</a:t>
                      </a:r>
                    </a:p>
                  </a:txBody>
                  <a:tcPr>
                    <a:solidFill>
                      <a:srgbClr val="E8EEF4"/>
                    </a:solidFill>
                  </a:tcPr>
                </a:tc>
              </a:tr>
            </a:tbl>
          </a:graphicData>
        </a:graphic>
      </p:graphicFrame>
      <p:sp>
        <p:nvSpPr>
          <p:cNvPr id="8" name="TextBox 7"/>
          <p:cNvSpPr txBox="1"/>
          <p:nvPr/>
        </p:nvSpPr>
        <p:spPr>
          <a:xfrm>
            <a:off x="400000" y="5300000"/>
            <a:ext cx="11400000" cy="900000"/>
          </a:xfrm>
          <a:prstGeom prst="rect">
            <a:avLst/>
          </a:prstGeom>
          <a:noFill/>
        </p:spPr>
        <p:txBody>
          <a:bodyPr wrap="square">
            <a:spAutoFit/>
          </a:bodyPr>
          <a:lstStyle/>
          <a:p>
            <a:pPr algn="l">
              <a:spcAft>
                <a:spcPts val="400"/>
              </a:spcAft>
            </a:pPr>
            <a:r>
              <a:rPr sz="1400" b="0">
                <a:solidFill>
                  <a:srgbClr val="4A5563"/>
                </a:solidFill>
                <a:latin typeface="Calibri"/>
              </a:rPr>
              <a:t>GB gana el R². Elegimos RF: menor sensibilidad a hiperparámetros y lectura más estable ante el desplazamiento geográfico. El GridSearch no cambia la decisión (0,6908 → 0,6919).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RESULTADOS  (rúbrica 15%)</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Random Forest en 2017: gana a la mediana; el error sigue siendo de negocio</a:t>
            </a:r>
          </a:p>
        </p:txBody>
      </p:sp>
      <p:sp>
        <p:nvSpPr>
          <p:cNvPr id="7" name="Rounded Rectangle 6"/>
          <p:cNvSpPr/>
          <p:nvPr/>
        </p:nvSpPr>
        <p:spPr>
          <a:xfrm>
            <a:off x="400000" y="1380000"/>
            <a:ext cx="2800000" cy="16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0,6908</a:t>
            </a:r>
          </a:p>
          <a:p>
            <a:pPr algn="ctr"/>
            <a:r>
              <a:rPr sz="1100" b="0">
                <a:solidFill>
                  <a:srgbClr val="FFFFFF"/>
                </a:solidFill>
                <a:latin typeface="Calibri"/>
              </a:rPr>
              <a:t>R² test 2017</a:t>
            </a:r>
          </a:p>
        </p:txBody>
      </p:sp>
      <p:sp>
        <p:nvSpPr>
          <p:cNvPr id="8" name="Rounded Rectangle 7"/>
          <p:cNvSpPr/>
          <p:nvPr/>
        </p:nvSpPr>
        <p:spPr>
          <a:xfrm>
            <a:off x="3400000" y="1380000"/>
            <a:ext cx="2800000" cy="16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$218.847</a:t>
            </a:r>
          </a:p>
          <a:p>
            <a:pPr algn="ctr"/>
            <a:r>
              <a:rPr sz="1100" b="0">
                <a:solidFill>
                  <a:srgbClr val="FFFFFF"/>
                </a:solidFill>
                <a:latin typeface="Calibri"/>
              </a:rPr>
              <a:t>MAE (AUD)</a:t>
            </a:r>
          </a:p>
        </p:txBody>
      </p:sp>
      <p:sp>
        <p:nvSpPr>
          <p:cNvPr id="9" name="Rounded Rectangle 8"/>
          <p:cNvSpPr/>
          <p:nvPr/>
        </p:nvSpPr>
        <p:spPr>
          <a:xfrm>
            <a:off x="6400000" y="1380000"/>
            <a:ext cx="2800000" cy="16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$350.129</a:t>
            </a:r>
          </a:p>
          <a:p>
            <a:pPr algn="ctr"/>
            <a:r>
              <a:rPr sz="1100" b="0">
                <a:solidFill>
                  <a:srgbClr val="FFFFFF"/>
                </a:solidFill>
                <a:latin typeface="Calibri"/>
              </a:rPr>
              <a:t>RMSE (AUD)</a:t>
            </a:r>
          </a:p>
        </p:txBody>
      </p:sp>
      <p:sp>
        <p:nvSpPr>
          <p:cNvPr id="10" name="Rounded Rectangle 9"/>
          <p:cNvSpPr/>
          <p:nvPr/>
        </p:nvSpPr>
        <p:spPr>
          <a:xfrm>
            <a:off x="9400000" y="1380000"/>
            <a:ext cx="2400000" cy="16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−49%</a:t>
            </a:r>
          </a:p>
          <a:p>
            <a:pPr algn="ctr"/>
            <a:r>
              <a:rPr sz="1100" b="0">
                <a:solidFill>
                  <a:srgbClr val="FFFFFF"/>
                </a:solidFill>
                <a:latin typeface="Calibri"/>
              </a:rPr>
              <a:t>MAE vs mediana
2016 ($431.649)</a:t>
            </a:r>
          </a:p>
        </p:txBody>
      </p:sp>
      <p:sp>
        <p:nvSpPr>
          <p:cNvPr id="11" name="TextBox 10"/>
          <p:cNvSpPr txBox="1"/>
          <p:nvPr/>
        </p:nvSpPr>
        <p:spPr>
          <a:xfrm>
            <a:off x="457200" y="3200000"/>
            <a:ext cx="11280000" cy="2800000"/>
          </a:xfrm>
          <a:prstGeom prst="rect">
            <a:avLst/>
          </a:prstGeom>
          <a:noFill/>
        </p:spPr>
        <p:txBody>
          <a:bodyPr wrap="square">
            <a:spAutoFit/>
          </a:bodyPr>
          <a:lstStyle/>
          <a:p>
            <a:pPr>
              <a:spcAft>
                <a:spcPts val="800"/>
              </a:spcAft>
            </a:pPr>
            <a:r>
              <a:rPr sz="1500" b="0">
                <a:solidFill>
                  <a:srgbClr val="1A1A1A"/>
                </a:solidFill>
                <a:latin typeface="Calibri"/>
              </a:rPr>
              <a:t>•  R² train 0,8923 · R² CV (K=5 en 2016) 0,7894: el modelo es estable dentro de 2016; la caída a 0,69 es el costo de 2017, no un bug local.</a:t>
            </a:r>
          </a:p>
          <a:p>
            <a:pPr>
              <a:spcAft>
                <a:spcPts val="800"/>
              </a:spcAft>
            </a:pPr>
            <a:r>
              <a:rPr sz="1500" b="0">
                <a:solidFill>
                  <a:srgbClr val="1A1A1A"/>
                </a:solidFill>
                <a:latin typeface="Calibri"/>
              </a:rPr>
              <a:t>•  Interpretación: explica ~69% de la varianza de precios de 2017. El MAE es ~24% de la mediana 2017 ($910k): útil, no una tasación automática.</a:t>
            </a:r>
          </a:p>
          <a:p>
            <a:pPr>
              <a:spcAft>
                <a:spcPts val="800"/>
              </a:spcAft>
            </a:pPr>
            <a:r>
              <a:rPr sz="1500" b="0">
                <a:solidFill>
                  <a:srgbClr val="1A1A1A"/>
                </a:solidFill>
                <a:latin typeface="Calibri"/>
              </a:rPr>
              <a:t>•  H₁ agregada se sostiene: 2016 predice 2017 mejor que una estimación básica. H₀ se rechaza a nivel de mercado, no casa por casa.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RESULTADOS</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Dónde se rompe la predicción (sin inventar un segundo modelo)</a:t>
            </a:r>
          </a:p>
        </p:txBody>
      </p:sp>
      <p:sp>
        <p:nvSpPr>
          <p:cNvPr id="7" name="Rounded Rectangle 6"/>
          <p:cNvSpPr/>
          <p:nvPr/>
        </p:nvSpPr>
        <p:spPr>
          <a:xfrm>
            <a:off x="400000" y="1380000"/>
            <a:ext cx="3700000" cy="15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172</a:t>
            </a:r>
          </a:p>
          <a:p>
            <a:pPr algn="ctr"/>
            <a:r>
              <a:rPr sz="1100" b="0">
                <a:solidFill>
                  <a:srgbClr val="FFFFFF"/>
                </a:solidFill>
                <a:latin typeface="Calibri"/>
              </a:rPr>
              <a:t>barrios de 2017
no vistos en 2016
(29,1% de las filas)</a:t>
            </a:r>
          </a:p>
        </p:txBody>
      </p:sp>
      <p:sp>
        <p:nvSpPr>
          <p:cNvPr id="8" name="Rounded Rectangle 7"/>
          <p:cNvSpPr/>
          <p:nvPr/>
        </p:nvSpPr>
        <p:spPr>
          <a:xfrm>
            <a:off x="4300000" y="1380000"/>
            <a:ext cx="3700000" cy="15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$755k vs $999k</a:t>
            </a:r>
          </a:p>
          <a:p>
            <a:pPr algn="ctr"/>
            <a:r>
              <a:rPr sz="1100" b="0">
                <a:solidFill>
                  <a:srgbClr val="FFFFFF"/>
                </a:solidFill>
                <a:latin typeface="Calibri"/>
              </a:rPr>
              <a:t>mediana en barrios nuevos
vs barrios ya vistos</a:t>
            </a:r>
          </a:p>
        </p:txBody>
      </p:sp>
      <p:sp>
        <p:nvSpPr>
          <p:cNvPr id="9" name="Rounded Rectangle 8"/>
          <p:cNvSpPr/>
          <p:nvPr/>
        </p:nvSpPr>
        <p:spPr>
          <a:xfrm>
            <a:off x="8200000" y="1380000"/>
            <a:ext cx="3600000" cy="150000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C9A227"/>
                </a:solidFill>
                <a:latin typeface="Calibri"/>
              </a:rPr>
              <a:t>&gt;$3M</a:t>
            </a:r>
          </a:p>
          <a:p>
            <a:pPr algn="ctr"/>
            <a:r>
              <a:rPr sz="1100" b="0">
                <a:solidFill>
                  <a:srgbClr val="FFFFFF"/>
                </a:solidFill>
                <a:latin typeface="Calibri"/>
              </a:rPr>
              <a:t>cola: el RF subestima
propiedades de lujo</a:t>
            </a:r>
          </a:p>
        </p:txBody>
      </p:sp>
      <p:sp>
        <p:nvSpPr>
          <p:cNvPr id="10" name="TextBox 9"/>
          <p:cNvSpPr txBox="1"/>
          <p:nvPr/>
        </p:nvSpPr>
        <p:spPr>
          <a:xfrm>
            <a:off x="457200" y="3100000"/>
            <a:ext cx="11280000" cy="2800000"/>
          </a:xfrm>
          <a:prstGeom prst="rect">
            <a:avLst/>
          </a:prstGeom>
          <a:noFill/>
        </p:spPr>
        <p:txBody>
          <a:bodyPr wrap="square">
            <a:spAutoFit/>
          </a:bodyPr>
          <a:lstStyle/>
          <a:p>
            <a:pPr>
              <a:spcAft>
                <a:spcPts val="800"/>
              </a:spcAft>
            </a:pPr>
            <a:r>
              <a:rPr sz="1400" b="0">
                <a:solidFill>
                  <a:srgbClr val="1A1A1A"/>
                </a:solidFill>
                <a:latin typeface="Calibri"/>
              </a:rPr>
              <a:t>•  El +1,1% de la mediana agregada (900k→910k) no es «mercado quieto»: en barrios comparables la mediana sube a 999k; lo nuevo, más lejos, vale 755k.</a:t>
            </a:r>
          </a:p>
          <a:p>
            <a:pPr>
              <a:spcAft>
                <a:spcPts val="800"/>
              </a:spcAft>
            </a:pPr>
            <a:r>
              <a:rPr sz="1400" b="0">
                <a:solidFill>
                  <a:srgbClr val="1A1A1A"/>
                </a:solidFill>
                <a:latin typeface="Calibri"/>
              </a:rPr>
              <a:t>•  Hipótesis secundaria del EDA (peor desempeño en no vistos): formulada, no medida con MAE en este oral. Si preguntan, el protocolo es partir el test 2017 con el mismo RF; no reentrenar.</a:t>
            </a:r>
          </a:p>
          <a:p>
            <a:pPr>
              <a:spcAft>
                <a:spcPts val="800"/>
              </a:spcAft>
            </a:pPr>
            <a:r>
              <a:rPr sz="1400" b="0">
                <a:solidFill>
                  <a:srgbClr val="1A1A1A"/>
                </a:solidFill>
                <a:latin typeface="Calibri"/>
              </a:rPr>
              <a:t>•  Residuos: concentración cerca de cero y colas; el RMSE (350k) penaliza esos extremos. El modelo sirve mejor en el rango típico (~500k–1,5M), coherente con el boxplot de Tipo.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143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2000" cy="3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000"/>
            <a:ext cx="11000000" cy="280000"/>
          </a:xfrm>
          <a:prstGeom prst="rect">
            <a:avLst/>
          </a:prstGeom>
          <a:noFill/>
        </p:spPr>
        <p:txBody>
          <a:bodyPr wrap="square">
            <a:spAutoFit/>
          </a:bodyPr>
          <a:lstStyle/>
          <a:p>
            <a:pPr algn="l">
              <a:spcAft>
                <a:spcPts val="400"/>
              </a:spcAft>
            </a:pPr>
            <a:r>
              <a:rPr sz="1200" b="1">
                <a:solidFill>
                  <a:srgbClr val="C9A227"/>
                </a:solidFill>
                <a:latin typeface="Calibri"/>
              </a:rPr>
              <a:t>HITO 2  ·  CONCLUSIÓN</a:t>
            </a:r>
          </a:p>
        </p:txBody>
      </p:sp>
      <p:sp>
        <p:nvSpPr>
          <p:cNvPr id="6" name="TextBox 5"/>
          <p:cNvSpPr txBox="1"/>
          <p:nvPr/>
        </p:nvSpPr>
        <p:spPr>
          <a:xfrm>
            <a:off x="457200" y="480000"/>
            <a:ext cx="11200000" cy="560000"/>
          </a:xfrm>
          <a:prstGeom prst="rect">
            <a:avLst/>
          </a:prstGeom>
          <a:noFill/>
        </p:spPr>
        <p:txBody>
          <a:bodyPr wrap="square">
            <a:spAutoFit/>
          </a:bodyPr>
          <a:lstStyle/>
          <a:p>
            <a:pPr algn="l">
              <a:spcAft>
                <a:spcPts val="400"/>
              </a:spcAft>
            </a:pPr>
            <a:r>
              <a:rPr sz="2600" b="1">
                <a:solidFill>
                  <a:srgbClr val="FFFFFF"/>
                </a:solidFill>
                <a:latin typeface="Calibri"/>
              </a:rPr>
              <a:t>2016 predice 2017 mejor que una mediana; no sustituye a un tasador</a:t>
            </a:r>
          </a:p>
        </p:txBody>
      </p:sp>
      <p:sp>
        <p:nvSpPr>
          <p:cNvPr id="7" name="TextBox 6"/>
          <p:cNvSpPr txBox="1"/>
          <p:nvPr/>
        </p:nvSpPr>
        <p:spPr>
          <a:xfrm>
            <a:off x="457200" y="1320000"/>
            <a:ext cx="11280000" cy="500000"/>
          </a:xfrm>
          <a:prstGeom prst="rect">
            <a:avLst/>
          </a:prstGeom>
          <a:noFill/>
        </p:spPr>
        <p:txBody>
          <a:bodyPr wrap="square">
            <a:spAutoFit/>
          </a:bodyPr>
          <a:lstStyle/>
          <a:p>
            <a:pPr algn="l">
              <a:spcAft>
                <a:spcPts val="400"/>
              </a:spcAft>
            </a:pPr>
            <a:r>
              <a:rPr sz="1800" b="1">
                <a:solidFill>
                  <a:srgbClr val="0F2744"/>
                </a:solidFill>
                <a:latin typeface="Calibri"/>
              </a:rPr>
              <a:t>Tres cierres, una sola historia</a:t>
            </a:r>
          </a:p>
        </p:txBody>
      </p:sp>
      <p:sp>
        <p:nvSpPr>
          <p:cNvPr id="8" name="TextBox 7"/>
          <p:cNvSpPr txBox="1"/>
          <p:nvPr/>
        </p:nvSpPr>
        <p:spPr>
          <a:xfrm>
            <a:off x="457200" y="1850000"/>
            <a:ext cx="11280000" cy="2800000"/>
          </a:xfrm>
          <a:prstGeom prst="rect">
            <a:avLst/>
          </a:prstGeom>
          <a:noFill/>
        </p:spPr>
        <p:txBody>
          <a:bodyPr wrap="square">
            <a:spAutoFit/>
          </a:bodyPr>
          <a:lstStyle/>
          <a:p>
            <a:pPr>
              <a:spcAft>
                <a:spcPts val="800"/>
              </a:spcAft>
            </a:pPr>
            <a:r>
              <a:rPr sz="1600" b="0">
                <a:solidFill>
                  <a:srgbClr val="1A1A1A"/>
                </a:solidFill>
                <a:latin typeface="Calibri"/>
              </a:rPr>
              <a:t>•  H₁ agregada aceptada: Random Forest, R² 0,6908 y MAE $218.847 en 2017, ~49% menos error que la mediana de 2016.</a:t>
            </a:r>
          </a:p>
          <a:p>
            <a:pPr>
              <a:spcAft>
                <a:spcPts val="800"/>
              </a:spcAft>
            </a:pPr>
            <a:r>
              <a:rPr sz="1600" b="0">
                <a:solidFill>
                  <a:srgbClr val="1A1A1A"/>
                </a:solidFill>
                <a:latin typeface="Calibri"/>
              </a:rPr>
              <a:t>•  El diseño exigido por el Proyecto 3 se cumplió: entrenar 2016, evaluar 2017, pipeline sin leakage, modelo elegido por generalización (RF), no por el R² máximo (GB).</a:t>
            </a:r>
          </a:p>
          <a:p>
            <a:pPr>
              <a:spcAft>
                <a:spcPts val="800"/>
              </a:spcAft>
            </a:pPr>
            <a:r>
              <a:rPr sz="1600" b="0">
                <a:solidFill>
                  <a:srgbClr val="1A1A1A"/>
                </a:solidFill>
                <a:latin typeface="Calibri"/>
              </a:rPr>
              <a:t>•  Limitaciones honestas: 2017 truncado al 23-sep; 172 barrios nuevos; cola de lujo; nulos de área construida no se inventaron. El error absoluto sigue siendo de negocio.</a:t>
            </a:r>
          </a:p>
        </p:txBody>
      </p:sp>
      <p:sp>
        <p:nvSpPr>
          <p:cNvPr id="9" name="Rounded Rectangle 8"/>
          <p:cNvSpPr/>
          <p:nvPr/>
        </p:nvSpPr>
        <p:spPr>
          <a:xfrm>
            <a:off x="457200" y="4900000"/>
            <a:ext cx="11280000" cy="1200000"/>
          </a:xfrm>
          <a:prstGeom prst="round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0000" y="5100000"/>
            <a:ext cx="11100000" cy="900000"/>
          </a:xfrm>
          <a:prstGeom prst="rect">
            <a:avLst/>
          </a:prstGeom>
          <a:noFill/>
        </p:spPr>
        <p:txBody>
          <a:bodyPr wrap="square">
            <a:spAutoFit/>
          </a:bodyPr>
          <a:lstStyle/>
          <a:p>
            <a:pPr algn="l">
              <a:spcAft>
                <a:spcPts val="400"/>
              </a:spcAft>
            </a:pPr>
            <a:r>
              <a:rPr sz="1600" b="1">
                <a:solidFill>
                  <a:srgbClr val="FFFFFF"/>
                </a:solidFill>
                <a:latin typeface="Calibri"/>
              </a:rPr>
              <a:t>Preguntas (30%): el test no es «¿pueden subir el R²?». Es «¿2016 generaliza a 2017, con qué error, y dónde no?»</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