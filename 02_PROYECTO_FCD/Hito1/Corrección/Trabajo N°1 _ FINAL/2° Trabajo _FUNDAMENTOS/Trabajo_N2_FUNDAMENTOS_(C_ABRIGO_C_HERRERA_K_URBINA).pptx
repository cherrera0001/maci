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0acOwU/m/rFJiPdLio1+lsuYx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265176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02920" y="685800"/>
            <a:ext cx="109728" cy="4846320"/>
          </a:xfrm>
          <a:prstGeom prst="rect">
            <a:avLst/>
          </a:prstGeom>
          <a:solidFill>
            <a:srgbClr val="54C6BE"/>
          </a:solidFill>
          <a:ln cap="flat" cmpd="sng" w="12700">
            <a:solidFill>
              <a:srgbClr val="54C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49" y="731525"/>
            <a:ext cx="7790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9FAFB"/>
                </a:solidFill>
                <a:latin typeface="Arial"/>
                <a:ea typeface="Arial"/>
                <a:cs typeface="Arial"/>
                <a:sym typeface="Arial"/>
              </a:rPr>
              <a:t>Trabajo_N2_FUNDAMENTOS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68680" y="214884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Predicción del valor de propiedades en Melbourne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Validación temporal 2016 → 2017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68680" y="3246120"/>
            <a:ext cx="2011680" cy="347472"/>
          </a:xfrm>
          <a:prstGeom prst="roundRect">
            <a:avLst>
              <a:gd fmla="val 21053" name="adj"/>
            </a:avLst>
          </a:prstGeom>
          <a:solidFill>
            <a:srgbClr val="54C6BE">
              <a:alpha val="94902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78408" y="3310128"/>
            <a:ext cx="17922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Regresión supervisada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063240" y="3246120"/>
            <a:ext cx="2286000" cy="347472"/>
          </a:xfrm>
          <a:prstGeom prst="roundRect">
            <a:avLst>
              <a:gd fmla="val 21053" name="adj"/>
            </a:avLst>
          </a:prstGeom>
          <a:solidFill>
            <a:srgbClr val="FFB000">
              <a:alpha val="94902"/>
            </a:srgbClr>
          </a:solidFill>
          <a:ln cap="flat" cmpd="sng" w="12700">
            <a:solidFill>
              <a:srgbClr val="FFB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172968" y="3310128"/>
            <a:ext cx="20665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Out-of-time evaluation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532120" y="3246120"/>
            <a:ext cx="1737360" cy="347472"/>
          </a:xfrm>
          <a:prstGeom prst="roundRect">
            <a:avLst>
              <a:gd fmla="val 21053" name="adj"/>
            </a:avLst>
          </a:prstGeom>
          <a:solidFill>
            <a:srgbClr val="F26B38">
              <a:alpha val="94902"/>
            </a:srgbClr>
          </a:solidFill>
          <a:ln cap="flat" cmpd="sng" w="12700">
            <a:solidFill>
              <a:srgbClr val="F26B3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41848" y="3310128"/>
            <a:ext cx="15179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13.580 registros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68680" y="55778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C. Abrigo · C. Herrera · K. Urbina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Fundamentos en Ciencia de Datos · MACI 2026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52360" y="658368"/>
            <a:ext cx="3794760" cy="379476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54C6B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046720" y="1225296"/>
            <a:ext cx="2743200" cy="27432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rgbClr val="FFB00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065008" y="19202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$1.08M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229600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95"/>
              <a:buFont typeface="Arial"/>
              <a:buNone/>
            </a:pPr>
            <a:r>
              <a:rPr lang="en-US" sz="1295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precio medio observado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95"/>
              <a:buFont typeface="Arial"/>
              <a:buNone/>
            </a:pPr>
            <a:r>
              <a:rPr lang="en-US" sz="1295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(AUD)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1. Problema: tasar el futuro, no explicar el pasado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La prueba es deliberadamente temporal: entrenar con 2016 y evaluar con 2017.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4360" y="123444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El desafío no es ajustar un modelo en una partición aleatoria, sino anticipar precios de propiedades en un mercado que cambia geográfica y temporalmente.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943600" y="1280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C6BE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54C6BE"/>
                </a:solidFill>
                <a:latin typeface="Arial"/>
                <a:ea typeface="Arial"/>
                <a:cs typeface="Arial"/>
                <a:sym typeface="Arial"/>
              </a:rPr>
              <a:t>13.580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4360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registros residenciales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726680" y="1280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6.336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2668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train 2016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509760" y="1280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B3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26B38"/>
                </a:solidFill>
                <a:latin typeface="Arial"/>
                <a:ea typeface="Arial"/>
                <a:cs typeface="Arial"/>
                <a:sym typeface="Arial"/>
              </a:rPr>
              <a:t>7.244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509760" y="16459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test 2017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temporal_split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2331720"/>
            <a:ext cx="521208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594360" y="43891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Pregunta de negocio: ¿qué tan confiable es una tasación automatizada cuando aparecen barrios y condiciones de mercado no observadas?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27432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2. Diseño experimental: validación temporal estricta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Evita data leakage y simula una predicción realista fuera de muestra.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31520" y="1965960"/>
            <a:ext cx="2194560" cy="1005840"/>
          </a:xfrm>
          <a:prstGeom prst="chevron">
            <a:avLst>
              <a:gd fmla="val 50000" name="adj"/>
            </a:avLst>
          </a:prstGeom>
          <a:solidFill>
            <a:srgbClr val="54C6BE"/>
          </a:solidFill>
          <a:ln cap="flat" cmpd="sng" w="12700">
            <a:solidFill>
              <a:srgbClr val="54C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005840" y="222199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Entrena.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83280" y="1965960"/>
            <a:ext cx="2194560" cy="1005840"/>
          </a:xfrm>
          <a:prstGeom prst="chevron">
            <a:avLst>
              <a:gd fmla="val 50000" name="adj"/>
            </a:avLst>
          </a:prstGeom>
          <a:solidFill>
            <a:srgbClr val="FFB000"/>
          </a:solidFill>
          <a:ln cap="flat" cmpd="sng" w="12700">
            <a:solidFill>
              <a:srgbClr val="FFB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0" y="2221992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prep.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035040" y="1965960"/>
            <a:ext cx="2194560" cy="1005840"/>
          </a:xfrm>
          <a:prstGeom prst="chevron">
            <a:avLst>
              <a:gd fmla="val 50000" name="adj"/>
            </a:avLst>
          </a:prstGeom>
          <a:solidFill>
            <a:srgbClr val="F26B38"/>
          </a:solidFill>
          <a:ln cap="flat" cmpd="sng" w="12700">
            <a:solidFill>
              <a:srgbClr val="F26B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382512" y="222199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regresión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686800" y="1965960"/>
            <a:ext cx="2194560" cy="1005840"/>
          </a:xfrm>
          <a:prstGeom prst="chevron">
            <a:avLst>
              <a:gd fmla="val 50000" name="adj"/>
            </a:avLst>
          </a:prstGeom>
          <a:solidFill>
            <a:srgbClr val="FFFFFF">
              <a:alpha val="96078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098280" y="2221992"/>
            <a:ext cx="1143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68680" y="374904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72"/>
              <a:buFont typeface="Arial"/>
              <a:buNone/>
            </a:pPr>
            <a:r>
              <a:rPr lang="en-US" sz="1573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Variables numéricas: imputación mediana + escalamiento.</a:t>
            </a:r>
            <a:endParaRPr sz="15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72"/>
              <a:buFont typeface="Arial"/>
              <a:buNone/>
            </a:pPr>
            <a:r>
              <a:rPr lang="en-US" sz="1573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Variables categóricas: imputación moda + One Hot Encoder.</a:t>
            </a:r>
            <a:endParaRPr sz="15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72"/>
              <a:buFont typeface="Arial"/>
              <a:buNone/>
            </a:pPr>
            <a:r>
              <a:rPr lang="en-US" sz="1573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Validación cruzada </a:t>
            </a:r>
            <a:r>
              <a:rPr lang="en-US" sz="1573">
                <a:solidFill>
                  <a:srgbClr val="E5E7EB"/>
                </a:solidFill>
              </a:rPr>
              <a:t>sólo</a:t>
            </a:r>
            <a:r>
              <a:rPr lang="en-US" sz="1573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 dentro de 2016.</a:t>
            </a:r>
            <a:endParaRPr sz="15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46520" y="37490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Métricas principales: R², MAE y RMSE.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Criterio doctoral: priorizar generalización temporal y análisis de error sobre ajuste interno.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3. EDA: señales de riesgo antes de modelar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Nulos, asimetría del precio y desplazamiento geográfico condicionan la solución.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missing_values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25880"/>
            <a:ext cx="512064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itch_assets/covariate_shift.png" id="75" name="Google Shape;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325880"/>
            <a:ext cx="50292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914400" y="484632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Decisiones críticas: descartar variables con alto nivel de nulos, evitar imputaciones arbitrarias y representar ubicación con variables continuas y región categórica.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4. Estrategia de variables: ubicación como factor estructural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El notebook detecta 172 barrios nuevos en 2017: un caso claro de covariate shift.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cell12_out0.png"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61872"/>
            <a:ext cx="530352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itch_assets/cell14_out0.png"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261872"/>
            <a:ext cx="530352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731520" y="448056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La elección de Distancia, Latitud, Longitud y Región reduce dependencia de nombres de barrios no vistos. Esto mejora robustez frente a cambios de cobertura espacial.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5. Benchmark de modelos: de línea base a ensambles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Comparación incremental para separar mejora real de sobreajuste.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r2_models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34440"/>
            <a:ext cx="5349240" cy="31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itch_assets/mae_models.png"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234440"/>
            <a:ext cx="525780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822960" y="48920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Mejor R² en test: Gradient Boosting = 0,719. Mejor MAE: Gradient Boosting = 205.546 AUD. RF optimizado mejora muy levemente al RF base, pero no supera Gradient Boosting.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6. Resultado central: desempeño fuera de muestra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El modelo aprende patrones relevantes, pero el error sigue siendo material para decisiones financieras.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77240" y="14173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0,719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77240" y="17830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R² Test Gradient Boosting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108960" y="14173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C6BE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54C6BE"/>
                </a:solidFill>
                <a:latin typeface="Arial"/>
                <a:ea typeface="Arial"/>
                <a:cs typeface="Arial"/>
                <a:sym typeface="Arial"/>
              </a:rPr>
              <a:t>205.546 AUD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108960" y="17830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MAE Test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532120" y="14173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B3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26B38"/>
                </a:solidFill>
                <a:latin typeface="Arial"/>
                <a:ea typeface="Arial"/>
                <a:cs typeface="Arial"/>
                <a:sym typeface="Arial"/>
              </a:rPr>
              <a:t>333.755 AUD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532120" y="17830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RMSE Test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046720" y="14173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0,221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046720" y="17830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ΔR² Train-Test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cell0_out1.png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743200"/>
            <a:ext cx="10378440" cy="3154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7. Optimización: Random Forest con GridSearchCV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Búsqueda sistemática sobre el entrenamiento 2016, optimizando MAE.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777240" y="1298448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Espacio explorado: n_estimators {100, 200, 300}; max_depth {10, 15, 20}; min_samples_leaf {5, 10, 20}.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400800" y="12344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400800" y="16002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mejor max_depth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183880" y="12344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C6BE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54C6B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8183880" y="16002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min_samples_leaf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966960" y="12344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B38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26B38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9966960" y="160020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n_estimators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77240" y="292608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Resultado RF optimizado en 2017: R² = 0,6919; MAE = 218.477 AUD; RMSE = 349.550 AUD. La optimización mejora marginalmente el RF base, pero no cambia la selección final.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77240" y="48463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Lectura crítica: optimizar hiperparámetros no sustituye el diagnóstico de drift, ingeniería de variables y validación temporal.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8. Interpretabilidad: qué variables explican la predicción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La importancia predictiva confirma patrones inmobiliarios esperables, no reglas causales.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cell0_out2.png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25880"/>
            <a:ext cx="1014984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Top drivers: habitaciones, región metropolitana sur, distancia, tamaño de tierra y tipo de propiedad. Recomendación: complementar con SHAP o PDP para lectura local y no solo importancia global.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9. Análisis de error: dónde se rompe la promesa predictiva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Los residuos sugieren concentración cerca de cero, pero con colas relevantes en propiedades de alto valor.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731520" y="132588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Riesgos detectables desde los gráficos: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Subestimación/sobrestimación en extremos de precio.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Heterogeneidad por segmento inmobiliario.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• Pérdida de precisión ante barrios nuevos.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itch_assets/cell16_out0.png"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307592"/>
            <a:ext cx="50749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/>
          <p:nvPr/>
        </p:nvSpPr>
        <p:spPr>
          <a:xfrm>
            <a:off x="731520" y="44805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Siguiente paso doctoral: evaluar MAE/RMSE por región, tipo de propiedad y barrio nuevo vs. barrio observado; reportar intervalos de incertidumbre.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10. De modelo a sistema IA: despliegue responsable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Una tasación automatizada exige monitoreo, actualización y gobernanza, no solo un buen score.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822960" y="15087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C6BE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54C6BE"/>
                </a:solidFill>
                <a:latin typeface="Arial"/>
                <a:ea typeface="Arial"/>
                <a:cs typeface="Arial"/>
                <a:sym typeface="Arial"/>
              </a:rPr>
              <a:t>Datos nuevos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2880360" y="13258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calidad + drift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349240" y="13258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B3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26B38"/>
                </a:solidFill>
                <a:latin typeface="Arial"/>
                <a:ea typeface="Arial"/>
                <a:cs typeface="Arial"/>
                <a:sym typeface="Arial"/>
              </a:rPr>
              <a:t>Predicción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6B3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26B38"/>
                </a:solidFill>
                <a:latin typeface="Arial"/>
                <a:ea typeface="Arial"/>
                <a:cs typeface="Arial"/>
                <a:sym typeface="Arial"/>
              </a:rPr>
              <a:t>precio + error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7818120" y="1325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C6BE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54C6BE"/>
                </a:solidFill>
                <a:latin typeface="Arial"/>
                <a:ea typeface="Arial"/>
                <a:cs typeface="Arial"/>
                <a:sym typeface="Arial"/>
              </a:rPr>
              <a:t>Monitoreo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C6BE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54C6BE"/>
                </a:solidFill>
                <a:latin typeface="Arial"/>
                <a:ea typeface="Arial"/>
                <a:cs typeface="Arial"/>
                <a:sym typeface="Arial"/>
              </a:rPr>
              <a:t>negocio + sesgo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1"/>
          <p:cNvCxnSpPr/>
          <p:nvPr/>
        </p:nvCxnSpPr>
        <p:spPr>
          <a:xfrm>
            <a:off x="2240280" y="1691640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11"/>
          <p:cNvCxnSpPr/>
          <p:nvPr/>
        </p:nvCxnSpPr>
        <p:spPr>
          <a:xfrm>
            <a:off x="4709160" y="1691640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11"/>
          <p:cNvCxnSpPr/>
          <p:nvPr/>
        </p:nvCxnSpPr>
        <p:spPr>
          <a:xfrm>
            <a:off x="7178040" y="1691640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11"/>
          <p:cNvSpPr/>
          <p:nvPr/>
        </p:nvSpPr>
        <p:spPr>
          <a:xfrm>
            <a:off x="1005840" y="2926080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Métricas técnicas: R², MAE, RMSE, drift de variables, error por segmento.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Métricas de negocio: desviación de tasación, riesgo crediticio, confianza del usuario.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Ética: transparencia, sesgo territorial y advertencia de incertidumbre.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850"/>
              <a:buFont typeface="Arial"/>
              <a:buNone/>
            </a:pPr>
            <a:r>
              <a:rPr lang="en-US" sz="185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Regla de decisión recomendada: no automatizar como “precio único”; entregar rango, explicación y nivel de confianza.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118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54C6BE">
              <a:alpha val="85098"/>
            </a:srgbClr>
          </a:solidFill>
          <a:ln cap="flat" cmpd="sng" w="12700">
            <a:solidFill>
              <a:srgbClr val="54C6B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02920" y="274320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9FAFB"/>
                </a:solidFill>
                <a:latin typeface="Play"/>
                <a:ea typeface="Play"/>
                <a:cs typeface="Play"/>
                <a:sym typeface="Play"/>
              </a:rPr>
              <a:t>11. Cierre: aporte y ruta de mejora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30352" y="950976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El proyecto demuestra una solución predictiva realista, evaluada contra futuro observable.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731520" y="118872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Aporte central: convertir un problema inmobiliario en un experimento predictivo temporal, con pipeline reproducible, comparación de modelos, optimización y diagnóstico de limitaciones.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731520" y="2926080"/>
            <a:ext cx="10607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Para escalar a nivel doctoral completo: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1) ingeniería geoespacial avanzada; 2) análisis de drift por segmento; 3) explicabilidad local; 4) intervalos de predicción; 5) protocolo de monitoreo y reentrenamiento.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31520" y="507492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B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FB000"/>
                </a:solidFill>
                <a:latin typeface="Arial"/>
                <a:ea typeface="Arial"/>
                <a:cs typeface="Arial"/>
                <a:sym typeface="Arial"/>
              </a:rPr>
              <a:t>Decisión final: Gradient Boosting como candidato productivo inicial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2026-09-01T23:54:26Z</dcterms:created>
  <dc:creator>OpenAI</dc:creator>
</cp:coreProperties>
</file>