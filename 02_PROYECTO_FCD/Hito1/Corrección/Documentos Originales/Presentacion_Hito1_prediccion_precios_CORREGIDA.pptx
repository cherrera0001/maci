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0LpCKSeZZUkrTZQYtPGNUYLJ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Observaciones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2016 entrenamiento</c:v>
                  </c:pt>
                  <c:pt idx="1">
                    <c:v>2017 evaluación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6336</c:v>
                </c:pt>
                <c:pt idx="1">
                  <c:v>7244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9F0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Mediana 2016 sobre 2017</c:v>
                  </c:pt>
                  <c:pt idx="1">
                    <c:v>Oráculo 2017</c:v>
                  </c:pt>
                  <c:pt idx="2">
                    <c:v>Mediana por Type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431649</c:v>
                </c:pt>
                <c:pt idx="1">
                  <c:v>431564</c:v>
                </c:pt>
                <c:pt idx="2">
                  <c:v>394385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5000"/>
          <c:min val="35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Casa</c:v>
                  </c:pt>
                  <c:pt idx="1">
                    <c:v>Unidad</c:v>
                  </c:pt>
                  <c:pt idx="2">
                    <c:v>Townhouse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-5.9</c:v>
                </c:pt>
                <c:pt idx="1">
                  <c:v>8.3</c:v>
                </c:pt>
                <c:pt idx="2">
                  <c:v>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Soporte 2016</c:v>
                </c:pt>
              </c:strCache>
            </c:strRef>
          </c:tx>
          <c:spPr>
            <a:solidFill>
              <a:srgbClr val="F29F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Casa</c:v>
                  </c:pt>
                  <c:pt idx="1">
                    <c:v>Unidad</c:v>
                  </c:pt>
                  <c:pt idx="2">
                    <c:v>Townhouse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12.2</c:v>
                </c:pt>
                <c:pt idx="1">
                  <c:v>7.4</c:v>
                </c:pt>
                <c:pt idx="2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Suburbios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2016</c:v>
                  </c:pt>
                  <c:pt idx="1">
                    <c:v>2017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</c:v>
                </c:pt>
                <c:pt idx="1">
                  <c:v>313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 Price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Suburbio visto</c:v>
                  </c:pt>
                  <c:pt idx="1">
                    <c:v>Suburbio nuevo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999000</c:v>
                </c:pt>
                <c:pt idx="1">
                  <c:v>755000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Distancia mediana</c:v>
                </c:pt>
              </c:strCache>
            </c:strRef>
          </c:tx>
          <c:spPr>
            <a:solidFill>
              <a:srgbClr val="F29F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Visto</c:v>
                  </c:pt>
                  <c:pt idx="1">
                    <c:v>Nuevo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Address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Cruzan corte</c:v>
                  </c:pt>
                  <c:pt idx="1">
                    <c:v>Filas que cruzan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Suburb+Address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Cruzan corte</c:v>
                  </c:pt>
                  <c:pt idx="1">
                    <c:v>Filas que cruzan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con el requerimiento exacto: el profesor no pidió explicar causalmente el mercado; pidió usar ventas 2016 para entrenar y evaluar 2017. La presentación demuestra que entendemos ese mandato y que el EDA sustenta una hipótesis falsable para el Hito 2.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lámina corrige la jerarquía del argumento: la tesis no es reemplazar el problema temporal, sino mostrar que predecir 2017 exige generalizar fuera de la distribución de 2016.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Leer la pregunta como la versión estricta del enunciado. Luego explicar que el EDA no prueba la hipótesis, pero la vuelve razonable y define cómo refutarla en el Hito 2.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se debe ser muy concreto. No decir “dataset de Kaggle” en abstracto; decir qué archivo se tiene, qué forma tiene y qué variable será objetivo. Agregar que Method no puede ignorarse porque el profesor habla de ventas de propiedades.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lámina defiende que el entrenamiento y la evaluación están definidos por el problema. Usar train_test_split aleatorio mezclando años sería invalidar el ejercicio.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presentar el MAE como resultado de modelamiento. Es la línea base que todo modelo futuro debe superar. El oráculo no es un modelo: es una forma de medir cuánto aporta conocer la mediana de 2017.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Punto defensivo: no afirmar causalidad ni decir que el mercado subió 11%. Decir que, al limitar la evaluación a la cobertura geográfica ya observada en 2016, el nivel central cambia mucho más que en el agregado.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lámina más importante. No contradice al profesor: lo que muestra es que el desafío de predecir 2017 no es solo temporal, sino también de generalización fuera de la cobertura geográfica de 2016.</a:t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lámina muestra madurez metodológica. La advertencia sobre Method es clave porque el enunciado habla de ventas de propiedades y algunos valores de Method pueden no ser ventas efectivas.</a:t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Distinguir fuga de duplicado: parecen reventas reales, no filas duplicadas. La decisión más defendible para Hito 1 es declararlo y controlar en evaluación, no ocultarlo.</a:t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reconociendo límites. El Hito 1 gana puntos si la hipótesis es falsable y si el grupo puede explicar cómo se comprobará en el Hito 2.</a:t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MASTER">
  <p:cSld name="TITLE_MASTER">
    <p:bg>
      <p:bgPr>
        <a:solidFill>
          <a:srgbClr val="0B1F3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685800" y="5943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105156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Predicción de valor de propiedades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3232" y="1874520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Entrenar con ventas de 2016 y evaluar sobre propiedades de 2017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713232" y="2395728"/>
            <a:ext cx="5394960" cy="0"/>
          </a:xfrm>
          <a:prstGeom prst="straightConnector1">
            <a:avLst/>
          </a:prstGeom>
          <a:noFill/>
          <a:ln cap="flat" cmpd="sng" w="31750">
            <a:solidFill>
              <a:srgbClr val="F29F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713232" y="2834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Pregunta guía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3154680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¿Las relaciones entre atributos y precio aprendidas en 2016 generalizan a las ventas de 2017?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6236208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Fundamentos en Ciencia de Datos · Proyecto 3 · Melbourne housing_data.csv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Mandato del proyecto y criterio de evaluación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548640" y="13533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El requerimiento inicial define la partición y el objetivo.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783080"/>
            <a:ext cx="530352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13232" y="1911096"/>
            <a:ext cx="4974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Requerimiento del profesor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13232" y="2212848"/>
            <a:ext cx="49743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“Usar las ventas de propiedades para entrenar un modelo predictivo con datos del 2016, y luego predecir y evaluar su modelo sobre las propiedades del año 2017.”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172200" y="1783080"/>
            <a:ext cx="52120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336792" y="1911096"/>
            <a:ext cx="4882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Hito 1 evalúa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336792" y="2212848"/>
            <a:ext cx="488289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Introducción del problema, descripción exacta de los datos y EDA que </a:t>
            </a:r>
            <a:r>
              <a:rPr lang="en-US" sz="1120">
                <a:solidFill>
                  <a:srgbClr val="121A24"/>
                </a:solidFill>
              </a:rPr>
              <a:t>sustenta</a:t>
            </a:r>
            <a:r>
              <a:rPr b="0" i="0" lang="en-US" sz="112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 una hipótesis de investigación. No se exige aún modelamiento.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2011680" y="3840480"/>
            <a:ext cx="7955280" cy="0"/>
          </a:xfrm>
          <a:prstGeom prst="straightConnector1">
            <a:avLst/>
          </a:prstGeom>
          <a:noFill/>
          <a:ln cap="flat" cmpd="sng" w="31750">
            <a:solidFill>
              <a:srgbClr val="1F4E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" name="Google Shape;41;p2"/>
          <p:cNvSpPr/>
          <p:nvPr/>
        </p:nvSpPr>
        <p:spPr>
          <a:xfrm>
            <a:off x="1097280" y="3429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60120" y="4041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921240" y="3429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692640" y="4041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063240" y="42245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No corresponde usar una división aleatoria que mezcle ambos años.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Proyectos Fundamentos en Ciencia de Datos 2026-2; Proyecto 3.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Pregunta de investigación e hipótesis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640080" y="1417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Pregunta principal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178308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¿En qué medida los atributos disponibles en las ventas de propiedades de 2016 permiten predecir el precio de las propiedades vendidas en 2017?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85800" y="2880360"/>
            <a:ext cx="53492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50392" y="3008376"/>
            <a:ext cx="5020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H1 · hipótesis principal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50392" y="3310128"/>
            <a:ext cx="502005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La relación entre características estructurales/geográficas y precio observada en 2016 conserva suficiente estabilidad en 2017 como para superar una referencia basal.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172200" y="2880360"/>
            <a:ext cx="52120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336792" y="3008376"/>
            <a:ext cx="4882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H0 · hipótesis nula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36792" y="3310128"/>
            <a:ext cx="488289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Las relaciones aprendidas en 2016 no mejoran de forma relevante una predicción basal aplicada a 2017.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" y="43891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Criterio operacional para Hito 2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85800" y="471830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MAE modelo 2017  &lt;  MAE baseline 2017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989320" y="4645152"/>
            <a:ext cx="5440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Hipótesis secundaria: el error debería ser mayor en suburbios no observados durante 2016.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Descripción exacta de los datos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4"/>
          <p:cNvSpPr/>
          <p:nvPr/>
        </p:nvSpPr>
        <p:spPr>
          <a:xfrm>
            <a:off x="685800" y="150876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13.580 × 21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85800" y="19659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filas y columnas verificadas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91840" y="150876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2016-01-28 → 2017-09-23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91840" y="1965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ventana temporal observada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315200" y="150876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315200" y="19659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nulos en Price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281160" y="15087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314 / 8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281160" y="19659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suburbios / regiones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85800" y="27432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Columnas clave para el objetivo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85800" y="3063240"/>
            <a:ext cx="5212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Price: variable objetivo; precio declarado en el archivo.</a:t>
            </a:r>
            <a:br>
              <a:rPr b="0" i="0" lang="en-US" sz="1450" u="none" cap="none" strike="noStrike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Date: define entrenamiento 2016 y evaluación 2017.</a:t>
            </a:r>
            <a:b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Type, Rooms, Distance, Regionname, Landsize, BuildingArea: atributos predictivos candidatos.</a:t>
            </a:r>
            <a:b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Method: debe usarse para distinguir ventas efectivas de otras modalidades registradas.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309360" y="2907792"/>
            <a:ext cx="489204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73952" y="3035808"/>
            <a:ext cx="4562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Control de procedencia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73952" y="3337560"/>
            <a:ext cx="45628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El archivo se identifica por SHA-256 y forma exacta. No es comparable automáticamente con notebooks públicos que usan otro snapshot del dataset.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309360" y="4160520"/>
            <a:ext cx="489204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73952" y="4288536"/>
            <a:ext cx="4562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Corrección metodológica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73952" y="4590288"/>
            <a:ext cx="45628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El enunciado enumera 15 atributos aunque declara 21. Se trabaja sobre el archivo real y se declara la discrepancia.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procedencia, datos, cota; Proyectos FCD · Proyecto 3.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Partición temporal: no se inventa, se respeta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5" name="Google Shape;105;p5"/>
          <p:cNvGraphicFramePr/>
          <p:nvPr/>
        </p:nvGraphicFramePr>
        <p:xfrm>
          <a:off x="685800" y="1417320"/>
          <a:ext cx="4937760" cy="29260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6" name="Google Shape;106;p5"/>
          <p:cNvSpPr/>
          <p:nvPr/>
        </p:nvSpPr>
        <p:spPr>
          <a:xfrm>
            <a:off x="6263640" y="15727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6.336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263640" y="202996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ventas/registros 2016 para aprender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961120" y="15727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7.244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961120" y="202996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propiedades 2017 para evaluar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263640" y="2880360"/>
            <a:ext cx="48463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428232" y="3008376"/>
            <a:ext cx="4517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Riesgo técnico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28232" y="3310128"/>
            <a:ext cx="4517136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Date viene en formato d/m/Y. Hay 8.442 filas con día mayor que 12; un </a:t>
            </a:r>
            <a:r>
              <a:rPr lang="en-US" sz="1120">
                <a:solidFill>
                  <a:srgbClr val="121A24"/>
                </a:solidFill>
              </a:rPr>
              <a:t>paseo</a:t>
            </a: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 incorrecto altera el corte temporal sin generar un error evidente.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63640" y="4160520"/>
            <a:ext cx="48463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428232" y="4288536"/>
            <a:ext cx="4517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28232" y="4590288"/>
            <a:ext cx="4517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Usar dayfirst=True y afirmar por código el conteo anual esperado. Cualquier cambio silencioso debe detener el análisis.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particion, L10_fecha.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Línea base: antes del modelo, una referencia honesta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7" name="Google Shape;127;p6"/>
          <p:cNvGraphicFramePr/>
          <p:nvPr/>
        </p:nvGraphicFramePr>
        <p:xfrm>
          <a:off x="685800" y="1444752"/>
          <a:ext cx="5852160" cy="3154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8" name="Google Shape;128;p6"/>
          <p:cNvSpPr/>
          <p:nvPr/>
        </p:nvSpPr>
        <p:spPr>
          <a:xfrm>
            <a:off x="6949440" y="160020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431.649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949440" y="2057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MAE de la cota honesta: mediana 2016 aplicada a 2017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949440" y="28803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949440" y="33375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unidades separan la cota honesta del oráculo de 2017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949440" y="4160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Lectura correcta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949440" y="452628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El desplazamiento de la mediana global entre años explica muy poco del error de una constante. El margen real está en capturar diferencias entre propiedades.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cota. MAE en unidades de Price.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El agregado oculta un cambio de composición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7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7"/>
          <p:cNvSpPr/>
          <p:nvPr/>
        </p:nvSpPr>
        <p:spPr>
          <a:xfrm>
            <a:off x="7315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+1,11%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31520" y="19202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cambio de mediana global 2016→2017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566160" y="146304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+11,0%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566160" y="19202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cambio al restringir 2017 al soporte de suburbios presente en 2016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7"/>
          <p:cNvGraphicFramePr/>
          <p:nvPr/>
        </p:nvGraphicFramePr>
        <p:xfrm>
          <a:off x="731520" y="2834640"/>
          <a:ext cx="6217920" cy="2560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0" name="Google Shape;150;p7"/>
          <p:cNvSpPr/>
          <p:nvPr/>
        </p:nvSpPr>
        <p:spPr>
          <a:xfrm>
            <a:off x="7406640" y="1920240"/>
            <a:ext cx="384048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571232" y="2048256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Interpretación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571232" y="2350008"/>
            <a:ext cx="35112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La comparación agregada no describe solo precios; también describe qué se vendió y dónde. Por eso no basta con mirar 900.000 → 910.000.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406640" y="3429000"/>
            <a:ext cx="384048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571232" y="3557016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Corrección de lenguaje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571232" y="3858768"/>
            <a:ext cx="35112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Diremos “efecto de composición geográfica”, no “Simpson” salvo que se demuestre formalmente dentro de estratos comparables.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composicion.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El hallazgo central: 2017 contiene otra geografía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7" name="Google Shape;167;p8"/>
          <p:cNvGraphicFramePr/>
          <p:nvPr/>
        </p:nvGraphicFramePr>
        <p:xfrm>
          <a:off x="685800" y="1417320"/>
          <a:ext cx="4023360" cy="2834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8" name="Google Shape;168;p8"/>
          <p:cNvSpPr/>
          <p:nvPr/>
        </p:nvSpPr>
        <p:spPr>
          <a:xfrm>
            <a:off x="5166360" y="150876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29,1%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166360" y="19659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de las filas 2017 ocurren en suburbios ausentes de 2016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458200" y="15087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2.109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458200" y="19659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observaciones afectadas en 2017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5166360" y="2926080"/>
          <a:ext cx="2697480" cy="210312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173" name="Google Shape;173;p8"/>
          <p:cNvGraphicFramePr/>
          <p:nvPr/>
        </p:nvGraphicFramePr>
        <p:xfrm>
          <a:off x="8458200" y="2926080"/>
          <a:ext cx="2697480" cy="210312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74" name="Google Shape;174;p8"/>
          <p:cNvSpPr/>
          <p:nvPr/>
        </p:nvSpPr>
        <p:spPr>
          <a:xfrm>
            <a:off x="685800" y="48006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Consecuencia para el modelo: Suburb es informativa, pero deja sin cobertura directa a casi un tercio de la evaluación.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no_vistos.Suburb.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Calidad de datos: decisiones que no deben ocultarse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9"/>
          <p:cNvSpPr/>
          <p:nvPr/>
        </p:nvSpPr>
        <p:spPr>
          <a:xfrm>
            <a:off x="685800" y="1508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4 / 21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85800" y="19659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columnas con nulos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2560320" y="15087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18,9%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560320" y="19659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CouncilArea nulo en 2017; 0% en 2016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577840" y="150876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51,3%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577840" y="19659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BuildingArea nulo en 2017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412480" y="15087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14,3%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412480" y="19659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Landsize = 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85800" y="2834640"/>
            <a:ext cx="50292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50392" y="2962656"/>
            <a:ext cx="4700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Plausibilidad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50392" y="3264408"/>
            <a:ext cx="47000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YearBuilt mínimo 1196, Landsize máximo 433.014 y casos donde BuildingArea supera Landsize. Se declaran; no se corrigen en silencio.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080760" y="2834640"/>
            <a:ext cx="49834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245352" y="2962656"/>
            <a:ext cx="4654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Política propuesta para Hito 2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245352" y="3264408"/>
            <a:ext cx="465429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Retener filas siempre que sea defendible, crear indicadores de ausencia y evaluar imputación dentro de 2016 para no contaminar la evaluación.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85800" y="4389120"/>
            <a:ext cx="10378440" cy="868680"/>
          </a:xfrm>
          <a:prstGeom prst="roundRect">
            <a:avLst>
              <a:gd fmla="val 8421" name="adj"/>
            </a:avLst>
          </a:prstGeom>
          <a:solidFill>
            <a:srgbClr val="FFF7EA"/>
          </a:solidFill>
          <a:ln cap="flat" cmpd="sng" w="12700">
            <a:solidFill>
              <a:srgbClr val="F4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50392" y="4517136"/>
            <a:ext cx="10049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Advertencia sobre “ventas”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50392" y="4818888"/>
            <a:ext cx="1004925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Antes de modelar, definir qué </a:t>
            </a: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lores de Method corresponden a ventas efectivas según el enunciado. Esa decisión debe recalcular conteos, baseline y EDA si se filtra.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ausencias, plausibilidad. Proyectos FCD · Method.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Fuga temporal: la propiedad puede aparecer en ambos años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/>
          <p:nvPr/>
        </p:nvSpPr>
        <p:spPr>
          <a:xfrm>
            <a:off x="685800" y="13716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Una fila es una transacción; la entidad relevante puede ser la propiedad.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10"/>
          <p:cNvGraphicFramePr/>
          <p:nvPr/>
        </p:nvGraphicFramePr>
        <p:xfrm>
          <a:off x="685800" y="1828800"/>
          <a:ext cx="585216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6" name="Google Shape;216;p10"/>
          <p:cNvSpPr/>
          <p:nvPr/>
        </p:nvSpPr>
        <p:spPr>
          <a:xfrm>
            <a:off x="7178040" y="18745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178040" y="23317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propiedades cruzan 2016→2017 usando Suburb+Address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178040" y="31546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F0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29F05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178040" y="36118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filas de 2017 afectadas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178040" y="44348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0,51%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178040" y="4892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6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2616B"/>
                </a:solidFill>
                <a:latin typeface="Arial"/>
                <a:ea typeface="Arial"/>
                <a:cs typeface="Arial"/>
                <a:sym typeface="Arial"/>
              </a:rPr>
              <a:t>del conjunto de evaluación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85800" y="5559552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Decisión: reportar el desempeño global y, si se modela, revisar este estrato por separado. Con n=37 no sostiene inferencia fuerte.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619963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Fuente: anclaje.json · identidad, reventas.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548640" y="2743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Hito 1 · Análisis exploratorio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Cierre: qué deja listo el Hito 1 para el Hito 2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>
            <a:off x="548640" y="11430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1"/>
          <p:cNvSpPr/>
          <p:nvPr/>
        </p:nvSpPr>
        <p:spPr>
          <a:xfrm>
            <a:off x="685800" y="135331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Hipótesis final defendible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85800" y="1719072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Las relaciones entre atributos y precio aprendidas con ventas de 2016 deberían generalizar a 2017 mejor que una referencia basal, pero esperamos mayor error donde 2017 queda fuera de la cobertura geográfica de 2016.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85800" y="2971800"/>
            <a:ext cx="324612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850392" y="3099816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 · Baseline congelada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50392" y="3401568"/>
            <a:ext cx="29169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Comparar todo modelo contra MAE 431.649, salvo que se redefina formalmente el universo a ventas efectivas y se recalculen las cifras.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251960" y="2971800"/>
            <a:ext cx="324612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416552" y="3099816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2 · Evaluación por estratos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416552" y="3401568"/>
            <a:ext cx="29169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Reportar MAE global y MAE separado para suburbios vistos/no vistos; revisar reventas como estrato de control.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818120" y="2971800"/>
            <a:ext cx="324612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B7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982712" y="3099816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 · Política de datos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982712" y="3401568"/>
            <a:ext cx="29169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No eliminar filas incompletas sin medir sesgo. Imputar y codificar ausencias usando reglas aprendidas en entrenamiento.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85800" y="4663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Frase de defensa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85800" y="5010912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24"/>
              </a:buClr>
              <a:buSzPts val="1900"/>
              <a:buFont typeface="Arial"/>
              <a:buNone/>
            </a:pPr>
            <a:r>
              <a:rPr i="1" lang="en-US" sz="1900">
                <a:solidFill>
                  <a:srgbClr val="121A24"/>
                </a:solidFill>
                <a:latin typeface="Arial"/>
                <a:ea typeface="Arial"/>
                <a:cs typeface="Arial"/>
                <a:sym typeface="Arial"/>
              </a:rPr>
              <a:t>“El EDA no demuestra que ya podemos predecir 2017; define qué tendrá que demostrar el modelo y dónde podría fallar.”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647395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Proyecto 3 · Predicción de valor de propiedades · Fundamentos en Ciencia de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33856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98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9798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2026-08-13T02:24:21Z</dcterms:created>
  <dc:creator>C4A / MACI</dc:creator>
</cp:coreProperties>
</file>